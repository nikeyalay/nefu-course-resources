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sldSz cx="6159500" cy="3505200"/>
  <p:notesSz cx="6159500" cy="3505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81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39538" y="1266714"/>
            <a:ext cx="1286773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08806" y="1935751"/>
            <a:ext cx="3348237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829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7541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786" y="220090"/>
            <a:ext cx="1310640" cy="311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931" y="881507"/>
            <a:ext cx="5395986" cy="1891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6389" y="3259836"/>
            <a:ext cx="1973072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829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3941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ws-two-cows-dairy-agriculture-1264546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pixabay.com/p-1246693/?no_redir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8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3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hyperlink" Target="https://creativecommons.org/publicdomain/zero/1.0/deed.en" TargetMode="External"/><Relationship Id="rId4" Type="http://schemas.openxmlformats.org/officeDocument/2006/relationships/hyperlink" Target="https://pixabay.com/p-1246693/?no_redirect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jpg"/><Relationship Id="rId7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hyperlink" Target="https://creativecommons.org/publicdomain/zero/1.0/deed.en" TargetMode="External"/><Relationship Id="rId5" Type="http://schemas.openxmlformats.org/officeDocument/2006/relationships/image" Target="../media/image35.png"/><Relationship Id="rId10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hyperlink" Target="https://creativecommons.org/publicdomain/zero/1.0/deed.en" TargetMode="External"/><Relationship Id="rId3" Type="http://schemas.openxmlformats.org/officeDocument/2006/relationships/image" Target="../media/image14.jpg"/><Relationship Id="rId7" Type="http://schemas.openxmlformats.org/officeDocument/2006/relationships/image" Target="../media/image37.png"/><Relationship Id="rId12" Type="http://schemas.openxmlformats.org/officeDocument/2006/relationships/hyperlink" Target="https://pixabay.com/p-1246693/?no_redirec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hyperlink" Target="https://creativecommons.org/publicdomain/zero/1.0/deed.en" TargetMode="External"/><Relationship Id="rId3" Type="http://schemas.openxmlformats.org/officeDocument/2006/relationships/image" Target="../media/image14.jpg"/><Relationship Id="rId7" Type="http://schemas.openxmlformats.org/officeDocument/2006/relationships/image" Target="../media/image37.png"/><Relationship Id="rId12" Type="http://schemas.openxmlformats.org/officeDocument/2006/relationships/hyperlink" Target="https://pixabay.com/p-1246693/?no_redirec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dropboxusercontent.com/s/vlyrkgd8nz8gy5l/fast-rcnn.pdf?dl=0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6.png"/><Relationship Id="rId7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hyperlink" Target="https://dl.dropboxusercontent.com/s/vlyrkgd8nz8gy5l/fast-rcnn.pdf?dl=0" TargetMode="External"/><Relationship Id="rId5" Type="http://schemas.openxmlformats.org/officeDocument/2006/relationships/image" Target="../media/image48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6.png"/><Relationship Id="rId7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hyperlink" Target="https://dl.dropboxusercontent.com/s/vlyrkgd8nz8gy5l/fast-rcnn.pdf?dl=0" TargetMode="External"/><Relationship Id="rId5" Type="http://schemas.openxmlformats.org/officeDocument/2006/relationships/image" Target="../media/image48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8.png"/><Relationship Id="rId3" Type="http://schemas.openxmlformats.org/officeDocument/2006/relationships/image" Target="../media/image46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hyperlink" Target="https://dl.dropboxusercontent.com/s/vlyrkgd8nz8gy5l/fast-rcnn.pdf?dl=0" TargetMode="External"/><Relationship Id="rId5" Type="http://schemas.openxmlformats.org/officeDocument/2006/relationships/image" Target="../media/image48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59.jpg"/><Relationship Id="rId4" Type="http://schemas.openxmlformats.org/officeDocument/2006/relationships/image" Target="../media/image63.png"/><Relationship Id="rId9" Type="http://schemas.openxmlformats.org/officeDocument/2006/relationships/hyperlink" Target="https://dl.dropboxusercontent.com/s/vlyrkgd8nz8gy5l/fast-rcnn.pdf?dl=0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59.jpg"/><Relationship Id="rId4" Type="http://schemas.openxmlformats.org/officeDocument/2006/relationships/image" Target="../media/image63.png"/><Relationship Id="rId9" Type="http://schemas.openxmlformats.org/officeDocument/2006/relationships/hyperlink" Target="https://dl.dropboxusercontent.com/s/vlyrkgd8nz8gy5l/fast-rcnn.pdf?dl=0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hyperlink" Target="https://dl.dropboxusercontent.com/s/vlyrkgd8nz8gy5l/fast-rcnn.pdf?dl=0" TargetMode="External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70.png"/><Relationship Id="rId5" Type="http://schemas.openxmlformats.org/officeDocument/2006/relationships/image" Target="../media/image59.jp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66.png"/><Relationship Id="rId2" Type="http://schemas.openxmlformats.org/officeDocument/2006/relationships/image" Target="../media/image60.png"/><Relationship Id="rId16" Type="http://schemas.openxmlformats.org/officeDocument/2006/relationships/hyperlink" Target="https://dl.dropboxusercontent.com/s/vlyrkgd8nz8gy5l/fast-rcnn.pdf?dl=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74.png"/><Relationship Id="rId5" Type="http://schemas.openxmlformats.org/officeDocument/2006/relationships/image" Target="../media/image59.jpg"/><Relationship Id="rId15" Type="http://schemas.openxmlformats.org/officeDocument/2006/relationships/image" Target="../media/image77.png"/><Relationship Id="rId10" Type="http://schemas.openxmlformats.org/officeDocument/2006/relationships/image" Target="../media/image73.png"/><Relationship Id="rId4" Type="http://schemas.openxmlformats.org/officeDocument/2006/relationships/image" Target="../media/image63.png"/><Relationship Id="rId9" Type="http://schemas.openxmlformats.org/officeDocument/2006/relationships/image" Target="../media/image72.png"/><Relationship Id="rId1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9.png"/><Relationship Id="rId18" Type="http://schemas.openxmlformats.org/officeDocument/2006/relationships/hyperlink" Target="https://dl.dropboxusercontent.com/s/vlyrkgd8nz8gy5l/fast-rcnn.pdf?dl=0" TargetMode="External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8.png"/><Relationship Id="rId17" Type="http://schemas.openxmlformats.org/officeDocument/2006/relationships/image" Target="../media/image70.png"/><Relationship Id="rId2" Type="http://schemas.openxmlformats.org/officeDocument/2006/relationships/image" Target="../media/image60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74.png"/><Relationship Id="rId5" Type="http://schemas.openxmlformats.org/officeDocument/2006/relationships/image" Target="../media/image59.jpg"/><Relationship Id="rId1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3.png"/><Relationship Id="rId9" Type="http://schemas.openxmlformats.org/officeDocument/2006/relationships/image" Target="../media/image72.png"/><Relationship Id="rId1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9.png"/><Relationship Id="rId18" Type="http://schemas.openxmlformats.org/officeDocument/2006/relationships/hyperlink" Target="https://dl.dropboxusercontent.com/s/vlyrkgd8nz8gy5l/fast-rcnn.pdf?dl=0" TargetMode="External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8.png"/><Relationship Id="rId17" Type="http://schemas.openxmlformats.org/officeDocument/2006/relationships/image" Target="../media/image77.png"/><Relationship Id="rId2" Type="http://schemas.openxmlformats.org/officeDocument/2006/relationships/image" Target="../media/image60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74.png"/><Relationship Id="rId5" Type="http://schemas.openxmlformats.org/officeDocument/2006/relationships/image" Target="../media/image59.jpg"/><Relationship Id="rId15" Type="http://schemas.openxmlformats.org/officeDocument/2006/relationships/image" Target="../media/image75.png"/><Relationship Id="rId10" Type="http://schemas.openxmlformats.org/officeDocument/2006/relationships/image" Target="../media/image73.png"/><Relationship Id="rId4" Type="http://schemas.openxmlformats.org/officeDocument/2006/relationships/image" Target="../media/image63.png"/><Relationship Id="rId9" Type="http://schemas.openxmlformats.org/officeDocument/2006/relationships/image" Target="../media/image72.png"/><Relationship Id="rId1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2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0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0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0.png"/><Relationship Id="rId7" Type="http://schemas.openxmlformats.org/officeDocument/2006/relationships/image" Target="../media/image8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3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4.jp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7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Detectron" TargetMode="External"/><Relationship Id="rId2" Type="http://schemas.openxmlformats.org/officeDocument/2006/relationships/hyperlink" Target="https://github.com/tensorflow/models/tree/master/research/object_detection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9538" y="1266714"/>
            <a:ext cx="1142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/>
                <a:cs typeface="微软雅黑"/>
              </a:rPr>
              <a:t>视觉识别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8806" y="1935751"/>
            <a:ext cx="3255645" cy="4700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85"/>
              </a:spcBef>
            </a:pPr>
            <a:r>
              <a:rPr lang="zh-CN" altLang="en-US" sz="1200" b="1" smtClean="0">
                <a:latin typeface="微软雅黑"/>
                <a:cs typeface="微软雅黑"/>
              </a:rPr>
              <a:t>赵亚凤</a:t>
            </a:r>
            <a:endParaRPr lang="en-US" altLang="zh-CN" sz="1200" b="1" smtClean="0">
              <a:latin typeface="微软雅黑"/>
              <a:cs typeface="微软雅黑"/>
            </a:endParaRPr>
          </a:p>
          <a:p>
            <a:pPr marL="1270" algn="ctr">
              <a:lnSpc>
                <a:spcPct val="100000"/>
              </a:lnSpc>
              <a:spcBef>
                <a:spcPts val="385"/>
              </a:spcBef>
            </a:pPr>
            <a:r>
              <a:rPr lang="zh-CN" altLang="en-US" sz="1200" b="1" smtClean="0">
                <a:latin typeface="微软雅黑"/>
                <a:cs typeface="微软雅黑"/>
              </a:rPr>
              <a:t>东北林业大学 信息与计算机工程学院</a:t>
            </a:r>
            <a:endParaRPr sz="1200" b="1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02424" y="3059573"/>
            <a:ext cx="13366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微软雅黑"/>
                <a:cs typeface="微软雅黑"/>
              </a:rPr>
              <a:t>主要素材取自于</a:t>
            </a:r>
            <a:r>
              <a:rPr sz="700" spc="-10" dirty="0">
                <a:latin typeface="微软雅黑"/>
                <a:cs typeface="微软雅黑"/>
              </a:rPr>
              <a:t>CS231N</a:t>
            </a:r>
            <a:r>
              <a:rPr sz="700" spc="-5" dirty="0">
                <a:latin typeface="微软雅黑"/>
                <a:cs typeface="微软雅黑"/>
              </a:rPr>
              <a:t>课</a:t>
            </a:r>
            <a:r>
              <a:rPr sz="700" spc="5" dirty="0">
                <a:latin typeface="微软雅黑"/>
                <a:cs typeface="微软雅黑"/>
              </a:rPr>
              <a:t>程</a:t>
            </a:r>
            <a:r>
              <a:rPr sz="700" spc="-5" dirty="0">
                <a:latin typeface="微软雅黑"/>
                <a:cs typeface="微软雅黑"/>
              </a:rPr>
              <a:t>课件</a:t>
            </a:r>
            <a:endParaRPr sz="7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14522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视觉识别任务</a:t>
            </a:r>
          </a:p>
        </p:txBody>
      </p:sp>
      <p:sp>
        <p:nvSpPr>
          <p:cNvPr id="3" name="object 3"/>
          <p:cNvSpPr/>
          <p:nvPr/>
        </p:nvSpPr>
        <p:spPr>
          <a:xfrm>
            <a:off x="80639" y="1180464"/>
            <a:ext cx="1395984" cy="1208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607" y="759332"/>
            <a:ext cx="36385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分类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2835" y="759332"/>
            <a:ext cx="70231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语义分割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3294" y="751077"/>
            <a:ext cx="7035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目标检测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3286" y="759078"/>
            <a:ext cx="70231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实例分割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266" y="2433319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27115" y="1209420"/>
            <a:ext cx="1395984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6543" y="1209420"/>
            <a:ext cx="1405127" cy="120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19340" y="1713864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459662" y="409956"/>
                </a:move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436962" y="540003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59662" y="409956"/>
                </a:lnTo>
                <a:close/>
              </a:path>
              <a:path w="471170" h="702310">
                <a:moveTo>
                  <a:pt x="436962" y="540003"/>
                </a:move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36962" y="540003"/>
                </a:lnTo>
                <a:close/>
              </a:path>
              <a:path w="471170" h="702310">
                <a:moveTo>
                  <a:pt x="41401" y="256031"/>
                </a:move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459662" y="409956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6744" y="338581"/>
                </a:lnTo>
                <a:lnTo>
                  <a:pt x="120776" y="338581"/>
                </a:lnTo>
                <a:lnTo>
                  <a:pt x="41401" y="256031"/>
                </a:lnTo>
                <a:close/>
              </a:path>
              <a:path w="471170" h="702310">
                <a:moveTo>
                  <a:pt x="134112" y="15366"/>
                </a:moveTo>
                <a:lnTo>
                  <a:pt x="117094" y="62991"/>
                </a:lnTo>
                <a:lnTo>
                  <a:pt x="134112" y="92328"/>
                </a:ln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46744" y="338581"/>
                </a:lnTo>
                <a:lnTo>
                  <a:pt x="440309" y="237870"/>
                </a:lnTo>
                <a:lnTo>
                  <a:pt x="425704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94583" y="36321"/>
                </a:lnTo>
                <a:lnTo>
                  <a:pt x="335407" y="36321"/>
                </a:lnTo>
                <a:lnTo>
                  <a:pt x="319268" y="25145"/>
                </a:lnTo>
                <a:lnTo>
                  <a:pt x="196342" y="25145"/>
                </a:lnTo>
                <a:lnTo>
                  <a:pt x="134112" y="15366"/>
                </a:lnTo>
                <a:close/>
              </a:path>
              <a:path w="471170" h="702310">
                <a:moveTo>
                  <a:pt x="363474" y="12572"/>
                </a:moveTo>
                <a:lnTo>
                  <a:pt x="335407" y="36321"/>
                </a:lnTo>
                <a:lnTo>
                  <a:pt x="394583" y="36321"/>
                </a:lnTo>
                <a:lnTo>
                  <a:pt x="363474" y="12572"/>
                </a:lnTo>
                <a:close/>
              </a:path>
              <a:path w="471170" h="702310">
                <a:moveTo>
                  <a:pt x="282956" y="0"/>
                </a:moveTo>
                <a:lnTo>
                  <a:pt x="215900" y="8381"/>
                </a:lnTo>
                <a:lnTo>
                  <a:pt x="196342" y="25145"/>
                </a:lnTo>
                <a:lnTo>
                  <a:pt x="319268" y="25145"/>
                </a:lnTo>
                <a:lnTo>
                  <a:pt x="282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20102" y="1714626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134112" y="92328"/>
                </a:move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1401" y="256031"/>
                </a:ln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0309" y="237870"/>
                </a:lnTo>
                <a:lnTo>
                  <a:pt x="425703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63474" y="12572"/>
                </a:lnTo>
                <a:lnTo>
                  <a:pt x="335407" y="36321"/>
                </a:lnTo>
                <a:lnTo>
                  <a:pt x="282956" y="0"/>
                </a:lnTo>
                <a:lnTo>
                  <a:pt x="215900" y="8381"/>
                </a:lnTo>
                <a:lnTo>
                  <a:pt x="196342" y="25145"/>
                </a:lnTo>
                <a:lnTo>
                  <a:pt x="134112" y="15366"/>
                </a:lnTo>
                <a:lnTo>
                  <a:pt x="117094" y="62991"/>
                </a:lnTo>
                <a:lnTo>
                  <a:pt x="134112" y="92328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208788" y="407669"/>
                </a:moveTo>
                <a:lnTo>
                  <a:pt x="78867" y="407669"/>
                </a:lnTo>
                <a:lnTo>
                  <a:pt x="145161" y="419988"/>
                </a:lnTo>
                <a:lnTo>
                  <a:pt x="100584" y="522350"/>
                </a:lnTo>
                <a:lnTo>
                  <a:pt x="138684" y="547115"/>
                </a:lnTo>
                <a:lnTo>
                  <a:pt x="198501" y="531621"/>
                </a:lnTo>
                <a:lnTo>
                  <a:pt x="180721" y="475869"/>
                </a:lnTo>
                <a:lnTo>
                  <a:pt x="208788" y="429386"/>
                </a:lnTo>
                <a:lnTo>
                  <a:pt x="208788" y="407669"/>
                </a:lnTo>
                <a:close/>
              </a:path>
              <a:path w="248285" h="547369">
                <a:moveTo>
                  <a:pt x="119634" y="0"/>
                </a:moveTo>
                <a:lnTo>
                  <a:pt x="69977" y="35686"/>
                </a:lnTo>
                <a:lnTo>
                  <a:pt x="34417" y="271271"/>
                </a:lnTo>
                <a:lnTo>
                  <a:pt x="59817" y="303783"/>
                </a:lnTo>
                <a:lnTo>
                  <a:pt x="38227" y="337819"/>
                </a:lnTo>
                <a:lnTo>
                  <a:pt x="20320" y="389000"/>
                </a:lnTo>
                <a:lnTo>
                  <a:pt x="25400" y="424688"/>
                </a:lnTo>
                <a:lnTo>
                  <a:pt x="0" y="505205"/>
                </a:lnTo>
                <a:lnTo>
                  <a:pt x="68707" y="494410"/>
                </a:lnTo>
                <a:lnTo>
                  <a:pt x="63627" y="418464"/>
                </a:lnTo>
                <a:lnTo>
                  <a:pt x="78867" y="407669"/>
                </a:lnTo>
                <a:lnTo>
                  <a:pt x="208788" y="407669"/>
                </a:lnTo>
                <a:lnTo>
                  <a:pt x="208788" y="347217"/>
                </a:lnTo>
                <a:lnTo>
                  <a:pt x="244348" y="274319"/>
                </a:lnTo>
                <a:lnTo>
                  <a:pt x="244348" y="172084"/>
                </a:lnTo>
                <a:lnTo>
                  <a:pt x="248158" y="94487"/>
                </a:lnTo>
                <a:lnTo>
                  <a:pt x="211328" y="66675"/>
                </a:lnTo>
                <a:lnTo>
                  <a:pt x="190881" y="17017"/>
                </a:lnTo>
                <a:lnTo>
                  <a:pt x="11963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34417" y="271271"/>
                </a:moveTo>
                <a:lnTo>
                  <a:pt x="69977" y="35686"/>
                </a:lnTo>
                <a:lnTo>
                  <a:pt x="119634" y="0"/>
                </a:lnTo>
                <a:lnTo>
                  <a:pt x="190881" y="17017"/>
                </a:lnTo>
                <a:lnTo>
                  <a:pt x="211328" y="66675"/>
                </a:lnTo>
                <a:lnTo>
                  <a:pt x="248158" y="94487"/>
                </a:lnTo>
                <a:lnTo>
                  <a:pt x="244348" y="172084"/>
                </a:lnTo>
                <a:lnTo>
                  <a:pt x="244348" y="274319"/>
                </a:lnTo>
                <a:lnTo>
                  <a:pt x="208788" y="347217"/>
                </a:lnTo>
                <a:lnTo>
                  <a:pt x="208788" y="429386"/>
                </a:lnTo>
                <a:lnTo>
                  <a:pt x="180721" y="475869"/>
                </a:lnTo>
                <a:lnTo>
                  <a:pt x="198501" y="531621"/>
                </a:lnTo>
                <a:lnTo>
                  <a:pt x="138684" y="547115"/>
                </a:lnTo>
                <a:lnTo>
                  <a:pt x="100584" y="522350"/>
                </a:lnTo>
                <a:lnTo>
                  <a:pt x="145161" y="419988"/>
                </a:lnTo>
                <a:lnTo>
                  <a:pt x="78867" y="407669"/>
                </a:lnTo>
                <a:lnTo>
                  <a:pt x="63627" y="418464"/>
                </a:lnTo>
                <a:lnTo>
                  <a:pt x="68707" y="494410"/>
                </a:lnTo>
                <a:lnTo>
                  <a:pt x="0" y="505205"/>
                </a:lnTo>
                <a:lnTo>
                  <a:pt x="25400" y="424688"/>
                </a:lnTo>
                <a:lnTo>
                  <a:pt x="20320" y="389000"/>
                </a:lnTo>
                <a:lnTo>
                  <a:pt x="38227" y="337819"/>
                </a:lnTo>
                <a:lnTo>
                  <a:pt x="59817" y="303783"/>
                </a:lnTo>
                <a:lnTo>
                  <a:pt x="34417" y="2712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77707" y="1721484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58674" y="0"/>
                </a:moveTo>
                <a:lnTo>
                  <a:pt x="58674" y="38734"/>
                </a:lnTo>
                <a:lnTo>
                  <a:pt x="21716" y="136270"/>
                </a:lnTo>
                <a:lnTo>
                  <a:pt x="43306" y="363727"/>
                </a:lnTo>
                <a:lnTo>
                  <a:pt x="24256" y="379221"/>
                </a:lnTo>
                <a:lnTo>
                  <a:pt x="0" y="433450"/>
                </a:lnTo>
                <a:lnTo>
                  <a:pt x="50926" y="436499"/>
                </a:lnTo>
                <a:lnTo>
                  <a:pt x="33146" y="464312"/>
                </a:lnTo>
                <a:lnTo>
                  <a:pt x="58674" y="476757"/>
                </a:lnTo>
                <a:lnTo>
                  <a:pt x="112140" y="473709"/>
                </a:lnTo>
                <a:lnTo>
                  <a:pt x="133908" y="473709"/>
                </a:lnTo>
                <a:lnTo>
                  <a:pt x="178434" y="456692"/>
                </a:lnTo>
                <a:lnTo>
                  <a:pt x="169417" y="390017"/>
                </a:lnTo>
                <a:lnTo>
                  <a:pt x="194944" y="292607"/>
                </a:lnTo>
                <a:lnTo>
                  <a:pt x="211454" y="185800"/>
                </a:lnTo>
                <a:lnTo>
                  <a:pt x="174497" y="52577"/>
                </a:lnTo>
                <a:lnTo>
                  <a:pt x="173777" y="26288"/>
                </a:lnTo>
                <a:lnTo>
                  <a:pt x="145287" y="26288"/>
                </a:lnTo>
                <a:lnTo>
                  <a:pt x="91693" y="18542"/>
                </a:lnTo>
                <a:lnTo>
                  <a:pt x="58674" y="0"/>
                </a:lnTo>
                <a:close/>
              </a:path>
              <a:path w="211454" h="476885">
                <a:moveTo>
                  <a:pt x="133908" y="473709"/>
                </a:moveTo>
                <a:lnTo>
                  <a:pt x="112140" y="473709"/>
                </a:lnTo>
                <a:lnTo>
                  <a:pt x="129920" y="475233"/>
                </a:lnTo>
                <a:lnTo>
                  <a:pt x="133908" y="473709"/>
                </a:lnTo>
                <a:close/>
              </a:path>
              <a:path w="211454" h="476885">
                <a:moveTo>
                  <a:pt x="173227" y="6223"/>
                </a:moveTo>
                <a:lnTo>
                  <a:pt x="145287" y="26288"/>
                </a:lnTo>
                <a:lnTo>
                  <a:pt x="173777" y="26288"/>
                </a:lnTo>
                <a:lnTo>
                  <a:pt x="173227" y="62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78469" y="1722246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21716" y="136270"/>
                </a:moveTo>
                <a:lnTo>
                  <a:pt x="58674" y="38734"/>
                </a:lnTo>
                <a:lnTo>
                  <a:pt x="58674" y="0"/>
                </a:lnTo>
                <a:lnTo>
                  <a:pt x="91693" y="18541"/>
                </a:lnTo>
                <a:lnTo>
                  <a:pt x="145287" y="26288"/>
                </a:lnTo>
                <a:lnTo>
                  <a:pt x="173227" y="6222"/>
                </a:lnTo>
                <a:lnTo>
                  <a:pt x="174497" y="52577"/>
                </a:lnTo>
                <a:lnTo>
                  <a:pt x="211454" y="185800"/>
                </a:lnTo>
                <a:lnTo>
                  <a:pt x="194944" y="292607"/>
                </a:lnTo>
                <a:lnTo>
                  <a:pt x="169417" y="390016"/>
                </a:lnTo>
                <a:lnTo>
                  <a:pt x="178434" y="456691"/>
                </a:lnTo>
                <a:lnTo>
                  <a:pt x="129920" y="475233"/>
                </a:lnTo>
                <a:lnTo>
                  <a:pt x="112140" y="473709"/>
                </a:lnTo>
                <a:lnTo>
                  <a:pt x="58674" y="476757"/>
                </a:lnTo>
                <a:lnTo>
                  <a:pt x="33146" y="464312"/>
                </a:lnTo>
                <a:lnTo>
                  <a:pt x="50926" y="436499"/>
                </a:lnTo>
                <a:lnTo>
                  <a:pt x="0" y="433450"/>
                </a:lnTo>
                <a:lnTo>
                  <a:pt x="24256" y="379221"/>
                </a:lnTo>
                <a:lnTo>
                  <a:pt x="43306" y="363727"/>
                </a:lnTo>
                <a:lnTo>
                  <a:pt x="21716" y="136270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32271" y="2693796"/>
            <a:ext cx="2748915" cy="234315"/>
          </a:xfrm>
          <a:custGeom>
            <a:avLst/>
            <a:gdLst/>
            <a:ahLst/>
            <a:cxnLst/>
            <a:rect l="l" t="t" r="r" b="b"/>
            <a:pathLst>
              <a:path w="2748915" h="234314">
                <a:moveTo>
                  <a:pt x="2748915" y="0"/>
                </a:moveTo>
                <a:lnTo>
                  <a:pt x="2733548" y="51562"/>
                </a:lnTo>
                <a:lnTo>
                  <a:pt x="2692145" y="91439"/>
                </a:lnTo>
                <a:lnTo>
                  <a:pt x="2632075" y="114045"/>
                </a:lnTo>
                <a:lnTo>
                  <a:pt x="2597277" y="117220"/>
                </a:lnTo>
                <a:lnTo>
                  <a:pt x="1526031" y="117220"/>
                </a:lnTo>
                <a:lnTo>
                  <a:pt x="1491361" y="120268"/>
                </a:lnTo>
                <a:lnTo>
                  <a:pt x="1431289" y="142875"/>
                </a:lnTo>
                <a:lnTo>
                  <a:pt x="1389888" y="182752"/>
                </a:lnTo>
                <a:lnTo>
                  <a:pt x="1374520" y="234314"/>
                </a:lnTo>
                <a:lnTo>
                  <a:pt x="1370456" y="207518"/>
                </a:lnTo>
                <a:lnTo>
                  <a:pt x="1341119" y="161036"/>
                </a:lnTo>
                <a:lnTo>
                  <a:pt x="1289557" y="129031"/>
                </a:lnTo>
                <a:lnTo>
                  <a:pt x="1222882" y="117220"/>
                </a:lnTo>
                <a:lnTo>
                  <a:pt x="151637" y="117220"/>
                </a:lnTo>
                <a:lnTo>
                  <a:pt x="116839" y="114045"/>
                </a:lnTo>
                <a:lnTo>
                  <a:pt x="56768" y="91439"/>
                </a:lnTo>
                <a:lnTo>
                  <a:pt x="15366" y="51562"/>
                </a:lnTo>
                <a:lnTo>
                  <a:pt x="4063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543" y="2699892"/>
            <a:ext cx="1397635" cy="234315"/>
          </a:xfrm>
          <a:custGeom>
            <a:avLst/>
            <a:gdLst/>
            <a:ahLst/>
            <a:cxnLst/>
            <a:rect l="l" t="t" r="r" b="b"/>
            <a:pathLst>
              <a:path w="1397635" h="234314">
                <a:moveTo>
                  <a:pt x="1397254" y="0"/>
                </a:moveTo>
                <a:lnTo>
                  <a:pt x="1381887" y="51562"/>
                </a:lnTo>
                <a:lnTo>
                  <a:pt x="1340485" y="91440"/>
                </a:lnTo>
                <a:lnTo>
                  <a:pt x="1280414" y="114045"/>
                </a:lnTo>
                <a:lnTo>
                  <a:pt x="1245616" y="117220"/>
                </a:lnTo>
                <a:lnTo>
                  <a:pt x="850265" y="117220"/>
                </a:lnTo>
                <a:lnTo>
                  <a:pt x="815594" y="120268"/>
                </a:lnTo>
                <a:lnTo>
                  <a:pt x="755396" y="142875"/>
                </a:lnTo>
                <a:lnTo>
                  <a:pt x="714057" y="182753"/>
                </a:lnTo>
                <a:lnTo>
                  <a:pt x="698639" y="234315"/>
                </a:lnTo>
                <a:lnTo>
                  <a:pt x="694639" y="207518"/>
                </a:lnTo>
                <a:lnTo>
                  <a:pt x="665314" y="161036"/>
                </a:lnTo>
                <a:lnTo>
                  <a:pt x="613664" y="129031"/>
                </a:lnTo>
                <a:lnTo>
                  <a:pt x="546963" y="117220"/>
                </a:lnTo>
                <a:lnTo>
                  <a:pt x="151676" y="117220"/>
                </a:lnTo>
                <a:lnTo>
                  <a:pt x="116890" y="114045"/>
                </a:lnTo>
                <a:lnTo>
                  <a:pt x="56807" y="91440"/>
                </a:lnTo>
                <a:lnTo>
                  <a:pt x="15417" y="51562"/>
                </a:lnTo>
                <a:lnTo>
                  <a:pt x="4000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33977" y="2478658"/>
            <a:ext cx="1238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草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spc="-25" dirty="0">
                <a:solidFill>
                  <a:srgbClr val="EFC130"/>
                </a:solidFill>
                <a:latin typeface="微软雅黑"/>
                <a:cs typeface="微软雅黑"/>
              </a:rPr>
              <a:t>猫</a:t>
            </a:r>
            <a:r>
              <a:rPr sz="1200" b="1" spc="-25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A44D79"/>
                </a:solidFill>
                <a:latin typeface="微软雅黑"/>
                <a:cs typeface="微软雅黑"/>
              </a:rPr>
              <a:t>树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天空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9761" y="2433319"/>
            <a:ext cx="783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8715" y="2433319"/>
            <a:ext cx="783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191" y="2928238"/>
            <a:ext cx="911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不考虑空间位置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92797" y="2918840"/>
            <a:ext cx="405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多目标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24451" y="2699892"/>
            <a:ext cx="1377315" cy="234315"/>
          </a:xfrm>
          <a:custGeom>
            <a:avLst/>
            <a:gdLst/>
            <a:ahLst/>
            <a:cxnLst/>
            <a:rect l="l" t="t" r="r" b="b"/>
            <a:pathLst>
              <a:path w="1377314" h="234314">
                <a:moveTo>
                  <a:pt x="1377314" y="0"/>
                </a:moveTo>
                <a:lnTo>
                  <a:pt x="1361948" y="51562"/>
                </a:lnTo>
                <a:lnTo>
                  <a:pt x="1320546" y="91440"/>
                </a:lnTo>
                <a:lnTo>
                  <a:pt x="1260475" y="114045"/>
                </a:lnTo>
                <a:lnTo>
                  <a:pt x="1225677" y="117220"/>
                </a:lnTo>
                <a:lnTo>
                  <a:pt x="840232" y="117220"/>
                </a:lnTo>
                <a:lnTo>
                  <a:pt x="805434" y="120268"/>
                </a:lnTo>
                <a:lnTo>
                  <a:pt x="745490" y="142875"/>
                </a:lnTo>
                <a:lnTo>
                  <a:pt x="704088" y="182753"/>
                </a:lnTo>
                <a:lnTo>
                  <a:pt x="688721" y="234315"/>
                </a:lnTo>
                <a:lnTo>
                  <a:pt x="684657" y="207518"/>
                </a:lnTo>
                <a:lnTo>
                  <a:pt x="655320" y="161036"/>
                </a:lnTo>
                <a:lnTo>
                  <a:pt x="603758" y="129031"/>
                </a:lnTo>
                <a:lnTo>
                  <a:pt x="537083" y="117220"/>
                </a:lnTo>
                <a:lnTo>
                  <a:pt x="151637" y="117220"/>
                </a:lnTo>
                <a:lnTo>
                  <a:pt x="116840" y="114045"/>
                </a:lnTo>
                <a:lnTo>
                  <a:pt x="56768" y="91440"/>
                </a:lnTo>
                <a:lnTo>
                  <a:pt x="15367" y="51562"/>
                </a:lnTo>
                <a:lnTo>
                  <a:pt x="4064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80559" y="2928238"/>
            <a:ext cx="657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像素的类别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57768" y="3056508"/>
            <a:ext cx="20320" cy="3175"/>
          </a:xfrm>
          <a:custGeom>
            <a:avLst/>
            <a:gdLst/>
            <a:ahLst/>
            <a:cxnLst/>
            <a:rect l="l" t="t" r="r" b="b"/>
            <a:pathLst>
              <a:path w="20320" h="3175">
                <a:moveTo>
                  <a:pt x="0" y="3047"/>
                </a:moveTo>
                <a:lnTo>
                  <a:pt x="19812" y="3047"/>
                </a:lnTo>
                <a:lnTo>
                  <a:pt x="19812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07197" y="2990468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This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imag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CC0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public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69587" y="1178940"/>
            <a:ext cx="1424939" cy="1211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9"/>
                </a:moveTo>
                <a:lnTo>
                  <a:pt x="684403" y="613029"/>
                </a:lnTo>
                <a:lnTo>
                  <a:pt x="721106" y="709168"/>
                </a:lnTo>
                <a:lnTo>
                  <a:pt x="806704" y="769366"/>
                </a:lnTo>
                <a:lnTo>
                  <a:pt x="855472" y="727201"/>
                </a:lnTo>
                <a:lnTo>
                  <a:pt x="858266" y="657987"/>
                </a:lnTo>
                <a:lnTo>
                  <a:pt x="841607" y="613029"/>
                </a:lnTo>
                <a:close/>
              </a:path>
              <a:path w="1094105" h="769619">
                <a:moveTo>
                  <a:pt x="1091235" y="480822"/>
                </a:moveTo>
                <a:lnTo>
                  <a:pt x="971677" y="480822"/>
                </a:lnTo>
                <a:lnTo>
                  <a:pt x="947166" y="589026"/>
                </a:lnTo>
                <a:lnTo>
                  <a:pt x="1032764" y="631063"/>
                </a:lnTo>
                <a:lnTo>
                  <a:pt x="1093851" y="570992"/>
                </a:lnTo>
                <a:lnTo>
                  <a:pt x="1093851" y="498856"/>
                </a:lnTo>
                <a:lnTo>
                  <a:pt x="1091235" y="480822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3"/>
                </a:lnTo>
                <a:lnTo>
                  <a:pt x="427736" y="258444"/>
                </a:lnTo>
                <a:lnTo>
                  <a:pt x="537718" y="324485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4"/>
                </a:lnTo>
                <a:lnTo>
                  <a:pt x="684403" y="613029"/>
                </a:lnTo>
                <a:lnTo>
                  <a:pt x="841607" y="613029"/>
                </a:lnTo>
                <a:lnTo>
                  <a:pt x="837184" y="601091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2"/>
                </a:lnTo>
                <a:lnTo>
                  <a:pt x="1091235" y="480822"/>
                </a:lnTo>
                <a:lnTo>
                  <a:pt x="1081659" y="414781"/>
                </a:lnTo>
                <a:lnTo>
                  <a:pt x="1038860" y="360680"/>
                </a:lnTo>
                <a:lnTo>
                  <a:pt x="1063371" y="312547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3"/>
                </a:lnTo>
                <a:lnTo>
                  <a:pt x="647827" y="102235"/>
                </a:lnTo>
                <a:lnTo>
                  <a:pt x="672211" y="204343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5"/>
                </a:lnTo>
                <a:lnTo>
                  <a:pt x="788289" y="102235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4"/>
                </a:moveTo>
                <a:lnTo>
                  <a:pt x="40259" y="127126"/>
                </a:lnTo>
                <a:lnTo>
                  <a:pt x="0" y="174244"/>
                </a:lnTo>
                <a:lnTo>
                  <a:pt x="73279" y="192278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4"/>
                </a:lnTo>
                <a:lnTo>
                  <a:pt x="244475" y="108204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5"/>
                </a:lnTo>
                <a:lnTo>
                  <a:pt x="1090434" y="102235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4"/>
                </a:lnTo>
                <a:lnTo>
                  <a:pt x="464439" y="174244"/>
                </a:lnTo>
                <a:lnTo>
                  <a:pt x="617220" y="222376"/>
                </a:lnTo>
                <a:lnTo>
                  <a:pt x="672211" y="204343"/>
                </a:lnTo>
                <a:lnTo>
                  <a:pt x="647827" y="102235"/>
                </a:lnTo>
                <a:lnTo>
                  <a:pt x="647827" y="24003"/>
                </a:lnTo>
                <a:lnTo>
                  <a:pt x="684403" y="18033"/>
                </a:lnTo>
                <a:lnTo>
                  <a:pt x="788289" y="102235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7"/>
                </a:lnTo>
                <a:lnTo>
                  <a:pt x="1038860" y="360680"/>
                </a:lnTo>
                <a:lnTo>
                  <a:pt x="1081659" y="414781"/>
                </a:lnTo>
                <a:lnTo>
                  <a:pt x="1093851" y="498856"/>
                </a:lnTo>
                <a:lnTo>
                  <a:pt x="1093851" y="570992"/>
                </a:lnTo>
                <a:lnTo>
                  <a:pt x="1032764" y="631063"/>
                </a:lnTo>
                <a:lnTo>
                  <a:pt x="947166" y="589026"/>
                </a:lnTo>
                <a:lnTo>
                  <a:pt x="971677" y="480822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1"/>
                </a:lnTo>
                <a:lnTo>
                  <a:pt x="858266" y="657987"/>
                </a:lnTo>
                <a:lnTo>
                  <a:pt x="855472" y="727201"/>
                </a:lnTo>
                <a:lnTo>
                  <a:pt x="806704" y="769366"/>
                </a:lnTo>
                <a:lnTo>
                  <a:pt x="721106" y="709168"/>
                </a:lnTo>
                <a:lnTo>
                  <a:pt x="684403" y="613029"/>
                </a:lnTo>
                <a:lnTo>
                  <a:pt x="598932" y="625094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5"/>
                </a:lnTo>
                <a:lnTo>
                  <a:pt x="427736" y="258444"/>
                </a:lnTo>
                <a:lnTo>
                  <a:pt x="262763" y="204343"/>
                </a:lnTo>
                <a:lnTo>
                  <a:pt x="164973" y="180339"/>
                </a:lnTo>
                <a:lnTo>
                  <a:pt x="73279" y="192278"/>
                </a:lnTo>
                <a:lnTo>
                  <a:pt x="0" y="174244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4" y="76962"/>
                </a:moveTo>
                <a:lnTo>
                  <a:pt x="0" y="133477"/>
                </a:lnTo>
                <a:lnTo>
                  <a:pt x="0" y="758698"/>
                </a:lnTo>
                <a:lnTo>
                  <a:pt x="1412240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2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9" y="160655"/>
                </a:lnTo>
                <a:lnTo>
                  <a:pt x="473964" y="76962"/>
                </a:lnTo>
                <a:close/>
              </a:path>
              <a:path w="1421764" h="758825">
                <a:moveTo>
                  <a:pt x="981202" y="332867"/>
                </a:moveTo>
                <a:lnTo>
                  <a:pt x="895477" y="369824"/>
                </a:lnTo>
                <a:lnTo>
                  <a:pt x="902589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6"/>
                </a:lnTo>
                <a:lnTo>
                  <a:pt x="1078865" y="463296"/>
                </a:lnTo>
                <a:lnTo>
                  <a:pt x="964565" y="416560"/>
                </a:lnTo>
                <a:lnTo>
                  <a:pt x="981202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40" y="160655"/>
                </a:lnTo>
                <a:lnTo>
                  <a:pt x="1166876" y="286131"/>
                </a:lnTo>
                <a:lnTo>
                  <a:pt x="1162177" y="386969"/>
                </a:lnTo>
                <a:lnTo>
                  <a:pt x="1078865" y="463296"/>
                </a:lnTo>
                <a:lnTo>
                  <a:pt x="1416141" y="463296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5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5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7"/>
                </a:moveTo>
                <a:lnTo>
                  <a:pt x="473964" y="76962"/>
                </a:lnTo>
                <a:lnTo>
                  <a:pt x="559689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2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9" y="421513"/>
                </a:lnTo>
                <a:lnTo>
                  <a:pt x="895477" y="369824"/>
                </a:lnTo>
                <a:lnTo>
                  <a:pt x="981202" y="332867"/>
                </a:lnTo>
                <a:lnTo>
                  <a:pt x="964565" y="416560"/>
                </a:lnTo>
                <a:lnTo>
                  <a:pt x="1078865" y="463296"/>
                </a:lnTo>
                <a:lnTo>
                  <a:pt x="1162177" y="386969"/>
                </a:lnTo>
                <a:lnTo>
                  <a:pt x="1166876" y="286131"/>
                </a:lnTo>
                <a:lnTo>
                  <a:pt x="1107440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5" y="37592"/>
                </a:lnTo>
                <a:lnTo>
                  <a:pt x="1412240" y="758698"/>
                </a:lnTo>
                <a:lnTo>
                  <a:pt x="0" y="758698"/>
                </a:lnTo>
                <a:lnTo>
                  <a:pt x="0" y="133477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58469" y="217424"/>
                </a:moveTo>
                <a:lnTo>
                  <a:pt x="326389" y="268731"/>
                </a:lnTo>
                <a:lnTo>
                  <a:pt x="2412" y="305688"/>
                </a:lnTo>
                <a:lnTo>
                  <a:pt x="0" y="529970"/>
                </a:lnTo>
                <a:lnTo>
                  <a:pt x="426465" y="483107"/>
                </a:lnTo>
                <a:lnTo>
                  <a:pt x="218350" y="426465"/>
                </a:lnTo>
                <a:lnTo>
                  <a:pt x="109600" y="426465"/>
                </a:lnTo>
                <a:lnTo>
                  <a:pt x="16637" y="394462"/>
                </a:lnTo>
                <a:lnTo>
                  <a:pt x="78612" y="327787"/>
                </a:lnTo>
                <a:lnTo>
                  <a:pt x="300227" y="315468"/>
                </a:lnTo>
                <a:lnTo>
                  <a:pt x="676674" y="315468"/>
                </a:lnTo>
                <a:lnTo>
                  <a:pt x="669670" y="274955"/>
                </a:lnTo>
                <a:lnTo>
                  <a:pt x="698459" y="239140"/>
                </a:lnTo>
                <a:lnTo>
                  <a:pt x="609853" y="239140"/>
                </a:lnTo>
                <a:lnTo>
                  <a:pt x="458469" y="217424"/>
                </a:lnTo>
                <a:close/>
              </a:path>
              <a:path w="1420495" h="530225">
                <a:moveTo>
                  <a:pt x="1416670" y="204596"/>
                </a:moveTo>
                <a:lnTo>
                  <a:pt x="1072133" y="204596"/>
                </a:lnTo>
                <a:lnTo>
                  <a:pt x="1150746" y="236600"/>
                </a:lnTo>
                <a:lnTo>
                  <a:pt x="1149603" y="396748"/>
                </a:lnTo>
                <a:lnTo>
                  <a:pt x="1248410" y="409194"/>
                </a:lnTo>
                <a:lnTo>
                  <a:pt x="1257935" y="438785"/>
                </a:lnTo>
                <a:lnTo>
                  <a:pt x="1412875" y="438785"/>
                </a:lnTo>
                <a:lnTo>
                  <a:pt x="1416670" y="204596"/>
                </a:lnTo>
                <a:close/>
              </a:path>
              <a:path w="1420495" h="530225">
                <a:moveTo>
                  <a:pt x="200151" y="421513"/>
                </a:moveTo>
                <a:lnTo>
                  <a:pt x="109600" y="426465"/>
                </a:lnTo>
                <a:lnTo>
                  <a:pt x="218350" y="426465"/>
                </a:lnTo>
                <a:lnTo>
                  <a:pt x="200151" y="421513"/>
                </a:lnTo>
                <a:close/>
              </a:path>
              <a:path w="1420495" h="530225">
                <a:moveTo>
                  <a:pt x="676674" y="315468"/>
                </a:moveTo>
                <a:lnTo>
                  <a:pt x="300227" y="315468"/>
                </a:lnTo>
                <a:lnTo>
                  <a:pt x="657606" y="418973"/>
                </a:lnTo>
                <a:lnTo>
                  <a:pt x="693293" y="411606"/>
                </a:lnTo>
                <a:lnTo>
                  <a:pt x="676674" y="315468"/>
                </a:lnTo>
                <a:close/>
              </a:path>
              <a:path w="1420495" h="530225">
                <a:moveTo>
                  <a:pt x="1054979" y="221869"/>
                </a:moveTo>
                <a:lnTo>
                  <a:pt x="712343" y="221869"/>
                </a:lnTo>
                <a:lnTo>
                  <a:pt x="743331" y="229235"/>
                </a:lnTo>
                <a:lnTo>
                  <a:pt x="843407" y="303149"/>
                </a:lnTo>
                <a:lnTo>
                  <a:pt x="979169" y="298195"/>
                </a:lnTo>
                <a:lnTo>
                  <a:pt x="1054979" y="221869"/>
                </a:lnTo>
                <a:close/>
              </a:path>
              <a:path w="1420495" h="530225">
                <a:moveTo>
                  <a:pt x="1419987" y="0"/>
                </a:moveTo>
                <a:lnTo>
                  <a:pt x="1341374" y="49275"/>
                </a:lnTo>
                <a:lnTo>
                  <a:pt x="1279398" y="68961"/>
                </a:lnTo>
                <a:lnTo>
                  <a:pt x="1148333" y="81407"/>
                </a:lnTo>
                <a:lnTo>
                  <a:pt x="717169" y="204596"/>
                </a:lnTo>
                <a:lnTo>
                  <a:pt x="609853" y="239140"/>
                </a:lnTo>
                <a:lnTo>
                  <a:pt x="698459" y="239140"/>
                </a:lnTo>
                <a:lnTo>
                  <a:pt x="712343" y="221869"/>
                </a:lnTo>
                <a:lnTo>
                  <a:pt x="1054979" y="221869"/>
                </a:lnTo>
                <a:lnTo>
                  <a:pt x="1072133" y="204596"/>
                </a:lnTo>
                <a:lnTo>
                  <a:pt x="1416670" y="204596"/>
                </a:lnTo>
                <a:lnTo>
                  <a:pt x="1419987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26465" y="483107"/>
                </a:moveTo>
                <a:lnTo>
                  <a:pt x="0" y="529970"/>
                </a:lnTo>
                <a:lnTo>
                  <a:pt x="2412" y="305688"/>
                </a:lnTo>
                <a:lnTo>
                  <a:pt x="326389" y="268731"/>
                </a:lnTo>
                <a:lnTo>
                  <a:pt x="458469" y="217424"/>
                </a:lnTo>
                <a:lnTo>
                  <a:pt x="609853" y="239140"/>
                </a:lnTo>
                <a:lnTo>
                  <a:pt x="717169" y="204596"/>
                </a:lnTo>
                <a:lnTo>
                  <a:pt x="1148333" y="81407"/>
                </a:lnTo>
                <a:lnTo>
                  <a:pt x="1279398" y="68961"/>
                </a:lnTo>
                <a:lnTo>
                  <a:pt x="1341374" y="49275"/>
                </a:lnTo>
                <a:lnTo>
                  <a:pt x="1419987" y="0"/>
                </a:lnTo>
                <a:lnTo>
                  <a:pt x="1412875" y="438785"/>
                </a:lnTo>
                <a:lnTo>
                  <a:pt x="1257935" y="438785"/>
                </a:lnTo>
                <a:lnTo>
                  <a:pt x="1248410" y="409194"/>
                </a:lnTo>
                <a:lnTo>
                  <a:pt x="1149603" y="396748"/>
                </a:lnTo>
                <a:lnTo>
                  <a:pt x="1150746" y="236600"/>
                </a:lnTo>
                <a:lnTo>
                  <a:pt x="1072133" y="204596"/>
                </a:lnTo>
                <a:lnTo>
                  <a:pt x="979169" y="298195"/>
                </a:lnTo>
                <a:lnTo>
                  <a:pt x="843407" y="303149"/>
                </a:lnTo>
                <a:lnTo>
                  <a:pt x="743331" y="229235"/>
                </a:lnTo>
                <a:lnTo>
                  <a:pt x="712343" y="221869"/>
                </a:lnTo>
                <a:lnTo>
                  <a:pt x="669670" y="274955"/>
                </a:lnTo>
                <a:lnTo>
                  <a:pt x="693293" y="411606"/>
                </a:lnTo>
                <a:lnTo>
                  <a:pt x="657606" y="418973"/>
                </a:lnTo>
                <a:lnTo>
                  <a:pt x="300227" y="315468"/>
                </a:lnTo>
                <a:lnTo>
                  <a:pt x="78612" y="327787"/>
                </a:lnTo>
                <a:lnTo>
                  <a:pt x="16637" y="394462"/>
                </a:lnTo>
                <a:lnTo>
                  <a:pt x="109600" y="426465"/>
                </a:lnTo>
                <a:lnTo>
                  <a:pt x="200151" y="421513"/>
                </a:lnTo>
                <a:lnTo>
                  <a:pt x="426465" y="483107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77207" y="1180464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0"/>
                </a:moveTo>
                <a:lnTo>
                  <a:pt x="0" y="320040"/>
                </a:lnTo>
                <a:lnTo>
                  <a:pt x="309753" y="280543"/>
                </a:lnTo>
                <a:lnTo>
                  <a:pt x="452755" y="221487"/>
                </a:lnTo>
                <a:lnTo>
                  <a:pt x="674262" y="221487"/>
                </a:lnTo>
                <a:lnTo>
                  <a:pt x="1119886" y="91059"/>
                </a:lnTo>
                <a:lnTo>
                  <a:pt x="1308100" y="68961"/>
                </a:lnTo>
                <a:lnTo>
                  <a:pt x="1408176" y="4953"/>
                </a:lnTo>
                <a:lnTo>
                  <a:pt x="0" y="0"/>
                </a:lnTo>
                <a:close/>
              </a:path>
              <a:path w="1408430" h="320040">
                <a:moveTo>
                  <a:pt x="674262" y="221487"/>
                </a:moveTo>
                <a:lnTo>
                  <a:pt x="452755" y="221487"/>
                </a:lnTo>
                <a:lnTo>
                  <a:pt x="581406" y="248666"/>
                </a:lnTo>
                <a:lnTo>
                  <a:pt x="674262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77969" y="1181226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320040"/>
                </a:moveTo>
                <a:lnTo>
                  <a:pt x="0" y="0"/>
                </a:lnTo>
                <a:lnTo>
                  <a:pt x="1408176" y="4953"/>
                </a:lnTo>
                <a:lnTo>
                  <a:pt x="1308100" y="68961"/>
                </a:lnTo>
                <a:lnTo>
                  <a:pt x="1119886" y="91059"/>
                </a:lnTo>
                <a:lnTo>
                  <a:pt x="581406" y="248666"/>
                </a:lnTo>
                <a:lnTo>
                  <a:pt x="452755" y="221488"/>
                </a:lnTo>
                <a:lnTo>
                  <a:pt x="309753" y="280543"/>
                </a:lnTo>
                <a:lnTo>
                  <a:pt x="0" y="320040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671941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640" y="1158383"/>
            <a:ext cx="1395984" cy="1208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468" y="154194"/>
            <a:ext cx="2268855" cy="810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0" dirty="0">
                <a:latin typeface="微软雅黑"/>
                <a:cs typeface="微软雅黑"/>
              </a:rPr>
              <a:t>视觉识别任务</a:t>
            </a:r>
            <a:endParaRPr sz="18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300" b="1" spc="30" dirty="0">
                <a:latin typeface="微软雅黑"/>
                <a:cs typeface="微软雅黑"/>
              </a:rPr>
              <a:t>语义分割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7116" y="1187339"/>
            <a:ext cx="1395984" cy="1197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46543" y="1187339"/>
            <a:ext cx="1405127" cy="1207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9340" y="1691783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459662" y="409955"/>
                </a:moveTo>
                <a:lnTo>
                  <a:pt x="139064" y="409955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2"/>
                </a:lnTo>
                <a:lnTo>
                  <a:pt x="201295" y="580644"/>
                </a:lnTo>
                <a:lnTo>
                  <a:pt x="239013" y="544195"/>
                </a:lnTo>
                <a:lnTo>
                  <a:pt x="311023" y="540003"/>
                </a:lnTo>
                <a:lnTo>
                  <a:pt x="436962" y="540003"/>
                </a:lnTo>
                <a:lnTo>
                  <a:pt x="440309" y="531622"/>
                </a:lnTo>
                <a:lnTo>
                  <a:pt x="419608" y="460248"/>
                </a:lnTo>
                <a:lnTo>
                  <a:pt x="459662" y="409955"/>
                </a:lnTo>
                <a:close/>
              </a:path>
              <a:path w="471170" h="702310">
                <a:moveTo>
                  <a:pt x="436962" y="540003"/>
                </a:moveTo>
                <a:lnTo>
                  <a:pt x="311023" y="540003"/>
                </a:lnTo>
                <a:lnTo>
                  <a:pt x="330581" y="582041"/>
                </a:lnTo>
                <a:lnTo>
                  <a:pt x="268350" y="693927"/>
                </a:lnTo>
                <a:lnTo>
                  <a:pt x="374396" y="696722"/>
                </a:lnTo>
                <a:lnTo>
                  <a:pt x="436962" y="540003"/>
                </a:lnTo>
                <a:close/>
              </a:path>
              <a:path w="471170" h="702310">
                <a:moveTo>
                  <a:pt x="41401" y="256031"/>
                </a:moveTo>
                <a:lnTo>
                  <a:pt x="4825" y="264414"/>
                </a:lnTo>
                <a:lnTo>
                  <a:pt x="0" y="382016"/>
                </a:lnTo>
                <a:lnTo>
                  <a:pt x="72009" y="419734"/>
                </a:lnTo>
                <a:lnTo>
                  <a:pt x="139064" y="409955"/>
                </a:lnTo>
                <a:lnTo>
                  <a:pt x="459662" y="409955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6744" y="338581"/>
                </a:lnTo>
                <a:lnTo>
                  <a:pt x="120776" y="338581"/>
                </a:lnTo>
                <a:lnTo>
                  <a:pt x="41401" y="256031"/>
                </a:lnTo>
                <a:close/>
              </a:path>
              <a:path w="471170" h="702310">
                <a:moveTo>
                  <a:pt x="134112" y="15367"/>
                </a:moveTo>
                <a:lnTo>
                  <a:pt x="117094" y="62992"/>
                </a:lnTo>
                <a:lnTo>
                  <a:pt x="134112" y="92328"/>
                </a:lnTo>
                <a:lnTo>
                  <a:pt x="102488" y="204216"/>
                </a:lnTo>
                <a:lnTo>
                  <a:pt x="153670" y="260223"/>
                </a:lnTo>
                <a:lnTo>
                  <a:pt x="120776" y="338581"/>
                </a:lnTo>
                <a:lnTo>
                  <a:pt x="446744" y="338581"/>
                </a:lnTo>
                <a:lnTo>
                  <a:pt x="440309" y="237871"/>
                </a:lnTo>
                <a:lnTo>
                  <a:pt x="425704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4"/>
                </a:lnTo>
                <a:lnTo>
                  <a:pt x="403733" y="43306"/>
                </a:lnTo>
                <a:lnTo>
                  <a:pt x="394583" y="36322"/>
                </a:lnTo>
                <a:lnTo>
                  <a:pt x="335407" y="36322"/>
                </a:lnTo>
                <a:lnTo>
                  <a:pt x="319268" y="25146"/>
                </a:lnTo>
                <a:lnTo>
                  <a:pt x="196342" y="25146"/>
                </a:lnTo>
                <a:lnTo>
                  <a:pt x="134112" y="15367"/>
                </a:lnTo>
                <a:close/>
              </a:path>
              <a:path w="471170" h="702310">
                <a:moveTo>
                  <a:pt x="363474" y="12573"/>
                </a:moveTo>
                <a:lnTo>
                  <a:pt x="335407" y="36322"/>
                </a:lnTo>
                <a:lnTo>
                  <a:pt x="394583" y="36322"/>
                </a:lnTo>
                <a:lnTo>
                  <a:pt x="363474" y="12573"/>
                </a:lnTo>
                <a:close/>
              </a:path>
              <a:path w="471170" h="702310">
                <a:moveTo>
                  <a:pt x="282956" y="0"/>
                </a:moveTo>
                <a:lnTo>
                  <a:pt x="215900" y="8381"/>
                </a:lnTo>
                <a:lnTo>
                  <a:pt x="196342" y="25146"/>
                </a:lnTo>
                <a:lnTo>
                  <a:pt x="319268" y="25146"/>
                </a:lnTo>
                <a:lnTo>
                  <a:pt x="282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20102" y="1692545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134112" y="92329"/>
                </a:moveTo>
                <a:lnTo>
                  <a:pt x="102488" y="204216"/>
                </a:lnTo>
                <a:lnTo>
                  <a:pt x="153670" y="260223"/>
                </a:lnTo>
                <a:lnTo>
                  <a:pt x="120776" y="338582"/>
                </a:lnTo>
                <a:lnTo>
                  <a:pt x="41401" y="256032"/>
                </a:lnTo>
                <a:lnTo>
                  <a:pt x="4825" y="264414"/>
                </a:lnTo>
                <a:lnTo>
                  <a:pt x="0" y="382016"/>
                </a:lnTo>
                <a:lnTo>
                  <a:pt x="72009" y="419735"/>
                </a:lnTo>
                <a:lnTo>
                  <a:pt x="139064" y="409956"/>
                </a:lnTo>
                <a:lnTo>
                  <a:pt x="115824" y="516255"/>
                </a:lnTo>
                <a:lnTo>
                  <a:pt x="135382" y="635127"/>
                </a:lnTo>
                <a:lnTo>
                  <a:pt x="110998" y="702310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5"/>
                </a:lnTo>
                <a:lnTo>
                  <a:pt x="311023" y="540004"/>
                </a:lnTo>
                <a:lnTo>
                  <a:pt x="330581" y="582041"/>
                </a:lnTo>
                <a:lnTo>
                  <a:pt x="268350" y="693928"/>
                </a:lnTo>
                <a:lnTo>
                  <a:pt x="374396" y="696722"/>
                </a:lnTo>
                <a:lnTo>
                  <a:pt x="440309" y="531622"/>
                </a:lnTo>
                <a:lnTo>
                  <a:pt x="419608" y="460248"/>
                </a:lnTo>
                <a:lnTo>
                  <a:pt x="470788" y="395986"/>
                </a:lnTo>
                <a:lnTo>
                  <a:pt x="447548" y="351155"/>
                </a:lnTo>
                <a:lnTo>
                  <a:pt x="440309" y="237871"/>
                </a:lnTo>
                <a:lnTo>
                  <a:pt x="425703" y="223900"/>
                </a:lnTo>
                <a:lnTo>
                  <a:pt x="441451" y="173482"/>
                </a:lnTo>
                <a:lnTo>
                  <a:pt x="408559" y="139954"/>
                </a:lnTo>
                <a:lnTo>
                  <a:pt x="397637" y="99314"/>
                </a:lnTo>
                <a:lnTo>
                  <a:pt x="403733" y="43307"/>
                </a:lnTo>
                <a:lnTo>
                  <a:pt x="363474" y="12573"/>
                </a:lnTo>
                <a:lnTo>
                  <a:pt x="335407" y="36322"/>
                </a:lnTo>
                <a:lnTo>
                  <a:pt x="282956" y="0"/>
                </a:lnTo>
                <a:lnTo>
                  <a:pt x="215900" y="8382"/>
                </a:lnTo>
                <a:lnTo>
                  <a:pt x="196342" y="25146"/>
                </a:lnTo>
                <a:lnTo>
                  <a:pt x="134112" y="15367"/>
                </a:lnTo>
                <a:lnTo>
                  <a:pt x="117094" y="62992"/>
                </a:lnTo>
                <a:lnTo>
                  <a:pt x="134112" y="92329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52156" y="1778651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208788" y="407669"/>
                </a:moveTo>
                <a:lnTo>
                  <a:pt x="78867" y="407669"/>
                </a:lnTo>
                <a:lnTo>
                  <a:pt x="145161" y="419988"/>
                </a:lnTo>
                <a:lnTo>
                  <a:pt x="100584" y="522350"/>
                </a:lnTo>
                <a:lnTo>
                  <a:pt x="138684" y="547115"/>
                </a:lnTo>
                <a:lnTo>
                  <a:pt x="198501" y="531622"/>
                </a:lnTo>
                <a:lnTo>
                  <a:pt x="180721" y="475868"/>
                </a:lnTo>
                <a:lnTo>
                  <a:pt x="208788" y="429386"/>
                </a:lnTo>
                <a:lnTo>
                  <a:pt x="208788" y="407669"/>
                </a:lnTo>
                <a:close/>
              </a:path>
              <a:path w="248285" h="547369">
                <a:moveTo>
                  <a:pt x="119634" y="0"/>
                </a:moveTo>
                <a:lnTo>
                  <a:pt x="69977" y="35686"/>
                </a:lnTo>
                <a:lnTo>
                  <a:pt x="34417" y="271272"/>
                </a:lnTo>
                <a:lnTo>
                  <a:pt x="59817" y="303783"/>
                </a:lnTo>
                <a:lnTo>
                  <a:pt x="38227" y="337819"/>
                </a:lnTo>
                <a:lnTo>
                  <a:pt x="20320" y="389000"/>
                </a:lnTo>
                <a:lnTo>
                  <a:pt x="25400" y="424687"/>
                </a:lnTo>
                <a:lnTo>
                  <a:pt x="0" y="505205"/>
                </a:lnTo>
                <a:lnTo>
                  <a:pt x="68707" y="494410"/>
                </a:lnTo>
                <a:lnTo>
                  <a:pt x="63627" y="418464"/>
                </a:lnTo>
                <a:lnTo>
                  <a:pt x="78867" y="407669"/>
                </a:lnTo>
                <a:lnTo>
                  <a:pt x="208788" y="407669"/>
                </a:lnTo>
                <a:lnTo>
                  <a:pt x="208788" y="347217"/>
                </a:lnTo>
                <a:lnTo>
                  <a:pt x="244348" y="274319"/>
                </a:lnTo>
                <a:lnTo>
                  <a:pt x="244348" y="172084"/>
                </a:lnTo>
                <a:lnTo>
                  <a:pt x="248158" y="94614"/>
                </a:lnTo>
                <a:lnTo>
                  <a:pt x="211328" y="66675"/>
                </a:lnTo>
                <a:lnTo>
                  <a:pt x="190881" y="17017"/>
                </a:lnTo>
                <a:lnTo>
                  <a:pt x="11963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2156" y="1778651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34417" y="271272"/>
                </a:moveTo>
                <a:lnTo>
                  <a:pt x="69977" y="35686"/>
                </a:lnTo>
                <a:lnTo>
                  <a:pt x="119634" y="0"/>
                </a:lnTo>
                <a:lnTo>
                  <a:pt x="190881" y="17017"/>
                </a:lnTo>
                <a:lnTo>
                  <a:pt x="211328" y="66675"/>
                </a:lnTo>
                <a:lnTo>
                  <a:pt x="248158" y="94614"/>
                </a:lnTo>
                <a:lnTo>
                  <a:pt x="244348" y="172084"/>
                </a:lnTo>
                <a:lnTo>
                  <a:pt x="244348" y="274319"/>
                </a:lnTo>
                <a:lnTo>
                  <a:pt x="208788" y="347217"/>
                </a:lnTo>
                <a:lnTo>
                  <a:pt x="208788" y="429386"/>
                </a:lnTo>
                <a:lnTo>
                  <a:pt x="180721" y="475868"/>
                </a:lnTo>
                <a:lnTo>
                  <a:pt x="198501" y="531622"/>
                </a:lnTo>
                <a:lnTo>
                  <a:pt x="138684" y="547115"/>
                </a:lnTo>
                <a:lnTo>
                  <a:pt x="100584" y="522350"/>
                </a:lnTo>
                <a:lnTo>
                  <a:pt x="145161" y="419988"/>
                </a:lnTo>
                <a:lnTo>
                  <a:pt x="78867" y="407669"/>
                </a:lnTo>
                <a:lnTo>
                  <a:pt x="63627" y="418464"/>
                </a:lnTo>
                <a:lnTo>
                  <a:pt x="68707" y="494410"/>
                </a:lnTo>
                <a:lnTo>
                  <a:pt x="0" y="505205"/>
                </a:lnTo>
                <a:lnTo>
                  <a:pt x="25400" y="424687"/>
                </a:lnTo>
                <a:lnTo>
                  <a:pt x="20320" y="389000"/>
                </a:lnTo>
                <a:lnTo>
                  <a:pt x="38227" y="337819"/>
                </a:lnTo>
                <a:lnTo>
                  <a:pt x="59817" y="303783"/>
                </a:lnTo>
                <a:lnTo>
                  <a:pt x="34417" y="271272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7707" y="1699403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58674" y="0"/>
                </a:moveTo>
                <a:lnTo>
                  <a:pt x="58674" y="38734"/>
                </a:lnTo>
                <a:lnTo>
                  <a:pt x="21716" y="136271"/>
                </a:lnTo>
                <a:lnTo>
                  <a:pt x="43306" y="363727"/>
                </a:lnTo>
                <a:lnTo>
                  <a:pt x="24256" y="379222"/>
                </a:lnTo>
                <a:lnTo>
                  <a:pt x="0" y="433450"/>
                </a:lnTo>
                <a:lnTo>
                  <a:pt x="50926" y="436499"/>
                </a:lnTo>
                <a:lnTo>
                  <a:pt x="33146" y="464311"/>
                </a:lnTo>
                <a:lnTo>
                  <a:pt x="58674" y="476757"/>
                </a:lnTo>
                <a:lnTo>
                  <a:pt x="112140" y="473709"/>
                </a:lnTo>
                <a:lnTo>
                  <a:pt x="133908" y="473709"/>
                </a:lnTo>
                <a:lnTo>
                  <a:pt x="178434" y="456691"/>
                </a:lnTo>
                <a:lnTo>
                  <a:pt x="169417" y="390016"/>
                </a:lnTo>
                <a:lnTo>
                  <a:pt x="194944" y="292607"/>
                </a:lnTo>
                <a:lnTo>
                  <a:pt x="211454" y="185800"/>
                </a:lnTo>
                <a:lnTo>
                  <a:pt x="174497" y="52577"/>
                </a:lnTo>
                <a:lnTo>
                  <a:pt x="173777" y="26288"/>
                </a:lnTo>
                <a:lnTo>
                  <a:pt x="145287" y="26288"/>
                </a:lnTo>
                <a:lnTo>
                  <a:pt x="91693" y="18541"/>
                </a:lnTo>
                <a:lnTo>
                  <a:pt x="58674" y="0"/>
                </a:lnTo>
                <a:close/>
              </a:path>
              <a:path w="211454" h="476885">
                <a:moveTo>
                  <a:pt x="133908" y="473709"/>
                </a:moveTo>
                <a:lnTo>
                  <a:pt x="112140" y="473709"/>
                </a:lnTo>
                <a:lnTo>
                  <a:pt x="129920" y="475233"/>
                </a:lnTo>
                <a:lnTo>
                  <a:pt x="133908" y="473709"/>
                </a:lnTo>
                <a:close/>
              </a:path>
              <a:path w="211454" h="476885">
                <a:moveTo>
                  <a:pt x="173227" y="6223"/>
                </a:moveTo>
                <a:lnTo>
                  <a:pt x="145287" y="26288"/>
                </a:lnTo>
                <a:lnTo>
                  <a:pt x="173777" y="26288"/>
                </a:lnTo>
                <a:lnTo>
                  <a:pt x="173227" y="62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8469" y="1700165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21716" y="136271"/>
                </a:moveTo>
                <a:lnTo>
                  <a:pt x="58674" y="38735"/>
                </a:lnTo>
                <a:lnTo>
                  <a:pt x="58674" y="0"/>
                </a:lnTo>
                <a:lnTo>
                  <a:pt x="91693" y="18542"/>
                </a:lnTo>
                <a:lnTo>
                  <a:pt x="145287" y="26289"/>
                </a:lnTo>
                <a:lnTo>
                  <a:pt x="173227" y="6223"/>
                </a:lnTo>
                <a:lnTo>
                  <a:pt x="174497" y="52577"/>
                </a:lnTo>
                <a:lnTo>
                  <a:pt x="211454" y="185800"/>
                </a:lnTo>
                <a:lnTo>
                  <a:pt x="194944" y="292608"/>
                </a:lnTo>
                <a:lnTo>
                  <a:pt x="169417" y="390017"/>
                </a:lnTo>
                <a:lnTo>
                  <a:pt x="178434" y="456692"/>
                </a:lnTo>
                <a:lnTo>
                  <a:pt x="129920" y="475234"/>
                </a:lnTo>
                <a:lnTo>
                  <a:pt x="112140" y="473710"/>
                </a:lnTo>
                <a:lnTo>
                  <a:pt x="58674" y="476758"/>
                </a:lnTo>
                <a:lnTo>
                  <a:pt x="33146" y="464312"/>
                </a:lnTo>
                <a:lnTo>
                  <a:pt x="50926" y="436499"/>
                </a:lnTo>
                <a:lnTo>
                  <a:pt x="0" y="433450"/>
                </a:lnTo>
                <a:lnTo>
                  <a:pt x="24256" y="379222"/>
                </a:lnTo>
                <a:lnTo>
                  <a:pt x="43306" y="363727"/>
                </a:lnTo>
                <a:lnTo>
                  <a:pt x="21716" y="136271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2272" y="2671715"/>
            <a:ext cx="2748915" cy="234315"/>
          </a:xfrm>
          <a:custGeom>
            <a:avLst/>
            <a:gdLst/>
            <a:ahLst/>
            <a:cxnLst/>
            <a:rect l="l" t="t" r="r" b="b"/>
            <a:pathLst>
              <a:path w="2748915" h="234314">
                <a:moveTo>
                  <a:pt x="2748915" y="0"/>
                </a:moveTo>
                <a:lnTo>
                  <a:pt x="2733548" y="51562"/>
                </a:lnTo>
                <a:lnTo>
                  <a:pt x="2692145" y="91440"/>
                </a:lnTo>
                <a:lnTo>
                  <a:pt x="2632075" y="114046"/>
                </a:lnTo>
                <a:lnTo>
                  <a:pt x="2597277" y="117221"/>
                </a:lnTo>
                <a:lnTo>
                  <a:pt x="1526031" y="117221"/>
                </a:lnTo>
                <a:lnTo>
                  <a:pt x="1491361" y="120269"/>
                </a:lnTo>
                <a:lnTo>
                  <a:pt x="1431289" y="142875"/>
                </a:lnTo>
                <a:lnTo>
                  <a:pt x="1389888" y="182753"/>
                </a:lnTo>
                <a:lnTo>
                  <a:pt x="1374520" y="234315"/>
                </a:lnTo>
                <a:lnTo>
                  <a:pt x="1370456" y="207518"/>
                </a:lnTo>
                <a:lnTo>
                  <a:pt x="1341119" y="161036"/>
                </a:lnTo>
                <a:lnTo>
                  <a:pt x="1289557" y="129032"/>
                </a:lnTo>
                <a:lnTo>
                  <a:pt x="1222882" y="117221"/>
                </a:lnTo>
                <a:lnTo>
                  <a:pt x="151637" y="117221"/>
                </a:lnTo>
                <a:lnTo>
                  <a:pt x="116839" y="114046"/>
                </a:lnTo>
                <a:lnTo>
                  <a:pt x="56768" y="91440"/>
                </a:lnTo>
                <a:lnTo>
                  <a:pt x="15366" y="51562"/>
                </a:lnTo>
                <a:lnTo>
                  <a:pt x="4063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44" y="2677811"/>
            <a:ext cx="1397635" cy="234315"/>
          </a:xfrm>
          <a:custGeom>
            <a:avLst/>
            <a:gdLst/>
            <a:ahLst/>
            <a:cxnLst/>
            <a:rect l="l" t="t" r="r" b="b"/>
            <a:pathLst>
              <a:path w="1397635" h="234314">
                <a:moveTo>
                  <a:pt x="1397254" y="0"/>
                </a:moveTo>
                <a:lnTo>
                  <a:pt x="1381887" y="51562"/>
                </a:lnTo>
                <a:lnTo>
                  <a:pt x="1340485" y="91439"/>
                </a:lnTo>
                <a:lnTo>
                  <a:pt x="1280414" y="114046"/>
                </a:lnTo>
                <a:lnTo>
                  <a:pt x="1245616" y="117221"/>
                </a:lnTo>
                <a:lnTo>
                  <a:pt x="850265" y="117221"/>
                </a:lnTo>
                <a:lnTo>
                  <a:pt x="815594" y="120269"/>
                </a:lnTo>
                <a:lnTo>
                  <a:pt x="755396" y="142875"/>
                </a:lnTo>
                <a:lnTo>
                  <a:pt x="714057" y="182752"/>
                </a:lnTo>
                <a:lnTo>
                  <a:pt x="698639" y="234314"/>
                </a:lnTo>
                <a:lnTo>
                  <a:pt x="694639" y="207518"/>
                </a:lnTo>
                <a:lnTo>
                  <a:pt x="665314" y="161036"/>
                </a:lnTo>
                <a:lnTo>
                  <a:pt x="613664" y="129032"/>
                </a:lnTo>
                <a:lnTo>
                  <a:pt x="546963" y="117221"/>
                </a:lnTo>
                <a:lnTo>
                  <a:pt x="151676" y="117221"/>
                </a:lnTo>
                <a:lnTo>
                  <a:pt x="116890" y="114046"/>
                </a:lnTo>
                <a:lnTo>
                  <a:pt x="56807" y="91439"/>
                </a:lnTo>
                <a:lnTo>
                  <a:pt x="15417" y="51562"/>
                </a:lnTo>
                <a:lnTo>
                  <a:pt x="4000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7891" y="739487"/>
            <a:ext cx="885825" cy="2338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10"/>
              </a:spcBef>
            </a:pPr>
            <a:r>
              <a:rPr sz="1300" b="1" spc="30" dirty="0">
                <a:latin typeface="微软雅黑"/>
                <a:cs typeface="微软雅黑"/>
              </a:rPr>
              <a:t>分类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</a:pPr>
            <a:r>
              <a:rPr sz="1200" b="1" dirty="0"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0" b="1" spc="-5" dirty="0">
                <a:latin typeface="微软雅黑"/>
                <a:cs typeface="微软雅黑"/>
              </a:rPr>
              <a:t>不考虑空间位置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24452" y="2677811"/>
            <a:ext cx="1377315" cy="234315"/>
          </a:xfrm>
          <a:custGeom>
            <a:avLst/>
            <a:gdLst/>
            <a:ahLst/>
            <a:cxnLst/>
            <a:rect l="l" t="t" r="r" b="b"/>
            <a:pathLst>
              <a:path w="1377314" h="234314">
                <a:moveTo>
                  <a:pt x="1377314" y="0"/>
                </a:moveTo>
                <a:lnTo>
                  <a:pt x="1361948" y="51562"/>
                </a:lnTo>
                <a:lnTo>
                  <a:pt x="1320546" y="91439"/>
                </a:lnTo>
                <a:lnTo>
                  <a:pt x="1260475" y="114046"/>
                </a:lnTo>
                <a:lnTo>
                  <a:pt x="1225677" y="117221"/>
                </a:lnTo>
                <a:lnTo>
                  <a:pt x="840232" y="117221"/>
                </a:lnTo>
                <a:lnTo>
                  <a:pt x="805434" y="120269"/>
                </a:lnTo>
                <a:lnTo>
                  <a:pt x="745490" y="142875"/>
                </a:lnTo>
                <a:lnTo>
                  <a:pt x="704088" y="182752"/>
                </a:lnTo>
                <a:lnTo>
                  <a:pt x="688721" y="234314"/>
                </a:lnTo>
                <a:lnTo>
                  <a:pt x="684657" y="207518"/>
                </a:lnTo>
                <a:lnTo>
                  <a:pt x="655320" y="161036"/>
                </a:lnTo>
                <a:lnTo>
                  <a:pt x="603758" y="129032"/>
                </a:lnTo>
                <a:lnTo>
                  <a:pt x="537083" y="117221"/>
                </a:lnTo>
                <a:lnTo>
                  <a:pt x="151637" y="117221"/>
                </a:lnTo>
                <a:lnTo>
                  <a:pt x="116840" y="114046"/>
                </a:lnTo>
                <a:lnTo>
                  <a:pt x="56768" y="91439"/>
                </a:lnTo>
                <a:lnTo>
                  <a:pt x="15367" y="51562"/>
                </a:lnTo>
                <a:lnTo>
                  <a:pt x="4064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633977" y="2456069"/>
            <a:ext cx="123888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草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spc="-25" dirty="0">
                <a:solidFill>
                  <a:srgbClr val="EFC130"/>
                </a:solidFill>
                <a:latin typeface="微软雅黑"/>
                <a:cs typeface="微软雅黑"/>
              </a:rPr>
              <a:t>猫</a:t>
            </a:r>
            <a:r>
              <a:rPr sz="1200" b="1" spc="-25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A44D79"/>
                </a:solidFill>
                <a:latin typeface="微软雅黑"/>
                <a:cs typeface="微软雅黑"/>
              </a:rPr>
              <a:t>树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天空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111760" algn="ctr">
              <a:lnSpc>
                <a:spcPct val="100000"/>
              </a:lnSpc>
            </a:pPr>
            <a:r>
              <a:rPr sz="1000" b="1" spc="-5" dirty="0">
                <a:latin typeface="微软雅黑"/>
                <a:cs typeface="微软雅黑"/>
              </a:rPr>
              <a:t>像素的类别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82462" y="731232"/>
            <a:ext cx="2559050" cy="23374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267335" algn="ctr">
              <a:lnSpc>
                <a:spcPct val="100000"/>
              </a:lnSpc>
              <a:spcBef>
                <a:spcPts val="170"/>
              </a:spcBef>
              <a:tabLst>
                <a:tab pos="1459865" algn="l"/>
              </a:tabLst>
            </a:pPr>
            <a:r>
              <a:rPr sz="1950" b="1" spc="44" baseline="2136" dirty="0">
                <a:latin typeface="微软雅黑"/>
                <a:cs typeface="微软雅黑"/>
              </a:rPr>
              <a:t>目标检测	</a:t>
            </a:r>
            <a:r>
              <a:rPr sz="1300" b="1" spc="30" dirty="0">
                <a:latin typeface="微软雅黑"/>
                <a:cs typeface="微软雅黑"/>
              </a:rPr>
              <a:t>实例分割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R="264160" algn="ctr">
              <a:lnSpc>
                <a:spcPct val="100000"/>
              </a:lnSpc>
              <a:spcBef>
                <a:spcPts val="1245"/>
              </a:spcBef>
              <a:tabLst>
                <a:tab pos="1528445" algn="l"/>
              </a:tabLst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	</a:t>
            </a: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922655">
              <a:lnSpc>
                <a:spcPct val="100000"/>
              </a:lnSpc>
              <a:tabLst>
                <a:tab pos="1837055" algn="l"/>
              </a:tabLst>
            </a:pPr>
            <a:r>
              <a:rPr sz="1000" b="1" spc="-5" dirty="0">
                <a:latin typeface="微软雅黑"/>
                <a:cs typeface="微软雅黑"/>
              </a:rPr>
              <a:t>多目标	</a:t>
            </a:r>
            <a:r>
              <a:rPr sz="600" spc="-7" baseline="6944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This </a:t>
            </a:r>
            <a:r>
              <a:rPr sz="600" spc="-22" baseline="6944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image </a:t>
            </a:r>
            <a:r>
              <a:rPr sz="600" spc="-7" baseline="6944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600" spc="-7" baseline="6944" dirty="0">
                <a:solidFill>
                  <a:srgbClr val="0000FF"/>
                </a:solidFill>
                <a:latin typeface="Arial"/>
                <a:cs typeface="Arial"/>
                <a:hlinkClick r:id="rId6"/>
              </a:rPr>
              <a:t>CC0 </a:t>
            </a:r>
            <a:r>
              <a:rPr sz="600" spc="-15" baseline="6944" dirty="0">
                <a:solidFill>
                  <a:srgbClr val="0000FF"/>
                </a:solidFill>
                <a:latin typeface="Arial"/>
                <a:cs typeface="Arial"/>
                <a:hlinkClick r:id="rId6"/>
              </a:rPr>
              <a:t>public </a:t>
            </a:r>
            <a:r>
              <a:rPr sz="600" spc="-22" baseline="6944" dirty="0">
                <a:solidFill>
                  <a:srgbClr val="0000FF"/>
                </a:solidFill>
                <a:latin typeface="Arial"/>
                <a:cs typeface="Arial"/>
                <a:hlinkClick r:id="rId6"/>
              </a:rPr>
              <a:t>domain</a:t>
            </a:r>
            <a:endParaRPr sz="600" baseline="6944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9588" y="1156859"/>
            <a:ext cx="1424939" cy="1211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13784" y="1402223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8"/>
                </a:moveTo>
                <a:lnTo>
                  <a:pt x="684403" y="613028"/>
                </a:lnTo>
                <a:lnTo>
                  <a:pt x="721106" y="709167"/>
                </a:lnTo>
                <a:lnTo>
                  <a:pt x="806704" y="769365"/>
                </a:lnTo>
                <a:lnTo>
                  <a:pt x="855472" y="727201"/>
                </a:lnTo>
                <a:lnTo>
                  <a:pt x="858266" y="657986"/>
                </a:lnTo>
                <a:lnTo>
                  <a:pt x="841607" y="613028"/>
                </a:lnTo>
                <a:close/>
              </a:path>
              <a:path w="1094105" h="769619">
                <a:moveTo>
                  <a:pt x="1091235" y="480821"/>
                </a:moveTo>
                <a:lnTo>
                  <a:pt x="971677" y="480821"/>
                </a:lnTo>
                <a:lnTo>
                  <a:pt x="947166" y="589026"/>
                </a:lnTo>
                <a:lnTo>
                  <a:pt x="1032764" y="631062"/>
                </a:lnTo>
                <a:lnTo>
                  <a:pt x="1093851" y="570991"/>
                </a:lnTo>
                <a:lnTo>
                  <a:pt x="1093851" y="498855"/>
                </a:lnTo>
                <a:lnTo>
                  <a:pt x="1091235" y="480821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2"/>
                </a:lnTo>
                <a:lnTo>
                  <a:pt x="427736" y="258444"/>
                </a:lnTo>
                <a:lnTo>
                  <a:pt x="537718" y="324484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3"/>
                </a:lnTo>
                <a:lnTo>
                  <a:pt x="684403" y="613028"/>
                </a:lnTo>
                <a:lnTo>
                  <a:pt x="841607" y="613028"/>
                </a:lnTo>
                <a:lnTo>
                  <a:pt x="837184" y="601090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1"/>
                </a:lnTo>
                <a:lnTo>
                  <a:pt x="1091235" y="480821"/>
                </a:lnTo>
                <a:lnTo>
                  <a:pt x="1081659" y="414781"/>
                </a:lnTo>
                <a:lnTo>
                  <a:pt x="1038860" y="360679"/>
                </a:lnTo>
                <a:lnTo>
                  <a:pt x="1063371" y="312546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2"/>
                </a:lnTo>
                <a:lnTo>
                  <a:pt x="647827" y="102234"/>
                </a:lnTo>
                <a:lnTo>
                  <a:pt x="672211" y="204342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4"/>
                </a:lnTo>
                <a:lnTo>
                  <a:pt x="788289" y="102234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3"/>
                </a:moveTo>
                <a:lnTo>
                  <a:pt x="40259" y="127126"/>
                </a:lnTo>
                <a:lnTo>
                  <a:pt x="0" y="174243"/>
                </a:lnTo>
                <a:lnTo>
                  <a:pt x="73279" y="192277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3"/>
                </a:lnTo>
                <a:lnTo>
                  <a:pt x="244475" y="108203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4"/>
                </a:lnTo>
                <a:lnTo>
                  <a:pt x="1090434" y="102234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13784" y="1402223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3"/>
                </a:lnTo>
                <a:lnTo>
                  <a:pt x="464439" y="174243"/>
                </a:lnTo>
                <a:lnTo>
                  <a:pt x="617220" y="222376"/>
                </a:lnTo>
                <a:lnTo>
                  <a:pt x="672211" y="204342"/>
                </a:lnTo>
                <a:lnTo>
                  <a:pt x="647827" y="102234"/>
                </a:lnTo>
                <a:lnTo>
                  <a:pt x="647827" y="24002"/>
                </a:lnTo>
                <a:lnTo>
                  <a:pt x="684403" y="18033"/>
                </a:lnTo>
                <a:lnTo>
                  <a:pt x="788289" y="102234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6"/>
                </a:lnTo>
                <a:lnTo>
                  <a:pt x="1038860" y="360679"/>
                </a:lnTo>
                <a:lnTo>
                  <a:pt x="1081659" y="414781"/>
                </a:lnTo>
                <a:lnTo>
                  <a:pt x="1093851" y="498855"/>
                </a:lnTo>
                <a:lnTo>
                  <a:pt x="1093851" y="570991"/>
                </a:lnTo>
                <a:lnTo>
                  <a:pt x="1032764" y="631062"/>
                </a:lnTo>
                <a:lnTo>
                  <a:pt x="947166" y="589026"/>
                </a:lnTo>
                <a:lnTo>
                  <a:pt x="971677" y="480821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0"/>
                </a:lnTo>
                <a:lnTo>
                  <a:pt x="858266" y="657986"/>
                </a:lnTo>
                <a:lnTo>
                  <a:pt x="855472" y="727201"/>
                </a:lnTo>
                <a:lnTo>
                  <a:pt x="806704" y="769365"/>
                </a:lnTo>
                <a:lnTo>
                  <a:pt x="721106" y="709167"/>
                </a:lnTo>
                <a:lnTo>
                  <a:pt x="684403" y="613028"/>
                </a:lnTo>
                <a:lnTo>
                  <a:pt x="598932" y="625093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4"/>
                </a:lnTo>
                <a:lnTo>
                  <a:pt x="427736" y="258444"/>
                </a:lnTo>
                <a:lnTo>
                  <a:pt x="262763" y="204342"/>
                </a:lnTo>
                <a:lnTo>
                  <a:pt x="164973" y="180339"/>
                </a:lnTo>
                <a:lnTo>
                  <a:pt x="73279" y="192277"/>
                </a:lnTo>
                <a:lnTo>
                  <a:pt x="0" y="174243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75684" y="1600343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4" y="76962"/>
                </a:moveTo>
                <a:lnTo>
                  <a:pt x="0" y="133476"/>
                </a:lnTo>
                <a:lnTo>
                  <a:pt x="0" y="758698"/>
                </a:lnTo>
                <a:lnTo>
                  <a:pt x="1412240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2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9" y="160655"/>
                </a:lnTo>
                <a:lnTo>
                  <a:pt x="473964" y="76962"/>
                </a:lnTo>
                <a:close/>
              </a:path>
              <a:path w="1421764" h="758825">
                <a:moveTo>
                  <a:pt x="981202" y="332867"/>
                </a:moveTo>
                <a:lnTo>
                  <a:pt x="895477" y="369824"/>
                </a:lnTo>
                <a:lnTo>
                  <a:pt x="902589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6"/>
                </a:lnTo>
                <a:lnTo>
                  <a:pt x="1078865" y="463296"/>
                </a:lnTo>
                <a:lnTo>
                  <a:pt x="964565" y="416560"/>
                </a:lnTo>
                <a:lnTo>
                  <a:pt x="981202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40" y="160655"/>
                </a:lnTo>
                <a:lnTo>
                  <a:pt x="1166876" y="286131"/>
                </a:lnTo>
                <a:lnTo>
                  <a:pt x="1162177" y="386969"/>
                </a:lnTo>
                <a:lnTo>
                  <a:pt x="1078865" y="463296"/>
                </a:lnTo>
                <a:lnTo>
                  <a:pt x="1416141" y="463296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5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5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75684" y="1600343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6"/>
                </a:moveTo>
                <a:lnTo>
                  <a:pt x="473964" y="76962"/>
                </a:lnTo>
                <a:lnTo>
                  <a:pt x="559689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2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9" y="421513"/>
                </a:lnTo>
                <a:lnTo>
                  <a:pt x="895477" y="369824"/>
                </a:lnTo>
                <a:lnTo>
                  <a:pt x="981202" y="332867"/>
                </a:lnTo>
                <a:lnTo>
                  <a:pt x="964565" y="416560"/>
                </a:lnTo>
                <a:lnTo>
                  <a:pt x="1078865" y="463296"/>
                </a:lnTo>
                <a:lnTo>
                  <a:pt x="1162177" y="386969"/>
                </a:lnTo>
                <a:lnTo>
                  <a:pt x="1166876" y="286131"/>
                </a:lnTo>
                <a:lnTo>
                  <a:pt x="1107440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5" y="37592"/>
                </a:lnTo>
                <a:lnTo>
                  <a:pt x="1412240" y="758698"/>
                </a:lnTo>
                <a:lnTo>
                  <a:pt x="0" y="758698"/>
                </a:lnTo>
                <a:lnTo>
                  <a:pt x="0" y="133476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72636" y="1184291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58469" y="217424"/>
                </a:moveTo>
                <a:lnTo>
                  <a:pt x="326389" y="268732"/>
                </a:lnTo>
                <a:lnTo>
                  <a:pt x="2412" y="305689"/>
                </a:lnTo>
                <a:lnTo>
                  <a:pt x="0" y="529971"/>
                </a:lnTo>
                <a:lnTo>
                  <a:pt x="426465" y="483108"/>
                </a:lnTo>
                <a:lnTo>
                  <a:pt x="218350" y="426466"/>
                </a:lnTo>
                <a:lnTo>
                  <a:pt x="109600" y="426466"/>
                </a:lnTo>
                <a:lnTo>
                  <a:pt x="16637" y="394462"/>
                </a:lnTo>
                <a:lnTo>
                  <a:pt x="78612" y="327787"/>
                </a:lnTo>
                <a:lnTo>
                  <a:pt x="300227" y="315468"/>
                </a:lnTo>
                <a:lnTo>
                  <a:pt x="676674" y="315468"/>
                </a:lnTo>
                <a:lnTo>
                  <a:pt x="669670" y="274954"/>
                </a:lnTo>
                <a:lnTo>
                  <a:pt x="698459" y="239141"/>
                </a:lnTo>
                <a:lnTo>
                  <a:pt x="609853" y="239141"/>
                </a:lnTo>
                <a:lnTo>
                  <a:pt x="458469" y="217424"/>
                </a:lnTo>
                <a:close/>
              </a:path>
              <a:path w="1420495" h="530225">
                <a:moveTo>
                  <a:pt x="1416670" y="204597"/>
                </a:moveTo>
                <a:lnTo>
                  <a:pt x="1072133" y="204597"/>
                </a:lnTo>
                <a:lnTo>
                  <a:pt x="1150746" y="236600"/>
                </a:lnTo>
                <a:lnTo>
                  <a:pt x="1149603" y="396748"/>
                </a:lnTo>
                <a:lnTo>
                  <a:pt x="1248410" y="409194"/>
                </a:lnTo>
                <a:lnTo>
                  <a:pt x="1257935" y="438785"/>
                </a:lnTo>
                <a:lnTo>
                  <a:pt x="1412875" y="438785"/>
                </a:lnTo>
                <a:lnTo>
                  <a:pt x="1416670" y="204597"/>
                </a:lnTo>
                <a:close/>
              </a:path>
              <a:path w="1420495" h="530225">
                <a:moveTo>
                  <a:pt x="200151" y="421513"/>
                </a:moveTo>
                <a:lnTo>
                  <a:pt x="109600" y="426466"/>
                </a:lnTo>
                <a:lnTo>
                  <a:pt x="218350" y="426466"/>
                </a:lnTo>
                <a:lnTo>
                  <a:pt x="200151" y="421513"/>
                </a:lnTo>
                <a:close/>
              </a:path>
              <a:path w="1420495" h="530225">
                <a:moveTo>
                  <a:pt x="676674" y="315468"/>
                </a:moveTo>
                <a:lnTo>
                  <a:pt x="300227" y="315468"/>
                </a:lnTo>
                <a:lnTo>
                  <a:pt x="657606" y="418973"/>
                </a:lnTo>
                <a:lnTo>
                  <a:pt x="693293" y="411607"/>
                </a:lnTo>
                <a:lnTo>
                  <a:pt x="676674" y="315468"/>
                </a:lnTo>
                <a:close/>
              </a:path>
              <a:path w="1420495" h="530225">
                <a:moveTo>
                  <a:pt x="1054979" y="221869"/>
                </a:moveTo>
                <a:lnTo>
                  <a:pt x="712343" y="221869"/>
                </a:lnTo>
                <a:lnTo>
                  <a:pt x="743331" y="229235"/>
                </a:lnTo>
                <a:lnTo>
                  <a:pt x="843407" y="303149"/>
                </a:lnTo>
                <a:lnTo>
                  <a:pt x="979169" y="298196"/>
                </a:lnTo>
                <a:lnTo>
                  <a:pt x="1054979" y="221869"/>
                </a:lnTo>
                <a:close/>
              </a:path>
              <a:path w="1420495" h="530225">
                <a:moveTo>
                  <a:pt x="1419987" y="0"/>
                </a:moveTo>
                <a:lnTo>
                  <a:pt x="1341374" y="49275"/>
                </a:lnTo>
                <a:lnTo>
                  <a:pt x="1279398" y="68961"/>
                </a:lnTo>
                <a:lnTo>
                  <a:pt x="1148333" y="81407"/>
                </a:lnTo>
                <a:lnTo>
                  <a:pt x="717169" y="204597"/>
                </a:lnTo>
                <a:lnTo>
                  <a:pt x="609853" y="239141"/>
                </a:lnTo>
                <a:lnTo>
                  <a:pt x="698459" y="239141"/>
                </a:lnTo>
                <a:lnTo>
                  <a:pt x="712343" y="221869"/>
                </a:lnTo>
                <a:lnTo>
                  <a:pt x="1054979" y="221869"/>
                </a:lnTo>
                <a:lnTo>
                  <a:pt x="1072133" y="204597"/>
                </a:lnTo>
                <a:lnTo>
                  <a:pt x="1416670" y="204597"/>
                </a:lnTo>
                <a:lnTo>
                  <a:pt x="1419987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72636" y="1184291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26465" y="483108"/>
                </a:moveTo>
                <a:lnTo>
                  <a:pt x="0" y="529971"/>
                </a:lnTo>
                <a:lnTo>
                  <a:pt x="2412" y="305689"/>
                </a:lnTo>
                <a:lnTo>
                  <a:pt x="326389" y="268732"/>
                </a:lnTo>
                <a:lnTo>
                  <a:pt x="458469" y="217424"/>
                </a:lnTo>
                <a:lnTo>
                  <a:pt x="609853" y="239141"/>
                </a:lnTo>
                <a:lnTo>
                  <a:pt x="717169" y="204597"/>
                </a:lnTo>
                <a:lnTo>
                  <a:pt x="1148333" y="81407"/>
                </a:lnTo>
                <a:lnTo>
                  <a:pt x="1279398" y="68961"/>
                </a:lnTo>
                <a:lnTo>
                  <a:pt x="1341374" y="49275"/>
                </a:lnTo>
                <a:lnTo>
                  <a:pt x="1419987" y="0"/>
                </a:lnTo>
                <a:lnTo>
                  <a:pt x="1412875" y="438785"/>
                </a:lnTo>
                <a:lnTo>
                  <a:pt x="1257935" y="438785"/>
                </a:lnTo>
                <a:lnTo>
                  <a:pt x="1248410" y="409194"/>
                </a:lnTo>
                <a:lnTo>
                  <a:pt x="1149603" y="396748"/>
                </a:lnTo>
                <a:lnTo>
                  <a:pt x="1150746" y="236600"/>
                </a:lnTo>
                <a:lnTo>
                  <a:pt x="1072133" y="204597"/>
                </a:lnTo>
                <a:lnTo>
                  <a:pt x="979169" y="298196"/>
                </a:lnTo>
                <a:lnTo>
                  <a:pt x="843407" y="303149"/>
                </a:lnTo>
                <a:lnTo>
                  <a:pt x="743331" y="229235"/>
                </a:lnTo>
                <a:lnTo>
                  <a:pt x="712343" y="221869"/>
                </a:lnTo>
                <a:lnTo>
                  <a:pt x="669670" y="274954"/>
                </a:lnTo>
                <a:lnTo>
                  <a:pt x="693293" y="411607"/>
                </a:lnTo>
                <a:lnTo>
                  <a:pt x="657606" y="418973"/>
                </a:lnTo>
                <a:lnTo>
                  <a:pt x="300227" y="315468"/>
                </a:lnTo>
                <a:lnTo>
                  <a:pt x="78612" y="327787"/>
                </a:lnTo>
                <a:lnTo>
                  <a:pt x="16637" y="394462"/>
                </a:lnTo>
                <a:lnTo>
                  <a:pt x="109600" y="426466"/>
                </a:lnTo>
                <a:lnTo>
                  <a:pt x="200151" y="421513"/>
                </a:lnTo>
                <a:lnTo>
                  <a:pt x="426465" y="483108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77208" y="1158383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0"/>
                </a:moveTo>
                <a:lnTo>
                  <a:pt x="0" y="320040"/>
                </a:lnTo>
                <a:lnTo>
                  <a:pt x="309753" y="280543"/>
                </a:lnTo>
                <a:lnTo>
                  <a:pt x="452755" y="221487"/>
                </a:lnTo>
                <a:lnTo>
                  <a:pt x="674262" y="221487"/>
                </a:lnTo>
                <a:lnTo>
                  <a:pt x="1119886" y="91058"/>
                </a:lnTo>
                <a:lnTo>
                  <a:pt x="1308100" y="68960"/>
                </a:lnTo>
                <a:lnTo>
                  <a:pt x="1408176" y="4952"/>
                </a:lnTo>
                <a:lnTo>
                  <a:pt x="0" y="0"/>
                </a:lnTo>
                <a:close/>
              </a:path>
              <a:path w="1408430" h="320040">
                <a:moveTo>
                  <a:pt x="674262" y="221487"/>
                </a:moveTo>
                <a:lnTo>
                  <a:pt x="452755" y="221487"/>
                </a:lnTo>
                <a:lnTo>
                  <a:pt x="581406" y="248666"/>
                </a:lnTo>
                <a:lnTo>
                  <a:pt x="674262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77970" y="1159145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320040"/>
                </a:moveTo>
                <a:lnTo>
                  <a:pt x="0" y="0"/>
                </a:lnTo>
                <a:lnTo>
                  <a:pt x="1408176" y="4953"/>
                </a:lnTo>
                <a:lnTo>
                  <a:pt x="1308100" y="68961"/>
                </a:lnTo>
                <a:lnTo>
                  <a:pt x="1119886" y="91059"/>
                </a:lnTo>
                <a:lnTo>
                  <a:pt x="581406" y="248666"/>
                </a:lnTo>
                <a:lnTo>
                  <a:pt x="452755" y="221488"/>
                </a:lnTo>
                <a:lnTo>
                  <a:pt x="309753" y="280543"/>
                </a:lnTo>
                <a:lnTo>
                  <a:pt x="0" y="320040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04256" y="687467"/>
            <a:ext cx="2987040" cy="2416810"/>
          </a:xfrm>
          <a:custGeom>
            <a:avLst/>
            <a:gdLst/>
            <a:ahLst/>
            <a:cxnLst/>
            <a:rect l="l" t="t" r="r" b="b"/>
            <a:pathLst>
              <a:path w="2987040" h="2416810">
                <a:moveTo>
                  <a:pt x="0" y="2416810"/>
                </a:moveTo>
                <a:lnTo>
                  <a:pt x="2986786" y="2416810"/>
                </a:lnTo>
                <a:lnTo>
                  <a:pt x="2986786" y="0"/>
                </a:lnTo>
                <a:lnTo>
                  <a:pt x="0" y="0"/>
                </a:lnTo>
                <a:lnTo>
                  <a:pt x="0" y="2416810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920" y="687467"/>
            <a:ext cx="1484630" cy="2416810"/>
          </a:xfrm>
          <a:custGeom>
            <a:avLst/>
            <a:gdLst/>
            <a:ahLst/>
            <a:cxnLst/>
            <a:rect l="l" t="t" r="r" b="b"/>
            <a:pathLst>
              <a:path w="1484630" h="2416810">
                <a:moveTo>
                  <a:pt x="0" y="2416810"/>
                </a:moveTo>
                <a:lnTo>
                  <a:pt x="1484376" y="2416810"/>
                </a:lnTo>
                <a:lnTo>
                  <a:pt x="1484376" y="0"/>
                </a:lnTo>
                <a:lnTo>
                  <a:pt x="0" y="0"/>
                </a:lnTo>
                <a:lnTo>
                  <a:pt x="0" y="2416810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9702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371" y="1201038"/>
            <a:ext cx="18846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30" dirty="0">
                <a:latin typeface="微软雅黑"/>
                <a:cs typeface="微软雅黑"/>
              </a:rPr>
              <a:t>给每个像素分配类别</a:t>
            </a:r>
            <a:r>
              <a:rPr sz="1300" spc="15" dirty="0">
                <a:latin typeface="微软雅黑"/>
                <a:cs typeface="微软雅黑"/>
              </a:rPr>
              <a:t>标</a:t>
            </a:r>
            <a:r>
              <a:rPr sz="1300" spc="30" dirty="0">
                <a:latin typeface="微软雅黑"/>
                <a:cs typeface="微软雅黑"/>
              </a:rPr>
              <a:t>签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371" y="1620138"/>
            <a:ext cx="1997075" cy="43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sz="1300" spc="120" dirty="0">
                <a:latin typeface="微软雅黑"/>
                <a:cs typeface="微软雅黑"/>
              </a:rPr>
              <a:t>不</a:t>
            </a:r>
            <a:r>
              <a:rPr sz="1300" spc="110" dirty="0">
                <a:latin typeface="微软雅黑"/>
                <a:cs typeface="微软雅黑"/>
              </a:rPr>
              <a:t>区分实</a:t>
            </a:r>
            <a:r>
              <a:rPr sz="1300" spc="130" dirty="0">
                <a:latin typeface="微软雅黑"/>
                <a:cs typeface="微软雅黑"/>
              </a:rPr>
              <a:t>例</a:t>
            </a:r>
            <a:r>
              <a:rPr sz="1300" spc="110" dirty="0">
                <a:latin typeface="微软雅黑"/>
                <a:cs typeface="微软雅黑"/>
              </a:rPr>
              <a:t>，只考虑</a:t>
            </a:r>
            <a:r>
              <a:rPr sz="1300" spc="120" dirty="0">
                <a:latin typeface="微软雅黑"/>
                <a:cs typeface="微软雅黑"/>
              </a:rPr>
              <a:t>像</a:t>
            </a:r>
            <a:r>
              <a:rPr sz="1300" spc="20" dirty="0">
                <a:latin typeface="微软雅黑"/>
                <a:cs typeface="微软雅黑"/>
              </a:rPr>
              <a:t>素 </a:t>
            </a:r>
            <a:r>
              <a:rPr sz="1300" spc="30" dirty="0">
                <a:latin typeface="微软雅黑"/>
                <a:cs typeface="微软雅黑"/>
              </a:rPr>
              <a:t>类别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1038" y="456184"/>
            <a:ext cx="20320" cy="3175"/>
          </a:xfrm>
          <a:custGeom>
            <a:avLst/>
            <a:gdLst/>
            <a:ahLst/>
            <a:cxnLst/>
            <a:rect l="l" t="t" r="r" b="b"/>
            <a:pathLst>
              <a:path w="20320" h="3175">
                <a:moveTo>
                  <a:pt x="0" y="3047"/>
                </a:moveTo>
                <a:lnTo>
                  <a:pt x="19812" y="3047"/>
                </a:lnTo>
                <a:lnTo>
                  <a:pt x="19812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0213" y="389635"/>
            <a:ext cx="74739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2"/>
              </a:rPr>
              <a:t>This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2"/>
              </a:rPr>
              <a:t>imag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3"/>
              </a:rPr>
              <a:t>CC0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3"/>
              </a:rPr>
              <a:t>public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3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55843" y="1911984"/>
            <a:ext cx="1424939" cy="12131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0039" y="2158872"/>
            <a:ext cx="1095375" cy="769620"/>
          </a:xfrm>
          <a:custGeom>
            <a:avLst/>
            <a:gdLst/>
            <a:ahLst/>
            <a:cxnLst/>
            <a:rect l="l" t="t" r="r" b="b"/>
            <a:pathLst>
              <a:path w="1095375" h="769619">
                <a:moveTo>
                  <a:pt x="842777" y="613029"/>
                </a:moveTo>
                <a:lnTo>
                  <a:pt x="685419" y="613029"/>
                </a:lnTo>
                <a:lnTo>
                  <a:pt x="722122" y="709294"/>
                </a:lnTo>
                <a:lnTo>
                  <a:pt x="807720" y="769365"/>
                </a:lnTo>
                <a:lnTo>
                  <a:pt x="856742" y="727201"/>
                </a:lnTo>
                <a:lnTo>
                  <a:pt x="859536" y="657987"/>
                </a:lnTo>
                <a:lnTo>
                  <a:pt x="842777" y="613029"/>
                </a:lnTo>
                <a:close/>
              </a:path>
              <a:path w="1095375" h="769619">
                <a:moveTo>
                  <a:pt x="1092759" y="480821"/>
                </a:moveTo>
                <a:lnTo>
                  <a:pt x="972947" y="480821"/>
                </a:lnTo>
                <a:lnTo>
                  <a:pt x="948563" y="589026"/>
                </a:lnTo>
                <a:lnTo>
                  <a:pt x="1034161" y="631063"/>
                </a:lnTo>
                <a:lnTo>
                  <a:pt x="1095375" y="570992"/>
                </a:lnTo>
                <a:lnTo>
                  <a:pt x="1095375" y="498856"/>
                </a:lnTo>
                <a:lnTo>
                  <a:pt x="1092759" y="480821"/>
                </a:lnTo>
                <a:close/>
              </a:path>
              <a:path w="1095375" h="769619">
                <a:moveTo>
                  <a:pt x="484102" y="180339"/>
                </a:moveTo>
                <a:lnTo>
                  <a:pt x="165226" y="180339"/>
                </a:lnTo>
                <a:lnTo>
                  <a:pt x="263144" y="204343"/>
                </a:lnTo>
                <a:lnTo>
                  <a:pt x="428371" y="258444"/>
                </a:lnTo>
                <a:lnTo>
                  <a:pt x="538480" y="324612"/>
                </a:lnTo>
                <a:lnTo>
                  <a:pt x="550799" y="426719"/>
                </a:lnTo>
                <a:lnTo>
                  <a:pt x="581406" y="558926"/>
                </a:lnTo>
                <a:lnTo>
                  <a:pt x="599694" y="625094"/>
                </a:lnTo>
                <a:lnTo>
                  <a:pt x="685419" y="613029"/>
                </a:lnTo>
                <a:lnTo>
                  <a:pt x="842777" y="613029"/>
                </a:lnTo>
                <a:lnTo>
                  <a:pt x="838326" y="601090"/>
                </a:lnTo>
                <a:lnTo>
                  <a:pt x="826135" y="546988"/>
                </a:lnTo>
                <a:lnTo>
                  <a:pt x="905637" y="522858"/>
                </a:lnTo>
                <a:lnTo>
                  <a:pt x="972947" y="480821"/>
                </a:lnTo>
                <a:lnTo>
                  <a:pt x="1092759" y="480821"/>
                </a:lnTo>
                <a:lnTo>
                  <a:pt x="1083183" y="414781"/>
                </a:lnTo>
                <a:lnTo>
                  <a:pt x="1040257" y="360680"/>
                </a:lnTo>
                <a:lnTo>
                  <a:pt x="1064768" y="312546"/>
                </a:lnTo>
                <a:lnTo>
                  <a:pt x="1080087" y="222376"/>
                </a:lnTo>
                <a:lnTo>
                  <a:pt x="618109" y="222376"/>
                </a:lnTo>
                <a:lnTo>
                  <a:pt x="484102" y="180339"/>
                </a:lnTo>
                <a:close/>
              </a:path>
              <a:path w="1095375" h="769619">
                <a:moveTo>
                  <a:pt x="685419" y="18033"/>
                </a:moveTo>
                <a:lnTo>
                  <a:pt x="648715" y="24002"/>
                </a:lnTo>
                <a:lnTo>
                  <a:pt x="648715" y="102235"/>
                </a:lnTo>
                <a:lnTo>
                  <a:pt x="673100" y="204343"/>
                </a:lnTo>
                <a:lnTo>
                  <a:pt x="618109" y="222376"/>
                </a:lnTo>
                <a:lnTo>
                  <a:pt x="1080087" y="222376"/>
                </a:lnTo>
                <a:lnTo>
                  <a:pt x="1089279" y="168275"/>
                </a:lnTo>
                <a:lnTo>
                  <a:pt x="1091958" y="102235"/>
                </a:lnTo>
                <a:lnTo>
                  <a:pt x="789432" y="102235"/>
                </a:lnTo>
                <a:lnTo>
                  <a:pt x="685419" y="18033"/>
                </a:lnTo>
                <a:close/>
              </a:path>
              <a:path w="1095375" h="769619">
                <a:moveTo>
                  <a:pt x="244729" y="108204"/>
                </a:moveTo>
                <a:lnTo>
                  <a:pt x="40259" y="127126"/>
                </a:lnTo>
                <a:lnTo>
                  <a:pt x="0" y="174370"/>
                </a:lnTo>
                <a:lnTo>
                  <a:pt x="73406" y="192405"/>
                </a:lnTo>
                <a:lnTo>
                  <a:pt x="165226" y="180339"/>
                </a:lnTo>
                <a:lnTo>
                  <a:pt x="484102" y="180339"/>
                </a:lnTo>
                <a:lnTo>
                  <a:pt x="465074" y="174370"/>
                </a:lnTo>
                <a:lnTo>
                  <a:pt x="244729" y="108204"/>
                </a:lnTo>
                <a:close/>
              </a:path>
              <a:path w="1095375" h="769619">
                <a:moveTo>
                  <a:pt x="1052576" y="0"/>
                </a:moveTo>
                <a:lnTo>
                  <a:pt x="954659" y="90169"/>
                </a:lnTo>
                <a:lnTo>
                  <a:pt x="789432" y="102235"/>
                </a:lnTo>
                <a:lnTo>
                  <a:pt x="1091958" y="102235"/>
                </a:lnTo>
                <a:lnTo>
                  <a:pt x="1095375" y="18033"/>
                </a:lnTo>
                <a:lnTo>
                  <a:pt x="1052576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0039" y="2158872"/>
            <a:ext cx="1095375" cy="769620"/>
          </a:xfrm>
          <a:custGeom>
            <a:avLst/>
            <a:gdLst/>
            <a:ahLst/>
            <a:cxnLst/>
            <a:rect l="l" t="t" r="r" b="b"/>
            <a:pathLst>
              <a:path w="1095375" h="769619">
                <a:moveTo>
                  <a:pt x="40259" y="127126"/>
                </a:moveTo>
                <a:lnTo>
                  <a:pt x="244729" y="108204"/>
                </a:lnTo>
                <a:lnTo>
                  <a:pt x="465074" y="174370"/>
                </a:lnTo>
                <a:lnTo>
                  <a:pt x="618109" y="222376"/>
                </a:lnTo>
                <a:lnTo>
                  <a:pt x="673100" y="204343"/>
                </a:lnTo>
                <a:lnTo>
                  <a:pt x="648715" y="102235"/>
                </a:lnTo>
                <a:lnTo>
                  <a:pt x="648715" y="24002"/>
                </a:lnTo>
                <a:lnTo>
                  <a:pt x="685419" y="18033"/>
                </a:lnTo>
                <a:lnTo>
                  <a:pt x="789432" y="102235"/>
                </a:lnTo>
                <a:lnTo>
                  <a:pt x="954659" y="90169"/>
                </a:lnTo>
                <a:lnTo>
                  <a:pt x="1052576" y="0"/>
                </a:lnTo>
                <a:lnTo>
                  <a:pt x="1095375" y="18033"/>
                </a:lnTo>
                <a:lnTo>
                  <a:pt x="1089279" y="168275"/>
                </a:lnTo>
                <a:lnTo>
                  <a:pt x="1064768" y="312546"/>
                </a:lnTo>
                <a:lnTo>
                  <a:pt x="1040257" y="360680"/>
                </a:lnTo>
                <a:lnTo>
                  <a:pt x="1083183" y="414781"/>
                </a:lnTo>
                <a:lnTo>
                  <a:pt x="1095375" y="498856"/>
                </a:lnTo>
                <a:lnTo>
                  <a:pt x="1095375" y="570992"/>
                </a:lnTo>
                <a:lnTo>
                  <a:pt x="1034161" y="631063"/>
                </a:lnTo>
                <a:lnTo>
                  <a:pt x="948563" y="589026"/>
                </a:lnTo>
                <a:lnTo>
                  <a:pt x="972947" y="480821"/>
                </a:lnTo>
                <a:lnTo>
                  <a:pt x="905637" y="522858"/>
                </a:lnTo>
                <a:lnTo>
                  <a:pt x="826135" y="546988"/>
                </a:lnTo>
                <a:lnTo>
                  <a:pt x="838326" y="601090"/>
                </a:lnTo>
                <a:lnTo>
                  <a:pt x="859536" y="657987"/>
                </a:lnTo>
                <a:lnTo>
                  <a:pt x="856742" y="727201"/>
                </a:lnTo>
                <a:lnTo>
                  <a:pt x="807720" y="769365"/>
                </a:lnTo>
                <a:lnTo>
                  <a:pt x="722122" y="709294"/>
                </a:lnTo>
                <a:lnTo>
                  <a:pt x="685419" y="613029"/>
                </a:lnTo>
                <a:lnTo>
                  <a:pt x="599694" y="625094"/>
                </a:lnTo>
                <a:lnTo>
                  <a:pt x="581406" y="558926"/>
                </a:lnTo>
                <a:lnTo>
                  <a:pt x="550799" y="426719"/>
                </a:lnTo>
                <a:lnTo>
                  <a:pt x="538480" y="324612"/>
                </a:lnTo>
                <a:lnTo>
                  <a:pt x="428371" y="258444"/>
                </a:lnTo>
                <a:lnTo>
                  <a:pt x="263144" y="204343"/>
                </a:lnTo>
                <a:lnTo>
                  <a:pt x="165226" y="180339"/>
                </a:lnTo>
                <a:lnTo>
                  <a:pt x="73406" y="192405"/>
                </a:lnTo>
                <a:lnTo>
                  <a:pt x="0" y="174370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61939" y="2356992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3" y="76962"/>
                </a:moveTo>
                <a:lnTo>
                  <a:pt x="0" y="133476"/>
                </a:lnTo>
                <a:lnTo>
                  <a:pt x="0" y="758698"/>
                </a:lnTo>
                <a:lnTo>
                  <a:pt x="1412239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1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8" y="160655"/>
                </a:lnTo>
                <a:lnTo>
                  <a:pt x="473963" y="76962"/>
                </a:lnTo>
                <a:close/>
              </a:path>
              <a:path w="1421764" h="758825">
                <a:moveTo>
                  <a:pt x="981201" y="332867"/>
                </a:moveTo>
                <a:lnTo>
                  <a:pt x="895476" y="369824"/>
                </a:lnTo>
                <a:lnTo>
                  <a:pt x="902588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5"/>
                </a:lnTo>
                <a:lnTo>
                  <a:pt x="1078864" y="463295"/>
                </a:lnTo>
                <a:lnTo>
                  <a:pt x="964564" y="416560"/>
                </a:lnTo>
                <a:lnTo>
                  <a:pt x="981201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39" y="160655"/>
                </a:lnTo>
                <a:lnTo>
                  <a:pt x="1166876" y="286131"/>
                </a:lnTo>
                <a:lnTo>
                  <a:pt x="1162177" y="387095"/>
                </a:lnTo>
                <a:lnTo>
                  <a:pt x="1078864" y="463295"/>
                </a:lnTo>
                <a:lnTo>
                  <a:pt x="1416141" y="463295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4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4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61939" y="2356992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6"/>
                </a:moveTo>
                <a:lnTo>
                  <a:pt x="473963" y="76962"/>
                </a:lnTo>
                <a:lnTo>
                  <a:pt x="559688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1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8" y="421513"/>
                </a:lnTo>
                <a:lnTo>
                  <a:pt x="895476" y="369824"/>
                </a:lnTo>
                <a:lnTo>
                  <a:pt x="981201" y="332867"/>
                </a:lnTo>
                <a:lnTo>
                  <a:pt x="964564" y="416560"/>
                </a:lnTo>
                <a:lnTo>
                  <a:pt x="1078864" y="463295"/>
                </a:lnTo>
                <a:lnTo>
                  <a:pt x="1162177" y="387095"/>
                </a:lnTo>
                <a:lnTo>
                  <a:pt x="1166876" y="286131"/>
                </a:lnTo>
                <a:lnTo>
                  <a:pt x="1107439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4" y="37592"/>
                </a:lnTo>
                <a:lnTo>
                  <a:pt x="1412239" y="758698"/>
                </a:lnTo>
                <a:lnTo>
                  <a:pt x="0" y="758698"/>
                </a:lnTo>
                <a:lnTo>
                  <a:pt x="0" y="133476"/>
                </a:lnTo>
                <a:close/>
              </a:path>
            </a:pathLst>
          </a:custGeom>
          <a:ln w="19049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60415" y="1940940"/>
            <a:ext cx="1418590" cy="530225"/>
          </a:xfrm>
          <a:custGeom>
            <a:avLst/>
            <a:gdLst/>
            <a:ahLst/>
            <a:cxnLst/>
            <a:rect l="l" t="t" r="r" b="b"/>
            <a:pathLst>
              <a:path w="1418589" h="530225">
                <a:moveTo>
                  <a:pt x="457962" y="217296"/>
                </a:moveTo>
                <a:lnTo>
                  <a:pt x="326009" y="268731"/>
                </a:lnTo>
                <a:lnTo>
                  <a:pt x="2412" y="305688"/>
                </a:lnTo>
                <a:lnTo>
                  <a:pt x="0" y="529970"/>
                </a:lnTo>
                <a:lnTo>
                  <a:pt x="425958" y="483107"/>
                </a:lnTo>
                <a:lnTo>
                  <a:pt x="218076" y="426465"/>
                </a:lnTo>
                <a:lnTo>
                  <a:pt x="109474" y="426465"/>
                </a:lnTo>
                <a:lnTo>
                  <a:pt x="16637" y="394462"/>
                </a:lnTo>
                <a:lnTo>
                  <a:pt x="78486" y="327787"/>
                </a:lnTo>
                <a:lnTo>
                  <a:pt x="299847" y="315468"/>
                </a:lnTo>
                <a:lnTo>
                  <a:pt x="675912" y="315468"/>
                </a:lnTo>
                <a:lnTo>
                  <a:pt x="668909" y="274955"/>
                </a:lnTo>
                <a:lnTo>
                  <a:pt x="697697" y="239140"/>
                </a:lnTo>
                <a:lnTo>
                  <a:pt x="609219" y="239140"/>
                </a:lnTo>
                <a:lnTo>
                  <a:pt x="457962" y="217296"/>
                </a:lnTo>
                <a:close/>
              </a:path>
              <a:path w="1418589" h="530225">
                <a:moveTo>
                  <a:pt x="1415146" y="204596"/>
                </a:moveTo>
                <a:lnTo>
                  <a:pt x="1070991" y="204596"/>
                </a:lnTo>
                <a:lnTo>
                  <a:pt x="1149477" y="236600"/>
                </a:lnTo>
                <a:lnTo>
                  <a:pt x="1148334" y="396747"/>
                </a:lnTo>
                <a:lnTo>
                  <a:pt x="1247139" y="409194"/>
                </a:lnTo>
                <a:lnTo>
                  <a:pt x="1256664" y="438784"/>
                </a:lnTo>
                <a:lnTo>
                  <a:pt x="1411351" y="438784"/>
                </a:lnTo>
                <a:lnTo>
                  <a:pt x="1415146" y="204596"/>
                </a:lnTo>
                <a:close/>
              </a:path>
              <a:path w="1418589" h="530225">
                <a:moveTo>
                  <a:pt x="199898" y="421513"/>
                </a:moveTo>
                <a:lnTo>
                  <a:pt x="109474" y="426465"/>
                </a:lnTo>
                <a:lnTo>
                  <a:pt x="218076" y="426465"/>
                </a:lnTo>
                <a:lnTo>
                  <a:pt x="199898" y="421513"/>
                </a:lnTo>
                <a:close/>
              </a:path>
              <a:path w="1418589" h="530225">
                <a:moveTo>
                  <a:pt x="675912" y="315468"/>
                </a:moveTo>
                <a:lnTo>
                  <a:pt x="299847" y="315468"/>
                </a:lnTo>
                <a:lnTo>
                  <a:pt x="656844" y="418972"/>
                </a:lnTo>
                <a:lnTo>
                  <a:pt x="692531" y="411606"/>
                </a:lnTo>
                <a:lnTo>
                  <a:pt x="675912" y="315468"/>
                </a:lnTo>
                <a:close/>
              </a:path>
              <a:path w="1418589" h="530225">
                <a:moveTo>
                  <a:pt x="1053859" y="221869"/>
                </a:moveTo>
                <a:lnTo>
                  <a:pt x="711581" y="221869"/>
                </a:lnTo>
                <a:lnTo>
                  <a:pt x="742569" y="229234"/>
                </a:lnTo>
                <a:lnTo>
                  <a:pt x="842518" y="303149"/>
                </a:lnTo>
                <a:lnTo>
                  <a:pt x="978154" y="298195"/>
                </a:lnTo>
                <a:lnTo>
                  <a:pt x="1053859" y="221869"/>
                </a:lnTo>
                <a:close/>
              </a:path>
              <a:path w="1418589" h="530225">
                <a:moveTo>
                  <a:pt x="1418463" y="0"/>
                </a:moveTo>
                <a:lnTo>
                  <a:pt x="1339850" y="49275"/>
                </a:lnTo>
                <a:lnTo>
                  <a:pt x="1278001" y="68961"/>
                </a:lnTo>
                <a:lnTo>
                  <a:pt x="1147064" y="81406"/>
                </a:lnTo>
                <a:lnTo>
                  <a:pt x="716407" y="204596"/>
                </a:lnTo>
                <a:lnTo>
                  <a:pt x="609219" y="239140"/>
                </a:lnTo>
                <a:lnTo>
                  <a:pt x="697697" y="239140"/>
                </a:lnTo>
                <a:lnTo>
                  <a:pt x="711581" y="221869"/>
                </a:lnTo>
                <a:lnTo>
                  <a:pt x="1053859" y="221869"/>
                </a:lnTo>
                <a:lnTo>
                  <a:pt x="1070991" y="204596"/>
                </a:lnTo>
                <a:lnTo>
                  <a:pt x="1415146" y="204596"/>
                </a:lnTo>
                <a:lnTo>
                  <a:pt x="1418463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0415" y="1940940"/>
            <a:ext cx="1418590" cy="530225"/>
          </a:xfrm>
          <a:custGeom>
            <a:avLst/>
            <a:gdLst/>
            <a:ahLst/>
            <a:cxnLst/>
            <a:rect l="l" t="t" r="r" b="b"/>
            <a:pathLst>
              <a:path w="1418589" h="530225">
                <a:moveTo>
                  <a:pt x="425958" y="483107"/>
                </a:moveTo>
                <a:lnTo>
                  <a:pt x="0" y="529970"/>
                </a:lnTo>
                <a:lnTo>
                  <a:pt x="2412" y="305688"/>
                </a:lnTo>
                <a:lnTo>
                  <a:pt x="326009" y="268731"/>
                </a:lnTo>
                <a:lnTo>
                  <a:pt x="457962" y="217296"/>
                </a:lnTo>
                <a:lnTo>
                  <a:pt x="609219" y="239140"/>
                </a:lnTo>
                <a:lnTo>
                  <a:pt x="716407" y="204596"/>
                </a:lnTo>
                <a:lnTo>
                  <a:pt x="1147064" y="81406"/>
                </a:lnTo>
                <a:lnTo>
                  <a:pt x="1278001" y="68961"/>
                </a:lnTo>
                <a:lnTo>
                  <a:pt x="1339850" y="49275"/>
                </a:lnTo>
                <a:lnTo>
                  <a:pt x="1418463" y="0"/>
                </a:lnTo>
                <a:lnTo>
                  <a:pt x="1411351" y="438784"/>
                </a:lnTo>
                <a:lnTo>
                  <a:pt x="1256664" y="438784"/>
                </a:lnTo>
                <a:lnTo>
                  <a:pt x="1247139" y="409194"/>
                </a:lnTo>
                <a:lnTo>
                  <a:pt x="1148334" y="396747"/>
                </a:lnTo>
                <a:lnTo>
                  <a:pt x="1149477" y="236600"/>
                </a:lnTo>
                <a:lnTo>
                  <a:pt x="1070991" y="204596"/>
                </a:lnTo>
                <a:lnTo>
                  <a:pt x="978154" y="298195"/>
                </a:lnTo>
                <a:lnTo>
                  <a:pt x="842518" y="303149"/>
                </a:lnTo>
                <a:lnTo>
                  <a:pt x="742569" y="229234"/>
                </a:lnTo>
                <a:lnTo>
                  <a:pt x="711581" y="221869"/>
                </a:lnTo>
                <a:lnTo>
                  <a:pt x="668909" y="274955"/>
                </a:lnTo>
                <a:lnTo>
                  <a:pt x="692531" y="411606"/>
                </a:lnTo>
                <a:lnTo>
                  <a:pt x="656844" y="418972"/>
                </a:lnTo>
                <a:lnTo>
                  <a:pt x="299847" y="315468"/>
                </a:lnTo>
                <a:lnTo>
                  <a:pt x="78486" y="327787"/>
                </a:lnTo>
                <a:lnTo>
                  <a:pt x="16637" y="394462"/>
                </a:lnTo>
                <a:lnTo>
                  <a:pt x="109474" y="426465"/>
                </a:lnTo>
                <a:lnTo>
                  <a:pt x="199898" y="421513"/>
                </a:lnTo>
                <a:lnTo>
                  <a:pt x="425958" y="483107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64987" y="1913508"/>
            <a:ext cx="1407160" cy="320040"/>
          </a:xfrm>
          <a:custGeom>
            <a:avLst/>
            <a:gdLst/>
            <a:ahLst/>
            <a:cxnLst/>
            <a:rect l="l" t="t" r="r" b="b"/>
            <a:pathLst>
              <a:path w="1407160" h="320039">
                <a:moveTo>
                  <a:pt x="0" y="0"/>
                </a:moveTo>
                <a:lnTo>
                  <a:pt x="0" y="320039"/>
                </a:lnTo>
                <a:lnTo>
                  <a:pt x="309372" y="280543"/>
                </a:lnTo>
                <a:lnTo>
                  <a:pt x="452247" y="221487"/>
                </a:lnTo>
                <a:lnTo>
                  <a:pt x="673517" y="221487"/>
                </a:lnTo>
                <a:lnTo>
                  <a:pt x="1118615" y="91058"/>
                </a:lnTo>
                <a:lnTo>
                  <a:pt x="1306702" y="68960"/>
                </a:lnTo>
                <a:lnTo>
                  <a:pt x="1406652" y="4952"/>
                </a:lnTo>
                <a:lnTo>
                  <a:pt x="0" y="0"/>
                </a:lnTo>
                <a:close/>
              </a:path>
              <a:path w="1407160" h="320039">
                <a:moveTo>
                  <a:pt x="673517" y="221487"/>
                </a:moveTo>
                <a:lnTo>
                  <a:pt x="452247" y="221487"/>
                </a:lnTo>
                <a:lnTo>
                  <a:pt x="580771" y="248665"/>
                </a:lnTo>
                <a:lnTo>
                  <a:pt x="673517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65749" y="1914270"/>
            <a:ext cx="1407160" cy="320040"/>
          </a:xfrm>
          <a:custGeom>
            <a:avLst/>
            <a:gdLst/>
            <a:ahLst/>
            <a:cxnLst/>
            <a:rect l="l" t="t" r="r" b="b"/>
            <a:pathLst>
              <a:path w="1407160" h="320039">
                <a:moveTo>
                  <a:pt x="0" y="320039"/>
                </a:moveTo>
                <a:lnTo>
                  <a:pt x="0" y="0"/>
                </a:lnTo>
                <a:lnTo>
                  <a:pt x="1406652" y="4952"/>
                </a:lnTo>
                <a:lnTo>
                  <a:pt x="1306702" y="68960"/>
                </a:lnTo>
                <a:lnTo>
                  <a:pt x="1118615" y="91058"/>
                </a:lnTo>
                <a:lnTo>
                  <a:pt x="580771" y="248665"/>
                </a:lnTo>
                <a:lnTo>
                  <a:pt x="452247" y="221487"/>
                </a:lnTo>
                <a:lnTo>
                  <a:pt x="309372" y="280542"/>
                </a:lnTo>
                <a:lnTo>
                  <a:pt x="0" y="320039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98131" y="750696"/>
            <a:ext cx="1645919" cy="10988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98131" y="1904364"/>
            <a:ext cx="1647825" cy="1214755"/>
          </a:xfrm>
          <a:custGeom>
            <a:avLst/>
            <a:gdLst/>
            <a:ahLst/>
            <a:cxnLst/>
            <a:rect l="l" t="t" r="r" b="b"/>
            <a:pathLst>
              <a:path w="1647825" h="1214755">
                <a:moveTo>
                  <a:pt x="0" y="1214247"/>
                </a:moveTo>
                <a:lnTo>
                  <a:pt x="1647316" y="1214247"/>
                </a:lnTo>
                <a:lnTo>
                  <a:pt x="1647316" y="0"/>
                </a:lnTo>
                <a:lnTo>
                  <a:pt x="0" y="0"/>
                </a:lnTo>
                <a:lnTo>
                  <a:pt x="0" y="1214247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99655" y="2363088"/>
            <a:ext cx="1642745" cy="758825"/>
          </a:xfrm>
          <a:custGeom>
            <a:avLst/>
            <a:gdLst/>
            <a:ahLst/>
            <a:cxnLst/>
            <a:rect l="l" t="t" r="r" b="b"/>
            <a:pathLst>
              <a:path w="1642745" h="758825">
                <a:moveTo>
                  <a:pt x="0" y="0"/>
                </a:moveTo>
                <a:lnTo>
                  <a:pt x="0" y="758825"/>
                </a:lnTo>
                <a:lnTo>
                  <a:pt x="1642491" y="755650"/>
                </a:lnTo>
                <a:lnTo>
                  <a:pt x="1639697" y="193548"/>
                </a:lnTo>
                <a:lnTo>
                  <a:pt x="1286510" y="165481"/>
                </a:lnTo>
                <a:lnTo>
                  <a:pt x="336000" y="59309"/>
                </a:lnTo>
                <a:lnTo>
                  <a:pt x="154178" y="59309"/>
                </a:lnTo>
                <a:lnTo>
                  <a:pt x="30861" y="25019"/>
                </a:lnTo>
                <a:lnTo>
                  <a:pt x="47625" y="6223"/>
                </a:lnTo>
                <a:lnTo>
                  <a:pt x="0" y="0"/>
                </a:lnTo>
                <a:close/>
              </a:path>
              <a:path w="1642745" h="758825">
                <a:moveTo>
                  <a:pt x="131699" y="6223"/>
                </a:moveTo>
                <a:lnTo>
                  <a:pt x="154178" y="59309"/>
                </a:lnTo>
                <a:lnTo>
                  <a:pt x="336000" y="59309"/>
                </a:lnTo>
                <a:lnTo>
                  <a:pt x="280289" y="53086"/>
                </a:lnTo>
                <a:lnTo>
                  <a:pt x="131699" y="6223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02703" y="1901316"/>
            <a:ext cx="1640205" cy="667385"/>
          </a:xfrm>
          <a:custGeom>
            <a:avLst/>
            <a:gdLst/>
            <a:ahLst/>
            <a:cxnLst/>
            <a:rect l="l" t="t" r="r" b="b"/>
            <a:pathLst>
              <a:path w="1640204" h="667385">
                <a:moveTo>
                  <a:pt x="989457" y="0"/>
                </a:moveTo>
                <a:lnTo>
                  <a:pt x="28067" y="0"/>
                </a:lnTo>
                <a:lnTo>
                  <a:pt x="33655" y="31242"/>
                </a:lnTo>
                <a:lnTo>
                  <a:pt x="0" y="62356"/>
                </a:lnTo>
                <a:lnTo>
                  <a:pt x="0" y="630046"/>
                </a:lnTo>
                <a:lnTo>
                  <a:pt x="1639697" y="667385"/>
                </a:lnTo>
                <a:lnTo>
                  <a:pt x="1639697" y="467868"/>
                </a:lnTo>
                <a:lnTo>
                  <a:pt x="1188466" y="467868"/>
                </a:lnTo>
                <a:lnTo>
                  <a:pt x="1190180" y="461644"/>
                </a:lnTo>
                <a:lnTo>
                  <a:pt x="1109853" y="461644"/>
                </a:lnTo>
                <a:lnTo>
                  <a:pt x="835279" y="361823"/>
                </a:lnTo>
                <a:lnTo>
                  <a:pt x="810006" y="296291"/>
                </a:lnTo>
                <a:lnTo>
                  <a:pt x="919353" y="280669"/>
                </a:lnTo>
                <a:lnTo>
                  <a:pt x="936117" y="212089"/>
                </a:lnTo>
                <a:lnTo>
                  <a:pt x="966978" y="162179"/>
                </a:lnTo>
                <a:lnTo>
                  <a:pt x="1022985" y="155956"/>
                </a:lnTo>
                <a:lnTo>
                  <a:pt x="989457" y="84200"/>
                </a:lnTo>
                <a:lnTo>
                  <a:pt x="975360" y="31242"/>
                </a:lnTo>
                <a:lnTo>
                  <a:pt x="989457" y="0"/>
                </a:lnTo>
                <a:close/>
              </a:path>
              <a:path w="1640204" h="667385">
                <a:moveTo>
                  <a:pt x="1317371" y="321182"/>
                </a:moveTo>
                <a:lnTo>
                  <a:pt x="1188466" y="467868"/>
                </a:lnTo>
                <a:lnTo>
                  <a:pt x="1639697" y="467868"/>
                </a:lnTo>
                <a:lnTo>
                  <a:pt x="1639697" y="430402"/>
                </a:lnTo>
                <a:lnTo>
                  <a:pt x="1535938" y="430402"/>
                </a:lnTo>
                <a:lnTo>
                  <a:pt x="1519191" y="417956"/>
                </a:lnTo>
                <a:lnTo>
                  <a:pt x="1454658" y="417956"/>
                </a:lnTo>
                <a:lnTo>
                  <a:pt x="1442085" y="374269"/>
                </a:lnTo>
                <a:lnTo>
                  <a:pt x="1412621" y="374269"/>
                </a:lnTo>
                <a:lnTo>
                  <a:pt x="1317371" y="321182"/>
                </a:lnTo>
                <a:close/>
              </a:path>
              <a:path w="1640204" h="667385">
                <a:moveTo>
                  <a:pt x="1132332" y="327406"/>
                </a:moveTo>
                <a:lnTo>
                  <a:pt x="1107059" y="411733"/>
                </a:lnTo>
                <a:lnTo>
                  <a:pt x="1109853" y="461644"/>
                </a:lnTo>
                <a:lnTo>
                  <a:pt x="1190180" y="461644"/>
                </a:lnTo>
                <a:lnTo>
                  <a:pt x="1205675" y="405383"/>
                </a:lnTo>
                <a:lnTo>
                  <a:pt x="1157605" y="405383"/>
                </a:lnTo>
                <a:lnTo>
                  <a:pt x="1132332" y="327406"/>
                </a:lnTo>
                <a:close/>
              </a:path>
              <a:path w="1640204" h="667385">
                <a:moveTo>
                  <a:pt x="1639697" y="380492"/>
                </a:moveTo>
                <a:lnTo>
                  <a:pt x="1577975" y="380492"/>
                </a:lnTo>
                <a:lnTo>
                  <a:pt x="1535938" y="430402"/>
                </a:lnTo>
                <a:lnTo>
                  <a:pt x="1639697" y="430402"/>
                </a:lnTo>
                <a:lnTo>
                  <a:pt x="1639697" y="380492"/>
                </a:lnTo>
                <a:close/>
              </a:path>
              <a:path w="1640204" h="667385">
                <a:moveTo>
                  <a:pt x="1493901" y="399161"/>
                </a:moveTo>
                <a:lnTo>
                  <a:pt x="1454658" y="417956"/>
                </a:lnTo>
                <a:lnTo>
                  <a:pt x="1519191" y="417956"/>
                </a:lnTo>
                <a:lnTo>
                  <a:pt x="1493901" y="399161"/>
                </a:lnTo>
                <a:close/>
              </a:path>
              <a:path w="1640204" h="667385">
                <a:moveTo>
                  <a:pt x="1185545" y="321182"/>
                </a:moveTo>
                <a:lnTo>
                  <a:pt x="1157605" y="405383"/>
                </a:lnTo>
                <a:lnTo>
                  <a:pt x="1205675" y="405383"/>
                </a:lnTo>
                <a:lnTo>
                  <a:pt x="1210818" y="386714"/>
                </a:lnTo>
                <a:lnTo>
                  <a:pt x="1185545" y="321182"/>
                </a:lnTo>
                <a:close/>
              </a:path>
              <a:path w="1640204" h="667385">
                <a:moveTo>
                  <a:pt x="1429512" y="330581"/>
                </a:moveTo>
                <a:lnTo>
                  <a:pt x="1412621" y="374269"/>
                </a:lnTo>
                <a:lnTo>
                  <a:pt x="1442085" y="374269"/>
                </a:lnTo>
                <a:lnTo>
                  <a:pt x="1429512" y="33058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93203" y="1910460"/>
            <a:ext cx="1173480" cy="1214755"/>
          </a:xfrm>
          <a:custGeom>
            <a:avLst/>
            <a:gdLst/>
            <a:ahLst/>
            <a:cxnLst/>
            <a:rect l="l" t="t" r="r" b="b"/>
            <a:pathLst>
              <a:path w="1173479" h="1214755">
                <a:moveTo>
                  <a:pt x="494715" y="814958"/>
                </a:moveTo>
                <a:lnTo>
                  <a:pt x="397637" y="814958"/>
                </a:lnTo>
                <a:lnTo>
                  <a:pt x="411607" y="946150"/>
                </a:lnTo>
                <a:lnTo>
                  <a:pt x="442341" y="1061593"/>
                </a:lnTo>
                <a:lnTo>
                  <a:pt x="462025" y="1214628"/>
                </a:lnTo>
                <a:lnTo>
                  <a:pt x="540385" y="1208405"/>
                </a:lnTo>
                <a:lnTo>
                  <a:pt x="512445" y="1120902"/>
                </a:lnTo>
                <a:lnTo>
                  <a:pt x="495554" y="1049147"/>
                </a:lnTo>
                <a:lnTo>
                  <a:pt x="504063" y="992886"/>
                </a:lnTo>
                <a:lnTo>
                  <a:pt x="492760" y="924179"/>
                </a:lnTo>
                <a:lnTo>
                  <a:pt x="494715" y="814958"/>
                </a:lnTo>
                <a:close/>
              </a:path>
              <a:path w="1173479" h="1214755">
                <a:moveTo>
                  <a:pt x="109220" y="118618"/>
                </a:moveTo>
                <a:lnTo>
                  <a:pt x="36449" y="121793"/>
                </a:lnTo>
                <a:lnTo>
                  <a:pt x="0" y="162306"/>
                </a:lnTo>
                <a:lnTo>
                  <a:pt x="30861" y="221742"/>
                </a:lnTo>
                <a:lnTo>
                  <a:pt x="89662" y="281050"/>
                </a:lnTo>
                <a:lnTo>
                  <a:pt x="120396" y="287274"/>
                </a:lnTo>
                <a:lnTo>
                  <a:pt x="95250" y="324738"/>
                </a:lnTo>
                <a:lnTo>
                  <a:pt x="106425" y="405892"/>
                </a:lnTo>
                <a:lnTo>
                  <a:pt x="98044" y="458977"/>
                </a:lnTo>
                <a:lnTo>
                  <a:pt x="92456" y="561975"/>
                </a:lnTo>
                <a:lnTo>
                  <a:pt x="114808" y="683768"/>
                </a:lnTo>
                <a:lnTo>
                  <a:pt x="151257" y="724407"/>
                </a:lnTo>
                <a:lnTo>
                  <a:pt x="176403" y="846201"/>
                </a:lnTo>
                <a:lnTo>
                  <a:pt x="179197" y="955420"/>
                </a:lnTo>
                <a:lnTo>
                  <a:pt x="181991" y="1039749"/>
                </a:lnTo>
                <a:lnTo>
                  <a:pt x="159638" y="1136523"/>
                </a:lnTo>
                <a:lnTo>
                  <a:pt x="139954" y="1205230"/>
                </a:lnTo>
                <a:lnTo>
                  <a:pt x="232410" y="1211453"/>
                </a:lnTo>
                <a:lnTo>
                  <a:pt x="229616" y="1127252"/>
                </a:lnTo>
                <a:lnTo>
                  <a:pt x="229616" y="1017905"/>
                </a:lnTo>
                <a:lnTo>
                  <a:pt x="260902" y="1017905"/>
                </a:lnTo>
                <a:lnTo>
                  <a:pt x="251968" y="980439"/>
                </a:lnTo>
                <a:lnTo>
                  <a:pt x="260350" y="905510"/>
                </a:lnTo>
                <a:lnTo>
                  <a:pt x="249174" y="821182"/>
                </a:lnTo>
                <a:lnTo>
                  <a:pt x="254762" y="780669"/>
                </a:lnTo>
                <a:lnTo>
                  <a:pt x="495328" y="780669"/>
                </a:lnTo>
                <a:lnTo>
                  <a:pt x="495554" y="768095"/>
                </a:lnTo>
                <a:lnTo>
                  <a:pt x="541777" y="768095"/>
                </a:lnTo>
                <a:lnTo>
                  <a:pt x="540385" y="761873"/>
                </a:lnTo>
                <a:lnTo>
                  <a:pt x="1149175" y="761873"/>
                </a:lnTo>
                <a:lnTo>
                  <a:pt x="1094867" y="615061"/>
                </a:lnTo>
                <a:lnTo>
                  <a:pt x="1108837" y="561975"/>
                </a:lnTo>
                <a:lnTo>
                  <a:pt x="1159256" y="549529"/>
                </a:lnTo>
                <a:lnTo>
                  <a:pt x="1173226" y="499618"/>
                </a:lnTo>
                <a:lnTo>
                  <a:pt x="1128374" y="474599"/>
                </a:lnTo>
                <a:lnTo>
                  <a:pt x="1066800" y="474599"/>
                </a:lnTo>
                <a:lnTo>
                  <a:pt x="1046561" y="430911"/>
                </a:lnTo>
                <a:lnTo>
                  <a:pt x="926846" y="430911"/>
                </a:lnTo>
                <a:lnTo>
                  <a:pt x="841618" y="380873"/>
                </a:lnTo>
                <a:lnTo>
                  <a:pt x="481584" y="380873"/>
                </a:lnTo>
                <a:lnTo>
                  <a:pt x="484378" y="327913"/>
                </a:lnTo>
                <a:lnTo>
                  <a:pt x="548767" y="318516"/>
                </a:lnTo>
                <a:lnTo>
                  <a:pt x="641223" y="231012"/>
                </a:lnTo>
                <a:lnTo>
                  <a:pt x="652399" y="193548"/>
                </a:lnTo>
                <a:lnTo>
                  <a:pt x="633706" y="177926"/>
                </a:lnTo>
                <a:lnTo>
                  <a:pt x="506857" y="177926"/>
                </a:lnTo>
                <a:lnTo>
                  <a:pt x="503423" y="153035"/>
                </a:lnTo>
                <a:lnTo>
                  <a:pt x="195961" y="153035"/>
                </a:lnTo>
                <a:lnTo>
                  <a:pt x="109220" y="118618"/>
                </a:lnTo>
                <a:close/>
              </a:path>
              <a:path w="1173479" h="1214755">
                <a:moveTo>
                  <a:pt x="1149175" y="761873"/>
                </a:moveTo>
                <a:lnTo>
                  <a:pt x="540385" y="761873"/>
                </a:lnTo>
                <a:lnTo>
                  <a:pt x="599186" y="765048"/>
                </a:lnTo>
                <a:lnTo>
                  <a:pt x="630047" y="930529"/>
                </a:lnTo>
                <a:lnTo>
                  <a:pt x="632841" y="971042"/>
                </a:lnTo>
                <a:lnTo>
                  <a:pt x="646811" y="986663"/>
                </a:lnTo>
                <a:lnTo>
                  <a:pt x="638429" y="1102233"/>
                </a:lnTo>
                <a:lnTo>
                  <a:pt x="649605" y="1142873"/>
                </a:lnTo>
                <a:lnTo>
                  <a:pt x="652399" y="1189609"/>
                </a:lnTo>
                <a:lnTo>
                  <a:pt x="719582" y="1195832"/>
                </a:lnTo>
                <a:lnTo>
                  <a:pt x="705612" y="1120902"/>
                </a:lnTo>
                <a:lnTo>
                  <a:pt x="680466" y="1011682"/>
                </a:lnTo>
                <a:lnTo>
                  <a:pt x="705612" y="933576"/>
                </a:lnTo>
                <a:lnTo>
                  <a:pt x="680466" y="814958"/>
                </a:lnTo>
                <a:lnTo>
                  <a:pt x="870771" y="814958"/>
                </a:lnTo>
                <a:lnTo>
                  <a:pt x="870838" y="811783"/>
                </a:lnTo>
                <a:lnTo>
                  <a:pt x="907667" y="811783"/>
                </a:lnTo>
                <a:lnTo>
                  <a:pt x="912876" y="793114"/>
                </a:lnTo>
                <a:lnTo>
                  <a:pt x="1160732" y="793114"/>
                </a:lnTo>
                <a:lnTo>
                  <a:pt x="1149175" y="761873"/>
                </a:lnTo>
                <a:close/>
              </a:path>
              <a:path w="1173479" h="1214755">
                <a:moveTo>
                  <a:pt x="869973" y="852424"/>
                </a:moveTo>
                <a:lnTo>
                  <a:pt x="800862" y="852424"/>
                </a:lnTo>
                <a:lnTo>
                  <a:pt x="803656" y="958595"/>
                </a:lnTo>
                <a:lnTo>
                  <a:pt x="826008" y="1030351"/>
                </a:lnTo>
                <a:lnTo>
                  <a:pt x="837184" y="1139698"/>
                </a:lnTo>
                <a:lnTo>
                  <a:pt x="856869" y="1183386"/>
                </a:lnTo>
                <a:lnTo>
                  <a:pt x="898779" y="1189609"/>
                </a:lnTo>
                <a:lnTo>
                  <a:pt x="910082" y="1149096"/>
                </a:lnTo>
                <a:lnTo>
                  <a:pt x="865251" y="1030351"/>
                </a:lnTo>
                <a:lnTo>
                  <a:pt x="868045" y="942975"/>
                </a:lnTo>
                <a:lnTo>
                  <a:pt x="869973" y="852424"/>
                </a:lnTo>
                <a:close/>
              </a:path>
              <a:path w="1173479" h="1214755">
                <a:moveTo>
                  <a:pt x="260902" y="1017905"/>
                </a:moveTo>
                <a:lnTo>
                  <a:pt x="229616" y="1017905"/>
                </a:lnTo>
                <a:lnTo>
                  <a:pt x="263144" y="1027302"/>
                </a:lnTo>
                <a:lnTo>
                  <a:pt x="260902" y="1017905"/>
                </a:lnTo>
                <a:close/>
              </a:path>
              <a:path w="1173479" h="1214755">
                <a:moveTo>
                  <a:pt x="541777" y="768095"/>
                </a:moveTo>
                <a:lnTo>
                  <a:pt x="495554" y="768095"/>
                </a:lnTo>
                <a:lnTo>
                  <a:pt x="512445" y="905510"/>
                </a:lnTo>
                <a:lnTo>
                  <a:pt x="515238" y="999236"/>
                </a:lnTo>
                <a:lnTo>
                  <a:pt x="554355" y="989838"/>
                </a:lnTo>
                <a:lnTo>
                  <a:pt x="537591" y="855599"/>
                </a:lnTo>
                <a:lnTo>
                  <a:pt x="548767" y="799338"/>
                </a:lnTo>
                <a:lnTo>
                  <a:pt x="541777" y="768095"/>
                </a:lnTo>
                <a:close/>
              </a:path>
              <a:path w="1173479" h="1214755">
                <a:moveTo>
                  <a:pt x="495328" y="780669"/>
                </a:moveTo>
                <a:lnTo>
                  <a:pt x="254762" y="780669"/>
                </a:lnTo>
                <a:lnTo>
                  <a:pt x="277241" y="836802"/>
                </a:lnTo>
                <a:lnTo>
                  <a:pt x="282829" y="914907"/>
                </a:lnTo>
                <a:lnTo>
                  <a:pt x="280035" y="977264"/>
                </a:lnTo>
                <a:lnTo>
                  <a:pt x="305181" y="983614"/>
                </a:lnTo>
                <a:lnTo>
                  <a:pt x="338836" y="971042"/>
                </a:lnTo>
                <a:lnTo>
                  <a:pt x="319150" y="886713"/>
                </a:lnTo>
                <a:lnTo>
                  <a:pt x="355469" y="886713"/>
                </a:lnTo>
                <a:lnTo>
                  <a:pt x="397637" y="814958"/>
                </a:lnTo>
                <a:lnTo>
                  <a:pt x="494715" y="814958"/>
                </a:lnTo>
                <a:lnTo>
                  <a:pt x="495328" y="780669"/>
                </a:lnTo>
                <a:close/>
              </a:path>
              <a:path w="1173479" h="1214755">
                <a:moveTo>
                  <a:pt x="355469" y="886713"/>
                </a:moveTo>
                <a:lnTo>
                  <a:pt x="319150" y="886713"/>
                </a:lnTo>
                <a:lnTo>
                  <a:pt x="344424" y="905510"/>
                </a:lnTo>
                <a:lnTo>
                  <a:pt x="355469" y="886713"/>
                </a:lnTo>
                <a:close/>
              </a:path>
              <a:path w="1173479" h="1214755">
                <a:moveTo>
                  <a:pt x="870771" y="814958"/>
                </a:moveTo>
                <a:lnTo>
                  <a:pt x="680466" y="814958"/>
                </a:lnTo>
                <a:lnTo>
                  <a:pt x="727963" y="886713"/>
                </a:lnTo>
                <a:lnTo>
                  <a:pt x="770001" y="899287"/>
                </a:lnTo>
                <a:lnTo>
                  <a:pt x="800862" y="852424"/>
                </a:lnTo>
                <a:lnTo>
                  <a:pt x="869973" y="852424"/>
                </a:lnTo>
                <a:lnTo>
                  <a:pt x="870771" y="814958"/>
                </a:lnTo>
                <a:close/>
              </a:path>
              <a:path w="1173479" h="1214755">
                <a:moveTo>
                  <a:pt x="1160732" y="793114"/>
                </a:moveTo>
                <a:lnTo>
                  <a:pt x="912876" y="793114"/>
                </a:lnTo>
                <a:lnTo>
                  <a:pt x="1038860" y="846201"/>
                </a:lnTo>
                <a:lnTo>
                  <a:pt x="1092073" y="880491"/>
                </a:lnTo>
                <a:lnTo>
                  <a:pt x="1156462" y="846201"/>
                </a:lnTo>
                <a:lnTo>
                  <a:pt x="1167638" y="811783"/>
                </a:lnTo>
                <a:lnTo>
                  <a:pt x="1160732" y="793114"/>
                </a:lnTo>
                <a:close/>
              </a:path>
              <a:path w="1173479" h="1214755">
                <a:moveTo>
                  <a:pt x="907667" y="811783"/>
                </a:moveTo>
                <a:lnTo>
                  <a:pt x="870838" y="811783"/>
                </a:lnTo>
                <a:lnTo>
                  <a:pt x="901573" y="833627"/>
                </a:lnTo>
                <a:lnTo>
                  <a:pt x="907667" y="811783"/>
                </a:lnTo>
                <a:close/>
              </a:path>
              <a:path w="1173479" h="1214755">
                <a:moveTo>
                  <a:pt x="1117219" y="468375"/>
                </a:moveTo>
                <a:lnTo>
                  <a:pt x="1066800" y="474599"/>
                </a:lnTo>
                <a:lnTo>
                  <a:pt x="1128374" y="474599"/>
                </a:lnTo>
                <a:lnTo>
                  <a:pt x="1117219" y="468375"/>
                </a:lnTo>
                <a:close/>
              </a:path>
              <a:path w="1173479" h="1214755">
                <a:moveTo>
                  <a:pt x="1021969" y="377825"/>
                </a:moveTo>
                <a:lnTo>
                  <a:pt x="926846" y="430911"/>
                </a:lnTo>
                <a:lnTo>
                  <a:pt x="1046561" y="430911"/>
                </a:lnTo>
                <a:lnTo>
                  <a:pt x="1021969" y="377825"/>
                </a:lnTo>
                <a:close/>
              </a:path>
              <a:path w="1173479" h="1214755">
                <a:moveTo>
                  <a:pt x="713994" y="302894"/>
                </a:moveTo>
                <a:lnTo>
                  <a:pt x="632841" y="349757"/>
                </a:lnTo>
                <a:lnTo>
                  <a:pt x="562863" y="349757"/>
                </a:lnTo>
                <a:lnTo>
                  <a:pt x="481584" y="380873"/>
                </a:lnTo>
                <a:lnTo>
                  <a:pt x="841618" y="380873"/>
                </a:lnTo>
                <a:lnTo>
                  <a:pt x="820420" y="368426"/>
                </a:lnTo>
                <a:lnTo>
                  <a:pt x="781176" y="327913"/>
                </a:lnTo>
                <a:lnTo>
                  <a:pt x="713994" y="302894"/>
                </a:lnTo>
                <a:close/>
              </a:path>
              <a:path w="1173479" h="1214755">
                <a:moveTo>
                  <a:pt x="548767" y="146812"/>
                </a:moveTo>
                <a:lnTo>
                  <a:pt x="506857" y="177926"/>
                </a:lnTo>
                <a:lnTo>
                  <a:pt x="633706" y="177926"/>
                </a:lnTo>
                <a:lnTo>
                  <a:pt x="607568" y="156082"/>
                </a:lnTo>
                <a:lnTo>
                  <a:pt x="548767" y="146812"/>
                </a:lnTo>
                <a:close/>
              </a:path>
              <a:path w="1173479" h="1214755">
                <a:moveTo>
                  <a:pt x="361188" y="0"/>
                </a:moveTo>
                <a:lnTo>
                  <a:pt x="271653" y="18668"/>
                </a:lnTo>
                <a:lnTo>
                  <a:pt x="221234" y="96774"/>
                </a:lnTo>
                <a:lnTo>
                  <a:pt x="195961" y="153035"/>
                </a:lnTo>
                <a:lnTo>
                  <a:pt x="503423" y="153035"/>
                </a:lnTo>
                <a:lnTo>
                  <a:pt x="501269" y="137413"/>
                </a:lnTo>
                <a:lnTo>
                  <a:pt x="473201" y="96774"/>
                </a:lnTo>
                <a:lnTo>
                  <a:pt x="462025" y="56261"/>
                </a:lnTo>
                <a:lnTo>
                  <a:pt x="425576" y="6223"/>
                </a:lnTo>
                <a:lnTo>
                  <a:pt x="361188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98131" y="1977262"/>
            <a:ext cx="1647825" cy="1041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92100" algn="r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S</a:t>
            </a:r>
            <a:r>
              <a:rPr sz="900" b="1" spc="15" dirty="0">
                <a:latin typeface="Arial"/>
                <a:cs typeface="Arial"/>
              </a:rPr>
              <a:t>ky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R="200025" algn="ctr">
              <a:lnSpc>
                <a:spcPct val="100000"/>
              </a:lnSpc>
            </a:pPr>
            <a:r>
              <a:rPr sz="900" b="1" spc="20" dirty="0">
                <a:latin typeface="Arial"/>
                <a:cs typeface="Arial"/>
              </a:rPr>
              <a:t>Cow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R="112395" algn="r">
              <a:lnSpc>
                <a:spcPct val="100000"/>
              </a:lnSpc>
              <a:spcBef>
                <a:spcPts val="5"/>
              </a:spcBef>
            </a:pPr>
            <a:r>
              <a:rPr sz="900" b="1" spc="25" dirty="0">
                <a:latin typeface="Arial"/>
                <a:cs typeface="Arial"/>
              </a:rPr>
              <a:t>G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10" dirty="0">
                <a:latin typeface="Arial"/>
                <a:cs typeface="Arial"/>
              </a:rPr>
              <a:t>as</a:t>
            </a:r>
            <a:r>
              <a:rPr sz="900" b="1" spc="15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81494" y="1930272"/>
            <a:ext cx="260222" cy="2252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72607" y="621156"/>
            <a:ext cx="1395984" cy="12085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01104" y="2900552"/>
            <a:ext cx="36131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5" dirty="0">
                <a:latin typeface="Arial"/>
                <a:cs typeface="Arial"/>
              </a:rPr>
              <a:t>G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10" dirty="0">
                <a:latin typeface="Arial"/>
                <a:cs typeface="Arial"/>
              </a:rPr>
              <a:t>as</a:t>
            </a:r>
            <a:r>
              <a:rPr sz="900" b="1" spc="15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31737" y="2439034"/>
            <a:ext cx="2159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0" dirty="0">
                <a:latin typeface="Arial"/>
                <a:cs typeface="Arial"/>
              </a:rPr>
              <a:t>Cat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49188" y="1939162"/>
            <a:ext cx="236854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S</a:t>
            </a:r>
            <a:r>
              <a:rPr sz="900" b="1" spc="15" dirty="0">
                <a:latin typeface="Arial"/>
                <a:cs typeface="Arial"/>
              </a:rPr>
              <a:t>ky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58077" y="2001392"/>
            <a:ext cx="225298" cy="2602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671941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62382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语义分割思路：滑动窗口</a:t>
            </a:r>
          </a:p>
        </p:txBody>
      </p:sp>
      <p:sp>
        <p:nvSpPr>
          <p:cNvPr id="3" name="object 3"/>
          <p:cNvSpPr/>
          <p:nvPr/>
        </p:nvSpPr>
        <p:spPr>
          <a:xfrm>
            <a:off x="571368" y="1246775"/>
            <a:ext cx="1647444" cy="1097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2552" y="1685725"/>
            <a:ext cx="164465" cy="166370"/>
          </a:xfrm>
          <a:custGeom>
            <a:avLst/>
            <a:gdLst/>
            <a:ahLst/>
            <a:cxnLst/>
            <a:rect l="l" t="t" r="r" b="b"/>
            <a:pathLst>
              <a:path w="164464" h="166369">
                <a:moveTo>
                  <a:pt x="0" y="165823"/>
                </a:moveTo>
                <a:lnTo>
                  <a:pt x="164325" y="165823"/>
                </a:lnTo>
                <a:lnTo>
                  <a:pt x="164325" y="0"/>
                </a:lnTo>
                <a:lnTo>
                  <a:pt x="0" y="0"/>
                </a:lnTo>
                <a:lnTo>
                  <a:pt x="0" y="16582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62957" y="1023509"/>
            <a:ext cx="856615" cy="650240"/>
          </a:xfrm>
          <a:custGeom>
            <a:avLst/>
            <a:gdLst/>
            <a:ahLst/>
            <a:cxnLst/>
            <a:rect l="l" t="t" r="r" b="b"/>
            <a:pathLst>
              <a:path w="856614" h="650239">
                <a:moveTo>
                  <a:pt x="0" y="650113"/>
                </a:moveTo>
                <a:lnTo>
                  <a:pt x="856107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82897" y="1516142"/>
            <a:ext cx="842644" cy="367030"/>
          </a:xfrm>
          <a:custGeom>
            <a:avLst/>
            <a:gdLst/>
            <a:ahLst/>
            <a:cxnLst/>
            <a:rect l="l" t="t" r="r" b="b"/>
            <a:pathLst>
              <a:path w="842644" h="367030">
                <a:moveTo>
                  <a:pt x="0" y="366902"/>
                </a:moveTo>
                <a:lnTo>
                  <a:pt x="842517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4592" y="1019699"/>
            <a:ext cx="454152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19852" y="1217819"/>
            <a:ext cx="105155" cy="105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63135" y="1787821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164312"/>
                </a:moveTo>
                <a:lnTo>
                  <a:pt x="164312" y="164312"/>
                </a:lnTo>
                <a:lnTo>
                  <a:pt x="164312" y="0"/>
                </a:lnTo>
                <a:lnTo>
                  <a:pt x="0" y="0"/>
                </a:lnTo>
                <a:lnTo>
                  <a:pt x="0" y="164312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5244" y="1889929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164312"/>
                </a:moveTo>
                <a:lnTo>
                  <a:pt x="164312" y="164312"/>
                </a:lnTo>
                <a:lnTo>
                  <a:pt x="164312" y="0"/>
                </a:lnTo>
                <a:lnTo>
                  <a:pt x="0" y="0"/>
                </a:lnTo>
                <a:lnTo>
                  <a:pt x="0" y="164312"/>
                </a:lnTo>
                <a:close/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44592" y="1585103"/>
            <a:ext cx="454152" cy="4861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4592" y="2123075"/>
            <a:ext cx="454152" cy="4861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4685" y="1964071"/>
            <a:ext cx="755015" cy="115570"/>
          </a:xfrm>
          <a:custGeom>
            <a:avLst/>
            <a:gdLst/>
            <a:ahLst/>
            <a:cxnLst/>
            <a:rect l="l" t="t" r="r" b="b"/>
            <a:pathLst>
              <a:path w="755014" h="115569">
                <a:moveTo>
                  <a:pt x="0" y="0"/>
                </a:moveTo>
                <a:lnTo>
                  <a:pt x="754507" y="115189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9157" y="1599581"/>
            <a:ext cx="774065" cy="179070"/>
          </a:xfrm>
          <a:custGeom>
            <a:avLst/>
            <a:gdLst/>
            <a:ahLst/>
            <a:cxnLst/>
            <a:rect l="l" t="t" r="r" b="b"/>
            <a:pathLst>
              <a:path w="774064" h="179069">
                <a:moveTo>
                  <a:pt x="0" y="178943"/>
                </a:moveTo>
                <a:lnTo>
                  <a:pt x="773684" y="0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59554" y="1899809"/>
            <a:ext cx="653415" cy="224154"/>
          </a:xfrm>
          <a:custGeom>
            <a:avLst/>
            <a:gdLst/>
            <a:ahLst/>
            <a:cxnLst/>
            <a:rect l="l" t="t" r="r" b="b"/>
            <a:pathLst>
              <a:path w="653414" h="224155">
                <a:moveTo>
                  <a:pt x="0" y="0"/>
                </a:moveTo>
                <a:lnTo>
                  <a:pt x="653414" y="224027"/>
                </a:lnTo>
              </a:path>
            </a:pathLst>
          </a:custGeom>
          <a:ln w="1428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9554" y="2066179"/>
            <a:ext cx="653415" cy="544195"/>
          </a:xfrm>
          <a:custGeom>
            <a:avLst/>
            <a:gdLst/>
            <a:ahLst/>
            <a:cxnLst/>
            <a:rect l="l" t="t" r="r" b="b"/>
            <a:pathLst>
              <a:path w="653414" h="544194">
                <a:moveTo>
                  <a:pt x="0" y="0"/>
                </a:moveTo>
                <a:lnTo>
                  <a:pt x="653414" y="543813"/>
                </a:lnTo>
              </a:path>
            </a:pathLst>
          </a:custGeom>
          <a:ln w="1428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19852" y="1775603"/>
            <a:ext cx="105155" cy="1051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19852" y="2313575"/>
            <a:ext cx="105155" cy="1051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6094" y="1030494"/>
            <a:ext cx="56324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Full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image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4427" y="723281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提取区域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93231" y="1620155"/>
            <a:ext cx="1321308" cy="443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65571" y="628793"/>
            <a:ext cx="956944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1925" marR="5080" indent="-149860">
              <a:lnSpc>
                <a:spcPts val="1100"/>
              </a:lnSpc>
              <a:spcBef>
                <a:spcPts val="215"/>
              </a:spcBef>
            </a:pPr>
            <a:r>
              <a:rPr sz="1000" b="1" spc="-5" dirty="0">
                <a:latin typeface="微软雅黑"/>
                <a:cs typeface="微软雅黑"/>
              </a:rPr>
              <a:t>利用</a:t>
            </a:r>
            <a:r>
              <a:rPr sz="1000" b="1" spc="-10" dirty="0">
                <a:latin typeface="微软雅黑"/>
                <a:cs typeface="微软雅黑"/>
              </a:rPr>
              <a:t>CN</a:t>
            </a:r>
            <a:r>
              <a:rPr sz="1000" b="1" spc="-15" dirty="0">
                <a:latin typeface="微软雅黑"/>
                <a:cs typeface="微软雅黑"/>
              </a:rPr>
              <a:t>N</a:t>
            </a:r>
            <a:r>
              <a:rPr sz="1000" b="1" spc="-5" dirty="0">
                <a:latin typeface="微软雅黑"/>
                <a:cs typeface="微软雅黑"/>
              </a:rPr>
              <a:t>对中心 点像素分类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93231" y="1037987"/>
            <a:ext cx="1321308" cy="443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8952" y="2162699"/>
            <a:ext cx="1321308" cy="443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51094" y="2857719"/>
            <a:ext cx="2923540" cy="21462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500" spc="10" dirty="0">
                <a:latin typeface="Arial"/>
                <a:cs typeface="Arial"/>
              </a:rPr>
              <a:t>Farabet </a:t>
            </a:r>
            <a:r>
              <a:rPr sz="500" spc="5" dirty="0">
                <a:latin typeface="Arial"/>
                <a:cs typeface="Arial"/>
              </a:rPr>
              <a:t>et al, “Learning Hierarchical Features for </a:t>
            </a:r>
            <a:r>
              <a:rPr sz="500" spc="10" dirty="0">
                <a:latin typeface="Arial"/>
                <a:cs typeface="Arial"/>
              </a:rPr>
              <a:t>Scene </a:t>
            </a:r>
            <a:r>
              <a:rPr sz="500" spc="5" dirty="0">
                <a:latin typeface="Arial"/>
                <a:cs typeface="Arial"/>
              </a:rPr>
              <a:t>Labeling,” </a:t>
            </a:r>
            <a:r>
              <a:rPr sz="500" dirty="0">
                <a:latin typeface="Arial"/>
                <a:cs typeface="Arial"/>
              </a:rPr>
              <a:t>TPAMI</a:t>
            </a:r>
            <a:r>
              <a:rPr sz="500" spc="5" dirty="0">
                <a:latin typeface="Arial"/>
                <a:cs typeface="Arial"/>
              </a:rPr>
              <a:t> 2013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500" spc="5" dirty="0">
                <a:latin typeface="Arial"/>
                <a:cs typeface="Arial"/>
              </a:rPr>
              <a:t>Pinheiro and Collobert, “Recurrent Convolutional Neural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Scene </a:t>
            </a:r>
            <a:r>
              <a:rPr sz="500" spc="5" dirty="0">
                <a:latin typeface="Arial"/>
                <a:cs typeface="Arial"/>
              </a:rPr>
              <a:t>Labeling”, </a:t>
            </a:r>
            <a:r>
              <a:rPr sz="500" spc="15" dirty="0">
                <a:latin typeface="Arial"/>
                <a:cs typeface="Arial"/>
              </a:rPr>
              <a:t>ICML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2014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7444" y="1615329"/>
            <a:ext cx="228600" cy="846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牛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草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98080" y="1078374"/>
            <a:ext cx="228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牛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62382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语义分割思路：滑动窗口</a:t>
            </a:r>
          </a:p>
        </p:txBody>
      </p:sp>
      <p:sp>
        <p:nvSpPr>
          <p:cNvPr id="3" name="object 3"/>
          <p:cNvSpPr/>
          <p:nvPr/>
        </p:nvSpPr>
        <p:spPr>
          <a:xfrm>
            <a:off x="571367" y="1268856"/>
            <a:ext cx="1647444" cy="1097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2552" y="1707806"/>
            <a:ext cx="164465" cy="166370"/>
          </a:xfrm>
          <a:custGeom>
            <a:avLst/>
            <a:gdLst/>
            <a:ahLst/>
            <a:cxnLst/>
            <a:rect l="l" t="t" r="r" b="b"/>
            <a:pathLst>
              <a:path w="164464" h="166369">
                <a:moveTo>
                  <a:pt x="0" y="165823"/>
                </a:moveTo>
                <a:lnTo>
                  <a:pt x="164325" y="165823"/>
                </a:lnTo>
                <a:lnTo>
                  <a:pt x="164325" y="0"/>
                </a:lnTo>
                <a:lnTo>
                  <a:pt x="0" y="0"/>
                </a:lnTo>
                <a:lnTo>
                  <a:pt x="0" y="16582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62957" y="1045590"/>
            <a:ext cx="856615" cy="650240"/>
          </a:xfrm>
          <a:custGeom>
            <a:avLst/>
            <a:gdLst/>
            <a:ahLst/>
            <a:cxnLst/>
            <a:rect l="l" t="t" r="r" b="b"/>
            <a:pathLst>
              <a:path w="856614" h="650239">
                <a:moveTo>
                  <a:pt x="0" y="650113"/>
                </a:moveTo>
                <a:lnTo>
                  <a:pt x="856107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82896" y="1538223"/>
            <a:ext cx="842644" cy="367030"/>
          </a:xfrm>
          <a:custGeom>
            <a:avLst/>
            <a:gdLst/>
            <a:ahLst/>
            <a:cxnLst/>
            <a:rect l="l" t="t" r="r" b="b"/>
            <a:pathLst>
              <a:path w="842644" h="367030">
                <a:moveTo>
                  <a:pt x="0" y="366903"/>
                </a:moveTo>
                <a:lnTo>
                  <a:pt x="842517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4591" y="1041780"/>
            <a:ext cx="454152" cy="4998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19852" y="1239900"/>
            <a:ext cx="105155" cy="105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63135" y="1809902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164312"/>
                </a:moveTo>
                <a:lnTo>
                  <a:pt x="164312" y="164312"/>
                </a:lnTo>
                <a:lnTo>
                  <a:pt x="164312" y="0"/>
                </a:lnTo>
                <a:lnTo>
                  <a:pt x="0" y="0"/>
                </a:lnTo>
                <a:lnTo>
                  <a:pt x="0" y="164312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5243" y="1912010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164312"/>
                </a:moveTo>
                <a:lnTo>
                  <a:pt x="164312" y="164312"/>
                </a:lnTo>
                <a:lnTo>
                  <a:pt x="164312" y="0"/>
                </a:lnTo>
                <a:lnTo>
                  <a:pt x="0" y="0"/>
                </a:lnTo>
                <a:lnTo>
                  <a:pt x="0" y="164312"/>
                </a:lnTo>
                <a:close/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44591" y="1607184"/>
            <a:ext cx="454152" cy="4861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4591" y="2145156"/>
            <a:ext cx="454152" cy="486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4684" y="1986152"/>
            <a:ext cx="755015" cy="115570"/>
          </a:xfrm>
          <a:custGeom>
            <a:avLst/>
            <a:gdLst/>
            <a:ahLst/>
            <a:cxnLst/>
            <a:rect l="l" t="t" r="r" b="b"/>
            <a:pathLst>
              <a:path w="755014" h="115569">
                <a:moveTo>
                  <a:pt x="0" y="0"/>
                </a:moveTo>
                <a:lnTo>
                  <a:pt x="754507" y="115188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9157" y="1621662"/>
            <a:ext cx="774065" cy="179070"/>
          </a:xfrm>
          <a:custGeom>
            <a:avLst/>
            <a:gdLst/>
            <a:ahLst/>
            <a:cxnLst/>
            <a:rect l="l" t="t" r="r" b="b"/>
            <a:pathLst>
              <a:path w="774064" h="179069">
                <a:moveTo>
                  <a:pt x="0" y="178943"/>
                </a:moveTo>
                <a:lnTo>
                  <a:pt x="773684" y="0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59553" y="1921890"/>
            <a:ext cx="653415" cy="224154"/>
          </a:xfrm>
          <a:custGeom>
            <a:avLst/>
            <a:gdLst/>
            <a:ahLst/>
            <a:cxnLst/>
            <a:rect l="l" t="t" r="r" b="b"/>
            <a:pathLst>
              <a:path w="653414" h="224155">
                <a:moveTo>
                  <a:pt x="0" y="0"/>
                </a:moveTo>
                <a:lnTo>
                  <a:pt x="653414" y="224027"/>
                </a:lnTo>
              </a:path>
            </a:pathLst>
          </a:custGeom>
          <a:ln w="1428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9553" y="2088260"/>
            <a:ext cx="653415" cy="544195"/>
          </a:xfrm>
          <a:custGeom>
            <a:avLst/>
            <a:gdLst/>
            <a:ahLst/>
            <a:cxnLst/>
            <a:rect l="l" t="t" r="r" b="b"/>
            <a:pathLst>
              <a:path w="653414" h="544194">
                <a:moveTo>
                  <a:pt x="0" y="0"/>
                </a:moveTo>
                <a:lnTo>
                  <a:pt x="653414" y="543813"/>
                </a:lnTo>
              </a:path>
            </a:pathLst>
          </a:custGeom>
          <a:ln w="1428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19852" y="1797684"/>
            <a:ext cx="105155" cy="1051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19852" y="2335658"/>
            <a:ext cx="105155" cy="1051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6093" y="1053210"/>
            <a:ext cx="56324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Full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image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4427" y="746252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提取区域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93231" y="1642236"/>
            <a:ext cx="1321308" cy="4434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65571" y="651383"/>
            <a:ext cx="956944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1925" marR="5080" indent="-149860">
              <a:lnSpc>
                <a:spcPts val="1100"/>
              </a:lnSpc>
              <a:spcBef>
                <a:spcPts val="215"/>
              </a:spcBef>
            </a:pPr>
            <a:r>
              <a:rPr sz="1000" b="1" spc="-5" dirty="0">
                <a:latin typeface="微软雅黑"/>
                <a:cs typeface="微软雅黑"/>
              </a:rPr>
              <a:t>利用</a:t>
            </a:r>
            <a:r>
              <a:rPr sz="1000" b="1" spc="-10" dirty="0">
                <a:latin typeface="微软雅黑"/>
                <a:cs typeface="微软雅黑"/>
              </a:rPr>
              <a:t>CN</a:t>
            </a:r>
            <a:r>
              <a:rPr sz="1000" b="1" spc="-15" dirty="0">
                <a:latin typeface="微软雅黑"/>
                <a:cs typeface="微软雅黑"/>
              </a:rPr>
              <a:t>N</a:t>
            </a:r>
            <a:r>
              <a:rPr sz="1000" b="1" spc="-5" dirty="0">
                <a:latin typeface="微软雅黑"/>
                <a:cs typeface="微软雅黑"/>
              </a:rPr>
              <a:t>对中心 点像素分类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97444" y="1638045"/>
            <a:ext cx="228600" cy="84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牛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微软雅黑"/>
                <a:cs typeface="微软雅黑"/>
              </a:rPr>
              <a:t>草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93231" y="1060068"/>
            <a:ext cx="1321308" cy="443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8952" y="2184780"/>
            <a:ext cx="1321308" cy="443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98079" y="1100658"/>
            <a:ext cx="228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牛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1093" y="2880436"/>
            <a:ext cx="2923540" cy="21462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500" spc="10" dirty="0">
                <a:latin typeface="Arial"/>
                <a:cs typeface="Arial"/>
              </a:rPr>
              <a:t>Farabet </a:t>
            </a:r>
            <a:r>
              <a:rPr sz="500" spc="5" dirty="0">
                <a:latin typeface="Arial"/>
                <a:cs typeface="Arial"/>
              </a:rPr>
              <a:t>et al, “Learning Hierarchical Features for </a:t>
            </a:r>
            <a:r>
              <a:rPr sz="500" spc="10" dirty="0">
                <a:latin typeface="Arial"/>
                <a:cs typeface="Arial"/>
              </a:rPr>
              <a:t>Scene </a:t>
            </a:r>
            <a:r>
              <a:rPr sz="500" spc="5" dirty="0">
                <a:latin typeface="Arial"/>
                <a:cs typeface="Arial"/>
              </a:rPr>
              <a:t>Labeling,” </a:t>
            </a:r>
            <a:r>
              <a:rPr sz="500" dirty="0">
                <a:latin typeface="Arial"/>
                <a:cs typeface="Arial"/>
              </a:rPr>
              <a:t>TPAMI</a:t>
            </a:r>
            <a:r>
              <a:rPr sz="500" spc="5" dirty="0">
                <a:latin typeface="Arial"/>
                <a:cs typeface="Arial"/>
              </a:rPr>
              <a:t> 2013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500" spc="5" dirty="0">
                <a:latin typeface="Arial"/>
                <a:cs typeface="Arial"/>
              </a:rPr>
              <a:t>Pinheiro and Collobert, “Recurrent Convolutional Neural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Scene </a:t>
            </a:r>
            <a:r>
              <a:rPr sz="500" spc="5" dirty="0">
                <a:latin typeface="Arial"/>
                <a:cs typeface="Arial"/>
              </a:rPr>
              <a:t>Labeling”, </a:t>
            </a:r>
            <a:r>
              <a:rPr sz="500" spc="15" dirty="0">
                <a:latin typeface="Arial"/>
                <a:cs typeface="Arial"/>
              </a:rPr>
              <a:t>ICML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2014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616" y="2559430"/>
            <a:ext cx="1729739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215"/>
              </a:spcBef>
            </a:pP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问题:</a:t>
            </a:r>
            <a:r>
              <a:rPr sz="1000" spc="-8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微软雅黑"/>
                <a:cs typeface="微软雅黑"/>
              </a:rPr>
              <a:t>效率太低！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重叠区域的特 征反复被计算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71941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12" y="1339739"/>
            <a:ext cx="119786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3440" y="2195084"/>
            <a:ext cx="53022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8296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140" y="1144667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0276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038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4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41038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6282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06852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35220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69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78832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9594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4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9594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4839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5799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13400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70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58535" y="1144667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258952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0" y="203962"/>
                </a:lnTo>
                <a:lnTo>
                  <a:pt x="2589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59298" y="1145429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79" h="1016635">
                <a:moveTo>
                  <a:pt x="0" y="204470"/>
                </a:moveTo>
                <a:lnTo>
                  <a:pt x="203962" y="0"/>
                </a:lnTo>
                <a:lnTo>
                  <a:pt x="258952" y="0"/>
                </a:lnTo>
                <a:lnTo>
                  <a:pt x="258952" y="811656"/>
                </a:lnTo>
                <a:lnTo>
                  <a:pt x="54990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59298" y="1145429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0" y="204470"/>
                </a:moveTo>
                <a:lnTo>
                  <a:pt x="54990" y="204470"/>
                </a:lnTo>
                <a:lnTo>
                  <a:pt x="25895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14289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71314" y="2550557"/>
            <a:ext cx="74168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5410" marR="5080" indent="-93345">
              <a:lnSpc>
                <a:spcPct val="102200"/>
              </a:lnSpc>
              <a:spcBef>
                <a:spcPts val="110"/>
              </a:spcBef>
            </a:pPr>
            <a:r>
              <a:rPr sz="900" spc="25" dirty="0">
                <a:latin typeface="Arial"/>
                <a:cs typeface="Arial"/>
              </a:rPr>
              <a:t>C</a:t>
            </a:r>
            <a:r>
              <a:rPr sz="900" spc="5" dirty="0">
                <a:latin typeface="Arial"/>
                <a:cs typeface="Arial"/>
              </a:rPr>
              <a:t>o</a:t>
            </a:r>
            <a:r>
              <a:rPr sz="900" spc="10" dirty="0">
                <a:latin typeface="Arial"/>
                <a:cs typeface="Arial"/>
              </a:rPr>
              <a:t>n</a:t>
            </a:r>
            <a:r>
              <a:rPr sz="900" spc="15" dirty="0">
                <a:latin typeface="Arial"/>
                <a:cs typeface="Arial"/>
              </a:rPr>
              <a:t>v</a:t>
            </a:r>
            <a:r>
              <a:rPr sz="900" spc="10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10" dirty="0">
                <a:latin typeface="Arial"/>
                <a:cs typeface="Arial"/>
              </a:rPr>
              <a:t>ut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D </a:t>
            </a:r>
            <a:r>
              <a:rPr sz="900" spc="15" dirty="0">
                <a:latin typeface="Arial"/>
                <a:cs typeface="Arial"/>
              </a:rPr>
              <a:t>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26332" y="1732931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92448" y="1705499"/>
            <a:ext cx="71627" cy="54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01186" y="1525794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35932" y="1732931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2048" y="1705499"/>
            <a:ext cx="71627" cy="54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10785" y="1525794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695824" y="1732931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63464" y="1705499"/>
            <a:ext cx="70103" cy="54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671185" y="1525794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63919" y="1752743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30036" y="172531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438774" y="1546241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89984" y="2228231"/>
            <a:ext cx="1706880" cy="230504"/>
          </a:xfrm>
          <a:custGeom>
            <a:avLst/>
            <a:gdLst/>
            <a:ahLst/>
            <a:cxnLst/>
            <a:rect l="l" t="t" r="r" b="b"/>
            <a:pathLst>
              <a:path w="1706879" h="230505">
                <a:moveTo>
                  <a:pt x="1706880" y="0"/>
                </a:moveTo>
                <a:lnTo>
                  <a:pt x="1698625" y="44069"/>
                </a:lnTo>
                <a:lnTo>
                  <a:pt x="1675003" y="81279"/>
                </a:lnTo>
                <a:lnTo>
                  <a:pt x="1639696" y="106299"/>
                </a:lnTo>
                <a:lnTo>
                  <a:pt x="1598041" y="115061"/>
                </a:lnTo>
                <a:lnTo>
                  <a:pt x="962279" y="115061"/>
                </a:lnTo>
                <a:lnTo>
                  <a:pt x="933323" y="119125"/>
                </a:lnTo>
                <a:lnTo>
                  <a:pt x="885317" y="148717"/>
                </a:lnTo>
                <a:lnTo>
                  <a:pt x="857250" y="199517"/>
                </a:lnTo>
                <a:lnTo>
                  <a:pt x="853440" y="229997"/>
                </a:lnTo>
                <a:lnTo>
                  <a:pt x="849503" y="199517"/>
                </a:lnTo>
                <a:lnTo>
                  <a:pt x="821563" y="148717"/>
                </a:lnTo>
                <a:lnTo>
                  <a:pt x="773557" y="119125"/>
                </a:lnTo>
                <a:lnTo>
                  <a:pt x="744601" y="115061"/>
                </a:lnTo>
                <a:lnTo>
                  <a:pt x="108839" y="115061"/>
                </a:lnTo>
                <a:lnTo>
                  <a:pt x="79883" y="110871"/>
                </a:lnTo>
                <a:lnTo>
                  <a:pt x="53848" y="99313"/>
                </a:lnTo>
                <a:lnTo>
                  <a:pt x="31877" y="81279"/>
                </a:lnTo>
                <a:lnTo>
                  <a:pt x="14859" y="58038"/>
                </a:lnTo>
                <a:lnTo>
                  <a:pt x="3937" y="30606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05040" y="1187403"/>
            <a:ext cx="1290955" cy="951230"/>
          </a:xfrm>
          <a:custGeom>
            <a:avLst/>
            <a:gdLst/>
            <a:ahLst/>
            <a:cxnLst/>
            <a:rect l="l" t="t" r="r" b="b"/>
            <a:pathLst>
              <a:path w="1290954" h="951230">
                <a:moveTo>
                  <a:pt x="0" y="950658"/>
                </a:moveTo>
                <a:lnTo>
                  <a:pt x="1290700" y="950658"/>
                </a:lnTo>
                <a:lnTo>
                  <a:pt x="1290700" y="0"/>
                </a:lnTo>
                <a:lnTo>
                  <a:pt x="0" y="0"/>
                </a:lnTo>
                <a:lnTo>
                  <a:pt x="0" y="950658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06563" y="1547003"/>
            <a:ext cx="1287780" cy="594360"/>
          </a:xfrm>
          <a:custGeom>
            <a:avLst/>
            <a:gdLst/>
            <a:ahLst/>
            <a:cxnLst/>
            <a:rect l="l" t="t" r="r" b="b"/>
            <a:pathLst>
              <a:path w="1287779" h="594360">
                <a:moveTo>
                  <a:pt x="0" y="0"/>
                </a:moveTo>
                <a:lnTo>
                  <a:pt x="0" y="594232"/>
                </a:lnTo>
                <a:lnTo>
                  <a:pt x="1287526" y="591820"/>
                </a:lnTo>
                <a:lnTo>
                  <a:pt x="1285239" y="151637"/>
                </a:lnTo>
                <a:lnTo>
                  <a:pt x="1008507" y="129666"/>
                </a:lnTo>
                <a:lnTo>
                  <a:pt x="264037" y="46481"/>
                </a:lnTo>
                <a:lnTo>
                  <a:pt x="120776" y="46481"/>
                </a:lnTo>
                <a:lnTo>
                  <a:pt x="24130" y="19557"/>
                </a:lnTo>
                <a:lnTo>
                  <a:pt x="37337" y="4952"/>
                </a:lnTo>
                <a:lnTo>
                  <a:pt x="0" y="0"/>
                </a:lnTo>
                <a:close/>
              </a:path>
              <a:path w="1287779" h="594360">
                <a:moveTo>
                  <a:pt x="103250" y="4952"/>
                </a:moveTo>
                <a:lnTo>
                  <a:pt x="120776" y="46481"/>
                </a:lnTo>
                <a:lnTo>
                  <a:pt x="264037" y="46481"/>
                </a:lnTo>
                <a:lnTo>
                  <a:pt x="219710" y="41528"/>
                </a:lnTo>
                <a:lnTo>
                  <a:pt x="103250" y="495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08087" y="1184291"/>
            <a:ext cx="1285875" cy="523875"/>
          </a:xfrm>
          <a:custGeom>
            <a:avLst/>
            <a:gdLst/>
            <a:ahLst/>
            <a:cxnLst/>
            <a:rect l="l" t="t" r="r" b="b"/>
            <a:pathLst>
              <a:path w="1285875" h="523875">
                <a:moveTo>
                  <a:pt x="775970" y="0"/>
                </a:moveTo>
                <a:lnTo>
                  <a:pt x="21971" y="0"/>
                </a:lnTo>
                <a:lnTo>
                  <a:pt x="26415" y="24511"/>
                </a:lnTo>
                <a:lnTo>
                  <a:pt x="0" y="49022"/>
                </a:lnTo>
                <a:lnTo>
                  <a:pt x="0" y="494538"/>
                </a:lnTo>
                <a:lnTo>
                  <a:pt x="1285875" y="523875"/>
                </a:lnTo>
                <a:lnTo>
                  <a:pt x="1285875" y="367284"/>
                </a:lnTo>
                <a:lnTo>
                  <a:pt x="932052" y="367284"/>
                </a:lnTo>
                <a:lnTo>
                  <a:pt x="933414" y="362331"/>
                </a:lnTo>
                <a:lnTo>
                  <a:pt x="870458" y="362331"/>
                </a:lnTo>
                <a:lnTo>
                  <a:pt x="655065" y="283972"/>
                </a:lnTo>
                <a:lnTo>
                  <a:pt x="635253" y="232537"/>
                </a:lnTo>
                <a:lnTo>
                  <a:pt x="720978" y="220345"/>
                </a:lnTo>
                <a:lnTo>
                  <a:pt x="734187" y="166497"/>
                </a:lnTo>
                <a:lnTo>
                  <a:pt x="758316" y="127253"/>
                </a:lnTo>
                <a:lnTo>
                  <a:pt x="802259" y="122427"/>
                </a:lnTo>
                <a:lnTo>
                  <a:pt x="775970" y="66167"/>
                </a:lnTo>
                <a:lnTo>
                  <a:pt x="764921" y="24511"/>
                </a:lnTo>
                <a:lnTo>
                  <a:pt x="775970" y="0"/>
                </a:lnTo>
                <a:close/>
              </a:path>
              <a:path w="1285875" h="523875">
                <a:moveTo>
                  <a:pt x="1033145" y="252222"/>
                </a:moveTo>
                <a:lnTo>
                  <a:pt x="932052" y="367284"/>
                </a:lnTo>
                <a:lnTo>
                  <a:pt x="1285875" y="367284"/>
                </a:lnTo>
                <a:lnTo>
                  <a:pt x="1285875" y="337820"/>
                </a:lnTo>
                <a:lnTo>
                  <a:pt x="1204595" y="337820"/>
                </a:lnTo>
                <a:lnTo>
                  <a:pt x="1191352" y="328041"/>
                </a:lnTo>
                <a:lnTo>
                  <a:pt x="1140840" y="328041"/>
                </a:lnTo>
                <a:lnTo>
                  <a:pt x="1130934" y="293750"/>
                </a:lnTo>
                <a:lnTo>
                  <a:pt x="1107821" y="293750"/>
                </a:lnTo>
                <a:lnTo>
                  <a:pt x="1033145" y="252222"/>
                </a:lnTo>
                <a:close/>
              </a:path>
              <a:path w="1285875" h="523875">
                <a:moveTo>
                  <a:pt x="887984" y="257048"/>
                </a:moveTo>
                <a:lnTo>
                  <a:pt x="868299" y="323215"/>
                </a:lnTo>
                <a:lnTo>
                  <a:pt x="870458" y="362331"/>
                </a:lnTo>
                <a:lnTo>
                  <a:pt x="933414" y="362331"/>
                </a:lnTo>
                <a:lnTo>
                  <a:pt x="945529" y="318262"/>
                </a:lnTo>
                <a:lnTo>
                  <a:pt x="907796" y="318262"/>
                </a:lnTo>
                <a:lnTo>
                  <a:pt x="887984" y="257048"/>
                </a:lnTo>
                <a:close/>
              </a:path>
              <a:path w="1285875" h="523875">
                <a:moveTo>
                  <a:pt x="1285875" y="298703"/>
                </a:moveTo>
                <a:lnTo>
                  <a:pt x="1237488" y="298703"/>
                </a:lnTo>
                <a:lnTo>
                  <a:pt x="1204595" y="337820"/>
                </a:lnTo>
                <a:lnTo>
                  <a:pt x="1285875" y="337820"/>
                </a:lnTo>
                <a:lnTo>
                  <a:pt x="1285875" y="298703"/>
                </a:lnTo>
                <a:close/>
              </a:path>
              <a:path w="1285875" h="523875">
                <a:moveTo>
                  <a:pt x="1171575" y="313436"/>
                </a:moveTo>
                <a:lnTo>
                  <a:pt x="1140840" y="328041"/>
                </a:lnTo>
                <a:lnTo>
                  <a:pt x="1191352" y="328041"/>
                </a:lnTo>
                <a:lnTo>
                  <a:pt x="1171575" y="313436"/>
                </a:lnTo>
                <a:close/>
              </a:path>
              <a:path w="1285875" h="523875">
                <a:moveTo>
                  <a:pt x="929766" y="252222"/>
                </a:moveTo>
                <a:lnTo>
                  <a:pt x="907796" y="318262"/>
                </a:lnTo>
                <a:lnTo>
                  <a:pt x="945529" y="318262"/>
                </a:lnTo>
                <a:lnTo>
                  <a:pt x="949578" y="303529"/>
                </a:lnTo>
                <a:lnTo>
                  <a:pt x="929766" y="252222"/>
                </a:lnTo>
                <a:close/>
              </a:path>
              <a:path w="1285875" h="523875">
                <a:moveTo>
                  <a:pt x="1121028" y="259461"/>
                </a:moveTo>
                <a:lnTo>
                  <a:pt x="1107821" y="293750"/>
                </a:lnTo>
                <a:lnTo>
                  <a:pt x="1130934" y="293750"/>
                </a:lnTo>
                <a:lnTo>
                  <a:pt x="1121028" y="25946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57440" y="1191911"/>
            <a:ext cx="920750" cy="950594"/>
          </a:xfrm>
          <a:custGeom>
            <a:avLst/>
            <a:gdLst/>
            <a:ahLst/>
            <a:cxnLst/>
            <a:rect l="l" t="t" r="r" b="b"/>
            <a:pathLst>
              <a:path w="920750" h="950594">
                <a:moveTo>
                  <a:pt x="388189" y="637794"/>
                </a:moveTo>
                <a:lnTo>
                  <a:pt x="311912" y="637794"/>
                </a:lnTo>
                <a:lnTo>
                  <a:pt x="322961" y="740409"/>
                </a:lnTo>
                <a:lnTo>
                  <a:pt x="347090" y="830833"/>
                </a:lnTo>
                <a:lnTo>
                  <a:pt x="362458" y="950595"/>
                </a:lnTo>
                <a:lnTo>
                  <a:pt x="423925" y="945769"/>
                </a:lnTo>
                <a:lnTo>
                  <a:pt x="401955" y="877316"/>
                </a:lnTo>
                <a:lnTo>
                  <a:pt x="388874" y="821054"/>
                </a:lnTo>
                <a:lnTo>
                  <a:pt x="395477" y="777113"/>
                </a:lnTo>
                <a:lnTo>
                  <a:pt x="386588" y="723392"/>
                </a:lnTo>
                <a:lnTo>
                  <a:pt x="388189" y="637794"/>
                </a:lnTo>
                <a:close/>
              </a:path>
              <a:path w="920750" h="950594">
                <a:moveTo>
                  <a:pt x="85725" y="92837"/>
                </a:moveTo>
                <a:lnTo>
                  <a:pt x="28575" y="95250"/>
                </a:lnTo>
                <a:lnTo>
                  <a:pt x="0" y="127126"/>
                </a:lnTo>
                <a:lnTo>
                  <a:pt x="24130" y="173481"/>
                </a:lnTo>
                <a:lnTo>
                  <a:pt x="70358" y="219964"/>
                </a:lnTo>
                <a:lnTo>
                  <a:pt x="94487" y="224790"/>
                </a:lnTo>
                <a:lnTo>
                  <a:pt x="74675" y="254126"/>
                </a:lnTo>
                <a:lnTo>
                  <a:pt x="83438" y="317626"/>
                </a:lnTo>
                <a:lnTo>
                  <a:pt x="76835" y="359282"/>
                </a:lnTo>
                <a:lnTo>
                  <a:pt x="72517" y="439927"/>
                </a:lnTo>
                <a:lnTo>
                  <a:pt x="90043" y="535177"/>
                </a:lnTo>
                <a:lnTo>
                  <a:pt x="118618" y="566927"/>
                </a:lnTo>
                <a:lnTo>
                  <a:pt x="138430" y="662304"/>
                </a:lnTo>
                <a:lnTo>
                  <a:pt x="140588" y="747776"/>
                </a:lnTo>
                <a:lnTo>
                  <a:pt x="142748" y="813816"/>
                </a:lnTo>
                <a:lnTo>
                  <a:pt x="125222" y="889507"/>
                </a:lnTo>
                <a:lnTo>
                  <a:pt x="109855" y="943355"/>
                </a:lnTo>
                <a:lnTo>
                  <a:pt x="182372" y="948181"/>
                </a:lnTo>
                <a:lnTo>
                  <a:pt x="180086" y="882269"/>
                </a:lnTo>
                <a:lnTo>
                  <a:pt x="180086" y="796671"/>
                </a:lnTo>
                <a:lnTo>
                  <a:pt x="204743" y="796671"/>
                </a:lnTo>
                <a:lnTo>
                  <a:pt x="197738" y="767333"/>
                </a:lnTo>
                <a:lnTo>
                  <a:pt x="204343" y="708659"/>
                </a:lnTo>
                <a:lnTo>
                  <a:pt x="195580" y="642747"/>
                </a:lnTo>
                <a:lnTo>
                  <a:pt x="199898" y="610997"/>
                </a:lnTo>
                <a:lnTo>
                  <a:pt x="388691" y="610997"/>
                </a:lnTo>
                <a:lnTo>
                  <a:pt x="388874" y="601218"/>
                </a:lnTo>
                <a:lnTo>
                  <a:pt x="425040" y="601218"/>
                </a:lnTo>
                <a:lnTo>
                  <a:pt x="423925" y="596265"/>
                </a:lnTo>
                <a:lnTo>
                  <a:pt x="901527" y="596265"/>
                </a:lnTo>
                <a:lnTo>
                  <a:pt x="858901" y="481456"/>
                </a:lnTo>
                <a:lnTo>
                  <a:pt x="869950" y="439927"/>
                </a:lnTo>
                <a:lnTo>
                  <a:pt x="909447" y="430149"/>
                </a:lnTo>
                <a:lnTo>
                  <a:pt x="920496" y="391032"/>
                </a:lnTo>
                <a:lnTo>
                  <a:pt x="885433" y="371475"/>
                </a:lnTo>
                <a:lnTo>
                  <a:pt x="836930" y="371475"/>
                </a:lnTo>
                <a:lnTo>
                  <a:pt x="821019" y="337184"/>
                </a:lnTo>
                <a:lnTo>
                  <a:pt x="727075" y="337184"/>
                </a:lnTo>
                <a:lnTo>
                  <a:pt x="660367" y="298196"/>
                </a:lnTo>
                <a:lnTo>
                  <a:pt x="377825" y="298196"/>
                </a:lnTo>
                <a:lnTo>
                  <a:pt x="380111" y="256540"/>
                </a:lnTo>
                <a:lnTo>
                  <a:pt x="430530" y="249300"/>
                </a:lnTo>
                <a:lnTo>
                  <a:pt x="503047" y="180848"/>
                </a:lnTo>
                <a:lnTo>
                  <a:pt x="511810" y="151511"/>
                </a:lnTo>
                <a:lnTo>
                  <a:pt x="497242" y="139319"/>
                </a:lnTo>
                <a:lnTo>
                  <a:pt x="397637" y="139319"/>
                </a:lnTo>
                <a:lnTo>
                  <a:pt x="394898" y="119761"/>
                </a:lnTo>
                <a:lnTo>
                  <a:pt x="153797" y="119761"/>
                </a:lnTo>
                <a:lnTo>
                  <a:pt x="85725" y="92837"/>
                </a:lnTo>
                <a:close/>
              </a:path>
              <a:path w="920750" h="950594">
                <a:moveTo>
                  <a:pt x="901527" y="596265"/>
                </a:moveTo>
                <a:lnTo>
                  <a:pt x="423925" y="596265"/>
                </a:lnTo>
                <a:lnTo>
                  <a:pt x="470154" y="598677"/>
                </a:lnTo>
                <a:lnTo>
                  <a:pt x="494284" y="728218"/>
                </a:lnTo>
                <a:lnTo>
                  <a:pt x="496443" y="759968"/>
                </a:lnTo>
                <a:lnTo>
                  <a:pt x="507492" y="772287"/>
                </a:lnTo>
                <a:lnTo>
                  <a:pt x="500888" y="862711"/>
                </a:lnTo>
                <a:lnTo>
                  <a:pt x="509650" y="894461"/>
                </a:lnTo>
                <a:lnTo>
                  <a:pt x="511810" y="931037"/>
                </a:lnTo>
                <a:lnTo>
                  <a:pt x="564514" y="935990"/>
                </a:lnTo>
                <a:lnTo>
                  <a:pt x="553593" y="877316"/>
                </a:lnTo>
                <a:lnTo>
                  <a:pt x="533781" y="791845"/>
                </a:lnTo>
                <a:lnTo>
                  <a:pt x="553593" y="730630"/>
                </a:lnTo>
                <a:lnTo>
                  <a:pt x="533781" y="637794"/>
                </a:lnTo>
                <a:lnTo>
                  <a:pt x="683082" y="637794"/>
                </a:lnTo>
                <a:lnTo>
                  <a:pt x="683133" y="635380"/>
                </a:lnTo>
                <a:lnTo>
                  <a:pt x="712103" y="635380"/>
                </a:lnTo>
                <a:lnTo>
                  <a:pt x="716152" y="620649"/>
                </a:lnTo>
                <a:lnTo>
                  <a:pt x="910581" y="620649"/>
                </a:lnTo>
                <a:lnTo>
                  <a:pt x="901527" y="596265"/>
                </a:lnTo>
                <a:close/>
              </a:path>
              <a:path w="920750" h="950594">
                <a:moveTo>
                  <a:pt x="682464" y="667130"/>
                </a:moveTo>
                <a:lnTo>
                  <a:pt x="628269" y="667130"/>
                </a:lnTo>
                <a:lnTo>
                  <a:pt x="630427" y="750189"/>
                </a:lnTo>
                <a:lnTo>
                  <a:pt x="648081" y="806450"/>
                </a:lnTo>
                <a:lnTo>
                  <a:pt x="656844" y="891921"/>
                </a:lnTo>
                <a:lnTo>
                  <a:pt x="672211" y="926211"/>
                </a:lnTo>
                <a:lnTo>
                  <a:pt x="705104" y="931037"/>
                </a:lnTo>
                <a:lnTo>
                  <a:pt x="713994" y="899287"/>
                </a:lnTo>
                <a:lnTo>
                  <a:pt x="678814" y="806450"/>
                </a:lnTo>
                <a:lnTo>
                  <a:pt x="680974" y="737997"/>
                </a:lnTo>
                <a:lnTo>
                  <a:pt x="682464" y="667130"/>
                </a:lnTo>
                <a:close/>
              </a:path>
              <a:path w="920750" h="950594">
                <a:moveTo>
                  <a:pt x="204743" y="796671"/>
                </a:moveTo>
                <a:lnTo>
                  <a:pt x="180086" y="796671"/>
                </a:lnTo>
                <a:lnTo>
                  <a:pt x="206501" y="804037"/>
                </a:lnTo>
                <a:lnTo>
                  <a:pt x="204743" y="796671"/>
                </a:lnTo>
                <a:close/>
              </a:path>
              <a:path w="920750" h="950594">
                <a:moveTo>
                  <a:pt x="425040" y="601218"/>
                </a:moveTo>
                <a:lnTo>
                  <a:pt x="388874" y="601218"/>
                </a:lnTo>
                <a:lnTo>
                  <a:pt x="401955" y="708659"/>
                </a:lnTo>
                <a:lnTo>
                  <a:pt x="404240" y="782066"/>
                </a:lnTo>
                <a:lnTo>
                  <a:pt x="434975" y="774700"/>
                </a:lnTo>
                <a:lnTo>
                  <a:pt x="421767" y="669544"/>
                </a:lnTo>
                <a:lnTo>
                  <a:pt x="430530" y="625601"/>
                </a:lnTo>
                <a:lnTo>
                  <a:pt x="425040" y="601218"/>
                </a:lnTo>
                <a:close/>
              </a:path>
              <a:path w="920750" h="950594">
                <a:moveTo>
                  <a:pt x="388691" y="610997"/>
                </a:moveTo>
                <a:lnTo>
                  <a:pt x="199898" y="610997"/>
                </a:lnTo>
                <a:lnTo>
                  <a:pt x="217550" y="654939"/>
                </a:lnTo>
                <a:lnTo>
                  <a:pt x="221869" y="716026"/>
                </a:lnTo>
                <a:lnTo>
                  <a:pt x="219710" y="764921"/>
                </a:lnTo>
                <a:lnTo>
                  <a:pt x="239395" y="769747"/>
                </a:lnTo>
                <a:lnTo>
                  <a:pt x="265811" y="759968"/>
                </a:lnTo>
                <a:lnTo>
                  <a:pt x="250444" y="694054"/>
                </a:lnTo>
                <a:lnTo>
                  <a:pt x="278841" y="694054"/>
                </a:lnTo>
                <a:lnTo>
                  <a:pt x="311912" y="637794"/>
                </a:lnTo>
                <a:lnTo>
                  <a:pt x="388189" y="637794"/>
                </a:lnTo>
                <a:lnTo>
                  <a:pt x="388691" y="610997"/>
                </a:lnTo>
                <a:close/>
              </a:path>
              <a:path w="920750" h="950594">
                <a:moveTo>
                  <a:pt x="278841" y="694054"/>
                </a:moveTo>
                <a:lnTo>
                  <a:pt x="250444" y="694054"/>
                </a:lnTo>
                <a:lnTo>
                  <a:pt x="270256" y="708659"/>
                </a:lnTo>
                <a:lnTo>
                  <a:pt x="278841" y="694054"/>
                </a:lnTo>
                <a:close/>
              </a:path>
              <a:path w="920750" h="950594">
                <a:moveTo>
                  <a:pt x="683082" y="637794"/>
                </a:moveTo>
                <a:lnTo>
                  <a:pt x="533781" y="637794"/>
                </a:lnTo>
                <a:lnTo>
                  <a:pt x="571119" y="694054"/>
                </a:lnTo>
                <a:lnTo>
                  <a:pt x="604138" y="703833"/>
                </a:lnTo>
                <a:lnTo>
                  <a:pt x="628269" y="667130"/>
                </a:lnTo>
                <a:lnTo>
                  <a:pt x="682464" y="667130"/>
                </a:lnTo>
                <a:lnTo>
                  <a:pt x="683082" y="637794"/>
                </a:lnTo>
                <a:close/>
              </a:path>
              <a:path w="920750" h="950594">
                <a:moveTo>
                  <a:pt x="910581" y="620649"/>
                </a:moveTo>
                <a:lnTo>
                  <a:pt x="716152" y="620649"/>
                </a:lnTo>
                <a:lnTo>
                  <a:pt x="814959" y="662304"/>
                </a:lnTo>
                <a:lnTo>
                  <a:pt x="856742" y="689101"/>
                </a:lnTo>
                <a:lnTo>
                  <a:pt x="907288" y="662304"/>
                </a:lnTo>
                <a:lnTo>
                  <a:pt x="916051" y="635380"/>
                </a:lnTo>
                <a:lnTo>
                  <a:pt x="910581" y="620649"/>
                </a:lnTo>
                <a:close/>
              </a:path>
              <a:path w="920750" h="950594">
                <a:moveTo>
                  <a:pt x="712103" y="635380"/>
                </a:moveTo>
                <a:lnTo>
                  <a:pt x="683133" y="635380"/>
                </a:lnTo>
                <a:lnTo>
                  <a:pt x="707389" y="652526"/>
                </a:lnTo>
                <a:lnTo>
                  <a:pt x="712103" y="635380"/>
                </a:lnTo>
                <a:close/>
              </a:path>
              <a:path w="920750" h="950594">
                <a:moveTo>
                  <a:pt x="876554" y="366522"/>
                </a:moveTo>
                <a:lnTo>
                  <a:pt x="836930" y="371475"/>
                </a:lnTo>
                <a:lnTo>
                  <a:pt x="885433" y="371475"/>
                </a:lnTo>
                <a:lnTo>
                  <a:pt x="876554" y="366522"/>
                </a:lnTo>
                <a:close/>
              </a:path>
              <a:path w="920750" h="950594">
                <a:moveTo>
                  <a:pt x="801751" y="295655"/>
                </a:moveTo>
                <a:lnTo>
                  <a:pt x="727075" y="337184"/>
                </a:lnTo>
                <a:lnTo>
                  <a:pt x="821019" y="337184"/>
                </a:lnTo>
                <a:lnTo>
                  <a:pt x="801751" y="295655"/>
                </a:lnTo>
                <a:close/>
              </a:path>
              <a:path w="920750" h="950594">
                <a:moveTo>
                  <a:pt x="560197" y="236981"/>
                </a:moveTo>
                <a:lnTo>
                  <a:pt x="496443" y="273684"/>
                </a:lnTo>
                <a:lnTo>
                  <a:pt x="441579" y="273684"/>
                </a:lnTo>
                <a:lnTo>
                  <a:pt x="377825" y="298196"/>
                </a:lnTo>
                <a:lnTo>
                  <a:pt x="660367" y="298196"/>
                </a:lnTo>
                <a:lnTo>
                  <a:pt x="643636" y="288417"/>
                </a:lnTo>
                <a:lnTo>
                  <a:pt x="612901" y="256540"/>
                </a:lnTo>
                <a:lnTo>
                  <a:pt x="560197" y="236981"/>
                </a:lnTo>
                <a:close/>
              </a:path>
              <a:path w="920750" h="950594">
                <a:moveTo>
                  <a:pt x="430530" y="114807"/>
                </a:moveTo>
                <a:lnTo>
                  <a:pt x="397637" y="139319"/>
                </a:lnTo>
                <a:lnTo>
                  <a:pt x="497242" y="139319"/>
                </a:lnTo>
                <a:lnTo>
                  <a:pt x="476758" y="122174"/>
                </a:lnTo>
                <a:lnTo>
                  <a:pt x="430530" y="114807"/>
                </a:lnTo>
                <a:close/>
              </a:path>
              <a:path w="920750" h="950594">
                <a:moveTo>
                  <a:pt x="283337" y="0"/>
                </a:moveTo>
                <a:lnTo>
                  <a:pt x="213106" y="14604"/>
                </a:lnTo>
                <a:lnTo>
                  <a:pt x="173609" y="75819"/>
                </a:lnTo>
                <a:lnTo>
                  <a:pt x="153797" y="119761"/>
                </a:lnTo>
                <a:lnTo>
                  <a:pt x="394898" y="119761"/>
                </a:lnTo>
                <a:lnTo>
                  <a:pt x="393192" y="107569"/>
                </a:lnTo>
                <a:lnTo>
                  <a:pt x="371221" y="75819"/>
                </a:lnTo>
                <a:lnTo>
                  <a:pt x="362458" y="43942"/>
                </a:lnTo>
                <a:lnTo>
                  <a:pt x="333883" y="4825"/>
                </a:lnTo>
                <a:lnTo>
                  <a:pt x="283337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773292" y="1380925"/>
            <a:ext cx="339725" cy="806450"/>
          </a:xfrm>
          <a:custGeom>
            <a:avLst/>
            <a:gdLst/>
            <a:ahLst/>
            <a:cxnLst/>
            <a:rect l="l" t="t" r="r" b="b"/>
            <a:pathLst>
              <a:path w="339725" h="806450">
                <a:moveTo>
                  <a:pt x="0" y="806157"/>
                </a:moveTo>
                <a:lnTo>
                  <a:pt x="339521" y="806157"/>
                </a:lnTo>
                <a:lnTo>
                  <a:pt x="339521" y="0"/>
                </a:lnTo>
                <a:lnTo>
                  <a:pt x="0" y="0"/>
                </a:lnTo>
                <a:lnTo>
                  <a:pt x="0" y="80615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11619" y="1169051"/>
            <a:ext cx="212090" cy="1017905"/>
          </a:xfrm>
          <a:custGeom>
            <a:avLst/>
            <a:gdLst/>
            <a:ahLst/>
            <a:cxnLst/>
            <a:rect l="l" t="t" r="r" b="b"/>
            <a:pathLst>
              <a:path w="212089" h="1017905">
                <a:moveTo>
                  <a:pt x="211581" y="0"/>
                </a:moveTo>
                <a:lnTo>
                  <a:pt x="0" y="211200"/>
                </a:lnTo>
                <a:lnTo>
                  <a:pt x="0" y="1017777"/>
                </a:lnTo>
                <a:lnTo>
                  <a:pt x="211581" y="806576"/>
                </a:lnTo>
                <a:lnTo>
                  <a:pt x="21158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73292" y="1169051"/>
            <a:ext cx="550545" cy="212090"/>
          </a:xfrm>
          <a:custGeom>
            <a:avLst/>
            <a:gdLst/>
            <a:ahLst/>
            <a:cxnLst/>
            <a:rect l="l" t="t" r="r" b="b"/>
            <a:pathLst>
              <a:path w="550545" h="212090">
                <a:moveTo>
                  <a:pt x="550037" y="0"/>
                </a:moveTo>
                <a:lnTo>
                  <a:pt x="210947" y="0"/>
                </a:lnTo>
                <a:lnTo>
                  <a:pt x="0" y="211581"/>
                </a:lnTo>
                <a:lnTo>
                  <a:pt x="339090" y="211581"/>
                </a:lnTo>
                <a:lnTo>
                  <a:pt x="550037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74054" y="1169813"/>
            <a:ext cx="550545" cy="1017905"/>
          </a:xfrm>
          <a:custGeom>
            <a:avLst/>
            <a:gdLst/>
            <a:ahLst/>
            <a:cxnLst/>
            <a:rect l="l" t="t" r="r" b="b"/>
            <a:pathLst>
              <a:path w="550545" h="1017905">
                <a:moveTo>
                  <a:pt x="0" y="211200"/>
                </a:moveTo>
                <a:lnTo>
                  <a:pt x="210947" y="0"/>
                </a:lnTo>
                <a:lnTo>
                  <a:pt x="550037" y="0"/>
                </a:lnTo>
                <a:lnTo>
                  <a:pt x="550037" y="806576"/>
                </a:lnTo>
                <a:lnTo>
                  <a:pt x="339090" y="1017777"/>
                </a:lnTo>
                <a:lnTo>
                  <a:pt x="0" y="1017777"/>
                </a:lnTo>
                <a:lnTo>
                  <a:pt x="0" y="21120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74054" y="1169813"/>
            <a:ext cx="550545" cy="211454"/>
          </a:xfrm>
          <a:custGeom>
            <a:avLst/>
            <a:gdLst/>
            <a:ahLst/>
            <a:cxnLst/>
            <a:rect l="l" t="t" r="r" b="b"/>
            <a:pathLst>
              <a:path w="550545" h="211455">
                <a:moveTo>
                  <a:pt x="0" y="211200"/>
                </a:moveTo>
                <a:lnTo>
                  <a:pt x="339090" y="211200"/>
                </a:lnTo>
                <a:lnTo>
                  <a:pt x="5500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13143" y="1381014"/>
            <a:ext cx="0" cy="807085"/>
          </a:xfrm>
          <a:custGeom>
            <a:avLst/>
            <a:gdLst/>
            <a:ahLst/>
            <a:cxnLst/>
            <a:rect l="l" t="t" r="r" b="b"/>
            <a:pathLst>
              <a:path h="807085">
                <a:moveTo>
                  <a:pt x="0" y="0"/>
                </a:moveTo>
                <a:lnTo>
                  <a:pt x="0" y="80657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747130" y="2296303"/>
            <a:ext cx="54800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66675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Scores:  </a:t>
            </a:r>
            <a:r>
              <a:rPr sz="900" spc="25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428612" y="1752743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94728" y="1725312"/>
            <a:ext cx="71627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333616" y="1546241"/>
            <a:ext cx="4203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arg</a:t>
            </a:r>
            <a:r>
              <a:rPr sz="900" spc="25" dirty="0">
                <a:latin typeface="Arial"/>
                <a:cs typeface="Arial"/>
              </a:rPr>
              <a:t>m</a:t>
            </a:r>
            <a:r>
              <a:rPr sz="900" spc="15" dirty="0">
                <a:latin typeface="Arial"/>
                <a:cs typeface="Arial"/>
              </a:rPr>
              <a:t>ax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63561" y="2269125"/>
            <a:ext cx="6438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1925" marR="5080" indent="-14986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Pre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ct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3876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语义分割思路：全卷积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837939" y="512821"/>
            <a:ext cx="2616200" cy="5740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解决方案：让整个网络只包含卷积层，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一次性输出所有像素的类别预测。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11" y="1361820"/>
            <a:ext cx="119786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3440" y="2217800"/>
            <a:ext cx="53022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8296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139" y="1166748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0275" y="1166748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037" y="1167510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7"/>
                </a:lnTo>
                <a:lnTo>
                  <a:pt x="55244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41037" y="1167510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6282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06852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35219" y="1166748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69" h="1016635">
                <a:moveTo>
                  <a:pt x="203962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78831" y="1166748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9593" y="1167510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7"/>
                </a:lnTo>
                <a:lnTo>
                  <a:pt x="55244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9593" y="1167510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4838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5799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13399" y="1166748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70" h="1016635">
                <a:moveTo>
                  <a:pt x="203962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58535" y="1166748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258952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0" y="203962"/>
                </a:lnTo>
                <a:lnTo>
                  <a:pt x="2589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59297" y="1167510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79" h="1016635">
                <a:moveTo>
                  <a:pt x="0" y="204470"/>
                </a:moveTo>
                <a:lnTo>
                  <a:pt x="203962" y="0"/>
                </a:lnTo>
                <a:lnTo>
                  <a:pt x="258952" y="0"/>
                </a:lnTo>
                <a:lnTo>
                  <a:pt x="258952" y="811657"/>
                </a:lnTo>
                <a:lnTo>
                  <a:pt x="54990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59297" y="1167510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0" y="204470"/>
                </a:moveTo>
                <a:lnTo>
                  <a:pt x="54990" y="204470"/>
                </a:lnTo>
                <a:lnTo>
                  <a:pt x="25895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14288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71313" y="2573146"/>
            <a:ext cx="74168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5410" marR="5080" indent="-93345">
              <a:lnSpc>
                <a:spcPct val="102499"/>
              </a:lnSpc>
              <a:spcBef>
                <a:spcPts val="110"/>
              </a:spcBef>
            </a:pPr>
            <a:r>
              <a:rPr sz="900" spc="25" dirty="0">
                <a:latin typeface="Arial"/>
                <a:cs typeface="Arial"/>
              </a:rPr>
              <a:t>C</a:t>
            </a:r>
            <a:r>
              <a:rPr sz="900" spc="5" dirty="0">
                <a:latin typeface="Arial"/>
                <a:cs typeface="Arial"/>
              </a:rPr>
              <a:t>o</a:t>
            </a:r>
            <a:r>
              <a:rPr sz="900" spc="10" dirty="0">
                <a:latin typeface="Arial"/>
                <a:cs typeface="Arial"/>
              </a:rPr>
              <a:t>n</a:t>
            </a:r>
            <a:r>
              <a:rPr sz="900" spc="15" dirty="0">
                <a:latin typeface="Arial"/>
                <a:cs typeface="Arial"/>
              </a:rPr>
              <a:t>v</a:t>
            </a:r>
            <a:r>
              <a:rPr sz="900" spc="10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10" dirty="0">
                <a:latin typeface="Arial"/>
                <a:cs typeface="Arial"/>
              </a:rPr>
              <a:t>ut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D </a:t>
            </a:r>
            <a:r>
              <a:rPr sz="900" spc="15" dirty="0">
                <a:latin typeface="Arial"/>
                <a:cs typeface="Arial"/>
              </a:rPr>
              <a:t>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26331" y="1755012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92447" y="1727582"/>
            <a:ext cx="71627" cy="54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01185" y="1548510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35931" y="1755012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2047" y="1727582"/>
            <a:ext cx="71627" cy="54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10785" y="1548510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695824" y="1755012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63463" y="1727582"/>
            <a:ext cx="70103" cy="54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671185" y="1548510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63919" y="1774825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30035" y="1747394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438773" y="1568830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89983" y="2250312"/>
            <a:ext cx="1706880" cy="230504"/>
          </a:xfrm>
          <a:custGeom>
            <a:avLst/>
            <a:gdLst/>
            <a:ahLst/>
            <a:cxnLst/>
            <a:rect l="l" t="t" r="r" b="b"/>
            <a:pathLst>
              <a:path w="1706879" h="230505">
                <a:moveTo>
                  <a:pt x="1706880" y="0"/>
                </a:moveTo>
                <a:lnTo>
                  <a:pt x="1698625" y="44068"/>
                </a:lnTo>
                <a:lnTo>
                  <a:pt x="1675003" y="81280"/>
                </a:lnTo>
                <a:lnTo>
                  <a:pt x="1639696" y="106299"/>
                </a:lnTo>
                <a:lnTo>
                  <a:pt x="1598041" y="115062"/>
                </a:lnTo>
                <a:lnTo>
                  <a:pt x="962279" y="115062"/>
                </a:lnTo>
                <a:lnTo>
                  <a:pt x="933323" y="119125"/>
                </a:lnTo>
                <a:lnTo>
                  <a:pt x="885317" y="148717"/>
                </a:lnTo>
                <a:lnTo>
                  <a:pt x="857250" y="199517"/>
                </a:lnTo>
                <a:lnTo>
                  <a:pt x="853440" y="229997"/>
                </a:lnTo>
                <a:lnTo>
                  <a:pt x="849503" y="199517"/>
                </a:lnTo>
                <a:lnTo>
                  <a:pt x="821563" y="148717"/>
                </a:lnTo>
                <a:lnTo>
                  <a:pt x="773557" y="119125"/>
                </a:lnTo>
                <a:lnTo>
                  <a:pt x="744601" y="115062"/>
                </a:lnTo>
                <a:lnTo>
                  <a:pt x="108839" y="115062"/>
                </a:lnTo>
                <a:lnTo>
                  <a:pt x="79883" y="110871"/>
                </a:lnTo>
                <a:lnTo>
                  <a:pt x="53848" y="99314"/>
                </a:lnTo>
                <a:lnTo>
                  <a:pt x="31877" y="81280"/>
                </a:lnTo>
                <a:lnTo>
                  <a:pt x="14859" y="58039"/>
                </a:lnTo>
                <a:lnTo>
                  <a:pt x="3937" y="30606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00423" y="2204592"/>
            <a:ext cx="245110" cy="438784"/>
          </a:xfrm>
          <a:custGeom>
            <a:avLst/>
            <a:gdLst/>
            <a:ahLst/>
            <a:cxnLst/>
            <a:rect l="l" t="t" r="r" b="b"/>
            <a:pathLst>
              <a:path w="245110" h="438785">
                <a:moveTo>
                  <a:pt x="0" y="438785"/>
                </a:moveTo>
                <a:lnTo>
                  <a:pt x="244982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19879" y="2148206"/>
            <a:ext cx="59436" cy="731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05040" y="1209484"/>
            <a:ext cx="1290955" cy="951230"/>
          </a:xfrm>
          <a:custGeom>
            <a:avLst/>
            <a:gdLst/>
            <a:ahLst/>
            <a:cxnLst/>
            <a:rect l="l" t="t" r="r" b="b"/>
            <a:pathLst>
              <a:path w="1290954" h="951230">
                <a:moveTo>
                  <a:pt x="0" y="950658"/>
                </a:moveTo>
                <a:lnTo>
                  <a:pt x="1290700" y="950658"/>
                </a:lnTo>
                <a:lnTo>
                  <a:pt x="1290700" y="0"/>
                </a:lnTo>
                <a:lnTo>
                  <a:pt x="0" y="0"/>
                </a:lnTo>
                <a:lnTo>
                  <a:pt x="0" y="950658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6563" y="1569084"/>
            <a:ext cx="1287780" cy="594360"/>
          </a:xfrm>
          <a:custGeom>
            <a:avLst/>
            <a:gdLst/>
            <a:ahLst/>
            <a:cxnLst/>
            <a:rect l="l" t="t" r="r" b="b"/>
            <a:pathLst>
              <a:path w="1287779" h="594360">
                <a:moveTo>
                  <a:pt x="0" y="0"/>
                </a:moveTo>
                <a:lnTo>
                  <a:pt x="0" y="594232"/>
                </a:lnTo>
                <a:lnTo>
                  <a:pt x="1287526" y="591819"/>
                </a:lnTo>
                <a:lnTo>
                  <a:pt x="1285239" y="151637"/>
                </a:lnTo>
                <a:lnTo>
                  <a:pt x="1008507" y="129667"/>
                </a:lnTo>
                <a:lnTo>
                  <a:pt x="264037" y="46481"/>
                </a:lnTo>
                <a:lnTo>
                  <a:pt x="120776" y="46481"/>
                </a:lnTo>
                <a:lnTo>
                  <a:pt x="24130" y="19557"/>
                </a:lnTo>
                <a:lnTo>
                  <a:pt x="37337" y="4952"/>
                </a:lnTo>
                <a:lnTo>
                  <a:pt x="0" y="0"/>
                </a:lnTo>
                <a:close/>
              </a:path>
              <a:path w="1287779" h="594360">
                <a:moveTo>
                  <a:pt x="103250" y="4952"/>
                </a:moveTo>
                <a:lnTo>
                  <a:pt x="120776" y="46481"/>
                </a:lnTo>
                <a:lnTo>
                  <a:pt x="264037" y="46481"/>
                </a:lnTo>
                <a:lnTo>
                  <a:pt x="219710" y="41528"/>
                </a:lnTo>
                <a:lnTo>
                  <a:pt x="103250" y="495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08087" y="1206372"/>
            <a:ext cx="1285875" cy="523875"/>
          </a:xfrm>
          <a:custGeom>
            <a:avLst/>
            <a:gdLst/>
            <a:ahLst/>
            <a:cxnLst/>
            <a:rect l="l" t="t" r="r" b="b"/>
            <a:pathLst>
              <a:path w="1285875" h="523875">
                <a:moveTo>
                  <a:pt x="775970" y="0"/>
                </a:moveTo>
                <a:lnTo>
                  <a:pt x="21971" y="0"/>
                </a:lnTo>
                <a:lnTo>
                  <a:pt x="26415" y="24511"/>
                </a:lnTo>
                <a:lnTo>
                  <a:pt x="0" y="49022"/>
                </a:lnTo>
                <a:lnTo>
                  <a:pt x="0" y="494538"/>
                </a:lnTo>
                <a:lnTo>
                  <a:pt x="1285875" y="523875"/>
                </a:lnTo>
                <a:lnTo>
                  <a:pt x="1285875" y="367283"/>
                </a:lnTo>
                <a:lnTo>
                  <a:pt x="932052" y="367283"/>
                </a:lnTo>
                <a:lnTo>
                  <a:pt x="933414" y="362331"/>
                </a:lnTo>
                <a:lnTo>
                  <a:pt x="870458" y="362331"/>
                </a:lnTo>
                <a:lnTo>
                  <a:pt x="655065" y="283971"/>
                </a:lnTo>
                <a:lnTo>
                  <a:pt x="635253" y="232537"/>
                </a:lnTo>
                <a:lnTo>
                  <a:pt x="720978" y="220344"/>
                </a:lnTo>
                <a:lnTo>
                  <a:pt x="734187" y="166497"/>
                </a:lnTo>
                <a:lnTo>
                  <a:pt x="758316" y="127253"/>
                </a:lnTo>
                <a:lnTo>
                  <a:pt x="802259" y="122427"/>
                </a:lnTo>
                <a:lnTo>
                  <a:pt x="775970" y="66166"/>
                </a:lnTo>
                <a:lnTo>
                  <a:pt x="764921" y="24511"/>
                </a:lnTo>
                <a:lnTo>
                  <a:pt x="775970" y="0"/>
                </a:lnTo>
                <a:close/>
              </a:path>
              <a:path w="1285875" h="523875">
                <a:moveTo>
                  <a:pt x="1033145" y="252221"/>
                </a:moveTo>
                <a:lnTo>
                  <a:pt x="932052" y="367283"/>
                </a:lnTo>
                <a:lnTo>
                  <a:pt x="1285875" y="367283"/>
                </a:lnTo>
                <a:lnTo>
                  <a:pt x="1285875" y="337819"/>
                </a:lnTo>
                <a:lnTo>
                  <a:pt x="1204595" y="337819"/>
                </a:lnTo>
                <a:lnTo>
                  <a:pt x="1191352" y="328040"/>
                </a:lnTo>
                <a:lnTo>
                  <a:pt x="1140840" y="328040"/>
                </a:lnTo>
                <a:lnTo>
                  <a:pt x="1130935" y="293750"/>
                </a:lnTo>
                <a:lnTo>
                  <a:pt x="1107821" y="293750"/>
                </a:lnTo>
                <a:lnTo>
                  <a:pt x="1033145" y="252221"/>
                </a:lnTo>
                <a:close/>
              </a:path>
              <a:path w="1285875" h="523875">
                <a:moveTo>
                  <a:pt x="887984" y="257048"/>
                </a:moveTo>
                <a:lnTo>
                  <a:pt x="868299" y="323214"/>
                </a:lnTo>
                <a:lnTo>
                  <a:pt x="870458" y="362331"/>
                </a:lnTo>
                <a:lnTo>
                  <a:pt x="933414" y="362331"/>
                </a:lnTo>
                <a:lnTo>
                  <a:pt x="945529" y="318262"/>
                </a:lnTo>
                <a:lnTo>
                  <a:pt x="907796" y="318262"/>
                </a:lnTo>
                <a:lnTo>
                  <a:pt x="887984" y="257048"/>
                </a:lnTo>
                <a:close/>
              </a:path>
              <a:path w="1285875" h="523875">
                <a:moveTo>
                  <a:pt x="1285875" y="298704"/>
                </a:moveTo>
                <a:lnTo>
                  <a:pt x="1237488" y="298704"/>
                </a:lnTo>
                <a:lnTo>
                  <a:pt x="1204595" y="337819"/>
                </a:lnTo>
                <a:lnTo>
                  <a:pt x="1285875" y="337819"/>
                </a:lnTo>
                <a:lnTo>
                  <a:pt x="1285875" y="298704"/>
                </a:lnTo>
                <a:close/>
              </a:path>
              <a:path w="1285875" h="523875">
                <a:moveTo>
                  <a:pt x="1171575" y="313436"/>
                </a:moveTo>
                <a:lnTo>
                  <a:pt x="1140840" y="328040"/>
                </a:lnTo>
                <a:lnTo>
                  <a:pt x="1191352" y="328040"/>
                </a:lnTo>
                <a:lnTo>
                  <a:pt x="1171575" y="313436"/>
                </a:lnTo>
                <a:close/>
              </a:path>
              <a:path w="1285875" h="523875">
                <a:moveTo>
                  <a:pt x="929766" y="252221"/>
                </a:moveTo>
                <a:lnTo>
                  <a:pt x="907796" y="318262"/>
                </a:lnTo>
                <a:lnTo>
                  <a:pt x="945529" y="318262"/>
                </a:lnTo>
                <a:lnTo>
                  <a:pt x="949578" y="303530"/>
                </a:lnTo>
                <a:lnTo>
                  <a:pt x="929766" y="252221"/>
                </a:lnTo>
                <a:close/>
              </a:path>
              <a:path w="1285875" h="523875">
                <a:moveTo>
                  <a:pt x="1121028" y="259461"/>
                </a:moveTo>
                <a:lnTo>
                  <a:pt x="1107821" y="293750"/>
                </a:lnTo>
                <a:lnTo>
                  <a:pt x="1130935" y="293750"/>
                </a:lnTo>
                <a:lnTo>
                  <a:pt x="1121028" y="25946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57440" y="1213992"/>
            <a:ext cx="920750" cy="950594"/>
          </a:xfrm>
          <a:custGeom>
            <a:avLst/>
            <a:gdLst/>
            <a:ahLst/>
            <a:cxnLst/>
            <a:rect l="l" t="t" r="r" b="b"/>
            <a:pathLst>
              <a:path w="920750" h="950594">
                <a:moveTo>
                  <a:pt x="388189" y="637793"/>
                </a:moveTo>
                <a:lnTo>
                  <a:pt x="311912" y="637793"/>
                </a:lnTo>
                <a:lnTo>
                  <a:pt x="322961" y="740409"/>
                </a:lnTo>
                <a:lnTo>
                  <a:pt x="347090" y="830833"/>
                </a:lnTo>
                <a:lnTo>
                  <a:pt x="362458" y="950594"/>
                </a:lnTo>
                <a:lnTo>
                  <a:pt x="423925" y="945768"/>
                </a:lnTo>
                <a:lnTo>
                  <a:pt x="401955" y="877315"/>
                </a:lnTo>
                <a:lnTo>
                  <a:pt x="388874" y="821054"/>
                </a:lnTo>
                <a:lnTo>
                  <a:pt x="395477" y="777112"/>
                </a:lnTo>
                <a:lnTo>
                  <a:pt x="386588" y="723391"/>
                </a:lnTo>
                <a:lnTo>
                  <a:pt x="388189" y="637793"/>
                </a:lnTo>
                <a:close/>
              </a:path>
              <a:path w="920750" h="950594">
                <a:moveTo>
                  <a:pt x="85725" y="92837"/>
                </a:moveTo>
                <a:lnTo>
                  <a:pt x="28575" y="95250"/>
                </a:lnTo>
                <a:lnTo>
                  <a:pt x="0" y="127126"/>
                </a:lnTo>
                <a:lnTo>
                  <a:pt x="24130" y="173481"/>
                </a:lnTo>
                <a:lnTo>
                  <a:pt x="70358" y="219963"/>
                </a:lnTo>
                <a:lnTo>
                  <a:pt x="94487" y="224789"/>
                </a:lnTo>
                <a:lnTo>
                  <a:pt x="74675" y="254126"/>
                </a:lnTo>
                <a:lnTo>
                  <a:pt x="83438" y="317626"/>
                </a:lnTo>
                <a:lnTo>
                  <a:pt x="76835" y="359282"/>
                </a:lnTo>
                <a:lnTo>
                  <a:pt x="72517" y="439927"/>
                </a:lnTo>
                <a:lnTo>
                  <a:pt x="90043" y="535177"/>
                </a:lnTo>
                <a:lnTo>
                  <a:pt x="118618" y="566927"/>
                </a:lnTo>
                <a:lnTo>
                  <a:pt x="138430" y="662304"/>
                </a:lnTo>
                <a:lnTo>
                  <a:pt x="140588" y="747775"/>
                </a:lnTo>
                <a:lnTo>
                  <a:pt x="142748" y="813815"/>
                </a:lnTo>
                <a:lnTo>
                  <a:pt x="125222" y="889507"/>
                </a:lnTo>
                <a:lnTo>
                  <a:pt x="109855" y="943355"/>
                </a:lnTo>
                <a:lnTo>
                  <a:pt x="182372" y="948181"/>
                </a:lnTo>
                <a:lnTo>
                  <a:pt x="180086" y="882268"/>
                </a:lnTo>
                <a:lnTo>
                  <a:pt x="180086" y="796670"/>
                </a:lnTo>
                <a:lnTo>
                  <a:pt x="204743" y="796670"/>
                </a:lnTo>
                <a:lnTo>
                  <a:pt x="197738" y="767333"/>
                </a:lnTo>
                <a:lnTo>
                  <a:pt x="204343" y="708659"/>
                </a:lnTo>
                <a:lnTo>
                  <a:pt x="195580" y="642746"/>
                </a:lnTo>
                <a:lnTo>
                  <a:pt x="199898" y="610996"/>
                </a:lnTo>
                <a:lnTo>
                  <a:pt x="388691" y="610996"/>
                </a:lnTo>
                <a:lnTo>
                  <a:pt x="388874" y="601217"/>
                </a:lnTo>
                <a:lnTo>
                  <a:pt x="425040" y="601217"/>
                </a:lnTo>
                <a:lnTo>
                  <a:pt x="423925" y="596264"/>
                </a:lnTo>
                <a:lnTo>
                  <a:pt x="901527" y="596264"/>
                </a:lnTo>
                <a:lnTo>
                  <a:pt x="858901" y="481456"/>
                </a:lnTo>
                <a:lnTo>
                  <a:pt x="869950" y="439927"/>
                </a:lnTo>
                <a:lnTo>
                  <a:pt x="909447" y="430148"/>
                </a:lnTo>
                <a:lnTo>
                  <a:pt x="920496" y="391032"/>
                </a:lnTo>
                <a:lnTo>
                  <a:pt x="885433" y="371474"/>
                </a:lnTo>
                <a:lnTo>
                  <a:pt x="836930" y="371474"/>
                </a:lnTo>
                <a:lnTo>
                  <a:pt x="821019" y="337184"/>
                </a:lnTo>
                <a:lnTo>
                  <a:pt x="727075" y="337184"/>
                </a:lnTo>
                <a:lnTo>
                  <a:pt x="660367" y="298195"/>
                </a:lnTo>
                <a:lnTo>
                  <a:pt x="377825" y="298195"/>
                </a:lnTo>
                <a:lnTo>
                  <a:pt x="380111" y="256539"/>
                </a:lnTo>
                <a:lnTo>
                  <a:pt x="430530" y="249300"/>
                </a:lnTo>
                <a:lnTo>
                  <a:pt x="503047" y="180847"/>
                </a:lnTo>
                <a:lnTo>
                  <a:pt x="511810" y="151510"/>
                </a:lnTo>
                <a:lnTo>
                  <a:pt x="497242" y="139318"/>
                </a:lnTo>
                <a:lnTo>
                  <a:pt x="397637" y="139318"/>
                </a:lnTo>
                <a:lnTo>
                  <a:pt x="394898" y="119760"/>
                </a:lnTo>
                <a:lnTo>
                  <a:pt x="153797" y="119760"/>
                </a:lnTo>
                <a:lnTo>
                  <a:pt x="85725" y="92837"/>
                </a:lnTo>
                <a:close/>
              </a:path>
              <a:path w="920750" h="950594">
                <a:moveTo>
                  <a:pt x="901527" y="596264"/>
                </a:moveTo>
                <a:lnTo>
                  <a:pt x="423925" y="596264"/>
                </a:lnTo>
                <a:lnTo>
                  <a:pt x="470154" y="598677"/>
                </a:lnTo>
                <a:lnTo>
                  <a:pt x="494284" y="728217"/>
                </a:lnTo>
                <a:lnTo>
                  <a:pt x="496443" y="759967"/>
                </a:lnTo>
                <a:lnTo>
                  <a:pt x="507492" y="772286"/>
                </a:lnTo>
                <a:lnTo>
                  <a:pt x="500888" y="862710"/>
                </a:lnTo>
                <a:lnTo>
                  <a:pt x="509650" y="894460"/>
                </a:lnTo>
                <a:lnTo>
                  <a:pt x="511810" y="931036"/>
                </a:lnTo>
                <a:lnTo>
                  <a:pt x="564514" y="935989"/>
                </a:lnTo>
                <a:lnTo>
                  <a:pt x="553593" y="877315"/>
                </a:lnTo>
                <a:lnTo>
                  <a:pt x="533781" y="791844"/>
                </a:lnTo>
                <a:lnTo>
                  <a:pt x="553593" y="730630"/>
                </a:lnTo>
                <a:lnTo>
                  <a:pt x="533781" y="637793"/>
                </a:lnTo>
                <a:lnTo>
                  <a:pt x="683082" y="637793"/>
                </a:lnTo>
                <a:lnTo>
                  <a:pt x="683133" y="635380"/>
                </a:lnTo>
                <a:lnTo>
                  <a:pt x="712103" y="635380"/>
                </a:lnTo>
                <a:lnTo>
                  <a:pt x="716152" y="620648"/>
                </a:lnTo>
                <a:lnTo>
                  <a:pt x="910581" y="620648"/>
                </a:lnTo>
                <a:lnTo>
                  <a:pt x="901527" y="596264"/>
                </a:lnTo>
                <a:close/>
              </a:path>
              <a:path w="920750" h="950594">
                <a:moveTo>
                  <a:pt x="682464" y="667130"/>
                </a:moveTo>
                <a:lnTo>
                  <a:pt x="628269" y="667130"/>
                </a:lnTo>
                <a:lnTo>
                  <a:pt x="630427" y="750188"/>
                </a:lnTo>
                <a:lnTo>
                  <a:pt x="648081" y="806449"/>
                </a:lnTo>
                <a:lnTo>
                  <a:pt x="656844" y="891920"/>
                </a:lnTo>
                <a:lnTo>
                  <a:pt x="672211" y="926210"/>
                </a:lnTo>
                <a:lnTo>
                  <a:pt x="705104" y="931036"/>
                </a:lnTo>
                <a:lnTo>
                  <a:pt x="713994" y="899286"/>
                </a:lnTo>
                <a:lnTo>
                  <a:pt x="678814" y="806449"/>
                </a:lnTo>
                <a:lnTo>
                  <a:pt x="680974" y="737996"/>
                </a:lnTo>
                <a:lnTo>
                  <a:pt x="682464" y="667130"/>
                </a:lnTo>
                <a:close/>
              </a:path>
              <a:path w="920750" h="950594">
                <a:moveTo>
                  <a:pt x="204743" y="796670"/>
                </a:moveTo>
                <a:lnTo>
                  <a:pt x="180086" y="796670"/>
                </a:lnTo>
                <a:lnTo>
                  <a:pt x="206501" y="804036"/>
                </a:lnTo>
                <a:lnTo>
                  <a:pt x="204743" y="796670"/>
                </a:lnTo>
                <a:close/>
              </a:path>
              <a:path w="920750" h="950594">
                <a:moveTo>
                  <a:pt x="425040" y="601217"/>
                </a:moveTo>
                <a:lnTo>
                  <a:pt x="388874" y="601217"/>
                </a:lnTo>
                <a:lnTo>
                  <a:pt x="401955" y="708659"/>
                </a:lnTo>
                <a:lnTo>
                  <a:pt x="404240" y="782065"/>
                </a:lnTo>
                <a:lnTo>
                  <a:pt x="434975" y="774699"/>
                </a:lnTo>
                <a:lnTo>
                  <a:pt x="421767" y="669543"/>
                </a:lnTo>
                <a:lnTo>
                  <a:pt x="430530" y="625601"/>
                </a:lnTo>
                <a:lnTo>
                  <a:pt x="425040" y="601217"/>
                </a:lnTo>
                <a:close/>
              </a:path>
              <a:path w="920750" h="950594">
                <a:moveTo>
                  <a:pt x="388691" y="610996"/>
                </a:moveTo>
                <a:lnTo>
                  <a:pt x="199898" y="610996"/>
                </a:lnTo>
                <a:lnTo>
                  <a:pt x="217550" y="654938"/>
                </a:lnTo>
                <a:lnTo>
                  <a:pt x="221869" y="716025"/>
                </a:lnTo>
                <a:lnTo>
                  <a:pt x="219710" y="764920"/>
                </a:lnTo>
                <a:lnTo>
                  <a:pt x="239395" y="769746"/>
                </a:lnTo>
                <a:lnTo>
                  <a:pt x="265811" y="759967"/>
                </a:lnTo>
                <a:lnTo>
                  <a:pt x="250444" y="694054"/>
                </a:lnTo>
                <a:lnTo>
                  <a:pt x="278841" y="694054"/>
                </a:lnTo>
                <a:lnTo>
                  <a:pt x="311912" y="637793"/>
                </a:lnTo>
                <a:lnTo>
                  <a:pt x="388189" y="637793"/>
                </a:lnTo>
                <a:lnTo>
                  <a:pt x="388691" y="610996"/>
                </a:lnTo>
                <a:close/>
              </a:path>
              <a:path w="920750" h="950594">
                <a:moveTo>
                  <a:pt x="278841" y="694054"/>
                </a:moveTo>
                <a:lnTo>
                  <a:pt x="250444" y="694054"/>
                </a:lnTo>
                <a:lnTo>
                  <a:pt x="270256" y="708659"/>
                </a:lnTo>
                <a:lnTo>
                  <a:pt x="278841" y="694054"/>
                </a:lnTo>
                <a:close/>
              </a:path>
              <a:path w="920750" h="950594">
                <a:moveTo>
                  <a:pt x="683082" y="637793"/>
                </a:moveTo>
                <a:lnTo>
                  <a:pt x="533781" y="637793"/>
                </a:lnTo>
                <a:lnTo>
                  <a:pt x="571119" y="694054"/>
                </a:lnTo>
                <a:lnTo>
                  <a:pt x="604138" y="703833"/>
                </a:lnTo>
                <a:lnTo>
                  <a:pt x="628269" y="667130"/>
                </a:lnTo>
                <a:lnTo>
                  <a:pt x="682464" y="667130"/>
                </a:lnTo>
                <a:lnTo>
                  <a:pt x="683082" y="637793"/>
                </a:lnTo>
                <a:close/>
              </a:path>
              <a:path w="920750" h="950594">
                <a:moveTo>
                  <a:pt x="910581" y="620648"/>
                </a:moveTo>
                <a:lnTo>
                  <a:pt x="716152" y="620648"/>
                </a:lnTo>
                <a:lnTo>
                  <a:pt x="814959" y="662304"/>
                </a:lnTo>
                <a:lnTo>
                  <a:pt x="856742" y="689101"/>
                </a:lnTo>
                <a:lnTo>
                  <a:pt x="907288" y="662304"/>
                </a:lnTo>
                <a:lnTo>
                  <a:pt x="916051" y="635380"/>
                </a:lnTo>
                <a:lnTo>
                  <a:pt x="910581" y="620648"/>
                </a:lnTo>
                <a:close/>
              </a:path>
              <a:path w="920750" h="950594">
                <a:moveTo>
                  <a:pt x="712103" y="635380"/>
                </a:moveTo>
                <a:lnTo>
                  <a:pt x="683133" y="635380"/>
                </a:lnTo>
                <a:lnTo>
                  <a:pt x="707389" y="652525"/>
                </a:lnTo>
                <a:lnTo>
                  <a:pt x="712103" y="635380"/>
                </a:lnTo>
                <a:close/>
              </a:path>
              <a:path w="920750" h="950594">
                <a:moveTo>
                  <a:pt x="876554" y="366521"/>
                </a:moveTo>
                <a:lnTo>
                  <a:pt x="836930" y="371474"/>
                </a:lnTo>
                <a:lnTo>
                  <a:pt x="885433" y="371474"/>
                </a:lnTo>
                <a:lnTo>
                  <a:pt x="876554" y="366521"/>
                </a:lnTo>
                <a:close/>
              </a:path>
              <a:path w="920750" h="950594">
                <a:moveTo>
                  <a:pt x="801751" y="295655"/>
                </a:moveTo>
                <a:lnTo>
                  <a:pt x="727075" y="337184"/>
                </a:lnTo>
                <a:lnTo>
                  <a:pt x="821019" y="337184"/>
                </a:lnTo>
                <a:lnTo>
                  <a:pt x="801751" y="295655"/>
                </a:lnTo>
                <a:close/>
              </a:path>
              <a:path w="920750" h="950594">
                <a:moveTo>
                  <a:pt x="560197" y="236981"/>
                </a:moveTo>
                <a:lnTo>
                  <a:pt x="496443" y="273684"/>
                </a:lnTo>
                <a:lnTo>
                  <a:pt x="441579" y="273684"/>
                </a:lnTo>
                <a:lnTo>
                  <a:pt x="377825" y="298195"/>
                </a:lnTo>
                <a:lnTo>
                  <a:pt x="660367" y="298195"/>
                </a:lnTo>
                <a:lnTo>
                  <a:pt x="643636" y="288416"/>
                </a:lnTo>
                <a:lnTo>
                  <a:pt x="612901" y="256539"/>
                </a:lnTo>
                <a:lnTo>
                  <a:pt x="560197" y="236981"/>
                </a:lnTo>
                <a:close/>
              </a:path>
              <a:path w="920750" h="950594">
                <a:moveTo>
                  <a:pt x="430530" y="114807"/>
                </a:moveTo>
                <a:lnTo>
                  <a:pt x="397637" y="139318"/>
                </a:lnTo>
                <a:lnTo>
                  <a:pt x="497242" y="139318"/>
                </a:lnTo>
                <a:lnTo>
                  <a:pt x="476758" y="122173"/>
                </a:lnTo>
                <a:lnTo>
                  <a:pt x="430530" y="114807"/>
                </a:lnTo>
                <a:close/>
              </a:path>
              <a:path w="920750" h="950594">
                <a:moveTo>
                  <a:pt x="283337" y="0"/>
                </a:moveTo>
                <a:lnTo>
                  <a:pt x="213106" y="14604"/>
                </a:lnTo>
                <a:lnTo>
                  <a:pt x="173609" y="75818"/>
                </a:lnTo>
                <a:lnTo>
                  <a:pt x="153797" y="119760"/>
                </a:lnTo>
                <a:lnTo>
                  <a:pt x="394898" y="119760"/>
                </a:lnTo>
                <a:lnTo>
                  <a:pt x="393192" y="107568"/>
                </a:lnTo>
                <a:lnTo>
                  <a:pt x="371221" y="75818"/>
                </a:lnTo>
                <a:lnTo>
                  <a:pt x="362458" y="43941"/>
                </a:lnTo>
                <a:lnTo>
                  <a:pt x="333883" y="4825"/>
                </a:lnTo>
                <a:lnTo>
                  <a:pt x="283337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73291" y="1403006"/>
            <a:ext cx="339725" cy="806450"/>
          </a:xfrm>
          <a:custGeom>
            <a:avLst/>
            <a:gdLst/>
            <a:ahLst/>
            <a:cxnLst/>
            <a:rect l="l" t="t" r="r" b="b"/>
            <a:pathLst>
              <a:path w="339725" h="806450">
                <a:moveTo>
                  <a:pt x="0" y="806157"/>
                </a:moveTo>
                <a:lnTo>
                  <a:pt x="339521" y="806157"/>
                </a:lnTo>
                <a:lnTo>
                  <a:pt x="339521" y="0"/>
                </a:lnTo>
                <a:lnTo>
                  <a:pt x="0" y="0"/>
                </a:lnTo>
                <a:lnTo>
                  <a:pt x="0" y="80615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11619" y="1191132"/>
            <a:ext cx="212090" cy="1017905"/>
          </a:xfrm>
          <a:custGeom>
            <a:avLst/>
            <a:gdLst/>
            <a:ahLst/>
            <a:cxnLst/>
            <a:rect l="l" t="t" r="r" b="b"/>
            <a:pathLst>
              <a:path w="212089" h="1017905">
                <a:moveTo>
                  <a:pt x="211581" y="0"/>
                </a:moveTo>
                <a:lnTo>
                  <a:pt x="0" y="211200"/>
                </a:lnTo>
                <a:lnTo>
                  <a:pt x="0" y="1017777"/>
                </a:lnTo>
                <a:lnTo>
                  <a:pt x="211581" y="806576"/>
                </a:lnTo>
                <a:lnTo>
                  <a:pt x="21158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73291" y="1191132"/>
            <a:ext cx="550545" cy="212090"/>
          </a:xfrm>
          <a:custGeom>
            <a:avLst/>
            <a:gdLst/>
            <a:ahLst/>
            <a:cxnLst/>
            <a:rect l="l" t="t" r="r" b="b"/>
            <a:pathLst>
              <a:path w="550545" h="212090">
                <a:moveTo>
                  <a:pt x="550037" y="0"/>
                </a:moveTo>
                <a:lnTo>
                  <a:pt x="210947" y="0"/>
                </a:lnTo>
                <a:lnTo>
                  <a:pt x="0" y="211581"/>
                </a:lnTo>
                <a:lnTo>
                  <a:pt x="339090" y="211581"/>
                </a:lnTo>
                <a:lnTo>
                  <a:pt x="550037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774053" y="1191894"/>
            <a:ext cx="550545" cy="1017905"/>
          </a:xfrm>
          <a:custGeom>
            <a:avLst/>
            <a:gdLst/>
            <a:ahLst/>
            <a:cxnLst/>
            <a:rect l="l" t="t" r="r" b="b"/>
            <a:pathLst>
              <a:path w="550545" h="1017905">
                <a:moveTo>
                  <a:pt x="0" y="211200"/>
                </a:moveTo>
                <a:lnTo>
                  <a:pt x="210947" y="0"/>
                </a:lnTo>
                <a:lnTo>
                  <a:pt x="550037" y="0"/>
                </a:lnTo>
                <a:lnTo>
                  <a:pt x="550037" y="806576"/>
                </a:lnTo>
                <a:lnTo>
                  <a:pt x="339090" y="1017777"/>
                </a:lnTo>
                <a:lnTo>
                  <a:pt x="0" y="1017777"/>
                </a:lnTo>
                <a:lnTo>
                  <a:pt x="0" y="21120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74053" y="1191894"/>
            <a:ext cx="550545" cy="211454"/>
          </a:xfrm>
          <a:custGeom>
            <a:avLst/>
            <a:gdLst/>
            <a:ahLst/>
            <a:cxnLst/>
            <a:rect l="l" t="t" r="r" b="b"/>
            <a:pathLst>
              <a:path w="550545" h="211455">
                <a:moveTo>
                  <a:pt x="0" y="211200"/>
                </a:moveTo>
                <a:lnTo>
                  <a:pt x="339090" y="211200"/>
                </a:lnTo>
                <a:lnTo>
                  <a:pt x="5500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113143" y="1403095"/>
            <a:ext cx="0" cy="807085"/>
          </a:xfrm>
          <a:custGeom>
            <a:avLst/>
            <a:gdLst/>
            <a:ahLst/>
            <a:cxnLst/>
            <a:rect l="l" t="t" r="r" b="b"/>
            <a:pathLst>
              <a:path h="807085">
                <a:moveTo>
                  <a:pt x="0" y="0"/>
                </a:moveTo>
                <a:lnTo>
                  <a:pt x="0" y="80657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747129" y="2319019"/>
            <a:ext cx="54800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66675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Scores:  </a:t>
            </a:r>
            <a:r>
              <a:rPr sz="900" spc="25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428611" y="1774825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35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94728" y="1747394"/>
            <a:ext cx="71627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33616" y="1568830"/>
            <a:ext cx="4203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arg</a:t>
            </a:r>
            <a:r>
              <a:rPr sz="900" spc="25" dirty="0">
                <a:latin typeface="Arial"/>
                <a:cs typeface="Arial"/>
              </a:rPr>
              <a:t>m</a:t>
            </a:r>
            <a:r>
              <a:rPr sz="900" spc="15" dirty="0">
                <a:latin typeface="Arial"/>
                <a:cs typeface="Arial"/>
              </a:rPr>
              <a:t>ax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63560" y="2291841"/>
            <a:ext cx="6438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1925" marR="5080" indent="-14986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Pre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ct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6636" y="2653664"/>
            <a:ext cx="1511300" cy="4419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80"/>
              </a:spcBef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问题：处理过程中一直保持原 始分辨率，对于显存的需求会 非常庞大…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3876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语义分割思路：全卷积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837938" y="535305"/>
            <a:ext cx="261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解决方案：让整个网络只包含卷积层， 一次性输出所有像素的类别预测。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71941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6955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4556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69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9692" y="1144667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258952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0" y="203962"/>
                </a:lnTo>
                <a:lnTo>
                  <a:pt x="2589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0454" y="1145429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80" h="1016635">
                <a:moveTo>
                  <a:pt x="0" y="204470"/>
                </a:moveTo>
                <a:lnTo>
                  <a:pt x="203962" y="0"/>
                </a:lnTo>
                <a:lnTo>
                  <a:pt x="258952" y="0"/>
                </a:lnTo>
                <a:lnTo>
                  <a:pt x="258952" y="811656"/>
                </a:lnTo>
                <a:lnTo>
                  <a:pt x="54990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0454" y="1145429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0" y="204470"/>
                </a:moveTo>
                <a:lnTo>
                  <a:pt x="54990" y="204470"/>
                </a:lnTo>
                <a:lnTo>
                  <a:pt x="25895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5445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8296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140" y="1144667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40276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1038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4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41038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282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2864" y="1550115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456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2864" y="1391555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4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3626" y="1392317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4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3626" y="1392317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4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38345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75556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0148" y="1391555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8241" y="415162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5556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76318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76318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41799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78248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44364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78248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0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0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79010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0" y="0"/>
                </a:lnTo>
                <a:lnTo>
                  <a:pt x="322960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79010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0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44491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73320" y="1630810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583" y="243725"/>
                </a:lnTo>
                <a:lnTo>
                  <a:pt x="327583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99456" y="1524143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80" h="350519">
                <a:moveTo>
                  <a:pt x="106426" y="0"/>
                </a:moveTo>
                <a:lnTo>
                  <a:pt x="0" y="106172"/>
                </a:lnTo>
                <a:lnTo>
                  <a:pt x="0" y="350139"/>
                </a:lnTo>
                <a:lnTo>
                  <a:pt x="106426" y="243967"/>
                </a:lnTo>
                <a:lnTo>
                  <a:pt x="10642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73320" y="1524143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8" y="0"/>
                </a:moveTo>
                <a:lnTo>
                  <a:pt x="106553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74082" y="1524905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3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4082" y="1524905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01615" y="163107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31460" y="1630810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609" y="243725"/>
                </a:lnTo>
                <a:lnTo>
                  <a:pt x="327609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59120" y="1524143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79" h="350519">
                <a:moveTo>
                  <a:pt x="106425" y="0"/>
                </a:moveTo>
                <a:lnTo>
                  <a:pt x="0" y="106172"/>
                </a:lnTo>
                <a:lnTo>
                  <a:pt x="0" y="350139"/>
                </a:lnTo>
                <a:lnTo>
                  <a:pt x="106425" y="243967"/>
                </a:lnTo>
                <a:lnTo>
                  <a:pt x="106425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1460" y="1524143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9" y="0"/>
                </a:moveTo>
                <a:lnTo>
                  <a:pt x="106552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9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32222" y="1524905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2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32222" y="1524905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59755" y="163107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44464" y="1550115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7D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09056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44464" y="1391555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5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45226" y="1392317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5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45226" y="1392317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5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09944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47156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11748" y="1391555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8241" y="415162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47156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47918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47918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13399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49848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15963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49848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0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50610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0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50610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0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16091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52955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7DA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80556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70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925692" y="1144667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258953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1" y="203962"/>
                </a:lnTo>
                <a:lnTo>
                  <a:pt x="258953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926454" y="1145429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79" h="1016635">
                <a:moveTo>
                  <a:pt x="0" y="204470"/>
                </a:moveTo>
                <a:lnTo>
                  <a:pt x="203962" y="0"/>
                </a:lnTo>
                <a:lnTo>
                  <a:pt x="258953" y="0"/>
                </a:lnTo>
                <a:lnTo>
                  <a:pt x="258953" y="811656"/>
                </a:lnTo>
                <a:lnTo>
                  <a:pt x="54991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926454" y="1145429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0" y="204470"/>
                </a:moveTo>
                <a:lnTo>
                  <a:pt x="54991" y="204470"/>
                </a:lnTo>
                <a:lnTo>
                  <a:pt x="25895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981444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54296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81140" y="1144667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26275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2" y="0"/>
                </a:lnTo>
                <a:lnTo>
                  <a:pt x="0" y="203962"/>
                </a:lnTo>
                <a:lnTo>
                  <a:pt x="55245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27037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2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5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27037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5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82282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61412" y="1339739"/>
            <a:ext cx="119786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93440" y="2195084"/>
            <a:ext cx="53022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805040" y="1187403"/>
            <a:ext cx="1290955" cy="951230"/>
          </a:xfrm>
          <a:custGeom>
            <a:avLst/>
            <a:gdLst/>
            <a:ahLst/>
            <a:cxnLst/>
            <a:rect l="l" t="t" r="r" b="b"/>
            <a:pathLst>
              <a:path w="1290954" h="951230">
                <a:moveTo>
                  <a:pt x="0" y="950658"/>
                </a:moveTo>
                <a:lnTo>
                  <a:pt x="1290700" y="950658"/>
                </a:lnTo>
                <a:lnTo>
                  <a:pt x="1290700" y="0"/>
                </a:lnTo>
                <a:lnTo>
                  <a:pt x="0" y="0"/>
                </a:lnTo>
                <a:lnTo>
                  <a:pt x="0" y="950658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06563" y="1547003"/>
            <a:ext cx="1287780" cy="594360"/>
          </a:xfrm>
          <a:custGeom>
            <a:avLst/>
            <a:gdLst/>
            <a:ahLst/>
            <a:cxnLst/>
            <a:rect l="l" t="t" r="r" b="b"/>
            <a:pathLst>
              <a:path w="1287779" h="594360">
                <a:moveTo>
                  <a:pt x="0" y="0"/>
                </a:moveTo>
                <a:lnTo>
                  <a:pt x="0" y="594232"/>
                </a:lnTo>
                <a:lnTo>
                  <a:pt x="1287526" y="591820"/>
                </a:lnTo>
                <a:lnTo>
                  <a:pt x="1285239" y="151637"/>
                </a:lnTo>
                <a:lnTo>
                  <a:pt x="1008507" y="129666"/>
                </a:lnTo>
                <a:lnTo>
                  <a:pt x="264037" y="46481"/>
                </a:lnTo>
                <a:lnTo>
                  <a:pt x="120776" y="46481"/>
                </a:lnTo>
                <a:lnTo>
                  <a:pt x="24130" y="19557"/>
                </a:lnTo>
                <a:lnTo>
                  <a:pt x="37337" y="4952"/>
                </a:lnTo>
                <a:lnTo>
                  <a:pt x="0" y="0"/>
                </a:lnTo>
                <a:close/>
              </a:path>
              <a:path w="1287779" h="594360">
                <a:moveTo>
                  <a:pt x="103250" y="4952"/>
                </a:moveTo>
                <a:lnTo>
                  <a:pt x="120776" y="46481"/>
                </a:lnTo>
                <a:lnTo>
                  <a:pt x="264037" y="46481"/>
                </a:lnTo>
                <a:lnTo>
                  <a:pt x="219710" y="41528"/>
                </a:lnTo>
                <a:lnTo>
                  <a:pt x="103250" y="495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08087" y="1184291"/>
            <a:ext cx="1285875" cy="523875"/>
          </a:xfrm>
          <a:custGeom>
            <a:avLst/>
            <a:gdLst/>
            <a:ahLst/>
            <a:cxnLst/>
            <a:rect l="l" t="t" r="r" b="b"/>
            <a:pathLst>
              <a:path w="1285875" h="523875">
                <a:moveTo>
                  <a:pt x="775970" y="0"/>
                </a:moveTo>
                <a:lnTo>
                  <a:pt x="21971" y="0"/>
                </a:lnTo>
                <a:lnTo>
                  <a:pt x="26415" y="24511"/>
                </a:lnTo>
                <a:lnTo>
                  <a:pt x="0" y="49022"/>
                </a:lnTo>
                <a:lnTo>
                  <a:pt x="0" y="494538"/>
                </a:lnTo>
                <a:lnTo>
                  <a:pt x="1285875" y="523875"/>
                </a:lnTo>
                <a:lnTo>
                  <a:pt x="1285875" y="367284"/>
                </a:lnTo>
                <a:lnTo>
                  <a:pt x="932052" y="367284"/>
                </a:lnTo>
                <a:lnTo>
                  <a:pt x="933414" y="362331"/>
                </a:lnTo>
                <a:lnTo>
                  <a:pt x="870458" y="362331"/>
                </a:lnTo>
                <a:lnTo>
                  <a:pt x="655065" y="283972"/>
                </a:lnTo>
                <a:lnTo>
                  <a:pt x="635253" y="232537"/>
                </a:lnTo>
                <a:lnTo>
                  <a:pt x="720978" y="220345"/>
                </a:lnTo>
                <a:lnTo>
                  <a:pt x="734187" y="166497"/>
                </a:lnTo>
                <a:lnTo>
                  <a:pt x="758316" y="127253"/>
                </a:lnTo>
                <a:lnTo>
                  <a:pt x="802259" y="122427"/>
                </a:lnTo>
                <a:lnTo>
                  <a:pt x="775970" y="66167"/>
                </a:lnTo>
                <a:lnTo>
                  <a:pt x="764921" y="24511"/>
                </a:lnTo>
                <a:lnTo>
                  <a:pt x="775970" y="0"/>
                </a:lnTo>
                <a:close/>
              </a:path>
              <a:path w="1285875" h="523875">
                <a:moveTo>
                  <a:pt x="1033145" y="252222"/>
                </a:moveTo>
                <a:lnTo>
                  <a:pt x="932052" y="367284"/>
                </a:lnTo>
                <a:lnTo>
                  <a:pt x="1285875" y="367284"/>
                </a:lnTo>
                <a:lnTo>
                  <a:pt x="1285875" y="337820"/>
                </a:lnTo>
                <a:lnTo>
                  <a:pt x="1204595" y="337820"/>
                </a:lnTo>
                <a:lnTo>
                  <a:pt x="1191352" y="328041"/>
                </a:lnTo>
                <a:lnTo>
                  <a:pt x="1140840" y="328041"/>
                </a:lnTo>
                <a:lnTo>
                  <a:pt x="1130934" y="293750"/>
                </a:lnTo>
                <a:lnTo>
                  <a:pt x="1107821" y="293750"/>
                </a:lnTo>
                <a:lnTo>
                  <a:pt x="1033145" y="252222"/>
                </a:lnTo>
                <a:close/>
              </a:path>
              <a:path w="1285875" h="523875">
                <a:moveTo>
                  <a:pt x="887984" y="257048"/>
                </a:moveTo>
                <a:lnTo>
                  <a:pt x="868299" y="323215"/>
                </a:lnTo>
                <a:lnTo>
                  <a:pt x="870458" y="362331"/>
                </a:lnTo>
                <a:lnTo>
                  <a:pt x="933414" y="362331"/>
                </a:lnTo>
                <a:lnTo>
                  <a:pt x="945529" y="318262"/>
                </a:lnTo>
                <a:lnTo>
                  <a:pt x="907796" y="318262"/>
                </a:lnTo>
                <a:lnTo>
                  <a:pt x="887984" y="257048"/>
                </a:lnTo>
                <a:close/>
              </a:path>
              <a:path w="1285875" h="523875">
                <a:moveTo>
                  <a:pt x="1285875" y="298703"/>
                </a:moveTo>
                <a:lnTo>
                  <a:pt x="1237488" y="298703"/>
                </a:lnTo>
                <a:lnTo>
                  <a:pt x="1204595" y="337820"/>
                </a:lnTo>
                <a:lnTo>
                  <a:pt x="1285875" y="337820"/>
                </a:lnTo>
                <a:lnTo>
                  <a:pt x="1285875" y="298703"/>
                </a:lnTo>
                <a:close/>
              </a:path>
              <a:path w="1285875" h="523875">
                <a:moveTo>
                  <a:pt x="1171575" y="313436"/>
                </a:moveTo>
                <a:lnTo>
                  <a:pt x="1140840" y="328041"/>
                </a:lnTo>
                <a:lnTo>
                  <a:pt x="1191352" y="328041"/>
                </a:lnTo>
                <a:lnTo>
                  <a:pt x="1171575" y="313436"/>
                </a:lnTo>
                <a:close/>
              </a:path>
              <a:path w="1285875" h="523875">
                <a:moveTo>
                  <a:pt x="929766" y="252222"/>
                </a:moveTo>
                <a:lnTo>
                  <a:pt x="907796" y="318262"/>
                </a:lnTo>
                <a:lnTo>
                  <a:pt x="945529" y="318262"/>
                </a:lnTo>
                <a:lnTo>
                  <a:pt x="949578" y="303529"/>
                </a:lnTo>
                <a:lnTo>
                  <a:pt x="929766" y="252222"/>
                </a:lnTo>
                <a:close/>
              </a:path>
              <a:path w="1285875" h="523875">
                <a:moveTo>
                  <a:pt x="1121028" y="259461"/>
                </a:moveTo>
                <a:lnTo>
                  <a:pt x="1107821" y="293750"/>
                </a:lnTo>
                <a:lnTo>
                  <a:pt x="1130934" y="293750"/>
                </a:lnTo>
                <a:lnTo>
                  <a:pt x="1121028" y="25946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57440" y="1191911"/>
            <a:ext cx="920750" cy="950594"/>
          </a:xfrm>
          <a:custGeom>
            <a:avLst/>
            <a:gdLst/>
            <a:ahLst/>
            <a:cxnLst/>
            <a:rect l="l" t="t" r="r" b="b"/>
            <a:pathLst>
              <a:path w="920750" h="950594">
                <a:moveTo>
                  <a:pt x="388189" y="637794"/>
                </a:moveTo>
                <a:lnTo>
                  <a:pt x="311912" y="637794"/>
                </a:lnTo>
                <a:lnTo>
                  <a:pt x="322961" y="740409"/>
                </a:lnTo>
                <a:lnTo>
                  <a:pt x="347090" y="830833"/>
                </a:lnTo>
                <a:lnTo>
                  <a:pt x="362458" y="950595"/>
                </a:lnTo>
                <a:lnTo>
                  <a:pt x="423925" y="945769"/>
                </a:lnTo>
                <a:lnTo>
                  <a:pt x="401955" y="877316"/>
                </a:lnTo>
                <a:lnTo>
                  <a:pt x="388874" y="821054"/>
                </a:lnTo>
                <a:lnTo>
                  <a:pt x="395477" y="777113"/>
                </a:lnTo>
                <a:lnTo>
                  <a:pt x="386588" y="723392"/>
                </a:lnTo>
                <a:lnTo>
                  <a:pt x="388189" y="637794"/>
                </a:lnTo>
                <a:close/>
              </a:path>
              <a:path w="920750" h="950594">
                <a:moveTo>
                  <a:pt x="85725" y="92837"/>
                </a:moveTo>
                <a:lnTo>
                  <a:pt x="28575" y="95250"/>
                </a:lnTo>
                <a:lnTo>
                  <a:pt x="0" y="127126"/>
                </a:lnTo>
                <a:lnTo>
                  <a:pt x="24130" y="173481"/>
                </a:lnTo>
                <a:lnTo>
                  <a:pt x="70358" y="219964"/>
                </a:lnTo>
                <a:lnTo>
                  <a:pt x="94487" y="224790"/>
                </a:lnTo>
                <a:lnTo>
                  <a:pt x="74675" y="254126"/>
                </a:lnTo>
                <a:lnTo>
                  <a:pt x="83438" y="317626"/>
                </a:lnTo>
                <a:lnTo>
                  <a:pt x="76835" y="359282"/>
                </a:lnTo>
                <a:lnTo>
                  <a:pt x="72517" y="439927"/>
                </a:lnTo>
                <a:lnTo>
                  <a:pt x="90043" y="535177"/>
                </a:lnTo>
                <a:lnTo>
                  <a:pt x="118618" y="566927"/>
                </a:lnTo>
                <a:lnTo>
                  <a:pt x="138430" y="662304"/>
                </a:lnTo>
                <a:lnTo>
                  <a:pt x="140588" y="747776"/>
                </a:lnTo>
                <a:lnTo>
                  <a:pt x="142748" y="813816"/>
                </a:lnTo>
                <a:lnTo>
                  <a:pt x="125222" y="889507"/>
                </a:lnTo>
                <a:lnTo>
                  <a:pt x="109855" y="943355"/>
                </a:lnTo>
                <a:lnTo>
                  <a:pt x="182372" y="948181"/>
                </a:lnTo>
                <a:lnTo>
                  <a:pt x="180086" y="882269"/>
                </a:lnTo>
                <a:lnTo>
                  <a:pt x="180086" y="796671"/>
                </a:lnTo>
                <a:lnTo>
                  <a:pt x="204743" y="796671"/>
                </a:lnTo>
                <a:lnTo>
                  <a:pt x="197738" y="767333"/>
                </a:lnTo>
                <a:lnTo>
                  <a:pt x="204343" y="708659"/>
                </a:lnTo>
                <a:lnTo>
                  <a:pt x="195580" y="642747"/>
                </a:lnTo>
                <a:lnTo>
                  <a:pt x="199898" y="610997"/>
                </a:lnTo>
                <a:lnTo>
                  <a:pt x="388691" y="610997"/>
                </a:lnTo>
                <a:lnTo>
                  <a:pt x="388874" y="601218"/>
                </a:lnTo>
                <a:lnTo>
                  <a:pt x="425040" y="601218"/>
                </a:lnTo>
                <a:lnTo>
                  <a:pt x="423925" y="596265"/>
                </a:lnTo>
                <a:lnTo>
                  <a:pt x="901527" y="596265"/>
                </a:lnTo>
                <a:lnTo>
                  <a:pt x="858901" y="481456"/>
                </a:lnTo>
                <a:lnTo>
                  <a:pt x="869950" y="439927"/>
                </a:lnTo>
                <a:lnTo>
                  <a:pt x="909447" y="430149"/>
                </a:lnTo>
                <a:lnTo>
                  <a:pt x="920496" y="391032"/>
                </a:lnTo>
                <a:lnTo>
                  <a:pt x="885433" y="371475"/>
                </a:lnTo>
                <a:lnTo>
                  <a:pt x="836930" y="371475"/>
                </a:lnTo>
                <a:lnTo>
                  <a:pt x="821019" y="337184"/>
                </a:lnTo>
                <a:lnTo>
                  <a:pt x="727075" y="337184"/>
                </a:lnTo>
                <a:lnTo>
                  <a:pt x="660367" y="298196"/>
                </a:lnTo>
                <a:lnTo>
                  <a:pt x="377825" y="298196"/>
                </a:lnTo>
                <a:lnTo>
                  <a:pt x="380111" y="256540"/>
                </a:lnTo>
                <a:lnTo>
                  <a:pt x="430530" y="249300"/>
                </a:lnTo>
                <a:lnTo>
                  <a:pt x="503047" y="180848"/>
                </a:lnTo>
                <a:lnTo>
                  <a:pt x="511810" y="151511"/>
                </a:lnTo>
                <a:lnTo>
                  <a:pt x="497242" y="139319"/>
                </a:lnTo>
                <a:lnTo>
                  <a:pt x="397637" y="139319"/>
                </a:lnTo>
                <a:lnTo>
                  <a:pt x="394898" y="119761"/>
                </a:lnTo>
                <a:lnTo>
                  <a:pt x="153797" y="119761"/>
                </a:lnTo>
                <a:lnTo>
                  <a:pt x="85725" y="92837"/>
                </a:lnTo>
                <a:close/>
              </a:path>
              <a:path w="920750" h="950594">
                <a:moveTo>
                  <a:pt x="901527" y="596265"/>
                </a:moveTo>
                <a:lnTo>
                  <a:pt x="423925" y="596265"/>
                </a:lnTo>
                <a:lnTo>
                  <a:pt x="470154" y="598677"/>
                </a:lnTo>
                <a:lnTo>
                  <a:pt x="494284" y="728218"/>
                </a:lnTo>
                <a:lnTo>
                  <a:pt x="496443" y="759968"/>
                </a:lnTo>
                <a:lnTo>
                  <a:pt x="507492" y="772287"/>
                </a:lnTo>
                <a:lnTo>
                  <a:pt x="500888" y="862711"/>
                </a:lnTo>
                <a:lnTo>
                  <a:pt x="509650" y="894461"/>
                </a:lnTo>
                <a:lnTo>
                  <a:pt x="511810" y="931037"/>
                </a:lnTo>
                <a:lnTo>
                  <a:pt x="564514" y="935990"/>
                </a:lnTo>
                <a:lnTo>
                  <a:pt x="553593" y="877316"/>
                </a:lnTo>
                <a:lnTo>
                  <a:pt x="533781" y="791845"/>
                </a:lnTo>
                <a:lnTo>
                  <a:pt x="553593" y="730630"/>
                </a:lnTo>
                <a:lnTo>
                  <a:pt x="533781" y="637794"/>
                </a:lnTo>
                <a:lnTo>
                  <a:pt x="683082" y="637794"/>
                </a:lnTo>
                <a:lnTo>
                  <a:pt x="683133" y="635380"/>
                </a:lnTo>
                <a:lnTo>
                  <a:pt x="712103" y="635380"/>
                </a:lnTo>
                <a:lnTo>
                  <a:pt x="716152" y="620649"/>
                </a:lnTo>
                <a:lnTo>
                  <a:pt x="910581" y="620649"/>
                </a:lnTo>
                <a:lnTo>
                  <a:pt x="901527" y="596265"/>
                </a:lnTo>
                <a:close/>
              </a:path>
              <a:path w="920750" h="950594">
                <a:moveTo>
                  <a:pt x="682464" y="667130"/>
                </a:moveTo>
                <a:lnTo>
                  <a:pt x="628269" y="667130"/>
                </a:lnTo>
                <a:lnTo>
                  <a:pt x="630427" y="750189"/>
                </a:lnTo>
                <a:lnTo>
                  <a:pt x="648081" y="806450"/>
                </a:lnTo>
                <a:lnTo>
                  <a:pt x="656844" y="891921"/>
                </a:lnTo>
                <a:lnTo>
                  <a:pt x="672211" y="926211"/>
                </a:lnTo>
                <a:lnTo>
                  <a:pt x="705104" y="931037"/>
                </a:lnTo>
                <a:lnTo>
                  <a:pt x="713994" y="899287"/>
                </a:lnTo>
                <a:lnTo>
                  <a:pt x="678814" y="806450"/>
                </a:lnTo>
                <a:lnTo>
                  <a:pt x="680974" y="737997"/>
                </a:lnTo>
                <a:lnTo>
                  <a:pt x="682464" y="667130"/>
                </a:lnTo>
                <a:close/>
              </a:path>
              <a:path w="920750" h="950594">
                <a:moveTo>
                  <a:pt x="204743" y="796671"/>
                </a:moveTo>
                <a:lnTo>
                  <a:pt x="180086" y="796671"/>
                </a:lnTo>
                <a:lnTo>
                  <a:pt x="206501" y="804037"/>
                </a:lnTo>
                <a:lnTo>
                  <a:pt x="204743" y="796671"/>
                </a:lnTo>
                <a:close/>
              </a:path>
              <a:path w="920750" h="950594">
                <a:moveTo>
                  <a:pt x="425040" y="601218"/>
                </a:moveTo>
                <a:lnTo>
                  <a:pt x="388874" y="601218"/>
                </a:lnTo>
                <a:lnTo>
                  <a:pt x="401955" y="708659"/>
                </a:lnTo>
                <a:lnTo>
                  <a:pt x="404240" y="782066"/>
                </a:lnTo>
                <a:lnTo>
                  <a:pt x="434975" y="774700"/>
                </a:lnTo>
                <a:lnTo>
                  <a:pt x="421767" y="669544"/>
                </a:lnTo>
                <a:lnTo>
                  <a:pt x="430530" y="625601"/>
                </a:lnTo>
                <a:lnTo>
                  <a:pt x="425040" y="601218"/>
                </a:lnTo>
                <a:close/>
              </a:path>
              <a:path w="920750" h="950594">
                <a:moveTo>
                  <a:pt x="388691" y="610997"/>
                </a:moveTo>
                <a:lnTo>
                  <a:pt x="199898" y="610997"/>
                </a:lnTo>
                <a:lnTo>
                  <a:pt x="217550" y="654939"/>
                </a:lnTo>
                <a:lnTo>
                  <a:pt x="221869" y="716026"/>
                </a:lnTo>
                <a:lnTo>
                  <a:pt x="219710" y="764921"/>
                </a:lnTo>
                <a:lnTo>
                  <a:pt x="239395" y="769747"/>
                </a:lnTo>
                <a:lnTo>
                  <a:pt x="265811" y="759968"/>
                </a:lnTo>
                <a:lnTo>
                  <a:pt x="250444" y="694054"/>
                </a:lnTo>
                <a:lnTo>
                  <a:pt x="278841" y="694054"/>
                </a:lnTo>
                <a:lnTo>
                  <a:pt x="311912" y="637794"/>
                </a:lnTo>
                <a:lnTo>
                  <a:pt x="388189" y="637794"/>
                </a:lnTo>
                <a:lnTo>
                  <a:pt x="388691" y="610997"/>
                </a:lnTo>
                <a:close/>
              </a:path>
              <a:path w="920750" h="950594">
                <a:moveTo>
                  <a:pt x="278841" y="694054"/>
                </a:moveTo>
                <a:lnTo>
                  <a:pt x="250444" y="694054"/>
                </a:lnTo>
                <a:lnTo>
                  <a:pt x="270256" y="708659"/>
                </a:lnTo>
                <a:lnTo>
                  <a:pt x="278841" y="694054"/>
                </a:lnTo>
                <a:close/>
              </a:path>
              <a:path w="920750" h="950594">
                <a:moveTo>
                  <a:pt x="683082" y="637794"/>
                </a:moveTo>
                <a:lnTo>
                  <a:pt x="533781" y="637794"/>
                </a:lnTo>
                <a:lnTo>
                  <a:pt x="571119" y="694054"/>
                </a:lnTo>
                <a:lnTo>
                  <a:pt x="604138" y="703833"/>
                </a:lnTo>
                <a:lnTo>
                  <a:pt x="628269" y="667130"/>
                </a:lnTo>
                <a:lnTo>
                  <a:pt x="682464" y="667130"/>
                </a:lnTo>
                <a:lnTo>
                  <a:pt x="683082" y="637794"/>
                </a:lnTo>
                <a:close/>
              </a:path>
              <a:path w="920750" h="950594">
                <a:moveTo>
                  <a:pt x="910581" y="620649"/>
                </a:moveTo>
                <a:lnTo>
                  <a:pt x="716152" y="620649"/>
                </a:lnTo>
                <a:lnTo>
                  <a:pt x="814959" y="662304"/>
                </a:lnTo>
                <a:lnTo>
                  <a:pt x="856742" y="689101"/>
                </a:lnTo>
                <a:lnTo>
                  <a:pt x="907288" y="662304"/>
                </a:lnTo>
                <a:lnTo>
                  <a:pt x="916051" y="635380"/>
                </a:lnTo>
                <a:lnTo>
                  <a:pt x="910581" y="620649"/>
                </a:lnTo>
                <a:close/>
              </a:path>
              <a:path w="920750" h="950594">
                <a:moveTo>
                  <a:pt x="712103" y="635380"/>
                </a:moveTo>
                <a:lnTo>
                  <a:pt x="683133" y="635380"/>
                </a:lnTo>
                <a:lnTo>
                  <a:pt x="707389" y="652526"/>
                </a:lnTo>
                <a:lnTo>
                  <a:pt x="712103" y="635380"/>
                </a:lnTo>
                <a:close/>
              </a:path>
              <a:path w="920750" h="950594">
                <a:moveTo>
                  <a:pt x="876554" y="366522"/>
                </a:moveTo>
                <a:lnTo>
                  <a:pt x="836930" y="371475"/>
                </a:lnTo>
                <a:lnTo>
                  <a:pt x="885433" y="371475"/>
                </a:lnTo>
                <a:lnTo>
                  <a:pt x="876554" y="366522"/>
                </a:lnTo>
                <a:close/>
              </a:path>
              <a:path w="920750" h="950594">
                <a:moveTo>
                  <a:pt x="801751" y="295655"/>
                </a:moveTo>
                <a:lnTo>
                  <a:pt x="727075" y="337184"/>
                </a:lnTo>
                <a:lnTo>
                  <a:pt x="821019" y="337184"/>
                </a:lnTo>
                <a:lnTo>
                  <a:pt x="801751" y="295655"/>
                </a:lnTo>
                <a:close/>
              </a:path>
              <a:path w="920750" h="950594">
                <a:moveTo>
                  <a:pt x="560197" y="236981"/>
                </a:moveTo>
                <a:lnTo>
                  <a:pt x="496443" y="273684"/>
                </a:lnTo>
                <a:lnTo>
                  <a:pt x="441579" y="273684"/>
                </a:lnTo>
                <a:lnTo>
                  <a:pt x="377825" y="298196"/>
                </a:lnTo>
                <a:lnTo>
                  <a:pt x="660367" y="298196"/>
                </a:lnTo>
                <a:lnTo>
                  <a:pt x="643636" y="288417"/>
                </a:lnTo>
                <a:lnTo>
                  <a:pt x="612901" y="256540"/>
                </a:lnTo>
                <a:lnTo>
                  <a:pt x="560197" y="236981"/>
                </a:lnTo>
                <a:close/>
              </a:path>
              <a:path w="920750" h="950594">
                <a:moveTo>
                  <a:pt x="430530" y="114807"/>
                </a:moveTo>
                <a:lnTo>
                  <a:pt x="397637" y="139319"/>
                </a:lnTo>
                <a:lnTo>
                  <a:pt x="497242" y="139319"/>
                </a:lnTo>
                <a:lnTo>
                  <a:pt x="476758" y="122174"/>
                </a:lnTo>
                <a:lnTo>
                  <a:pt x="430530" y="114807"/>
                </a:lnTo>
                <a:close/>
              </a:path>
              <a:path w="920750" h="950594">
                <a:moveTo>
                  <a:pt x="283337" y="0"/>
                </a:moveTo>
                <a:lnTo>
                  <a:pt x="213106" y="14604"/>
                </a:lnTo>
                <a:lnTo>
                  <a:pt x="173609" y="75819"/>
                </a:lnTo>
                <a:lnTo>
                  <a:pt x="153797" y="119761"/>
                </a:lnTo>
                <a:lnTo>
                  <a:pt x="394898" y="119761"/>
                </a:lnTo>
                <a:lnTo>
                  <a:pt x="393192" y="107569"/>
                </a:lnTo>
                <a:lnTo>
                  <a:pt x="371221" y="75819"/>
                </a:lnTo>
                <a:lnTo>
                  <a:pt x="362458" y="43942"/>
                </a:lnTo>
                <a:lnTo>
                  <a:pt x="333883" y="4825"/>
                </a:lnTo>
                <a:lnTo>
                  <a:pt x="283337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163561" y="2269125"/>
            <a:ext cx="6438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1925" marR="5080" indent="-14986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Pre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ct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30447" y="2221881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90742" y="2221881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50918" y="1053989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32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168645" y="1053989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955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482845" y="1898539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5494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Low-res: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7777" dirty="0">
                <a:latin typeface="Arial"/>
                <a:cs typeface="Arial"/>
              </a:rPr>
              <a:t>3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3876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语义分割思路：全卷积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1816603" y="424577"/>
            <a:ext cx="2616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解决方案：让整个网络只包含卷积层， 并在网络中嵌入</a:t>
            </a: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下采样</a:t>
            </a:r>
            <a:r>
              <a:rPr sz="1200" dirty="0">
                <a:latin typeface="微软雅黑"/>
                <a:cs typeface="微软雅黑"/>
              </a:rPr>
              <a:t>与</a:t>
            </a:r>
            <a:r>
              <a:rPr sz="1200" b="1" dirty="0">
                <a:solidFill>
                  <a:srgbClr val="0000FF"/>
                </a:solidFill>
                <a:latin typeface="微软雅黑"/>
                <a:cs typeface="微软雅黑"/>
              </a:rPr>
              <a:t>上采样</a:t>
            </a:r>
            <a:r>
              <a:rPr sz="1200" dirty="0">
                <a:latin typeface="微软雅黑"/>
                <a:cs typeface="微软雅黑"/>
              </a:rPr>
              <a:t>过程。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0929" y="2867752"/>
            <a:ext cx="400431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66469">
              <a:lnSpc>
                <a:spcPct val="124000"/>
              </a:lnSpc>
              <a:spcBef>
                <a:spcPts val="95"/>
              </a:spcBef>
            </a:pPr>
            <a:r>
              <a:rPr sz="500" spc="5" dirty="0">
                <a:latin typeface="Arial"/>
                <a:cs typeface="Arial"/>
              </a:rPr>
              <a:t>Long, </a:t>
            </a:r>
            <a:r>
              <a:rPr sz="500" dirty="0">
                <a:latin typeface="Arial"/>
                <a:cs typeface="Arial"/>
              </a:rPr>
              <a:t>Shelhamer, </a:t>
            </a:r>
            <a:r>
              <a:rPr sz="500" spc="5" dirty="0">
                <a:latin typeface="Arial"/>
                <a:cs typeface="Arial"/>
              </a:rPr>
              <a:t>and Darrell, </a:t>
            </a:r>
            <a:r>
              <a:rPr sz="500" spc="10" dirty="0">
                <a:latin typeface="Arial"/>
                <a:cs typeface="Arial"/>
              </a:rPr>
              <a:t>“Fully </a:t>
            </a:r>
            <a:r>
              <a:rPr sz="500" spc="5" dirty="0">
                <a:latin typeface="Arial"/>
                <a:cs typeface="Arial"/>
              </a:rPr>
              <a:t>Convolutional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Noh </a:t>
            </a:r>
            <a:r>
              <a:rPr sz="500" spc="5" dirty="0">
                <a:latin typeface="Arial"/>
                <a:cs typeface="Arial"/>
              </a:rPr>
              <a:t>et al, “Learning Deconvolution </a:t>
            </a:r>
            <a:r>
              <a:rPr sz="500" spc="10" dirty="0">
                <a:latin typeface="Arial"/>
                <a:cs typeface="Arial"/>
              </a:rPr>
              <a:t>Network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5" dirty="0">
                <a:latin typeface="Arial"/>
                <a:cs typeface="Arial"/>
              </a:rPr>
              <a:t> 2015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tabLst>
                <a:tab pos="243586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6955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4555" y="1166748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69" h="1016635">
                <a:moveTo>
                  <a:pt x="203962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9691" y="1166748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258952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0" y="203962"/>
                </a:lnTo>
                <a:lnTo>
                  <a:pt x="2589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0453" y="1167510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80" h="1016635">
                <a:moveTo>
                  <a:pt x="0" y="204470"/>
                </a:moveTo>
                <a:lnTo>
                  <a:pt x="203962" y="0"/>
                </a:lnTo>
                <a:lnTo>
                  <a:pt x="258952" y="0"/>
                </a:lnTo>
                <a:lnTo>
                  <a:pt x="258952" y="811657"/>
                </a:lnTo>
                <a:lnTo>
                  <a:pt x="54990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0453" y="1167510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0" y="204470"/>
                </a:moveTo>
                <a:lnTo>
                  <a:pt x="54990" y="204470"/>
                </a:lnTo>
                <a:lnTo>
                  <a:pt x="25895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5444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8296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139" y="1166748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40275" y="1166748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1037" y="1167510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7"/>
                </a:lnTo>
                <a:lnTo>
                  <a:pt x="55244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41037" y="1167510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282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2863" y="1572196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455" y="1413636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6718" y="415163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2863" y="1413636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4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3625" y="1414398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4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3625" y="1414398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4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38344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75555" y="1572196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0147" y="1413636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8241" y="415163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5555" y="1413636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76317" y="1414398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76317" y="1414398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41799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78247" y="1572196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44363" y="1413636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6718" y="415163"/>
                </a:lnTo>
                <a:lnTo>
                  <a:pt x="156718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78247" y="1413636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0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0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79009" y="1414398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0" y="0"/>
                </a:lnTo>
                <a:lnTo>
                  <a:pt x="322960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79009" y="1414398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0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44490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73319" y="1652892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583" y="243725"/>
                </a:lnTo>
                <a:lnTo>
                  <a:pt x="327583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99455" y="1546224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80" h="350519">
                <a:moveTo>
                  <a:pt x="106426" y="0"/>
                </a:moveTo>
                <a:lnTo>
                  <a:pt x="0" y="106172"/>
                </a:lnTo>
                <a:lnTo>
                  <a:pt x="0" y="350138"/>
                </a:lnTo>
                <a:lnTo>
                  <a:pt x="106426" y="243967"/>
                </a:lnTo>
                <a:lnTo>
                  <a:pt x="10642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73319" y="1546224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8" y="0"/>
                </a:moveTo>
                <a:lnTo>
                  <a:pt x="106553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74081" y="1546986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3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4081" y="1546986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01614" y="1653158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31459" y="1652892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609" y="243725"/>
                </a:lnTo>
                <a:lnTo>
                  <a:pt x="327609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59119" y="1546224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79" h="350519">
                <a:moveTo>
                  <a:pt x="106425" y="0"/>
                </a:moveTo>
                <a:lnTo>
                  <a:pt x="0" y="106172"/>
                </a:lnTo>
                <a:lnTo>
                  <a:pt x="0" y="350138"/>
                </a:lnTo>
                <a:lnTo>
                  <a:pt x="106425" y="243967"/>
                </a:lnTo>
                <a:lnTo>
                  <a:pt x="106425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1459" y="1546224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9" y="0"/>
                </a:moveTo>
                <a:lnTo>
                  <a:pt x="106552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9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32221" y="1546986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2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32221" y="1546986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59755" y="1653158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44463" y="1572196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7D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09055" y="1413636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6718" y="415163"/>
                </a:lnTo>
                <a:lnTo>
                  <a:pt x="156718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44463" y="1413636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5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45225" y="1414398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5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45225" y="1414398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5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09944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47155" y="1572196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11747" y="1413636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8241" y="415163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47155" y="1413636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47917" y="1414398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47917" y="1414398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13398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49847" y="1572196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15963" y="1413636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80"/>
                </a:lnTo>
                <a:lnTo>
                  <a:pt x="0" y="572643"/>
                </a:lnTo>
                <a:lnTo>
                  <a:pt x="156718" y="415163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49847" y="1413636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0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50610" y="1414398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0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50610" y="1414398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0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16091" y="1571878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52955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7DA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80555" y="1166748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70" h="1016635">
                <a:moveTo>
                  <a:pt x="203962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925691" y="1166748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258953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1" y="203962"/>
                </a:lnTo>
                <a:lnTo>
                  <a:pt x="258953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926453" y="1167510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79" h="1016635">
                <a:moveTo>
                  <a:pt x="0" y="204470"/>
                </a:moveTo>
                <a:lnTo>
                  <a:pt x="203962" y="0"/>
                </a:lnTo>
                <a:lnTo>
                  <a:pt x="258953" y="0"/>
                </a:lnTo>
                <a:lnTo>
                  <a:pt x="258953" y="811657"/>
                </a:lnTo>
                <a:lnTo>
                  <a:pt x="54991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926453" y="1167510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0" y="204470"/>
                </a:moveTo>
                <a:lnTo>
                  <a:pt x="54991" y="204470"/>
                </a:lnTo>
                <a:lnTo>
                  <a:pt x="25895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981444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54296" y="1371028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81140" y="1166748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4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26275" y="1166748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2" y="0"/>
                </a:lnTo>
                <a:lnTo>
                  <a:pt x="0" y="203962"/>
                </a:lnTo>
                <a:lnTo>
                  <a:pt x="55245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27037" y="1167510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2" y="0"/>
                </a:lnTo>
                <a:lnTo>
                  <a:pt x="260476" y="0"/>
                </a:lnTo>
                <a:lnTo>
                  <a:pt x="260476" y="811657"/>
                </a:lnTo>
                <a:lnTo>
                  <a:pt x="55245" y="1016254"/>
                </a:lnTo>
                <a:lnTo>
                  <a:pt x="0" y="1016254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27037" y="1167510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5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82282" y="137198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61411" y="1361820"/>
            <a:ext cx="119786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93440" y="2217800"/>
            <a:ext cx="53022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805040" y="1209484"/>
            <a:ext cx="1290955" cy="951230"/>
          </a:xfrm>
          <a:custGeom>
            <a:avLst/>
            <a:gdLst/>
            <a:ahLst/>
            <a:cxnLst/>
            <a:rect l="l" t="t" r="r" b="b"/>
            <a:pathLst>
              <a:path w="1290954" h="951230">
                <a:moveTo>
                  <a:pt x="0" y="950658"/>
                </a:moveTo>
                <a:lnTo>
                  <a:pt x="1290700" y="950658"/>
                </a:lnTo>
                <a:lnTo>
                  <a:pt x="1290700" y="0"/>
                </a:lnTo>
                <a:lnTo>
                  <a:pt x="0" y="0"/>
                </a:lnTo>
                <a:lnTo>
                  <a:pt x="0" y="950658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06563" y="1569084"/>
            <a:ext cx="1287780" cy="594360"/>
          </a:xfrm>
          <a:custGeom>
            <a:avLst/>
            <a:gdLst/>
            <a:ahLst/>
            <a:cxnLst/>
            <a:rect l="l" t="t" r="r" b="b"/>
            <a:pathLst>
              <a:path w="1287779" h="594360">
                <a:moveTo>
                  <a:pt x="0" y="0"/>
                </a:moveTo>
                <a:lnTo>
                  <a:pt x="0" y="594232"/>
                </a:lnTo>
                <a:lnTo>
                  <a:pt x="1287526" y="591819"/>
                </a:lnTo>
                <a:lnTo>
                  <a:pt x="1285239" y="151637"/>
                </a:lnTo>
                <a:lnTo>
                  <a:pt x="1008507" y="129667"/>
                </a:lnTo>
                <a:lnTo>
                  <a:pt x="264037" y="46481"/>
                </a:lnTo>
                <a:lnTo>
                  <a:pt x="120776" y="46481"/>
                </a:lnTo>
                <a:lnTo>
                  <a:pt x="24130" y="19557"/>
                </a:lnTo>
                <a:lnTo>
                  <a:pt x="37337" y="4952"/>
                </a:lnTo>
                <a:lnTo>
                  <a:pt x="0" y="0"/>
                </a:lnTo>
                <a:close/>
              </a:path>
              <a:path w="1287779" h="594360">
                <a:moveTo>
                  <a:pt x="103250" y="4952"/>
                </a:moveTo>
                <a:lnTo>
                  <a:pt x="120776" y="46481"/>
                </a:lnTo>
                <a:lnTo>
                  <a:pt x="264037" y="46481"/>
                </a:lnTo>
                <a:lnTo>
                  <a:pt x="219710" y="41528"/>
                </a:lnTo>
                <a:lnTo>
                  <a:pt x="103250" y="495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08087" y="1206372"/>
            <a:ext cx="1285875" cy="523875"/>
          </a:xfrm>
          <a:custGeom>
            <a:avLst/>
            <a:gdLst/>
            <a:ahLst/>
            <a:cxnLst/>
            <a:rect l="l" t="t" r="r" b="b"/>
            <a:pathLst>
              <a:path w="1285875" h="523875">
                <a:moveTo>
                  <a:pt x="775970" y="0"/>
                </a:moveTo>
                <a:lnTo>
                  <a:pt x="21971" y="0"/>
                </a:lnTo>
                <a:lnTo>
                  <a:pt x="26415" y="24511"/>
                </a:lnTo>
                <a:lnTo>
                  <a:pt x="0" y="49022"/>
                </a:lnTo>
                <a:lnTo>
                  <a:pt x="0" y="494538"/>
                </a:lnTo>
                <a:lnTo>
                  <a:pt x="1285875" y="523875"/>
                </a:lnTo>
                <a:lnTo>
                  <a:pt x="1285875" y="367283"/>
                </a:lnTo>
                <a:lnTo>
                  <a:pt x="932052" y="367283"/>
                </a:lnTo>
                <a:lnTo>
                  <a:pt x="933414" y="362331"/>
                </a:lnTo>
                <a:lnTo>
                  <a:pt x="870458" y="362331"/>
                </a:lnTo>
                <a:lnTo>
                  <a:pt x="655065" y="283971"/>
                </a:lnTo>
                <a:lnTo>
                  <a:pt x="635253" y="232537"/>
                </a:lnTo>
                <a:lnTo>
                  <a:pt x="720978" y="220344"/>
                </a:lnTo>
                <a:lnTo>
                  <a:pt x="734187" y="166497"/>
                </a:lnTo>
                <a:lnTo>
                  <a:pt x="758316" y="127253"/>
                </a:lnTo>
                <a:lnTo>
                  <a:pt x="802259" y="122427"/>
                </a:lnTo>
                <a:lnTo>
                  <a:pt x="775970" y="66166"/>
                </a:lnTo>
                <a:lnTo>
                  <a:pt x="764921" y="24511"/>
                </a:lnTo>
                <a:lnTo>
                  <a:pt x="775970" y="0"/>
                </a:lnTo>
                <a:close/>
              </a:path>
              <a:path w="1285875" h="523875">
                <a:moveTo>
                  <a:pt x="1033145" y="252221"/>
                </a:moveTo>
                <a:lnTo>
                  <a:pt x="932052" y="367283"/>
                </a:lnTo>
                <a:lnTo>
                  <a:pt x="1285875" y="367283"/>
                </a:lnTo>
                <a:lnTo>
                  <a:pt x="1285875" y="337819"/>
                </a:lnTo>
                <a:lnTo>
                  <a:pt x="1204595" y="337819"/>
                </a:lnTo>
                <a:lnTo>
                  <a:pt x="1191352" y="328040"/>
                </a:lnTo>
                <a:lnTo>
                  <a:pt x="1140840" y="328040"/>
                </a:lnTo>
                <a:lnTo>
                  <a:pt x="1130935" y="293750"/>
                </a:lnTo>
                <a:lnTo>
                  <a:pt x="1107821" y="293750"/>
                </a:lnTo>
                <a:lnTo>
                  <a:pt x="1033145" y="252221"/>
                </a:lnTo>
                <a:close/>
              </a:path>
              <a:path w="1285875" h="523875">
                <a:moveTo>
                  <a:pt x="887984" y="257048"/>
                </a:moveTo>
                <a:lnTo>
                  <a:pt x="868299" y="323214"/>
                </a:lnTo>
                <a:lnTo>
                  <a:pt x="870458" y="362331"/>
                </a:lnTo>
                <a:lnTo>
                  <a:pt x="933414" y="362331"/>
                </a:lnTo>
                <a:lnTo>
                  <a:pt x="945529" y="318262"/>
                </a:lnTo>
                <a:lnTo>
                  <a:pt x="907796" y="318262"/>
                </a:lnTo>
                <a:lnTo>
                  <a:pt x="887984" y="257048"/>
                </a:lnTo>
                <a:close/>
              </a:path>
              <a:path w="1285875" h="523875">
                <a:moveTo>
                  <a:pt x="1285875" y="298704"/>
                </a:moveTo>
                <a:lnTo>
                  <a:pt x="1237488" y="298704"/>
                </a:lnTo>
                <a:lnTo>
                  <a:pt x="1204595" y="337819"/>
                </a:lnTo>
                <a:lnTo>
                  <a:pt x="1285875" y="337819"/>
                </a:lnTo>
                <a:lnTo>
                  <a:pt x="1285875" y="298704"/>
                </a:lnTo>
                <a:close/>
              </a:path>
              <a:path w="1285875" h="523875">
                <a:moveTo>
                  <a:pt x="1171575" y="313436"/>
                </a:moveTo>
                <a:lnTo>
                  <a:pt x="1140840" y="328040"/>
                </a:lnTo>
                <a:lnTo>
                  <a:pt x="1191352" y="328040"/>
                </a:lnTo>
                <a:lnTo>
                  <a:pt x="1171575" y="313436"/>
                </a:lnTo>
                <a:close/>
              </a:path>
              <a:path w="1285875" h="523875">
                <a:moveTo>
                  <a:pt x="929766" y="252221"/>
                </a:moveTo>
                <a:lnTo>
                  <a:pt x="907796" y="318262"/>
                </a:lnTo>
                <a:lnTo>
                  <a:pt x="945529" y="318262"/>
                </a:lnTo>
                <a:lnTo>
                  <a:pt x="949578" y="303530"/>
                </a:lnTo>
                <a:lnTo>
                  <a:pt x="929766" y="252221"/>
                </a:lnTo>
                <a:close/>
              </a:path>
              <a:path w="1285875" h="523875">
                <a:moveTo>
                  <a:pt x="1121028" y="259461"/>
                </a:moveTo>
                <a:lnTo>
                  <a:pt x="1107821" y="293750"/>
                </a:lnTo>
                <a:lnTo>
                  <a:pt x="1130935" y="293750"/>
                </a:lnTo>
                <a:lnTo>
                  <a:pt x="1121028" y="25946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57440" y="1213992"/>
            <a:ext cx="920750" cy="950594"/>
          </a:xfrm>
          <a:custGeom>
            <a:avLst/>
            <a:gdLst/>
            <a:ahLst/>
            <a:cxnLst/>
            <a:rect l="l" t="t" r="r" b="b"/>
            <a:pathLst>
              <a:path w="920750" h="950594">
                <a:moveTo>
                  <a:pt x="388189" y="637793"/>
                </a:moveTo>
                <a:lnTo>
                  <a:pt x="311912" y="637793"/>
                </a:lnTo>
                <a:lnTo>
                  <a:pt x="322961" y="740409"/>
                </a:lnTo>
                <a:lnTo>
                  <a:pt x="347090" y="830833"/>
                </a:lnTo>
                <a:lnTo>
                  <a:pt x="362458" y="950594"/>
                </a:lnTo>
                <a:lnTo>
                  <a:pt x="423925" y="945768"/>
                </a:lnTo>
                <a:lnTo>
                  <a:pt x="401955" y="877315"/>
                </a:lnTo>
                <a:lnTo>
                  <a:pt x="388874" y="821054"/>
                </a:lnTo>
                <a:lnTo>
                  <a:pt x="395477" y="777112"/>
                </a:lnTo>
                <a:lnTo>
                  <a:pt x="386588" y="723391"/>
                </a:lnTo>
                <a:lnTo>
                  <a:pt x="388189" y="637793"/>
                </a:lnTo>
                <a:close/>
              </a:path>
              <a:path w="920750" h="950594">
                <a:moveTo>
                  <a:pt x="85725" y="92837"/>
                </a:moveTo>
                <a:lnTo>
                  <a:pt x="28575" y="95250"/>
                </a:lnTo>
                <a:lnTo>
                  <a:pt x="0" y="127126"/>
                </a:lnTo>
                <a:lnTo>
                  <a:pt x="24130" y="173481"/>
                </a:lnTo>
                <a:lnTo>
                  <a:pt x="70358" y="219963"/>
                </a:lnTo>
                <a:lnTo>
                  <a:pt x="94487" y="224789"/>
                </a:lnTo>
                <a:lnTo>
                  <a:pt x="74675" y="254126"/>
                </a:lnTo>
                <a:lnTo>
                  <a:pt x="83438" y="317626"/>
                </a:lnTo>
                <a:lnTo>
                  <a:pt x="76835" y="359282"/>
                </a:lnTo>
                <a:lnTo>
                  <a:pt x="72517" y="439927"/>
                </a:lnTo>
                <a:lnTo>
                  <a:pt x="90043" y="535177"/>
                </a:lnTo>
                <a:lnTo>
                  <a:pt x="118618" y="566927"/>
                </a:lnTo>
                <a:lnTo>
                  <a:pt x="138430" y="662304"/>
                </a:lnTo>
                <a:lnTo>
                  <a:pt x="140588" y="747775"/>
                </a:lnTo>
                <a:lnTo>
                  <a:pt x="142748" y="813815"/>
                </a:lnTo>
                <a:lnTo>
                  <a:pt x="125222" y="889507"/>
                </a:lnTo>
                <a:lnTo>
                  <a:pt x="109855" y="943355"/>
                </a:lnTo>
                <a:lnTo>
                  <a:pt x="182372" y="948181"/>
                </a:lnTo>
                <a:lnTo>
                  <a:pt x="180086" y="882268"/>
                </a:lnTo>
                <a:lnTo>
                  <a:pt x="180086" y="796670"/>
                </a:lnTo>
                <a:lnTo>
                  <a:pt x="204743" y="796670"/>
                </a:lnTo>
                <a:lnTo>
                  <a:pt x="197738" y="767333"/>
                </a:lnTo>
                <a:lnTo>
                  <a:pt x="204343" y="708659"/>
                </a:lnTo>
                <a:lnTo>
                  <a:pt x="195580" y="642746"/>
                </a:lnTo>
                <a:lnTo>
                  <a:pt x="199898" y="610996"/>
                </a:lnTo>
                <a:lnTo>
                  <a:pt x="388691" y="610996"/>
                </a:lnTo>
                <a:lnTo>
                  <a:pt x="388874" y="601217"/>
                </a:lnTo>
                <a:lnTo>
                  <a:pt x="425040" y="601217"/>
                </a:lnTo>
                <a:lnTo>
                  <a:pt x="423925" y="596264"/>
                </a:lnTo>
                <a:lnTo>
                  <a:pt x="901527" y="596264"/>
                </a:lnTo>
                <a:lnTo>
                  <a:pt x="858901" y="481456"/>
                </a:lnTo>
                <a:lnTo>
                  <a:pt x="869950" y="439927"/>
                </a:lnTo>
                <a:lnTo>
                  <a:pt x="909447" y="430148"/>
                </a:lnTo>
                <a:lnTo>
                  <a:pt x="920496" y="391032"/>
                </a:lnTo>
                <a:lnTo>
                  <a:pt x="885433" y="371474"/>
                </a:lnTo>
                <a:lnTo>
                  <a:pt x="836930" y="371474"/>
                </a:lnTo>
                <a:lnTo>
                  <a:pt x="821019" y="337184"/>
                </a:lnTo>
                <a:lnTo>
                  <a:pt x="727075" y="337184"/>
                </a:lnTo>
                <a:lnTo>
                  <a:pt x="660367" y="298195"/>
                </a:lnTo>
                <a:lnTo>
                  <a:pt x="377825" y="298195"/>
                </a:lnTo>
                <a:lnTo>
                  <a:pt x="380111" y="256539"/>
                </a:lnTo>
                <a:lnTo>
                  <a:pt x="430530" y="249300"/>
                </a:lnTo>
                <a:lnTo>
                  <a:pt x="503047" y="180847"/>
                </a:lnTo>
                <a:lnTo>
                  <a:pt x="511810" y="151510"/>
                </a:lnTo>
                <a:lnTo>
                  <a:pt x="497242" y="139318"/>
                </a:lnTo>
                <a:lnTo>
                  <a:pt x="397637" y="139318"/>
                </a:lnTo>
                <a:lnTo>
                  <a:pt x="394898" y="119760"/>
                </a:lnTo>
                <a:lnTo>
                  <a:pt x="153797" y="119760"/>
                </a:lnTo>
                <a:lnTo>
                  <a:pt x="85725" y="92837"/>
                </a:lnTo>
                <a:close/>
              </a:path>
              <a:path w="920750" h="950594">
                <a:moveTo>
                  <a:pt x="901527" y="596264"/>
                </a:moveTo>
                <a:lnTo>
                  <a:pt x="423925" y="596264"/>
                </a:lnTo>
                <a:lnTo>
                  <a:pt x="470154" y="598677"/>
                </a:lnTo>
                <a:lnTo>
                  <a:pt x="494284" y="728217"/>
                </a:lnTo>
                <a:lnTo>
                  <a:pt x="496443" y="759967"/>
                </a:lnTo>
                <a:lnTo>
                  <a:pt x="507492" y="772286"/>
                </a:lnTo>
                <a:lnTo>
                  <a:pt x="500888" y="862710"/>
                </a:lnTo>
                <a:lnTo>
                  <a:pt x="509650" y="894460"/>
                </a:lnTo>
                <a:lnTo>
                  <a:pt x="511810" y="931036"/>
                </a:lnTo>
                <a:lnTo>
                  <a:pt x="564514" y="935989"/>
                </a:lnTo>
                <a:lnTo>
                  <a:pt x="553593" y="877315"/>
                </a:lnTo>
                <a:lnTo>
                  <a:pt x="533781" y="791844"/>
                </a:lnTo>
                <a:lnTo>
                  <a:pt x="553593" y="730630"/>
                </a:lnTo>
                <a:lnTo>
                  <a:pt x="533781" y="637793"/>
                </a:lnTo>
                <a:lnTo>
                  <a:pt x="683082" y="637793"/>
                </a:lnTo>
                <a:lnTo>
                  <a:pt x="683133" y="635380"/>
                </a:lnTo>
                <a:lnTo>
                  <a:pt x="712103" y="635380"/>
                </a:lnTo>
                <a:lnTo>
                  <a:pt x="716152" y="620648"/>
                </a:lnTo>
                <a:lnTo>
                  <a:pt x="910581" y="620648"/>
                </a:lnTo>
                <a:lnTo>
                  <a:pt x="901527" y="596264"/>
                </a:lnTo>
                <a:close/>
              </a:path>
              <a:path w="920750" h="950594">
                <a:moveTo>
                  <a:pt x="682464" y="667130"/>
                </a:moveTo>
                <a:lnTo>
                  <a:pt x="628269" y="667130"/>
                </a:lnTo>
                <a:lnTo>
                  <a:pt x="630427" y="750188"/>
                </a:lnTo>
                <a:lnTo>
                  <a:pt x="648081" y="806449"/>
                </a:lnTo>
                <a:lnTo>
                  <a:pt x="656844" y="891920"/>
                </a:lnTo>
                <a:lnTo>
                  <a:pt x="672211" y="926210"/>
                </a:lnTo>
                <a:lnTo>
                  <a:pt x="705104" y="931036"/>
                </a:lnTo>
                <a:lnTo>
                  <a:pt x="713994" y="899286"/>
                </a:lnTo>
                <a:lnTo>
                  <a:pt x="678814" y="806449"/>
                </a:lnTo>
                <a:lnTo>
                  <a:pt x="680974" y="737996"/>
                </a:lnTo>
                <a:lnTo>
                  <a:pt x="682464" y="667130"/>
                </a:lnTo>
                <a:close/>
              </a:path>
              <a:path w="920750" h="950594">
                <a:moveTo>
                  <a:pt x="204743" y="796670"/>
                </a:moveTo>
                <a:lnTo>
                  <a:pt x="180086" y="796670"/>
                </a:lnTo>
                <a:lnTo>
                  <a:pt x="206501" y="804036"/>
                </a:lnTo>
                <a:lnTo>
                  <a:pt x="204743" y="796670"/>
                </a:lnTo>
                <a:close/>
              </a:path>
              <a:path w="920750" h="950594">
                <a:moveTo>
                  <a:pt x="425040" y="601217"/>
                </a:moveTo>
                <a:lnTo>
                  <a:pt x="388874" y="601217"/>
                </a:lnTo>
                <a:lnTo>
                  <a:pt x="401955" y="708659"/>
                </a:lnTo>
                <a:lnTo>
                  <a:pt x="404240" y="782065"/>
                </a:lnTo>
                <a:lnTo>
                  <a:pt x="434975" y="774699"/>
                </a:lnTo>
                <a:lnTo>
                  <a:pt x="421767" y="669543"/>
                </a:lnTo>
                <a:lnTo>
                  <a:pt x="430530" y="625601"/>
                </a:lnTo>
                <a:lnTo>
                  <a:pt x="425040" y="601217"/>
                </a:lnTo>
                <a:close/>
              </a:path>
              <a:path w="920750" h="950594">
                <a:moveTo>
                  <a:pt x="388691" y="610996"/>
                </a:moveTo>
                <a:lnTo>
                  <a:pt x="199898" y="610996"/>
                </a:lnTo>
                <a:lnTo>
                  <a:pt x="217550" y="654938"/>
                </a:lnTo>
                <a:lnTo>
                  <a:pt x="221869" y="716025"/>
                </a:lnTo>
                <a:lnTo>
                  <a:pt x="219710" y="764920"/>
                </a:lnTo>
                <a:lnTo>
                  <a:pt x="239395" y="769746"/>
                </a:lnTo>
                <a:lnTo>
                  <a:pt x="265811" y="759967"/>
                </a:lnTo>
                <a:lnTo>
                  <a:pt x="250444" y="694054"/>
                </a:lnTo>
                <a:lnTo>
                  <a:pt x="278841" y="694054"/>
                </a:lnTo>
                <a:lnTo>
                  <a:pt x="311912" y="637793"/>
                </a:lnTo>
                <a:lnTo>
                  <a:pt x="388189" y="637793"/>
                </a:lnTo>
                <a:lnTo>
                  <a:pt x="388691" y="610996"/>
                </a:lnTo>
                <a:close/>
              </a:path>
              <a:path w="920750" h="950594">
                <a:moveTo>
                  <a:pt x="278841" y="694054"/>
                </a:moveTo>
                <a:lnTo>
                  <a:pt x="250444" y="694054"/>
                </a:lnTo>
                <a:lnTo>
                  <a:pt x="270256" y="708659"/>
                </a:lnTo>
                <a:lnTo>
                  <a:pt x="278841" y="694054"/>
                </a:lnTo>
                <a:close/>
              </a:path>
              <a:path w="920750" h="950594">
                <a:moveTo>
                  <a:pt x="683082" y="637793"/>
                </a:moveTo>
                <a:lnTo>
                  <a:pt x="533781" y="637793"/>
                </a:lnTo>
                <a:lnTo>
                  <a:pt x="571119" y="694054"/>
                </a:lnTo>
                <a:lnTo>
                  <a:pt x="604138" y="703833"/>
                </a:lnTo>
                <a:lnTo>
                  <a:pt x="628269" y="667130"/>
                </a:lnTo>
                <a:lnTo>
                  <a:pt x="682464" y="667130"/>
                </a:lnTo>
                <a:lnTo>
                  <a:pt x="683082" y="637793"/>
                </a:lnTo>
                <a:close/>
              </a:path>
              <a:path w="920750" h="950594">
                <a:moveTo>
                  <a:pt x="910581" y="620648"/>
                </a:moveTo>
                <a:lnTo>
                  <a:pt x="716152" y="620648"/>
                </a:lnTo>
                <a:lnTo>
                  <a:pt x="814959" y="662304"/>
                </a:lnTo>
                <a:lnTo>
                  <a:pt x="856742" y="689101"/>
                </a:lnTo>
                <a:lnTo>
                  <a:pt x="907288" y="662304"/>
                </a:lnTo>
                <a:lnTo>
                  <a:pt x="916051" y="635380"/>
                </a:lnTo>
                <a:lnTo>
                  <a:pt x="910581" y="620648"/>
                </a:lnTo>
                <a:close/>
              </a:path>
              <a:path w="920750" h="950594">
                <a:moveTo>
                  <a:pt x="712103" y="635380"/>
                </a:moveTo>
                <a:lnTo>
                  <a:pt x="683133" y="635380"/>
                </a:lnTo>
                <a:lnTo>
                  <a:pt x="707389" y="652525"/>
                </a:lnTo>
                <a:lnTo>
                  <a:pt x="712103" y="635380"/>
                </a:lnTo>
                <a:close/>
              </a:path>
              <a:path w="920750" h="950594">
                <a:moveTo>
                  <a:pt x="876554" y="366521"/>
                </a:moveTo>
                <a:lnTo>
                  <a:pt x="836930" y="371474"/>
                </a:lnTo>
                <a:lnTo>
                  <a:pt x="885433" y="371474"/>
                </a:lnTo>
                <a:lnTo>
                  <a:pt x="876554" y="366521"/>
                </a:lnTo>
                <a:close/>
              </a:path>
              <a:path w="920750" h="950594">
                <a:moveTo>
                  <a:pt x="801751" y="295655"/>
                </a:moveTo>
                <a:lnTo>
                  <a:pt x="727075" y="337184"/>
                </a:lnTo>
                <a:lnTo>
                  <a:pt x="821019" y="337184"/>
                </a:lnTo>
                <a:lnTo>
                  <a:pt x="801751" y="295655"/>
                </a:lnTo>
                <a:close/>
              </a:path>
              <a:path w="920750" h="950594">
                <a:moveTo>
                  <a:pt x="560197" y="236981"/>
                </a:moveTo>
                <a:lnTo>
                  <a:pt x="496443" y="273684"/>
                </a:lnTo>
                <a:lnTo>
                  <a:pt x="441579" y="273684"/>
                </a:lnTo>
                <a:lnTo>
                  <a:pt x="377825" y="298195"/>
                </a:lnTo>
                <a:lnTo>
                  <a:pt x="660367" y="298195"/>
                </a:lnTo>
                <a:lnTo>
                  <a:pt x="643636" y="288416"/>
                </a:lnTo>
                <a:lnTo>
                  <a:pt x="612901" y="256539"/>
                </a:lnTo>
                <a:lnTo>
                  <a:pt x="560197" y="236981"/>
                </a:lnTo>
                <a:close/>
              </a:path>
              <a:path w="920750" h="950594">
                <a:moveTo>
                  <a:pt x="430530" y="114807"/>
                </a:moveTo>
                <a:lnTo>
                  <a:pt x="397637" y="139318"/>
                </a:lnTo>
                <a:lnTo>
                  <a:pt x="497242" y="139318"/>
                </a:lnTo>
                <a:lnTo>
                  <a:pt x="476758" y="122173"/>
                </a:lnTo>
                <a:lnTo>
                  <a:pt x="430530" y="114807"/>
                </a:lnTo>
                <a:close/>
              </a:path>
              <a:path w="920750" h="950594">
                <a:moveTo>
                  <a:pt x="283337" y="0"/>
                </a:moveTo>
                <a:lnTo>
                  <a:pt x="213106" y="14604"/>
                </a:lnTo>
                <a:lnTo>
                  <a:pt x="173609" y="75818"/>
                </a:lnTo>
                <a:lnTo>
                  <a:pt x="153797" y="119760"/>
                </a:lnTo>
                <a:lnTo>
                  <a:pt x="394898" y="119760"/>
                </a:lnTo>
                <a:lnTo>
                  <a:pt x="393192" y="107568"/>
                </a:lnTo>
                <a:lnTo>
                  <a:pt x="371221" y="75818"/>
                </a:lnTo>
                <a:lnTo>
                  <a:pt x="362458" y="43941"/>
                </a:lnTo>
                <a:lnTo>
                  <a:pt x="333883" y="4825"/>
                </a:lnTo>
                <a:lnTo>
                  <a:pt x="283337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163560" y="2291841"/>
            <a:ext cx="6438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1925" marR="5080" indent="-14986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Pre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ct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30446" y="2244597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90741" y="2244597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50917" y="1076579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32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168644" y="1076579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955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482844" y="1921255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5494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Low-res: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7777" dirty="0">
                <a:latin typeface="Arial"/>
                <a:cs typeface="Arial"/>
              </a:rPr>
              <a:t>3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86786" y="706272"/>
            <a:ext cx="836930" cy="47370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260350">
              <a:lnSpc>
                <a:spcPct val="107200"/>
              </a:lnSpc>
              <a:spcBef>
                <a:spcPts val="145"/>
              </a:spcBef>
            </a:pPr>
            <a:r>
              <a:rPr sz="900" b="1" spc="35" dirty="0">
                <a:solidFill>
                  <a:srgbClr val="FF0000"/>
                </a:solidFill>
                <a:latin typeface="微软雅黑"/>
                <a:cs typeface="微软雅黑"/>
              </a:rPr>
              <a:t>下采样 </a:t>
            </a:r>
            <a:r>
              <a:rPr sz="900" spc="10" dirty="0">
                <a:solidFill>
                  <a:srgbClr val="FF0000"/>
                </a:solidFill>
                <a:latin typeface="Arial"/>
                <a:cs typeface="Arial"/>
              </a:rPr>
              <a:t>Pooling,</a:t>
            </a:r>
            <a:r>
              <a:rPr sz="9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FF0000"/>
                </a:solidFill>
                <a:latin typeface="Arial"/>
                <a:cs typeface="Arial"/>
              </a:rPr>
              <a:t>strided  convolution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675627" y="716660"/>
            <a:ext cx="563880" cy="3162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35"/>
              </a:spcBef>
            </a:pPr>
            <a:r>
              <a:rPr sz="900" b="1" spc="35" dirty="0">
                <a:solidFill>
                  <a:srgbClr val="0000FF"/>
                </a:solidFill>
                <a:latin typeface="微软雅黑"/>
                <a:cs typeface="微软雅黑"/>
              </a:rPr>
              <a:t>上采样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spc="10" dirty="0">
                <a:solidFill>
                  <a:srgbClr val="0000FF"/>
                </a:solidFill>
                <a:latin typeface="Arial"/>
                <a:cs typeface="Arial"/>
              </a:rPr>
              <a:t>???</a:t>
            </a:r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3876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语义分割思路：全卷积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1816602" y="539241"/>
            <a:ext cx="261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解决方案：让整个网络只包含卷积层，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816602" y="813561"/>
            <a:ext cx="261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并在网络中嵌入</a:t>
            </a: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下采样</a:t>
            </a:r>
            <a:r>
              <a:rPr sz="1200" dirty="0">
                <a:latin typeface="微软雅黑"/>
                <a:cs typeface="微软雅黑"/>
              </a:rPr>
              <a:t>与</a:t>
            </a:r>
            <a:r>
              <a:rPr sz="1200" b="1" dirty="0">
                <a:solidFill>
                  <a:srgbClr val="0000FF"/>
                </a:solidFill>
                <a:latin typeface="微软雅黑"/>
                <a:cs typeface="微软雅黑"/>
              </a:rPr>
              <a:t>上采样</a:t>
            </a:r>
            <a:r>
              <a:rPr sz="1200" dirty="0">
                <a:latin typeface="微软雅黑"/>
                <a:cs typeface="微软雅黑"/>
              </a:rPr>
              <a:t>过程。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929" y="2890469"/>
            <a:ext cx="400431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66469">
              <a:lnSpc>
                <a:spcPct val="124000"/>
              </a:lnSpc>
              <a:spcBef>
                <a:spcPts val="95"/>
              </a:spcBef>
            </a:pPr>
            <a:r>
              <a:rPr sz="500" spc="5" dirty="0">
                <a:latin typeface="Arial"/>
                <a:cs typeface="Arial"/>
              </a:rPr>
              <a:t>Long, </a:t>
            </a:r>
            <a:r>
              <a:rPr sz="500" dirty="0">
                <a:latin typeface="Arial"/>
                <a:cs typeface="Arial"/>
              </a:rPr>
              <a:t>Shelhamer, </a:t>
            </a:r>
            <a:r>
              <a:rPr sz="500" spc="5" dirty="0">
                <a:latin typeface="Arial"/>
                <a:cs typeface="Arial"/>
              </a:rPr>
              <a:t>and Darrell, </a:t>
            </a:r>
            <a:r>
              <a:rPr sz="500" spc="10" dirty="0">
                <a:latin typeface="Arial"/>
                <a:cs typeface="Arial"/>
              </a:rPr>
              <a:t>“Fully </a:t>
            </a:r>
            <a:r>
              <a:rPr sz="500" spc="5" dirty="0">
                <a:latin typeface="Arial"/>
                <a:cs typeface="Arial"/>
              </a:rPr>
              <a:t>Convolutional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Noh </a:t>
            </a:r>
            <a:r>
              <a:rPr sz="500" spc="5" dirty="0">
                <a:latin typeface="Arial"/>
                <a:cs typeface="Arial"/>
              </a:rPr>
              <a:t>et al, “Learning Deconvolution </a:t>
            </a:r>
            <a:r>
              <a:rPr sz="500" spc="10" dirty="0">
                <a:latin typeface="Arial"/>
                <a:cs typeface="Arial"/>
              </a:rPr>
              <a:t>Network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5" dirty="0">
                <a:latin typeface="Arial"/>
                <a:cs typeface="Arial"/>
              </a:rPr>
              <a:t> 2015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tabLst>
                <a:tab pos="243586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671941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30772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反池化操作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15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“Unpooling”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6395" y="1376093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2358" y="223712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5922" y="223712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0472" y="1135682"/>
          <a:ext cx="1021080" cy="1046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38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85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23616" y="1099074"/>
            <a:ext cx="1004569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0" dirty="0">
                <a:latin typeface="Arial"/>
                <a:cs typeface="Arial"/>
              </a:rPr>
              <a:t>Nearest</a:t>
            </a:r>
            <a:r>
              <a:rPr sz="900" b="1" spc="-90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Neighbor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1374" y="1640729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>
                <a:moveTo>
                  <a:pt x="0" y="0"/>
                </a:moveTo>
                <a:lnTo>
                  <a:pt x="26784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8835" y="1629299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89">
                <a:moveTo>
                  <a:pt x="0" y="0"/>
                </a:moveTo>
                <a:lnTo>
                  <a:pt x="0" y="21081"/>
                </a:lnTo>
                <a:lnTo>
                  <a:pt x="28575" y="1054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49598" y="1630061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89">
                <a:moveTo>
                  <a:pt x="0" y="21081"/>
                </a:moveTo>
                <a:lnTo>
                  <a:pt x="28575" y="10541"/>
                </a:lnTo>
                <a:lnTo>
                  <a:pt x="0" y="0"/>
                </a:lnTo>
                <a:lnTo>
                  <a:pt x="0" y="21081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747669" y="1353995"/>
          <a:ext cx="510540" cy="523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92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704204" y="2214896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87666" y="2214896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821708" y="1113457"/>
          <a:ext cx="1022349" cy="1046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731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555741" y="1076849"/>
            <a:ext cx="81915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5" dirty="0">
                <a:latin typeface="Arial"/>
                <a:cs typeface="Arial"/>
              </a:rPr>
              <a:t>“Bed of</a:t>
            </a:r>
            <a:r>
              <a:rPr sz="900" b="1" spc="-125" dirty="0">
                <a:latin typeface="Arial"/>
                <a:cs typeface="Arial"/>
              </a:rPr>
              <a:t> </a:t>
            </a:r>
            <a:r>
              <a:rPr sz="900" b="1" spc="10" dirty="0">
                <a:latin typeface="Arial"/>
                <a:cs typeface="Arial"/>
              </a:rPr>
              <a:t>Nails”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12610" y="1617869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84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80072" y="1607963"/>
            <a:ext cx="28575" cy="19685"/>
          </a:xfrm>
          <a:custGeom>
            <a:avLst/>
            <a:gdLst/>
            <a:ahLst/>
            <a:cxnLst/>
            <a:rect l="l" t="t" r="r" b="b"/>
            <a:pathLst>
              <a:path w="28575" h="19685">
                <a:moveTo>
                  <a:pt x="0" y="0"/>
                </a:moveTo>
                <a:lnTo>
                  <a:pt x="0" y="19685"/>
                </a:lnTo>
                <a:lnTo>
                  <a:pt x="28575" y="977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80834" y="1608725"/>
            <a:ext cx="28575" cy="19685"/>
          </a:xfrm>
          <a:custGeom>
            <a:avLst/>
            <a:gdLst/>
            <a:ahLst/>
            <a:cxnLst/>
            <a:rect l="l" t="t" r="r" b="b"/>
            <a:pathLst>
              <a:path w="28575" h="19685">
                <a:moveTo>
                  <a:pt x="0" y="19684"/>
                </a:moveTo>
                <a:lnTo>
                  <a:pt x="28575" y="9778"/>
                </a:lnTo>
                <a:lnTo>
                  <a:pt x="0" y="0"/>
                </a:lnTo>
                <a:lnTo>
                  <a:pt x="0" y="19684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36633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反池化操作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75" dirty="0">
                <a:latin typeface="微软雅黑"/>
                <a:cs typeface="微软雅黑"/>
              </a:rPr>
              <a:t> </a:t>
            </a:r>
            <a:r>
              <a:rPr b="1" spc="15" dirty="0">
                <a:latin typeface="微软雅黑"/>
                <a:cs typeface="微软雅黑"/>
              </a:rPr>
              <a:t>“Max</a:t>
            </a:r>
            <a:r>
              <a:rPr b="1" spc="-90" dirty="0">
                <a:latin typeface="微软雅黑"/>
                <a:cs typeface="微软雅黑"/>
              </a:rPr>
              <a:t> </a:t>
            </a:r>
            <a:r>
              <a:rPr b="1" spc="5" dirty="0">
                <a:latin typeface="微软雅黑"/>
                <a:cs typeface="微软雅黑"/>
              </a:rPr>
              <a:t>Unpooling”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492" y="2107437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747" y="1306702"/>
            <a:ext cx="3511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820" algn="l"/>
              </a:tabLst>
            </a:pPr>
            <a:r>
              <a:rPr sz="950" u="sng" spc="-5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7234" y="1005363"/>
          <a:ext cx="1021080" cy="1046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6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D1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938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5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CFE0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30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7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8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399147" y="1263776"/>
            <a:ext cx="3511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820" algn="l"/>
              </a:tabLst>
            </a:pPr>
            <a:r>
              <a:rPr sz="950" u="sng" spc="-5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47669" y="1223676"/>
          <a:ext cx="510540" cy="523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92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704203" y="2085212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87666" y="2085212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21708" y="983138"/>
          <a:ext cx="1021080" cy="1046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D1E8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7DAF7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747129" y="709675"/>
            <a:ext cx="99377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b="1" spc="20" dirty="0">
                <a:latin typeface="Arial"/>
                <a:cs typeface="Arial"/>
              </a:rPr>
              <a:t>Max </a:t>
            </a:r>
            <a:r>
              <a:rPr sz="900" b="1" spc="15" dirty="0">
                <a:latin typeface="Arial"/>
                <a:cs typeface="Arial"/>
              </a:rPr>
              <a:t>Unpooling  </a:t>
            </a:r>
            <a:r>
              <a:rPr sz="900" spc="15" dirty="0">
                <a:latin typeface="Arial"/>
                <a:cs typeface="Arial"/>
              </a:rPr>
              <a:t>Use </a:t>
            </a:r>
            <a:r>
              <a:rPr sz="900" spc="10" dirty="0">
                <a:latin typeface="Arial"/>
                <a:cs typeface="Arial"/>
              </a:rPr>
              <a:t>positions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from  </a:t>
            </a:r>
            <a:r>
              <a:rPr sz="900" spc="10" dirty="0">
                <a:latin typeface="Arial"/>
                <a:cs typeface="Arial"/>
              </a:rPr>
              <a:t>pooling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layer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0072" y="1477644"/>
            <a:ext cx="28575" cy="19685"/>
          </a:xfrm>
          <a:custGeom>
            <a:avLst/>
            <a:gdLst/>
            <a:ahLst/>
            <a:cxnLst/>
            <a:rect l="l" t="t" r="r" b="b"/>
            <a:pathLst>
              <a:path w="28575" h="19684">
                <a:moveTo>
                  <a:pt x="0" y="0"/>
                </a:moveTo>
                <a:lnTo>
                  <a:pt x="0" y="19685"/>
                </a:lnTo>
                <a:lnTo>
                  <a:pt x="28575" y="9779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80834" y="1478406"/>
            <a:ext cx="28575" cy="19685"/>
          </a:xfrm>
          <a:custGeom>
            <a:avLst/>
            <a:gdLst/>
            <a:ahLst/>
            <a:cxnLst/>
            <a:rect l="l" t="t" r="r" b="b"/>
            <a:pathLst>
              <a:path w="28575" h="19684">
                <a:moveTo>
                  <a:pt x="0" y="19685"/>
                </a:moveTo>
                <a:lnTo>
                  <a:pt x="28575" y="9779"/>
                </a:lnTo>
                <a:lnTo>
                  <a:pt x="0" y="0"/>
                </a:lnTo>
                <a:lnTo>
                  <a:pt x="0" y="19685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817269" y="1274476"/>
          <a:ext cx="510540" cy="523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92"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5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6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7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Arial"/>
                          <a:cs typeface="Arial"/>
                        </a:rPr>
                        <a:t>8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734180" y="1527936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0"/>
                </a:moveTo>
                <a:lnTo>
                  <a:pt x="0" y="21081"/>
                </a:lnTo>
                <a:lnTo>
                  <a:pt x="28575" y="1054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4941" y="1528698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21081"/>
                </a:moveTo>
                <a:lnTo>
                  <a:pt x="28575" y="10541"/>
                </a:lnTo>
                <a:lnTo>
                  <a:pt x="0" y="0"/>
                </a:lnTo>
                <a:lnTo>
                  <a:pt x="0" y="21081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0049" y="646556"/>
            <a:ext cx="71691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Max</a:t>
            </a:r>
            <a:r>
              <a:rPr sz="900" b="1" spc="-110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Pooling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049" y="786129"/>
            <a:ext cx="191516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Remember which </a:t>
            </a:r>
            <a:r>
              <a:rPr sz="900" spc="10" dirty="0">
                <a:latin typeface="Arial"/>
                <a:cs typeface="Arial"/>
              </a:rPr>
              <a:t>element </a:t>
            </a:r>
            <a:r>
              <a:rPr sz="900" spc="20" dirty="0">
                <a:latin typeface="Arial"/>
                <a:cs typeface="Arial"/>
              </a:rPr>
              <a:t>was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max!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98871" y="1520316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0"/>
                </a:moveTo>
                <a:lnTo>
                  <a:pt x="0" y="21081"/>
                </a:lnTo>
                <a:lnTo>
                  <a:pt x="28575" y="1054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99633" y="1521078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21081"/>
                </a:moveTo>
                <a:lnTo>
                  <a:pt x="28575" y="10540"/>
                </a:lnTo>
                <a:lnTo>
                  <a:pt x="0" y="0"/>
                </a:lnTo>
                <a:lnTo>
                  <a:pt x="0" y="21081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58763" y="1520316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0"/>
                </a:moveTo>
                <a:lnTo>
                  <a:pt x="0" y="21081"/>
                </a:lnTo>
                <a:lnTo>
                  <a:pt x="28575" y="10541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59525" y="1521078"/>
            <a:ext cx="28575" cy="21590"/>
          </a:xfrm>
          <a:custGeom>
            <a:avLst/>
            <a:gdLst/>
            <a:ahLst/>
            <a:cxnLst/>
            <a:rect l="l" t="t" r="r" b="b"/>
            <a:pathLst>
              <a:path w="28575" h="21590">
                <a:moveTo>
                  <a:pt x="0" y="21081"/>
                </a:moveTo>
                <a:lnTo>
                  <a:pt x="28575" y="10540"/>
                </a:lnTo>
                <a:lnTo>
                  <a:pt x="0" y="0"/>
                </a:lnTo>
                <a:lnTo>
                  <a:pt x="0" y="21081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17693" y="1148672"/>
            <a:ext cx="1076960" cy="64897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337820" algn="l"/>
                <a:tab pos="1063625" algn="l"/>
              </a:tabLst>
            </a:pPr>
            <a:r>
              <a:rPr sz="1425" u="sng" spc="-7" baseline="40935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r>
              <a:rPr sz="1425" spc="-150" baseline="409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/>
                <a:cs typeface="Times New Roman"/>
              </a:rPr>
              <a:t> 	</a:t>
            </a:r>
            <a:endParaRPr sz="200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475"/>
              </a:spcBef>
            </a:pPr>
            <a:r>
              <a:rPr sz="900" spc="15" dirty="0">
                <a:latin typeface="Arial"/>
                <a:cs typeface="Arial"/>
              </a:rPr>
              <a:t>Rest </a:t>
            </a:r>
            <a:r>
              <a:rPr sz="900" spc="10" dirty="0">
                <a:latin typeface="Arial"/>
                <a:cs typeface="Arial"/>
              </a:rPr>
              <a:t>of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network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7321" y="2107437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36115" y="262063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801"/>
                </a:lnTo>
              </a:path>
            </a:pathLst>
          </a:custGeom>
          <a:ln w="3181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52211" y="2501772"/>
            <a:ext cx="118745" cy="589915"/>
          </a:xfrm>
          <a:custGeom>
            <a:avLst/>
            <a:gdLst/>
            <a:ahLst/>
            <a:cxnLst/>
            <a:rect l="l" t="t" r="r" b="b"/>
            <a:pathLst>
              <a:path w="118744" h="589914">
                <a:moveTo>
                  <a:pt x="118745" y="0"/>
                </a:moveTo>
                <a:lnTo>
                  <a:pt x="0" y="118618"/>
                </a:lnTo>
                <a:lnTo>
                  <a:pt x="0" y="589534"/>
                </a:lnTo>
                <a:lnTo>
                  <a:pt x="118745" y="470915"/>
                </a:lnTo>
                <a:lnTo>
                  <a:pt x="118745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20207" y="2501772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4" h="118744">
                <a:moveTo>
                  <a:pt x="150494" y="0"/>
                </a:moveTo>
                <a:lnTo>
                  <a:pt x="118618" y="0"/>
                </a:lnTo>
                <a:lnTo>
                  <a:pt x="0" y="118744"/>
                </a:lnTo>
                <a:lnTo>
                  <a:pt x="31877" y="118744"/>
                </a:lnTo>
                <a:lnTo>
                  <a:pt x="150494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20969" y="2502534"/>
            <a:ext cx="150495" cy="589915"/>
          </a:xfrm>
          <a:custGeom>
            <a:avLst/>
            <a:gdLst/>
            <a:ahLst/>
            <a:cxnLst/>
            <a:rect l="l" t="t" r="r" b="b"/>
            <a:pathLst>
              <a:path w="150494" h="589914">
                <a:moveTo>
                  <a:pt x="0" y="118618"/>
                </a:moveTo>
                <a:lnTo>
                  <a:pt x="118618" y="0"/>
                </a:lnTo>
                <a:lnTo>
                  <a:pt x="150494" y="0"/>
                </a:lnTo>
                <a:lnTo>
                  <a:pt x="150494" y="470915"/>
                </a:lnTo>
                <a:lnTo>
                  <a:pt x="31877" y="589534"/>
                </a:lnTo>
                <a:lnTo>
                  <a:pt x="0" y="589534"/>
                </a:lnTo>
                <a:lnTo>
                  <a:pt x="0" y="118618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20969" y="2502534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4" h="118744">
                <a:moveTo>
                  <a:pt x="0" y="118618"/>
                </a:moveTo>
                <a:lnTo>
                  <a:pt x="31877" y="118618"/>
                </a:lnTo>
                <a:lnTo>
                  <a:pt x="150494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52846" y="262115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91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95559" y="262063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801"/>
                </a:lnTo>
              </a:path>
            </a:pathLst>
          </a:custGeom>
          <a:ln w="31831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11647" y="2501772"/>
            <a:ext cx="118745" cy="589915"/>
          </a:xfrm>
          <a:custGeom>
            <a:avLst/>
            <a:gdLst/>
            <a:ahLst/>
            <a:cxnLst/>
            <a:rect l="l" t="t" r="r" b="b"/>
            <a:pathLst>
              <a:path w="118744" h="589914">
                <a:moveTo>
                  <a:pt x="118744" y="0"/>
                </a:moveTo>
                <a:lnTo>
                  <a:pt x="0" y="118618"/>
                </a:lnTo>
                <a:lnTo>
                  <a:pt x="0" y="589534"/>
                </a:lnTo>
                <a:lnTo>
                  <a:pt x="118744" y="470915"/>
                </a:lnTo>
                <a:lnTo>
                  <a:pt x="118744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79643" y="2501772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4" h="118744">
                <a:moveTo>
                  <a:pt x="150494" y="0"/>
                </a:moveTo>
                <a:lnTo>
                  <a:pt x="118618" y="0"/>
                </a:lnTo>
                <a:lnTo>
                  <a:pt x="0" y="118744"/>
                </a:lnTo>
                <a:lnTo>
                  <a:pt x="32004" y="118744"/>
                </a:lnTo>
                <a:lnTo>
                  <a:pt x="150494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80405" y="2502534"/>
            <a:ext cx="150495" cy="589915"/>
          </a:xfrm>
          <a:custGeom>
            <a:avLst/>
            <a:gdLst/>
            <a:ahLst/>
            <a:cxnLst/>
            <a:rect l="l" t="t" r="r" b="b"/>
            <a:pathLst>
              <a:path w="150494" h="589914">
                <a:moveTo>
                  <a:pt x="0" y="118618"/>
                </a:moveTo>
                <a:lnTo>
                  <a:pt x="118618" y="0"/>
                </a:lnTo>
                <a:lnTo>
                  <a:pt x="150494" y="0"/>
                </a:lnTo>
                <a:lnTo>
                  <a:pt x="150494" y="470915"/>
                </a:lnTo>
                <a:lnTo>
                  <a:pt x="32004" y="589534"/>
                </a:lnTo>
                <a:lnTo>
                  <a:pt x="0" y="589534"/>
                </a:lnTo>
                <a:lnTo>
                  <a:pt x="0" y="118618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80405" y="2502534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4" h="118744">
                <a:moveTo>
                  <a:pt x="0" y="118618"/>
                </a:moveTo>
                <a:lnTo>
                  <a:pt x="32004" y="118618"/>
                </a:lnTo>
                <a:lnTo>
                  <a:pt x="150494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12409" y="262115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91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55843" y="2736443"/>
            <a:ext cx="95885" cy="240665"/>
          </a:xfrm>
          <a:custGeom>
            <a:avLst/>
            <a:gdLst/>
            <a:ahLst/>
            <a:cxnLst/>
            <a:rect l="l" t="t" r="r" b="b"/>
            <a:pathLst>
              <a:path w="95885" h="240664">
                <a:moveTo>
                  <a:pt x="0" y="240436"/>
                </a:moveTo>
                <a:lnTo>
                  <a:pt x="95780" y="240436"/>
                </a:lnTo>
                <a:lnTo>
                  <a:pt x="95780" y="0"/>
                </a:lnTo>
                <a:lnTo>
                  <a:pt x="0" y="0"/>
                </a:lnTo>
                <a:lnTo>
                  <a:pt x="0" y="240436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51855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55843" y="2645028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187451" y="0"/>
                </a:moveTo>
                <a:lnTo>
                  <a:pt x="91439" y="0"/>
                </a:lnTo>
                <a:lnTo>
                  <a:pt x="0" y="91186"/>
                </a:lnTo>
                <a:lnTo>
                  <a:pt x="96011" y="91186"/>
                </a:lnTo>
                <a:lnTo>
                  <a:pt x="18745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56605" y="2645790"/>
            <a:ext cx="187960" cy="332105"/>
          </a:xfrm>
          <a:custGeom>
            <a:avLst/>
            <a:gdLst/>
            <a:ahLst/>
            <a:cxnLst/>
            <a:rect l="l" t="t" r="r" b="b"/>
            <a:pathLst>
              <a:path w="187960" h="332105">
                <a:moveTo>
                  <a:pt x="0" y="91312"/>
                </a:moveTo>
                <a:lnTo>
                  <a:pt x="91440" y="0"/>
                </a:lnTo>
                <a:lnTo>
                  <a:pt x="187452" y="0"/>
                </a:lnTo>
                <a:lnTo>
                  <a:pt x="187452" y="240792"/>
                </a:lnTo>
                <a:lnTo>
                  <a:pt x="96012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54225" y="2643409"/>
            <a:ext cx="214747" cy="33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69203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73191" y="2645028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187452" y="0"/>
                </a:moveTo>
                <a:lnTo>
                  <a:pt x="91440" y="0"/>
                </a:lnTo>
                <a:lnTo>
                  <a:pt x="0" y="91186"/>
                </a:lnTo>
                <a:lnTo>
                  <a:pt x="96012" y="91186"/>
                </a:lnTo>
                <a:lnTo>
                  <a:pt x="1874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73953" y="2645790"/>
            <a:ext cx="187960" cy="332105"/>
          </a:xfrm>
          <a:custGeom>
            <a:avLst/>
            <a:gdLst/>
            <a:ahLst/>
            <a:cxnLst/>
            <a:rect l="l" t="t" r="r" b="b"/>
            <a:pathLst>
              <a:path w="187960" h="332105">
                <a:moveTo>
                  <a:pt x="0" y="91312"/>
                </a:moveTo>
                <a:lnTo>
                  <a:pt x="91440" y="0"/>
                </a:lnTo>
                <a:lnTo>
                  <a:pt x="187451" y="0"/>
                </a:lnTo>
                <a:lnTo>
                  <a:pt x="187451" y="240792"/>
                </a:lnTo>
                <a:lnTo>
                  <a:pt x="96012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71572" y="2643409"/>
            <a:ext cx="216271" cy="3344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88075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92063" y="2645028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187451" y="0"/>
                </a:moveTo>
                <a:lnTo>
                  <a:pt x="91439" y="0"/>
                </a:lnTo>
                <a:lnTo>
                  <a:pt x="0" y="91186"/>
                </a:lnTo>
                <a:lnTo>
                  <a:pt x="96012" y="91186"/>
                </a:lnTo>
                <a:lnTo>
                  <a:pt x="187451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92825" y="2645790"/>
            <a:ext cx="187960" cy="332105"/>
          </a:xfrm>
          <a:custGeom>
            <a:avLst/>
            <a:gdLst/>
            <a:ahLst/>
            <a:cxnLst/>
            <a:rect l="l" t="t" r="r" b="b"/>
            <a:pathLst>
              <a:path w="187960" h="332105">
                <a:moveTo>
                  <a:pt x="0" y="91312"/>
                </a:moveTo>
                <a:lnTo>
                  <a:pt x="91439" y="0"/>
                </a:lnTo>
                <a:lnTo>
                  <a:pt x="187451" y="0"/>
                </a:lnTo>
                <a:lnTo>
                  <a:pt x="187451" y="240792"/>
                </a:lnTo>
                <a:lnTo>
                  <a:pt x="96012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090444" y="2643409"/>
            <a:ext cx="365854" cy="3344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05602" y="2721990"/>
            <a:ext cx="251460" cy="204470"/>
          </a:xfrm>
          <a:custGeom>
            <a:avLst/>
            <a:gdLst/>
            <a:ahLst/>
            <a:cxnLst/>
            <a:rect l="l" t="t" r="r" b="b"/>
            <a:pathLst>
              <a:path w="251460" h="204469">
                <a:moveTo>
                  <a:pt x="0" y="61849"/>
                </a:moveTo>
                <a:lnTo>
                  <a:pt x="61722" y="0"/>
                </a:lnTo>
                <a:lnTo>
                  <a:pt x="251206" y="0"/>
                </a:lnTo>
                <a:lnTo>
                  <a:pt x="251206" y="142112"/>
                </a:lnTo>
                <a:lnTo>
                  <a:pt x="189611" y="203962"/>
                </a:lnTo>
                <a:lnTo>
                  <a:pt x="0" y="203962"/>
                </a:lnTo>
                <a:lnTo>
                  <a:pt x="0" y="6184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205602" y="2721990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0" y="61849"/>
                </a:moveTo>
                <a:lnTo>
                  <a:pt x="189611" y="61849"/>
                </a:lnTo>
                <a:lnTo>
                  <a:pt x="25120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392832" y="2721228"/>
            <a:ext cx="270731" cy="204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12866" y="2721990"/>
            <a:ext cx="251460" cy="204470"/>
          </a:xfrm>
          <a:custGeom>
            <a:avLst/>
            <a:gdLst/>
            <a:ahLst/>
            <a:cxnLst/>
            <a:rect l="l" t="t" r="r" b="b"/>
            <a:pathLst>
              <a:path w="251460" h="204469">
                <a:moveTo>
                  <a:pt x="0" y="61849"/>
                </a:moveTo>
                <a:lnTo>
                  <a:pt x="61722" y="0"/>
                </a:lnTo>
                <a:lnTo>
                  <a:pt x="251206" y="0"/>
                </a:lnTo>
                <a:lnTo>
                  <a:pt x="251206" y="142112"/>
                </a:lnTo>
                <a:lnTo>
                  <a:pt x="189611" y="203962"/>
                </a:lnTo>
                <a:lnTo>
                  <a:pt x="0" y="203962"/>
                </a:lnTo>
                <a:lnTo>
                  <a:pt x="0" y="6184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12866" y="2721990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0" y="61849"/>
                </a:moveTo>
                <a:lnTo>
                  <a:pt x="189611" y="61849"/>
                </a:lnTo>
                <a:lnTo>
                  <a:pt x="25120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02477" y="2783839"/>
            <a:ext cx="0" cy="142240"/>
          </a:xfrm>
          <a:custGeom>
            <a:avLst/>
            <a:gdLst/>
            <a:ahLst/>
            <a:cxnLst/>
            <a:rect l="l" t="t" r="r" b="b"/>
            <a:pathLst>
              <a:path h="142239">
                <a:moveTo>
                  <a:pt x="0" y="0"/>
                </a:moveTo>
                <a:lnTo>
                  <a:pt x="0" y="14211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51372" y="2736443"/>
            <a:ext cx="95885" cy="240665"/>
          </a:xfrm>
          <a:custGeom>
            <a:avLst/>
            <a:gdLst/>
            <a:ahLst/>
            <a:cxnLst/>
            <a:rect l="l" t="t" r="r" b="b"/>
            <a:pathLst>
              <a:path w="95885" h="240664">
                <a:moveTo>
                  <a:pt x="0" y="240436"/>
                </a:moveTo>
                <a:lnTo>
                  <a:pt x="95798" y="240436"/>
                </a:lnTo>
                <a:lnTo>
                  <a:pt x="95798" y="0"/>
                </a:lnTo>
                <a:lnTo>
                  <a:pt x="0" y="0"/>
                </a:lnTo>
                <a:lnTo>
                  <a:pt x="0" y="240436"/>
                </a:lnTo>
                <a:close/>
              </a:path>
            </a:pathLst>
          </a:custGeom>
          <a:solidFill>
            <a:srgbClr val="C7D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747384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51372" y="2645028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187451" y="0"/>
                </a:moveTo>
                <a:lnTo>
                  <a:pt x="91439" y="0"/>
                </a:lnTo>
                <a:lnTo>
                  <a:pt x="0" y="91186"/>
                </a:lnTo>
                <a:lnTo>
                  <a:pt x="96012" y="91186"/>
                </a:lnTo>
                <a:lnTo>
                  <a:pt x="187451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52134" y="2645790"/>
            <a:ext cx="187960" cy="332105"/>
          </a:xfrm>
          <a:custGeom>
            <a:avLst/>
            <a:gdLst/>
            <a:ahLst/>
            <a:cxnLst/>
            <a:rect l="l" t="t" r="r" b="b"/>
            <a:pathLst>
              <a:path w="187960" h="332105">
                <a:moveTo>
                  <a:pt x="0" y="91312"/>
                </a:moveTo>
                <a:lnTo>
                  <a:pt x="91439" y="0"/>
                </a:lnTo>
                <a:lnTo>
                  <a:pt x="187451" y="0"/>
                </a:lnTo>
                <a:lnTo>
                  <a:pt x="187451" y="240792"/>
                </a:lnTo>
                <a:lnTo>
                  <a:pt x="96012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49752" y="2643409"/>
            <a:ext cx="216289" cy="3344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66255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770243" y="2645028"/>
            <a:ext cx="187325" cy="91440"/>
          </a:xfrm>
          <a:custGeom>
            <a:avLst/>
            <a:gdLst/>
            <a:ahLst/>
            <a:cxnLst/>
            <a:rect l="l" t="t" r="r" b="b"/>
            <a:pathLst>
              <a:path w="187325" h="91439">
                <a:moveTo>
                  <a:pt x="187070" y="0"/>
                </a:moveTo>
                <a:lnTo>
                  <a:pt x="91185" y="0"/>
                </a:lnTo>
                <a:lnTo>
                  <a:pt x="0" y="91186"/>
                </a:lnTo>
                <a:lnTo>
                  <a:pt x="95884" y="91186"/>
                </a:lnTo>
                <a:lnTo>
                  <a:pt x="18707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771005" y="2645790"/>
            <a:ext cx="187325" cy="332105"/>
          </a:xfrm>
          <a:custGeom>
            <a:avLst/>
            <a:gdLst/>
            <a:ahLst/>
            <a:cxnLst/>
            <a:rect l="l" t="t" r="r" b="b"/>
            <a:pathLst>
              <a:path w="187325" h="332105">
                <a:moveTo>
                  <a:pt x="0" y="91312"/>
                </a:moveTo>
                <a:lnTo>
                  <a:pt x="91186" y="0"/>
                </a:lnTo>
                <a:lnTo>
                  <a:pt x="187071" y="0"/>
                </a:lnTo>
                <a:lnTo>
                  <a:pt x="187071" y="240792"/>
                </a:lnTo>
                <a:lnTo>
                  <a:pt x="95885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68625" y="2643409"/>
            <a:ext cx="214747" cy="3344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983603" y="2645028"/>
            <a:ext cx="91440" cy="332105"/>
          </a:xfrm>
          <a:custGeom>
            <a:avLst/>
            <a:gdLst/>
            <a:ahLst/>
            <a:cxnLst/>
            <a:rect l="l" t="t" r="r" b="b"/>
            <a:pathLst>
              <a:path w="91439" h="332105">
                <a:moveTo>
                  <a:pt x="91186" y="0"/>
                </a:moveTo>
                <a:lnTo>
                  <a:pt x="0" y="91312"/>
                </a:lnTo>
                <a:lnTo>
                  <a:pt x="0" y="332105"/>
                </a:lnTo>
                <a:lnTo>
                  <a:pt x="91186" y="240792"/>
                </a:lnTo>
                <a:lnTo>
                  <a:pt x="911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887591" y="2645028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187452" y="0"/>
                </a:moveTo>
                <a:lnTo>
                  <a:pt x="91440" y="0"/>
                </a:lnTo>
                <a:lnTo>
                  <a:pt x="0" y="91186"/>
                </a:lnTo>
                <a:lnTo>
                  <a:pt x="96012" y="91186"/>
                </a:lnTo>
                <a:lnTo>
                  <a:pt x="1874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888353" y="2645790"/>
            <a:ext cx="187960" cy="332105"/>
          </a:xfrm>
          <a:custGeom>
            <a:avLst/>
            <a:gdLst/>
            <a:ahLst/>
            <a:cxnLst/>
            <a:rect l="l" t="t" r="r" b="b"/>
            <a:pathLst>
              <a:path w="187960" h="332105">
                <a:moveTo>
                  <a:pt x="0" y="91312"/>
                </a:moveTo>
                <a:lnTo>
                  <a:pt x="91440" y="0"/>
                </a:lnTo>
                <a:lnTo>
                  <a:pt x="187451" y="0"/>
                </a:lnTo>
                <a:lnTo>
                  <a:pt x="187451" y="240792"/>
                </a:lnTo>
                <a:lnTo>
                  <a:pt x="96012" y="332105"/>
                </a:lnTo>
                <a:lnTo>
                  <a:pt x="0" y="332105"/>
                </a:lnTo>
                <a:lnTo>
                  <a:pt x="0" y="9131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888353" y="2645790"/>
            <a:ext cx="187960" cy="91440"/>
          </a:xfrm>
          <a:custGeom>
            <a:avLst/>
            <a:gdLst/>
            <a:ahLst/>
            <a:cxnLst/>
            <a:rect l="l" t="t" r="r" b="b"/>
            <a:pathLst>
              <a:path w="187960" h="91439">
                <a:moveTo>
                  <a:pt x="0" y="91312"/>
                </a:moveTo>
                <a:lnTo>
                  <a:pt x="96012" y="91312"/>
                </a:lnTo>
                <a:lnTo>
                  <a:pt x="18745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984366" y="2737103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079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63519" y="262063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801"/>
                </a:lnTo>
              </a:path>
            </a:pathLst>
          </a:custGeom>
          <a:ln w="31814">
            <a:solidFill>
              <a:srgbClr val="C7DA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79616" y="2501772"/>
            <a:ext cx="118745" cy="589915"/>
          </a:xfrm>
          <a:custGeom>
            <a:avLst/>
            <a:gdLst/>
            <a:ahLst/>
            <a:cxnLst/>
            <a:rect l="l" t="t" r="r" b="b"/>
            <a:pathLst>
              <a:path w="118745" h="589914">
                <a:moveTo>
                  <a:pt x="118745" y="0"/>
                </a:moveTo>
                <a:lnTo>
                  <a:pt x="0" y="118618"/>
                </a:lnTo>
                <a:lnTo>
                  <a:pt x="0" y="589534"/>
                </a:lnTo>
                <a:lnTo>
                  <a:pt x="118745" y="470915"/>
                </a:lnTo>
                <a:lnTo>
                  <a:pt x="11874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47611" y="2501772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5" h="118744">
                <a:moveTo>
                  <a:pt x="150495" y="0"/>
                </a:moveTo>
                <a:lnTo>
                  <a:pt x="118617" y="0"/>
                </a:lnTo>
                <a:lnTo>
                  <a:pt x="0" y="118744"/>
                </a:lnTo>
                <a:lnTo>
                  <a:pt x="31876" y="118744"/>
                </a:lnTo>
                <a:lnTo>
                  <a:pt x="15049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48373" y="2502534"/>
            <a:ext cx="150495" cy="589915"/>
          </a:xfrm>
          <a:custGeom>
            <a:avLst/>
            <a:gdLst/>
            <a:ahLst/>
            <a:cxnLst/>
            <a:rect l="l" t="t" r="r" b="b"/>
            <a:pathLst>
              <a:path w="150495" h="589914">
                <a:moveTo>
                  <a:pt x="0" y="118618"/>
                </a:moveTo>
                <a:lnTo>
                  <a:pt x="118617" y="0"/>
                </a:lnTo>
                <a:lnTo>
                  <a:pt x="150495" y="0"/>
                </a:lnTo>
                <a:lnTo>
                  <a:pt x="150495" y="470915"/>
                </a:lnTo>
                <a:lnTo>
                  <a:pt x="31876" y="589534"/>
                </a:lnTo>
                <a:lnTo>
                  <a:pt x="0" y="589534"/>
                </a:lnTo>
                <a:lnTo>
                  <a:pt x="0" y="118618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48373" y="2502534"/>
            <a:ext cx="150495" cy="118745"/>
          </a:xfrm>
          <a:custGeom>
            <a:avLst/>
            <a:gdLst/>
            <a:ahLst/>
            <a:cxnLst/>
            <a:rect l="l" t="t" r="r" b="b"/>
            <a:pathLst>
              <a:path w="150495" h="118744">
                <a:moveTo>
                  <a:pt x="0" y="118618"/>
                </a:moveTo>
                <a:lnTo>
                  <a:pt x="31876" y="118618"/>
                </a:lnTo>
                <a:lnTo>
                  <a:pt x="150495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080250" y="262115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91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22188" y="262063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801"/>
                </a:lnTo>
              </a:path>
            </a:pathLst>
          </a:custGeom>
          <a:ln w="33329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137528" y="2501772"/>
            <a:ext cx="118745" cy="589915"/>
          </a:xfrm>
          <a:custGeom>
            <a:avLst/>
            <a:gdLst/>
            <a:ahLst/>
            <a:cxnLst/>
            <a:rect l="l" t="t" r="r" b="b"/>
            <a:pathLst>
              <a:path w="118745" h="589914">
                <a:moveTo>
                  <a:pt x="118745" y="0"/>
                </a:moveTo>
                <a:lnTo>
                  <a:pt x="0" y="118618"/>
                </a:lnTo>
                <a:lnTo>
                  <a:pt x="0" y="589534"/>
                </a:lnTo>
                <a:lnTo>
                  <a:pt x="118745" y="470915"/>
                </a:lnTo>
                <a:lnTo>
                  <a:pt x="118745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105523" y="2501772"/>
            <a:ext cx="152400" cy="118745"/>
          </a:xfrm>
          <a:custGeom>
            <a:avLst/>
            <a:gdLst/>
            <a:ahLst/>
            <a:cxnLst/>
            <a:rect l="l" t="t" r="r" b="b"/>
            <a:pathLst>
              <a:path w="152400" h="118744">
                <a:moveTo>
                  <a:pt x="152018" y="0"/>
                </a:moveTo>
                <a:lnTo>
                  <a:pt x="119761" y="0"/>
                </a:lnTo>
                <a:lnTo>
                  <a:pt x="0" y="118744"/>
                </a:lnTo>
                <a:lnTo>
                  <a:pt x="32258" y="118744"/>
                </a:lnTo>
                <a:lnTo>
                  <a:pt x="15201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107428" y="2502534"/>
            <a:ext cx="151130" cy="589915"/>
          </a:xfrm>
          <a:custGeom>
            <a:avLst/>
            <a:gdLst/>
            <a:ahLst/>
            <a:cxnLst/>
            <a:rect l="l" t="t" r="r" b="b"/>
            <a:pathLst>
              <a:path w="151129" h="589914">
                <a:moveTo>
                  <a:pt x="0" y="118618"/>
                </a:moveTo>
                <a:lnTo>
                  <a:pt x="118872" y="0"/>
                </a:lnTo>
                <a:lnTo>
                  <a:pt x="150875" y="0"/>
                </a:lnTo>
                <a:lnTo>
                  <a:pt x="150875" y="470915"/>
                </a:lnTo>
                <a:lnTo>
                  <a:pt x="32004" y="589534"/>
                </a:lnTo>
                <a:lnTo>
                  <a:pt x="0" y="589534"/>
                </a:lnTo>
                <a:lnTo>
                  <a:pt x="0" y="118618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107428" y="2502534"/>
            <a:ext cx="151130" cy="118745"/>
          </a:xfrm>
          <a:custGeom>
            <a:avLst/>
            <a:gdLst/>
            <a:ahLst/>
            <a:cxnLst/>
            <a:rect l="l" t="t" r="r" b="b"/>
            <a:pathLst>
              <a:path w="151129" h="118744">
                <a:moveTo>
                  <a:pt x="0" y="118618"/>
                </a:moveTo>
                <a:lnTo>
                  <a:pt x="32004" y="118618"/>
                </a:lnTo>
                <a:lnTo>
                  <a:pt x="150875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139432" y="2621152"/>
            <a:ext cx="0" cy="471170"/>
          </a:xfrm>
          <a:custGeom>
            <a:avLst/>
            <a:gdLst/>
            <a:ahLst/>
            <a:cxnLst/>
            <a:rect l="l" t="t" r="r" b="b"/>
            <a:pathLst>
              <a:path h="471169">
                <a:moveTo>
                  <a:pt x="0" y="0"/>
                </a:moveTo>
                <a:lnTo>
                  <a:pt x="0" y="47091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251322" y="2548508"/>
            <a:ext cx="521334" cy="66040"/>
          </a:xfrm>
          <a:custGeom>
            <a:avLst/>
            <a:gdLst/>
            <a:ahLst/>
            <a:cxnLst/>
            <a:rect l="l" t="t" r="r" b="b"/>
            <a:pathLst>
              <a:path w="521335" h="66039">
                <a:moveTo>
                  <a:pt x="0" y="65404"/>
                </a:moveTo>
                <a:lnTo>
                  <a:pt x="635" y="64896"/>
                </a:lnTo>
                <a:lnTo>
                  <a:pt x="1142" y="64515"/>
                </a:lnTo>
                <a:lnTo>
                  <a:pt x="67817" y="30606"/>
                </a:lnTo>
                <a:lnTo>
                  <a:pt x="125602" y="14477"/>
                </a:lnTo>
                <a:lnTo>
                  <a:pt x="191135" y="3937"/>
                </a:lnTo>
                <a:lnTo>
                  <a:pt x="260476" y="0"/>
                </a:lnTo>
                <a:lnTo>
                  <a:pt x="295528" y="1015"/>
                </a:lnTo>
                <a:lnTo>
                  <a:pt x="363474" y="8508"/>
                </a:lnTo>
                <a:lnTo>
                  <a:pt x="425576" y="22097"/>
                </a:lnTo>
                <a:lnTo>
                  <a:pt x="489076" y="45719"/>
                </a:lnTo>
                <a:lnTo>
                  <a:pt x="517651" y="62991"/>
                </a:lnTo>
                <a:lnTo>
                  <a:pt x="518667" y="63753"/>
                </a:lnTo>
                <a:lnTo>
                  <a:pt x="519556" y="64388"/>
                </a:lnTo>
                <a:lnTo>
                  <a:pt x="519938" y="64769"/>
                </a:lnTo>
                <a:lnTo>
                  <a:pt x="520445" y="65150"/>
                </a:lnTo>
                <a:lnTo>
                  <a:pt x="520826" y="65531"/>
                </a:lnTo>
                <a:lnTo>
                  <a:pt x="521080" y="6578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35319" y="2606928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29" h="30480">
                <a:moveTo>
                  <a:pt x="5968" y="0"/>
                </a:moveTo>
                <a:lnTo>
                  <a:pt x="0" y="30099"/>
                </a:lnTo>
                <a:lnTo>
                  <a:pt x="24129" y="10921"/>
                </a:lnTo>
                <a:lnTo>
                  <a:pt x="596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236081" y="2607690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29" h="30480">
                <a:moveTo>
                  <a:pt x="5968" y="0"/>
                </a:moveTo>
                <a:lnTo>
                  <a:pt x="0" y="30099"/>
                </a:lnTo>
                <a:lnTo>
                  <a:pt x="24129" y="10921"/>
                </a:lnTo>
                <a:lnTo>
                  <a:pt x="5968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62623" y="2606928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29" h="30480">
                <a:moveTo>
                  <a:pt x="18161" y="0"/>
                </a:moveTo>
                <a:lnTo>
                  <a:pt x="0" y="10794"/>
                </a:lnTo>
                <a:lnTo>
                  <a:pt x="24129" y="30099"/>
                </a:lnTo>
                <a:lnTo>
                  <a:pt x="1816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63385" y="2607690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29" h="30480">
                <a:moveTo>
                  <a:pt x="0" y="10794"/>
                </a:moveTo>
                <a:lnTo>
                  <a:pt x="24129" y="30099"/>
                </a:lnTo>
                <a:lnTo>
                  <a:pt x="18161" y="0"/>
                </a:lnTo>
                <a:lnTo>
                  <a:pt x="0" y="10794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941949" y="2404998"/>
            <a:ext cx="1110615" cy="179705"/>
          </a:xfrm>
          <a:custGeom>
            <a:avLst/>
            <a:gdLst/>
            <a:ahLst/>
            <a:cxnLst/>
            <a:rect l="l" t="t" r="r" b="b"/>
            <a:pathLst>
              <a:path w="1110614" h="179705">
                <a:moveTo>
                  <a:pt x="0" y="70104"/>
                </a:moveTo>
                <a:lnTo>
                  <a:pt x="48387" y="50926"/>
                </a:lnTo>
                <a:lnTo>
                  <a:pt x="113791" y="33909"/>
                </a:lnTo>
                <a:lnTo>
                  <a:pt x="152526" y="26162"/>
                </a:lnTo>
                <a:lnTo>
                  <a:pt x="209169" y="17144"/>
                </a:lnTo>
                <a:lnTo>
                  <a:pt x="270763" y="9651"/>
                </a:lnTo>
                <a:lnTo>
                  <a:pt x="336423" y="4063"/>
                </a:lnTo>
                <a:lnTo>
                  <a:pt x="405129" y="762"/>
                </a:lnTo>
                <a:lnTo>
                  <a:pt x="440182" y="0"/>
                </a:lnTo>
                <a:lnTo>
                  <a:pt x="475741" y="0"/>
                </a:lnTo>
                <a:lnTo>
                  <a:pt x="547370" y="2159"/>
                </a:lnTo>
                <a:lnTo>
                  <a:pt x="618998" y="7493"/>
                </a:lnTo>
                <a:lnTo>
                  <a:pt x="689610" y="15748"/>
                </a:lnTo>
                <a:lnTo>
                  <a:pt x="758316" y="26797"/>
                </a:lnTo>
                <a:lnTo>
                  <a:pt x="823849" y="40512"/>
                </a:lnTo>
                <a:lnTo>
                  <a:pt x="885571" y="56387"/>
                </a:lnTo>
                <a:lnTo>
                  <a:pt x="942213" y="74549"/>
                </a:lnTo>
                <a:lnTo>
                  <a:pt x="980821" y="89407"/>
                </a:lnTo>
                <a:lnTo>
                  <a:pt x="1015746" y="105282"/>
                </a:lnTo>
                <a:lnTo>
                  <a:pt x="1072388" y="139573"/>
                </a:lnTo>
                <a:lnTo>
                  <a:pt x="1109345" y="177545"/>
                </a:lnTo>
                <a:lnTo>
                  <a:pt x="1110361" y="179197"/>
                </a:lnTo>
                <a:lnTo>
                  <a:pt x="1110614" y="179578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921375" y="2466720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12826" y="0"/>
                </a:moveTo>
                <a:lnTo>
                  <a:pt x="0" y="27304"/>
                </a:lnTo>
                <a:lnTo>
                  <a:pt x="27304" y="14604"/>
                </a:lnTo>
                <a:lnTo>
                  <a:pt x="12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922137" y="2467482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12826" y="0"/>
                </a:moveTo>
                <a:lnTo>
                  <a:pt x="0" y="27304"/>
                </a:lnTo>
                <a:lnTo>
                  <a:pt x="27304" y="14604"/>
                </a:lnTo>
                <a:lnTo>
                  <a:pt x="12826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041516" y="2581020"/>
            <a:ext cx="21590" cy="30480"/>
          </a:xfrm>
          <a:custGeom>
            <a:avLst/>
            <a:gdLst/>
            <a:ahLst/>
            <a:cxnLst/>
            <a:rect l="l" t="t" r="r" b="b"/>
            <a:pathLst>
              <a:path w="21589" h="30480">
                <a:moveTo>
                  <a:pt x="21082" y="0"/>
                </a:moveTo>
                <a:lnTo>
                  <a:pt x="0" y="6095"/>
                </a:lnTo>
                <a:lnTo>
                  <a:pt x="19431" y="30225"/>
                </a:lnTo>
                <a:lnTo>
                  <a:pt x="210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042278" y="2581782"/>
            <a:ext cx="21590" cy="30480"/>
          </a:xfrm>
          <a:custGeom>
            <a:avLst/>
            <a:gdLst/>
            <a:ahLst/>
            <a:cxnLst/>
            <a:rect l="l" t="t" r="r" b="b"/>
            <a:pathLst>
              <a:path w="21589" h="30480">
                <a:moveTo>
                  <a:pt x="0" y="6095"/>
                </a:moveTo>
                <a:lnTo>
                  <a:pt x="19431" y="30225"/>
                </a:lnTo>
                <a:lnTo>
                  <a:pt x="21082" y="0"/>
                </a:lnTo>
                <a:lnTo>
                  <a:pt x="0" y="6095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30167" y="2614040"/>
            <a:ext cx="121539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Corresponding pairs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of  </a:t>
            </a:r>
            <a:r>
              <a:rPr sz="900" spc="15" dirty="0">
                <a:latin typeface="Arial"/>
                <a:cs typeface="Arial"/>
              </a:rPr>
              <a:t>downsampling and  </a:t>
            </a:r>
            <a:r>
              <a:rPr sz="900" spc="10" dirty="0">
                <a:latin typeface="Arial"/>
                <a:cs typeface="Arial"/>
              </a:rPr>
              <a:t>upsampling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layers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0763" y="1377871"/>
          <a:ext cx="1021080" cy="1046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14472" y="1366060"/>
          <a:ext cx="1021080" cy="1046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220" y="701945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步长</a:t>
            </a:r>
            <a:r>
              <a:rPr sz="1200" spc="-5" dirty="0">
                <a:latin typeface="微软雅黑"/>
                <a:cs typeface="微软雅黑"/>
              </a:rPr>
              <a:t>（stride）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6411" y="1147825"/>
          <a:ext cx="1280159" cy="12818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45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14472" y="1388141"/>
          <a:ext cx="1021080" cy="104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2" y="251409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51409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0909" y="1545462"/>
            <a:ext cx="854710" cy="0"/>
          </a:xfrm>
          <a:custGeom>
            <a:avLst/>
            <a:gdLst/>
            <a:ahLst/>
            <a:cxnLst/>
            <a:rect l="l" t="t" r="r" b="b"/>
            <a:pathLst>
              <a:path w="854710">
                <a:moveTo>
                  <a:pt x="0" y="0"/>
                </a:moveTo>
                <a:lnTo>
                  <a:pt x="8545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85967" y="1503554"/>
            <a:ext cx="105155" cy="82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1046" y="1655190"/>
            <a:ext cx="7188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Dot </a:t>
            </a:r>
            <a:r>
              <a:rPr sz="900" spc="10" dirty="0">
                <a:latin typeface="Arial"/>
                <a:cs typeface="Arial"/>
              </a:rPr>
              <a:t>product  </a:t>
            </a:r>
            <a:r>
              <a:rPr sz="900" spc="15" dirty="0">
                <a:latin typeface="Arial"/>
                <a:cs typeface="Arial"/>
              </a:rPr>
              <a:t>between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filter  </a:t>
            </a:r>
            <a:r>
              <a:rPr sz="900" spc="15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219" y="724534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步长</a:t>
            </a:r>
            <a:r>
              <a:rPr sz="1200" spc="-5" dirty="0">
                <a:latin typeface="微软雅黑"/>
                <a:cs typeface="微软雅黑"/>
              </a:rPr>
              <a:t>（stride）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6412" y="1125744"/>
          <a:ext cx="1280156" cy="1281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45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14472" y="1366060"/>
          <a:ext cx="1021080" cy="1046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FE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0910" y="1523381"/>
            <a:ext cx="854710" cy="0"/>
          </a:xfrm>
          <a:custGeom>
            <a:avLst/>
            <a:gdLst/>
            <a:ahLst/>
            <a:cxnLst/>
            <a:rect l="l" t="t" r="r" b="b"/>
            <a:pathLst>
              <a:path w="854710">
                <a:moveTo>
                  <a:pt x="0" y="0"/>
                </a:moveTo>
                <a:lnTo>
                  <a:pt x="8545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85968" y="1481471"/>
            <a:ext cx="105155" cy="8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1047" y="1632093"/>
            <a:ext cx="71882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Dot </a:t>
            </a:r>
            <a:r>
              <a:rPr sz="900" spc="10" dirty="0">
                <a:latin typeface="Arial"/>
                <a:cs typeface="Arial"/>
              </a:rPr>
              <a:t>product  </a:t>
            </a:r>
            <a:r>
              <a:rPr sz="900" spc="15" dirty="0">
                <a:latin typeface="Arial"/>
                <a:cs typeface="Arial"/>
              </a:rPr>
              <a:t>between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filter  </a:t>
            </a:r>
            <a:r>
              <a:rPr sz="900" spc="15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220" y="701945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步长</a:t>
            </a:r>
            <a:r>
              <a:rPr sz="1200" spc="-5" dirty="0">
                <a:latin typeface="微软雅黑"/>
                <a:cs typeface="微软雅黑"/>
              </a:rPr>
              <a:t>（stride）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0763" y="1399952"/>
          <a:ext cx="1021080" cy="104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69615" y="1628552"/>
          <a:ext cx="510540" cy="523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2" y="251409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51409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219" y="724534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步长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（stride）</a:t>
            </a:r>
            <a:r>
              <a:rPr sz="12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6412" y="1125744"/>
          <a:ext cx="1280159" cy="1281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45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69615" y="1606471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0910" y="1523381"/>
            <a:ext cx="854710" cy="0"/>
          </a:xfrm>
          <a:custGeom>
            <a:avLst/>
            <a:gdLst/>
            <a:ahLst/>
            <a:cxnLst/>
            <a:rect l="l" t="t" r="r" b="b"/>
            <a:pathLst>
              <a:path w="854710">
                <a:moveTo>
                  <a:pt x="0" y="0"/>
                </a:moveTo>
                <a:lnTo>
                  <a:pt x="8545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85968" y="1481471"/>
            <a:ext cx="105155" cy="8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1047" y="1632093"/>
            <a:ext cx="71882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Dot </a:t>
            </a:r>
            <a:r>
              <a:rPr sz="900" spc="10" dirty="0">
                <a:latin typeface="Arial"/>
                <a:cs typeface="Arial"/>
              </a:rPr>
              <a:t>product  </a:t>
            </a:r>
            <a:r>
              <a:rPr sz="900" spc="15" dirty="0">
                <a:latin typeface="Arial"/>
                <a:cs typeface="Arial"/>
              </a:rPr>
              <a:t>between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filter  </a:t>
            </a:r>
            <a:r>
              <a:rPr sz="900" spc="15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220" y="701945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步长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（stride）</a:t>
            </a:r>
            <a:r>
              <a:rPr sz="12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6411" y="1147825"/>
          <a:ext cx="1278889" cy="12818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4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69615" y="1628552"/>
          <a:ext cx="510540" cy="523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FE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2" y="251409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51409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1046" y="1655190"/>
            <a:ext cx="7188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Dot </a:t>
            </a:r>
            <a:r>
              <a:rPr sz="900" spc="10" dirty="0">
                <a:latin typeface="Arial"/>
                <a:cs typeface="Arial"/>
              </a:rPr>
              <a:t>product  </a:t>
            </a:r>
            <a:r>
              <a:rPr sz="900" spc="15" dirty="0">
                <a:latin typeface="Arial"/>
                <a:cs typeface="Arial"/>
              </a:rPr>
              <a:t>between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filter  </a:t>
            </a:r>
            <a:r>
              <a:rPr sz="900" spc="15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8273" y="1494154"/>
            <a:ext cx="123634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114"/>
              </a:spcBef>
            </a:pPr>
            <a:r>
              <a:rPr sz="900" spc="5" dirty="0">
                <a:latin typeface="Arial"/>
                <a:cs typeface="Arial"/>
              </a:rPr>
              <a:t>Filter </a:t>
            </a:r>
            <a:r>
              <a:rPr sz="900" spc="15" dirty="0">
                <a:latin typeface="Arial"/>
                <a:cs typeface="Arial"/>
              </a:rPr>
              <a:t>moves 2 </a:t>
            </a:r>
            <a:r>
              <a:rPr sz="900" spc="5" dirty="0">
                <a:latin typeface="Arial"/>
                <a:cs typeface="Arial"/>
              </a:rPr>
              <a:t>pixels in 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input for </a:t>
            </a:r>
            <a:r>
              <a:rPr sz="900" spc="15" dirty="0">
                <a:latin typeface="Arial"/>
                <a:cs typeface="Arial"/>
              </a:rPr>
              <a:t>every </a:t>
            </a:r>
            <a:r>
              <a:rPr sz="900" spc="10" dirty="0">
                <a:latin typeface="Arial"/>
                <a:cs typeface="Arial"/>
              </a:rPr>
              <a:t>one  pixel in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8273" y="2053208"/>
            <a:ext cx="137477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Stride gives ratio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between  movement </a:t>
            </a:r>
            <a:r>
              <a:rPr sz="900" spc="10" dirty="0">
                <a:latin typeface="Arial"/>
                <a:cs typeface="Arial"/>
              </a:rPr>
              <a:t>in input </a:t>
            </a:r>
            <a:r>
              <a:rPr sz="900" spc="15" dirty="0">
                <a:latin typeface="Arial"/>
                <a:cs typeface="Arial"/>
              </a:rPr>
              <a:t>and  </a:t>
            </a:r>
            <a:r>
              <a:rPr sz="900" spc="10" dirty="0"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40909" y="1545462"/>
            <a:ext cx="854710" cy="0"/>
          </a:xfrm>
          <a:custGeom>
            <a:avLst/>
            <a:gdLst/>
            <a:ahLst/>
            <a:cxnLst/>
            <a:rect l="l" t="t" r="r" b="b"/>
            <a:pathLst>
              <a:path w="854710">
                <a:moveTo>
                  <a:pt x="0" y="0"/>
                </a:moveTo>
                <a:lnTo>
                  <a:pt x="8545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5967" y="1503554"/>
            <a:ext cx="105155" cy="82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219" y="724534"/>
            <a:ext cx="3756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回顾:</a:t>
            </a:r>
            <a:r>
              <a:rPr sz="1200" b="1" spc="33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1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1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卷积,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步长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（stride）</a:t>
            </a:r>
            <a:r>
              <a:rPr sz="12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sz="1200" spc="-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，零填充</a:t>
            </a:r>
            <a:r>
              <a:rPr sz="1200" spc="-5" dirty="0">
                <a:latin typeface="微软雅黑"/>
                <a:cs typeface="微软雅黑"/>
              </a:rPr>
              <a:t>（pad）</a:t>
            </a:r>
            <a:r>
              <a:rPr sz="1200" spc="-10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554" y="689118"/>
            <a:ext cx="403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转置卷积</a:t>
            </a:r>
            <a:r>
              <a:rPr sz="1200" spc="-5" dirty="0">
                <a:latin typeface="微软雅黑"/>
                <a:cs typeface="微软雅黑"/>
              </a:rPr>
              <a:t>（transpose</a:t>
            </a:r>
            <a:r>
              <a:rPr sz="120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convolution）,</a:t>
            </a:r>
            <a:r>
              <a:rPr sz="1200" spc="-2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stride</a:t>
            </a:r>
            <a:r>
              <a:rPr sz="1200" dirty="0">
                <a:latin typeface="微软雅黑"/>
                <a:cs typeface="微软雅黑"/>
              </a:rPr>
              <a:t> 2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pad</a:t>
            </a:r>
            <a:r>
              <a:rPr sz="1200" spc="-9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6033" y="1630093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14472" y="1389682"/>
          <a:ext cx="1021080" cy="1046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6033" y="1652174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1932" y="251409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175" y="251409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52058" y="1160233"/>
          <a:ext cx="1280794" cy="1294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81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1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4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987925" y="1545462"/>
            <a:ext cx="853440" cy="0"/>
          </a:xfrm>
          <a:custGeom>
            <a:avLst/>
            <a:gdLst/>
            <a:ahLst/>
            <a:cxnLst/>
            <a:rect l="l" t="t" r="r" b="b"/>
            <a:pathLst>
              <a:path w="853439">
                <a:moveTo>
                  <a:pt x="0" y="0"/>
                </a:moveTo>
                <a:lnTo>
                  <a:pt x="853059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31459" y="1503554"/>
            <a:ext cx="105155" cy="82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66792" y="1655190"/>
            <a:ext cx="58674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Input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gives  weight for  </a:t>
            </a:r>
            <a:r>
              <a:rPr sz="900" spc="5" dirty="0">
                <a:latin typeface="Arial"/>
                <a:cs typeface="Arial"/>
              </a:rPr>
              <a:t>filter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553" y="711834"/>
            <a:ext cx="403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转置卷积</a:t>
            </a:r>
            <a:r>
              <a:rPr sz="1200" spc="-5" dirty="0">
                <a:latin typeface="微软雅黑"/>
                <a:cs typeface="微软雅黑"/>
              </a:rPr>
              <a:t>（transpose</a:t>
            </a:r>
            <a:r>
              <a:rPr sz="120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convolution）,</a:t>
            </a:r>
            <a:r>
              <a:rPr sz="1200" spc="-2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stride</a:t>
            </a:r>
            <a:r>
              <a:rPr sz="1200" dirty="0">
                <a:latin typeface="微软雅黑"/>
                <a:cs typeface="微软雅黑"/>
              </a:rPr>
              <a:t> 2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pad</a:t>
            </a:r>
            <a:r>
              <a:rPr sz="1200" spc="-9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6033" y="1630093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52059" y="1138152"/>
          <a:ext cx="1278889" cy="12944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8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4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987926" y="1523381"/>
            <a:ext cx="853440" cy="0"/>
          </a:xfrm>
          <a:custGeom>
            <a:avLst/>
            <a:gdLst/>
            <a:ahLst/>
            <a:cxnLst/>
            <a:rect l="l" t="t" r="r" b="b"/>
            <a:pathLst>
              <a:path w="853439">
                <a:moveTo>
                  <a:pt x="0" y="0"/>
                </a:moveTo>
                <a:lnTo>
                  <a:pt x="853059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31460" y="1481471"/>
            <a:ext cx="105155" cy="8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66793" y="1632093"/>
            <a:ext cx="58674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Input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gives  weight for  </a:t>
            </a:r>
            <a:r>
              <a:rPr sz="900" spc="5" dirty="0">
                <a:latin typeface="Arial"/>
                <a:cs typeface="Arial"/>
              </a:rPr>
              <a:t>filter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8274" y="1471565"/>
            <a:ext cx="12649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Filter </a:t>
            </a:r>
            <a:r>
              <a:rPr sz="900" spc="15" dirty="0">
                <a:latin typeface="Arial"/>
                <a:cs typeface="Arial"/>
              </a:rPr>
              <a:t>moves 2 </a:t>
            </a:r>
            <a:r>
              <a:rPr sz="900" spc="10" dirty="0">
                <a:latin typeface="Arial"/>
                <a:cs typeface="Arial"/>
              </a:rPr>
              <a:t>pixels in 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900" spc="10" dirty="0">
                <a:latin typeface="Arial"/>
                <a:cs typeface="Arial"/>
              </a:rPr>
              <a:t> for </a:t>
            </a:r>
            <a:r>
              <a:rPr sz="900" spc="15" dirty="0">
                <a:latin typeface="Arial"/>
                <a:cs typeface="Arial"/>
              </a:rPr>
              <a:t>every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one  </a:t>
            </a:r>
            <a:r>
              <a:rPr sz="900" spc="10" dirty="0">
                <a:latin typeface="Arial"/>
                <a:cs typeface="Arial"/>
              </a:rPr>
              <a:t>pixel in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8274" y="2030492"/>
            <a:ext cx="137477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Stride gives ratio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between  movement </a:t>
            </a:r>
            <a:r>
              <a:rPr sz="900" spc="10" dirty="0">
                <a:latin typeface="Arial"/>
                <a:cs typeface="Arial"/>
              </a:rPr>
              <a:t>in output </a:t>
            </a:r>
            <a:r>
              <a:rPr sz="900" spc="15" dirty="0">
                <a:latin typeface="Arial"/>
                <a:cs typeface="Arial"/>
              </a:rPr>
              <a:t>and 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3554" y="689118"/>
            <a:ext cx="403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转置卷积</a:t>
            </a:r>
            <a:r>
              <a:rPr sz="1200" spc="-5" dirty="0">
                <a:latin typeface="微软雅黑"/>
                <a:cs typeface="微软雅黑"/>
              </a:rPr>
              <a:t>（transpose</a:t>
            </a:r>
            <a:r>
              <a:rPr sz="120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convolution）,</a:t>
            </a:r>
            <a:r>
              <a:rPr sz="1200" spc="-2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stride</a:t>
            </a:r>
            <a:r>
              <a:rPr sz="1200" dirty="0">
                <a:latin typeface="微软雅黑"/>
                <a:cs typeface="微软雅黑"/>
              </a:rPr>
              <a:t> 2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pad</a:t>
            </a:r>
            <a:r>
              <a:rPr sz="1200" spc="-9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6033" y="1652174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1932" y="2514091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175" y="2514091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0028" y="1414398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5553" y="1414398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31077" y="1414398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6728" y="1414398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42252" y="1414398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16853" y="1417573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16853" y="1679193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16853" y="194094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16853" y="220256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6853" y="246418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61583" y="1169758"/>
            <a:ext cx="768350" cy="725170"/>
          </a:xfrm>
          <a:custGeom>
            <a:avLst/>
            <a:gdLst/>
            <a:ahLst/>
            <a:cxnLst/>
            <a:rect l="l" t="t" r="r" b="b"/>
            <a:pathLst>
              <a:path w="768350" h="725169">
                <a:moveTo>
                  <a:pt x="0" y="725081"/>
                </a:moveTo>
                <a:lnTo>
                  <a:pt x="768096" y="725081"/>
                </a:lnTo>
                <a:lnTo>
                  <a:pt x="768096" y="0"/>
                </a:lnTo>
                <a:lnTo>
                  <a:pt x="0" y="0"/>
                </a:lnTo>
                <a:lnTo>
                  <a:pt x="0" y="7250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72123" y="1169758"/>
            <a:ext cx="768350" cy="725170"/>
          </a:xfrm>
          <a:custGeom>
            <a:avLst/>
            <a:gdLst/>
            <a:ahLst/>
            <a:cxnLst/>
            <a:rect l="l" t="t" r="r" b="b"/>
            <a:pathLst>
              <a:path w="768350" h="725169">
                <a:moveTo>
                  <a:pt x="0" y="725081"/>
                </a:moveTo>
                <a:lnTo>
                  <a:pt x="768096" y="725081"/>
                </a:lnTo>
                <a:lnTo>
                  <a:pt x="768096" y="0"/>
                </a:lnTo>
                <a:lnTo>
                  <a:pt x="0" y="0"/>
                </a:lnTo>
                <a:lnTo>
                  <a:pt x="0" y="725081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28917" y="1066926"/>
            <a:ext cx="1027430" cy="364490"/>
          </a:xfrm>
          <a:custGeom>
            <a:avLst/>
            <a:gdLst/>
            <a:ahLst/>
            <a:cxnLst/>
            <a:rect l="l" t="t" r="r" b="b"/>
            <a:pathLst>
              <a:path w="1027429" h="364490">
                <a:moveTo>
                  <a:pt x="1027049" y="0"/>
                </a:moveTo>
                <a:lnTo>
                  <a:pt x="0" y="363982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44335" y="1392300"/>
            <a:ext cx="109727" cy="8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87925" y="1545462"/>
            <a:ext cx="853440" cy="0"/>
          </a:xfrm>
          <a:custGeom>
            <a:avLst/>
            <a:gdLst/>
            <a:ahLst/>
            <a:cxnLst/>
            <a:rect l="l" t="t" r="r" b="b"/>
            <a:pathLst>
              <a:path w="853439">
                <a:moveTo>
                  <a:pt x="0" y="0"/>
                </a:moveTo>
                <a:lnTo>
                  <a:pt x="853059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31459" y="1503554"/>
            <a:ext cx="105155" cy="822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66792" y="1655190"/>
            <a:ext cx="58674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Input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gives  weight for  </a:t>
            </a:r>
            <a:r>
              <a:rPr sz="900" spc="5" dirty="0">
                <a:latin typeface="Arial"/>
                <a:cs typeface="Arial"/>
              </a:rPr>
              <a:t>filter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8273" y="1494154"/>
            <a:ext cx="12649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Filter </a:t>
            </a:r>
            <a:r>
              <a:rPr sz="900" spc="15" dirty="0">
                <a:latin typeface="Arial"/>
                <a:cs typeface="Arial"/>
              </a:rPr>
              <a:t>moves 2 </a:t>
            </a:r>
            <a:r>
              <a:rPr sz="900" spc="10" dirty="0">
                <a:latin typeface="Arial"/>
                <a:cs typeface="Arial"/>
              </a:rPr>
              <a:t>pixels in 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900" spc="10" dirty="0">
                <a:latin typeface="Arial"/>
                <a:cs typeface="Arial"/>
              </a:rPr>
              <a:t> for </a:t>
            </a:r>
            <a:r>
              <a:rPr sz="900" spc="15" dirty="0">
                <a:latin typeface="Arial"/>
                <a:cs typeface="Arial"/>
              </a:rPr>
              <a:t>every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one  </a:t>
            </a:r>
            <a:r>
              <a:rPr sz="900" spc="10" dirty="0">
                <a:latin typeface="Arial"/>
                <a:cs typeface="Arial"/>
              </a:rPr>
              <a:t>pixel in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8273" y="2053208"/>
            <a:ext cx="137477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Stride gives ratio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between  movement </a:t>
            </a:r>
            <a:r>
              <a:rPr sz="900" spc="10" dirty="0">
                <a:latin typeface="Arial"/>
                <a:cs typeface="Arial"/>
              </a:rPr>
              <a:t>in output </a:t>
            </a:r>
            <a:r>
              <a:rPr sz="900" spc="15" dirty="0">
                <a:latin typeface="Arial"/>
                <a:cs typeface="Arial"/>
              </a:rPr>
              <a:t>and 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3553" y="636311"/>
            <a:ext cx="4701540" cy="6838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转置卷积</a:t>
            </a:r>
            <a:r>
              <a:rPr sz="1200" spc="-5" dirty="0">
                <a:latin typeface="微软雅黑"/>
                <a:cs typeface="微软雅黑"/>
              </a:rPr>
              <a:t>（transpose</a:t>
            </a:r>
            <a:r>
              <a:rPr sz="120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convolution）,</a:t>
            </a:r>
            <a:r>
              <a:rPr sz="1200" spc="-2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stride </a:t>
            </a:r>
            <a:r>
              <a:rPr sz="1200" dirty="0">
                <a:latin typeface="微软雅黑"/>
                <a:cs typeface="微软雅黑"/>
              </a:rPr>
              <a:t>2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pad</a:t>
            </a:r>
            <a:r>
              <a:rPr sz="1200" spc="-90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  <a:p>
            <a:pPr marL="3888104" marR="5080">
              <a:lnSpc>
                <a:spcPts val="1620"/>
              </a:lnSpc>
              <a:spcBef>
                <a:spcPts val="50"/>
              </a:spcBef>
            </a:pPr>
            <a:r>
              <a:rPr sz="900" dirty="0">
                <a:latin typeface="微软雅黑"/>
                <a:cs typeface="微软雅黑"/>
              </a:rPr>
              <a:t>重叠区域的值需 要求和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6033" y="1630093"/>
          <a:ext cx="510540" cy="523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C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1933" y="2491375"/>
            <a:ext cx="5994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 </a:t>
            </a:r>
            <a:r>
              <a:rPr sz="900" spc="15" dirty="0">
                <a:latin typeface="Arial"/>
                <a:cs typeface="Arial"/>
              </a:rPr>
              <a:t>2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175" y="2491375"/>
            <a:ext cx="6908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Output: </a:t>
            </a:r>
            <a:r>
              <a:rPr sz="900" spc="15" dirty="0">
                <a:latin typeface="Arial"/>
                <a:cs typeface="Arial"/>
              </a:rPr>
              <a:t>4 x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0029" y="1392317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5553" y="1392317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31077" y="1392317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6728" y="1392317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42252" y="1392317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2957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16854" y="1395492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16854" y="1657112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16854" y="1918859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16854" y="2180479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6854" y="2442099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573" y="0"/>
                </a:lnTo>
              </a:path>
            </a:pathLst>
          </a:custGeom>
          <a:ln w="4761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61584" y="1147677"/>
            <a:ext cx="768350" cy="725170"/>
          </a:xfrm>
          <a:custGeom>
            <a:avLst/>
            <a:gdLst/>
            <a:ahLst/>
            <a:cxnLst/>
            <a:rect l="l" t="t" r="r" b="b"/>
            <a:pathLst>
              <a:path w="768350" h="725169">
                <a:moveTo>
                  <a:pt x="0" y="725081"/>
                </a:moveTo>
                <a:lnTo>
                  <a:pt x="768096" y="725081"/>
                </a:lnTo>
                <a:lnTo>
                  <a:pt x="768096" y="0"/>
                </a:lnTo>
                <a:lnTo>
                  <a:pt x="0" y="0"/>
                </a:lnTo>
                <a:lnTo>
                  <a:pt x="0" y="7250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72124" y="1147677"/>
            <a:ext cx="768350" cy="725170"/>
          </a:xfrm>
          <a:custGeom>
            <a:avLst/>
            <a:gdLst/>
            <a:ahLst/>
            <a:cxnLst/>
            <a:rect l="l" t="t" r="r" b="b"/>
            <a:pathLst>
              <a:path w="768350" h="725169">
                <a:moveTo>
                  <a:pt x="0" y="725081"/>
                </a:moveTo>
                <a:lnTo>
                  <a:pt x="768096" y="725081"/>
                </a:lnTo>
                <a:lnTo>
                  <a:pt x="768096" y="0"/>
                </a:lnTo>
                <a:lnTo>
                  <a:pt x="0" y="0"/>
                </a:lnTo>
                <a:lnTo>
                  <a:pt x="0" y="725081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28918" y="1044845"/>
            <a:ext cx="1027430" cy="364490"/>
          </a:xfrm>
          <a:custGeom>
            <a:avLst/>
            <a:gdLst/>
            <a:ahLst/>
            <a:cxnLst/>
            <a:rect l="l" t="t" r="r" b="b"/>
            <a:pathLst>
              <a:path w="1027429" h="364490">
                <a:moveTo>
                  <a:pt x="1027049" y="0"/>
                </a:moveTo>
                <a:lnTo>
                  <a:pt x="0" y="363982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44336" y="1370219"/>
            <a:ext cx="109727" cy="8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87926" y="1523381"/>
            <a:ext cx="853440" cy="0"/>
          </a:xfrm>
          <a:custGeom>
            <a:avLst/>
            <a:gdLst/>
            <a:ahLst/>
            <a:cxnLst/>
            <a:rect l="l" t="t" r="r" b="b"/>
            <a:pathLst>
              <a:path w="853439">
                <a:moveTo>
                  <a:pt x="0" y="0"/>
                </a:moveTo>
                <a:lnTo>
                  <a:pt x="853059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31460" y="1481471"/>
            <a:ext cx="105155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66793" y="1632093"/>
            <a:ext cx="58674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Input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gives  weight for  </a:t>
            </a:r>
            <a:r>
              <a:rPr sz="900" spc="5" dirty="0">
                <a:latin typeface="Arial"/>
                <a:cs typeface="Arial"/>
              </a:rPr>
              <a:t>filter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9086" y="859806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重叠区域的值需 要求和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8274" y="1471565"/>
            <a:ext cx="12649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Filter </a:t>
            </a:r>
            <a:r>
              <a:rPr sz="900" spc="15" dirty="0">
                <a:latin typeface="Arial"/>
                <a:cs typeface="Arial"/>
              </a:rPr>
              <a:t>moves 2 </a:t>
            </a:r>
            <a:r>
              <a:rPr sz="900" spc="10" dirty="0">
                <a:latin typeface="Arial"/>
                <a:cs typeface="Arial"/>
              </a:rPr>
              <a:t>pixels in 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900" spc="10" dirty="0">
                <a:latin typeface="Arial"/>
                <a:cs typeface="Arial"/>
              </a:rPr>
              <a:t> for </a:t>
            </a:r>
            <a:r>
              <a:rPr sz="900" spc="15" dirty="0">
                <a:latin typeface="Arial"/>
                <a:cs typeface="Arial"/>
              </a:rPr>
              <a:t>every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one  </a:t>
            </a:r>
            <a:r>
              <a:rPr sz="900" spc="10" dirty="0">
                <a:latin typeface="Arial"/>
                <a:cs typeface="Arial"/>
              </a:rPr>
              <a:t>pixel in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8274" y="2030492"/>
            <a:ext cx="1374775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Stride gives ratio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between  movement </a:t>
            </a:r>
            <a:r>
              <a:rPr sz="900" spc="10" dirty="0">
                <a:latin typeface="Arial"/>
                <a:cs typeface="Arial"/>
              </a:rPr>
              <a:t>in output </a:t>
            </a:r>
            <a:r>
              <a:rPr sz="900" spc="15" dirty="0">
                <a:latin typeface="Arial"/>
                <a:cs typeface="Arial"/>
              </a:rPr>
              <a:t>and 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5154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转置卷积</a:t>
            </a:r>
            <a:r>
              <a:rPr sz="1400" b="1" spc="-25" dirty="0">
                <a:latin typeface="微软雅黑"/>
                <a:cs typeface="微软雅黑"/>
              </a:rPr>
              <a:t>（Transpose</a:t>
            </a:r>
            <a:r>
              <a:rPr sz="1400" b="1" spc="-140" dirty="0">
                <a:latin typeface="微软雅黑"/>
                <a:cs typeface="微软雅黑"/>
              </a:rPr>
              <a:t> </a:t>
            </a:r>
            <a:r>
              <a:rPr sz="1400" b="1" spc="-5" dirty="0">
                <a:latin typeface="微软雅黑"/>
                <a:cs typeface="微软雅黑"/>
              </a:rPr>
              <a:t>Convolution）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3554" y="689118"/>
            <a:ext cx="403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3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x</a:t>
            </a:r>
            <a:r>
              <a:rPr sz="1200" spc="-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3 转置卷积</a:t>
            </a:r>
            <a:r>
              <a:rPr sz="1200" spc="-5" dirty="0">
                <a:latin typeface="微软雅黑"/>
                <a:cs typeface="微软雅黑"/>
              </a:rPr>
              <a:t>（transpose</a:t>
            </a:r>
            <a:r>
              <a:rPr sz="120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convolution）,</a:t>
            </a:r>
            <a:r>
              <a:rPr sz="1200" spc="-20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stride</a:t>
            </a:r>
            <a:r>
              <a:rPr sz="1200" dirty="0">
                <a:latin typeface="微软雅黑"/>
                <a:cs typeface="微软雅黑"/>
              </a:rPr>
              <a:t> 2</a:t>
            </a:r>
            <a:r>
              <a:rPr sz="1200" spc="5" dirty="0">
                <a:latin typeface="微软雅黑"/>
                <a:cs typeface="微软雅黑"/>
              </a:rPr>
              <a:t> </a:t>
            </a:r>
            <a:r>
              <a:rPr sz="1200" spc="-5" dirty="0">
                <a:latin typeface="微软雅黑"/>
                <a:cs typeface="微软雅黑"/>
              </a:rPr>
              <a:t>pad</a:t>
            </a:r>
            <a:r>
              <a:rPr sz="1200" spc="-95" dirty="0">
                <a:latin typeface="微软雅黑"/>
                <a:cs typeface="微软雅黑"/>
              </a:rPr>
              <a:t> </a:t>
            </a:r>
            <a:r>
              <a:rPr sz="1200" dirty="0"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4373" y="909742"/>
            <a:ext cx="1033780" cy="15259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b="1" spc="35" dirty="0">
                <a:latin typeface="微软雅黑"/>
                <a:cs typeface="微软雅黑"/>
              </a:rPr>
              <a:t>其他叫</a:t>
            </a:r>
            <a:r>
              <a:rPr sz="900" b="1" spc="30" dirty="0">
                <a:latin typeface="微软雅黑"/>
                <a:cs typeface="微软雅黑"/>
              </a:rPr>
              <a:t>法</a:t>
            </a:r>
            <a:r>
              <a:rPr sz="900" b="1" spc="5" dirty="0"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900" spc="10" dirty="0">
                <a:latin typeface="Calibri"/>
                <a:cs typeface="Calibri"/>
              </a:rPr>
              <a:t>-Deconvolution</a:t>
            </a:r>
            <a:r>
              <a:rPr sz="900" spc="-114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(bad)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900" spc="10" dirty="0">
                <a:latin typeface="Calibri"/>
                <a:cs typeface="Calibri"/>
              </a:rPr>
              <a:t>-Upconvolution</a:t>
            </a:r>
            <a:endParaRPr sz="900">
              <a:latin typeface="Calibri"/>
              <a:cs typeface="Calibri"/>
            </a:endParaRPr>
          </a:p>
          <a:p>
            <a:pPr marL="12700" marR="63500">
              <a:lnSpc>
                <a:spcPct val="155600"/>
              </a:lnSpc>
              <a:spcBef>
                <a:spcPts val="50"/>
              </a:spcBef>
            </a:pPr>
            <a:r>
              <a:rPr sz="900" spc="10" dirty="0">
                <a:latin typeface="Calibri"/>
                <a:cs typeface="Calibri"/>
              </a:rPr>
              <a:t>-Fractionally</a:t>
            </a:r>
            <a:r>
              <a:rPr sz="900" spc="-12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strided  </a:t>
            </a:r>
            <a:r>
              <a:rPr sz="900" spc="5" dirty="0">
                <a:latin typeface="Calibri"/>
                <a:cs typeface="Calibri"/>
              </a:rPr>
              <a:t>convolution</a:t>
            </a:r>
            <a:endParaRPr sz="900">
              <a:latin typeface="Calibri"/>
              <a:cs typeface="Calibri"/>
            </a:endParaRPr>
          </a:p>
          <a:p>
            <a:pPr marL="12700" marR="151765">
              <a:lnSpc>
                <a:spcPct val="155600"/>
              </a:lnSpc>
            </a:pPr>
            <a:r>
              <a:rPr sz="900" spc="10" dirty="0">
                <a:latin typeface="Calibri"/>
                <a:cs typeface="Calibri"/>
              </a:rPr>
              <a:t>-Backward</a:t>
            </a:r>
            <a:r>
              <a:rPr sz="900" spc="-10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strided  </a:t>
            </a:r>
            <a:r>
              <a:rPr sz="900" spc="5" dirty="0">
                <a:latin typeface="Calibri"/>
                <a:cs typeface="Calibri"/>
              </a:rPr>
              <a:t>convolution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973" y="1609470"/>
            <a:ext cx="334010" cy="299085"/>
          </a:xfrm>
          <a:prstGeom prst="rect">
            <a:avLst/>
          </a:prstGeom>
          <a:solidFill>
            <a:srgbClr val="F4CCCC"/>
          </a:solidFill>
          <a:ln w="4761">
            <a:solidFill>
              <a:srgbClr val="9E9E9E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375"/>
              </a:spcBef>
            </a:pPr>
            <a:r>
              <a:rPr sz="1600" spc="-5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6973" y="1972182"/>
            <a:ext cx="334010" cy="300355"/>
          </a:xfrm>
          <a:prstGeom prst="rect">
            <a:avLst/>
          </a:prstGeom>
          <a:solidFill>
            <a:srgbClr val="C7DAF7"/>
          </a:solidFill>
          <a:ln w="4761">
            <a:solidFill>
              <a:srgbClr val="9E9E9E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31391" y="1421542"/>
          <a:ext cx="334010" cy="10896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219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 marR="7302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z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53714" y="1083595"/>
          <a:ext cx="848994" cy="1845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T w="6350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az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+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8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688"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bz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63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31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73654" y="974216"/>
            <a:ext cx="520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In</a:t>
            </a:r>
            <a:r>
              <a:rPr sz="1600" b="1" spc="-15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3983" y="1005027"/>
            <a:ext cx="520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F</a:t>
            </a:r>
            <a:r>
              <a:rPr sz="1600" b="1" spc="-10" dirty="0">
                <a:latin typeface="Arial"/>
                <a:cs typeface="Arial"/>
              </a:rPr>
              <a:t>i</a:t>
            </a:r>
            <a:r>
              <a:rPr sz="1600" b="1" spc="-5" dirty="0">
                <a:latin typeface="Arial"/>
                <a:cs typeface="Arial"/>
              </a:rPr>
              <a:t>lt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9788" y="661161"/>
            <a:ext cx="687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u</a:t>
            </a:r>
            <a:r>
              <a:rPr sz="1600" b="1" spc="-1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600" b="1" spc="-15" dirty="0">
                <a:latin typeface="Arial"/>
                <a:cs typeface="Arial"/>
              </a:rPr>
              <a:t>u</a:t>
            </a:r>
            <a:r>
              <a:rPr sz="1600" b="1" spc="-5" dirty="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9685" y="1441830"/>
            <a:ext cx="1176655" cy="160020"/>
          </a:xfrm>
          <a:custGeom>
            <a:avLst/>
            <a:gdLst/>
            <a:ahLst/>
            <a:cxnLst/>
            <a:rect l="l" t="t" r="r" b="b"/>
            <a:pathLst>
              <a:path w="1176655" h="160019">
                <a:moveTo>
                  <a:pt x="0" y="160019"/>
                </a:moveTo>
                <a:lnTo>
                  <a:pt x="1176274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3053" y="1963800"/>
            <a:ext cx="1146810" cy="540385"/>
          </a:xfrm>
          <a:custGeom>
            <a:avLst/>
            <a:gdLst/>
            <a:ahLst/>
            <a:cxnLst/>
            <a:rect l="l" t="t" r="r" b="b"/>
            <a:pathLst>
              <a:path w="1146810" h="540385">
                <a:moveTo>
                  <a:pt x="0" y="0"/>
                </a:moveTo>
                <a:lnTo>
                  <a:pt x="1146429" y="540004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8227" y="2330830"/>
            <a:ext cx="1120140" cy="173355"/>
          </a:xfrm>
          <a:custGeom>
            <a:avLst/>
            <a:gdLst/>
            <a:ahLst/>
            <a:cxnLst/>
            <a:rect l="l" t="t" r="r" b="b"/>
            <a:pathLst>
              <a:path w="1120139" h="173355">
                <a:moveTo>
                  <a:pt x="0" y="0"/>
                </a:moveTo>
                <a:lnTo>
                  <a:pt x="1119632" y="172847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1877" y="1473834"/>
            <a:ext cx="1189990" cy="454659"/>
          </a:xfrm>
          <a:custGeom>
            <a:avLst/>
            <a:gdLst/>
            <a:ahLst/>
            <a:cxnLst/>
            <a:rect l="l" t="t" r="r" b="b"/>
            <a:pathLst>
              <a:path w="1189989" h="454660">
                <a:moveTo>
                  <a:pt x="0" y="454151"/>
                </a:moveTo>
                <a:lnTo>
                  <a:pt x="1189990" y="0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08549" y="2145918"/>
            <a:ext cx="1446530" cy="351790"/>
          </a:xfrm>
          <a:custGeom>
            <a:avLst/>
            <a:gdLst/>
            <a:ahLst/>
            <a:cxnLst/>
            <a:rect l="l" t="t" r="r" b="b"/>
            <a:pathLst>
              <a:path w="1446529" h="351789">
                <a:moveTo>
                  <a:pt x="0" y="351663"/>
                </a:moveTo>
                <a:lnTo>
                  <a:pt x="1446149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1974" y="2517775"/>
            <a:ext cx="1438910" cy="388620"/>
          </a:xfrm>
          <a:custGeom>
            <a:avLst/>
            <a:gdLst/>
            <a:ahLst/>
            <a:cxnLst/>
            <a:rect l="l" t="t" r="r" b="b"/>
            <a:pathLst>
              <a:path w="1438910" h="388619">
                <a:moveTo>
                  <a:pt x="0" y="0"/>
                </a:moveTo>
                <a:lnTo>
                  <a:pt x="1438402" y="388366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94833" y="1167510"/>
            <a:ext cx="1454150" cy="260350"/>
          </a:xfrm>
          <a:custGeom>
            <a:avLst/>
            <a:gdLst/>
            <a:ahLst/>
            <a:cxnLst/>
            <a:rect l="l" t="t" r="r" b="b"/>
            <a:pathLst>
              <a:path w="1454150" h="260350">
                <a:moveTo>
                  <a:pt x="0" y="260350"/>
                </a:moveTo>
                <a:lnTo>
                  <a:pt x="1453769" y="0"/>
                </a:lnTo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08549" y="1441830"/>
            <a:ext cx="1414145" cy="364490"/>
          </a:xfrm>
          <a:custGeom>
            <a:avLst/>
            <a:gdLst/>
            <a:ahLst/>
            <a:cxnLst/>
            <a:rect l="l" t="t" r="r" b="b"/>
            <a:pathLst>
              <a:path w="1414145" h="364489">
                <a:moveTo>
                  <a:pt x="0" y="0"/>
                </a:moveTo>
                <a:lnTo>
                  <a:pt x="1413890" y="364109"/>
                </a:lnTo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92669" y="1092454"/>
            <a:ext cx="1070610" cy="866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Output </a:t>
            </a:r>
            <a:r>
              <a:rPr sz="900" spc="10" dirty="0">
                <a:latin typeface="Arial"/>
                <a:cs typeface="Arial"/>
              </a:rPr>
              <a:t>contains  copies of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filter  </a:t>
            </a:r>
            <a:r>
              <a:rPr sz="900" spc="15" dirty="0">
                <a:latin typeface="Arial"/>
                <a:cs typeface="Arial"/>
              </a:rPr>
              <a:t>weighted by the  </a:t>
            </a:r>
            <a:r>
              <a:rPr sz="900" spc="10" dirty="0">
                <a:latin typeface="Arial"/>
                <a:cs typeface="Arial"/>
              </a:rPr>
              <a:t>input, </a:t>
            </a:r>
            <a:r>
              <a:rPr sz="900" spc="15" dirty="0">
                <a:latin typeface="Arial"/>
                <a:cs typeface="Arial"/>
              </a:rPr>
              <a:t>summing </a:t>
            </a:r>
            <a:r>
              <a:rPr sz="900" spc="10" dirty="0">
                <a:latin typeface="Arial"/>
                <a:cs typeface="Arial"/>
              </a:rPr>
              <a:t>at  </a:t>
            </a:r>
            <a:r>
              <a:rPr sz="900" spc="15" dirty="0">
                <a:latin typeface="Arial"/>
                <a:cs typeface="Arial"/>
              </a:rPr>
              <a:t>where </a:t>
            </a:r>
            <a:r>
              <a:rPr sz="900" spc="10" dirty="0">
                <a:latin typeface="Arial"/>
                <a:cs typeface="Arial"/>
              </a:rPr>
              <a:t>at overlaps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  </a:t>
            </a:r>
            <a:r>
              <a:rPr sz="900" spc="15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2669" y="2070226"/>
            <a:ext cx="1066800" cy="5880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Need to crop one  </a:t>
            </a:r>
            <a:r>
              <a:rPr sz="900" spc="10" dirty="0">
                <a:latin typeface="Arial"/>
                <a:cs typeface="Arial"/>
              </a:rPr>
              <a:t>pixel </a:t>
            </a:r>
            <a:r>
              <a:rPr sz="900" spc="15" dirty="0">
                <a:latin typeface="Arial"/>
                <a:cs typeface="Arial"/>
              </a:rPr>
              <a:t>from </a:t>
            </a:r>
            <a:r>
              <a:rPr sz="900" spc="10" dirty="0">
                <a:latin typeface="Arial"/>
                <a:cs typeface="Arial"/>
              </a:rPr>
              <a:t>output </a:t>
            </a:r>
            <a:r>
              <a:rPr sz="900" spc="15" dirty="0">
                <a:latin typeface="Arial"/>
                <a:cs typeface="Arial"/>
              </a:rPr>
              <a:t>to  </a:t>
            </a:r>
            <a:r>
              <a:rPr sz="900" spc="20" dirty="0">
                <a:latin typeface="Arial"/>
                <a:cs typeface="Arial"/>
              </a:rPr>
              <a:t>make </a:t>
            </a:r>
            <a:r>
              <a:rPr sz="900" spc="10" dirty="0">
                <a:latin typeface="Arial"/>
                <a:cs typeface="Arial"/>
              </a:rPr>
              <a:t>output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exactly  </a:t>
            </a:r>
            <a:r>
              <a:rPr sz="900" spc="15" dirty="0">
                <a:latin typeface="Arial"/>
                <a:cs typeface="Arial"/>
              </a:rPr>
              <a:t>2x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7724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可学习的上采</a:t>
            </a:r>
            <a:r>
              <a:rPr b="1" spc="10" dirty="0">
                <a:latin typeface="微软雅黑"/>
                <a:cs typeface="微软雅黑"/>
              </a:rPr>
              <a:t>样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11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一维例子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036" y="1434227"/>
            <a:ext cx="2790443" cy="1056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468" y="154194"/>
            <a:ext cx="2891155" cy="699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0" dirty="0">
                <a:latin typeface="微软雅黑"/>
                <a:cs typeface="微软雅黑"/>
              </a:rPr>
              <a:t>卷积与矩阵相乘</a:t>
            </a:r>
            <a:r>
              <a:rPr sz="1850" b="1" spc="-105" dirty="0">
                <a:latin typeface="微软雅黑"/>
                <a:cs typeface="微软雅黑"/>
              </a:rPr>
              <a:t> </a:t>
            </a:r>
            <a:r>
              <a:rPr sz="1850" b="1" spc="5" dirty="0">
                <a:latin typeface="微软雅黑"/>
                <a:cs typeface="微软雅黑"/>
              </a:rPr>
              <a:t>(</a:t>
            </a:r>
            <a:r>
              <a:rPr sz="1850" b="1" spc="20" dirty="0">
                <a:latin typeface="微软雅黑"/>
                <a:cs typeface="微软雅黑"/>
              </a:rPr>
              <a:t>一维例子</a:t>
            </a:r>
            <a:r>
              <a:rPr sz="1850" b="1" spc="5" dirty="0">
                <a:latin typeface="微软雅黑"/>
                <a:cs typeface="微软雅黑"/>
              </a:rPr>
              <a:t>)</a:t>
            </a:r>
            <a:endParaRPr sz="1850">
              <a:latin typeface="微软雅黑"/>
              <a:cs typeface="微软雅黑"/>
            </a:endParaRPr>
          </a:p>
          <a:p>
            <a:pPr marL="407034">
              <a:lnSpc>
                <a:spcPct val="100000"/>
              </a:lnSpc>
              <a:spcBef>
                <a:spcPts val="1620"/>
              </a:spcBef>
            </a:pPr>
            <a:r>
              <a:rPr sz="1200" spc="-15" dirty="0">
                <a:latin typeface="微软雅黑"/>
                <a:cs typeface="微软雅黑"/>
              </a:rPr>
              <a:t>将卷积写为矩阵乘法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6376" y="1098947"/>
            <a:ext cx="1018032" cy="1752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4578" y="2508165"/>
            <a:ext cx="1419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微软雅黑"/>
                <a:cs typeface="微软雅黑"/>
              </a:rPr>
              <a:t>例子: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1D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5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卷积核尺 寸</a:t>
            </a:r>
            <a:r>
              <a:rPr sz="1000" spc="-5" dirty="0">
                <a:latin typeface="微软雅黑"/>
                <a:cs typeface="微软雅黑"/>
              </a:rPr>
              <a:t>=3,</a:t>
            </a:r>
            <a:r>
              <a:rPr sz="1000" spc="-4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步长</a:t>
            </a:r>
            <a:r>
              <a:rPr sz="1000" dirty="0">
                <a:latin typeface="微软雅黑"/>
                <a:cs typeface="微软雅黑"/>
              </a:rPr>
              <a:t>=1,</a:t>
            </a:r>
            <a:r>
              <a:rPr sz="1000" spc="-10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零填充</a:t>
            </a:r>
            <a:r>
              <a:rPr sz="1000" dirty="0">
                <a:latin typeface="微软雅黑"/>
                <a:cs typeface="微软雅黑"/>
              </a:rPr>
              <a:t>=1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035" y="1456308"/>
            <a:ext cx="2790443" cy="1056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6375" y="1121028"/>
            <a:ext cx="1018032" cy="175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91148" y="708786"/>
            <a:ext cx="207454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Convolution </a:t>
            </a:r>
            <a:r>
              <a:rPr sz="900" spc="15" dirty="0">
                <a:latin typeface="Arial"/>
                <a:cs typeface="Arial"/>
              </a:rPr>
              <a:t>transpose </a:t>
            </a:r>
            <a:r>
              <a:rPr sz="900" spc="10" dirty="0">
                <a:latin typeface="Arial"/>
                <a:cs typeface="Arial"/>
              </a:rPr>
              <a:t>multiplies </a:t>
            </a:r>
            <a:r>
              <a:rPr sz="900" spc="15" dirty="0">
                <a:latin typeface="Arial"/>
                <a:cs typeface="Arial"/>
              </a:rPr>
              <a:t>by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the  transpose </a:t>
            </a:r>
            <a:r>
              <a:rPr sz="900" spc="10" dirty="0">
                <a:latin typeface="Arial"/>
                <a:cs typeface="Arial"/>
              </a:rPr>
              <a:t>of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20" dirty="0">
                <a:latin typeface="Arial"/>
                <a:cs typeface="Arial"/>
              </a:rPr>
              <a:t>same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matrix: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76567" y="1110360"/>
            <a:ext cx="1129284" cy="193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5716" y="1404492"/>
            <a:ext cx="2546604" cy="1178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1184" y="667639"/>
            <a:ext cx="1383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将卷积写为矩阵乘法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577" y="2530881"/>
            <a:ext cx="1419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微软雅黑"/>
                <a:cs typeface="微软雅黑"/>
              </a:rPr>
              <a:t>例子: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1D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5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卷积核尺 寸</a:t>
            </a:r>
            <a:r>
              <a:rPr sz="1000" spc="-5" dirty="0">
                <a:latin typeface="微软雅黑"/>
                <a:cs typeface="微软雅黑"/>
              </a:rPr>
              <a:t>=3,</a:t>
            </a:r>
            <a:r>
              <a:rPr sz="1000" spc="-4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步长</a:t>
            </a:r>
            <a:r>
              <a:rPr sz="1000" dirty="0">
                <a:latin typeface="微软雅黑"/>
                <a:cs typeface="微软雅黑"/>
              </a:rPr>
              <a:t>=1,</a:t>
            </a:r>
            <a:r>
              <a:rPr sz="1000" spc="-10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零填充</a:t>
            </a:r>
            <a:r>
              <a:rPr sz="1000" dirty="0">
                <a:latin typeface="微软雅黑"/>
                <a:cs typeface="微软雅黑"/>
              </a:rPr>
              <a:t>=1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8911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卷积与矩阵相乘</a:t>
            </a:r>
            <a:r>
              <a:rPr b="1" spc="-105" dirty="0">
                <a:latin typeface="微软雅黑"/>
                <a:cs typeface="微软雅黑"/>
              </a:rPr>
              <a:t> </a:t>
            </a:r>
            <a:r>
              <a:rPr b="1" spc="5" dirty="0">
                <a:latin typeface="微软雅黑"/>
                <a:cs typeface="微软雅黑"/>
              </a:rPr>
              <a:t>(</a:t>
            </a:r>
            <a:r>
              <a:rPr b="1" spc="20" dirty="0">
                <a:latin typeface="微软雅黑"/>
                <a:cs typeface="微软雅黑"/>
              </a:rPr>
              <a:t>一维例子</a:t>
            </a:r>
            <a:r>
              <a:rPr b="1" spc="5" dirty="0">
                <a:latin typeface="微软雅黑"/>
                <a:cs typeface="微软雅黑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6376" y="1098947"/>
            <a:ext cx="1018032" cy="175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7132" y="1470803"/>
            <a:ext cx="2740151" cy="1074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4578" y="2508165"/>
            <a:ext cx="1419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微软雅黑"/>
                <a:cs typeface="微软雅黑"/>
              </a:rPr>
              <a:t>例子: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1D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5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卷积核尺 寸</a:t>
            </a:r>
            <a:r>
              <a:rPr sz="1000" spc="-5" dirty="0">
                <a:latin typeface="微软雅黑"/>
                <a:cs typeface="微软雅黑"/>
              </a:rPr>
              <a:t>=3,</a:t>
            </a:r>
            <a:r>
              <a:rPr sz="1000" spc="-35" dirty="0">
                <a:latin typeface="微软雅黑"/>
                <a:cs typeface="微软雅黑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步长=2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95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零填充</a:t>
            </a:r>
            <a:r>
              <a:rPr sz="1000" dirty="0">
                <a:latin typeface="微软雅黑"/>
                <a:cs typeface="微软雅黑"/>
              </a:rPr>
              <a:t>=1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468" y="154194"/>
            <a:ext cx="2891155" cy="699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0" dirty="0">
                <a:latin typeface="微软雅黑"/>
                <a:cs typeface="微软雅黑"/>
              </a:rPr>
              <a:t>卷积与矩阵相乘</a:t>
            </a:r>
            <a:r>
              <a:rPr sz="1850" b="1" spc="-105" dirty="0">
                <a:latin typeface="微软雅黑"/>
                <a:cs typeface="微软雅黑"/>
              </a:rPr>
              <a:t> </a:t>
            </a:r>
            <a:r>
              <a:rPr sz="1850" b="1" spc="5" dirty="0">
                <a:latin typeface="微软雅黑"/>
                <a:cs typeface="微软雅黑"/>
              </a:rPr>
              <a:t>(</a:t>
            </a:r>
            <a:r>
              <a:rPr sz="1850" b="1" spc="20" dirty="0">
                <a:latin typeface="微软雅黑"/>
                <a:cs typeface="微软雅黑"/>
              </a:rPr>
              <a:t>一维例子</a:t>
            </a:r>
            <a:r>
              <a:rPr sz="1850" b="1" spc="5" dirty="0">
                <a:latin typeface="微软雅黑"/>
                <a:cs typeface="微软雅黑"/>
              </a:rPr>
              <a:t>)</a:t>
            </a:r>
            <a:endParaRPr sz="1850">
              <a:latin typeface="微软雅黑"/>
              <a:cs typeface="微软雅黑"/>
            </a:endParaRPr>
          </a:p>
          <a:p>
            <a:pPr marL="407034">
              <a:lnSpc>
                <a:spcPct val="100000"/>
              </a:lnSpc>
              <a:spcBef>
                <a:spcPts val="1620"/>
              </a:spcBef>
            </a:pPr>
            <a:r>
              <a:rPr sz="1200" spc="-15" dirty="0">
                <a:latin typeface="微软雅黑"/>
                <a:cs typeface="微软雅黑"/>
              </a:rPr>
              <a:t>将卷积写为矩阵乘法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6375" y="1121028"/>
            <a:ext cx="1018032" cy="175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74231" y="1433448"/>
            <a:ext cx="1741932" cy="1199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91148" y="708786"/>
            <a:ext cx="207454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Convolution </a:t>
            </a:r>
            <a:r>
              <a:rPr sz="900" spc="15" dirty="0">
                <a:latin typeface="Arial"/>
                <a:cs typeface="Arial"/>
              </a:rPr>
              <a:t>transpose </a:t>
            </a:r>
            <a:r>
              <a:rPr sz="900" spc="10" dirty="0">
                <a:latin typeface="Arial"/>
                <a:cs typeface="Arial"/>
              </a:rPr>
              <a:t>multiplies </a:t>
            </a:r>
            <a:r>
              <a:rPr sz="900" spc="15" dirty="0">
                <a:latin typeface="Arial"/>
                <a:cs typeface="Arial"/>
              </a:rPr>
              <a:t>by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the  transpose </a:t>
            </a:r>
            <a:r>
              <a:rPr sz="900" spc="10" dirty="0">
                <a:latin typeface="Arial"/>
                <a:cs typeface="Arial"/>
              </a:rPr>
              <a:t>of </a:t>
            </a: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20" dirty="0">
                <a:latin typeface="Arial"/>
                <a:cs typeface="Arial"/>
              </a:rPr>
              <a:t>same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matrix: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76567" y="1110360"/>
            <a:ext cx="1129284" cy="193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131" y="1492884"/>
            <a:ext cx="2740151" cy="10744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1184" y="667639"/>
            <a:ext cx="1383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将卷积写为矩阵乘法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577" y="2530881"/>
            <a:ext cx="1419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微软雅黑"/>
                <a:cs typeface="微软雅黑"/>
              </a:rPr>
              <a:t>例子: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1D</a:t>
            </a:r>
            <a:r>
              <a:rPr sz="1000" spc="-3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50" dirty="0">
                <a:latin typeface="微软雅黑"/>
                <a:cs typeface="微软雅黑"/>
              </a:rPr>
              <a:t> </a:t>
            </a:r>
            <a:r>
              <a:rPr sz="1000" spc="-20" dirty="0">
                <a:latin typeface="微软雅黑"/>
                <a:cs typeface="微软雅黑"/>
              </a:rPr>
              <a:t>卷积核尺 寸</a:t>
            </a:r>
            <a:r>
              <a:rPr sz="1000" spc="-5" dirty="0">
                <a:latin typeface="微软雅黑"/>
                <a:cs typeface="微软雅黑"/>
              </a:rPr>
              <a:t>=3,</a:t>
            </a:r>
            <a:r>
              <a:rPr sz="1000" spc="-35" dirty="0">
                <a:latin typeface="微软雅黑"/>
                <a:cs typeface="微软雅黑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步长=2</a:t>
            </a:r>
            <a:r>
              <a:rPr sz="1000" spc="-5" dirty="0">
                <a:latin typeface="微软雅黑"/>
                <a:cs typeface="微软雅黑"/>
              </a:rPr>
              <a:t>,</a:t>
            </a:r>
            <a:r>
              <a:rPr sz="1000" spc="-95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零填充</a:t>
            </a:r>
            <a:r>
              <a:rPr sz="1000" dirty="0">
                <a:latin typeface="微软雅黑"/>
                <a:cs typeface="微软雅黑"/>
              </a:rPr>
              <a:t>=1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8911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卷积与矩阵相乘</a:t>
            </a:r>
            <a:r>
              <a:rPr b="1" spc="-105" dirty="0">
                <a:latin typeface="微软雅黑"/>
                <a:cs typeface="微软雅黑"/>
              </a:rPr>
              <a:t> </a:t>
            </a:r>
            <a:r>
              <a:rPr b="1" spc="5" dirty="0">
                <a:latin typeface="微软雅黑"/>
                <a:cs typeface="微软雅黑"/>
              </a:rPr>
              <a:t>(</a:t>
            </a:r>
            <a:r>
              <a:rPr b="1" spc="20" dirty="0">
                <a:latin typeface="微软雅黑"/>
                <a:cs typeface="微软雅黑"/>
              </a:rPr>
              <a:t>一维例子</a:t>
            </a:r>
            <a:r>
              <a:rPr b="1" spc="5" dirty="0">
                <a:latin typeface="微软雅黑"/>
                <a:cs typeface="微软雅黑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6955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4556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69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9692" y="1144667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258952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0" y="203962"/>
                </a:lnTo>
                <a:lnTo>
                  <a:pt x="258952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0454" y="1145429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80" h="1016635">
                <a:moveTo>
                  <a:pt x="0" y="204470"/>
                </a:moveTo>
                <a:lnTo>
                  <a:pt x="203962" y="0"/>
                </a:lnTo>
                <a:lnTo>
                  <a:pt x="258952" y="0"/>
                </a:lnTo>
                <a:lnTo>
                  <a:pt x="258952" y="811656"/>
                </a:lnTo>
                <a:lnTo>
                  <a:pt x="54990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0454" y="1145429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80" h="204469">
                <a:moveTo>
                  <a:pt x="0" y="204470"/>
                </a:moveTo>
                <a:lnTo>
                  <a:pt x="54990" y="204470"/>
                </a:lnTo>
                <a:lnTo>
                  <a:pt x="258952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5445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8296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140" y="1144667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40276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1" y="0"/>
                </a:lnTo>
                <a:lnTo>
                  <a:pt x="0" y="203962"/>
                </a:lnTo>
                <a:lnTo>
                  <a:pt x="55244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1038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1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4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41038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4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282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2864" y="1550115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456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2864" y="1391555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4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3626" y="1392317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4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3626" y="1392317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4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38345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75556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0148" y="1391555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8241" y="415162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5556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76318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76318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41799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78248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69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44364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4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78248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0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0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79010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0" y="0"/>
                </a:lnTo>
                <a:lnTo>
                  <a:pt x="322960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79010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0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44491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73320" y="1630810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583" y="243725"/>
                </a:lnTo>
                <a:lnTo>
                  <a:pt x="327583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99456" y="1524143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80" h="350519">
                <a:moveTo>
                  <a:pt x="106426" y="0"/>
                </a:moveTo>
                <a:lnTo>
                  <a:pt x="0" y="106172"/>
                </a:lnTo>
                <a:lnTo>
                  <a:pt x="0" y="350139"/>
                </a:lnTo>
                <a:lnTo>
                  <a:pt x="106426" y="243967"/>
                </a:lnTo>
                <a:lnTo>
                  <a:pt x="10642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73320" y="1524143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8" y="0"/>
                </a:moveTo>
                <a:lnTo>
                  <a:pt x="106553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74082" y="1524905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3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4082" y="1524905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01615" y="163107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31460" y="1630810"/>
            <a:ext cx="327660" cy="243840"/>
          </a:xfrm>
          <a:custGeom>
            <a:avLst/>
            <a:gdLst/>
            <a:ahLst/>
            <a:cxnLst/>
            <a:rect l="l" t="t" r="r" b="b"/>
            <a:pathLst>
              <a:path w="327660" h="243839">
                <a:moveTo>
                  <a:pt x="0" y="243725"/>
                </a:moveTo>
                <a:lnTo>
                  <a:pt x="327609" y="243725"/>
                </a:lnTo>
                <a:lnTo>
                  <a:pt x="327609" y="0"/>
                </a:lnTo>
                <a:lnTo>
                  <a:pt x="0" y="0"/>
                </a:lnTo>
                <a:lnTo>
                  <a:pt x="0" y="24372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59120" y="1524143"/>
            <a:ext cx="106680" cy="350520"/>
          </a:xfrm>
          <a:custGeom>
            <a:avLst/>
            <a:gdLst/>
            <a:ahLst/>
            <a:cxnLst/>
            <a:rect l="l" t="t" r="r" b="b"/>
            <a:pathLst>
              <a:path w="106679" h="350519">
                <a:moveTo>
                  <a:pt x="106425" y="0"/>
                </a:moveTo>
                <a:lnTo>
                  <a:pt x="0" y="106172"/>
                </a:lnTo>
                <a:lnTo>
                  <a:pt x="0" y="350139"/>
                </a:lnTo>
                <a:lnTo>
                  <a:pt x="106425" y="243967"/>
                </a:lnTo>
                <a:lnTo>
                  <a:pt x="106425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1460" y="1524143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433959" y="0"/>
                </a:moveTo>
                <a:lnTo>
                  <a:pt x="106552" y="0"/>
                </a:lnTo>
                <a:lnTo>
                  <a:pt x="0" y="106425"/>
                </a:lnTo>
                <a:lnTo>
                  <a:pt x="327532" y="106425"/>
                </a:lnTo>
                <a:lnTo>
                  <a:pt x="433959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32222" y="1524905"/>
            <a:ext cx="434340" cy="350520"/>
          </a:xfrm>
          <a:custGeom>
            <a:avLst/>
            <a:gdLst/>
            <a:ahLst/>
            <a:cxnLst/>
            <a:rect l="l" t="t" r="r" b="b"/>
            <a:pathLst>
              <a:path w="434339" h="350519">
                <a:moveTo>
                  <a:pt x="0" y="106172"/>
                </a:moveTo>
                <a:lnTo>
                  <a:pt x="106552" y="0"/>
                </a:lnTo>
                <a:lnTo>
                  <a:pt x="433958" y="0"/>
                </a:lnTo>
                <a:lnTo>
                  <a:pt x="433958" y="243967"/>
                </a:lnTo>
                <a:lnTo>
                  <a:pt x="327532" y="350138"/>
                </a:lnTo>
                <a:lnTo>
                  <a:pt x="0" y="350138"/>
                </a:lnTo>
                <a:lnTo>
                  <a:pt x="0" y="106172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32222" y="1524905"/>
            <a:ext cx="434340" cy="106680"/>
          </a:xfrm>
          <a:custGeom>
            <a:avLst/>
            <a:gdLst/>
            <a:ahLst/>
            <a:cxnLst/>
            <a:rect l="l" t="t" r="r" b="b"/>
            <a:pathLst>
              <a:path w="434339" h="106680">
                <a:moveTo>
                  <a:pt x="0" y="106172"/>
                </a:moveTo>
                <a:lnTo>
                  <a:pt x="327532" y="106172"/>
                </a:lnTo>
                <a:lnTo>
                  <a:pt x="43395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59755" y="163107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0"/>
                </a:moveTo>
                <a:lnTo>
                  <a:pt x="0" y="24396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44464" y="1550115"/>
            <a:ext cx="164465" cy="414655"/>
          </a:xfrm>
          <a:custGeom>
            <a:avLst/>
            <a:gdLst/>
            <a:ahLst/>
            <a:cxnLst/>
            <a:rect l="l" t="t" r="r" b="b"/>
            <a:pathLst>
              <a:path w="164464" h="414655">
                <a:moveTo>
                  <a:pt x="0" y="414464"/>
                </a:moveTo>
                <a:lnTo>
                  <a:pt x="164249" y="414464"/>
                </a:lnTo>
                <a:lnTo>
                  <a:pt x="164249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7D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09056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44464" y="1391555"/>
            <a:ext cx="321945" cy="158750"/>
          </a:xfrm>
          <a:custGeom>
            <a:avLst/>
            <a:gdLst/>
            <a:ahLst/>
            <a:cxnLst/>
            <a:rect l="l" t="t" r="r" b="b"/>
            <a:pathLst>
              <a:path w="321945" h="158750">
                <a:moveTo>
                  <a:pt x="321437" y="0"/>
                </a:moveTo>
                <a:lnTo>
                  <a:pt x="156718" y="0"/>
                </a:lnTo>
                <a:lnTo>
                  <a:pt x="0" y="158242"/>
                </a:lnTo>
                <a:lnTo>
                  <a:pt x="164719" y="158242"/>
                </a:lnTo>
                <a:lnTo>
                  <a:pt x="32143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45226" y="1392317"/>
            <a:ext cx="321945" cy="572770"/>
          </a:xfrm>
          <a:custGeom>
            <a:avLst/>
            <a:gdLst/>
            <a:ahLst/>
            <a:cxnLst/>
            <a:rect l="l" t="t" r="r" b="b"/>
            <a:pathLst>
              <a:path w="321945" h="572769">
                <a:moveTo>
                  <a:pt x="0" y="157480"/>
                </a:moveTo>
                <a:lnTo>
                  <a:pt x="156718" y="0"/>
                </a:lnTo>
                <a:lnTo>
                  <a:pt x="321437" y="0"/>
                </a:lnTo>
                <a:lnTo>
                  <a:pt x="321437" y="415163"/>
                </a:lnTo>
                <a:lnTo>
                  <a:pt x="164719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45226" y="1392317"/>
            <a:ext cx="321945" cy="157480"/>
          </a:xfrm>
          <a:custGeom>
            <a:avLst/>
            <a:gdLst/>
            <a:ahLst/>
            <a:cxnLst/>
            <a:rect l="l" t="t" r="r" b="b"/>
            <a:pathLst>
              <a:path w="321945" h="157480">
                <a:moveTo>
                  <a:pt x="0" y="157480"/>
                </a:moveTo>
                <a:lnTo>
                  <a:pt x="164719" y="157480"/>
                </a:lnTo>
                <a:lnTo>
                  <a:pt x="3214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09944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47156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11748" y="1391555"/>
            <a:ext cx="158750" cy="572770"/>
          </a:xfrm>
          <a:custGeom>
            <a:avLst/>
            <a:gdLst/>
            <a:ahLst/>
            <a:cxnLst/>
            <a:rect l="l" t="t" r="r" b="b"/>
            <a:pathLst>
              <a:path w="158750" h="572769">
                <a:moveTo>
                  <a:pt x="158241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8241" y="415162"/>
                </a:lnTo>
                <a:lnTo>
                  <a:pt x="15824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47156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80" y="0"/>
                </a:lnTo>
                <a:lnTo>
                  <a:pt x="0" y="158242"/>
                </a:lnTo>
                <a:lnTo>
                  <a:pt x="165481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47918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80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1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47918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1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13399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49848" y="1550115"/>
            <a:ext cx="166370" cy="414655"/>
          </a:xfrm>
          <a:custGeom>
            <a:avLst/>
            <a:gdLst/>
            <a:ahLst/>
            <a:cxnLst/>
            <a:rect l="l" t="t" r="r" b="b"/>
            <a:pathLst>
              <a:path w="166370" h="414655">
                <a:moveTo>
                  <a:pt x="0" y="414464"/>
                </a:moveTo>
                <a:lnTo>
                  <a:pt x="165773" y="414464"/>
                </a:lnTo>
                <a:lnTo>
                  <a:pt x="165773" y="0"/>
                </a:lnTo>
                <a:lnTo>
                  <a:pt x="0" y="0"/>
                </a:lnTo>
                <a:lnTo>
                  <a:pt x="0" y="41446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15963" y="1391555"/>
            <a:ext cx="156845" cy="572770"/>
          </a:xfrm>
          <a:custGeom>
            <a:avLst/>
            <a:gdLst/>
            <a:ahLst/>
            <a:cxnLst/>
            <a:rect l="l" t="t" r="r" b="b"/>
            <a:pathLst>
              <a:path w="156845" h="572769">
                <a:moveTo>
                  <a:pt x="156718" y="0"/>
                </a:moveTo>
                <a:lnTo>
                  <a:pt x="0" y="157479"/>
                </a:lnTo>
                <a:lnTo>
                  <a:pt x="0" y="572643"/>
                </a:lnTo>
                <a:lnTo>
                  <a:pt x="156718" y="415162"/>
                </a:lnTo>
                <a:lnTo>
                  <a:pt x="156718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49848" y="1391555"/>
            <a:ext cx="323215" cy="158750"/>
          </a:xfrm>
          <a:custGeom>
            <a:avLst/>
            <a:gdLst/>
            <a:ahLst/>
            <a:cxnLst/>
            <a:rect l="l" t="t" r="r" b="b"/>
            <a:pathLst>
              <a:path w="323214" h="158750">
                <a:moveTo>
                  <a:pt x="322961" y="0"/>
                </a:moveTo>
                <a:lnTo>
                  <a:pt x="157479" y="0"/>
                </a:lnTo>
                <a:lnTo>
                  <a:pt x="0" y="158242"/>
                </a:lnTo>
                <a:lnTo>
                  <a:pt x="165480" y="158242"/>
                </a:lnTo>
                <a:lnTo>
                  <a:pt x="32296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50610" y="1392317"/>
            <a:ext cx="323215" cy="572770"/>
          </a:xfrm>
          <a:custGeom>
            <a:avLst/>
            <a:gdLst/>
            <a:ahLst/>
            <a:cxnLst/>
            <a:rect l="l" t="t" r="r" b="b"/>
            <a:pathLst>
              <a:path w="323214" h="572769">
                <a:moveTo>
                  <a:pt x="0" y="157480"/>
                </a:moveTo>
                <a:lnTo>
                  <a:pt x="157479" y="0"/>
                </a:lnTo>
                <a:lnTo>
                  <a:pt x="322961" y="0"/>
                </a:lnTo>
                <a:lnTo>
                  <a:pt x="322961" y="415163"/>
                </a:lnTo>
                <a:lnTo>
                  <a:pt x="165480" y="572643"/>
                </a:lnTo>
                <a:lnTo>
                  <a:pt x="0" y="572643"/>
                </a:lnTo>
                <a:lnTo>
                  <a:pt x="0" y="15748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50610" y="1392317"/>
            <a:ext cx="323215" cy="157480"/>
          </a:xfrm>
          <a:custGeom>
            <a:avLst/>
            <a:gdLst/>
            <a:ahLst/>
            <a:cxnLst/>
            <a:rect l="l" t="t" r="r" b="b"/>
            <a:pathLst>
              <a:path w="323214" h="157480">
                <a:moveTo>
                  <a:pt x="0" y="157480"/>
                </a:moveTo>
                <a:lnTo>
                  <a:pt x="165480" y="157480"/>
                </a:lnTo>
                <a:lnTo>
                  <a:pt x="322961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16091" y="1549797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41516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52955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4527">
            <a:solidFill>
              <a:srgbClr val="C7DA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80556" y="1144667"/>
            <a:ext cx="204470" cy="1016635"/>
          </a:xfrm>
          <a:custGeom>
            <a:avLst/>
            <a:gdLst/>
            <a:ahLst/>
            <a:cxnLst/>
            <a:rect l="l" t="t" r="r" b="b"/>
            <a:pathLst>
              <a:path w="204470" h="1016635">
                <a:moveTo>
                  <a:pt x="203962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3962" y="811657"/>
                </a:lnTo>
                <a:lnTo>
                  <a:pt x="203962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925692" y="1144667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258953" y="0"/>
                </a:moveTo>
                <a:lnTo>
                  <a:pt x="203962" y="0"/>
                </a:lnTo>
                <a:lnTo>
                  <a:pt x="0" y="203962"/>
                </a:lnTo>
                <a:lnTo>
                  <a:pt x="54991" y="203962"/>
                </a:lnTo>
                <a:lnTo>
                  <a:pt x="258953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926454" y="1145429"/>
            <a:ext cx="259079" cy="1016635"/>
          </a:xfrm>
          <a:custGeom>
            <a:avLst/>
            <a:gdLst/>
            <a:ahLst/>
            <a:cxnLst/>
            <a:rect l="l" t="t" r="r" b="b"/>
            <a:pathLst>
              <a:path w="259079" h="1016635">
                <a:moveTo>
                  <a:pt x="0" y="204470"/>
                </a:moveTo>
                <a:lnTo>
                  <a:pt x="203962" y="0"/>
                </a:lnTo>
                <a:lnTo>
                  <a:pt x="258953" y="0"/>
                </a:lnTo>
                <a:lnTo>
                  <a:pt x="258953" y="811656"/>
                </a:lnTo>
                <a:lnTo>
                  <a:pt x="54991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926454" y="1145429"/>
            <a:ext cx="259079" cy="204470"/>
          </a:xfrm>
          <a:custGeom>
            <a:avLst/>
            <a:gdLst/>
            <a:ahLst/>
            <a:cxnLst/>
            <a:rect l="l" t="t" r="r" b="b"/>
            <a:pathLst>
              <a:path w="259079" h="204469">
                <a:moveTo>
                  <a:pt x="0" y="204470"/>
                </a:moveTo>
                <a:lnTo>
                  <a:pt x="54991" y="204470"/>
                </a:lnTo>
                <a:lnTo>
                  <a:pt x="25895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981444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54296" y="134894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228"/>
                </a:lnTo>
              </a:path>
            </a:pathLst>
          </a:custGeom>
          <a:ln w="5604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81140" y="1144667"/>
            <a:ext cx="205740" cy="1016635"/>
          </a:xfrm>
          <a:custGeom>
            <a:avLst/>
            <a:gdLst/>
            <a:ahLst/>
            <a:cxnLst/>
            <a:rect l="l" t="t" r="r" b="b"/>
            <a:pathLst>
              <a:path w="205739" h="1016635">
                <a:moveTo>
                  <a:pt x="205486" y="0"/>
                </a:moveTo>
                <a:lnTo>
                  <a:pt x="0" y="204470"/>
                </a:lnTo>
                <a:lnTo>
                  <a:pt x="0" y="1016253"/>
                </a:lnTo>
                <a:lnTo>
                  <a:pt x="205486" y="811657"/>
                </a:lnTo>
                <a:lnTo>
                  <a:pt x="205486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26275" y="1144667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260476" y="0"/>
                </a:moveTo>
                <a:lnTo>
                  <a:pt x="205232" y="0"/>
                </a:lnTo>
                <a:lnTo>
                  <a:pt x="0" y="203962"/>
                </a:lnTo>
                <a:lnTo>
                  <a:pt x="55245" y="203962"/>
                </a:lnTo>
                <a:lnTo>
                  <a:pt x="26047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27037" y="1145429"/>
            <a:ext cx="260985" cy="1016635"/>
          </a:xfrm>
          <a:custGeom>
            <a:avLst/>
            <a:gdLst/>
            <a:ahLst/>
            <a:cxnLst/>
            <a:rect l="l" t="t" r="r" b="b"/>
            <a:pathLst>
              <a:path w="260985" h="1016635">
                <a:moveTo>
                  <a:pt x="0" y="204470"/>
                </a:moveTo>
                <a:lnTo>
                  <a:pt x="205232" y="0"/>
                </a:lnTo>
                <a:lnTo>
                  <a:pt x="260476" y="0"/>
                </a:lnTo>
                <a:lnTo>
                  <a:pt x="260476" y="811656"/>
                </a:lnTo>
                <a:lnTo>
                  <a:pt x="55245" y="1016253"/>
                </a:lnTo>
                <a:lnTo>
                  <a:pt x="0" y="1016253"/>
                </a:lnTo>
                <a:lnTo>
                  <a:pt x="0" y="20447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27037" y="1145429"/>
            <a:ext cx="260985" cy="204470"/>
          </a:xfrm>
          <a:custGeom>
            <a:avLst/>
            <a:gdLst/>
            <a:ahLst/>
            <a:cxnLst/>
            <a:rect l="l" t="t" r="r" b="b"/>
            <a:pathLst>
              <a:path w="260985" h="204469">
                <a:moveTo>
                  <a:pt x="0" y="204470"/>
                </a:moveTo>
                <a:lnTo>
                  <a:pt x="55245" y="204470"/>
                </a:lnTo>
                <a:lnTo>
                  <a:pt x="260476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82282" y="1349899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7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61412" y="1339739"/>
            <a:ext cx="119786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93440" y="2195084"/>
            <a:ext cx="53022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Input: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805040" y="1187403"/>
            <a:ext cx="1290955" cy="951230"/>
          </a:xfrm>
          <a:custGeom>
            <a:avLst/>
            <a:gdLst/>
            <a:ahLst/>
            <a:cxnLst/>
            <a:rect l="l" t="t" r="r" b="b"/>
            <a:pathLst>
              <a:path w="1290954" h="951230">
                <a:moveTo>
                  <a:pt x="0" y="950658"/>
                </a:moveTo>
                <a:lnTo>
                  <a:pt x="1290700" y="950658"/>
                </a:lnTo>
                <a:lnTo>
                  <a:pt x="1290700" y="0"/>
                </a:lnTo>
                <a:lnTo>
                  <a:pt x="0" y="0"/>
                </a:lnTo>
                <a:lnTo>
                  <a:pt x="0" y="950658"/>
                </a:lnTo>
                <a:close/>
              </a:path>
            </a:pathLst>
          </a:custGeom>
          <a:solidFill>
            <a:srgbClr val="3C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06563" y="1547003"/>
            <a:ext cx="1287780" cy="594360"/>
          </a:xfrm>
          <a:custGeom>
            <a:avLst/>
            <a:gdLst/>
            <a:ahLst/>
            <a:cxnLst/>
            <a:rect l="l" t="t" r="r" b="b"/>
            <a:pathLst>
              <a:path w="1287779" h="594360">
                <a:moveTo>
                  <a:pt x="0" y="0"/>
                </a:moveTo>
                <a:lnTo>
                  <a:pt x="0" y="594232"/>
                </a:lnTo>
                <a:lnTo>
                  <a:pt x="1287526" y="591820"/>
                </a:lnTo>
                <a:lnTo>
                  <a:pt x="1285239" y="151637"/>
                </a:lnTo>
                <a:lnTo>
                  <a:pt x="1008507" y="129666"/>
                </a:lnTo>
                <a:lnTo>
                  <a:pt x="264037" y="46481"/>
                </a:lnTo>
                <a:lnTo>
                  <a:pt x="120776" y="46481"/>
                </a:lnTo>
                <a:lnTo>
                  <a:pt x="24130" y="19557"/>
                </a:lnTo>
                <a:lnTo>
                  <a:pt x="37337" y="4952"/>
                </a:lnTo>
                <a:lnTo>
                  <a:pt x="0" y="0"/>
                </a:lnTo>
                <a:close/>
              </a:path>
              <a:path w="1287779" h="594360">
                <a:moveTo>
                  <a:pt x="103250" y="4952"/>
                </a:moveTo>
                <a:lnTo>
                  <a:pt x="120776" y="46481"/>
                </a:lnTo>
                <a:lnTo>
                  <a:pt x="264037" y="46481"/>
                </a:lnTo>
                <a:lnTo>
                  <a:pt x="219710" y="41528"/>
                </a:lnTo>
                <a:lnTo>
                  <a:pt x="103250" y="495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08087" y="1184291"/>
            <a:ext cx="1285875" cy="523875"/>
          </a:xfrm>
          <a:custGeom>
            <a:avLst/>
            <a:gdLst/>
            <a:ahLst/>
            <a:cxnLst/>
            <a:rect l="l" t="t" r="r" b="b"/>
            <a:pathLst>
              <a:path w="1285875" h="523875">
                <a:moveTo>
                  <a:pt x="775970" y="0"/>
                </a:moveTo>
                <a:lnTo>
                  <a:pt x="21971" y="0"/>
                </a:lnTo>
                <a:lnTo>
                  <a:pt x="26415" y="24511"/>
                </a:lnTo>
                <a:lnTo>
                  <a:pt x="0" y="49022"/>
                </a:lnTo>
                <a:lnTo>
                  <a:pt x="0" y="494538"/>
                </a:lnTo>
                <a:lnTo>
                  <a:pt x="1285875" y="523875"/>
                </a:lnTo>
                <a:lnTo>
                  <a:pt x="1285875" y="367284"/>
                </a:lnTo>
                <a:lnTo>
                  <a:pt x="932052" y="367284"/>
                </a:lnTo>
                <a:lnTo>
                  <a:pt x="933414" y="362331"/>
                </a:lnTo>
                <a:lnTo>
                  <a:pt x="870458" y="362331"/>
                </a:lnTo>
                <a:lnTo>
                  <a:pt x="655065" y="283972"/>
                </a:lnTo>
                <a:lnTo>
                  <a:pt x="635253" y="232537"/>
                </a:lnTo>
                <a:lnTo>
                  <a:pt x="720978" y="220345"/>
                </a:lnTo>
                <a:lnTo>
                  <a:pt x="734187" y="166497"/>
                </a:lnTo>
                <a:lnTo>
                  <a:pt x="758316" y="127253"/>
                </a:lnTo>
                <a:lnTo>
                  <a:pt x="802259" y="122427"/>
                </a:lnTo>
                <a:lnTo>
                  <a:pt x="775970" y="66167"/>
                </a:lnTo>
                <a:lnTo>
                  <a:pt x="764921" y="24511"/>
                </a:lnTo>
                <a:lnTo>
                  <a:pt x="775970" y="0"/>
                </a:lnTo>
                <a:close/>
              </a:path>
              <a:path w="1285875" h="523875">
                <a:moveTo>
                  <a:pt x="1033145" y="252222"/>
                </a:moveTo>
                <a:lnTo>
                  <a:pt x="932052" y="367284"/>
                </a:lnTo>
                <a:lnTo>
                  <a:pt x="1285875" y="367284"/>
                </a:lnTo>
                <a:lnTo>
                  <a:pt x="1285875" y="337820"/>
                </a:lnTo>
                <a:lnTo>
                  <a:pt x="1204595" y="337820"/>
                </a:lnTo>
                <a:lnTo>
                  <a:pt x="1191352" y="328041"/>
                </a:lnTo>
                <a:lnTo>
                  <a:pt x="1140840" y="328041"/>
                </a:lnTo>
                <a:lnTo>
                  <a:pt x="1130934" y="293750"/>
                </a:lnTo>
                <a:lnTo>
                  <a:pt x="1107821" y="293750"/>
                </a:lnTo>
                <a:lnTo>
                  <a:pt x="1033145" y="252222"/>
                </a:lnTo>
                <a:close/>
              </a:path>
              <a:path w="1285875" h="523875">
                <a:moveTo>
                  <a:pt x="887984" y="257048"/>
                </a:moveTo>
                <a:lnTo>
                  <a:pt x="868299" y="323215"/>
                </a:lnTo>
                <a:lnTo>
                  <a:pt x="870458" y="362331"/>
                </a:lnTo>
                <a:lnTo>
                  <a:pt x="933414" y="362331"/>
                </a:lnTo>
                <a:lnTo>
                  <a:pt x="945529" y="318262"/>
                </a:lnTo>
                <a:lnTo>
                  <a:pt x="907796" y="318262"/>
                </a:lnTo>
                <a:lnTo>
                  <a:pt x="887984" y="257048"/>
                </a:lnTo>
                <a:close/>
              </a:path>
              <a:path w="1285875" h="523875">
                <a:moveTo>
                  <a:pt x="1285875" y="298703"/>
                </a:moveTo>
                <a:lnTo>
                  <a:pt x="1237488" y="298703"/>
                </a:lnTo>
                <a:lnTo>
                  <a:pt x="1204595" y="337820"/>
                </a:lnTo>
                <a:lnTo>
                  <a:pt x="1285875" y="337820"/>
                </a:lnTo>
                <a:lnTo>
                  <a:pt x="1285875" y="298703"/>
                </a:lnTo>
                <a:close/>
              </a:path>
              <a:path w="1285875" h="523875">
                <a:moveTo>
                  <a:pt x="1171575" y="313436"/>
                </a:moveTo>
                <a:lnTo>
                  <a:pt x="1140840" y="328041"/>
                </a:lnTo>
                <a:lnTo>
                  <a:pt x="1191352" y="328041"/>
                </a:lnTo>
                <a:lnTo>
                  <a:pt x="1171575" y="313436"/>
                </a:lnTo>
                <a:close/>
              </a:path>
              <a:path w="1285875" h="523875">
                <a:moveTo>
                  <a:pt x="929766" y="252222"/>
                </a:moveTo>
                <a:lnTo>
                  <a:pt x="907796" y="318262"/>
                </a:lnTo>
                <a:lnTo>
                  <a:pt x="945529" y="318262"/>
                </a:lnTo>
                <a:lnTo>
                  <a:pt x="949578" y="303529"/>
                </a:lnTo>
                <a:lnTo>
                  <a:pt x="929766" y="252222"/>
                </a:lnTo>
                <a:close/>
              </a:path>
              <a:path w="1285875" h="523875">
                <a:moveTo>
                  <a:pt x="1121028" y="259461"/>
                </a:moveTo>
                <a:lnTo>
                  <a:pt x="1107821" y="293750"/>
                </a:lnTo>
                <a:lnTo>
                  <a:pt x="1130934" y="293750"/>
                </a:lnTo>
                <a:lnTo>
                  <a:pt x="1121028" y="259461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57440" y="1191911"/>
            <a:ext cx="920750" cy="950594"/>
          </a:xfrm>
          <a:custGeom>
            <a:avLst/>
            <a:gdLst/>
            <a:ahLst/>
            <a:cxnLst/>
            <a:rect l="l" t="t" r="r" b="b"/>
            <a:pathLst>
              <a:path w="920750" h="950594">
                <a:moveTo>
                  <a:pt x="388189" y="637794"/>
                </a:moveTo>
                <a:lnTo>
                  <a:pt x="311912" y="637794"/>
                </a:lnTo>
                <a:lnTo>
                  <a:pt x="322961" y="740409"/>
                </a:lnTo>
                <a:lnTo>
                  <a:pt x="347090" y="830833"/>
                </a:lnTo>
                <a:lnTo>
                  <a:pt x="362458" y="950595"/>
                </a:lnTo>
                <a:lnTo>
                  <a:pt x="423925" y="945769"/>
                </a:lnTo>
                <a:lnTo>
                  <a:pt x="401955" y="877316"/>
                </a:lnTo>
                <a:lnTo>
                  <a:pt x="388874" y="821054"/>
                </a:lnTo>
                <a:lnTo>
                  <a:pt x="395477" y="777113"/>
                </a:lnTo>
                <a:lnTo>
                  <a:pt x="386588" y="723392"/>
                </a:lnTo>
                <a:lnTo>
                  <a:pt x="388189" y="637794"/>
                </a:lnTo>
                <a:close/>
              </a:path>
              <a:path w="920750" h="950594">
                <a:moveTo>
                  <a:pt x="85725" y="92837"/>
                </a:moveTo>
                <a:lnTo>
                  <a:pt x="28575" y="95250"/>
                </a:lnTo>
                <a:lnTo>
                  <a:pt x="0" y="127126"/>
                </a:lnTo>
                <a:lnTo>
                  <a:pt x="24130" y="173481"/>
                </a:lnTo>
                <a:lnTo>
                  <a:pt x="70358" y="219964"/>
                </a:lnTo>
                <a:lnTo>
                  <a:pt x="94487" y="224790"/>
                </a:lnTo>
                <a:lnTo>
                  <a:pt x="74675" y="254126"/>
                </a:lnTo>
                <a:lnTo>
                  <a:pt x="83438" y="317626"/>
                </a:lnTo>
                <a:lnTo>
                  <a:pt x="76835" y="359282"/>
                </a:lnTo>
                <a:lnTo>
                  <a:pt x="72517" y="439927"/>
                </a:lnTo>
                <a:lnTo>
                  <a:pt x="90043" y="535177"/>
                </a:lnTo>
                <a:lnTo>
                  <a:pt x="118618" y="566927"/>
                </a:lnTo>
                <a:lnTo>
                  <a:pt x="138430" y="662304"/>
                </a:lnTo>
                <a:lnTo>
                  <a:pt x="140588" y="747776"/>
                </a:lnTo>
                <a:lnTo>
                  <a:pt x="142748" y="813816"/>
                </a:lnTo>
                <a:lnTo>
                  <a:pt x="125222" y="889507"/>
                </a:lnTo>
                <a:lnTo>
                  <a:pt x="109855" y="943355"/>
                </a:lnTo>
                <a:lnTo>
                  <a:pt x="182372" y="948181"/>
                </a:lnTo>
                <a:lnTo>
                  <a:pt x="180086" y="882269"/>
                </a:lnTo>
                <a:lnTo>
                  <a:pt x="180086" y="796671"/>
                </a:lnTo>
                <a:lnTo>
                  <a:pt x="204743" y="796671"/>
                </a:lnTo>
                <a:lnTo>
                  <a:pt x="197738" y="767333"/>
                </a:lnTo>
                <a:lnTo>
                  <a:pt x="204343" y="708659"/>
                </a:lnTo>
                <a:lnTo>
                  <a:pt x="195580" y="642747"/>
                </a:lnTo>
                <a:lnTo>
                  <a:pt x="199898" y="610997"/>
                </a:lnTo>
                <a:lnTo>
                  <a:pt x="388691" y="610997"/>
                </a:lnTo>
                <a:lnTo>
                  <a:pt x="388874" y="601218"/>
                </a:lnTo>
                <a:lnTo>
                  <a:pt x="425040" y="601218"/>
                </a:lnTo>
                <a:lnTo>
                  <a:pt x="423925" y="596265"/>
                </a:lnTo>
                <a:lnTo>
                  <a:pt x="901527" y="596265"/>
                </a:lnTo>
                <a:lnTo>
                  <a:pt x="858901" y="481456"/>
                </a:lnTo>
                <a:lnTo>
                  <a:pt x="869950" y="439927"/>
                </a:lnTo>
                <a:lnTo>
                  <a:pt x="909447" y="430149"/>
                </a:lnTo>
                <a:lnTo>
                  <a:pt x="920496" y="391032"/>
                </a:lnTo>
                <a:lnTo>
                  <a:pt x="885433" y="371475"/>
                </a:lnTo>
                <a:lnTo>
                  <a:pt x="836930" y="371475"/>
                </a:lnTo>
                <a:lnTo>
                  <a:pt x="821019" y="337184"/>
                </a:lnTo>
                <a:lnTo>
                  <a:pt x="727075" y="337184"/>
                </a:lnTo>
                <a:lnTo>
                  <a:pt x="660367" y="298196"/>
                </a:lnTo>
                <a:lnTo>
                  <a:pt x="377825" y="298196"/>
                </a:lnTo>
                <a:lnTo>
                  <a:pt x="380111" y="256540"/>
                </a:lnTo>
                <a:lnTo>
                  <a:pt x="430530" y="249300"/>
                </a:lnTo>
                <a:lnTo>
                  <a:pt x="503047" y="180848"/>
                </a:lnTo>
                <a:lnTo>
                  <a:pt x="511810" y="151511"/>
                </a:lnTo>
                <a:lnTo>
                  <a:pt x="497242" y="139319"/>
                </a:lnTo>
                <a:lnTo>
                  <a:pt x="397637" y="139319"/>
                </a:lnTo>
                <a:lnTo>
                  <a:pt x="394898" y="119761"/>
                </a:lnTo>
                <a:lnTo>
                  <a:pt x="153797" y="119761"/>
                </a:lnTo>
                <a:lnTo>
                  <a:pt x="85725" y="92837"/>
                </a:lnTo>
                <a:close/>
              </a:path>
              <a:path w="920750" h="950594">
                <a:moveTo>
                  <a:pt x="901527" y="596265"/>
                </a:moveTo>
                <a:lnTo>
                  <a:pt x="423925" y="596265"/>
                </a:lnTo>
                <a:lnTo>
                  <a:pt x="470154" y="598677"/>
                </a:lnTo>
                <a:lnTo>
                  <a:pt x="494284" y="728218"/>
                </a:lnTo>
                <a:lnTo>
                  <a:pt x="496443" y="759968"/>
                </a:lnTo>
                <a:lnTo>
                  <a:pt x="507492" y="772287"/>
                </a:lnTo>
                <a:lnTo>
                  <a:pt x="500888" y="862711"/>
                </a:lnTo>
                <a:lnTo>
                  <a:pt x="509650" y="894461"/>
                </a:lnTo>
                <a:lnTo>
                  <a:pt x="511810" y="931037"/>
                </a:lnTo>
                <a:lnTo>
                  <a:pt x="564514" y="935990"/>
                </a:lnTo>
                <a:lnTo>
                  <a:pt x="553593" y="877316"/>
                </a:lnTo>
                <a:lnTo>
                  <a:pt x="533781" y="791845"/>
                </a:lnTo>
                <a:lnTo>
                  <a:pt x="553593" y="730630"/>
                </a:lnTo>
                <a:lnTo>
                  <a:pt x="533781" y="637794"/>
                </a:lnTo>
                <a:lnTo>
                  <a:pt x="683082" y="637794"/>
                </a:lnTo>
                <a:lnTo>
                  <a:pt x="683133" y="635380"/>
                </a:lnTo>
                <a:lnTo>
                  <a:pt x="712103" y="635380"/>
                </a:lnTo>
                <a:lnTo>
                  <a:pt x="716152" y="620649"/>
                </a:lnTo>
                <a:lnTo>
                  <a:pt x="910581" y="620649"/>
                </a:lnTo>
                <a:lnTo>
                  <a:pt x="901527" y="596265"/>
                </a:lnTo>
                <a:close/>
              </a:path>
              <a:path w="920750" h="950594">
                <a:moveTo>
                  <a:pt x="682464" y="667130"/>
                </a:moveTo>
                <a:lnTo>
                  <a:pt x="628269" y="667130"/>
                </a:lnTo>
                <a:lnTo>
                  <a:pt x="630427" y="750189"/>
                </a:lnTo>
                <a:lnTo>
                  <a:pt x="648081" y="806450"/>
                </a:lnTo>
                <a:lnTo>
                  <a:pt x="656844" y="891921"/>
                </a:lnTo>
                <a:lnTo>
                  <a:pt x="672211" y="926211"/>
                </a:lnTo>
                <a:lnTo>
                  <a:pt x="705104" y="931037"/>
                </a:lnTo>
                <a:lnTo>
                  <a:pt x="713994" y="899287"/>
                </a:lnTo>
                <a:lnTo>
                  <a:pt x="678814" y="806450"/>
                </a:lnTo>
                <a:lnTo>
                  <a:pt x="680974" y="737997"/>
                </a:lnTo>
                <a:lnTo>
                  <a:pt x="682464" y="667130"/>
                </a:lnTo>
                <a:close/>
              </a:path>
              <a:path w="920750" h="950594">
                <a:moveTo>
                  <a:pt x="204743" y="796671"/>
                </a:moveTo>
                <a:lnTo>
                  <a:pt x="180086" y="796671"/>
                </a:lnTo>
                <a:lnTo>
                  <a:pt x="206501" y="804037"/>
                </a:lnTo>
                <a:lnTo>
                  <a:pt x="204743" y="796671"/>
                </a:lnTo>
                <a:close/>
              </a:path>
              <a:path w="920750" h="950594">
                <a:moveTo>
                  <a:pt x="425040" y="601218"/>
                </a:moveTo>
                <a:lnTo>
                  <a:pt x="388874" y="601218"/>
                </a:lnTo>
                <a:lnTo>
                  <a:pt x="401955" y="708659"/>
                </a:lnTo>
                <a:lnTo>
                  <a:pt x="404240" y="782066"/>
                </a:lnTo>
                <a:lnTo>
                  <a:pt x="434975" y="774700"/>
                </a:lnTo>
                <a:lnTo>
                  <a:pt x="421767" y="669544"/>
                </a:lnTo>
                <a:lnTo>
                  <a:pt x="430530" y="625601"/>
                </a:lnTo>
                <a:lnTo>
                  <a:pt x="425040" y="601218"/>
                </a:lnTo>
                <a:close/>
              </a:path>
              <a:path w="920750" h="950594">
                <a:moveTo>
                  <a:pt x="388691" y="610997"/>
                </a:moveTo>
                <a:lnTo>
                  <a:pt x="199898" y="610997"/>
                </a:lnTo>
                <a:lnTo>
                  <a:pt x="217550" y="654939"/>
                </a:lnTo>
                <a:lnTo>
                  <a:pt x="221869" y="716026"/>
                </a:lnTo>
                <a:lnTo>
                  <a:pt x="219710" y="764921"/>
                </a:lnTo>
                <a:lnTo>
                  <a:pt x="239395" y="769747"/>
                </a:lnTo>
                <a:lnTo>
                  <a:pt x="265811" y="759968"/>
                </a:lnTo>
                <a:lnTo>
                  <a:pt x="250444" y="694054"/>
                </a:lnTo>
                <a:lnTo>
                  <a:pt x="278841" y="694054"/>
                </a:lnTo>
                <a:lnTo>
                  <a:pt x="311912" y="637794"/>
                </a:lnTo>
                <a:lnTo>
                  <a:pt x="388189" y="637794"/>
                </a:lnTo>
                <a:lnTo>
                  <a:pt x="388691" y="610997"/>
                </a:lnTo>
                <a:close/>
              </a:path>
              <a:path w="920750" h="950594">
                <a:moveTo>
                  <a:pt x="278841" y="694054"/>
                </a:moveTo>
                <a:lnTo>
                  <a:pt x="250444" y="694054"/>
                </a:lnTo>
                <a:lnTo>
                  <a:pt x="270256" y="708659"/>
                </a:lnTo>
                <a:lnTo>
                  <a:pt x="278841" y="694054"/>
                </a:lnTo>
                <a:close/>
              </a:path>
              <a:path w="920750" h="950594">
                <a:moveTo>
                  <a:pt x="683082" y="637794"/>
                </a:moveTo>
                <a:lnTo>
                  <a:pt x="533781" y="637794"/>
                </a:lnTo>
                <a:lnTo>
                  <a:pt x="571119" y="694054"/>
                </a:lnTo>
                <a:lnTo>
                  <a:pt x="604138" y="703833"/>
                </a:lnTo>
                <a:lnTo>
                  <a:pt x="628269" y="667130"/>
                </a:lnTo>
                <a:lnTo>
                  <a:pt x="682464" y="667130"/>
                </a:lnTo>
                <a:lnTo>
                  <a:pt x="683082" y="637794"/>
                </a:lnTo>
                <a:close/>
              </a:path>
              <a:path w="920750" h="950594">
                <a:moveTo>
                  <a:pt x="910581" y="620649"/>
                </a:moveTo>
                <a:lnTo>
                  <a:pt x="716152" y="620649"/>
                </a:lnTo>
                <a:lnTo>
                  <a:pt x="814959" y="662304"/>
                </a:lnTo>
                <a:lnTo>
                  <a:pt x="856742" y="689101"/>
                </a:lnTo>
                <a:lnTo>
                  <a:pt x="907288" y="662304"/>
                </a:lnTo>
                <a:lnTo>
                  <a:pt x="916051" y="635380"/>
                </a:lnTo>
                <a:lnTo>
                  <a:pt x="910581" y="620649"/>
                </a:lnTo>
                <a:close/>
              </a:path>
              <a:path w="920750" h="950594">
                <a:moveTo>
                  <a:pt x="712103" y="635380"/>
                </a:moveTo>
                <a:lnTo>
                  <a:pt x="683133" y="635380"/>
                </a:lnTo>
                <a:lnTo>
                  <a:pt x="707389" y="652526"/>
                </a:lnTo>
                <a:lnTo>
                  <a:pt x="712103" y="635380"/>
                </a:lnTo>
                <a:close/>
              </a:path>
              <a:path w="920750" h="950594">
                <a:moveTo>
                  <a:pt x="876554" y="366522"/>
                </a:moveTo>
                <a:lnTo>
                  <a:pt x="836930" y="371475"/>
                </a:lnTo>
                <a:lnTo>
                  <a:pt x="885433" y="371475"/>
                </a:lnTo>
                <a:lnTo>
                  <a:pt x="876554" y="366522"/>
                </a:lnTo>
                <a:close/>
              </a:path>
              <a:path w="920750" h="950594">
                <a:moveTo>
                  <a:pt x="801751" y="295655"/>
                </a:moveTo>
                <a:lnTo>
                  <a:pt x="727075" y="337184"/>
                </a:lnTo>
                <a:lnTo>
                  <a:pt x="821019" y="337184"/>
                </a:lnTo>
                <a:lnTo>
                  <a:pt x="801751" y="295655"/>
                </a:lnTo>
                <a:close/>
              </a:path>
              <a:path w="920750" h="950594">
                <a:moveTo>
                  <a:pt x="560197" y="236981"/>
                </a:moveTo>
                <a:lnTo>
                  <a:pt x="496443" y="273684"/>
                </a:lnTo>
                <a:lnTo>
                  <a:pt x="441579" y="273684"/>
                </a:lnTo>
                <a:lnTo>
                  <a:pt x="377825" y="298196"/>
                </a:lnTo>
                <a:lnTo>
                  <a:pt x="660367" y="298196"/>
                </a:lnTo>
                <a:lnTo>
                  <a:pt x="643636" y="288417"/>
                </a:lnTo>
                <a:lnTo>
                  <a:pt x="612901" y="256540"/>
                </a:lnTo>
                <a:lnTo>
                  <a:pt x="560197" y="236981"/>
                </a:lnTo>
                <a:close/>
              </a:path>
              <a:path w="920750" h="950594">
                <a:moveTo>
                  <a:pt x="430530" y="114807"/>
                </a:moveTo>
                <a:lnTo>
                  <a:pt x="397637" y="139319"/>
                </a:lnTo>
                <a:lnTo>
                  <a:pt x="497242" y="139319"/>
                </a:lnTo>
                <a:lnTo>
                  <a:pt x="476758" y="122174"/>
                </a:lnTo>
                <a:lnTo>
                  <a:pt x="430530" y="114807"/>
                </a:lnTo>
                <a:close/>
              </a:path>
              <a:path w="920750" h="950594">
                <a:moveTo>
                  <a:pt x="283337" y="0"/>
                </a:moveTo>
                <a:lnTo>
                  <a:pt x="213106" y="14604"/>
                </a:lnTo>
                <a:lnTo>
                  <a:pt x="173609" y="75819"/>
                </a:lnTo>
                <a:lnTo>
                  <a:pt x="153797" y="119761"/>
                </a:lnTo>
                <a:lnTo>
                  <a:pt x="394898" y="119761"/>
                </a:lnTo>
                <a:lnTo>
                  <a:pt x="393192" y="107569"/>
                </a:lnTo>
                <a:lnTo>
                  <a:pt x="371221" y="75819"/>
                </a:lnTo>
                <a:lnTo>
                  <a:pt x="362458" y="43942"/>
                </a:lnTo>
                <a:lnTo>
                  <a:pt x="333883" y="4825"/>
                </a:lnTo>
                <a:lnTo>
                  <a:pt x="283337" y="0"/>
                </a:lnTo>
                <a:close/>
              </a:path>
            </a:pathLst>
          </a:custGeom>
          <a:solidFill>
            <a:srgbClr val="7D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163561" y="2269125"/>
            <a:ext cx="6438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1925" marR="5080" indent="-14986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Pre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ct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" dirty="0">
                <a:latin typeface="Arial"/>
                <a:cs typeface="Arial"/>
              </a:rPr>
              <a:t>ons: 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30447" y="2221881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90742" y="2221881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High-res:  D</a:t>
            </a:r>
            <a:r>
              <a:rPr sz="900" spc="15" baseline="-23148" dirty="0">
                <a:latin typeface="Arial"/>
                <a:cs typeface="Arial"/>
              </a:rPr>
              <a:t>1 </a:t>
            </a:r>
            <a:r>
              <a:rPr sz="900" spc="15" dirty="0">
                <a:latin typeface="Arial"/>
                <a:cs typeface="Arial"/>
              </a:rPr>
              <a:t>x H/2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W/2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50918" y="1053989"/>
            <a:ext cx="78041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32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168645" y="1053989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7955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Med-res: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3148" dirty="0">
                <a:latin typeface="Arial"/>
                <a:cs typeface="Arial"/>
              </a:rPr>
              <a:t>2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482845" y="1898539"/>
            <a:ext cx="78105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5494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Low-res:  </a:t>
            </a:r>
            <a:r>
              <a:rPr sz="900" spc="10" dirty="0">
                <a:latin typeface="Arial"/>
                <a:cs typeface="Arial"/>
              </a:rPr>
              <a:t>D</a:t>
            </a:r>
            <a:r>
              <a:rPr sz="900" spc="15" baseline="-27777" dirty="0">
                <a:latin typeface="Arial"/>
                <a:cs typeface="Arial"/>
              </a:rPr>
              <a:t>3 </a:t>
            </a:r>
            <a:r>
              <a:rPr sz="900" spc="15" dirty="0">
                <a:latin typeface="Arial"/>
                <a:cs typeface="Arial"/>
              </a:rPr>
              <a:t>x H/4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W/4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86786" y="683302"/>
            <a:ext cx="836930" cy="47370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260350">
              <a:lnSpc>
                <a:spcPct val="107200"/>
              </a:lnSpc>
              <a:spcBef>
                <a:spcPts val="145"/>
              </a:spcBef>
            </a:pPr>
            <a:r>
              <a:rPr sz="900" b="1" spc="35" dirty="0">
                <a:solidFill>
                  <a:srgbClr val="FF0000"/>
                </a:solidFill>
                <a:latin typeface="微软雅黑"/>
                <a:cs typeface="微软雅黑"/>
              </a:rPr>
              <a:t>下采样 </a:t>
            </a:r>
            <a:r>
              <a:rPr sz="900" spc="10" dirty="0">
                <a:solidFill>
                  <a:srgbClr val="FF0000"/>
                </a:solidFill>
                <a:latin typeface="Arial"/>
                <a:cs typeface="Arial"/>
              </a:rPr>
              <a:t>Pooling,</a:t>
            </a:r>
            <a:r>
              <a:rPr sz="9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FF0000"/>
                </a:solidFill>
                <a:latin typeface="Arial"/>
                <a:cs typeface="Arial"/>
              </a:rPr>
              <a:t>strided  convolution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562850" y="637937"/>
            <a:ext cx="1164590" cy="45465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61645">
              <a:lnSpc>
                <a:spcPct val="104400"/>
              </a:lnSpc>
              <a:spcBef>
                <a:spcPts val="85"/>
              </a:spcBef>
            </a:pPr>
            <a:r>
              <a:rPr sz="900" b="1" spc="35" dirty="0">
                <a:solidFill>
                  <a:srgbClr val="0000FF"/>
                </a:solidFill>
                <a:latin typeface="微软雅黑"/>
                <a:cs typeface="微软雅黑"/>
              </a:rPr>
              <a:t>上采样 </a:t>
            </a:r>
            <a:r>
              <a:rPr sz="900" spc="10" dirty="0">
                <a:solidFill>
                  <a:srgbClr val="0000FF"/>
                </a:solidFill>
                <a:latin typeface="Arial"/>
                <a:cs typeface="Arial"/>
              </a:rPr>
              <a:t>Unpooling or strided  </a:t>
            </a:r>
            <a:r>
              <a:rPr sz="900" spc="15" dirty="0">
                <a:solidFill>
                  <a:srgbClr val="0000FF"/>
                </a:solidFill>
                <a:latin typeface="Arial"/>
                <a:cs typeface="Arial"/>
              </a:rPr>
              <a:t>transpose</a:t>
            </a:r>
            <a:r>
              <a:rPr sz="900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0000FF"/>
                </a:solidFill>
                <a:latin typeface="Arial"/>
                <a:cs typeface="Arial"/>
              </a:rPr>
              <a:t>convolution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8600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5" dirty="0">
                <a:latin typeface="微软雅黑"/>
                <a:cs typeface="微软雅黑"/>
              </a:rPr>
              <a:t>语义分割：全卷积神经网络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1816603" y="516271"/>
            <a:ext cx="261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解决方案：让整个网络只包含卷积层，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816603" y="790845"/>
            <a:ext cx="261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并在网络中嵌入</a:t>
            </a: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下采样</a:t>
            </a:r>
            <a:r>
              <a:rPr sz="1200" dirty="0">
                <a:latin typeface="微软雅黑"/>
                <a:cs typeface="微软雅黑"/>
              </a:rPr>
              <a:t>与</a:t>
            </a:r>
            <a:r>
              <a:rPr sz="1200" b="1" dirty="0">
                <a:solidFill>
                  <a:srgbClr val="0000FF"/>
                </a:solidFill>
                <a:latin typeface="微软雅黑"/>
                <a:cs typeface="微软雅黑"/>
              </a:rPr>
              <a:t>上采样</a:t>
            </a:r>
            <a:r>
              <a:rPr sz="1200" dirty="0">
                <a:latin typeface="微软雅黑"/>
                <a:cs typeface="微软雅黑"/>
              </a:rPr>
              <a:t>过程。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929" y="2867752"/>
            <a:ext cx="400431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66469">
              <a:lnSpc>
                <a:spcPct val="124000"/>
              </a:lnSpc>
              <a:spcBef>
                <a:spcPts val="95"/>
              </a:spcBef>
            </a:pPr>
            <a:r>
              <a:rPr sz="500" spc="5" dirty="0">
                <a:latin typeface="Arial"/>
                <a:cs typeface="Arial"/>
              </a:rPr>
              <a:t>Long, </a:t>
            </a:r>
            <a:r>
              <a:rPr sz="500" dirty="0">
                <a:latin typeface="Arial"/>
                <a:cs typeface="Arial"/>
              </a:rPr>
              <a:t>Shelhamer, </a:t>
            </a:r>
            <a:r>
              <a:rPr sz="500" spc="5" dirty="0">
                <a:latin typeface="Arial"/>
                <a:cs typeface="Arial"/>
              </a:rPr>
              <a:t>and Darrell, </a:t>
            </a:r>
            <a:r>
              <a:rPr sz="500" spc="10" dirty="0">
                <a:latin typeface="Arial"/>
                <a:cs typeface="Arial"/>
              </a:rPr>
              <a:t>“Fully </a:t>
            </a:r>
            <a:r>
              <a:rPr sz="500" spc="5" dirty="0">
                <a:latin typeface="Arial"/>
                <a:cs typeface="Arial"/>
              </a:rPr>
              <a:t>Convolutional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Noh </a:t>
            </a:r>
            <a:r>
              <a:rPr sz="500" spc="5" dirty="0">
                <a:latin typeface="Arial"/>
                <a:cs typeface="Arial"/>
              </a:rPr>
              <a:t>et al, “Learning Deconvolution </a:t>
            </a:r>
            <a:r>
              <a:rPr sz="500" spc="10" dirty="0">
                <a:latin typeface="Arial"/>
                <a:cs typeface="Arial"/>
              </a:rPr>
              <a:t>Network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5" dirty="0">
                <a:latin typeface="Arial"/>
                <a:cs typeface="Arial"/>
              </a:rPr>
              <a:t> 2015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tabLst>
                <a:tab pos="243586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168973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计算机视觉任务</a:t>
            </a:r>
          </a:p>
        </p:txBody>
      </p:sp>
      <p:sp>
        <p:nvSpPr>
          <p:cNvPr id="3" name="object 3"/>
          <p:cNvSpPr/>
          <p:nvPr/>
        </p:nvSpPr>
        <p:spPr>
          <a:xfrm>
            <a:off x="80639" y="1180464"/>
            <a:ext cx="1395984" cy="1208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3294" y="751077"/>
            <a:ext cx="7035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目标检测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7115" y="1209420"/>
            <a:ext cx="1395984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6543" y="1209420"/>
            <a:ext cx="1405127" cy="120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9340" y="1713864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459662" y="409956"/>
                </a:move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436962" y="540003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59662" y="409956"/>
                </a:lnTo>
                <a:close/>
              </a:path>
              <a:path w="471170" h="702310">
                <a:moveTo>
                  <a:pt x="436962" y="540003"/>
                </a:move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36962" y="540003"/>
                </a:lnTo>
                <a:close/>
              </a:path>
              <a:path w="471170" h="702310">
                <a:moveTo>
                  <a:pt x="41401" y="256031"/>
                </a:move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459662" y="409956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6744" y="338581"/>
                </a:lnTo>
                <a:lnTo>
                  <a:pt x="120776" y="338581"/>
                </a:lnTo>
                <a:lnTo>
                  <a:pt x="41401" y="256031"/>
                </a:lnTo>
                <a:close/>
              </a:path>
              <a:path w="471170" h="702310">
                <a:moveTo>
                  <a:pt x="134112" y="15366"/>
                </a:moveTo>
                <a:lnTo>
                  <a:pt x="117094" y="62991"/>
                </a:lnTo>
                <a:lnTo>
                  <a:pt x="134112" y="92328"/>
                </a:ln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46744" y="338581"/>
                </a:lnTo>
                <a:lnTo>
                  <a:pt x="440309" y="237870"/>
                </a:lnTo>
                <a:lnTo>
                  <a:pt x="425704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94583" y="36321"/>
                </a:lnTo>
                <a:lnTo>
                  <a:pt x="335407" y="36321"/>
                </a:lnTo>
                <a:lnTo>
                  <a:pt x="319268" y="25145"/>
                </a:lnTo>
                <a:lnTo>
                  <a:pt x="196342" y="25145"/>
                </a:lnTo>
                <a:lnTo>
                  <a:pt x="134112" y="15366"/>
                </a:lnTo>
                <a:close/>
              </a:path>
              <a:path w="471170" h="702310">
                <a:moveTo>
                  <a:pt x="363474" y="12572"/>
                </a:moveTo>
                <a:lnTo>
                  <a:pt x="335407" y="36321"/>
                </a:lnTo>
                <a:lnTo>
                  <a:pt x="394583" y="36321"/>
                </a:lnTo>
                <a:lnTo>
                  <a:pt x="363474" y="12572"/>
                </a:lnTo>
                <a:close/>
              </a:path>
              <a:path w="471170" h="702310">
                <a:moveTo>
                  <a:pt x="282956" y="0"/>
                </a:moveTo>
                <a:lnTo>
                  <a:pt x="215900" y="8381"/>
                </a:lnTo>
                <a:lnTo>
                  <a:pt x="196342" y="25145"/>
                </a:lnTo>
                <a:lnTo>
                  <a:pt x="319268" y="25145"/>
                </a:lnTo>
                <a:lnTo>
                  <a:pt x="282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20102" y="1714626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134112" y="92328"/>
                </a:move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1401" y="256031"/>
                </a:ln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0309" y="237870"/>
                </a:lnTo>
                <a:lnTo>
                  <a:pt x="425703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63474" y="12572"/>
                </a:lnTo>
                <a:lnTo>
                  <a:pt x="335407" y="36321"/>
                </a:lnTo>
                <a:lnTo>
                  <a:pt x="282956" y="0"/>
                </a:lnTo>
                <a:lnTo>
                  <a:pt x="215900" y="8381"/>
                </a:lnTo>
                <a:lnTo>
                  <a:pt x="196342" y="25145"/>
                </a:lnTo>
                <a:lnTo>
                  <a:pt x="134112" y="15366"/>
                </a:lnTo>
                <a:lnTo>
                  <a:pt x="117094" y="62991"/>
                </a:lnTo>
                <a:lnTo>
                  <a:pt x="134112" y="92328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208788" y="407669"/>
                </a:moveTo>
                <a:lnTo>
                  <a:pt x="78867" y="407669"/>
                </a:lnTo>
                <a:lnTo>
                  <a:pt x="145161" y="419988"/>
                </a:lnTo>
                <a:lnTo>
                  <a:pt x="100584" y="522350"/>
                </a:lnTo>
                <a:lnTo>
                  <a:pt x="138684" y="547115"/>
                </a:lnTo>
                <a:lnTo>
                  <a:pt x="198501" y="531621"/>
                </a:lnTo>
                <a:lnTo>
                  <a:pt x="180721" y="475869"/>
                </a:lnTo>
                <a:lnTo>
                  <a:pt x="208788" y="429386"/>
                </a:lnTo>
                <a:lnTo>
                  <a:pt x="208788" y="407669"/>
                </a:lnTo>
                <a:close/>
              </a:path>
              <a:path w="248285" h="547369">
                <a:moveTo>
                  <a:pt x="119634" y="0"/>
                </a:moveTo>
                <a:lnTo>
                  <a:pt x="69977" y="35686"/>
                </a:lnTo>
                <a:lnTo>
                  <a:pt x="34417" y="271271"/>
                </a:lnTo>
                <a:lnTo>
                  <a:pt x="59817" y="303783"/>
                </a:lnTo>
                <a:lnTo>
                  <a:pt x="38227" y="337819"/>
                </a:lnTo>
                <a:lnTo>
                  <a:pt x="20320" y="389000"/>
                </a:lnTo>
                <a:lnTo>
                  <a:pt x="25400" y="424688"/>
                </a:lnTo>
                <a:lnTo>
                  <a:pt x="0" y="505205"/>
                </a:lnTo>
                <a:lnTo>
                  <a:pt x="68707" y="494410"/>
                </a:lnTo>
                <a:lnTo>
                  <a:pt x="63627" y="418464"/>
                </a:lnTo>
                <a:lnTo>
                  <a:pt x="78867" y="407669"/>
                </a:lnTo>
                <a:lnTo>
                  <a:pt x="208788" y="407669"/>
                </a:lnTo>
                <a:lnTo>
                  <a:pt x="208788" y="347217"/>
                </a:lnTo>
                <a:lnTo>
                  <a:pt x="244348" y="274319"/>
                </a:lnTo>
                <a:lnTo>
                  <a:pt x="244348" y="172084"/>
                </a:lnTo>
                <a:lnTo>
                  <a:pt x="248158" y="94487"/>
                </a:lnTo>
                <a:lnTo>
                  <a:pt x="211328" y="66675"/>
                </a:lnTo>
                <a:lnTo>
                  <a:pt x="190881" y="17017"/>
                </a:lnTo>
                <a:lnTo>
                  <a:pt x="11963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34417" y="271271"/>
                </a:moveTo>
                <a:lnTo>
                  <a:pt x="69977" y="35686"/>
                </a:lnTo>
                <a:lnTo>
                  <a:pt x="119634" y="0"/>
                </a:lnTo>
                <a:lnTo>
                  <a:pt x="190881" y="17017"/>
                </a:lnTo>
                <a:lnTo>
                  <a:pt x="211328" y="66675"/>
                </a:lnTo>
                <a:lnTo>
                  <a:pt x="248158" y="94487"/>
                </a:lnTo>
                <a:lnTo>
                  <a:pt x="244348" y="172084"/>
                </a:lnTo>
                <a:lnTo>
                  <a:pt x="244348" y="274319"/>
                </a:lnTo>
                <a:lnTo>
                  <a:pt x="208788" y="347217"/>
                </a:lnTo>
                <a:lnTo>
                  <a:pt x="208788" y="429386"/>
                </a:lnTo>
                <a:lnTo>
                  <a:pt x="180721" y="475869"/>
                </a:lnTo>
                <a:lnTo>
                  <a:pt x="198501" y="531621"/>
                </a:lnTo>
                <a:lnTo>
                  <a:pt x="138684" y="547115"/>
                </a:lnTo>
                <a:lnTo>
                  <a:pt x="100584" y="522350"/>
                </a:lnTo>
                <a:lnTo>
                  <a:pt x="145161" y="419988"/>
                </a:lnTo>
                <a:lnTo>
                  <a:pt x="78867" y="407669"/>
                </a:lnTo>
                <a:lnTo>
                  <a:pt x="63627" y="418464"/>
                </a:lnTo>
                <a:lnTo>
                  <a:pt x="68707" y="494410"/>
                </a:lnTo>
                <a:lnTo>
                  <a:pt x="0" y="505205"/>
                </a:lnTo>
                <a:lnTo>
                  <a:pt x="25400" y="424688"/>
                </a:lnTo>
                <a:lnTo>
                  <a:pt x="20320" y="389000"/>
                </a:lnTo>
                <a:lnTo>
                  <a:pt x="38227" y="337819"/>
                </a:lnTo>
                <a:lnTo>
                  <a:pt x="59817" y="303783"/>
                </a:lnTo>
                <a:lnTo>
                  <a:pt x="34417" y="2712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7707" y="1721484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58674" y="0"/>
                </a:moveTo>
                <a:lnTo>
                  <a:pt x="58674" y="38734"/>
                </a:lnTo>
                <a:lnTo>
                  <a:pt x="21716" y="136270"/>
                </a:lnTo>
                <a:lnTo>
                  <a:pt x="43306" y="363727"/>
                </a:lnTo>
                <a:lnTo>
                  <a:pt x="24256" y="379221"/>
                </a:lnTo>
                <a:lnTo>
                  <a:pt x="0" y="433450"/>
                </a:lnTo>
                <a:lnTo>
                  <a:pt x="50926" y="436499"/>
                </a:lnTo>
                <a:lnTo>
                  <a:pt x="33146" y="464312"/>
                </a:lnTo>
                <a:lnTo>
                  <a:pt x="58674" y="476757"/>
                </a:lnTo>
                <a:lnTo>
                  <a:pt x="112140" y="473709"/>
                </a:lnTo>
                <a:lnTo>
                  <a:pt x="133908" y="473709"/>
                </a:lnTo>
                <a:lnTo>
                  <a:pt x="178434" y="456692"/>
                </a:lnTo>
                <a:lnTo>
                  <a:pt x="169417" y="390017"/>
                </a:lnTo>
                <a:lnTo>
                  <a:pt x="194944" y="292607"/>
                </a:lnTo>
                <a:lnTo>
                  <a:pt x="211454" y="185800"/>
                </a:lnTo>
                <a:lnTo>
                  <a:pt x="174497" y="52577"/>
                </a:lnTo>
                <a:lnTo>
                  <a:pt x="173777" y="26288"/>
                </a:lnTo>
                <a:lnTo>
                  <a:pt x="145287" y="26288"/>
                </a:lnTo>
                <a:lnTo>
                  <a:pt x="91693" y="18542"/>
                </a:lnTo>
                <a:lnTo>
                  <a:pt x="58674" y="0"/>
                </a:lnTo>
                <a:close/>
              </a:path>
              <a:path w="211454" h="476885">
                <a:moveTo>
                  <a:pt x="133908" y="473709"/>
                </a:moveTo>
                <a:lnTo>
                  <a:pt x="112140" y="473709"/>
                </a:lnTo>
                <a:lnTo>
                  <a:pt x="129920" y="475233"/>
                </a:lnTo>
                <a:lnTo>
                  <a:pt x="133908" y="473709"/>
                </a:lnTo>
                <a:close/>
              </a:path>
              <a:path w="211454" h="476885">
                <a:moveTo>
                  <a:pt x="173227" y="6223"/>
                </a:moveTo>
                <a:lnTo>
                  <a:pt x="145287" y="26288"/>
                </a:lnTo>
                <a:lnTo>
                  <a:pt x="173777" y="26288"/>
                </a:lnTo>
                <a:lnTo>
                  <a:pt x="173227" y="62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78469" y="1722246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21716" y="136270"/>
                </a:moveTo>
                <a:lnTo>
                  <a:pt x="58674" y="38734"/>
                </a:lnTo>
                <a:lnTo>
                  <a:pt x="58674" y="0"/>
                </a:lnTo>
                <a:lnTo>
                  <a:pt x="91693" y="18541"/>
                </a:lnTo>
                <a:lnTo>
                  <a:pt x="145287" y="26288"/>
                </a:lnTo>
                <a:lnTo>
                  <a:pt x="173227" y="6222"/>
                </a:lnTo>
                <a:lnTo>
                  <a:pt x="174497" y="52577"/>
                </a:lnTo>
                <a:lnTo>
                  <a:pt x="211454" y="185800"/>
                </a:lnTo>
                <a:lnTo>
                  <a:pt x="194944" y="292607"/>
                </a:lnTo>
                <a:lnTo>
                  <a:pt x="169417" y="390016"/>
                </a:lnTo>
                <a:lnTo>
                  <a:pt x="178434" y="456691"/>
                </a:lnTo>
                <a:lnTo>
                  <a:pt x="129920" y="475233"/>
                </a:lnTo>
                <a:lnTo>
                  <a:pt x="112140" y="473709"/>
                </a:lnTo>
                <a:lnTo>
                  <a:pt x="58674" y="476757"/>
                </a:lnTo>
                <a:lnTo>
                  <a:pt x="33146" y="464312"/>
                </a:lnTo>
                <a:lnTo>
                  <a:pt x="50926" y="436499"/>
                </a:lnTo>
                <a:lnTo>
                  <a:pt x="0" y="433450"/>
                </a:lnTo>
                <a:lnTo>
                  <a:pt x="24256" y="379221"/>
                </a:lnTo>
                <a:lnTo>
                  <a:pt x="43306" y="363727"/>
                </a:lnTo>
                <a:lnTo>
                  <a:pt x="21716" y="136270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2271" y="2693796"/>
            <a:ext cx="2748915" cy="234315"/>
          </a:xfrm>
          <a:custGeom>
            <a:avLst/>
            <a:gdLst/>
            <a:ahLst/>
            <a:cxnLst/>
            <a:rect l="l" t="t" r="r" b="b"/>
            <a:pathLst>
              <a:path w="2748915" h="234314">
                <a:moveTo>
                  <a:pt x="2748915" y="0"/>
                </a:moveTo>
                <a:lnTo>
                  <a:pt x="2733548" y="51562"/>
                </a:lnTo>
                <a:lnTo>
                  <a:pt x="2692145" y="91439"/>
                </a:lnTo>
                <a:lnTo>
                  <a:pt x="2632075" y="114045"/>
                </a:lnTo>
                <a:lnTo>
                  <a:pt x="2597277" y="117220"/>
                </a:lnTo>
                <a:lnTo>
                  <a:pt x="1526031" y="117220"/>
                </a:lnTo>
                <a:lnTo>
                  <a:pt x="1491361" y="120268"/>
                </a:lnTo>
                <a:lnTo>
                  <a:pt x="1431289" y="142875"/>
                </a:lnTo>
                <a:lnTo>
                  <a:pt x="1389888" y="182752"/>
                </a:lnTo>
                <a:lnTo>
                  <a:pt x="1374520" y="234314"/>
                </a:lnTo>
                <a:lnTo>
                  <a:pt x="1370456" y="207518"/>
                </a:lnTo>
                <a:lnTo>
                  <a:pt x="1341119" y="161036"/>
                </a:lnTo>
                <a:lnTo>
                  <a:pt x="1289557" y="129031"/>
                </a:lnTo>
                <a:lnTo>
                  <a:pt x="1222882" y="117220"/>
                </a:lnTo>
                <a:lnTo>
                  <a:pt x="151637" y="117220"/>
                </a:lnTo>
                <a:lnTo>
                  <a:pt x="116839" y="114045"/>
                </a:lnTo>
                <a:lnTo>
                  <a:pt x="56768" y="91439"/>
                </a:lnTo>
                <a:lnTo>
                  <a:pt x="15366" y="51562"/>
                </a:lnTo>
                <a:lnTo>
                  <a:pt x="4063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43" y="2699892"/>
            <a:ext cx="1397635" cy="234315"/>
          </a:xfrm>
          <a:custGeom>
            <a:avLst/>
            <a:gdLst/>
            <a:ahLst/>
            <a:cxnLst/>
            <a:rect l="l" t="t" r="r" b="b"/>
            <a:pathLst>
              <a:path w="1397635" h="234314">
                <a:moveTo>
                  <a:pt x="1397254" y="0"/>
                </a:moveTo>
                <a:lnTo>
                  <a:pt x="1381887" y="51562"/>
                </a:lnTo>
                <a:lnTo>
                  <a:pt x="1340485" y="91440"/>
                </a:lnTo>
                <a:lnTo>
                  <a:pt x="1280414" y="114045"/>
                </a:lnTo>
                <a:lnTo>
                  <a:pt x="1245616" y="117220"/>
                </a:lnTo>
                <a:lnTo>
                  <a:pt x="850265" y="117220"/>
                </a:lnTo>
                <a:lnTo>
                  <a:pt x="815594" y="120268"/>
                </a:lnTo>
                <a:lnTo>
                  <a:pt x="755396" y="142875"/>
                </a:lnTo>
                <a:lnTo>
                  <a:pt x="714057" y="182753"/>
                </a:lnTo>
                <a:lnTo>
                  <a:pt x="698639" y="234315"/>
                </a:lnTo>
                <a:lnTo>
                  <a:pt x="694639" y="207518"/>
                </a:lnTo>
                <a:lnTo>
                  <a:pt x="665314" y="161036"/>
                </a:lnTo>
                <a:lnTo>
                  <a:pt x="613664" y="129031"/>
                </a:lnTo>
                <a:lnTo>
                  <a:pt x="546963" y="117220"/>
                </a:lnTo>
                <a:lnTo>
                  <a:pt x="151676" y="117220"/>
                </a:lnTo>
                <a:lnTo>
                  <a:pt x="116890" y="114045"/>
                </a:lnTo>
                <a:lnTo>
                  <a:pt x="56807" y="91440"/>
                </a:lnTo>
                <a:lnTo>
                  <a:pt x="15417" y="51562"/>
                </a:lnTo>
                <a:lnTo>
                  <a:pt x="4000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59449" y="2434843"/>
            <a:ext cx="1167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DOG</a:t>
            </a:r>
            <a:r>
              <a:rPr sz="1200" dirty="0">
                <a:latin typeface="Arial"/>
                <a:cs typeface="Arial"/>
              </a:rPr>
              <a:t>, </a:t>
            </a:r>
            <a:r>
              <a:rPr sz="1200" b="1" dirty="0">
                <a:solidFill>
                  <a:srgbClr val="69A84F"/>
                </a:solidFill>
                <a:latin typeface="Arial"/>
                <a:cs typeface="Arial"/>
              </a:rPr>
              <a:t>DOG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165" dirty="0"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885E8"/>
                </a:solidFill>
                <a:latin typeface="Arial"/>
                <a:cs typeface="Arial"/>
              </a:rPr>
              <a:t>CAT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1103" y="761949"/>
            <a:ext cx="1142365" cy="1870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7305" algn="ctr">
              <a:lnSpc>
                <a:spcPct val="100000"/>
              </a:lnSpc>
              <a:spcBef>
                <a:spcPts val="110"/>
              </a:spcBef>
            </a:pPr>
            <a:r>
              <a:rPr sz="1300" b="1" spc="30" dirty="0">
                <a:latin typeface="微软雅黑"/>
                <a:cs typeface="微软雅黑"/>
              </a:rPr>
              <a:t>实例分割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DOG</a:t>
            </a:r>
            <a:r>
              <a:rPr sz="1200" dirty="0">
                <a:latin typeface="Arial"/>
                <a:cs typeface="Arial"/>
              </a:rPr>
              <a:t>, </a:t>
            </a:r>
            <a:r>
              <a:rPr sz="1200" b="1" dirty="0">
                <a:solidFill>
                  <a:srgbClr val="69A84F"/>
                </a:solidFill>
                <a:latin typeface="Arial"/>
                <a:cs typeface="Arial"/>
              </a:rPr>
              <a:t>DOG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4885E8"/>
                </a:solidFill>
                <a:latin typeface="Arial"/>
                <a:cs typeface="Arial"/>
              </a:rPr>
              <a:t>CAT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86677" y="2904235"/>
            <a:ext cx="80137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Multiple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Object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24451" y="2699892"/>
            <a:ext cx="1377315" cy="234315"/>
          </a:xfrm>
          <a:custGeom>
            <a:avLst/>
            <a:gdLst/>
            <a:ahLst/>
            <a:cxnLst/>
            <a:rect l="l" t="t" r="r" b="b"/>
            <a:pathLst>
              <a:path w="1377314" h="234314">
                <a:moveTo>
                  <a:pt x="1377314" y="0"/>
                </a:moveTo>
                <a:lnTo>
                  <a:pt x="1361948" y="51562"/>
                </a:lnTo>
                <a:lnTo>
                  <a:pt x="1320546" y="91440"/>
                </a:lnTo>
                <a:lnTo>
                  <a:pt x="1260475" y="114045"/>
                </a:lnTo>
                <a:lnTo>
                  <a:pt x="1225677" y="117220"/>
                </a:lnTo>
                <a:lnTo>
                  <a:pt x="840232" y="117220"/>
                </a:lnTo>
                <a:lnTo>
                  <a:pt x="805434" y="120268"/>
                </a:lnTo>
                <a:lnTo>
                  <a:pt x="745490" y="142875"/>
                </a:lnTo>
                <a:lnTo>
                  <a:pt x="704088" y="182753"/>
                </a:lnTo>
                <a:lnTo>
                  <a:pt x="688721" y="234315"/>
                </a:lnTo>
                <a:lnTo>
                  <a:pt x="684657" y="207518"/>
                </a:lnTo>
                <a:lnTo>
                  <a:pt x="655320" y="161036"/>
                </a:lnTo>
                <a:lnTo>
                  <a:pt x="603758" y="129031"/>
                </a:lnTo>
                <a:lnTo>
                  <a:pt x="537083" y="117220"/>
                </a:lnTo>
                <a:lnTo>
                  <a:pt x="151637" y="117220"/>
                </a:lnTo>
                <a:lnTo>
                  <a:pt x="116840" y="114045"/>
                </a:lnTo>
                <a:lnTo>
                  <a:pt x="56768" y="91440"/>
                </a:lnTo>
                <a:lnTo>
                  <a:pt x="15367" y="51562"/>
                </a:lnTo>
                <a:lnTo>
                  <a:pt x="4064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7891" y="762203"/>
            <a:ext cx="2524125" cy="2324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110"/>
              </a:spcBef>
              <a:tabLst>
                <a:tab pos="1577340" algn="l"/>
              </a:tabLst>
            </a:pPr>
            <a:r>
              <a:rPr sz="1300" b="1" spc="30" dirty="0">
                <a:latin typeface="微软雅黑"/>
                <a:cs typeface="微软雅黑"/>
              </a:rPr>
              <a:t>分类	语义分割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563370" marR="88265" indent="-1268730">
              <a:lnSpc>
                <a:spcPct val="100800"/>
              </a:lnSpc>
              <a:spcBef>
                <a:spcPts val="1330"/>
              </a:spcBef>
              <a:tabLst>
                <a:tab pos="1479550" algn="l"/>
              </a:tabLst>
            </a:pPr>
            <a:r>
              <a:rPr sz="1800" b="1" spc="-120" baseline="-23148" dirty="0">
                <a:latin typeface="Arial"/>
                <a:cs typeface="Arial"/>
              </a:rPr>
              <a:t>CAT	</a:t>
            </a:r>
            <a:r>
              <a:rPr sz="1200" b="1" spc="-10" dirty="0">
                <a:solidFill>
                  <a:srgbClr val="69A84F"/>
                </a:solidFill>
                <a:latin typeface="Arial"/>
                <a:cs typeface="Arial"/>
              </a:rPr>
              <a:t>GRASS</a:t>
            </a:r>
            <a:r>
              <a:rPr sz="1200" spc="-10" dirty="0">
                <a:latin typeface="Arial"/>
                <a:cs typeface="Arial"/>
              </a:rPr>
              <a:t>,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EFC130"/>
                </a:solidFill>
                <a:latin typeface="Arial"/>
                <a:cs typeface="Arial"/>
              </a:rPr>
              <a:t>CAT</a:t>
            </a:r>
            <a:r>
              <a:rPr sz="1200" spc="-55" dirty="0">
                <a:latin typeface="Arial"/>
                <a:cs typeface="Arial"/>
              </a:rPr>
              <a:t>,  </a:t>
            </a:r>
            <a:r>
              <a:rPr sz="1200" b="1" dirty="0">
                <a:solidFill>
                  <a:srgbClr val="A44D79"/>
                </a:solidFill>
                <a:latin typeface="Arial"/>
                <a:cs typeface="Arial"/>
              </a:rPr>
              <a:t>TREE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4885E8"/>
                </a:solidFill>
                <a:latin typeface="Arial"/>
                <a:cs typeface="Arial"/>
              </a:rPr>
              <a:t>SKY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394460" algn="l"/>
              </a:tabLst>
            </a:pPr>
            <a:r>
              <a:rPr sz="900" spc="20" dirty="0">
                <a:latin typeface="Arial"/>
                <a:cs typeface="Arial"/>
              </a:rPr>
              <a:t>No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spatial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extent	</a:t>
            </a:r>
            <a:r>
              <a:rPr sz="900" spc="20" dirty="0">
                <a:latin typeface="Arial"/>
                <a:cs typeface="Arial"/>
              </a:rPr>
              <a:t>No </a:t>
            </a:r>
            <a:r>
              <a:rPr sz="900" spc="10" dirty="0">
                <a:latin typeface="Arial"/>
                <a:cs typeface="Arial"/>
              </a:rPr>
              <a:t>objects, just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pixels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57768" y="3056508"/>
            <a:ext cx="20320" cy="3175"/>
          </a:xfrm>
          <a:custGeom>
            <a:avLst/>
            <a:gdLst/>
            <a:ahLst/>
            <a:cxnLst/>
            <a:rect l="l" t="t" r="r" b="b"/>
            <a:pathLst>
              <a:path w="20320" h="3175">
                <a:moveTo>
                  <a:pt x="0" y="3047"/>
                </a:moveTo>
                <a:lnTo>
                  <a:pt x="19812" y="3047"/>
                </a:lnTo>
                <a:lnTo>
                  <a:pt x="19812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07197" y="2990468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This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imag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CC0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public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69587" y="1178940"/>
            <a:ext cx="1424939" cy="1211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9"/>
                </a:moveTo>
                <a:lnTo>
                  <a:pt x="684403" y="613029"/>
                </a:lnTo>
                <a:lnTo>
                  <a:pt x="721106" y="709168"/>
                </a:lnTo>
                <a:lnTo>
                  <a:pt x="806704" y="769366"/>
                </a:lnTo>
                <a:lnTo>
                  <a:pt x="855472" y="727201"/>
                </a:lnTo>
                <a:lnTo>
                  <a:pt x="858266" y="657987"/>
                </a:lnTo>
                <a:lnTo>
                  <a:pt x="841607" y="613029"/>
                </a:lnTo>
                <a:close/>
              </a:path>
              <a:path w="1094105" h="769619">
                <a:moveTo>
                  <a:pt x="1091235" y="480822"/>
                </a:moveTo>
                <a:lnTo>
                  <a:pt x="971677" y="480822"/>
                </a:lnTo>
                <a:lnTo>
                  <a:pt x="947166" y="589026"/>
                </a:lnTo>
                <a:lnTo>
                  <a:pt x="1032764" y="631063"/>
                </a:lnTo>
                <a:lnTo>
                  <a:pt x="1093851" y="570992"/>
                </a:lnTo>
                <a:lnTo>
                  <a:pt x="1093851" y="498856"/>
                </a:lnTo>
                <a:lnTo>
                  <a:pt x="1091235" y="480822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3"/>
                </a:lnTo>
                <a:lnTo>
                  <a:pt x="427736" y="258444"/>
                </a:lnTo>
                <a:lnTo>
                  <a:pt x="537718" y="324485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4"/>
                </a:lnTo>
                <a:lnTo>
                  <a:pt x="684403" y="613029"/>
                </a:lnTo>
                <a:lnTo>
                  <a:pt x="841607" y="613029"/>
                </a:lnTo>
                <a:lnTo>
                  <a:pt x="837184" y="601091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2"/>
                </a:lnTo>
                <a:lnTo>
                  <a:pt x="1091235" y="480822"/>
                </a:lnTo>
                <a:lnTo>
                  <a:pt x="1081659" y="414781"/>
                </a:lnTo>
                <a:lnTo>
                  <a:pt x="1038860" y="360680"/>
                </a:lnTo>
                <a:lnTo>
                  <a:pt x="1063371" y="312547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3"/>
                </a:lnTo>
                <a:lnTo>
                  <a:pt x="647827" y="102235"/>
                </a:lnTo>
                <a:lnTo>
                  <a:pt x="672211" y="204343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5"/>
                </a:lnTo>
                <a:lnTo>
                  <a:pt x="788289" y="102235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4"/>
                </a:moveTo>
                <a:lnTo>
                  <a:pt x="40259" y="127126"/>
                </a:lnTo>
                <a:lnTo>
                  <a:pt x="0" y="174244"/>
                </a:lnTo>
                <a:lnTo>
                  <a:pt x="73279" y="192278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4"/>
                </a:lnTo>
                <a:lnTo>
                  <a:pt x="244475" y="108204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5"/>
                </a:lnTo>
                <a:lnTo>
                  <a:pt x="1090434" y="102235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4"/>
                </a:lnTo>
                <a:lnTo>
                  <a:pt x="464439" y="174244"/>
                </a:lnTo>
                <a:lnTo>
                  <a:pt x="617220" y="222376"/>
                </a:lnTo>
                <a:lnTo>
                  <a:pt x="672211" y="204343"/>
                </a:lnTo>
                <a:lnTo>
                  <a:pt x="647827" y="102235"/>
                </a:lnTo>
                <a:lnTo>
                  <a:pt x="647827" y="24003"/>
                </a:lnTo>
                <a:lnTo>
                  <a:pt x="684403" y="18033"/>
                </a:lnTo>
                <a:lnTo>
                  <a:pt x="788289" y="102235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7"/>
                </a:lnTo>
                <a:lnTo>
                  <a:pt x="1038860" y="360680"/>
                </a:lnTo>
                <a:lnTo>
                  <a:pt x="1081659" y="414781"/>
                </a:lnTo>
                <a:lnTo>
                  <a:pt x="1093851" y="498856"/>
                </a:lnTo>
                <a:lnTo>
                  <a:pt x="1093851" y="570992"/>
                </a:lnTo>
                <a:lnTo>
                  <a:pt x="1032764" y="631063"/>
                </a:lnTo>
                <a:lnTo>
                  <a:pt x="947166" y="589026"/>
                </a:lnTo>
                <a:lnTo>
                  <a:pt x="971677" y="480822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1"/>
                </a:lnTo>
                <a:lnTo>
                  <a:pt x="858266" y="657987"/>
                </a:lnTo>
                <a:lnTo>
                  <a:pt x="855472" y="727201"/>
                </a:lnTo>
                <a:lnTo>
                  <a:pt x="806704" y="769366"/>
                </a:lnTo>
                <a:lnTo>
                  <a:pt x="721106" y="709168"/>
                </a:lnTo>
                <a:lnTo>
                  <a:pt x="684403" y="613029"/>
                </a:lnTo>
                <a:lnTo>
                  <a:pt x="598932" y="625094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5"/>
                </a:lnTo>
                <a:lnTo>
                  <a:pt x="427736" y="258444"/>
                </a:lnTo>
                <a:lnTo>
                  <a:pt x="262763" y="204343"/>
                </a:lnTo>
                <a:lnTo>
                  <a:pt x="164973" y="180339"/>
                </a:lnTo>
                <a:lnTo>
                  <a:pt x="73279" y="192278"/>
                </a:lnTo>
                <a:lnTo>
                  <a:pt x="0" y="174244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63110" y="1174083"/>
            <a:ext cx="1443863" cy="1216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9"/>
                </a:moveTo>
                <a:lnTo>
                  <a:pt x="684403" y="613029"/>
                </a:lnTo>
                <a:lnTo>
                  <a:pt x="721106" y="709168"/>
                </a:lnTo>
                <a:lnTo>
                  <a:pt x="806704" y="769366"/>
                </a:lnTo>
                <a:lnTo>
                  <a:pt x="855472" y="727201"/>
                </a:lnTo>
                <a:lnTo>
                  <a:pt x="858266" y="657987"/>
                </a:lnTo>
                <a:lnTo>
                  <a:pt x="841607" y="613029"/>
                </a:lnTo>
                <a:close/>
              </a:path>
              <a:path w="1094105" h="769619">
                <a:moveTo>
                  <a:pt x="1091235" y="480822"/>
                </a:moveTo>
                <a:lnTo>
                  <a:pt x="971677" y="480822"/>
                </a:lnTo>
                <a:lnTo>
                  <a:pt x="947166" y="589026"/>
                </a:lnTo>
                <a:lnTo>
                  <a:pt x="1032764" y="631063"/>
                </a:lnTo>
                <a:lnTo>
                  <a:pt x="1093851" y="570992"/>
                </a:lnTo>
                <a:lnTo>
                  <a:pt x="1093851" y="498856"/>
                </a:lnTo>
                <a:lnTo>
                  <a:pt x="1091235" y="480822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3"/>
                </a:lnTo>
                <a:lnTo>
                  <a:pt x="427736" y="258444"/>
                </a:lnTo>
                <a:lnTo>
                  <a:pt x="537718" y="324485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4"/>
                </a:lnTo>
                <a:lnTo>
                  <a:pt x="684403" y="613029"/>
                </a:lnTo>
                <a:lnTo>
                  <a:pt x="841607" y="613029"/>
                </a:lnTo>
                <a:lnTo>
                  <a:pt x="837184" y="601091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2"/>
                </a:lnTo>
                <a:lnTo>
                  <a:pt x="1091235" y="480822"/>
                </a:lnTo>
                <a:lnTo>
                  <a:pt x="1081659" y="414781"/>
                </a:lnTo>
                <a:lnTo>
                  <a:pt x="1038860" y="360680"/>
                </a:lnTo>
                <a:lnTo>
                  <a:pt x="1063371" y="312547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3"/>
                </a:lnTo>
                <a:lnTo>
                  <a:pt x="647827" y="102235"/>
                </a:lnTo>
                <a:lnTo>
                  <a:pt x="672211" y="204343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5"/>
                </a:lnTo>
                <a:lnTo>
                  <a:pt x="788289" y="102235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4"/>
                </a:moveTo>
                <a:lnTo>
                  <a:pt x="40259" y="127126"/>
                </a:lnTo>
                <a:lnTo>
                  <a:pt x="0" y="174244"/>
                </a:lnTo>
                <a:lnTo>
                  <a:pt x="73279" y="192278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4"/>
                </a:lnTo>
                <a:lnTo>
                  <a:pt x="244475" y="108204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5"/>
                </a:lnTo>
                <a:lnTo>
                  <a:pt x="1090434" y="102235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4"/>
                </a:lnTo>
                <a:lnTo>
                  <a:pt x="464439" y="174244"/>
                </a:lnTo>
                <a:lnTo>
                  <a:pt x="617220" y="222376"/>
                </a:lnTo>
                <a:lnTo>
                  <a:pt x="672211" y="204343"/>
                </a:lnTo>
                <a:lnTo>
                  <a:pt x="647827" y="102235"/>
                </a:lnTo>
                <a:lnTo>
                  <a:pt x="647827" y="24003"/>
                </a:lnTo>
                <a:lnTo>
                  <a:pt x="684403" y="18033"/>
                </a:lnTo>
                <a:lnTo>
                  <a:pt x="788289" y="102235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7"/>
                </a:lnTo>
                <a:lnTo>
                  <a:pt x="1038860" y="360680"/>
                </a:lnTo>
                <a:lnTo>
                  <a:pt x="1081659" y="414781"/>
                </a:lnTo>
                <a:lnTo>
                  <a:pt x="1093851" y="498856"/>
                </a:lnTo>
                <a:lnTo>
                  <a:pt x="1093851" y="570992"/>
                </a:lnTo>
                <a:lnTo>
                  <a:pt x="1032764" y="631063"/>
                </a:lnTo>
                <a:lnTo>
                  <a:pt x="947166" y="589026"/>
                </a:lnTo>
                <a:lnTo>
                  <a:pt x="971677" y="480822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1"/>
                </a:lnTo>
                <a:lnTo>
                  <a:pt x="858266" y="657987"/>
                </a:lnTo>
                <a:lnTo>
                  <a:pt x="855472" y="727201"/>
                </a:lnTo>
                <a:lnTo>
                  <a:pt x="806704" y="769366"/>
                </a:lnTo>
                <a:lnTo>
                  <a:pt x="721106" y="709168"/>
                </a:lnTo>
                <a:lnTo>
                  <a:pt x="684403" y="613029"/>
                </a:lnTo>
                <a:lnTo>
                  <a:pt x="598932" y="625094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5"/>
                </a:lnTo>
                <a:lnTo>
                  <a:pt x="427736" y="258444"/>
                </a:lnTo>
                <a:lnTo>
                  <a:pt x="262763" y="204343"/>
                </a:lnTo>
                <a:lnTo>
                  <a:pt x="164973" y="180339"/>
                </a:lnTo>
                <a:lnTo>
                  <a:pt x="73279" y="192278"/>
                </a:lnTo>
                <a:lnTo>
                  <a:pt x="0" y="174244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4" y="76962"/>
                </a:moveTo>
                <a:lnTo>
                  <a:pt x="0" y="133477"/>
                </a:lnTo>
                <a:lnTo>
                  <a:pt x="0" y="758698"/>
                </a:lnTo>
                <a:lnTo>
                  <a:pt x="1412240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2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9" y="160655"/>
                </a:lnTo>
                <a:lnTo>
                  <a:pt x="473964" y="76962"/>
                </a:lnTo>
                <a:close/>
              </a:path>
              <a:path w="1421764" h="758825">
                <a:moveTo>
                  <a:pt x="981202" y="332867"/>
                </a:moveTo>
                <a:lnTo>
                  <a:pt x="895477" y="369824"/>
                </a:lnTo>
                <a:lnTo>
                  <a:pt x="902589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6"/>
                </a:lnTo>
                <a:lnTo>
                  <a:pt x="1078865" y="463296"/>
                </a:lnTo>
                <a:lnTo>
                  <a:pt x="964565" y="416560"/>
                </a:lnTo>
                <a:lnTo>
                  <a:pt x="981202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40" y="160655"/>
                </a:lnTo>
                <a:lnTo>
                  <a:pt x="1166876" y="286131"/>
                </a:lnTo>
                <a:lnTo>
                  <a:pt x="1162177" y="386969"/>
                </a:lnTo>
                <a:lnTo>
                  <a:pt x="1078865" y="463296"/>
                </a:lnTo>
                <a:lnTo>
                  <a:pt x="1416141" y="463296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5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5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7"/>
                </a:moveTo>
                <a:lnTo>
                  <a:pt x="473964" y="76962"/>
                </a:lnTo>
                <a:lnTo>
                  <a:pt x="559689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2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9" y="421513"/>
                </a:lnTo>
                <a:lnTo>
                  <a:pt x="895477" y="369824"/>
                </a:lnTo>
                <a:lnTo>
                  <a:pt x="981202" y="332867"/>
                </a:lnTo>
                <a:lnTo>
                  <a:pt x="964565" y="416560"/>
                </a:lnTo>
                <a:lnTo>
                  <a:pt x="1078865" y="463296"/>
                </a:lnTo>
                <a:lnTo>
                  <a:pt x="1162177" y="386969"/>
                </a:lnTo>
                <a:lnTo>
                  <a:pt x="1166876" y="286131"/>
                </a:lnTo>
                <a:lnTo>
                  <a:pt x="1107440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5" y="37592"/>
                </a:lnTo>
                <a:lnTo>
                  <a:pt x="1412240" y="758698"/>
                </a:lnTo>
                <a:lnTo>
                  <a:pt x="0" y="758698"/>
                </a:lnTo>
                <a:lnTo>
                  <a:pt x="0" y="133477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58469" y="217424"/>
                </a:moveTo>
                <a:lnTo>
                  <a:pt x="326389" y="268731"/>
                </a:lnTo>
                <a:lnTo>
                  <a:pt x="2412" y="305688"/>
                </a:lnTo>
                <a:lnTo>
                  <a:pt x="0" y="529970"/>
                </a:lnTo>
                <a:lnTo>
                  <a:pt x="426465" y="483107"/>
                </a:lnTo>
                <a:lnTo>
                  <a:pt x="218350" y="426465"/>
                </a:lnTo>
                <a:lnTo>
                  <a:pt x="109600" y="426465"/>
                </a:lnTo>
                <a:lnTo>
                  <a:pt x="16637" y="394462"/>
                </a:lnTo>
                <a:lnTo>
                  <a:pt x="78612" y="327787"/>
                </a:lnTo>
                <a:lnTo>
                  <a:pt x="300227" y="315468"/>
                </a:lnTo>
                <a:lnTo>
                  <a:pt x="676674" y="315468"/>
                </a:lnTo>
                <a:lnTo>
                  <a:pt x="669670" y="274955"/>
                </a:lnTo>
                <a:lnTo>
                  <a:pt x="698459" y="239140"/>
                </a:lnTo>
                <a:lnTo>
                  <a:pt x="609853" y="239140"/>
                </a:lnTo>
                <a:lnTo>
                  <a:pt x="458469" y="217424"/>
                </a:lnTo>
                <a:close/>
              </a:path>
              <a:path w="1420495" h="530225">
                <a:moveTo>
                  <a:pt x="1416670" y="204596"/>
                </a:moveTo>
                <a:lnTo>
                  <a:pt x="1072133" y="204596"/>
                </a:lnTo>
                <a:lnTo>
                  <a:pt x="1150746" y="236600"/>
                </a:lnTo>
                <a:lnTo>
                  <a:pt x="1149603" y="396748"/>
                </a:lnTo>
                <a:lnTo>
                  <a:pt x="1248410" y="409194"/>
                </a:lnTo>
                <a:lnTo>
                  <a:pt x="1257935" y="438785"/>
                </a:lnTo>
                <a:lnTo>
                  <a:pt x="1412875" y="438785"/>
                </a:lnTo>
                <a:lnTo>
                  <a:pt x="1416670" y="204596"/>
                </a:lnTo>
                <a:close/>
              </a:path>
              <a:path w="1420495" h="530225">
                <a:moveTo>
                  <a:pt x="200151" y="421513"/>
                </a:moveTo>
                <a:lnTo>
                  <a:pt x="109600" y="426465"/>
                </a:lnTo>
                <a:lnTo>
                  <a:pt x="218350" y="426465"/>
                </a:lnTo>
                <a:lnTo>
                  <a:pt x="200151" y="421513"/>
                </a:lnTo>
                <a:close/>
              </a:path>
              <a:path w="1420495" h="530225">
                <a:moveTo>
                  <a:pt x="676674" y="315468"/>
                </a:moveTo>
                <a:lnTo>
                  <a:pt x="300227" y="315468"/>
                </a:lnTo>
                <a:lnTo>
                  <a:pt x="657606" y="418973"/>
                </a:lnTo>
                <a:lnTo>
                  <a:pt x="693293" y="411606"/>
                </a:lnTo>
                <a:lnTo>
                  <a:pt x="676674" y="315468"/>
                </a:lnTo>
                <a:close/>
              </a:path>
              <a:path w="1420495" h="530225">
                <a:moveTo>
                  <a:pt x="1054979" y="221869"/>
                </a:moveTo>
                <a:lnTo>
                  <a:pt x="712343" y="221869"/>
                </a:lnTo>
                <a:lnTo>
                  <a:pt x="743331" y="229235"/>
                </a:lnTo>
                <a:lnTo>
                  <a:pt x="843407" y="303149"/>
                </a:lnTo>
                <a:lnTo>
                  <a:pt x="979169" y="298195"/>
                </a:lnTo>
                <a:lnTo>
                  <a:pt x="1054979" y="221869"/>
                </a:lnTo>
                <a:close/>
              </a:path>
              <a:path w="1420495" h="530225">
                <a:moveTo>
                  <a:pt x="1419987" y="0"/>
                </a:moveTo>
                <a:lnTo>
                  <a:pt x="1341374" y="49275"/>
                </a:lnTo>
                <a:lnTo>
                  <a:pt x="1279398" y="68961"/>
                </a:lnTo>
                <a:lnTo>
                  <a:pt x="1148333" y="81407"/>
                </a:lnTo>
                <a:lnTo>
                  <a:pt x="717169" y="204596"/>
                </a:lnTo>
                <a:lnTo>
                  <a:pt x="609853" y="239140"/>
                </a:lnTo>
                <a:lnTo>
                  <a:pt x="698459" y="239140"/>
                </a:lnTo>
                <a:lnTo>
                  <a:pt x="712343" y="221869"/>
                </a:lnTo>
                <a:lnTo>
                  <a:pt x="1054979" y="221869"/>
                </a:lnTo>
                <a:lnTo>
                  <a:pt x="1072133" y="204596"/>
                </a:lnTo>
                <a:lnTo>
                  <a:pt x="1416670" y="204596"/>
                </a:lnTo>
                <a:lnTo>
                  <a:pt x="1419987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26465" y="483107"/>
                </a:moveTo>
                <a:lnTo>
                  <a:pt x="0" y="529970"/>
                </a:lnTo>
                <a:lnTo>
                  <a:pt x="2412" y="305688"/>
                </a:lnTo>
                <a:lnTo>
                  <a:pt x="326389" y="268731"/>
                </a:lnTo>
                <a:lnTo>
                  <a:pt x="458469" y="217424"/>
                </a:lnTo>
                <a:lnTo>
                  <a:pt x="609853" y="239140"/>
                </a:lnTo>
                <a:lnTo>
                  <a:pt x="717169" y="204596"/>
                </a:lnTo>
                <a:lnTo>
                  <a:pt x="1148333" y="81407"/>
                </a:lnTo>
                <a:lnTo>
                  <a:pt x="1279398" y="68961"/>
                </a:lnTo>
                <a:lnTo>
                  <a:pt x="1341374" y="49275"/>
                </a:lnTo>
                <a:lnTo>
                  <a:pt x="1419987" y="0"/>
                </a:lnTo>
                <a:lnTo>
                  <a:pt x="1412875" y="438785"/>
                </a:lnTo>
                <a:lnTo>
                  <a:pt x="1257935" y="438785"/>
                </a:lnTo>
                <a:lnTo>
                  <a:pt x="1248410" y="409194"/>
                </a:lnTo>
                <a:lnTo>
                  <a:pt x="1149603" y="396748"/>
                </a:lnTo>
                <a:lnTo>
                  <a:pt x="1150746" y="236600"/>
                </a:lnTo>
                <a:lnTo>
                  <a:pt x="1072133" y="204596"/>
                </a:lnTo>
                <a:lnTo>
                  <a:pt x="979169" y="298195"/>
                </a:lnTo>
                <a:lnTo>
                  <a:pt x="843407" y="303149"/>
                </a:lnTo>
                <a:lnTo>
                  <a:pt x="743331" y="229235"/>
                </a:lnTo>
                <a:lnTo>
                  <a:pt x="712343" y="221869"/>
                </a:lnTo>
                <a:lnTo>
                  <a:pt x="669670" y="274955"/>
                </a:lnTo>
                <a:lnTo>
                  <a:pt x="693293" y="411606"/>
                </a:lnTo>
                <a:lnTo>
                  <a:pt x="657606" y="418973"/>
                </a:lnTo>
                <a:lnTo>
                  <a:pt x="300227" y="315468"/>
                </a:lnTo>
                <a:lnTo>
                  <a:pt x="78612" y="327787"/>
                </a:lnTo>
                <a:lnTo>
                  <a:pt x="16637" y="394462"/>
                </a:lnTo>
                <a:lnTo>
                  <a:pt x="109600" y="426465"/>
                </a:lnTo>
                <a:lnTo>
                  <a:pt x="200151" y="421513"/>
                </a:lnTo>
                <a:lnTo>
                  <a:pt x="426465" y="483107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77207" y="1180464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0"/>
                </a:moveTo>
                <a:lnTo>
                  <a:pt x="0" y="320040"/>
                </a:lnTo>
                <a:lnTo>
                  <a:pt x="309753" y="280543"/>
                </a:lnTo>
                <a:lnTo>
                  <a:pt x="452755" y="221487"/>
                </a:lnTo>
                <a:lnTo>
                  <a:pt x="674262" y="221487"/>
                </a:lnTo>
                <a:lnTo>
                  <a:pt x="1119886" y="91059"/>
                </a:lnTo>
                <a:lnTo>
                  <a:pt x="1308100" y="68961"/>
                </a:lnTo>
                <a:lnTo>
                  <a:pt x="1408176" y="4953"/>
                </a:lnTo>
                <a:lnTo>
                  <a:pt x="0" y="0"/>
                </a:lnTo>
                <a:close/>
              </a:path>
              <a:path w="1408430" h="320040">
                <a:moveTo>
                  <a:pt x="674262" y="221487"/>
                </a:moveTo>
                <a:lnTo>
                  <a:pt x="452755" y="221487"/>
                </a:lnTo>
                <a:lnTo>
                  <a:pt x="581406" y="248666"/>
                </a:lnTo>
                <a:lnTo>
                  <a:pt x="674262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77969" y="1181226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320040"/>
                </a:moveTo>
                <a:lnTo>
                  <a:pt x="0" y="0"/>
                </a:lnTo>
                <a:lnTo>
                  <a:pt x="1408176" y="4953"/>
                </a:lnTo>
                <a:lnTo>
                  <a:pt x="1308100" y="68961"/>
                </a:lnTo>
                <a:lnTo>
                  <a:pt x="1119886" y="91059"/>
                </a:lnTo>
                <a:lnTo>
                  <a:pt x="581406" y="248666"/>
                </a:lnTo>
                <a:lnTo>
                  <a:pt x="452755" y="221488"/>
                </a:lnTo>
                <a:lnTo>
                  <a:pt x="309753" y="280543"/>
                </a:lnTo>
                <a:lnTo>
                  <a:pt x="0" y="320040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919" y="709548"/>
            <a:ext cx="3040380" cy="2416810"/>
          </a:xfrm>
          <a:custGeom>
            <a:avLst/>
            <a:gdLst/>
            <a:ahLst/>
            <a:cxnLst/>
            <a:rect l="l" t="t" r="r" b="b"/>
            <a:pathLst>
              <a:path w="3040380" h="2416810">
                <a:moveTo>
                  <a:pt x="0" y="2416810"/>
                </a:moveTo>
                <a:lnTo>
                  <a:pt x="3040380" y="2416810"/>
                </a:lnTo>
                <a:lnTo>
                  <a:pt x="3040380" y="0"/>
                </a:lnTo>
                <a:lnTo>
                  <a:pt x="0" y="0"/>
                </a:lnTo>
                <a:lnTo>
                  <a:pt x="0" y="2416810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06919" y="709548"/>
            <a:ext cx="1484630" cy="1984375"/>
          </a:xfrm>
          <a:custGeom>
            <a:avLst/>
            <a:gdLst/>
            <a:ahLst/>
            <a:cxnLst/>
            <a:rect l="l" t="t" r="r" b="b"/>
            <a:pathLst>
              <a:path w="1484629" h="1984375">
                <a:moveTo>
                  <a:pt x="0" y="1983867"/>
                </a:moveTo>
                <a:lnTo>
                  <a:pt x="1484376" y="1983867"/>
                </a:lnTo>
                <a:lnTo>
                  <a:pt x="1484376" y="0"/>
                </a:lnTo>
                <a:lnTo>
                  <a:pt x="0" y="0"/>
                </a:lnTo>
                <a:lnTo>
                  <a:pt x="0" y="1983867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3872" y="599075"/>
            <a:ext cx="4361688" cy="246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1640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深度学习带来</a:t>
            </a:r>
            <a:r>
              <a:rPr b="1" spc="5" dirty="0">
                <a:latin typeface="微软雅黑"/>
                <a:cs typeface="微软雅黑"/>
              </a:rPr>
              <a:t>的</a:t>
            </a:r>
            <a:r>
              <a:rPr b="1" spc="20" dirty="0">
                <a:latin typeface="微软雅黑"/>
                <a:cs typeface="微软雅黑"/>
              </a:rPr>
              <a:t>飞跃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132" y="2889774"/>
            <a:ext cx="1139825" cy="1885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2015. 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1073" y="696213"/>
            <a:ext cx="760730" cy="7277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5" dirty="0">
                <a:latin typeface="Arial"/>
                <a:cs typeface="Arial"/>
              </a:rPr>
              <a:t>Class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Scores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Cat: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00" spc="15" dirty="0">
                <a:latin typeface="Arial"/>
                <a:cs typeface="Arial"/>
              </a:rPr>
              <a:t>Dog: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0.05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Car: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301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单目</a:t>
            </a:r>
            <a:r>
              <a:rPr sz="1800" b="1" spc="-15" dirty="0">
                <a:latin typeface="微软雅黑"/>
                <a:cs typeface="微软雅黑"/>
              </a:rPr>
              <a:t>标</a:t>
            </a:r>
            <a:r>
              <a:rPr sz="1800" b="1" spc="-10" dirty="0">
                <a:latin typeface="微软雅黑"/>
                <a:cs typeface="微软雅黑"/>
              </a:rPr>
              <a:t>(</a:t>
            </a:r>
            <a:r>
              <a:rPr sz="1800" b="1" dirty="0">
                <a:latin typeface="微软雅黑"/>
                <a:cs typeface="微软雅黑"/>
              </a:rPr>
              <a:t>分类</a:t>
            </a:r>
            <a:r>
              <a:rPr sz="1800" b="1" spc="-5" dirty="0">
                <a:latin typeface="微软雅黑"/>
                <a:cs typeface="微软雅黑"/>
              </a:rPr>
              <a:t>+</a:t>
            </a:r>
            <a:r>
              <a:rPr sz="1800" b="1" dirty="0">
                <a:latin typeface="微软雅黑"/>
                <a:cs typeface="微软雅黑"/>
              </a:rPr>
              <a:t>定</a:t>
            </a:r>
            <a:r>
              <a:rPr sz="1800" b="1" spc="-5" dirty="0">
                <a:latin typeface="微软雅黑"/>
                <a:cs typeface="微软雅黑"/>
              </a:rPr>
              <a:t>位</a:t>
            </a:r>
            <a:r>
              <a:rPr sz="1800" b="1" dirty="0">
                <a:latin typeface="微软雅黑"/>
                <a:cs typeface="微软雅黑"/>
              </a:rPr>
              <a:t>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359" y="1377060"/>
            <a:ext cx="870204" cy="752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903" y="1459356"/>
            <a:ext cx="1911096" cy="641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675" y="2240279"/>
            <a:ext cx="259079" cy="0"/>
          </a:xfrm>
          <a:custGeom>
            <a:avLst/>
            <a:gdLst/>
            <a:ahLst/>
            <a:cxnLst/>
            <a:rect l="l" t="t" r="r" b="b"/>
            <a:pathLst>
              <a:path w="259079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523" y="2240279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0" y="0"/>
                </a:moveTo>
                <a:lnTo>
                  <a:pt x="412965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1267" y="2172334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4"/>
              </a:rPr>
              <a:t>This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4"/>
              </a:rPr>
              <a:t>image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CC0 </a:t>
            </a:r>
            <a:r>
              <a:rPr sz="400" spc="-10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public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747" y="2241169"/>
            <a:ext cx="248920" cy="0"/>
          </a:xfrm>
          <a:custGeom>
            <a:avLst/>
            <a:gdLst/>
            <a:ahLst/>
            <a:cxnLst/>
            <a:rect l="l" t="t" r="r" b="b"/>
            <a:pathLst>
              <a:path w="248920">
                <a:moveTo>
                  <a:pt x="0" y="0"/>
                </a:moveTo>
                <a:lnTo>
                  <a:pt x="248361" y="0"/>
                </a:lnTo>
              </a:path>
            </a:pathLst>
          </a:custGeom>
          <a:ln w="609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6691" y="2241169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0" y="0"/>
                </a:moveTo>
                <a:lnTo>
                  <a:pt x="428180" y="0"/>
                </a:lnTo>
              </a:path>
            </a:pathLst>
          </a:custGeom>
          <a:ln w="609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34735" y="1502028"/>
            <a:ext cx="0" cy="502920"/>
          </a:xfrm>
          <a:custGeom>
            <a:avLst/>
            <a:gdLst/>
            <a:ahLst/>
            <a:cxnLst/>
            <a:rect l="l" t="t" r="r" b="b"/>
            <a:pathLst>
              <a:path h="502919">
                <a:moveTo>
                  <a:pt x="0" y="0"/>
                </a:moveTo>
                <a:lnTo>
                  <a:pt x="0" y="502793"/>
                </a:lnTo>
              </a:path>
            </a:pathLst>
          </a:custGeom>
          <a:ln w="1905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1606" y="2222118"/>
            <a:ext cx="2876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4096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7016" y="855599"/>
            <a:ext cx="607695" cy="3892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dirty="0">
                <a:latin typeface="Arial"/>
                <a:cs typeface="Arial"/>
              </a:rPr>
              <a:t>Fully  </a:t>
            </a:r>
            <a:r>
              <a:rPr sz="800" b="1" spc="-5" dirty="0">
                <a:latin typeface="Arial"/>
                <a:cs typeface="Arial"/>
              </a:rPr>
              <a:t>Connected</a:t>
            </a:r>
            <a:r>
              <a:rPr sz="800" spc="-5" dirty="0">
                <a:latin typeface="Arial"/>
                <a:cs typeface="Arial"/>
              </a:rPr>
              <a:t>:  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6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77991" y="1092072"/>
            <a:ext cx="673735" cy="457200"/>
          </a:xfrm>
          <a:custGeom>
            <a:avLst/>
            <a:gdLst/>
            <a:ahLst/>
            <a:cxnLst/>
            <a:rect l="l" t="t" r="r" b="b"/>
            <a:pathLst>
              <a:path w="673735" h="457200">
                <a:moveTo>
                  <a:pt x="0" y="457200"/>
                </a:moveTo>
                <a:lnTo>
                  <a:pt x="67322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33311" y="1053974"/>
            <a:ext cx="73151" cy="624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61073" y="2251074"/>
            <a:ext cx="71628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14"/>
              </a:spcBef>
            </a:pPr>
            <a:r>
              <a:rPr sz="900" b="1" spc="20" dirty="0">
                <a:latin typeface="Arial"/>
                <a:cs typeface="Arial"/>
              </a:rPr>
              <a:t>Box  Coo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20" dirty="0">
                <a:latin typeface="Arial"/>
                <a:cs typeface="Arial"/>
              </a:rPr>
              <a:t>d</a:t>
            </a:r>
            <a:r>
              <a:rPr sz="900" b="1" dirty="0">
                <a:latin typeface="Arial"/>
                <a:cs typeface="Arial"/>
              </a:rPr>
              <a:t>i</a:t>
            </a:r>
            <a:r>
              <a:rPr sz="900" b="1" spc="10" dirty="0">
                <a:latin typeface="Arial"/>
                <a:cs typeface="Arial"/>
              </a:rPr>
              <a:t>nates  </a:t>
            </a:r>
            <a:r>
              <a:rPr sz="900" spc="10" dirty="0">
                <a:latin typeface="Arial"/>
                <a:cs typeface="Arial"/>
              </a:rPr>
              <a:t>(x, </a:t>
            </a:r>
            <a:r>
              <a:rPr sz="900" spc="-55" dirty="0">
                <a:latin typeface="Arial"/>
                <a:cs typeface="Arial"/>
              </a:rPr>
              <a:t>y, </a:t>
            </a:r>
            <a:r>
              <a:rPr sz="900" spc="-15" dirty="0">
                <a:latin typeface="Arial"/>
                <a:cs typeface="Arial"/>
              </a:rPr>
              <a:t>w,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h)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51728" y="1908936"/>
            <a:ext cx="541020" cy="325755"/>
          </a:xfrm>
          <a:custGeom>
            <a:avLst/>
            <a:gdLst/>
            <a:ahLst/>
            <a:cxnLst/>
            <a:rect l="l" t="t" r="r" b="b"/>
            <a:pathLst>
              <a:path w="541020" h="325755">
                <a:moveTo>
                  <a:pt x="0" y="0"/>
                </a:moveTo>
                <a:lnTo>
                  <a:pt x="540638" y="32575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74460" y="2210688"/>
            <a:ext cx="73150" cy="609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26074" y="2081910"/>
            <a:ext cx="732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5" dirty="0">
                <a:latin typeface="Arial"/>
                <a:cs typeface="Arial"/>
              </a:rPr>
              <a:t>Vector: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1200" b="1" baseline="24305" dirty="0">
                <a:latin typeface="Arial"/>
                <a:cs typeface="Arial"/>
              </a:rPr>
              <a:t>Fully</a:t>
            </a:r>
            <a:endParaRPr sz="1200" baseline="24305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3307" y="2171445"/>
            <a:ext cx="578485" cy="2686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spc="-5" dirty="0">
                <a:latin typeface="Arial"/>
                <a:cs typeface="Arial"/>
              </a:rPr>
              <a:t>C</a:t>
            </a:r>
            <a:r>
              <a:rPr sz="800" b="1" dirty="0">
                <a:latin typeface="Arial"/>
                <a:cs typeface="Arial"/>
              </a:rPr>
              <a:t>onne</a:t>
            </a:r>
            <a:r>
              <a:rPr sz="800" b="1" spc="-5" dirty="0">
                <a:latin typeface="Arial"/>
                <a:cs typeface="Arial"/>
              </a:rPr>
              <a:t>cte</a:t>
            </a:r>
            <a:r>
              <a:rPr sz="800" b="1" spc="-15" dirty="0">
                <a:latin typeface="Arial"/>
                <a:cs typeface="Arial"/>
              </a:rPr>
              <a:t>d</a:t>
            </a:r>
            <a:r>
              <a:rPr sz="800" dirty="0">
                <a:latin typeface="Arial"/>
                <a:cs typeface="Arial"/>
              </a:rPr>
              <a:t>:  </a:t>
            </a:r>
            <a:r>
              <a:rPr sz="800" spc="-5" dirty="0">
                <a:latin typeface="Arial"/>
                <a:cs typeface="Arial"/>
              </a:rPr>
              <a:t>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8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03521" y="2657347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将定位任务建模为回归问</a:t>
            </a:r>
            <a:r>
              <a:rPr sz="1200" spc="-10" dirty="0">
                <a:latin typeface="微软雅黑"/>
                <a:cs typeface="微软雅黑"/>
              </a:rPr>
              <a:t>题</a:t>
            </a:r>
            <a:r>
              <a:rPr sz="1200" dirty="0">
                <a:latin typeface="微软雅黑"/>
                <a:cs typeface="微软雅黑"/>
              </a:rPr>
              <a:t>!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1074" y="676545"/>
            <a:ext cx="7607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5" dirty="0">
                <a:latin typeface="Arial"/>
                <a:cs typeface="Arial"/>
              </a:rPr>
              <a:t>Class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Scores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1074" y="813197"/>
            <a:ext cx="535305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Cat: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Dog: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0.05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00" spc="10" dirty="0">
                <a:latin typeface="Arial"/>
                <a:cs typeface="Arial"/>
              </a:rPr>
              <a:t>Car: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360" y="1354979"/>
            <a:ext cx="870204" cy="752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904" y="1437275"/>
            <a:ext cx="1911096" cy="641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4735" y="1479947"/>
            <a:ext cx="0" cy="502920"/>
          </a:xfrm>
          <a:custGeom>
            <a:avLst/>
            <a:gdLst/>
            <a:ahLst/>
            <a:cxnLst/>
            <a:rect l="l" t="t" r="r" b="b"/>
            <a:pathLst>
              <a:path h="502919">
                <a:moveTo>
                  <a:pt x="0" y="0"/>
                </a:moveTo>
                <a:lnTo>
                  <a:pt x="0" y="502792"/>
                </a:lnTo>
              </a:path>
            </a:pathLst>
          </a:custGeom>
          <a:ln w="1905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91607" y="2199402"/>
            <a:ext cx="2876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4096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7017" y="832628"/>
            <a:ext cx="607695" cy="3892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15"/>
              </a:spcBef>
            </a:pPr>
            <a:r>
              <a:rPr sz="800" b="1" dirty="0">
                <a:latin typeface="Arial"/>
                <a:cs typeface="Arial"/>
              </a:rPr>
              <a:t>Fully  </a:t>
            </a:r>
            <a:r>
              <a:rPr sz="800" b="1" spc="-5" dirty="0">
                <a:latin typeface="Arial"/>
                <a:cs typeface="Arial"/>
              </a:rPr>
              <a:t>Connected</a:t>
            </a:r>
            <a:r>
              <a:rPr sz="800" spc="-5" dirty="0">
                <a:latin typeface="Arial"/>
                <a:cs typeface="Arial"/>
              </a:rPr>
              <a:t>:  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6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7992" y="1069991"/>
            <a:ext cx="673735" cy="457200"/>
          </a:xfrm>
          <a:custGeom>
            <a:avLst/>
            <a:gdLst/>
            <a:ahLst/>
            <a:cxnLst/>
            <a:rect l="l" t="t" r="r" b="b"/>
            <a:pathLst>
              <a:path w="673735" h="457200">
                <a:moveTo>
                  <a:pt x="0" y="457200"/>
                </a:moveTo>
                <a:lnTo>
                  <a:pt x="67322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3312" y="1031891"/>
            <a:ext cx="73151" cy="624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51728" y="1886855"/>
            <a:ext cx="541020" cy="325755"/>
          </a:xfrm>
          <a:custGeom>
            <a:avLst/>
            <a:gdLst/>
            <a:ahLst/>
            <a:cxnLst/>
            <a:rect l="l" t="t" r="r" b="b"/>
            <a:pathLst>
              <a:path w="541020" h="325755">
                <a:moveTo>
                  <a:pt x="0" y="0"/>
                </a:moveTo>
                <a:lnTo>
                  <a:pt x="540638" y="32575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4460" y="2188607"/>
            <a:ext cx="73150" cy="609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26075" y="2059194"/>
            <a:ext cx="732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5" dirty="0">
                <a:latin typeface="Arial"/>
                <a:cs typeface="Arial"/>
              </a:rPr>
              <a:t>Vector: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1200" b="1" baseline="27777" dirty="0">
                <a:latin typeface="Arial"/>
                <a:cs typeface="Arial"/>
              </a:rPr>
              <a:t>Fully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3307" y="2148475"/>
            <a:ext cx="578485" cy="2686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spc="-5" dirty="0">
                <a:latin typeface="Arial"/>
                <a:cs typeface="Arial"/>
              </a:rPr>
              <a:t>C</a:t>
            </a:r>
            <a:r>
              <a:rPr sz="800" b="1" dirty="0">
                <a:latin typeface="Arial"/>
                <a:cs typeface="Arial"/>
              </a:rPr>
              <a:t>onne</a:t>
            </a:r>
            <a:r>
              <a:rPr sz="800" b="1" spc="-5" dirty="0">
                <a:latin typeface="Arial"/>
                <a:cs typeface="Arial"/>
              </a:rPr>
              <a:t>cte</a:t>
            </a:r>
            <a:r>
              <a:rPr sz="800" b="1" spc="-15" dirty="0">
                <a:latin typeface="Arial"/>
                <a:cs typeface="Arial"/>
              </a:rPr>
              <a:t>d</a:t>
            </a:r>
            <a:r>
              <a:rPr sz="800" dirty="0">
                <a:latin typeface="Arial"/>
                <a:cs typeface="Arial"/>
              </a:rPr>
              <a:t>:  </a:t>
            </a:r>
            <a:r>
              <a:rPr sz="800" spc="-5" dirty="0">
                <a:latin typeface="Arial"/>
                <a:cs typeface="Arial"/>
              </a:rPr>
              <a:t>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8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3059" y="814086"/>
            <a:ext cx="87185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3055" algn="l"/>
              </a:tabLst>
            </a:pPr>
            <a:r>
              <a:rPr sz="900" u="sng" spc="10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Softmax</a:t>
            </a:r>
            <a:endParaRPr sz="90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25"/>
              </a:spcBef>
            </a:pP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1011" y="2380377"/>
            <a:ext cx="466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L2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52868" y="937403"/>
            <a:ext cx="70103" cy="548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20280" y="2440067"/>
            <a:ext cx="222503" cy="548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92618" y="258461"/>
            <a:ext cx="781050" cy="307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90" dirty="0">
                <a:latin typeface="Arial"/>
                <a:cs typeface="Arial"/>
              </a:rPr>
              <a:t> </a:t>
            </a:r>
            <a:r>
              <a:rPr sz="900" b="1" spc="10" dirty="0">
                <a:latin typeface="Arial"/>
                <a:cs typeface="Arial"/>
              </a:rPr>
              <a:t>label: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10" dirty="0">
                <a:latin typeface="Arial"/>
                <a:cs typeface="Arial"/>
              </a:rPr>
              <a:t>Cat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55204" y="512207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5">
                <a:moveTo>
                  <a:pt x="0" y="0"/>
                </a:moveTo>
                <a:lnTo>
                  <a:pt x="0" y="20256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27772" y="708803"/>
            <a:ext cx="54863" cy="70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80528" y="2604659"/>
            <a:ext cx="53339" cy="175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3675" y="2218198"/>
            <a:ext cx="259079" cy="0"/>
          </a:xfrm>
          <a:custGeom>
            <a:avLst/>
            <a:gdLst/>
            <a:ahLst/>
            <a:cxnLst/>
            <a:rect l="l" t="t" r="r" b="b"/>
            <a:pathLst>
              <a:path w="259079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1523" y="2218198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0" y="0"/>
                </a:moveTo>
                <a:lnTo>
                  <a:pt x="412965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71267" y="2149745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0"/>
              </a:rPr>
              <a:t>This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0"/>
              </a:rPr>
              <a:t>image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1"/>
              </a:rPr>
              <a:t>CC0 </a:t>
            </a:r>
            <a:r>
              <a:rPr sz="400" spc="-10" dirty="0">
                <a:solidFill>
                  <a:srgbClr val="0000FF"/>
                </a:solidFill>
                <a:latin typeface="Arial"/>
                <a:cs typeface="Arial"/>
                <a:hlinkClick r:id="rId11"/>
              </a:rPr>
              <a:t>public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1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61074" y="2228358"/>
            <a:ext cx="716280" cy="443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30"/>
              </a:spcBef>
            </a:pPr>
            <a:r>
              <a:rPr sz="900" b="1" spc="20" dirty="0">
                <a:latin typeface="Arial"/>
                <a:cs typeface="Arial"/>
              </a:rPr>
              <a:t>Box  Coo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20" dirty="0">
                <a:latin typeface="Arial"/>
                <a:cs typeface="Arial"/>
              </a:rPr>
              <a:t>d</a:t>
            </a:r>
            <a:r>
              <a:rPr sz="900" b="1" dirty="0">
                <a:latin typeface="Arial"/>
                <a:cs typeface="Arial"/>
              </a:rPr>
              <a:t>i</a:t>
            </a:r>
            <a:r>
              <a:rPr sz="900" b="1" spc="10" dirty="0">
                <a:latin typeface="Arial"/>
                <a:cs typeface="Arial"/>
              </a:rPr>
              <a:t>nates  </a:t>
            </a:r>
            <a:r>
              <a:rPr sz="900" spc="10" dirty="0">
                <a:latin typeface="Arial"/>
                <a:cs typeface="Arial"/>
              </a:rPr>
              <a:t>(x, </a:t>
            </a:r>
            <a:r>
              <a:rPr sz="900" spc="-55" dirty="0">
                <a:latin typeface="Arial"/>
                <a:cs typeface="Arial"/>
              </a:rPr>
              <a:t>y, </a:t>
            </a:r>
            <a:r>
              <a:rPr sz="900" spc="-15" dirty="0">
                <a:latin typeface="Arial"/>
                <a:cs typeface="Arial"/>
              </a:rPr>
              <a:t>w,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h)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92618" y="2767473"/>
            <a:ext cx="7200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80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box</a:t>
            </a:r>
            <a:r>
              <a:rPr sz="900" spc="15" dirty="0">
                <a:latin typeface="Arial"/>
                <a:cs typeface="Arial"/>
              </a:rPr>
              <a:t>:  </a:t>
            </a:r>
            <a:r>
              <a:rPr sz="900" spc="10" dirty="0">
                <a:latin typeface="Arial"/>
                <a:cs typeface="Arial"/>
              </a:rPr>
              <a:t>(x’, </a:t>
            </a:r>
            <a:r>
              <a:rPr sz="900" dirty="0">
                <a:latin typeface="Arial"/>
                <a:cs typeface="Arial"/>
              </a:rPr>
              <a:t>y’, </a:t>
            </a:r>
            <a:r>
              <a:rPr sz="900" spc="10" dirty="0">
                <a:latin typeface="Arial"/>
                <a:cs typeface="Arial"/>
              </a:rPr>
              <a:t>w’,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h’)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36468" y="161814"/>
            <a:ext cx="301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单目</a:t>
            </a:r>
            <a:r>
              <a:rPr sz="1800" b="1" spc="-15" dirty="0">
                <a:latin typeface="微软雅黑"/>
                <a:cs typeface="微软雅黑"/>
              </a:rPr>
              <a:t>标</a:t>
            </a:r>
            <a:r>
              <a:rPr sz="1800" b="1" spc="-10" dirty="0">
                <a:latin typeface="微软雅黑"/>
                <a:cs typeface="微软雅黑"/>
              </a:rPr>
              <a:t>(</a:t>
            </a:r>
            <a:r>
              <a:rPr sz="1800" b="1" dirty="0">
                <a:latin typeface="微软雅黑"/>
                <a:cs typeface="微软雅黑"/>
              </a:rPr>
              <a:t>分类</a:t>
            </a:r>
            <a:r>
              <a:rPr sz="1800" b="1" spc="-5" dirty="0">
                <a:latin typeface="微软雅黑"/>
                <a:cs typeface="微软雅黑"/>
              </a:rPr>
              <a:t>+</a:t>
            </a:r>
            <a:r>
              <a:rPr sz="1800" b="1" dirty="0">
                <a:latin typeface="微软雅黑"/>
                <a:cs typeface="微软雅黑"/>
              </a:rPr>
              <a:t>定</a:t>
            </a:r>
            <a:r>
              <a:rPr sz="1800" b="1" spc="-5" dirty="0">
                <a:latin typeface="微软雅黑"/>
                <a:cs typeface="微软雅黑"/>
              </a:rPr>
              <a:t>位</a:t>
            </a:r>
            <a:r>
              <a:rPr sz="1800" b="1" dirty="0">
                <a:latin typeface="微软雅黑"/>
                <a:cs typeface="微软雅黑"/>
              </a:rPr>
              <a:t>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03522" y="2634631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将定位任务建模为回归问</a:t>
            </a:r>
            <a:r>
              <a:rPr sz="1200" spc="-10" dirty="0">
                <a:latin typeface="微软雅黑"/>
                <a:cs typeface="微软雅黑"/>
              </a:rPr>
              <a:t>题</a:t>
            </a:r>
            <a:r>
              <a:rPr sz="1200" dirty="0">
                <a:latin typeface="微软雅黑"/>
                <a:cs typeface="微软雅黑"/>
              </a:rPr>
              <a:t>!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1073" y="699261"/>
            <a:ext cx="7607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5" dirty="0">
                <a:latin typeface="Arial"/>
                <a:cs typeface="Arial"/>
              </a:rPr>
              <a:t>Class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Scores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1073" y="835786"/>
            <a:ext cx="535305" cy="588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Cat: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Dog: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0.05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10" dirty="0">
                <a:latin typeface="Arial"/>
                <a:cs typeface="Arial"/>
              </a:rPr>
              <a:t>Car: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10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359" y="1377060"/>
            <a:ext cx="870204" cy="752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903" y="1459356"/>
            <a:ext cx="1911096" cy="641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4735" y="1502028"/>
            <a:ext cx="0" cy="502920"/>
          </a:xfrm>
          <a:custGeom>
            <a:avLst/>
            <a:gdLst/>
            <a:ahLst/>
            <a:cxnLst/>
            <a:rect l="l" t="t" r="r" b="b"/>
            <a:pathLst>
              <a:path h="502919">
                <a:moveTo>
                  <a:pt x="0" y="0"/>
                </a:moveTo>
                <a:lnTo>
                  <a:pt x="0" y="502793"/>
                </a:lnTo>
              </a:path>
            </a:pathLst>
          </a:custGeom>
          <a:ln w="1905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91606" y="2222118"/>
            <a:ext cx="2876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4096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7016" y="855599"/>
            <a:ext cx="607695" cy="3892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dirty="0">
                <a:latin typeface="Arial"/>
                <a:cs typeface="Arial"/>
              </a:rPr>
              <a:t>Fully  </a:t>
            </a:r>
            <a:r>
              <a:rPr sz="800" b="1" spc="-5" dirty="0">
                <a:latin typeface="Arial"/>
                <a:cs typeface="Arial"/>
              </a:rPr>
              <a:t>Connected</a:t>
            </a:r>
            <a:r>
              <a:rPr sz="800" spc="-5" dirty="0">
                <a:latin typeface="Arial"/>
                <a:cs typeface="Arial"/>
              </a:rPr>
              <a:t>:  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6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7991" y="1092072"/>
            <a:ext cx="673735" cy="457200"/>
          </a:xfrm>
          <a:custGeom>
            <a:avLst/>
            <a:gdLst/>
            <a:ahLst/>
            <a:cxnLst/>
            <a:rect l="l" t="t" r="r" b="b"/>
            <a:pathLst>
              <a:path w="673735" h="457200">
                <a:moveTo>
                  <a:pt x="0" y="457200"/>
                </a:moveTo>
                <a:lnTo>
                  <a:pt x="67322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3311" y="1053974"/>
            <a:ext cx="73151" cy="624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51728" y="1908936"/>
            <a:ext cx="541020" cy="325755"/>
          </a:xfrm>
          <a:custGeom>
            <a:avLst/>
            <a:gdLst/>
            <a:ahLst/>
            <a:cxnLst/>
            <a:rect l="l" t="t" r="r" b="b"/>
            <a:pathLst>
              <a:path w="541020" h="325755">
                <a:moveTo>
                  <a:pt x="0" y="0"/>
                </a:moveTo>
                <a:lnTo>
                  <a:pt x="540638" y="32575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4460" y="2210688"/>
            <a:ext cx="73150" cy="609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26074" y="2081910"/>
            <a:ext cx="732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5" dirty="0">
                <a:latin typeface="Arial"/>
                <a:cs typeface="Arial"/>
              </a:rPr>
              <a:t>Vector: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1200" b="1" baseline="24305" dirty="0">
                <a:latin typeface="Arial"/>
                <a:cs typeface="Arial"/>
              </a:rPr>
              <a:t>Fully</a:t>
            </a:r>
            <a:endParaRPr sz="1200" baseline="2430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3307" y="2171445"/>
            <a:ext cx="578485" cy="2686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spc="-5" dirty="0">
                <a:latin typeface="Arial"/>
                <a:cs typeface="Arial"/>
              </a:rPr>
              <a:t>C</a:t>
            </a:r>
            <a:r>
              <a:rPr sz="800" b="1" dirty="0">
                <a:latin typeface="Arial"/>
                <a:cs typeface="Arial"/>
              </a:rPr>
              <a:t>onne</a:t>
            </a:r>
            <a:r>
              <a:rPr sz="800" b="1" spc="-5" dirty="0">
                <a:latin typeface="Arial"/>
                <a:cs typeface="Arial"/>
              </a:rPr>
              <a:t>cte</a:t>
            </a:r>
            <a:r>
              <a:rPr sz="800" b="1" spc="-15" dirty="0">
                <a:latin typeface="Arial"/>
                <a:cs typeface="Arial"/>
              </a:rPr>
              <a:t>d</a:t>
            </a:r>
            <a:r>
              <a:rPr sz="800" dirty="0">
                <a:latin typeface="Arial"/>
                <a:cs typeface="Arial"/>
              </a:rPr>
              <a:t>:  </a:t>
            </a:r>
            <a:r>
              <a:rPr sz="800" spc="-5" dirty="0">
                <a:latin typeface="Arial"/>
                <a:cs typeface="Arial"/>
              </a:rPr>
              <a:t>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8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3059" y="836802"/>
            <a:ext cx="87185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3055" algn="l"/>
              </a:tabLst>
            </a:pPr>
            <a:r>
              <a:rPr sz="900" u="sng" spc="10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Softmax</a:t>
            </a:r>
            <a:endParaRPr sz="90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25"/>
              </a:spcBef>
            </a:pP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1010" y="2403093"/>
            <a:ext cx="466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L2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1909" y="1654174"/>
            <a:ext cx="3035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Lo</a:t>
            </a:r>
            <a:r>
              <a:rPr sz="900" b="1" spc="10" dirty="0">
                <a:latin typeface="Arial"/>
                <a:cs typeface="Arial"/>
              </a:rPr>
              <a:t>s</a:t>
            </a:r>
            <a:r>
              <a:rPr sz="900" b="1" spc="15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52867" y="959486"/>
            <a:ext cx="70103" cy="548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20279" y="2462150"/>
            <a:ext cx="222503" cy="548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92618" y="281050"/>
            <a:ext cx="781050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90" dirty="0">
                <a:latin typeface="Arial"/>
                <a:cs typeface="Arial"/>
              </a:rPr>
              <a:t> </a:t>
            </a:r>
            <a:r>
              <a:rPr sz="900" b="1" spc="10" dirty="0">
                <a:latin typeface="Arial"/>
                <a:cs typeface="Arial"/>
              </a:rPr>
              <a:t>label: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10" dirty="0">
                <a:latin typeface="Arial"/>
                <a:cs typeface="Arial"/>
              </a:rPr>
              <a:t>Cat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55203" y="534288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5">
                <a:moveTo>
                  <a:pt x="0" y="0"/>
                </a:moveTo>
                <a:lnTo>
                  <a:pt x="0" y="20256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27772" y="730886"/>
            <a:ext cx="54863" cy="70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80528" y="2626740"/>
            <a:ext cx="53339" cy="175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94041" y="1576831"/>
            <a:ext cx="174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+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83575" y="1207896"/>
            <a:ext cx="0" cy="341630"/>
          </a:xfrm>
          <a:custGeom>
            <a:avLst/>
            <a:gdLst/>
            <a:ahLst/>
            <a:cxnLst/>
            <a:rect l="l" t="t" r="r" b="b"/>
            <a:pathLst>
              <a:path h="341630">
                <a:moveTo>
                  <a:pt x="0" y="0"/>
                </a:moveTo>
                <a:lnTo>
                  <a:pt x="0" y="34137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56143" y="1543178"/>
            <a:ext cx="54862" cy="7010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83575" y="1985136"/>
            <a:ext cx="0" cy="344170"/>
          </a:xfrm>
          <a:custGeom>
            <a:avLst/>
            <a:gdLst/>
            <a:ahLst/>
            <a:cxnLst/>
            <a:rect l="l" t="t" r="r" b="b"/>
            <a:pathLst>
              <a:path h="344169">
                <a:moveTo>
                  <a:pt x="0" y="344043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56143" y="1921130"/>
            <a:ext cx="54862" cy="7010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03972" y="1753488"/>
            <a:ext cx="179705" cy="0"/>
          </a:xfrm>
          <a:custGeom>
            <a:avLst/>
            <a:gdLst/>
            <a:ahLst/>
            <a:cxnLst/>
            <a:rect l="l" t="t" r="r" b="b"/>
            <a:pathLst>
              <a:path w="179704">
                <a:moveTo>
                  <a:pt x="0" y="0"/>
                </a:moveTo>
                <a:lnTo>
                  <a:pt x="17957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77707" y="1726058"/>
            <a:ext cx="70103" cy="548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3675" y="2240279"/>
            <a:ext cx="259079" cy="0"/>
          </a:xfrm>
          <a:custGeom>
            <a:avLst/>
            <a:gdLst/>
            <a:ahLst/>
            <a:cxnLst/>
            <a:rect l="l" t="t" r="r" b="b"/>
            <a:pathLst>
              <a:path w="259079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1523" y="2240279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0" y="0"/>
                </a:moveTo>
                <a:lnTo>
                  <a:pt x="412965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1267" y="2172334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2"/>
              </a:rPr>
              <a:t>This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2"/>
              </a:rPr>
              <a:t>image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CC0 </a:t>
            </a:r>
            <a:r>
              <a:rPr sz="400" spc="-10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public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2747" y="2241169"/>
            <a:ext cx="248920" cy="0"/>
          </a:xfrm>
          <a:custGeom>
            <a:avLst/>
            <a:gdLst/>
            <a:ahLst/>
            <a:cxnLst/>
            <a:rect l="l" t="t" r="r" b="b"/>
            <a:pathLst>
              <a:path w="248920">
                <a:moveTo>
                  <a:pt x="0" y="0"/>
                </a:moveTo>
                <a:lnTo>
                  <a:pt x="248361" y="0"/>
                </a:lnTo>
              </a:path>
            </a:pathLst>
          </a:custGeom>
          <a:ln w="609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6691" y="2241169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0" y="0"/>
                </a:moveTo>
                <a:lnTo>
                  <a:pt x="428180" y="0"/>
                </a:lnTo>
              </a:path>
            </a:pathLst>
          </a:custGeom>
          <a:ln w="609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614034" y="1568830"/>
            <a:ext cx="1040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多任务损失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61073" y="2251074"/>
            <a:ext cx="716280" cy="443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30"/>
              </a:spcBef>
            </a:pPr>
            <a:r>
              <a:rPr sz="900" b="1" spc="20" dirty="0">
                <a:latin typeface="Arial"/>
                <a:cs typeface="Arial"/>
              </a:rPr>
              <a:t>Box  Coo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20" dirty="0">
                <a:latin typeface="Arial"/>
                <a:cs typeface="Arial"/>
              </a:rPr>
              <a:t>d</a:t>
            </a:r>
            <a:r>
              <a:rPr sz="900" b="1" dirty="0">
                <a:latin typeface="Arial"/>
                <a:cs typeface="Arial"/>
              </a:rPr>
              <a:t>i</a:t>
            </a:r>
            <a:r>
              <a:rPr sz="900" b="1" spc="10" dirty="0">
                <a:latin typeface="Arial"/>
                <a:cs typeface="Arial"/>
              </a:rPr>
              <a:t>nates  </a:t>
            </a:r>
            <a:r>
              <a:rPr sz="900" spc="10" dirty="0">
                <a:latin typeface="Arial"/>
                <a:cs typeface="Arial"/>
              </a:rPr>
              <a:t>(x, </a:t>
            </a:r>
            <a:r>
              <a:rPr sz="900" spc="-55" dirty="0">
                <a:latin typeface="Arial"/>
                <a:cs typeface="Arial"/>
              </a:rPr>
              <a:t>y, </a:t>
            </a:r>
            <a:r>
              <a:rPr sz="900" spc="-15" dirty="0">
                <a:latin typeface="Arial"/>
                <a:cs typeface="Arial"/>
              </a:rPr>
              <a:t>w,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h)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92618" y="2790189"/>
            <a:ext cx="7200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80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box</a:t>
            </a:r>
            <a:r>
              <a:rPr sz="900" spc="15" dirty="0">
                <a:latin typeface="Arial"/>
                <a:cs typeface="Arial"/>
              </a:rPr>
              <a:t>:  </a:t>
            </a:r>
            <a:r>
              <a:rPr sz="900" spc="10" dirty="0">
                <a:latin typeface="Arial"/>
                <a:cs typeface="Arial"/>
              </a:rPr>
              <a:t>(x’, </a:t>
            </a:r>
            <a:r>
              <a:rPr sz="900" dirty="0">
                <a:latin typeface="Arial"/>
                <a:cs typeface="Arial"/>
              </a:rPr>
              <a:t>y’, </a:t>
            </a:r>
            <a:r>
              <a:rPr sz="900" spc="10" dirty="0">
                <a:latin typeface="Arial"/>
                <a:cs typeface="Arial"/>
              </a:rPr>
              <a:t>w’,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h’)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301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单目</a:t>
            </a:r>
            <a:r>
              <a:rPr sz="1800" b="1" spc="-15" dirty="0">
                <a:latin typeface="微软雅黑"/>
                <a:cs typeface="微软雅黑"/>
              </a:rPr>
              <a:t>标</a:t>
            </a:r>
            <a:r>
              <a:rPr sz="1800" b="1" spc="-10" dirty="0">
                <a:latin typeface="微软雅黑"/>
                <a:cs typeface="微软雅黑"/>
              </a:rPr>
              <a:t>(</a:t>
            </a:r>
            <a:r>
              <a:rPr sz="1800" b="1" dirty="0">
                <a:latin typeface="微软雅黑"/>
                <a:cs typeface="微软雅黑"/>
              </a:rPr>
              <a:t>分类</a:t>
            </a:r>
            <a:r>
              <a:rPr sz="1800" b="1" spc="-5" dirty="0">
                <a:latin typeface="微软雅黑"/>
                <a:cs typeface="微软雅黑"/>
              </a:rPr>
              <a:t>+</a:t>
            </a:r>
            <a:r>
              <a:rPr sz="1800" b="1" dirty="0">
                <a:latin typeface="微软雅黑"/>
                <a:cs typeface="微软雅黑"/>
              </a:rPr>
              <a:t>定</a:t>
            </a:r>
            <a:r>
              <a:rPr sz="1800" b="1" spc="-5" dirty="0">
                <a:latin typeface="微软雅黑"/>
                <a:cs typeface="微软雅黑"/>
              </a:rPr>
              <a:t>位</a:t>
            </a:r>
            <a:r>
              <a:rPr sz="1800" b="1" dirty="0">
                <a:latin typeface="微软雅黑"/>
                <a:cs typeface="微软雅黑"/>
              </a:rPr>
              <a:t>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03521" y="2657347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将定位任务建模为回归问</a:t>
            </a:r>
            <a:r>
              <a:rPr sz="1200" spc="-10" dirty="0">
                <a:latin typeface="微软雅黑"/>
                <a:cs typeface="微软雅黑"/>
              </a:rPr>
              <a:t>题</a:t>
            </a:r>
            <a:r>
              <a:rPr sz="1200" dirty="0">
                <a:latin typeface="微软雅黑"/>
                <a:cs typeface="微软雅黑"/>
              </a:rPr>
              <a:t>!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1074" y="676545"/>
            <a:ext cx="7607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5" dirty="0">
                <a:latin typeface="Arial"/>
                <a:cs typeface="Arial"/>
              </a:rPr>
              <a:t>Class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Scores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1074" y="813197"/>
            <a:ext cx="535305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Cat: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Dog: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0.05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00" spc="10" dirty="0">
                <a:latin typeface="Arial"/>
                <a:cs typeface="Arial"/>
              </a:rPr>
              <a:t>Car: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0.01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360" y="1354979"/>
            <a:ext cx="870204" cy="752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904" y="1437275"/>
            <a:ext cx="1911096" cy="641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4735" y="1479947"/>
            <a:ext cx="0" cy="502920"/>
          </a:xfrm>
          <a:custGeom>
            <a:avLst/>
            <a:gdLst/>
            <a:ahLst/>
            <a:cxnLst/>
            <a:rect l="l" t="t" r="r" b="b"/>
            <a:pathLst>
              <a:path h="502919">
                <a:moveTo>
                  <a:pt x="0" y="0"/>
                </a:moveTo>
                <a:lnTo>
                  <a:pt x="0" y="502792"/>
                </a:lnTo>
              </a:path>
            </a:pathLst>
          </a:custGeom>
          <a:ln w="1905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91607" y="2199402"/>
            <a:ext cx="2876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4096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7017" y="832628"/>
            <a:ext cx="607695" cy="3892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15"/>
              </a:spcBef>
            </a:pPr>
            <a:r>
              <a:rPr sz="800" b="1" dirty="0">
                <a:latin typeface="Arial"/>
                <a:cs typeface="Arial"/>
              </a:rPr>
              <a:t>Fully  </a:t>
            </a:r>
            <a:r>
              <a:rPr sz="800" b="1" spc="-5" dirty="0">
                <a:latin typeface="Arial"/>
                <a:cs typeface="Arial"/>
              </a:rPr>
              <a:t>Connected</a:t>
            </a:r>
            <a:r>
              <a:rPr sz="800" spc="-5" dirty="0">
                <a:latin typeface="Arial"/>
                <a:cs typeface="Arial"/>
              </a:rPr>
              <a:t>:  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6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7992" y="1069991"/>
            <a:ext cx="673735" cy="457200"/>
          </a:xfrm>
          <a:custGeom>
            <a:avLst/>
            <a:gdLst/>
            <a:ahLst/>
            <a:cxnLst/>
            <a:rect l="l" t="t" r="r" b="b"/>
            <a:pathLst>
              <a:path w="673735" h="457200">
                <a:moveTo>
                  <a:pt x="0" y="457200"/>
                </a:moveTo>
                <a:lnTo>
                  <a:pt x="67322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3312" y="1031891"/>
            <a:ext cx="73151" cy="624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51728" y="1886855"/>
            <a:ext cx="541020" cy="325755"/>
          </a:xfrm>
          <a:custGeom>
            <a:avLst/>
            <a:gdLst/>
            <a:ahLst/>
            <a:cxnLst/>
            <a:rect l="l" t="t" r="r" b="b"/>
            <a:pathLst>
              <a:path w="541020" h="325755">
                <a:moveTo>
                  <a:pt x="0" y="0"/>
                </a:moveTo>
                <a:lnTo>
                  <a:pt x="540638" y="32575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4460" y="2188607"/>
            <a:ext cx="73150" cy="609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26075" y="2059194"/>
            <a:ext cx="7321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5" dirty="0">
                <a:latin typeface="Arial"/>
                <a:cs typeface="Arial"/>
              </a:rPr>
              <a:t>Vector: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1200" b="1" baseline="27777" dirty="0">
                <a:latin typeface="Arial"/>
                <a:cs typeface="Arial"/>
              </a:rPr>
              <a:t>Fully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3307" y="2148475"/>
            <a:ext cx="578485" cy="2686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40"/>
              </a:spcBef>
            </a:pPr>
            <a:r>
              <a:rPr sz="800" b="1" spc="-5" dirty="0">
                <a:latin typeface="Arial"/>
                <a:cs typeface="Arial"/>
              </a:rPr>
              <a:t>C</a:t>
            </a:r>
            <a:r>
              <a:rPr sz="800" b="1" dirty="0">
                <a:latin typeface="Arial"/>
                <a:cs typeface="Arial"/>
              </a:rPr>
              <a:t>onne</a:t>
            </a:r>
            <a:r>
              <a:rPr sz="800" b="1" spc="-5" dirty="0">
                <a:latin typeface="Arial"/>
                <a:cs typeface="Arial"/>
              </a:rPr>
              <a:t>cte</a:t>
            </a:r>
            <a:r>
              <a:rPr sz="800" b="1" spc="-15" dirty="0">
                <a:latin typeface="Arial"/>
                <a:cs typeface="Arial"/>
              </a:rPr>
              <a:t>d</a:t>
            </a:r>
            <a:r>
              <a:rPr sz="800" dirty="0">
                <a:latin typeface="Arial"/>
                <a:cs typeface="Arial"/>
              </a:rPr>
              <a:t>:  </a:t>
            </a:r>
            <a:r>
              <a:rPr sz="800" spc="-5" dirty="0">
                <a:latin typeface="Arial"/>
                <a:cs typeface="Arial"/>
              </a:rPr>
              <a:t>4096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8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3059" y="814086"/>
            <a:ext cx="87185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3055" algn="l"/>
              </a:tabLst>
            </a:pPr>
            <a:r>
              <a:rPr sz="900" u="sng" spc="10" dirty="0"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 	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Softmax</a:t>
            </a:r>
            <a:endParaRPr sz="90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25"/>
              </a:spcBef>
            </a:pP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1011" y="2380377"/>
            <a:ext cx="466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L2</a:t>
            </a:r>
            <a:r>
              <a:rPr sz="900" b="1" spc="-114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Loss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1909" y="1631204"/>
            <a:ext cx="3035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0" dirty="0">
                <a:latin typeface="Arial"/>
                <a:cs typeface="Arial"/>
              </a:rPr>
              <a:t>Lo</a:t>
            </a:r>
            <a:r>
              <a:rPr sz="900" b="1" spc="10" dirty="0">
                <a:latin typeface="Arial"/>
                <a:cs typeface="Arial"/>
              </a:rPr>
              <a:t>s</a:t>
            </a:r>
            <a:r>
              <a:rPr sz="900" b="1" spc="15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52868" y="937403"/>
            <a:ext cx="70103" cy="548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20280" y="2440067"/>
            <a:ext cx="222503" cy="548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92618" y="258461"/>
            <a:ext cx="781050" cy="307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90" dirty="0">
                <a:latin typeface="Arial"/>
                <a:cs typeface="Arial"/>
              </a:rPr>
              <a:t> </a:t>
            </a:r>
            <a:r>
              <a:rPr sz="900" b="1" spc="10" dirty="0">
                <a:latin typeface="Arial"/>
                <a:cs typeface="Arial"/>
              </a:rPr>
              <a:t>label: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10" dirty="0">
                <a:latin typeface="Arial"/>
                <a:cs typeface="Arial"/>
              </a:rPr>
              <a:t>Cat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55204" y="512207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5">
                <a:moveTo>
                  <a:pt x="0" y="0"/>
                </a:moveTo>
                <a:lnTo>
                  <a:pt x="0" y="20256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27772" y="708803"/>
            <a:ext cx="54863" cy="70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80528" y="2604659"/>
            <a:ext cx="53339" cy="175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94041" y="1554115"/>
            <a:ext cx="174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+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83575" y="1185815"/>
            <a:ext cx="0" cy="341630"/>
          </a:xfrm>
          <a:custGeom>
            <a:avLst/>
            <a:gdLst/>
            <a:ahLst/>
            <a:cxnLst/>
            <a:rect l="l" t="t" r="r" b="b"/>
            <a:pathLst>
              <a:path h="341630">
                <a:moveTo>
                  <a:pt x="0" y="0"/>
                </a:moveTo>
                <a:lnTo>
                  <a:pt x="0" y="34137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56143" y="1521095"/>
            <a:ext cx="54862" cy="70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83575" y="1963055"/>
            <a:ext cx="0" cy="344170"/>
          </a:xfrm>
          <a:custGeom>
            <a:avLst/>
            <a:gdLst/>
            <a:ahLst/>
            <a:cxnLst/>
            <a:rect l="l" t="t" r="r" b="b"/>
            <a:pathLst>
              <a:path h="344169">
                <a:moveTo>
                  <a:pt x="0" y="344043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56143" y="1899047"/>
            <a:ext cx="54862" cy="701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03972" y="1731407"/>
            <a:ext cx="179705" cy="0"/>
          </a:xfrm>
          <a:custGeom>
            <a:avLst/>
            <a:gdLst/>
            <a:ahLst/>
            <a:cxnLst/>
            <a:rect l="l" t="t" r="r" b="b"/>
            <a:pathLst>
              <a:path w="179704">
                <a:moveTo>
                  <a:pt x="0" y="0"/>
                </a:moveTo>
                <a:lnTo>
                  <a:pt x="17957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77707" y="1703975"/>
            <a:ext cx="70103" cy="548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3675" y="2218198"/>
            <a:ext cx="259079" cy="0"/>
          </a:xfrm>
          <a:custGeom>
            <a:avLst/>
            <a:gdLst/>
            <a:ahLst/>
            <a:cxnLst/>
            <a:rect l="l" t="t" r="r" b="b"/>
            <a:pathLst>
              <a:path w="259079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1523" y="2218198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0" y="0"/>
                </a:moveTo>
                <a:lnTo>
                  <a:pt x="412965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1267" y="2149745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2"/>
              </a:rPr>
              <a:t>This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2"/>
              </a:rPr>
              <a:t>image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spc="-5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CC0 </a:t>
            </a:r>
            <a:r>
              <a:rPr sz="400" spc="-10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public 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13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1804" y="1415888"/>
            <a:ext cx="1979930" cy="667385"/>
          </a:xfrm>
          <a:custGeom>
            <a:avLst/>
            <a:gdLst/>
            <a:ahLst/>
            <a:cxnLst/>
            <a:rect l="l" t="t" r="r" b="b"/>
            <a:pathLst>
              <a:path w="1979930" h="667385">
                <a:moveTo>
                  <a:pt x="0" y="667308"/>
                </a:moveTo>
                <a:lnTo>
                  <a:pt x="1979549" y="667308"/>
                </a:lnTo>
                <a:lnTo>
                  <a:pt x="1979549" y="0"/>
                </a:lnTo>
                <a:lnTo>
                  <a:pt x="0" y="0"/>
                </a:lnTo>
                <a:lnTo>
                  <a:pt x="0" y="667308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46246" y="2138442"/>
            <a:ext cx="1510665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2720" marR="5080" indent="-160020">
              <a:lnSpc>
                <a:spcPts val="1100"/>
              </a:lnSpc>
              <a:spcBef>
                <a:spcPts val="215"/>
              </a:spcBef>
            </a:pP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常使用在</a:t>
            </a:r>
            <a:r>
              <a:rPr sz="1000" spc="-10" dirty="0">
                <a:solidFill>
                  <a:srgbClr val="FF0000"/>
                </a:solidFill>
                <a:latin typeface="微软雅黑"/>
                <a:cs typeface="微软雅黑"/>
              </a:rPr>
              <a:t>I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mage</a:t>
            </a:r>
            <a:r>
              <a:rPr sz="1000" spc="-15" dirty="0">
                <a:solidFill>
                  <a:srgbClr val="FF0000"/>
                </a:solidFill>
                <a:latin typeface="微软雅黑"/>
                <a:cs typeface="微软雅黑"/>
              </a:rPr>
              <a:t>N</a:t>
            </a:r>
            <a:r>
              <a:rPr sz="1000" spc="-10" dirty="0">
                <a:solidFill>
                  <a:srgbClr val="FF0000"/>
                </a:solidFill>
                <a:latin typeface="微软雅黑"/>
                <a:cs typeface="微软雅黑"/>
              </a:rPr>
              <a:t>e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t上预训 练的模型</a:t>
            </a:r>
            <a:r>
              <a:rPr sz="1000" spc="26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000" spc="-15" dirty="0">
                <a:solidFill>
                  <a:srgbClr val="FF0000"/>
                </a:solidFill>
                <a:latin typeface="微软雅黑"/>
                <a:cs typeface="微软雅黑"/>
              </a:rPr>
              <a:t>(</a:t>
            </a:r>
            <a:r>
              <a:rPr sz="1000" spc="-20" dirty="0">
                <a:solidFill>
                  <a:srgbClr val="FF0000"/>
                </a:solidFill>
                <a:latin typeface="微软雅黑"/>
                <a:cs typeface="微软雅黑"/>
              </a:rPr>
              <a:t>迁移学</a:t>
            </a:r>
            <a:r>
              <a:rPr sz="1000" spc="-15" dirty="0">
                <a:solidFill>
                  <a:srgbClr val="FF0000"/>
                </a:solidFill>
                <a:latin typeface="微软雅黑"/>
                <a:cs typeface="微软雅黑"/>
              </a:rPr>
              <a:t>习</a:t>
            </a: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)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61074" y="2228358"/>
            <a:ext cx="716280" cy="443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30"/>
              </a:spcBef>
            </a:pPr>
            <a:r>
              <a:rPr sz="900" b="1" spc="20" dirty="0">
                <a:latin typeface="Arial"/>
                <a:cs typeface="Arial"/>
              </a:rPr>
              <a:t>Box  Coo</a:t>
            </a:r>
            <a:r>
              <a:rPr sz="900" b="1" spc="5" dirty="0">
                <a:latin typeface="Arial"/>
                <a:cs typeface="Arial"/>
              </a:rPr>
              <a:t>r</a:t>
            </a:r>
            <a:r>
              <a:rPr sz="900" b="1" spc="20" dirty="0">
                <a:latin typeface="Arial"/>
                <a:cs typeface="Arial"/>
              </a:rPr>
              <a:t>d</a:t>
            </a:r>
            <a:r>
              <a:rPr sz="900" b="1" dirty="0">
                <a:latin typeface="Arial"/>
                <a:cs typeface="Arial"/>
              </a:rPr>
              <a:t>i</a:t>
            </a:r>
            <a:r>
              <a:rPr sz="900" b="1" spc="10" dirty="0">
                <a:latin typeface="Arial"/>
                <a:cs typeface="Arial"/>
              </a:rPr>
              <a:t>nates  </a:t>
            </a:r>
            <a:r>
              <a:rPr sz="900" spc="10" dirty="0">
                <a:latin typeface="Arial"/>
                <a:cs typeface="Arial"/>
              </a:rPr>
              <a:t>(x, </a:t>
            </a:r>
            <a:r>
              <a:rPr sz="900" spc="-55" dirty="0">
                <a:latin typeface="Arial"/>
                <a:cs typeface="Arial"/>
              </a:rPr>
              <a:t>y, </a:t>
            </a:r>
            <a:r>
              <a:rPr sz="900" spc="-15" dirty="0">
                <a:latin typeface="Arial"/>
                <a:cs typeface="Arial"/>
              </a:rPr>
              <a:t>w,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h)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92618" y="2767473"/>
            <a:ext cx="72009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b="1" spc="10" dirty="0">
                <a:latin typeface="Arial"/>
                <a:cs typeface="Arial"/>
              </a:rPr>
              <a:t>Correct</a:t>
            </a:r>
            <a:r>
              <a:rPr sz="900" b="1" spc="-80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box</a:t>
            </a:r>
            <a:r>
              <a:rPr sz="900" spc="15" dirty="0">
                <a:latin typeface="Arial"/>
                <a:cs typeface="Arial"/>
              </a:rPr>
              <a:t>:  </a:t>
            </a:r>
            <a:r>
              <a:rPr sz="900" spc="10" dirty="0">
                <a:latin typeface="Arial"/>
                <a:cs typeface="Arial"/>
              </a:rPr>
              <a:t>(x’, </a:t>
            </a:r>
            <a:r>
              <a:rPr sz="900" dirty="0">
                <a:latin typeface="Arial"/>
                <a:cs typeface="Arial"/>
              </a:rPr>
              <a:t>y’, </a:t>
            </a:r>
            <a:r>
              <a:rPr sz="900" spc="10" dirty="0">
                <a:latin typeface="Arial"/>
                <a:cs typeface="Arial"/>
              </a:rPr>
              <a:t>w’,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h’)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336468" y="161814"/>
            <a:ext cx="301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单目</a:t>
            </a:r>
            <a:r>
              <a:rPr sz="1800" b="1" spc="-15" dirty="0">
                <a:latin typeface="微软雅黑"/>
                <a:cs typeface="微软雅黑"/>
              </a:rPr>
              <a:t>标</a:t>
            </a:r>
            <a:r>
              <a:rPr sz="1800" b="1" spc="-10" dirty="0">
                <a:latin typeface="微软雅黑"/>
                <a:cs typeface="微软雅黑"/>
              </a:rPr>
              <a:t>(</a:t>
            </a:r>
            <a:r>
              <a:rPr sz="1800" b="1" dirty="0">
                <a:latin typeface="微软雅黑"/>
                <a:cs typeface="微软雅黑"/>
              </a:rPr>
              <a:t>分类</a:t>
            </a:r>
            <a:r>
              <a:rPr sz="1800" b="1" spc="-5" dirty="0">
                <a:latin typeface="微软雅黑"/>
                <a:cs typeface="微软雅黑"/>
              </a:rPr>
              <a:t>+</a:t>
            </a:r>
            <a:r>
              <a:rPr sz="1800" b="1" dirty="0">
                <a:latin typeface="微软雅黑"/>
                <a:cs typeface="微软雅黑"/>
              </a:rPr>
              <a:t>定</a:t>
            </a:r>
            <a:r>
              <a:rPr sz="1800" b="1" spc="-5" dirty="0">
                <a:latin typeface="微软雅黑"/>
                <a:cs typeface="微软雅黑"/>
              </a:rPr>
              <a:t>位</a:t>
            </a:r>
            <a:r>
              <a:rPr sz="1800" b="1" dirty="0">
                <a:latin typeface="微软雅黑"/>
                <a:cs typeface="微软雅黑"/>
              </a:rPr>
              <a:t>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03522" y="2634631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微软雅黑"/>
                <a:cs typeface="微软雅黑"/>
              </a:rPr>
              <a:t>将定位任务建模为回归问</a:t>
            </a:r>
            <a:r>
              <a:rPr sz="1200" spc="-10" dirty="0">
                <a:latin typeface="微软雅黑"/>
                <a:cs typeface="微软雅黑"/>
              </a:rPr>
              <a:t>题</a:t>
            </a:r>
            <a:r>
              <a:rPr sz="1200" dirty="0">
                <a:latin typeface="微软雅黑"/>
                <a:cs typeface="微软雅黑"/>
              </a:rPr>
              <a:t>!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763" y="720216"/>
            <a:ext cx="874776" cy="757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0171" y="805560"/>
            <a:ext cx="1911096" cy="640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8847" y="754760"/>
            <a:ext cx="1011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Arial"/>
                <a:cs typeface="Arial"/>
              </a:rPr>
              <a:t>CAT: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0171" y="1604136"/>
            <a:ext cx="1911096" cy="641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88023" y="1554225"/>
            <a:ext cx="1250315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DOG: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DOG: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0" dirty="0">
                <a:latin typeface="Arial"/>
                <a:cs typeface="Arial"/>
              </a:rPr>
              <a:t>CAT: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latin typeface="Arial"/>
                <a:cs typeface="Arial"/>
              </a:rPr>
              <a:t>DUCK: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DUCK: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….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7651" y="1518792"/>
            <a:ext cx="1008887" cy="7574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5231" y="2314320"/>
            <a:ext cx="1321308" cy="7574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26559" y="2399664"/>
            <a:ext cx="1911095" cy="641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764" y="698135"/>
            <a:ext cx="874776" cy="757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0172" y="783479"/>
            <a:ext cx="1911096" cy="640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8847" y="731790"/>
            <a:ext cx="1011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Arial"/>
                <a:cs typeface="Arial"/>
              </a:rPr>
              <a:t>CAT: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0172" y="1582055"/>
            <a:ext cx="1911096" cy="641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88024" y="1531509"/>
            <a:ext cx="1108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DOG: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DOG: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0" dirty="0">
                <a:latin typeface="Arial"/>
                <a:cs typeface="Arial"/>
              </a:rPr>
              <a:t>CAT: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7652" y="1496711"/>
            <a:ext cx="1008887" cy="7574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5232" y="2292239"/>
            <a:ext cx="1321308" cy="7574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26560" y="2377583"/>
            <a:ext cx="1911095" cy="641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4666" y="2381647"/>
            <a:ext cx="119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DUCK: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DUCK: </a:t>
            </a:r>
            <a:r>
              <a:rPr sz="1200" spc="-10" dirty="0">
                <a:latin typeface="Arial"/>
                <a:cs typeface="Arial"/>
              </a:rPr>
              <a:t>(x, </a:t>
            </a:r>
            <a:r>
              <a:rPr sz="1200" spc="-75" dirty="0">
                <a:latin typeface="Arial"/>
                <a:cs typeface="Arial"/>
              </a:rPr>
              <a:t>y, </a:t>
            </a:r>
            <a:r>
              <a:rPr sz="1200" spc="-65" dirty="0">
                <a:latin typeface="Arial"/>
                <a:cs typeface="Arial"/>
              </a:rPr>
              <a:t>w,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h)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….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4793" y="777510"/>
            <a:ext cx="549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4</a:t>
            </a:r>
            <a:r>
              <a:rPr sz="1200" spc="-60" dirty="0">
                <a:solidFill>
                  <a:srgbClr val="FF0000"/>
                </a:solidFill>
                <a:latin typeface="微软雅黑"/>
                <a:cs typeface="微软雅黑"/>
              </a:rPr>
              <a:t>个实数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4793" y="1742837"/>
            <a:ext cx="630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16</a:t>
            </a:r>
            <a:r>
              <a:rPr sz="1200" spc="-60" dirty="0">
                <a:solidFill>
                  <a:srgbClr val="FF0000"/>
                </a:solidFill>
                <a:latin typeface="微软雅黑"/>
                <a:cs typeface="微软雅黑"/>
              </a:rPr>
              <a:t>个实数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0071" y="2500773"/>
            <a:ext cx="902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FF0000"/>
                </a:solidFill>
                <a:latin typeface="微软雅黑"/>
                <a:cs typeface="微软雅黑"/>
              </a:rPr>
              <a:t>多少个实数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？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6468" y="161814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02806" y="17521"/>
            <a:ext cx="1549400" cy="5740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latin typeface="微软雅黑"/>
                <a:cs typeface="微软雅黑"/>
              </a:rPr>
              <a:t>困境：每张图像期望输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latin typeface="微软雅黑"/>
                <a:cs typeface="微软雅黑"/>
              </a:rPr>
              <a:t>出的维度都不一样！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699" y="1186560"/>
            <a:ext cx="1770888" cy="1327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9699" y="1645234"/>
            <a:ext cx="583565" cy="869950"/>
          </a:xfrm>
          <a:custGeom>
            <a:avLst/>
            <a:gdLst/>
            <a:ahLst/>
            <a:cxnLst/>
            <a:rect l="l" t="t" r="r" b="b"/>
            <a:pathLst>
              <a:path w="583565" h="869950">
                <a:moveTo>
                  <a:pt x="0" y="869873"/>
                </a:moveTo>
                <a:lnTo>
                  <a:pt x="583488" y="869873"/>
                </a:lnTo>
                <a:lnTo>
                  <a:pt x="583488" y="0"/>
                </a:lnTo>
                <a:lnTo>
                  <a:pt x="0" y="0"/>
                </a:lnTo>
                <a:lnTo>
                  <a:pt x="0" y="869873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239" y="1532508"/>
            <a:ext cx="2183891" cy="731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6294" y="1306448"/>
            <a:ext cx="706120" cy="586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422275" algn="l"/>
              </a:tabLst>
            </a:pPr>
            <a:r>
              <a:rPr sz="1200" b="1" dirty="0">
                <a:latin typeface="微软雅黑"/>
                <a:cs typeface="微软雅黑"/>
              </a:rPr>
              <a:t>狗?	</a:t>
            </a:r>
            <a:r>
              <a:rPr sz="1000" spc="-5" dirty="0">
                <a:latin typeface="微软雅黑"/>
                <a:cs typeface="微软雅黑"/>
              </a:rPr>
              <a:t>不是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438784" algn="l"/>
              </a:tabLst>
            </a:pPr>
            <a:r>
              <a:rPr sz="1200" b="1" dirty="0">
                <a:latin typeface="微软雅黑"/>
                <a:cs typeface="微软雅黑"/>
              </a:rPr>
              <a:t>猫?	</a:t>
            </a:r>
            <a:r>
              <a:rPr sz="1000" spc="-5" dirty="0">
                <a:latin typeface="微软雅黑"/>
                <a:cs typeface="微软雅黑"/>
              </a:rPr>
              <a:t>不是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7150" y="1958975"/>
            <a:ext cx="600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背景?</a:t>
            </a:r>
            <a:r>
              <a:rPr sz="1200" b="1" spc="110" dirty="0">
                <a:latin typeface="微软雅黑"/>
                <a:cs typeface="微软雅黑"/>
              </a:rPr>
              <a:t> 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1953" y="731291"/>
            <a:ext cx="2280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30" dirty="0">
                <a:latin typeface="微软雅黑"/>
                <a:cs typeface="微软雅黑"/>
              </a:rPr>
              <a:t>利用</a:t>
            </a:r>
            <a:r>
              <a:rPr sz="1000" dirty="0">
                <a:latin typeface="微软雅黑"/>
                <a:cs typeface="微软雅黑"/>
              </a:rPr>
              <a:t>C</a:t>
            </a:r>
            <a:r>
              <a:rPr sz="1000" spc="-15" dirty="0">
                <a:latin typeface="微软雅黑"/>
                <a:cs typeface="微软雅黑"/>
              </a:rPr>
              <a:t>N</a:t>
            </a:r>
            <a:r>
              <a:rPr sz="1000" spc="25" dirty="0">
                <a:latin typeface="微软雅黑"/>
                <a:cs typeface="微软雅黑"/>
              </a:rPr>
              <a:t>N对图像中</a:t>
            </a:r>
            <a:r>
              <a:rPr sz="1000" spc="15" dirty="0">
                <a:latin typeface="微软雅黑"/>
                <a:cs typeface="微软雅黑"/>
              </a:rPr>
              <a:t>的</a:t>
            </a:r>
            <a:r>
              <a:rPr sz="1000" spc="25" dirty="0">
                <a:latin typeface="微软雅黑"/>
                <a:cs typeface="微软雅黑"/>
              </a:rPr>
              <a:t>区</a:t>
            </a:r>
            <a:r>
              <a:rPr sz="1000" spc="15" dirty="0">
                <a:latin typeface="微软雅黑"/>
                <a:cs typeface="微软雅黑"/>
              </a:rPr>
              <a:t>域</a:t>
            </a:r>
            <a:r>
              <a:rPr sz="1000" spc="25" dirty="0">
                <a:latin typeface="微软雅黑"/>
                <a:cs typeface="微软雅黑"/>
              </a:rPr>
              <a:t>进行多分</a:t>
            </a:r>
            <a:r>
              <a:rPr sz="1000" spc="45" dirty="0">
                <a:latin typeface="微软雅黑"/>
                <a:cs typeface="微软雅黑"/>
              </a:rPr>
              <a:t>类</a:t>
            </a:r>
            <a:r>
              <a:rPr sz="1000" spc="-5" dirty="0">
                <a:latin typeface="微软雅黑"/>
                <a:cs typeface="微软雅黑"/>
              </a:rPr>
              <a:t>， </a:t>
            </a:r>
            <a:r>
              <a:rPr sz="1000" spc="40" dirty="0">
                <a:latin typeface="微软雅黑"/>
                <a:cs typeface="微软雅黑"/>
              </a:rPr>
              <a:t>以确定当前区域是背景</a:t>
            </a:r>
            <a:r>
              <a:rPr sz="1000" spc="50" dirty="0">
                <a:latin typeface="微软雅黑"/>
                <a:cs typeface="微软雅黑"/>
              </a:rPr>
              <a:t>还</a:t>
            </a:r>
            <a:r>
              <a:rPr sz="1000" spc="40" dirty="0">
                <a:latin typeface="微软雅黑"/>
                <a:cs typeface="微软雅黑"/>
              </a:rPr>
              <a:t>是哪个类别的 </a:t>
            </a:r>
            <a:r>
              <a:rPr sz="1000" spc="-5" dirty="0">
                <a:latin typeface="微软雅黑"/>
                <a:cs typeface="微软雅黑"/>
              </a:rPr>
              <a:t>目标。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00" y="1164479"/>
            <a:ext cx="1770888" cy="1327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6608" y="1623152"/>
            <a:ext cx="583565" cy="869950"/>
          </a:xfrm>
          <a:custGeom>
            <a:avLst/>
            <a:gdLst/>
            <a:ahLst/>
            <a:cxnLst/>
            <a:rect l="l" t="t" r="r" b="b"/>
            <a:pathLst>
              <a:path w="583565" h="869950">
                <a:moveTo>
                  <a:pt x="0" y="869873"/>
                </a:moveTo>
                <a:lnTo>
                  <a:pt x="583488" y="869873"/>
                </a:lnTo>
                <a:lnTo>
                  <a:pt x="583488" y="0"/>
                </a:lnTo>
                <a:lnTo>
                  <a:pt x="0" y="0"/>
                </a:lnTo>
                <a:lnTo>
                  <a:pt x="0" y="869873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240" y="1510427"/>
            <a:ext cx="2183891" cy="731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6468" y="161814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1954" y="708575"/>
            <a:ext cx="2280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30" dirty="0">
                <a:latin typeface="微软雅黑"/>
                <a:cs typeface="微软雅黑"/>
              </a:rPr>
              <a:t>利用</a:t>
            </a:r>
            <a:r>
              <a:rPr sz="1000" dirty="0">
                <a:latin typeface="微软雅黑"/>
                <a:cs typeface="微软雅黑"/>
              </a:rPr>
              <a:t>C</a:t>
            </a:r>
            <a:r>
              <a:rPr sz="1000" spc="-15" dirty="0">
                <a:latin typeface="微软雅黑"/>
                <a:cs typeface="微软雅黑"/>
              </a:rPr>
              <a:t>N</a:t>
            </a:r>
            <a:r>
              <a:rPr sz="1000" spc="25" dirty="0">
                <a:latin typeface="微软雅黑"/>
                <a:cs typeface="微软雅黑"/>
              </a:rPr>
              <a:t>N对图像中</a:t>
            </a:r>
            <a:r>
              <a:rPr sz="1000" spc="15" dirty="0">
                <a:latin typeface="微软雅黑"/>
                <a:cs typeface="微软雅黑"/>
              </a:rPr>
              <a:t>的</a:t>
            </a:r>
            <a:r>
              <a:rPr sz="1000" spc="25" dirty="0">
                <a:latin typeface="微软雅黑"/>
                <a:cs typeface="微软雅黑"/>
              </a:rPr>
              <a:t>区</a:t>
            </a:r>
            <a:r>
              <a:rPr sz="1000" spc="15" dirty="0">
                <a:latin typeface="微软雅黑"/>
                <a:cs typeface="微软雅黑"/>
              </a:rPr>
              <a:t>域</a:t>
            </a:r>
            <a:r>
              <a:rPr sz="1000" spc="25" dirty="0">
                <a:latin typeface="微软雅黑"/>
                <a:cs typeface="微软雅黑"/>
              </a:rPr>
              <a:t>进行多分</a:t>
            </a:r>
            <a:r>
              <a:rPr sz="1000" spc="45" dirty="0">
                <a:latin typeface="微软雅黑"/>
                <a:cs typeface="微软雅黑"/>
              </a:rPr>
              <a:t>类</a:t>
            </a:r>
            <a:r>
              <a:rPr sz="1000" spc="-5" dirty="0">
                <a:latin typeface="微软雅黑"/>
                <a:cs typeface="微软雅黑"/>
              </a:rPr>
              <a:t>， </a:t>
            </a:r>
            <a:r>
              <a:rPr sz="1000" spc="40" dirty="0">
                <a:latin typeface="微软雅黑"/>
                <a:cs typeface="微软雅黑"/>
              </a:rPr>
              <a:t>以确定当前区域是背景</a:t>
            </a:r>
            <a:r>
              <a:rPr sz="1000" spc="50" dirty="0">
                <a:latin typeface="微软雅黑"/>
                <a:cs typeface="微软雅黑"/>
              </a:rPr>
              <a:t>还</a:t>
            </a:r>
            <a:r>
              <a:rPr sz="1000" spc="40" dirty="0">
                <a:latin typeface="微软雅黑"/>
                <a:cs typeface="微软雅黑"/>
              </a:rPr>
              <a:t>是哪个类别的 </a:t>
            </a:r>
            <a:r>
              <a:rPr sz="1000" spc="-5" dirty="0">
                <a:latin typeface="微软雅黑"/>
                <a:cs typeface="微软雅黑"/>
              </a:rPr>
              <a:t>目标。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6294" y="1283732"/>
            <a:ext cx="706120" cy="586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422275" algn="l"/>
              </a:tabLst>
            </a:pPr>
            <a:r>
              <a:rPr sz="1200" b="1" dirty="0">
                <a:latin typeface="微软雅黑"/>
                <a:cs typeface="微软雅黑"/>
              </a:rPr>
              <a:t>狗?	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438784" algn="l"/>
              </a:tabLst>
            </a:pPr>
            <a:r>
              <a:rPr sz="1200" b="1" dirty="0">
                <a:latin typeface="微软雅黑"/>
                <a:cs typeface="微软雅黑"/>
              </a:rPr>
              <a:t>猫?	</a:t>
            </a:r>
            <a:r>
              <a:rPr sz="1000" spc="-5" dirty="0">
                <a:latin typeface="微软雅黑"/>
                <a:cs typeface="微软雅黑"/>
              </a:rPr>
              <a:t>不是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7150" y="1936004"/>
            <a:ext cx="717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背景?</a:t>
            </a:r>
            <a:r>
              <a:rPr sz="1200" b="1" spc="110" dirty="0">
                <a:latin typeface="微软雅黑"/>
                <a:cs typeface="微软雅黑"/>
              </a:rPr>
              <a:t> </a:t>
            </a:r>
            <a:r>
              <a:rPr sz="1000" spc="-7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699" y="1186560"/>
            <a:ext cx="1770888" cy="1327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37711" y="1799246"/>
            <a:ext cx="382905" cy="657225"/>
          </a:xfrm>
          <a:custGeom>
            <a:avLst/>
            <a:gdLst/>
            <a:ahLst/>
            <a:cxnLst/>
            <a:rect l="l" t="t" r="r" b="b"/>
            <a:pathLst>
              <a:path w="382905" h="657225">
                <a:moveTo>
                  <a:pt x="0" y="656805"/>
                </a:moveTo>
                <a:lnTo>
                  <a:pt x="382435" y="656805"/>
                </a:lnTo>
                <a:lnTo>
                  <a:pt x="382435" y="0"/>
                </a:lnTo>
                <a:lnTo>
                  <a:pt x="0" y="0"/>
                </a:lnTo>
                <a:lnTo>
                  <a:pt x="0" y="656805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239" y="1532508"/>
            <a:ext cx="2183891" cy="731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1953" y="731291"/>
            <a:ext cx="2280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30" dirty="0">
                <a:latin typeface="微软雅黑"/>
                <a:cs typeface="微软雅黑"/>
              </a:rPr>
              <a:t>利用</a:t>
            </a:r>
            <a:r>
              <a:rPr sz="1000" dirty="0">
                <a:latin typeface="微软雅黑"/>
                <a:cs typeface="微软雅黑"/>
              </a:rPr>
              <a:t>C</a:t>
            </a:r>
            <a:r>
              <a:rPr sz="1000" spc="-15" dirty="0">
                <a:latin typeface="微软雅黑"/>
                <a:cs typeface="微软雅黑"/>
              </a:rPr>
              <a:t>N</a:t>
            </a:r>
            <a:r>
              <a:rPr sz="1000" spc="25" dirty="0">
                <a:latin typeface="微软雅黑"/>
                <a:cs typeface="微软雅黑"/>
              </a:rPr>
              <a:t>N对图像中</a:t>
            </a:r>
            <a:r>
              <a:rPr sz="1000" spc="15" dirty="0">
                <a:latin typeface="微软雅黑"/>
                <a:cs typeface="微软雅黑"/>
              </a:rPr>
              <a:t>的</a:t>
            </a:r>
            <a:r>
              <a:rPr sz="1000" spc="25" dirty="0">
                <a:latin typeface="微软雅黑"/>
                <a:cs typeface="微软雅黑"/>
              </a:rPr>
              <a:t>区</a:t>
            </a:r>
            <a:r>
              <a:rPr sz="1000" spc="15" dirty="0">
                <a:latin typeface="微软雅黑"/>
                <a:cs typeface="微软雅黑"/>
              </a:rPr>
              <a:t>域</a:t>
            </a:r>
            <a:r>
              <a:rPr sz="1000" spc="25" dirty="0">
                <a:latin typeface="微软雅黑"/>
                <a:cs typeface="微软雅黑"/>
              </a:rPr>
              <a:t>进行多分</a:t>
            </a:r>
            <a:r>
              <a:rPr sz="1000" spc="45" dirty="0">
                <a:latin typeface="微软雅黑"/>
                <a:cs typeface="微软雅黑"/>
              </a:rPr>
              <a:t>类</a:t>
            </a:r>
            <a:r>
              <a:rPr sz="1000" spc="-5" dirty="0">
                <a:latin typeface="微软雅黑"/>
                <a:cs typeface="微软雅黑"/>
              </a:rPr>
              <a:t>， </a:t>
            </a:r>
            <a:r>
              <a:rPr sz="1000" spc="40" dirty="0">
                <a:latin typeface="微软雅黑"/>
                <a:cs typeface="微软雅黑"/>
              </a:rPr>
              <a:t>以确定当前区域是背景</a:t>
            </a:r>
            <a:r>
              <a:rPr sz="1000" spc="50" dirty="0">
                <a:latin typeface="微软雅黑"/>
                <a:cs typeface="微软雅黑"/>
              </a:rPr>
              <a:t>还</a:t>
            </a:r>
            <a:r>
              <a:rPr sz="1000" spc="40" dirty="0">
                <a:latin typeface="微软雅黑"/>
                <a:cs typeface="微软雅黑"/>
              </a:rPr>
              <a:t>是哪个类别的 </a:t>
            </a:r>
            <a:r>
              <a:rPr sz="1000" spc="-5" dirty="0">
                <a:latin typeface="微软雅黑"/>
                <a:cs typeface="微软雅黑"/>
              </a:rPr>
              <a:t>目标。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6294" y="1306448"/>
            <a:ext cx="706120" cy="586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422275" algn="l"/>
              </a:tabLst>
            </a:pPr>
            <a:r>
              <a:rPr sz="1200" b="1" dirty="0">
                <a:latin typeface="微软雅黑"/>
                <a:cs typeface="微软雅黑"/>
              </a:rPr>
              <a:t>狗?	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438784" algn="l"/>
              </a:tabLst>
            </a:pPr>
            <a:r>
              <a:rPr sz="1200" b="1" dirty="0">
                <a:latin typeface="微软雅黑"/>
                <a:cs typeface="微软雅黑"/>
              </a:rPr>
              <a:t>猫?	</a:t>
            </a:r>
            <a:r>
              <a:rPr sz="1000" spc="-5" dirty="0">
                <a:latin typeface="微软雅黑"/>
                <a:cs typeface="微软雅黑"/>
              </a:rPr>
              <a:t>不是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7150" y="1958975"/>
            <a:ext cx="717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背景?</a:t>
            </a:r>
            <a:r>
              <a:rPr sz="1200" b="1" spc="110" dirty="0">
                <a:latin typeface="微软雅黑"/>
                <a:cs typeface="微软雅黑"/>
              </a:rPr>
              <a:t> </a:t>
            </a:r>
            <a:r>
              <a:rPr sz="1000" spc="-7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700" y="1164479"/>
            <a:ext cx="1770888" cy="1327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6416" y="1623241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39" h="657225">
                <a:moveTo>
                  <a:pt x="0" y="656805"/>
                </a:moveTo>
                <a:lnTo>
                  <a:pt x="357771" y="656805"/>
                </a:lnTo>
                <a:lnTo>
                  <a:pt x="357771" y="0"/>
                </a:lnTo>
                <a:lnTo>
                  <a:pt x="0" y="0"/>
                </a:lnTo>
                <a:lnTo>
                  <a:pt x="0" y="656805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240" y="1510427"/>
            <a:ext cx="2183891" cy="731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6468" y="161814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1954" y="708575"/>
            <a:ext cx="2280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30" dirty="0">
                <a:latin typeface="微软雅黑"/>
                <a:cs typeface="微软雅黑"/>
              </a:rPr>
              <a:t>利用</a:t>
            </a:r>
            <a:r>
              <a:rPr sz="1000" dirty="0">
                <a:latin typeface="微软雅黑"/>
                <a:cs typeface="微软雅黑"/>
              </a:rPr>
              <a:t>C</a:t>
            </a:r>
            <a:r>
              <a:rPr sz="1000" spc="-15" dirty="0">
                <a:latin typeface="微软雅黑"/>
                <a:cs typeface="微软雅黑"/>
              </a:rPr>
              <a:t>N</a:t>
            </a:r>
            <a:r>
              <a:rPr sz="1000" spc="25" dirty="0">
                <a:latin typeface="微软雅黑"/>
                <a:cs typeface="微软雅黑"/>
              </a:rPr>
              <a:t>N对图像中</a:t>
            </a:r>
            <a:r>
              <a:rPr sz="1000" spc="15" dirty="0">
                <a:latin typeface="微软雅黑"/>
                <a:cs typeface="微软雅黑"/>
              </a:rPr>
              <a:t>的</a:t>
            </a:r>
            <a:r>
              <a:rPr sz="1000" spc="25" dirty="0">
                <a:latin typeface="微软雅黑"/>
                <a:cs typeface="微软雅黑"/>
              </a:rPr>
              <a:t>区</a:t>
            </a:r>
            <a:r>
              <a:rPr sz="1000" spc="15" dirty="0">
                <a:latin typeface="微软雅黑"/>
                <a:cs typeface="微软雅黑"/>
              </a:rPr>
              <a:t>域</a:t>
            </a:r>
            <a:r>
              <a:rPr sz="1000" spc="25" dirty="0">
                <a:latin typeface="微软雅黑"/>
                <a:cs typeface="微软雅黑"/>
              </a:rPr>
              <a:t>进行多分</a:t>
            </a:r>
            <a:r>
              <a:rPr sz="1000" spc="45" dirty="0">
                <a:latin typeface="微软雅黑"/>
                <a:cs typeface="微软雅黑"/>
              </a:rPr>
              <a:t>类</a:t>
            </a:r>
            <a:r>
              <a:rPr sz="1000" spc="-5" dirty="0">
                <a:latin typeface="微软雅黑"/>
                <a:cs typeface="微软雅黑"/>
              </a:rPr>
              <a:t>， </a:t>
            </a:r>
            <a:r>
              <a:rPr sz="1000" spc="40" dirty="0">
                <a:latin typeface="微软雅黑"/>
                <a:cs typeface="微软雅黑"/>
              </a:rPr>
              <a:t>以确定当前区域是背景</a:t>
            </a:r>
            <a:r>
              <a:rPr sz="1000" spc="50" dirty="0">
                <a:latin typeface="微软雅黑"/>
                <a:cs typeface="微软雅黑"/>
              </a:rPr>
              <a:t>还</a:t>
            </a:r>
            <a:r>
              <a:rPr sz="1000" spc="40" dirty="0">
                <a:latin typeface="微软雅黑"/>
                <a:cs typeface="微软雅黑"/>
              </a:rPr>
              <a:t>是哪个类别的 </a:t>
            </a:r>
            <a:r>
              <a:rPr sz="1000" spc="-5" dirty="0">
                <a:latin typeface="微软雅黑"/>
                <a:cs typeface="微软雅黑"/>
              </a:rPr>
              <a:t>目标。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6294" y="1283732"/>
            <a:ext cx="681355" cy="586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422275" algn="l"/>
              </a:tabLst>
            </a:pPr>
            <a:r>
              <a:rPr sz="1200" b="1" dirty="0">
                <a:latin typeface="微软雅黑"/>
                <a:cs typeface="微软雅黑"/>
              </a:rPr>
              <a:t>狗?	</a:t>
            </a:r>
            <a:r>
              <a:rPr sz="1000" spc="-6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438784" algn="l"/>
              </a:tabLst>
            </a:pPr>
            <a:r>
              <a:rPr sz="1200" b="1" dirty="0">
                <a:latin typeface="微软雅黑"/>
                <a:cs typeface="微软雅黑"/>
              </a:rPr>
              <a:t>猫?	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7150" y="1936004"/>
            <a:ext cx="717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背景?</a:t>
            </a:r>
            <a:r>
              <a:rPr sz="1200" b="1" spc="110" dirty="0">
                <a:latin typeface="微软雅黑"/>
                <a:cs typeface="微软雅黑"/>
              </a:rPr>
              <a:t> </a:t>
            </a:r>
            <a:r>
              <a:rPr sz="1000" spc="-7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699" y="1186560"/>
            <a:ext cx="1770888" cy="1327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7413" y="1184274"/>
            <a:ext cx="1777364" cy="1333500"/>
          </a:xfrm>
          <a:custGeom>
            <a:avLst/>
            <a:gdLst/>
            <a:ahLst/>
            <a:cxnLst/>
            <a:rect l="l" t="t" r="r" b="b"/>
            <a:pathLst>
              <a:path w="1777364" h="1333500">
                <a:moveTo>
                  <a:pt x="0" y="1333500"/>
                </a:moveTo>
                <a:lnTo>
                  <a:pt x="1776857" y="1333500"/>
                </a:lnTo>
                <a:lnTo>
                  <a:pt x="1776857" y="0"/>
                </a:lnTo>
                <a:lnTo>
                  <a:pt x="0" y="0"/>
                </a:lnTo>
                <a:lnTo>
                  <a:pt x="0" y="133350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7304" y="1646250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39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785" y="1689353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60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6453" y="1765630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78376" y="1725752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5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98188" y="1552206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5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5892" y="1464767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1638" y="1768868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09669" y="1558747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21150" y="1601723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60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58818" y="1678000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50741" y="1638249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0553" y="1464703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5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384" y="1377137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1" y="893114"/>
                </a:lnTo>
                <a:lnTo>
                  <a:pt x="583691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4003" y="1681365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5220" y="1534236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6650" y="1577212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4318" y="1653489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6280" y="1613738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6066" y="1440192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3859" y="1352626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9503" y="1656854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6166" y="1646250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7608" y="1689353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5315" y="1765630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7238" y="1725752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7024" y="1552206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4817" y="1464767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3389" y="1768868"/>
            <a:ext cx="584200" cy="199390"/>
          </a:xfrm>
          <a:custGeom>
            <a:avLst/>
            <a:gdLst/>
            <a:ahLst/>
            <a:cxnLst/>
            <a:rect l="l" t="t" r="r" b="b"/>
            <a:pathLst>
              <a:path w="584200" h="199389">
                <a:moveTo>
                  <a:pt x="0" y="199250"/>
                </a:moveTo>
                <a:lnTo>
                  <a:pt x="583692" y="199250"/>
                </a:lnTo>
                <a:lnTo>
                  <a:pt x="583692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6071" y="1492072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7502" y="153504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5208" y="161132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7131" y="1571574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6930" y="1398028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4710" y="131046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1" y="893114"/>
                </a:lnTo>
                <a:lnTo>
                  <a:pt x="583691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0355" y="1614690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3886" y="1773758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5367" y="1816861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3035" y="1893138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4958" y="1853260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74770" y="1679841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2563" y="1592275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8208" y="1896376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80357" y="1368882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39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91838" y="141185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60" h="537844">
                <a:moveTo>
                  <a:pt x="0" y="537590"/>
                </a:moveTo>
                <a:lnTo>
                  <a:pt x="518096" y="537590"/>
                </a:lnTo>
                <a:lnTo>
                  <a:pt x="518096" y="0"/>
                </a:lnTo>
                <a:lnTo>
                  <a:pt x="0" y="0"/>
                </a:lnTo>
                <a:lnTo>
                  <a:pt x="0" y="53759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429506" y="148813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21429" y="1448384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5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41241" y="1274838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5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58945" y="118727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04691" y="1491500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68242" y="1368882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79723" y="141185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0"/>
                </a:moveTo>
                <a:lnTo>
                  <a:pt x="518096" y="537590"/>
                </a:lnTo>
                <a:lnTo>
                  <a:pt x="518096" y="0"/>
                </a:lnTo>
                <a:lnTo>
                  <a:pt x="0" y="0"/>
                </a:lnTo>
                <a:lnTo>
                  <a:pt x="0" y="53759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17391" y="148813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09314" y="1448384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29126" y="1274838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46957" y="118727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1" y="893114"/>
                </a:lnTo>
                <a:lnTo>
                  <a:pt x="583691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2551" y="1491500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97809" y="1368882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09252" y="141185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0"/>
                </a:moveTo>
                <a:lnTo>
                  <a:pt x="518096" y="537590"/>
                </a:lnTo>
                <a:lnTo>
                  <a:pt x="518096" y="0"/>
                </a:lnTo>
                <a:lnTo>
                  <a:pt x="0" y="0"/>
                </a:lnTo>
                <a:lnTo>
                  <a:pt x="0" y="53759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46958" y="148813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8881" y="1448384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8667" y="1274838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76460" y="118727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1" y="893114"/>
                </a:lnTo>
                <a:lnTo>
                  <a:pt x="583691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2105" y="1491500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6166" y="1803095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40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67608" y="184619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59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05315" y="192247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7238" y="1882597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4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17024" y="1709051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4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4817" y="162161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80461" y="1925713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380357" y="1803095"/>
            <a:ext cx="358140" cy="657225"/>
          </a:xfrm>
          <a:custGeom>
            <a:avLst/>
            <a:gdLst/>
            <a:ahLst/>
            <a:cxnLst/>
            <a:rect l="l" t="t" r="r" b="b"/>
            <a:pathLst>
              <a:path w="358139" h="657225">
                <a:moveTo>
                  <a:pt x="0" y="656894"/>
                </a:moveTo>
                <a:lnTo>
                  <a:pt x="358127" y="656894"/>
                </a:lnTo>
                <a:lnTo>
                  <a:pt x="358127" y="0"/>
                </a:lnTo>
                <a:lnTo>
                  <a:pt x="0" y="0"/>
                </a:lnTo>
                <a:lnTo>
                  <a:pt x="0" y="65689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291838" y="1846198"/>
            <a:ext cx="518159" cy="537845"/>
          </a:xfrm>
          <a:custGeom>
            <a:avLst/>
            <a:gdLst/>
            <a:ahLst/>
            <a:cxnLst/>
            <a:rect l="l" t="t" r="r" b="b"/>
            <a:pathLst>
              <a:path w="518160" h="537844">
                <a:moveTo>
                  <a:pt x="0" y="537591"/>
                </a:moveTo>
                <a:lnTo>
                  <a:pt x="518096" y="537591"/>
                </a:lnTo>
                <a:lnTo>
                  <a:pt x="518096" y="0"/>
                </a:lnTo>
                <a:lnTo>
                  <a:pt x="0" y="0"/>
                </a:lnTo>
                <a:lnTo>
                  <a:pt x="0" y="537591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429506" y="1922475"/>
            <a:ext cx="287655" cy="330200"/>
          </a:xfrm>
          <a:custGeom>
            <a:avLst/>
            <a:gdLst/>
            <a:ahLst/>
            <a:cxnLst/>
            <a:rect l="l" t="t" r="r" b="b"/>
            <a:pathLst>
              <a:path w="287655" h="330200">
                <a:moveTo>
                  <a:pt x="0" y="329742"/>
                </a:moveTo>
                <a:lnTo>
                  <a:pt x="287540" y="329742"/>
                </a:lnTo>
                <a:lnTo>
                  <a:pt x="287540" y="0"/>
                </a:lnTo>
                <a:lnTo>
                  <a:pt x="0" y="0"/>
                </a:lnTo>
                <a:lnTo>
                  <a:pt x="0" y="329742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21429" y="1882597"/>
            <a:ext cx="464184" cy="419734"/>
          </a:xfrm>
          <a:custGeom>
            <a:avLst/>
            <a:gdLst/>
            <a:ahLst/>
            <a:cxnLst/>
            <a:rect l="l" t="t" r="r" b="b"/>
            <a:pathLst>
              <a:path w="464185" h="419735">
                <a:moveTo>
                  <a:pt x="0" y="419277"/>
                </a:moveTo>
                <a:lnTo>
                  <a:pt x="464108" y="419277"/>
                </a:lnTo>
                <a:lnTo>
                  <a:pt x="464108" y="0"/>
                </a:lnTo>
                <a:lnTo>
                  <a:pt x="0" y="0"/>
                </a:lnTo>
                <a:lnTo>
                  <a:pt x="0" y="419277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41241" y="1709051"/>
            <a:ext cx="464184" cy="718185"/>
          </a:xfrm>
          <a:custGeom>
            <a:avLst/>
            <a:gdLst/>
            <a:ahLst/>
            <a:cxnLst/>
            <a:rect l="l" t="t" r="r" b="b"/>
            <a:pathLst>
              <a:path w="464185" h="718185">
                <a:moveTo>
                  <a:pt x="0" y="718045"/>
                </a:moveTo>
                <a:lnTo>
                  <a:pt x="464108" y="718045"/>
                </a:lnTo>
                <a:lnTo>
                  <a:pt x="464108" y="0"/>
                </a:lnTo>
                <a:lnTo>
                  <a:pt x="0" y="0"/>
                </a:lnTo>
                <a:lnTo>
                  <a:pt x="0" y="718045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258945" y="1621612"/>
            <a:ext cx="584200" cy="893444"/>
          </a:xfrm>
          <a:custGeom>
            <a:avLst/>
            <a:gdLst/>
            <a:ahLst/>
            <a:cxnLst/>
            <a:rect l="l" t="t" r="r" b="b"/>
            <a:pathLst>
              <a:path w="584200" h="893444">
                <a:moveTo>
                  <a:pt x="0" y="893114"/>
                </a:moveTo>
                <a:lnTo>
                  <a:pt x="583692" y="893114"/>
                </a:lnTo>
                <a:lnTo>
                  <a:pt x="583692" y="0"/>
                </a:lnTo>
                <a:lnTo>
                  <a:pt x="0" y="0"/>
                </a:lnTo>
                <a:lnTo>
                  <a:pt x="0" y="893114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04691" y="1925713"/>
            <a:ext cx="946785" cy="199390"/>
          </a:xfrm>
          <a:custGeom>
            <a:avLst/>
            <a:gdLst/>
            <a:ahLst/>
            <a:cxnLst/>
            <a:rect l="l" t="t" r="r" b="b"/>
            <a:pathLst>
              <a:path w="946785" h="199389">
                <a:moveTo>
                  <a:pt x="0" y="199250"/>
                </a:moveTo>
                <a:lnTo>
                  <a:pt x="946619" y="199250"/>
                </a:lnTo>
                <a:lnTo>
                  <a:pt x="946619" y="0"/>
                </a:lnTo>
                <a:lnTo>
                  <a:pt x="0" y="0"/>
                </a:lnTo>
                <a:lnTo>
                  <a:pt x="0" y="199250"/>
                </a:lnTo>
                <a:close/>
              </a:path>
            </a:pathLst>
          </a:custGeom>
          <a:ln w="476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214239" y="1532508"/>
            <a:ext cx="2183891" cy="731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336468" y="184530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目标检</a:t>
            </a:r>
            <a:r>
              <a:rPr sz="1800" b="1" spc="-5" dirty="0">
                <a:latin typeface="微软雅黑"/>
                <a:cs typeface="微软雅黑"/>
              </a:rPr>
              <a:t>测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105" dirty="0">
                <a:latin typeface="微软雅黑"/>
                <a:cs typeface="微软雅黑"/>
              </a:rPr>
              <a:t> </a:t>
            </a:r>
            <a:r>
              <a:rPr sz="1800" b="1" spc="-10" dirty="0">
                <a:latin typeface="微软雅黑"/>
                <a:cs typeface="微软雅黑"/>
              </a:rPr>
              <a:t>多目标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11953" y="731291"/>
            <a:ext cx="2280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30" dirty="0">
                <a:latin typeface="微软雅黑"/>
                <a:cs typeface="微软雅黑"/>
              </a:rPr>
              <a:t>利用</a:t>
            </a:r>
            <a:r>
              <a:rPr sz="1000" dirty="0">
                <a:latin typeface="微软雅黑"/>
                <a:cs typeface="微软雅黑"/>
              </a:rPr>
              <a:t>C</a:t>
            </a:r>
            <a:r>
              <a:rPr sz="1000" spc="-15" dirty="0">
                <a:latin typeface="微软雅黑"/>
                <a:cs typeface="微软雅黑"/>
              </a:rPr>
              <a:t>N</a:t>
            </a:r>
            <a:r>
              <a:rPr sz="1000" spc="25" dirty="0">
                <a:latin typeface="微软雅黑"/>
                <a:cs typeface="微软雅黑"/>
              </a:rPr>
              <a:t>N对图像中</a:t>
            </a:r>
            <a:r>
              <a:rPr sz="1000" spc="15" dirty="0">
                <a:latin typeface="微软雅黑"/>
                <a:cs typeface="微软雅黑"/>
              </a:rPr>
              <a:t>的</a:t>
            </a:r>
            <a:r>
              <a:rPr sz="1000" spc="25" dirty="0">
                <a:latin typeface="微软雅黑"/>
                <a:cs typeface="微软雅黑"/>
              </a:rPr>
              <a:t>区</a:t>
            </a:r>
            <a:r>
              <a:rPr sz="1000" spc="15" dirty="0">
                <a:latin typeface="微软雅黑"/>
                <a:cs typeface="微软雅黑"/>
              </a:rPr>
              <a:t>域</a:t>
            </a:r>
            <a:r>
              <a:rPr sz="1000" spc="25" dirty="0">
                <a:latin typeface="微软雅黑"/>
                <a:cs typeface="微软雅黑"/>
              </a:rPr>
              <a:t>进行多分</a:t>
            </a:r>
            <a:r>
              <a:rPr sz="1000" spc="45" dirty="0">
                <a:latin typeface="微软雅黑"/>
                <a:cs typeface="微软雅黑"/>
              </a:rPr>
              <a:t>类</a:t>
            </a:r>
            <a:r>
              <a:rPr sz="1000" spc="-5" dirty="0">
                <a:latin typeface="微软雅黑"/>
                <a:cs typeface="微软雅黑"/>
              </a:rPr>
              <a:t>， </a:t>
            </a:r>
            <a:r>
              <a:rPr sz="1000" spc="40" dirty="0">
                <a:latin typeface="微软雅黑"/>
                <a:cs typeface="微软雅黑"/>
              </a:rPr>
              <a:t>以确定当前区域是背景</a:t>
            </a:r>
            <a:r>
              <a:rPr sz="1000" spc="50" dirty="0">
                <a:latin typeface="微软雅黑"/>
                <a:cs typeface="微软雅黑"/>
              </a:rPr>
              <a:t>还</a:t>
            </a:r>
            <a:r>
              <a:rPr sz="1000" spc="40" dirty="0">
                <a:latin typeface="微软雅黑"/>
                <a:cs typeface="微软雅黑"/>
              </a:rPr>
              <a:t>是哪个类别的 </a:t>
            </a:r>
            <a:r>
              <a:rPr sz="1000" spc="-5" dirty="0">
                <a:latin typeface="微软雅黑"/>
                <a:cs typeface="微软雅黑"/>
              </a:rPr>
              <a:t>目标。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686294" y="1306448"/>
            <a:ext cx="681355" cy="586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422275" algn="l"/>
              </a:tabLst>
            </a:pPr>
            <a:r>
              <a:rPr sz="1200" b="1" dirty="0">
                <a:latin typeface="微软雅黑"/>
                <a:cs typeface="微软雅黑"/>
              </a:rPr>
              <a:t>狗?	</a:t>
            </a:r>
            <a:r>
              <a:rPr sz="1000" spc="-6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438784" algn="l"/>
              </a:tabLst>
            </a:pPr>
            <a:r>
              <a:rPr sz="1200" b="1" dirty="0">
                <a:latin typeface="微软雅黑"/>
                <a:cs typeface="微软雅黑"/>
              </a:rPr>
              <a:t>猫?	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677150" y="1958975"/>
            <a:ext cx="717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背景?</a:t>
            </a:r>
            <a:r>
              <a:rPr sz="1200" b="1" spc="110" dirty="0">
                <a:latin typeface="微软雅黑"/>
                <a:cs typeface="微软雅黑"/>
              </a:rPr>
              <a:t> </a:t>
            </a:r>
            <a:r>
              <a:rPr sz="1000" spc="-75" dirty="0">
                <a:latin typeface="微软雅黑"/>
                <a:cs typeface="微软雅黑"/>
              </a:rPr>
              <a:t>不</a:t>
            </a:r>
            <a:r>
              <a:rPr sz="1000" spc="-5" dirty="0">
                <a:latin typeface="微软雅黑"/>
                <a:cs typeface="微软雅黑"/>
              </a:rPr>
              <a:t>是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597400" y="2571622"/>
            <a:ext cx="3270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困境：</a:t>
            </a:r>
            <a:r>
              <a:rPr sz="1200" dirty="0">
                <a:latin typeface="微软雅黑"/>
                <a:cs typeface="微软雅黑"/>
              </a:rPr>
              <a:t>CN</a:t>
            </a:r>
            <a:r>
              <a:rPr sz="1200" spc="-5" dirty="0">
                <a:latin typeface="微软雅黑"/>
                <a:cs typeface="微软雅黑"/>
              </a:rPr>
              <a:t>N</a:t>
            </a:r>
            <a:r>
              <a:rPr sz="1200" dirty="0">
                <a:latin typeface="微软雅黑"/>
                <a:cs typeface="微软雅黑"/>
              </a:rPr>
              <a:t>需要对图像中所有可能的区域（不同 位置、尺寸、长宽比）进行分类，计算量巨大！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30124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区域建</a:t>
            </a:r>
            <a:r>
              <a:rPr b="1" spc="15" dirty="0">
                <a:latin typeface="微软雅黑"/>
                <a:cs typeface="微软雅黑"/>
              </a:rPr>
              <a:t>议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65" dirty="0">
                <a:latin typeface="微软雅黑"/>
                <a:cs typeface="微软雅黑"/>
              </a:rPr>
              <a:t> </a:t>
            </a:r>
            <a:r>
              <a:rPr b="1" spc="-5" dirty="0">
                <a:latin typeface="微软雅黑"/>
                <a:cs typeface="微软雅黑"/>
              </a:rPr>
              <a:t>Selective</a:t>
            </a:r>
            <a:r>
              <a:rPr b="1" spc="-65" dirty="0">
                <a:latin typeface="微软雅黑"/>
                <a:cs typeface="微软雅黑"/>
              </a:rPr>
              <a:t> </a:t>
            </a:r>
            <a:r>
              <a:rPr b="1" spc="5" dirty="0">
                <a:latin typeface="微软雅黑"/>
                <a:cs typeface="微软雅黑"/>
              </a:rPr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3733668" y="1304687"/>
            <a:ext cx="2071115" cy="1377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2831" y="1617310"/>
            <a:ext cx="938530" cy="938530"/>
          </a:xfrm>
          <a:custGeom>
            <a:avLst/>
            <a:gdLst/>
            <a:ahLst/>
            <a:cxnLst/>
            <a:rect l="l" t="t" r="r" b="b"/>
            <a:pathLst>
              <a:path w="938529" h="938530">
                <a:moveTo>
                  <a:pt x="0" y="938453"/>
                </a:moveTo>
                <a:lnTo>
                  <a:pt x="938504" y="938453"/>
                </a:lnTo>
                <a:lnTo>
                  <a:pt x="938504" y="0"/>
                </a:lnTo>
                <a:lnTo>
                  <a:pt x="0" y="0"/>
                </a:lnTo>
                <a:lnTo>
                  <a:pt x="0" y="938453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4909" y="1362574"/>
            <a:ext cx="1488440" cy="1269365"/>
          </a:xfrm>
          <a:custGeom>
            <a:avLst/>
            <a:gdLst/>
            <a:ahLst/>
            <a:cxnLst/>
            <a:rect l="l" t="t" r="r" b="b"/>
            <a:pathLst>
              <a:path w="1488439" h="1269364">
                <a:moveTo>
                  <a:pt x="0" y="1269136"/>
                </a:moveTo>
                <a:lnTo>
                  <a:pt x="1487932" y="1269136"/>
                </a:lnTo>
                <a:lnTo>
                  <a:pt x="1487932" y="0"/>
                </a:lnTo>
                <a:lnTo>
                  <a:pt x="0" y="0"/>
                </a:lnTo>
                <a:lnTo>
                  <a:pt x="0" y="1269136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93431" y="2078727"/>
            <a:ext cx="197485" cy="168275"/>
          </a:xfrm>
          <a:custGeom>
            <a:avLst/>
            <a:gdLst/>
            <a:ahLst/>
            <a:cxnLst/>
            <a:rect l="l" t="t" r="r" b="b"/>
            <a:pathLst>
              <a:path w="197485" h="168275">
                <a:moveTo>
                  <a:pt x="0" y="168046"/>
                </a:moveTo>
                <a:lnTo>
                  <a:pt x="197459" y="168046"/>
                </a:lnTo>
                <a:lnTo>
                  <a:pt x="197459" y="0"/>
                </a:lnTo>
                <a:lnTo>
                  <a:pt x="0" y="0"/>
                </a:lnTo>
                <a:lnTo>
                  <a:pt x="0" y="168046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36788" y="1910642"/>
            <a:ext cx="313055" cy="262890"/>
          </a:xfrm>
          <a:custGeom>
            <a:avLst/>
            <a:gdLst/>
            <a:ahLst/>
            <a:cxnLst/>
            <a:rect l="l" t="t" r="r" b="b"/>
            <a:pathLst>
              <a:path w="313054" h="262889">
                <a:moveTo>
                  <a:pt x="0" y="262470"/>
                </a:moveTo>
                <a:lnTo>
                  <a:pt x="312902" y="262470"/>
                </a:lnTo>
                <a:lnTo>
                  <a:pt x="312902" y="0"/>
                </a:lnTo>
                <a:lnTo>
                  <a:pt x="0" y="0"/>
                </a:lnTo>
                <a:lnTo>
                  <a:pt x="0" y="262470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17003" y="1861912"/>
            <a:ext cx="144145" cy="127635"/>
          </a:xfrm>
          <a:custGeom>
            <a:avLst/>
            <a:gdLst/>
            <a:ahLst/>
            <a:cxnLst/>
            <a:rect l="l" t="t" r="r" b="b"/>
            <a:pathLst>
              <a:path w="144145" h="127635">
                <a:moveTo>
                  <a:pt x="0" y="127431"/>
                </a:moveTo>
                <a:lnTo>
                  <a:pt x="144043" y="127431"/>
                </a:lnTo>
                <a:lnTo>
                  <a:pt x="144043" y="0"/>
                </a:lnTo>
                <a:lnTo>
                  <a:pt x="0" y="0"/>
                </a:lnTo>
                <a:lnTo>
                  <a:pt x="0" y="12743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35824" y="1931000"/>
            <a:ext cx="144145" cy="127635"/>
          </a:xfrm>
          <a:custGeom>
            <a:avLst/>
            <a:gdLst/>
            <a:ahLst/>
            <a:cxnLst/>
            <a:rect l="l" t="t" r="r" b="b"/>
            <a:pathLst>
              <a:path w="144145" h="127635">
                <a:moveTo>
                  <a:pt x="0" y="127431"/>
                </a:moveTo>
                <a:lnTo>
                  <a:pt x="144043" y="127431"/>
                </a:lnTo>
                <a:lnTo>
                  <a:pt x="144043" y="0"/>
                </a:lnTo>
                <a:lnTo>
                  <a:pt x="0" y="0"/>
                </a:lnTo>
                <a:lnTo>
                  <a:pt x="0" y="12743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27850" y="1926314"/>
            <a:ext cx="262890" cy="233679"/>
          </a:xfrm>
          <a:custGeom>
            <a:avLst/>
            <a:gdLst/>
            <a:ahLst/>
            <a:cxnLst/>
            <a:rect l="l" t="t" r="r" b="b"/>
            <a:pathLst>
              <a:path w="262889" h="233680">
                <a:moveTo>
                  <a:pt x="0" y="233464"/>
                </a:moveTo>
                <a:lnTo>
                  <a:pt x="262483" y="233464"/>
                </a:lnTo>
                <a:lnTo>
                  <a:pt x="262483" y="0"/>
                </a:lnTo>
                <a:lnTo>
                  <a:pt x="0" y="0"/>
                </a:lnTo>
                <a:lnTo>
                  <a:pt x="0" y="233464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51168" y="1722987"/>
            <a:ext cx="262890" cy="233679"/>
          </a:xfrm>
          <a:custGeom>
            <a:avLst/>
            <a:gdLst/>
            <a:ahLst/>
            <a:cxnLst/>
            <a:rect l="l" t="t" r="r" b="b"/>
            <a:pathLst>
              <a:path w="262889" h="233680">
                <a:moveTo>
                  <a:pt x="0" y="233464"/>
                </a:moveTo>
                <a:lnTo>
                  <a:pt x="262483" y="233464"/>
                </a:lnTo>
                <a:lnTo>
                  <a:pt x="262483" y="0"/>
                </a:lnTo>
                <a:lnTo>
                  <a:pt x="0" y="0"/>
                </a:lnTo>
                <a:lnTo>
                  <a:pt x="0" y="233464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34378" y="1723000"/>
            <a:ext cx="262890" cy="168275"/>
          </a:xfrm>
          <a:custGeom>
            <a:avLst/>
            <a:gdLst/>
            <a:ahLst/>
            <a:cxnLst/>
            <a:rect l="l" t="t" r="r" b="b"/>
            <a:pathLst>
              <a:path w="262889" h="168275">
                <a:moveTo>
                  <a:pt x="0" y="168046"/>
                </a:moveTo>
                <a:lnTo>
                  <a:pt x="262483" y="168046"/>
                </a:lnTo>
                <a:lnTo>
                  <a:pt x="262483" y="0"/>
                </a:lnTo>
                <a:lnTo>
                  <a:pt x="0" y="0"/>
                </a:lnTo>
                <a:lnTo>
                  <a:pt x="0" y="168046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1056" y="1304687"/>
            <a:ext cx="2071116" cy="1377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24374" y="1994297"/>
            <a:ext cx="1003935" cy="0"/>
          </a:xfrm>
          <a:custGeom>
            <a:avLst/>
            <a:gdLst/>
            <a:ahLst/>
            <a:cxnLst/>
            <a:rect l="l" t="t" r="r" b="b"/>
            <a:pathLst>
              <a:path w="1003935">
                <a:moveTo>
                  <a:pt x="0" y="0"/>
                </a:moveTo>
                <a:lnTo>
                  <a:pt x="1003935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17260" y="1952387"/>
            <a:ext cx="106679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19018" y="450970"/>
            <a:ext cx="4321175" cy="7740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894"/>
              </a:spcBef>
              <a:buChar char="●"/>
              <a:tabLst>
                <a:tab pos="257810" algn="l"/>
                <a:tab pos="258445" algn="l"/>
              </a:tabLst>
            </a:pPr>
            <a:r>
              <a:rPr sz="1200" dirty="0">
                <a:latin typeface="微软雅黑"/>
                <a:cs typeface="微软雅黑"/>
              </a:rPr>
              <a:t>找出所有潜在可能包含目标</a:t>
            </a:r>
            <a:r>
              <a:rPr sz="1200" spc="-15" dirty="0">
                <a:latin typeface="微软雅黑"/>
                <a:cs typeface="微软雅黑"/>
              </a:rPr>
              <a:t>的</a:t>
            </a:r>
            <a:r>
              <a:rPr sz="1200" dirty="0">
                <a:latin typeface="微软雅黑"/>
                <a:cs typeface="微软雅黑"/>
              </a:rPr>
              <a:t>区域；</a:t>
            </a:r>
            <a:endParaRPr sz="1200">
              <a:latin typeface="微软雅黑"/>
              <a:cs typeface="微软雅黑"/>
            </a:endParaRPr>
          </a:p>
          <a:p>
            <a:pPr marL="257810" marR="5080" indent="-245110">
              <a:lnSpc>
                <a:spcPct val="150000"/>
              </a:lnSpc>
              <a:spcBef>
                <a:spcPts val="55"/>
              </a:spcBef>
              <a:buChar char="●"/>
              <a:tabLst>
                <a:tab pos="257810" algn="l"/>
                <a:tab pos="258445" algn="l"/>
              </a:tabLst>
            </a:pPr>
            <a:r>
              <a:rPr sz="1000" spc="-5" dirty="0">
                <a:latin typeface="微软雅黑"/>
                <a:cs typeface="微软雅黑"/>
              </a:rPr>
              <a:t>运行速度需要相对较快；比如，</a:t>
            </a:r>
            <a:r>
              <a:rPr sz="1000" dirty="0">
                <a:latin typeface="微软雅黑"/>
                <a:cs typeface="微软雅黑"/>
              </a:rPr>
              <a:t> </a:t>
            </a:r>
            <a:r>
              <a:rPr sz="1000" spc="-10" dirty="0">
                <a:latin typeface="微软雅黑"/>
                <a:cs typeface="微软雅黑"/>
              </a:rPr>
              <a:t>Selective</a:t>
            </a:r>
            <a:r>
              <a:rPr sz="1000" spc="-25" dirty="0">
                <a:latin typeface="微软雅黑"/>
                <a:cs typeface="微软雅黑"/>
              </a:rPr>
              <a:t> </a:t>
            </a:r>
            <a:r>
              <a:rPr sz="1000" spc="-10" dirty="0">
                <a:latin typeface="微软雅黑"/>
                <a:cs typeface="微软雅黑"/>
              </a:rPr>
              <a:t>Search</a:t>
            </a:r>
            <a:r>
              <a:rPr sz="1000" spc="-5" dirty="0">
                <a:latin typeface="微软雅黑"/>
                <a:cs typeface="微软雅黑"/>
              </a:rPr>
              <a:t>在CPU上仅需要运行几 秒钟就可以产生2000个候选区域。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32" y="2808393"/>
            <a:ext cx="2189480" cy="28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200">
              <a:lnSpc>
                <a:spcPct val="105000"/>
              </a:lnSpc>
              <a:spcBef>
                <a:spcPts val="100"/>
              </a:spcBef>
            </a:pPr>
            <a:r>
              <a:rPr sz="400" spc="-15" dirty="0">
                <a:latin typeface="Arial"/>
                <a:cs typeface="Arial"/>
              </a:rPr>
              <a:t>Alexe et </a:t>
            </a:r>
            <a:r>
              <a:rPr sz="400" spc="-10" dirty="0">
                <a:latin typeface="Arial"/>
                <a:cs typeface="Arial"/>
              </a:rPr>
              <a:t>al, “Measuring the objectness </a:t>
            </a:r>
            <a:r>
              <a:rPr sz="400" spc="-15" dirty="0">
                <a:latin typeface="Arial"/>
                <a:cs typeface="Arial"/>
              </a:rPr>
              <a:t>of image </a:t>
            </a:r>
            <a:r>
              <a:rPr sz="400" spc="-10" dirty="0">
                <a:latin typeface="Arial"/>
                <a:cs typeface="Arial"/>
              </a:rPr>
              <a:t>windows”, </a:t>
            </a:r>
            <a:r>
              <a:rPr sz="400" spc="-15" dirty="0">
                <a:latin typeface="Arial"/>
                <a:cs typeface="Arial"/>
              </a:rPr>
              <a:t>TPAMI </a:t>
            </a:r>
            <a:r>
              <a:rPr sz="400" spc="-10" dirty="0">
                <a:latin typeface="Arial"/>
                <a:cs typeface="Arial"/>
              </a:rPr>
              <a:t>2012  Uijlings </a:t>
            </a:r>
            <a:r>
              <a:rPr sz="400" spc="-15" dirty="0">
                <a:latin typeface="Arial"/>
                <a:cs typeface="Arial"/>
              </a:rPr>
              <a:t>et </a:t>
            </a:r>
            <a:r>
              <a:rPr sz="400" spc="-10" dirty="0">
                <a:latin typeface="Arial"/>
                <a:cs typeface="Arial"/>
              </a:rPr>
              <a:t>al, “Selective Search for Object Recognition”, </a:t>
            </a:r>
            <a:r>
              <a:rPr sz="400" spc="-5" dirty="0">
                <a:latin typeface="Arial"/>
                <a:cs typeface="Arial"/>
              </a:rPr>
              <a:t>IJCV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2013</a:t>
            </a:r>
            <a:endParaRPr sz="400">
              <a:latin typeface="Arial"/>
              <a:cs typeface="Arial"/>
            </a:endParaRPr>
          </a:p>
          <a:p>
            <a:pPr marL="12700" marR="5080">
              <a:lnSpc>
                <a:spcPts val="500"/>
              </a:lnSpc>
              <a:spcBef>
                <a:spcPts val="10"/>
              </a:spcBef>
            </a:pPr>
            <a:r>
              <a:rPr sz="400" spc="-10" dirty="0">
                <a:latin typeface="Arial"/>
                <a:cs typeface="Arial"/>
              </a:rPr>
              <a:t>Cheng </a:t>
            </a:r>
            <a:r>
              <a:rPr sz="400" spc="-15" dirty="0">
                <a:latin typeface="Arial"/>
                <a:cs typeface="Arial"/>
              </a:rPr>
              <a:t>et </a:t>
            </a:r>
            <a:r>
              <a:rPr sz="400" spc="-10" dirty="0">
                <a:latin typeface="Arial"/>
                <a:cs typeface="Arial"/>
              </a:rPr>
              <a:t>al, </a:t>
            </a:r>
            <a:r>
              <a:rPr sz="400" spc="-5" dirty="0">
                <a:latin typeface="Arial"/>
                <a:cs typeface="Arial"/>
              </a:rPr>
              <a:t>“BING: </a:t>
            </a:r>
            <a:r>
              <a:rPr sz="400" spc="-10" dirty="0">
                <a:latin typeface="Arial"/>
                <a:cs typeface="Arial"/>
              </a:rPr>
              <a:t>Binarized </a:t>
            </a:r>
            <a:r>
              <a:rPr sz="400" spc="-15" dirty="0">
                <a:latin typeface="Arial"/>
                <a:cs typeface="Arial"/>
              </a:rPr>
              <a:t>normed </a:t>
            </a:r>
            <a:r>
              <a:rPr sz="400" spc="-10" dirty="0">
                <a:latin typeface="Arial"/>
                <a:cs typeface="Arial"/>
              </a:rPr>
              <a:t>gradients for objectness </a:t>
            </a:r>
            <a:r>
              <a:rPr sz="400" spc="-15" dirty="0">
                <a:latin typeface="Arial"/>
                <a:cs typeface="Arial"/>
              </a:rPr>
              <a:t>estimation at </a:t>
            </a:r>
            <a:r>
              <a:rPr sz="400" spc="-5" dirty="0">
                <a:latin typeface="Arial"/>
                <a:cs typeface="Arial"/>
              </a:rPr>
              <a:t>300fps”, CVPR </a:t>
            </a:r>
            <a:r>
              <a:rPr sz="400" spc="-10" dirty="0">
                <a:latin typeface="Arial"/>
                <a:cs typeface="Arial"/>
              </a:rPr>
              <a:t>2014  </a:t>
            </a:r>
            <a:r>
              <a:rPr sz="400" spc="-5" dirty="0">
                <a:latin typeface="Arial"/>
                <a:cs typeface="Arial"/>
              </a:rPr>
              <a:t>Zitnick </a:t>
            </a:r>
            <a:r>
              <a:rPr sz="400" spc="-15" dirty="0">
                <a:latin typeface="Arial"/>
                <a:cs typeface="Arial"/>
              </a:rPr>
              <a:t>and </a:t>
            </a:r>
            <a:r>
              <a:rPr sz="400" spc="-20" dirty="0">
                <a:latin typeface="Arial"/>
                <a:cs typeface="Arial"/>
              </a:rPr>
              <a:t>Dollar, </a:t>
            </a:r>
            <a:r>
              <a:rPr sz="400" spc="-5" dirty="0">
                <a:latin typeface="Arial"/>
                <a:cs typeface="Arial"/>
              </a:rPr>
              <a:t>“Edge </a:t>
            </a:r>
            <a:r>
              <a:rPr sz="400" spc="-15" dirty="0">
                <a:latin typeface="Arial"/>
                <a:cs typeface="Arial"/>
              </a:rPr>
              <a:t>boxes: </a:t>
            </a:r>
            <a:r>
              <a:rPr sz="400" spc="-10" dirty="0">
                <a:latin typeface="Arial"/>
                <a:cs typeface="Arial"/>
              </a:rPr>
              <a:t>Locating object proposals from edges”, </a:t>
            </a:r>
            <a:r>
              <a:rPr sz="400" spc="-5" dirty="0">
                <a:latin typeface="Arial"/>
                <a:cs typeface="Arial"/>
              </a:rPr>
              <a:t>ECCV</a:t>
            </a:r>
            <a:r>
              <a:rPr sz="400" spc="8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2014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764915" y="2210688"/>
            <a:ext cx="2400300" cy="81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4915" y="2210688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19" y="2955926"/>
            <a:ext cx="559307" cy="97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13347" y="2806064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4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764916" y="2188607"/>
            <a:ext cx="2400300" cy="810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4916" y="2188607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20" y="2933843"/>
            <a:ext cx="559307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7544" y="2232803"/>
            <a:ext cx="1214755" cy="519430"/>
          </a:xfrm>
          <a:custGeom>
            <a:avLst/>
            <a:gdLst/>
            <a:ahLst/>
            <a:cxnLst/>
            <a:rect l="l" t="t" r="r" b="b"/>
            <a:pathLst>
              <a:path w="1214755" h="519430">
                <a:moveTo>
                  <a:pt x="1214501" y="0"/>
                </a:moveTo>
                <a:lnTo>
                  <a:pt x="480187" y="0"/>
                </a:lnTo>
                <a:lnTo>
                  <a:pt x="0" y="519302"/>
                </a:lnTo>
                <a:lnTo>
                  <a:pt x="734187" y="519302"/>
                </a:lnTo>
                <a:lnTo>
                  <a:pt x="1214501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7544" y="2232803"/>
            <a:ext cx="1214755" cy="519430"/>
          </a:xfrm>
          <a:custGeom>
            <a:avLst/>
            <a:gdLst/>
            <a:ahLst/>
            <a:cxnLst/>
            <a:rect l="l" t="t" r="r" b="b"/>
            <a:pathLst>
              <a:path w="1214755" h="519430">
                <a:moveTo>
                  <a:pt x="0" y="519302"/>
                </a:moveTo>
                <a:lnTo>
                  <a:pt x="480187" y="0"/>
                </a:lnTo>
                <a:lnTo>
                  <a:pt x="1214501" y="0"/>
                </a:lnTo>
                <a:lnTo>
                  <a:pt x="734187" y="519302"/>
                </a:lnTo>
                <a:lnTo>
                  <a:pt x="0" y="519302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2172" y="2241947"/>
            <a:ext cx="582295" cy="214629"/>
          </a:xfrm>
          <a:custGeom>
            <a:avLst/>
            <a:gdLst/>
            <a:ahLst/>
            <a:cxnLst/>
            <a:rect l="l" t="t" r="r" b="b"/>
            <a:pathLst>
              <a:path w="582294" h="214630">
                <a:moveTo>
                  <a:pt x="582167" y="0"/>
                </a:moveTo>
                <a:lnTo>
                  <a:pt x="198119" y="0"/>
                </a:lnTo>
                <a:lnTo>
                  <a:pt x="0" y="214629"/>
                </a:lnTo>
                <a:lnTo>
                  <a:pt x="384048" y="214629"/>
                </a:lnTo>
                <a:lnTo>
                  <a:pt x="582167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32172" y="2241947"/>
            <a:ext cx="582295" cy="214629"/>
          </a:xfrm>
          <a:custGeom>
            <a:avLst/>
            <a:gdLst/>
            <a:ahLst/>
            <a:cxnLst/>
            <a:rect l="l" t="t" r="r" b="b"/>
            <a:pathLst>
              <a:path w="582294" h="214630">
                <a:moveTo>
                  <a:pt x="0" y="214629"/>
                </a:moveTo>
                <a:lnTo>
                  <a:pt x="198119" y="0"/>
                </a:lnTo>
                <a:lnTo>
                  <a:pt x="582167" y="0"/>
                </a:lnTo>
                <a:lnTo>
                  <a:pt x="384048" y="214629"/>
                </a:lnTo>
                <a:lnTo>
                  <a:pt x="0" y="214629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9968" y="2656475"/>
            <a:ext cx="563880" cy="334010"/>
          </a:xfrm>
          <a:custGeom>
            <a:avLst/>
            <a:gdLst/>
            <a:ahLst/>
            <a:cxnLst/>
            <a:rect l="l" t="t" r="r" b="b"/>
            <a:pathLst>
              <a:path w="563880" h="334010">
                <a:moveTo>
                  <a:pt x="563626" y="0"/>
                </a:moveTo>
                <a:lnTo>
                  <a:pt x="307594" y="0"/>
                </a:lnTo>
                <a:lnTo>
                  <a:pt x="0" y="333629"/>
                </a:lnTo>
                <a:lnTo>
                  <a:pt x="256159" y="333629"/>
                </a:lnTo>
                <a:lnTo>
                  <a:pt x="563626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9968" y="2656475"/>
            <a:ext cx="563880" cy="334010"/>
          </a:xfrm>
          <a:custGeom>
            <a:avLst/>
            <a:gdLst/>
            <a:ahLst/>
            <a:cxnLst/>
            <a:rect l="l" t="t" r="r" b="b"/>
            <a:pathLst>
              <a:path w="563880" h="334010">
                <a:moveTo>
                  <a:pt x="0" y="333629"/>
                </a:moveTo>
                <a:lnTo>
                  <a:pt x="307594" y="0"/>
                </a:lnTo>
                <a:lnTo>
                  <a:pt x="563626" y="0"/>
                </a:lnTo>
                <a:lnTo>
                  <a:pt x="256159" y="333629"/>
                </a:lnTo>
                <a:lnTo>
                  <a:pt x="0" y="333629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80228" y="2316623"/>
            <a:ext cx="384175" cy="0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383794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16220" y="228919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97832" y="2316623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6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33824" y="2481216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76396" y="2319671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3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13912" y="2825639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13348" y="2783348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61557" y="2095770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5" y="2210688"/>
            <a:ext cx="2400300" cy="81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5" y="2210688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19" y="2955926"/>
            <a:ext cx="559307" cy="97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5" y="1724532"/>
            <a:ext cx="3592067" cy="1290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1" y="2338704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7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503298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5" y="2341752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2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1" y="2847720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13347" y="2806064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37961" y="1713356"/>
            <a:ext cx="1149350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  <a:p>
            <a:pPr marL="335915" marR="5080" algn="just">
              <a:lnSpc>
                <a:spcPct val="100000"/>
              </a:lnSpc>
              <a:spcBef>
                <a:spcPts val="103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6" y="2188607"/>
            <a:ext cx="2400300" cy="810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6" y="2188607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20" y="2933843"/>
            <a:ext cx="559307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6" y="728615"/>
            <a:ext cx="3592067" cy="2264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2" y="2316623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6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481216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6" y="2319671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3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2" y="2825639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13348" y="2783348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47512" y="938927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03672" y="949087"/>
            <a:ext cx="1394460" cy="158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971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将图像区域送入 卷积网络进行特 征提取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46355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  <a:p>
            <a:pPr marL="370205" marR="215900" algn="just">
              <a:lnSpc>
                <a:spcPct val="100000"/>
              </a:lnSpc>
              <a:spcBef>
                <a:spcPts val="103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5" y="2210688"/>
            <a:ext cx="2400300" cy="81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5" y="2210688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19" y="2955926"/>
            <a:ext cx="559307" cy="97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5" y="496188"/>
            <a:ext cx="3592067" cy="2519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1" y="2338704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7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503298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5" y="2341752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2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1" y="2847720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13347" y="2806064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47511" y="961008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19"/>
                </a:moveTo>
                <a:lnTo>
                  <a:pt x="902208" y="464819"/>
                </a:lnTo>
                <a:lnTo>
                  <a:pt x="902208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47511" y="392556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03671" y="471042"/>
            <a:ext cx="1394460" cy="208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971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使用支持向量机 对区域进行分类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289560" marR="297180" algn="just">
              <a:lnSpc>
                <a:spcPct val="100000"/>
              </a:lnSpc>
            </a:pPr>
            <a:r>
              <a:rPr sz="900" dirty="0">
                <a:latin typeface="微软雅黑"/>
                <a:cs typeface="微软雅黑"/>
              </a:rPr>
              <a:t>将图像区域送入 卷积网络进行特 征提取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46355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  <a:p>
            <a:pPr marL="370205" marR="215900" algn="just">
              <a:lnSpc>
                <a:spcPct val="100000"/>
              </a:lnSpc>
              <a:spcBef>
                <a:spcPts val="103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6" y="2188607"/>
            <a:ext cx="2400300" cy="810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6" y="2188607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20" y="2933843"/>
            <a:ext cx="559307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6" y="474107"/>
            <a:ext cx="3592067" cy="2519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2" y="2316623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6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481216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6" y="2319671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3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2" y="2825639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960" y="919115"/>
            <a:ext cx="682752" cy="3749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34664" y="667655"/>
            <a:ext cx="665988" cy="3764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3656" y="474107"/>
            <a:ext cx="595883" cy="3764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57724" y="199787"/>
            <a:ext cx="3275076" cy="1188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13348" y="2783348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47512" y="938927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47512" y="370475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03672" y="448326"/>
            <a:ext cx="1394460" cy="208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971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使用支持向量机 对区域进行分类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289560" marR="297180" algn="just">
              <a:lnSpc>
                <a:spcPct val="100000"/>
              </a:lnSpc>
            </a:pPr>
            <a:r>
              <a:rPr sz="900" dirty="0">
                <a:latin typeface="微软雅黑"/>
                <a:cs typeface="微软雅黑"/>
              </a:rPr>
              <a:t>将图像区域送入 卷积网络进行特 征提取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46355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  <a:p>
            <a:pPr marL="370205" marR="215900" algn="just">
              <a:lnSpc>
                <a:spcPct val="100000"/>
              </a:lnSpc>
              <a:spcBef>
                <a:spcPts val="103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85851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5" dirty="0">
                <a:latin typeface="微软雅黑"/>
                <a:cs typeface="微软雅黑"/>
              </a:rPr>
              <a:t>R</a:t>
            </a:r>
            <a:r>
              <a:rPr b="1" spc="10" dirty="0">
                <a:latin typeface="微软雅黑"/>
                <a:cs typeface="微软雅黑"/>
              </a:rPr>
              <a:t>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7" y="1890648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5" y="2210688"/>
            <a:ext cx="2400300" cy="81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5" y="2210688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19" y="2955926"/>
            <a:ext cx="559307" cy="97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5" y="496188"/>
            <a:ext cx="3592067" cy="2519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1" y="2338704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7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503298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5" y="2341752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2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1" y="2847720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959" y="941196"/>
            <a:ext cx="682752" cy="3749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34663" y="689736"/>
            <a:ext cx="665988" cy="3764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3655" y="496188"/>
            <a:ext cx="595883" cy="3764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57724" y="221868"/>
            <a:ext cx="3275076" cy="1188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13347" y="2806064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1557" y="2118486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03671" y="1634616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19"/>
                </a:moveTo>
                <a:lnTo>
                  <a:pt x="1394460" y="464819"/>
                </a:lnTo>
                <a:lnTo>
                  <a:pt x="1394460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03671" y="1713356"/>
            <a:ext cx="139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46355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47511" y="961008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19"/>
                </a:moveTo>
                <a:lnTo>
                  <a:pt x="902208" y="464819"/>
                </a:lnTo>
                <a:lnTo>
                  <a:pt x="902208" y="0"/>
                </a:lnTo>
                <a:lnTo>
                  <a:pt x="0" y="0"/>
                </a:lnTo>
                <a:lnTo>
                  <a:pt x="0" y="464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81166" y="971803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将图像区域送入 卷积网络进行特 征提取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47511" y="392556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81166" y="471042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使用支持向量机 对区域进行分类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13091" y="509676"/>
            <a:ext cx="130746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CC0000"/>
                </a:solidFill>
                <a:latin typeface="微软雅黑"/>
                <a:cs typeface="微软雅黑"/>
              </a:rPr>
              <a:t>问题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:计算效率低下!</a:t>
            </a:r>
            <a:r>
              <a:rPr sz="1000" spc="-45" dirty="0">
                <a:solidFill>
                  <a:srgbClr val="CC0000"/>
                </a:solidFill>
                <a:latin typeface="微软雅黑"/>
                <a:cs typeface="微软雅黑"/>
              </a:rPr>
              <a:t> 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每 一张图像大约有2</a:t>
            </a:r>
            <a:r>
              <a:rPr sz="1000" spc="-10" dirty="0">
                <a:solidFill>
                  <a:srgbClr val="CC0000"/>
                </a:solidFill>
                <a:latin typeface="微软雅黑"/>
                <a:cs typeface="微软雅黑"/>
              </a:rPr>
              <a:t>k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个区 域需要卷积网络进行特 征提取，重叠区域反复 计算。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13091" y="1893468"/>
            <a:ext cx="12903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微软雅黑"/>
                <a:cs typeface="微软雅黑"/>
              </a:rPr>
              <a:t>想法：在特征图上进行 区域扣取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18770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“慢速”</a:t>
            </a:r>
            <a:r>
              <a:rPr b="1" spc="-9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R-CNN</a:t>
            </a:r>
          </a:p>
        </p:txBody>
      </p:sp>
      <p:sp>
        <p:nvSpPr>
          <p:cNvPr id="3" name="object 3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394462" y="0"/>
                </a:moveTo>
                <a:lnTo>
                  <a:pt x="117475" y="0"/>
                </a:lnTo>
                <a:lnTo>
                  <a:pt x="0" y="127635"/>
                </a:lnTo>
                <a:lnTo>
                  <a:pt x="276987" y="127635"/>
                </a:lnTo>
                <a:lnTo>
                  <a:pt x="394462" y="0"/>
                </a:lnTo>
                <a:close/>
              </a:path>
            </a:pathLst>
          </a:custGeom>
          <a:solidFill>
            <a:srgbClr val="E6E6E6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5788" y="1868567"/>
            <a:ext cx="394970" cy="127635"/>
          </a:xfrm>
          <a:custGeom>
            <a:avLst/>
            <a:gdLst/>
            <a:ahLst/>
            <a:cxnLst/>
            <a:rect l="l" t="t" r="r" b="b"/>
            <a:pathLst>
              <a:path w="394969" h="127635">
                <a:moveTo>
                  <a:pt x="0" y="127635"/>
                </a:moveTo>
                <a:lnTo>
                  <a:pt x="117475" y="0"/>
                </a:lnTo>
                <a:lnTo>
                  <a:pt x="394462" y="0"/>
                </a:lnTo>
                <a:lnTo>
                  <a:pt x="276987" y="127635"/>
                </a:lnTo>
                <a:lnTo>
                  <a:pt x="0" y="127635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916" y="2188607"/>
            <a:ext cx="2400300" cy="810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916" y="2188607"/>
            <a:ext cx="2402205" cy="812165"/>
          </a:xfrm>
          <a:custGeom>
            <a:avLst/>
            <a:gdLst/>
            <a:ahLst/>
            <a:cxnLst/>
            <a:rect l="l" t="t" r="r" b="b"/>
            <a:pathLst>
              <a:path w="2402205" h="812164">
                <a:moveTo>
                  <a:pt x="0" y="811911"/>
                </a:moveTo>
                <a:lnTo>
                  <a:pt x="749554" y="0"/>
                </a:lnTo>
                <a:lnTo>
                  <a:pt x="2401697" y="0"/>
                </a:lnTo>
                <a:lnTo>
                  <a:pt x="1652142" y="811911"/>
                </a:lnTo>
                <a:lnTo>
                  <a:pt x="0" y="81191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7620" y="2933843"/>
            <a:ext cx="559307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396" y="474107"/>
            <a:ext cx="3592067" cy="2519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832" y="2316623"/>
            <a:ext cx="1266825" cy="192405"/>
          </a:xfrm>
          <a:custGeom>
            <a:avLst/>
            <a:gdLst/>
            <a:ahLst/>
            <a:cxnLst/>
            <a:rect l="l" t="t" r="r" b="b"/>
            <a:pathLst>
              <a:path w="1266825" h="192405">
                <a:moveTo>
                  <a:pt x="1266317" y="0"/>
                </a:moveTo>
                <a:lnTo>
                  <a:pt x="0" y="191896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24" y="2481216"/>
            <a:ext cx="73151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6396" y="2319671"/>
            <a:ext cx="2071370" cy="533400"/>
          </a:xfrm>
          <a:custGeom>
            <a:avLst/>
            <a:gdLst/>
            <a:ahLst/>
            <a:cxnLst/>
            <a:rect l="l" t="t" r="r" b="b"/>
            <a:pathLst>
              <a:path w="2071370" h="533400">
                <a:moveTo>
                  <a:pt x="2070862" y="0"/>
                </a:moveTo>
                <a:lnTo>
                  <a:pt x="0" y="533273"/>
                </a:lnTo>
              </a:path>
            </a:pathLst>
          </a:custGeom>
          <a:ln w="9524">
            <a:solidFill>
              <a:srgbClr val="C74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3912" y="2825639"/>
            <a:ext cx="73151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960" y="919115"/>
            <a:ext cx="682752" cy="3749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34664" y="667655"/>
            <a:ext cx="665988" cy="3764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3656" y="474107"/>
            <a:ext cx="595883" cy="3764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57724" y="199787"/>
            <a:ext cx="3275076" cy="1188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13348" y="2783348"/>
            <a:ext cx="2256790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04775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2014.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</a:t>
            </a:r>
            <a:r>
              <a:rPr sz="500" spc="10" dirty="0">
                <a:latin typeface="Arial"/>
                <a:cs typeface="Arial"/>
              </a:rPr>
              <a:t>Ross Girshick, </a:t>
            </a:r>
            <a:r>
              <a:rPr sz="500" spc="5" dirty="0">
                <a:latin typeface="Arial"/>
                <a:cs typeface="Arial"/>
              </a:rPr>
              <a:t>2015; 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r>
              <a:rPr sz="500" spc="5" dirty="0">
                <a:latin typeface="Arial"/>
                <a:cs typeface="Arial"/>
              </a:rPr>
              <a:t>. </a:t>
            </a:r>
            <a:r>
              <a:rPr sz="500" spc="10" dirty="0">
                <a:latin typeface="Arial"/>
                <a:cs typeface="Arial"/>
              </a:rPr>
              <a:t>Reproduced 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permission.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1557" y="2095770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03672" y="1612535"/>
            <a:ext cx="1394460" cy="464820"/>
          </a:xfrm>
          <a:custGeom>
            <a:avLst/>
            <a:gdLst/>
            <a:ahLst/>
            <a:cxnLst/>
            <a:rect l="l" t="t" r="r" b="b"/>
            <a:pathLst>
              <a:path w="1394460" h="464819">
                <a:moveTo>
                  <a:pt x="0" y="464820"/>
                </a:moveTo>
                <a:lnTo>
                  <a:pt x="1394460" y="464820"/>
                </a:lnTo>
                <a:lnTo>
                  <a:pt x="1394460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03672" y="1690640"/>
            <a:ext cx="139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对区域进行缩放</a:t>
            </a:r>
            <a:endParaRPr sz="900">
              <a:latin typeface="微软雅黑"/>
              <a:cs typeface="微软雅黑"/>
            </a:endParaRPr>
          </a:p>
          <a:p>
            <a:pPr marL="46355">
              <a:lnSpc>
                <a:spcPct val="100000"/>
              </a:lnSpc>
            </a:pPr>
            <a:r>
              <a:rPr sz="900" spc="-5" dirty="0">
                <a:latin typeface="微软雅黑"/>
                <a:cs typeface="微软雅黑"/>
              </a:rPr>
              <a:t>（224x224）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47512" y="938927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81167" y="949087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将图像区域送入 卷积网络进行特 征提取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47512" y="370475"/>
            <a:ext cx="902335" cy="464820"/>
          </a:xfrm>
          <a:custGeom>
            <a:avLst/>
            <a:gdLst/>
            <a:ahLst/>
            <a:cxnLst/>
            <a:rect l="l" t="t" r="r" b="b"/>
            <a:pathLst>
              <a:path w="902335" h="464819">
                <a:moveTo>
                  <a:pt x="0" y="464820"/>
                </a:moveTo>
                <a:lnTo>
                  <a:pt x="902208" y="464820"/>
                </a:lnTo>
                <a:lnTo>
                  <a:pt x="902208" y="0"/>
                </a:lnTo>
                <a:lnTo>
                  <a:pt x="0" y="0"/>
                </a:lnTo>
                <a:lnTo>
                  <a:pt x="0" y="46482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81167" y="448326"/>
            <a:ext cx="82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使用支持向量机 对区域进行分类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13092" y="486705"/>
            <a:ext cx="130746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CC0000"/>
                </a:solidFill>
                <a:latin typeface="微软雅黑"/>
                <a:cs typeface="微软雅黑"/>
              </a:rPr>
              <a:t>问题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:计算效率低下!</a:t>
            </a:r>
            <a:r>
              <a:rPr sz="1000" spc="-45" dirty="0">
                <a:solidFill>
                  <a:srgbClr val="CC0000"/>
                </a:solidFill>
                <a:latin typeface="微软雅黑"/>
                <a:cs typeface="微软雅黑"/>
              </a:rPr>
              <a:t> 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每 一张图像大约有2</a:t>
            </a:r>
            <a:r>
              <a:rPr sz="1000" spc="-10" dirty="0">
                <a:solidFill>
                  <a:srgbClr val="CC0000"/>
                </a:solidFill>
                <a:latin typeface="微软雅黑"/>
                <a:cs typeface="微软雅黑"/>
              </a:rPr>
              <a:t>k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个区 域需要卷积网络进行特 征提取，重叠区域反复 计算。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13092" y="1870751"/>
            <a:ext cx="12903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微软雅黑"/>
                <a:cs typeface="微软雅黑"/>
              </a:rPr>
              <a:t>想法：在特征图上进行 区域扣取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6004" y="1732931"/>
            <a:ext cx="476884" cy="1069975"/>
          </a:xfrm>
          <a:custGeom>
            <a:avLst/>
            <a:gdLst/>
            <a:ahLst/>
            <a:cxnLst/>
            <a:rect l="l" t="t" r="r" b="b"/>
            <a:pathLst>
              <a:path w="476884" h="1069975">
                <a:moveTo>
                  <a:pt x="373545" y="0"/>
                </a:moveTo>
                <a:lnTo>
                  <a:pt x="370712" y="1016"/>
                </a:lnTo>
                <a:lnTo>
                  <a:pt x="368719" y="1777"/>
                </a:lnTo>
                <a:lnTo>
                  <a:pt x="366725" y="2667"/>
                </a:lnTo>
                <a:lnTo>
                  <a:pt x="364743" y="3428"/>
                </a:lnTo>
                <a:lnTo>
                  <a:pt x="298513" y="35559"/>
                </a:lnTo>
                <a:lnTo>
                  <a:pt x="239369" y="74422"/>
                </a:lnTo>
                <a:lnTo>
                  <a:pt x="184378" y="120523"/>
                </a:lnTo>
                <a:lnTo>
                  <a:pt x="136385" y="170942"/>
                </a:lnTo>
                <a:lnTo>
                  <a:pt x="95707" y="223900"/>
                </a:lnTo>
                <a:lnTo>
                  <a:pt x="61112" y="280670"/>
                </a:lnTo>
                <a:lnTo>
                  <a:pt x="33464" y="340613"/>
                </a:lnTo>
                <a:lnTo>
                  <a:pt x="13550" y="402717"/>
                </a:lnTo>
                <a:lnTo>
                  <a:pt x="2197" y="466471"/>
                </a:lnTo>
                <a:lnTo>
                  <a:pt x="0" y="498601"/>
                </a:lnTo>
                <a:lnTo>
                  <a:pt x="241" y="530986"/>
                </a:lnTo>
                <a:lnTo>
                  <a:pt x="8242" y="595376"/>
                </a:lnTo>
                <a:lnTo>
                  <a:pt x="25692" y="659129"/>
                </a:lnTo>
                <a:lnTo>
                  <a:pt x="51841" y="721232"/>
                </a:lnTo>
                <a:lnTo>
                  <a:pt x="85966" y="781176"/>
                </a:lnTo>
                <a:lnTo>
                  <a:pt x="127292" y="837946"/>
                </a:lnTo>
                <a:lnTo>
                  <a:pt x="175082" y="891031"/>
                </a:lnTo>
                <a:lnTo>
                  <a:pt x="226593" y="937767"/>
                </a:lnTo>
                <a:lnTo>
                  <a:pt x="280568" y="978153"/>
                </a:lnTo>
                <a:lnTo>
                  <a:pt x="338264" y="1013332"/>
                </a:lnTo>
                <a:lnTo>
                  <a:pt x="399046" y="1042669"/>
                </a:lnTo>
                <a:lnTo>
                  <a:pt x="454304" y="1063116"/>
                </a:lnTo>
                <a:lnTo>
                  <a:pt x="468376" y="1067307"/>
                </a:lnTo>
                <a:lnTo>
                  <a:pt x="470725" y="1068069"/>
                </a:lnTo>
                <a:lnTo>
                  <a:pt x="473074" y="1068704"/>
                </a:lnTo>
                <a:lnTo>
                  <a:pt x="475437" y="1069339"/>
                </a:lnTo>
                <a:lnTo>
                  <a:pt x="476630" y="106972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9572" y="1679591"/>
            <a:ext cx="146303" cy="1082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4728" y="2747915"/>
            <a:ext cx="144780" cy="1082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786" y="220090"/>
            <a:ext cx="1310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3" name="object 3"/>
          <p:cNvSpPr/>
          <p:nvPr/>
        </p:nvSpPr>
        <p:spPr>
          <a:xfrm>
            <a:off x="4200011" y="1166748"/>
            <a:ext cx="1737360" cy="1831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59218" y="993775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8903" y="2241168"/>
            <a:ext cx="2333244" cy="77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8903" y="2241168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4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4"/>
                </a:lnTo>
                <a:lnTo>
                  <a:pt x="0" y="772414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50687" y="2678558"/>
            <a:ext cx="720851" cy="126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131" y="3049015"/>
            <a:ext cx="39846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5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4" y="2219087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4" y="2219087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3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3"/>
                </a:lnTo>
                <a:lnTo>
                  <a:pt x="0" y="772413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60" y="2065189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2" y="1831991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2"/>
                </a:lnTo>
                <a:lnTo>
                  <a:pt x="0" y="932434"/>
                </a:lnTo>
                <a:lnTo>
                  <a:pt x="233171" y="699389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2"/>
                </a:lnTo>
                <a:lnTo>
                  <a:pt x="1124584" y="233172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60" y="1831991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2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9"/>
                </a:lnTo>
                <a:lnTo>
                  <a:pt x="1124584" y="932434"/>
                </a:lnTo>
                <a:lnTo>
                  <a:pt x="0" y="932434"/>
                </a:lnTo>
                <a:lnTo>
                  <a:pt x="0" y="233172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2"/>
                </a:moveTo>
                <a:lnTo>
                  <a:pt x="1124584" y="233172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5" y="2065163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2" y="2371488"/>
            <a:ext cx="524256" cy="99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70"/>
                </a:lnTo>
                <a:lnTo>
                  <a:pt x="1145920" y="229870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70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70"/>
                </a:lnTo>
                <a:lnTo>
                  <a:pt x="0" y="229870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8" y="1659779"/>
            <a:ext cx="801624" cy="82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786" y="197120"/>
            <a:ext cx="1310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2" y="1144667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7" y="1815609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6" y="2394347"/>
            <a:ext cx="867156" cy="1249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4" y="2586371"/>
            <a:ext cx="688848" cy="117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7" y="266511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60" y="216523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04030" y="1795161"/>
            <a:ext cx="136144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59218" y="971058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132" y="3026045"/>
            <a:ext cx="3984625" cy="399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9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3" y="2241168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3" y="2241168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4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4"/>
                </a:lnTo>
                <a:lnTo>
                  <a:pt x="0" y="772414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59" y="2087270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1" y="1854072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1"/>
                </a:lnTo>
                <a:lnTo>
                  <a:pt x="0" y="932433"/>
                </a:lnTo>
                <a:lnTo>
                  <a:pt x="233171" y="699388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1"/>
                </a:lnTo>
                <a:lnTo>
                  <a:pt x="1124584" y="233171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59" y="1854072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1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8"/>
                </a:lnTo>
                <a:lnTo>
                  <a:pt x="1124584" y="932433"/>
                </a:lnTo>
                <a:lnTo>
                  <a:pt x="0" y="932433"/>
                </a:lnTo>
                <a:lnTo>
                  <a:pt x="0" y="23317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1"/>
                </a:moveTo>
                <a:lnTo>
                  <a:pt x="1124584" y="233171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4" y="2087244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1" y="2393568"/>
            <a:ext cx="524256" cy="99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69"/>
                </a:lnTo>
                <a:lnTo>
                  <a:pt x="1145920" y="229869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69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69"/>
                </a:lnTo>
                <a:lnTo>
                  <a:pt x="0" y="229869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7" y="1681862"/>
            <a:ext cx="801624" cy="822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786" y="220090"/>
            <a:ext cx="1310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1" y="1166748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6" y="1838324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5" y="2416430"/>
            <a:ext cx="867156" cy="1249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3" y="2608454"/>
            <a:ext cx="688848" cy="117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6" y="268782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59" y="218795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321" y="1376298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390144" y="0"/>
                </a:moveTo>
                <a:lnTo>
                  <a:pt x="136144" y="0"/>
                </a:lnTo>
                <a:lnTo>
                  <a:pt x="0" y="147827"/>
                </a:lnTo>
                <a:lnTo>
                  <a:pt x="254000" y="147827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0" y="147827"/>
                </a:moveTo>
                <a:lnTo>
                  <a:pt x="136144" y="0"/>
                </a:lnTo>
                <a:lnTo>
                  <a:pt x="390144" y="0"/>
                </a:lnTo>
                <a:lnTo>
                  <a:pt x="254000" y="147827"/>
                </a:lnTo>
                <a:lnTo>
                  <a:pt x="0" y="147827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388620" y="0"/>
                </a:moveTo>
                <a:lnTo>
                  <a:pt x="61722" y="0"/>
                </a:lnTo>
                <a:lnTo>
                  <a:pt x="0" y="67055"/>
                </a:lnTo>
                <a:lnTo>
                  <a:pt x="326898" y="67055"/>
                </a:lnTo>
                <a:lnTo>
                  <a:pt x="3886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0" y="67055"/>
                </a:moveTo>
                <a:lnTo>
                  <a:pt x="61722" y="0"/>
                </a:lnTo>
                <a:lnTo>
                  <a:pt x="388620" y="0"/>
                </a:lnTo>
                <a:lnTo>
                  <a:pt x="326898" y="67055"/>
                </a:lnTo>
                <a:lnTo>
                  <a:pt x="0" y="67055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90144" y="0"/>
                </a:moveTo>
                <a:lnTo>
                  <a:pt x="168020" y="0"/>
                </a:lnTo>
                <a:lnTo>
                  <a:pt x="0" y="190500"/>
                </a:lnTo>
                <a:lnTo>
                  <a:pt x="222122" y="190500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0" y="190500"/>
                </a:moveTo>
                <a:lnTo>
                  <a:pt x="168020" y="0"/>
                </a:lnTo>
                <a:lnTo>
                  <a:pt x="390144" y="0"/>
                </a:lnTo>
                <a:lnTo>
                  <a:pt x="222122" y="19050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04030" y="1817242"/>
            <a:ext cx="136144" cy="1605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4633" y="1699259"/>
            <a:ext cx="549910" cy="43180"/>
          </a:xfrm>
          <a:custGeom>
            <a:avLst/>
            <a:gdLst/>
            <a:ahLst/>
            <a:cxnLst/>
            <a:rect l="l" t="t" r="r" b="b"/>
            <a:pathLst>
              <a:path w="549910" h="43180">
                <a:moveTo>
                  <a:pt x="506857" y="0"/>
                </a:moveTo>
                <a:lnTo>
                  <a:pt x="506857" y="42925"/>
                </a:lnTo>
                <a:lnTo>
                  <a:pt x="535559" y="28575"/>
                </a:lnTo>
                <a:lnTo>
                  <a:pt x="514096" y="28575"/>
                </a:lnTo>
                <a:lnTo>
                  <a:pt x="514096" y="14350"/>
                </a:lnTo>
                <a:lnTo>
                  <a:pt x="535559" y="14350"/>
                </a:lnTo>
                <a:lnTo>
                  <a:pt x="506857" y="0"/>
                </a:lnTo>
                <a:close/>
              </a:path>
              <a:path w="549910" h="43180">
                <a:moveTo>
                  <a:pt x="5068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06857" y="28575"/>
                </a:lnTo>
                <a:lnTo>
                  <a:pt x="506857" y="14350"/>
                </a:lnTo>
                <a:close/>
              </a:path>
              <a:path w="549910" h="43180">
                <a:moveTo>
                  <a:pt x="535559" y="14350"/>
                </a:moveTo>
                <a:lnTo>
                  <a:pt x="514096" y="14350"/>
                </a:lnTo>
                <a:lnTo>
                  <a:pt x="514096" y="28575"/>
                </a:lnTo>
                <a:lnTo>
                  <a:pt x="535559" y="28575"/>
                </a:lnTo>
                <a:lnTo>
                  <a:pt x="549783" y="21462"/>
                </a:lnTo>
                <a:lnTo>
                  <a:pt x="535559" y="14350"/>
                </a:lnTo>
                <a:close/>
              </a:path>
            </a:pathLst>
          </a:custGeom>
          <a:solidFill>
            <a:srgbClr val="F69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459218" y="993775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131" y="3049015"/>
            <a:ext cx="39846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9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4" y="2219087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4" y="2219087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3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3"/>
                </a:lnTo>
                <a:lnTo>
                  <a:pt x="0" y="772413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60" y="2065189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2" y="1831991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2"/>
                </a:lnTo>
                <a:lnTo>
                  <a:pt x="0" y="932434"/>
                </a:lnTo>
                <a:lnTo>
                  <a:pt x="233171" y="699389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2"/>
                </a:lnTo>
                <a:lnTo>
                  <a:pt x="1124584" y="233172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60" y="1831991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2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9"/>
                </a:lnTo>
                <a:lnTo>
                  <a:pt x="1124584" y="932434"/>
                </a:lnTo>
                <a:lnTo>
                  <a:pt x="0" y="932434"/>
                </a:lnTo>
                <a:lnTo>
                  <a:pt x="0" y="233172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2"/>
                </a:moveTo>
                <a:lnTo>
                  <a:pt x="1124584" y="233172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5" y="2065163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2" y="2371488"/>
            <a:ext cx="524256" cy="99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70"/>
                </a:lnTo>
                <a:lnTo>
                  <a:pt x="1145920" y="229870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70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70"/>
                </a:lnTo>
                <a:lnTo>
                  <a:pt x="0" y="229870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8" y="1659779"/>
            <a:ext cx="801624" cy="82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786" y="197120"/>
            <a:ext cx="1310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2" y="1144667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7" y="1815609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6" y="2394347"/>
            <a:ext cx="867156" cy="1249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4" y="2586371"/>
            <a:ext cx="688848" cy="117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7" y="266511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60" y="216523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321" y="1353582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3942" y="1278906"/>
            <a:ext cx="798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36C09"/>
                </a:solidFill>
                <a:latin typeface="微软雅黑"/>
                <a:cs typeface="微软雅黑"/>
              </a:rPr>
              <a:t>裁剪+缩放特征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75456" y="1623203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390144" y="0"/>
                </a:moveTo>
                <a:lnTo>
                  <a:pt x="136144" y="0"/>
                </a:lnTo>
                <a:lnTo>
                  <a:pt x="0" y="147827"/>
                </a:lnTo>
                <a:lnTo>
                  <a:pt x="254000" y="147827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75456" y="1623203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0" y="147827"/>
                </a:moveTo>
                <a:lnTo>
                  <a:pt x="136144" y="0"/>
                </a:lnTo>
                <a:lnTo>
                  <a:pt x="390144" y="0"/>
                </a:lnTo>
                <a:lnTo>
                  <a:pt x="254000" y="147827"/>
                </a:lnTo>
                <a:lnTo>
                  <a:pt x="0" y="147827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99128" y="1664351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388620" y="0"/>
                </a:moveTo>
                <a:lnTo>
                  <a:pt x="61722" y="0"/>
                </a:lnTo>
                <a:lnTo>
                  <a:pt x="0" y="67055"/>
                </a:lnTo>
                <a:lnTo>
                  <a:pt x="326898" y="67055"/>
                </a:lnTo>
                <a:lnTo>
                  <a:pt x="3886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99128" y="1664351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0" y="67055"/>
                </a:moveTo>
                <a:lnTo>
                  <a:pt x="61722" y="0"/>
                </a:lnTo>
                <a:lnTo>
                  <a:pt x="388620" y="0"/>
                </a:lnTo>
                <a:lnTo>
                  <a:pt x="326898" y="67055"/>
                </a:lnTo>
                <a:lnTo>
                  <a:pt x="0" y="67055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87748" y="1580531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90144" y="0"/>
                </a:moveTo>
                <a:lnTo>
                  <a:pt x="168020" y="0"/>
                </a:lnTo>
                <a:lnTo>
                  <a:pt x="0" y="190500"/>
                </a:lnTo>
                <a:lnTo>
                  <a:pt x="222122" y="190500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7748" y="1580531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0" y="190500"/>
                </a:moveTo>
                <a:lnTo>
                  <a:pt x="168020" y="0"/>
                </a:lnTo>
                <a:lnTo>
                  <a:pt x="390144" y="0"/>
                </a:lnTo>
                <a:lnTo>
                  <a:pt x="222122" y="19050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38270" y="1507125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8414" y="1531509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61230" y="1502553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81882" y="1327293"/>
            <a:ext cx="219963" cy="154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2026" y="1341009"/>
            <a:ext cx="219963" cy="1559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203318" y="1327293"/>
            <a:ext cx="218439" cy="1544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04030" y="1795161"/>
            <a:ext cx="136144" cy="1605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94634" y="1677178"/>
            <a:ext cx="549910" cy="43180"/>
          </a:xfrm>
          <a:custGeom>
            <a:avLst/>
            <a:gdLst/>
            <a:ahLst/>
            <a:cxnLst/>
            <a:rect l="l" t="t" r="r" b="b"/>
            <a:pathLst>
              <a:path w="549910" h="43180">
                <a:moveTo>
                  <a:pt x="506857" y="0"/>
                </a:moveTo>
                <a:lnTo>
                  <a:pt x="506857" y="42925"/>
                </a:lnTo>
                <a:lnTo>
                  <a:pt x="535558" y="28575"/>
                </a:lnTo>
                <a:lnTo>
                  <a:pt x="514096" y="28575"/>
                </a:lnTo>
                <a:lnTo>
                  <a:pt x="514096" y="14350"/>
                </a:lnTo>
                <a:lnTo>
                  <a:pt x="535559" y="14350"/>
                </a:lnTo>
                <a:lnTo>
                  <a:pt x="506857" y="0"/>
                </a:lnTo>
                <a:close/>
              </a:path>
              <a:path w="549910" h="43180">
                <a:moveTo>
                  <a:pt x="5068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06857" y="28575"/>
                </a:lnTo>
                <a:lnTo>
                  <a:pt x="506857" y="14350"/>
                </a:lnTo>
                <a:close/>
              </a:path>
              <a:path w="549910" h="43180">
                <a:moveTo>
                  <a:pt x="535559" y="14350"/>
                </a:moveTo>
                <a:lnTo>
                  <a:pt x="514096" y="14350"/>
                </a:lnTo>
                <a:lnTo>
                  <a:pt x="514096" y="28575"/>
                </a:lnTo>
                <a:lnTo>
                  <a:pt x="535558" y="28575"/>
                </a:lnTo>
                <a:lnTo>
                  <a:pt x="549783" y="21462"/>
                </a:lnTo>
                <a:lnTo>
                  <a:pt x="535559" y="14350"/>
                </a:lnTo>
                <a:close/>
              </a:path>
            </a:pathLst>
          </a:custGeom>
          <a:solidFill>
            <a:srgbClr val="F69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59218" y="971058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132" y="3026045"/>
            <a:ext cx="3984625" cy="399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3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3" y="2241168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3" y="2241168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4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4"/>
                </a:lnTo>
                <a:lnTo>
                  <a:pt x="0" y="772414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59" y="2087270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1" y="1854072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1"/>
                </a:lnTo>
                <a:lnTo>
                  <a:pt x="0" y="932433"/>
                </a:lnTo>
                <a:lnTo>
                  <a:pt x="233171" y="699388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1"/>
                </a:lnTo>
                <a:lnTo>
                  <a:pt x="1124584" y="233171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59" y="1854072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1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8"/>
                </a:lnTo>
                <a:lnTo>
                  <a:pt x="1124584" y="932433"/>
                </a:lnTo>
                <a:lnTo>
                  <a:pt x="0" y="932433"/>
                </a:lnTo>
                <a:lnTo>
                  <a:pt x="0" y="23317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1"/>
                </a:moveTo>
                <a:lnTo>
                  <a:pt x="1124584" y="233171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4" y="2087244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1" y="2393568"/>
            <a:ext cx="524256" cy="99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69"/>
                </a:lnTo>
                <a:lnTo>
                  <a:pt x="1145920" y="229869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69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69"/>
                </a:lnTo>
                <a:lnTo>
                  <a:pt x="0" y="229869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7" y="1681862"/>
            <a:ext cx="801624" cy="822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786" y="220090"/>
            <a:ext cx="1310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1" y="1166748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6" y="1838324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5" y="2416430"/>
            <a:ext cx="867156" cy="1249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3" y="2608454"/>
            <a:ext cx="688848" cy="117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6" y="268782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59" y="218795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1241" y="1002283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区域分类网络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9321" y="1376298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3941" y="1301622"/>
            <a:ext cx="798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36C09"/>
                </a:solidFill>
                <a:latin typeface="微软雅黑"/>
                <a:cs typeface="微软雅黑"/>
              </a:rPr>
              <a:t>裁剪+缩放特征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390144" y="0"/>
                </a:moveTo>
                <a:lnTo>
                  <a:pt x="136144" y="0"/>
                </a:lnTo>
                <a:lnTo>
                  <a:pt x="0" y="147827"/>
                </a:lnTo>
                <a:lnTo>
                  <a:pt x="254000" y="147827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0" y="147827"/>
                </a:moveTo>
                <a:lnTo>
                  <a:pt x="136144" y="0"/>
                </a:lnTo>
                <a:lnTo>
                  <a:pt x="390144" y="0"/>
                </a:lnTo>
                <a:lnTo>
                  <a:pt x="254000" y="147827"/>
                </a:lnTo>
                <a:lnTo>
                  <a:pt x="0" y="147827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388620" y="0"/>
                </a:moveTo>
                <a:lnTo>
                  <a:pt x="61722" y="0"/>
                </a:lnTo>
                <a:lnTo>
                  <a:pt x="0" y="67055"/>
                </a:lnTo>
                <a:lnTo>
                  <a:pt x="326898" y="67055"/>
                </a:lnTo>
                <a:lnTo>
                  <a:pt x="3886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0" y="67055"/>
                </a:moveTo>
                <a:lnTo>
                  <a:pt x="61722" y="0"/>
                </a:lnTo>
                <a:lnTo>
                  <a:pt x="388620" y="0"/>
                </a:lnTo>
                <a:lnTo>
                  <a:pt x="326898" y="67055"/>
                </a:lnTo>
                <a:lnTo>
                  <a:pt x="0" y="67055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90144" y="0"/>
                </a:moveTo>
                <a:lnTo>
                  <a:pt x="168020" y="0"/>
                </a:lnTo>
                <a:lnTo>
                  <a:pt x="0" y="190500"/>
                </a:lnTo>
                <a:lnTo>
                  <a:pt x="222122" y="190500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0" y="190500"/>
                </a:moveTo>
                <a:lnTo>
                  <a:pt x="168020" y="0"/>
                </a:lnTo>
                <a:lnTo>
                  <a:pt x="390144" y="0"/>
                </a:lnTo>
                <a:lnTo>
                  <a:pt x="222122" y="19050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38269" y="1529206"/>
            <a:ext cx="98043" cy="1605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28413" y="1553590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61230" y="1524634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57395" y="1008252"/>
            <a:ext cx="640080" cy="15875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latin typeface="Calibri"/>
                <a:cs typeface="Calibri"/>
              </a:rPr>
              <a:t>FCs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28413" y="1186306"/>
            <a:ext cx="98043" cy="1590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67987" y="1186306"/>
            <a:ext cx="127507" cy="1430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60772" y="1191894"/>
            <a:ext cx="129666" cy="1389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04030" y="1817242"/>
            <a:ext cx="136144" cy="1605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4633" y="1699259"/>
            <a:ext cx="549910" cy="43180"/>
          </a:xfrm>
          <a:custGeom>
            <a:avLst/>
            <a:gdLst/>
            <a:ahLst/>
            <a:cxnLst/>
            <a:rect l="l" t="t" r="r" b="b"/>
            <a:pathLst>
              <a:path w="549910" h="43180">
                <a:moveTo>
                  <a:pt x="506857" y="0"/>
                </a:moveTo>
                <a:lnTo>
                  <a:pt x="506857" y="42925"/>
                </a:lnTo>
                <a:lnTo>
                  <a:pt x="535559" y="28575"/>
                </a:lnTo>
                <a:lnTo>
                  <a:pt x="514096" y="28575"/>
                </a:lnTo>
                <a:lnTo>
                  <a:pt x="514096" y="14350"/>
                </a:lnTo>
                <a:lnTo>
                  <a:pt x="535559" y="14350"/>
                </a:lnTo>
                <a:lnTo>
                  <a:pt x="506857" y="0"/>
                </a:lnTo>
                <a:close/>
              </a:path>
              <a:path w="549910" h="43180">
                <a:moveTo>
                  <a:pt x="5068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06857" y="28575"/>
                </a:lnTo>
                <a:lnTo>
                  <a:pt x="506857" y="14350"/>
                </a:lnTo>
                <a:close/>
              </a:path>
              <a:path w="549910" h="43180">
                <a:moveTo>
                  <a:pt x="535559" y="14350"/>
                </a:moveTo>
                <a:lnTo>
                  <a:pt x="514096" y="14350"/>
                </a:lnTo>
                <a:lnTo>
                  <a:pt x="514096" y="28575"/>
                </a:lnTo>
                <a:lnTo>
                  <a:pt x="535559" y="28575"/>
                </a:lnTo>
                <a:lnTo>
                  <a:pt x="549783" y="21462"/>
                </a:lnTo>
                <a:lnTo>
                  <a:pt x="535559" y="14350"/>
                </a:lnTo>
                <a:close/>
              </a:path>
            </a:pathLst>
          </a:custGeom>
          <a:solidFill>
            <a:srgbClr val="F69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81881" y="1349374"/>
            <a:ext cx="219963" cy="15443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72025" y="1363090"/>
            <a:ext cx="219963" cy="15595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3317" y="1349374"/>
            <a:ext cx="218439" cy="15443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59218" y="993775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131" y="3049015"/>
            <a:ext cx="39846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6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4" y="2219087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4" y="2219087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3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3"/>
                </a:lnTo>
                <a:lnTo>
                  <a:pt x="0" y="772413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60" y="2065189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2" y="1831991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2"/>
                </a:lnTo>
                <a:lnTo>
                  <a:pt x="0" y="932434"/>
                </a:lnTo>
                <a:lnTo>
                  <a:pt x="233171" y="699389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2"/>
                </a:lnTo>
                <a:lnTo>
                  <a:pt x="1124584" y="233172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60" y="1831991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2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9"/>
                </a:lnTo>
                <a:lnTo>
                  <a:pt x="1124584" y="932434"/>
                </a:lnTo>
                <a:lnTo>
                  <a:pt x="0" y="932434"/>
                </a:lnTo>
                <a:lnTo>
                  <a:pt x="0" y="233172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60" y="1831991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2"/>
                </a:moveTo>
                <a:lnTo>
                  <a:pt x="1124584" y="233172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5" y="2065163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2" y="2371488"/>
            <a:ext cx="524256" cy="99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70"/>
                </a:lnTo>
                <a:lnTo>
                  <a:pt x="1145920" y="229870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60" y="1562243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70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70"/>
                </a:lnTo>
                <a:lnTo>
                  <a:pt x="0" y="229870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8" y="1659779"/>
            <a:ext cx="801624" cy="82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2" y="1144667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7" y="1815609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6" y="2394347"/>
            <a:ext cx="867156" cy="1249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4" y="2586371"/>
            <a:ext cx="688848" cy="117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7" y="266511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60" y="2165239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1242" y="979567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区域分类网络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6900" y="480203"/>
            <a:ext cx="605155" cy="364490"/>
          </a:xfrm>
          <a:custGeom>
            <a:avLst/>
            <a:gdLst/>
            <a:ahLst/>
            <a:cxnLst/>
            <a:rect l="l" t="t" r="r" b="b"/>
            <a:pathLst>
              <a:path w="605155" h="364490">
                <a:moveTo>
                  <a:pt x="0" y="364235"/>
                </a:moveTo>
                <a:lnTo>
                  <a:pt x="605027" y="364235"/>
                </a:lnTo>
                <a:lnTo>
                  <a:pt x="605027" y="0"/>
                </a:lnTo>
                <a:lnTo>
                  <a:pt x="0" y="0"/>
                </a:lnTo>
                <a:lnTo>
                  <a:pt x="0" y="3642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55162" y="472964"/>
            <a:ext cx="2540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目标 类别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51146" y="462932"/>
            <a:ext cx="3683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边界框 偏差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321" y="1353582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23942" y="1278906"/>
            <a:ext cx="798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36C09"/>
                </a:solidFill>
                <a:latin typeface="微软雅黑"/>
                <a:cs typeface="微软雅黑"/>
              </a:rPr>
              <a:t>裁剪+缩放特征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75456" y="1623203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390144" y="0"/>
                </a:moveTo>
                <a:lnTo>
                  <a:pt x="136144" y="0"/>
                </a:lnTo>
                <a:lnTo>
                  <a:pt x="0" y="147827"/>
                </a:lnTo>
                <a:lnTo>
                  <a:pt x="254000" y="147827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5456" y="1623203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0" y="147827"/>
                </a:moveTo>
                <a:lnTo>
                  <a:pt x="136144" y="0"/>
                </a:lnTo>
                <a:lnTo>
                  <a:pt x="390144" y="0"/>
                </a:lnTo>
                <a:lnTo>
                  <a:pt x="254000" y="147827"/>
                </a:lnTo>
                <a:lnTo>
                  <a:pt x="0" y="147827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99128" y="1664351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388620" y="0"/>
                </a:moveTo>
                <a:lnTo>
                  <a:pt x="61722" y="0"/>
                </a:lnTo>
                <a:lnTo>
                  <a:pt x="0" y="67055"/>
                </a:lnTo>
                <a:lnTo>
                  <a:pt x="326898" y="67055"/>
                </a:lnTo>
                <a:lnTo>
                  <a:pt x="3886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99128" y="1664351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0" y="67055"/>
                </a:moveTo>
                <a:lnTo>
                  <a:pt x="61722" y="0"/>
                </a:lnTo>
                <a:lnTo>
                  <a:pt x="388620" y="0"/>
                </a:lnTo>
                <a:lnTo>
                  <a:pt x="326898" y="67055"/>
                </a:lnTo>
                <a:lnTo>
                  <a:pt x="0" y="67055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87748" y="1580531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90144" y="0"/>
                </a:moveTo>
                <a:lnTo>
                  <a:pt x="168020" y="0"/>
                </a:lnTo>
                <a:lnTo>
                  <a:pt x="0" y="190500"/>
                </a:lnTo>
                <a:lnTo>
                  <a:pt x="222122" y="190500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87748" y="1580531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0" y="190500"/>
                </a:moveTo>
                <a:lnTo>
                  <a:pt x="168020" y="0"/>
                </a:lnTo>
                <a:lnTo>
                  <a:pt x="390144" y="0"/>
                </a:lnTo>
                <a:lnTo>
                  <a:pt x="222122" y="19050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38270" y="1507125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28414" y="1531509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61230" y="1502553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57396" y="986171"/>
            <a:ext cx="640080" cy="15875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Calibri"/>
                <a:cs typeface="Calibri"/>
              </a:rPr>
              <a:t>FCs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28414" y="1164225"/>
            <a:ext cx="98043" cy="1590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67988" y="1164225"/>
            <a:ext cx="127507" cy="1430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60773" y="1169813"/>
            <a:ext cx="129666" cy="1389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673093" y="820182"/>
            <a:ext cx="129667" cy="1389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5249" y="818277"/>
            <a:ext cx="127381" cy="14300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17060" y="614315"/>
            <a:ext cx="399415" cy="15875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30"/>
              </a:spcBef>
            </a:pPr>
            <a:r>
              <a:rPr sz="900" spc="-5" dirty="0">
                <a:latin typeface="Calibri"/>
                <a:cs typeface="Calibri"/>
              </a:rPr>
              <a:t>Linear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6312" y="550307"/>
            <a:ext cx="512445" cy="24384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900"/>
              </a:lnSpc>
            </a:pPr>
            <a:r>
              <a:rPr sz="900" spc="-5" dirty="0">
                <a:latin typeface="Calibri"/>
                <a:cs typeface="Calibri"/>
              </a:rPr>
              <a:t>Linear</a:t>
            </a:r>
            <a:r>
              <a:rPr sz="900" spc="-7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+</a:t>
            </a:r>
            <a:endParaRPr sz="900">
              <a:latin typeface="Calibri"/>
              <a:cs typeface="Calibri"/>
            </a:endParaRPr>
          </a:p>
          <a:p>
            <a:pPr marL="71120">
              <a:lnSpc>
                <a:spcPts val="1019"/>
              </a:lnSpc>
            </a:pPr>
            <a:r>
              <a:rPr sz="900" spc="-5" dirty="0">
                <a:latin typeface="Calibri"/>
                <a:cs typeface="Calibri"/>
              </a:rPr>
              <a:t>softmax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804030" y="1795161"/>
            <a:ext cx="136144" cy="16052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4634" y="1677178"/>
            <a:ext cx="549910" cy="43180"/>
          </a:xfrm>
          <a:custGeom>
            <a:avLst/>
            <a:gdLst/>
            <a:ahLst/>
            <a:cxnLst/>
            <a:rect l="l" t="t" r="r" b="b"/>
            <a:pathLst>
              <a:path w="549910" h="43180">
                <a:moveTo>
                  <a:pt x="506857" y="0"/>
                </a:moveTo>
                <a:lnTo>
                  <a:pt x="506857" y="42925"/>
                </a:lnTo>
                <a:lnTo>
                  <a:pt x="535558" y="28575"/>
                </a:lnTo>
                <a:lnTo>
                  <a:pt x="514096" y="28575"/>
                </a:lnTo>
                <a:lnTo>
                  <a:pt x="514096" y="14350"/>
                </a:lnTo>
                <a:lnTo>
                  <a:pt x="535559" y="14350"/>
                </a:lnTo>
                <a:lnTo>
                  <a:pt x="506857" y="0"/>
                </a:lnTo>
                <a:close/>
              </a:path>
              <a:path w="549910" h="43180">
                <a:moveTo>
                  <a:pt x="5068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06857" y="28575"/>
                </a:lnTo>
                <a:lnTo>
                  <a:pt x="506857" y="14350"/>
                </a:lnTo>
                <a:close/>
              </a:path>
              <a:path w="549910" h="43180">
                <a:moveTo>
                  <a:pt x="535559" y="14350"/>
                </a:moveTo>
                <a:lnTo>
                  <a:pt x="514096" y="14350"/>
                </a:lnTo>
                <a:lnTo>
                  <a:pt x="514096" y="28575"/>
                </a:lnTo>
                <a:lnTo>
                  <a:pt x="535558" y="28575"/>
                </a:lnTo>
                <a:lnTo>
                  <a:pt x="549783" y="21462"/>
                </a:lnTo>
                <a:lnTo>
                  <a:pt x="535559" y="14350"/>
                </a:lnTo>
                <a:close/>
              </a:path>
            </a:pathLst>
          </a:custGeom>
          <a:solidFill>
            <a:srgbClr val="F69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81882" y="1327293"/>
            <a:ext cx="219963" cy="1544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72026" y="1341009"/>
            <a:ext cx="219963" cy="1559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3318" y="1327293"/>
            <a:ext cx="218439" cy="1544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459218" y="971058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132" y="3026045"/>
            <a:ext cx="3984625" cy="399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8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8903" y="2241168"/>
            <a:ext cx="2333244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8903" y="2241168"/>
            <a:ext cx="2333625" cy="772795"/>
          </a:xfrm>
          <a:custGeom>
            <a:avLst/>
            <a:gdLst/>
            <a:ahLst/>
            <a:cxnLst/>
            <a:rect l="l" t="t" r="r" b="b"/>
            <a:pathLst>
              <a:path w="2333625" h="772794">
                <a:moveTo>
                  <a:pt x="0" y="772414"/>
                </a:moveTo>
                <a:lnTo>
                  <a:pt x="713485" y="0"/>
                </a:lnTo>
                <a:lnTo>
                  <a:pt x="2333244" y="0"/>
                </a:lnTo>
                <a:lnTo>
                  <a:pt x="1619631" y="772414"/>
                </a:lnTo>
                <a:lnTo>
                  <a:pt x="0" y="772414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3159" y="2087270"/>
            <a:ext cx="1125220" cy="699770"/>
          </a:xfrm>
          <a:custGeom>
            <a:avLst/>
            <a:gdLst/>
            <a:ahLst/>
            <a:cxnLst/>
            <a:rect l="l" t="t" r="r" b="b"/>
            <a:pathLst>
              <a:path w="1125220" h="699769">
                <a:moveTo>
                  <a:pt x="0" y="699363"/>
                </a:moveTo>
                <a:lnTo>
                  <a:pt x="1124686" y="699363"/>
                </a:lnTo>
                <a:lnTo>
                  <a:pt x="1124686" y="0"/>
                </a:lnTo>
                <a:lnTo>
                  <a:pt x="0" y="0"/>
                </a:lnTo>
                <a:lnTo>
                  <a:pt x="0" y="699363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7871" y="1854072"/>
            <a:ext cx="233679" cy="932815"/>
          </a:xfrm>
          <a:custGeom>
            <a:avLst/>
            <a:gdLst/>
            <a:ahLst/>
            <a:cxnLst/>
            <a:rect l="l" t="t" r="r" b="b"/>
            <a:pathLst>
              <a:path w="233680" h="932814">
                <a:moveTo>
                  <a:pt x="233171" y="0"/>
                </a:moveTo>
                <a:lnTo>
                  <a:pt x="0" y="233171"/>
                </a:lnTo>
                <a:lnTo>
                  <a:pt x="0" y="932433"/>
                </a:lnTo>
                <a:lnTo>
                  <a:pt x="233171" y="699388"/>
                </a:lnTo>
                <a:lnTo>
                  <a:pt x="233171" y="0"/>
                </a:lnTo>
                <a:close/>
              </a:path>
            </a:pathLst>
          </a:custGeom>
          <a:solidFill>
            <a:srgbClr val="C9C9C9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1357757" y="0"/>
                </a:moveTo>
                <a:lnTo>
                  <a:pt x="233298" y="0"/>
                </a:lnTo>
                <a:lnTo>
                  <a:pt x="0" y="233171"/>
                </a:lnTo>
                <a:lnTo>
                  <a:pt x="1124584" y="233171"/>
                </a:lnTo>
                <a:lnTo>
                  <a:pt x="1357757" y="0"/>
                </a:lnTo>
                <a:close/>
              </a:path>
            </a:pathLst>
          </a:custGeom>
          <a:solidFill>
            <a:srgbClr val="FFFFFF">
              <a:alpha val="9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3159" y="1854072"/>
            <a:ext cx="1358265" cy="932815"/>
          </a:xfrm>
          <a:custGeom>
            <a:avLst/>
            <a:gdLst/>
            <a:ahLst/>
            <a:cxnLst/>
            <a:rect l="l" t="t" r="r" b="b"/>
            <a:pathLst>
              <a:path w="1358264" h="932814">
                <a:moveTo>
                  <a:pt x="0" y="233171"/>
                </a:moveTo>
                <a:lnTo>
                  <a:pt x="233298" y="0"/>
                </a:lnTo>
                <a:lnTo>
                  <a:pt x="1357757" y="0"/>
                </a:lnTo>
                <a:lnTo>
                  <a:pt x="1357757" y="699388"/>
                </a:lnTo>
                <a:lnTo>
                  <a:pt x="1124584" y="932433"/>
                </a:lnTo>
                <a:lnTo>
                  <a:pt x="0" y="932433"/>
                </a:lnTo>
                <a:lnTo>
                  <a:pt x="0" y="233171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3159" y="1854072"/>
            <a:ext cx="1358265" cy="233679"/>
          </a:xfrm>
          <a:custGeom>
            <a:avLst/>
            <a:gdLst/>
            <a:ahLst/>
            <a:cxnLst/>
            <a:rect l="l" t="t" r="r" b="b"/>
            <a:pathLst>
              <a:path w="1358264" h="233680">
                <a:moveTo>
                  <a:pt x="0" y="233171"/>
                </a:moveTo>
                <a:lnTo>
                  <a:pt x="1124584" y="233171"/>
                </a:lnTo>
                <a:lnTo>
                  <a:pt x="1357757" y="0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7744" y="2087244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262"/>
                </a:lnTo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4911" y="2393568"/>
            <a:ext cx="524256" cy="99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1357757" y="0"/>
                </a:moveTo>
                <a:lnTo>
                  <a:pt x="211835" y="0"/>
                </a:lnTo>
                <a:lnTo>
                  <a:pt x="0" y="229869"/>
                </a:lnTo>
                <a:lnTo>
                  <a:pt x="1145920" y="229869"/>
                </a:lnTo>
                <a:lnTo>
                  <a:pt x="135775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93159" y="1584324"/>
            <a:ext cx="1358265" cy="229870"/>
          </a:xfrm>
          <a:custGeom>
            <a:avLst/>
            <a:gdLst/>
            <a:ahLst/>
            <a:cxnLst/>
            <a:rect l="l" t="t" r="r" b="b"/>
            <a:pathLst>
              <a:path w="1358264" h="229869">
                <a:moveTo>
                  <a:pt x="0" y="229869"/>
                </a:moveTo>
                <a:lnTo>
                  <a:pt x="211835" y="0"/>
                </a:lnTo>
                <a:lnTo>
                  <a:pt x="1357757" y="0"/>
                </a:lnTo>
                <a:lnTo>
                  <a:pt x="1145920" y="229869"/>
                </a:lnTo>
                <a:lnTo>
                  <a:pt x="0" y="229869"/>
                </a:lnTo>
                <a:close/>
              </a:path>
            </a:pathLst>
          </a:custGeom>
          <a:ln w="6349">
            <a:solidFill>
              <a:srgbClr val="1C7D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1147" y="1681862"/>
            <a:ext cx="801624" cy="822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" dirty="0"/>
              <a:t>Fast</a:t>
            </a:r>
            <a:r>
              <a:rPr spc="-150" dirty="0"/>
              <a:t> </a:t>
            </a:r>
            <a:r>
              <a:rPr spc="10" dirty="0"/>
              <a:t>R-CNN</a:t>
            </a:r>
          </a:p>
        </p:txBody>
      </p:sp>
      <p:sp>
        <p:nvSpPr>
          <p:cNvPr id="15" name="object 15"/>
          <p:cNvSpPr/>
          <p:nvPr/>
        </p:nvSpPr>
        <p:spPr>
          <a:xfrm>
            <a:off x="4200011" y="1166748"/>
            <a:ext cx="1737360" cy="1831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33466" y="1838324"/>
            <a:ext cx="8255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利用卷积网络对 全图提取特征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355" y="2416430"/>
            <a:ext cx="867156" cy="1249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023" y="2608454"/>
            <a:ext cx="688848" cy="117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3946" y="2687827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159" y="218795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主干网络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1241" y="1002283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区域分类网络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6899" y="502284"/>
            <a:ext cx="605155" cy="364490"/>
          </a:xfrm>
          <a:custGeom>
            <a:avLst/>
            <a:gdLst/>
            <a:ahLst/>
            <a:cxnLst/>
            <a:rect l="l" t="t" r="r" b="b"/>
            <a:pathLst>
              <a:path w="605155" h="364490">
                <a:moveTo>
                  <a:pt x="0" y="364236"/>
                </a:moveTo>
                <a:lnTo>
                  <a:pt x="605027" y="364236"/>
                </a:lnTo>
                <a:lnTo>
                  <a:pt x="605027" y="0"/>
                </a:lnTo>
                <a:lnTo>
                  <a:pt x="0" y="0"/>
                </a:lnTo>
                <a:lnTo>
                  <a:pt x="0" y="364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55161" y="495681"/>
            <a:ext cx="2540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目标 类别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51146" y="485901"/>
            <a:ext cx="36830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2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边界框 偏差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321" y="1376298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利用区域建议方 法产生的感兴趣 区域</a:t>
            </a:r>
            <a:r>
              <a:rPr sz="900" spc="-5" dirty="0">
                <a:latin typeface="微软雅黑"/>
                <a:cs typeface="微软雅黑"/>
              </a:rPr>
              <a:t>（~2k）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23941" y="1301622"/>
            <a:ext cx="798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36C09"/>
                </a:solidFill>
                <a:latin typeface="微软雅黑"/>
                <a:cs typeface="微软雅黑"/>
              </a:rPr>
              <a:t>裁剪+缩放特征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390144" y="0"/>
                </a:moveTo>
                <a:lnTo>
                  <a:pt x="136144" y="0"/>
                </a:lnTo>
                <a:lnTo>
                  <a:pt x="0" y="147827"/>
                </a:lnTo>
                <a:lnTo>
                  <a:pt x="254000" y="147827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5455" y="1645284"/>
            <a:ext cx="390525" cy="147955"/>
          </a:xfrm>
          <a:custGeom>
            <a:avLst/>
            <a:gdLst/>
            <a:ahLst/>
            <a:cxnLst/>
            <a:rect l="l" t="t" r="r" b="b"/>
            <a:pathLst>
              <a:path w="390525" h="147955">
                <a:moveTo>
                  <a:pt x="0" y="147827"/>
                </a:moveTo>
                <a:lnTo>
                  <a:pt x="136144" y="0"/>
                </a:lnTo>
                <a:lnTo>
                  <a:pt x="390144" y="0"/>
                </a:lnTo>
                <a:lnTo>
                  <a:pt x="254000" y="147827"/>
                </a:lnTo>
                <a:lnTo>
                  <a:pt x="0" y="147827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388620" y="0"/>
                </a:moveTo>
                <a:lnTo>
                  <a:pt x="61722" y="0"/>
                </a:lnTo>
                <a:lnTo>
                  <a:pt x="0" y="67055"/>
                </a:lnTo>
                <a:lnTo>
                  <a:pt x="326898" y="67055"/>
                </a:lnTo>
                <a:lnTo>
                  <a:pt x="3886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99127" y="1686432"/>
            <a:ext cx="388620" cy="67310"/>
          </a:xfrm>
          <a:custGeom>
            <a:avLst/>
            <a:gdLst/>
            <a:ahLst/>
            <a:cxnLst/>
            <a:rect l="l" t="t" r="r" b="b"/>
            <a:pathLst>
              <a:path w="388619" h="67310">
                <a:moveTo>
                  <a:pt x="0" y="67055"/>
                </a:moveTo>
                <a:lnTo>
                  <a:pt x="61722" y="0"/>
                </a:lnTo>
                <a:lnTo>
                  <a:pt x="388620" y="0"/>
                </a:lnTo>
                <a:lnTo>
                  <a:pt x="326898" y="67055"/>
                </a:lnTo>
                <a:lnTo>
                  <a:pt x="0" y="67055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90144" y="0"/>
                </a:moveTo>
                <a:lnTo>
                  <a:pt x="168020" y="0"/>
                </a:lnTo>
                <a:lnTo>
                  <a:pt x="0" y="190500"/>
                </a:lnTo>
                <a:lnTo>
                  <a:pt x="222122" y="190500"/>
                </a:lnTo>
                <a:lnTo>
                  <a:pt x="390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87747" y="1602612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0" y="190500"/>
                </a:moveTo>
                <a:lnTo>
                  <a:pt x="168020" y="0"/>
                </a:lnTo>
                <a:lnTo>
                  <a:pt x="390144" y="0"/>
                </a:lnTo>
                <a:lnTo>
                  <a:pt x="222122" y="19050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4AA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38269" y="1529206"/>
            <a:ext cx="98043" cy="1605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28413" y="1553590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61230" y="1524634"/>
            <a:ext cx="98043" cy="160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57395" y="1008252"/>
            <a:ext cx="640080" cy="15875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latin typeface="Calibri"/>
                <a:cs typeface="Calibri"/>
              </a:rPr>
              <a:t>FCs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28413" y="1186306"/>
            <a:ext cx="98043" cy="1590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67987" y="1186306"/>
            <a:ext cx="127507" cy="1430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60772" y="1191894"/>
            <a:ext cx="129666" cy="1389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673092" y="842263"/>
            <a:ext cx="129667" cy="1389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5249" y="840358"/>
            <a:ext cx="127381" cy="14300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17059" y="636396"/>
            <a:ext cx="399415" cy="15875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30"/>
              </a:spcBef>
            </a:pPr>
            <a:r>
              <a:rPr sz="900" spc="-5" dirty="0">
                <a:latin typeface="Calibri"/>
                <a:cs typeface="Calibri"/>
              </a:rPr>
              <a:t>Linear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6311" y="572388"/>
            <a:ext cx="512445" cy="243840"/>
          </a:xfrm>
          <a:prstGeom prst="rect">
            <a:avLst/>
          </a:prstGeom>
          <a:ln w="12700">
            <a:solidFill>
              <a:srgbClr val="4AAC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905"/>
              </a:lnSpc>
            </a:pPr>
            <a:r>
              <a:rPr sz="900" spc="-5" dirty="0">
                <a:latin typeface="Calibri"/>
                <a:cs typeface="Calibri"/>
              </a:rPr>
              <a:t>Linear</a:t>
            </a:r>
            <a:r>
              <a:rPr sz="900" spc="-7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+</a:t>
            </a:r>
            <a:endParaRPr sz="900">
              <a:latin typeface="Calibri"/>
              <a:cs typeface="Calibri"/>
            </a:endParaRPr>
          </a:p>
          <a:p>
            <a:pPr marL="71120">
              <a:lnSpc>
                <a:spcPts val="1015"/>
              </a:lnSpc>
            </a:pPr>
            <a:r>
              <a:rPr sz="900" spc="-5" dirty="0">
                <a:latin typeface="Calibri"/>
                <a:cs typeface="Calibri"/>
              </a:rPr>
              <a:t>softmax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804030" y="1817242"/>
            <a:ext cx="136144" cy="16052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4633" y="1699259"/>
            <a:ext cx="549910" cy="43180"/>
          </a:xfrm>
          <a:custGeom>
            <a:avLst/>
            <a:gdLst/>
            <a:ahLst/>
            <a:cxnLst/>
            <a:rect l="l" t="t" r="r" b="b"/>
            <a:pathLst>
              <a:path w="549910" h="43180">
                <a:moveTo>
                  <a:pt x="506857" y="0"/>
                </a:moveTo>
                <a:lnTo>
                  <a:pt x="506857" y="42925"/>
                </a:lnTo>
                <a:lnTo>
                  <a:pt x="535559" y="28575"/>
                </a:lnTo>
                <a:lnTo>
                  <a:pt x="514096" y="28575"/>
                </a:lnTo>
                <a:lnTo>
                  <a:pt x="514096" y="14350"/>
                </a:lnTo>
                <a:lnTo>
                  <a:pt x="535559" y="14350"/>
                </a:lnTo>
                <a:lnTo>
                  <a:pt x="506857" y="0"/>
                </a:lnTo>
                <a:close/>
              </a:path>
              <a:path w="549910" h="43180">
                <a:moveTo>
                  <a:pt x="5068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06857" y="28575"/>
                </a:lnTo>
                <a:lnTo>
                  <a:pt x="506857" y="14350"/>
                </a:lnTo>
                <a:close/>
              </a:path>
              <a:path w="549910" h="43180">
                <a:moveTo>
                  <a:pt x="535559" y="14350"/>
                </a:moveTo>
                <a:lnTo>
                  <a:pt x="514096" y="14350"/>
                </a:lnTo>
                <a:lnTo>
                  <a:pt x="514096" y="28575"/>
                </a:lnTo>
                <a:lnTo>
                  <a:pt x="535559" y="28575"/>
                </a:lnTo>
                <a:lnTo>
                  <a:pt x="549783" y="21462"/>
                </a:lnTo>
                <a:lnTo>
                  <a:pt x="535559" y="14350"/>
                </a:lnTo>
                <a:close/>
              </a:path>
            </a:pathLst>
          </a:custGeom>
          <a:solidFill>
            <a:srgbClr val="F69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146677" y="1281785"/>
            <a:ext cx="1454150" cy="559435"/>
          </a:xfrm>
          <a:custGeom>
            <a:avLst/>
            <a:gdLst/>
            <a:ahLst/>
            <a:cxnLst/>
            <a:rect l="l" t="t" r="r" b="b"/>
            <a:pathLst>
              <a:path w="1454150" h="559435">
                <a:moveTo>
                  <a:pt x="0" y="559206"/>
                </a:moveTo>
                <a:lnTo>
                  <a:pt x="1453769" y="559206"/>
                </a:lnTo>
                <a:lnTo>
                  <a:pt x="1453769" y="0"/>
                </a:lnTo>
                <a:lnTo>
                  <a:pt x="0" y="0"/>
                </a:lnTo>
                <a:lnTo>
                  <a:pt x="0" y="559206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81881" y="1349374"/>
            <a:ext cx="219963" cy="15443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772025" y="1363090"/>
            <a:ext cx="219963" cy="1559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3317" y="1349374"/>
            <a:ext cx="218439" cy="1544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459218" y="993775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“慢速”</a:t>
            </a:r>
            <a:r>
              <a:rPr sz="1200" spc="-135" dirty="0">
                <a:latin typeface="微软雅黑"/>
                <a:cs typeface="微软雅黑"/>
              </a:rPr>
              <a:t> </a:t>
            </a:r>
            <a:r>
              <a:rPr sz="1200" spc="-10" dirty="0">
                <a:latin typeface="Arial"/>
                <a:cs typeface="Arial"/>
              </a:rPr>
              <a:t>R-CNN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0131" y="3049015"/>
            <a:ext cx="39846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“Fast </a:t>
            </a:r>
            <a:r>
              <a:rPr sz="400" spc="-5" dirty="0">
                <a:latin typeface="Arial"/>
                <a:cs typeface="Arial"/>
              </a:rPr>
              <a:t>R-CNN”, ICCV </a:t>
            </a:r>
            <a:r>
              <a:rPr sz="400" spc="-10" dirty="0">
                <a:latin typeface="Arial"/>
                <a:cs typeface="Arial"/>
              </a:rPr>
              <a:t>2015. Figure copyright Ross </a:t>
            </a:r>
            <a:r>
              <a:rPr sz="400" spc="-5" dirty="0">
                <a:latin typeface="Arial"/>
                <a:cs typeface="Arial"/>
              </a:rPr>
              <a:t>Girshick, </a:t>
            </a:r>
            <a:r>
              <a:rPr sz="400" spc="-10" dirty="0">
                <a:latin typeface="Arial"/>
                <a:cs typeface="Arial"/>
              </a:rPr>
              <a:t>2015;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18"/>
              </a:rPr>
              <a:t>source</a:t>
            </a:r>
            <a:r>
              <a:rPr sz="400" spc="-10" dirty="0">
                <a:latin typeface="Arial"/>
                <a:cs typeface="Arial"/>
              </a:rPr>
              <a:t>. Reproduced with</a:t>
            </a:r>
            <a:r>
              <a:rPr sz="400" spc="-5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permission.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49019" y="1004459"/>
          <a:ext cx="1658619" cy="142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5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645913" y="248985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4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1141" y="2929017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132" y="298451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19" y="1285582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349019" y="1026540"/>
          <a:ext cx="1653539" cy="142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92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53129" y="580770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5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2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0"/>
                </a:lnTo>
                <a:lnTo>
                  <a:pt x="399288" y="133350"/>
                </a:lnTo>
                <a:lnTo>
                  <a:pt x="466089" y="111632"/>
                </a:lnTo>
                <a:lnTo>
                  <a:pt x="536194" y="91566"/>
                </a:lnTo>
                <a:lnTo>
                  <a:pt x="609472" y="73151"/>
                </a:lnTo>
                <a:lnTo>
                  <a:pt x="647064" y="64515"/>
                </a:lnTo>
                <a:lnTo>
                  <a:pt x="685292" y="56514"/>
                </a:lnTo>
                <a:lnTo>
                  <a:pt x="724153" y="48894"/>
                </a:lnTo>
                <a:lnTo>
                  <a:pt x="763524" y="41782"/>
                </a:lnTo>
                <a:lnTo>
                  <a:pt x="803401" y="35178"/>
                </a:lnTo>
                <a:lnTo>
                  <a:pt x="843661" y="29082"/>
                </a:lnTo>
                <a:lnTo>
                  <a:pt x="884174" y="23494"/>
                </a:lnTo>
                <a:lnTo>
                  <a:pt x="925194" y="18541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7"/>
                </a:lnTo>
                <a:lnTo>
                  <a:pt x="1133347" y="2286"/>
                </a:lnTo>
                <a:lnTo>
                  <a:pt x="1175384" y="888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8"/>
                </a:lnTo>
                <a:lnTo>
                  <a:pt x="1502028" y="11302"/>
                </a:lnTo>
                <a:lnTo>
                  <a:pt x="1572259" y="18287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3"/>
                </a:lnTo>
                <a:lnTo>
                  <a:pt x="1955419" y="88518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8"/>
                </a:lnTo>
                <a:lnTo>
                  <a:pt x="2249678" y="203073"/>
                </a:lnTo>
                <a:lnTo>
                  <a:pt x="2283714" y="225932"/>
                </a:lnTo>
                <a:lnTo>
                  <a:pt x="2284603" y="226567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4839" y="781178"/>
            <a:ext cx="92963" cy="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1141" y="2951733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131" y="300748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5912" y="251282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3502" y="59194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36468" y="171957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3380" y="12067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65978" y="12067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69178" y="12067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2378" y="12067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53380" y="14099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5978" y="14099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69178" y="14099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72378" y="14099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3380" y="16131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5978" y="16131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69178" y="16131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72378" y="16131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53380" y="18163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5978" y="18163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9178" y="18163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72378" y="18163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3380" y="20195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65978" y="20195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69178" y="20195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2378" y="20195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132" y="298451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45913" y="248985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4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42762" y="329454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将区域顶点规整 到网格交点上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348098" y="1004891"/>
          <a:ext cx="1662427" cy="1421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2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53130" y="558689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6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3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1"/>
                </a:lnTo>
                <a:lnTo>
                  <a:pt x="399288" y="133350"/>
                </a:lnTo>
                <a:lnTo>
                  <a:pt x="466089" y="111633"/>
                </a:lnTo>
                <a:lnTo>
                  <a:pt x="536194" y="91567"/>
                </a:lnTo>
                <a:lnTo>
                  <a:pt x="609472" y="73151"/>
                </a:lnTo>
                <a:lnTo>
                  <a:pt x="647064" y="64516"/>
                </a:lnTo>
                <a:lnTo>
                  <a:pt x="685292" y="56515"/>
                </a:lnTo>
                <a:lnTo>
                  <a:pt x="724153" y="48895"/>
                </a:lnTo>
                <a:lnTo>
                  <a:pt x="763524" y="41783"/>
                </a:lnTo>
                <a:lnTo>
                  <a:pt x="803401" y="35178"/>
                </a:lnTo>
                <a:lnTo>
                  <a:pt x="843661" y="29083"/>
                </a:lnTo>
                <a:lnTo>
                  <a:pt x="884174" y="23495"/>
                </a:lnTo>
                <a:lnTo>
                  <a:pt x="925194" y="18542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8"/>
                </a:lnTo>
                <a:lnTo>
                  <a:pt x="1133347" y="2286"/>
                </a:lnTo>
                <a:lnTo>
                  <a:pt x="1175384" y="889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9"/>
                </a:lnTo>
                <a:lnTo>
                  <a:pt x="1502028" y="11302"/>
                </a:lnTo>
                <a:lnTo>
                  <a:pt x="1572259" y="18288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4"/>
                </a:lnTo>
                <a:lnTo>
                  <a:pt x="1955419" y="88519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9"/>
                </a:lnTo>
                <a:lnTo>
                  <a:pt x="2249678" y="203073"/>
                </a:lnTo>
                <a:lnTo>
                  <a:pt x="2283714" y="225933"/>
                </a:lnTo>
                <a:lnTo>
                  <a:pt x="2284603" y="226568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204840" y="759095"/>
            <a:ext cx="92963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15280" y="1182767"/>
            <a:ext cx="883158" cy="10751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643502" y="56897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19" y="1285582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3129" y="580770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5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2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0"/>
                </a:lnTo>
                <a:lnTo>
                  <a:pt x="399288" y="133350"/>
                </a:lnTo>
                <a:lnTo>
                  <a:pt x="466089" y="111632"/>
                </a:lnTo>
                <a:lnTo>
                  <a:pt x="536194" y="91566"/>
                </a:lnTo>
                <a:lnTo>
                  <a:pt x="609472" y="73151"/>
                </a:lnTo>
                <a:lnTo>
                  <a:pt x="647064" y="64515"/>
                </a:lnTo>
                <a:lnTo>
                  <a:pt x="685292" y="56514"/>
                </a:lnTo>
                <a:lnTo>
                  <a:pt x="724153" y="48894"/>
                </a:lnTo>
                <a:lnTo>
                  <a:pt x="763524" y="41782"/>
                </a:lnTo>
                <a:lnTo>
                  <a:pt x="803401" y="35178"/>
                </a:lnTo>
                <a:lnTo>
                  <a:pt x="843661" y="29082"/>
                </a:lnTo>
                <a:lnTo>
                  <a:pt x="884174" y="23494"/>
                </a:lnTo>
                <a:lnTo>
                  <a:pt x="925194" y="18541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7"/>
                </a:lnTo>
                <a:lnTo>
                  <a:pt x="1133347" y="2286"/>
                </a:lnTo>
                <a:lnTo>
                  <a:pt x="1175384" y="888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8"/>
                </a:lnTo>
                <a:lnTo>
                  <a:pt x="1502028" y="11302"/>
                </a:lnTo>
                <a:lnTo>
                  <a:pt x="1572259" y="18287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3"/>
                </a:lnTo>
                <a:lnTo>
                  <a:pt x="1955419" y="88518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8"/>
                </a:lnTo>
                <a:lnTo>
                  <a:pt x="2249678" y="203073"/>
                </a:lnTo>
                <a:lnTo>
                  <a:pt x="2283714" y="225932"/>
                </a:lnTo>
                <a:lnTo>
                  <a:pt x="2284603" y="226567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4839" y="781178"/>
            <a:ext cx="92963" cy="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131" y="300748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53380" y="12288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199"/>
                </a:moveTo>
                <a:lnTo>
                  <a:pt x="212509" y="203199"/>
                </a:lnTo>
                <a:lnTo>
                  <a:pt x="212509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5977" y="12288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199"/>
                </a:moveTo>
                <a:lnTo>
                  <a:pt x="203200" y="203199"/>
                </a:lnTo>
                <a:lnTo>
                  <a:pt x="20320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69178" y="12288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199"/>
                </a:moveTo>
                <a:lnTo>
                  <a:pt x="203200" y="203199"/>
                </a:lnTo>
                <a:lnTo>
                  <a:pt x="20320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72378" y="12288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199"/>
                </a:moveTo>
                <a:lnTo>
                  <a:pt x="190080" y="203199"/>
                </a:lnTo>
                <a:lnTo>
                  <a:pt x="19008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53380" y="14320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65977" y="14320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69178" y="14320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2378" y="14320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53380" y="16352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65977" y="16352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69178" y="16352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72378" y="16352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53380" y="18384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65977" y="18384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69178" y="18384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72378" y="18384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53380" y="20416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65977" y="20416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69178" y="20416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72378" y="20416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45912" y="251282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69607" y="247522"/>
            <a:ext cx="11277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将其粗略的分成面积 相等的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x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个子区</a:t>
            </a:r>
            <a:r>
              <a:rPr sz="900" spc="-15" dirty="0">
                <a:latin typeface="微软雅黑"/>
                <a:cs typeface="微软雅黑"/>
              </a:rPr>
              <a:t>域</a:t>
            </a:r>
            <a:r>
              <a:rPr sz="900" dirty="0">
                <a:latin typeface="微软雅黑"/>
                <a:cs typeface="微软雅黑"/>
              </a:rPr>
              <a:t>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336468" y="171957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2348097" y="1026972"/>
          <a:ext cx="1662427" cy="1421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2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2915280" y="1204848"/>
            <a:ext cx="883158" cy="1075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643502" y="59194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42761" y="352424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将区域顶点规整 到网格交点上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3130" y="558689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6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3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1"/>
                </a:lnTo>
                <a:lnTo>
                  <a:pt x="399288" y="133350"/>
                </a:lnTo>
                <a:lnTo>
                  <a:pt x="466089" y="111633"/>
                </a:lnTo>
                <a:lnTo>
                  <a:pt x="536194" y="91567"/>
                </a:lnTo>
                <a:lnTo>
                  <a:pt x="609472" y="73151"/>
                </a:lnTo>
                <a:lnTo>
                  <a:pt x="647064" y="64516"/>
                </a:lnTo>
                <a:lnTo>
                  <a:pt x="685292" y="56515"/>
                </a:lnTo>
                <a:lnTo>
                  <a:pt x="724153" y="48895"/>
                </a:lnTo>
                <a:lnTo>
                  <a:pt x="763524" y="41783"/>
                </a:lnTo>
                <a:lnTo>
                  <a:pt x="803401" y="35178"/>
                </a:lnTo>
                <a:lnTo>
                  <a:pt x="843661" y="29083"/>
                </a:lnTo>
                <a:lnTo>
                  <a:pt x="884174" y="23495"/>
                </a:lnTo>
                <a:lnTo>
                  <a:pt x="925194" y="18542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8"/>
                </a:lnTo>
                <a:lnTo>
                  <a:pt x="1133347" y="2286"/>
                </a:lnTo>
                <a:lnTo>
                  <a:pt x="1175384" y="889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9"/>
                </a:lnTo>
                <a:lnTo>
                  <a:pt x="1502028" y="11302"/>
                </a:lnTo>
                <a:lnTo>
                  <a:pt x="1572259" y="18288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4"/>
                </a:lnTo>
                <a:lnTo>
                  <a:pt x="1955419" y="88519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9"/>
                </a:lnTo>
                <a:lnTo>
                  <a:pt x="2249678" y="203073"/>
                </a:lnTo>
                <a:lnTo>
                  <a:pt x="2283714" y="225933"/>
                </a:lnTo>
                <a:lnTo>
                  <a:pt x="2284603" y="226568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4840" y="759095"/>
            <a:ext cx="92963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53380" y="12067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5978" y="12067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9178" y="12067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72378" y="12067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3380" y="14099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65978" y="14099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69178" y="14099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2378" y="14099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53380" y="16131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65978" y="16131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69178" y="16131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72378" y="16131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53380" y="18163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65978" y="18163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69178" y="18163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72378" y="18163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53380" y="2019570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65978" y="20195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69178" y="20195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72378" y="2019570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645913" y="248985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4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07148" y="1489155"/>
            <a:ext cx="393065" cy="398145"/>
          </a:xfrm>
          <a:custGeom>
            <a:avLst/>
            <a:gdLst/>
            <a:ahLst/>
            <a:cxnLst/>
            <a:rect l="l" t="t" r="r" b="b"/>
            <a:pathLst>
              <a:path w="393064" h="398144">
                <a:moveTo>
                  <a:pt x="0" y="397573"/>
                </a:moveTo>
                <a:lnTo>
                  <a:pt x="393039" y="397573"/>
                </a:lnTo>
                <a:lnTo>
                  <a:pt x="393039" y="0"/>
                </a:lnTo>
                <a:lnTo>
                  <a:pt x="0" y="0"/>
                </a:lnTo>
                <a:lnTo>
                  <a:pt x="0" y="3975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00340" y="1376315"/>
            <a:ext cx="113030" cy="510540"/>
          </a:xfrm>
          <a:custGeom>
            <a:avLst/>
            <a:gdLst/>
            <a:ahLst/>
            <a:cxnLst/>
            <a:rect l="l" t="t" r="r" b="b"/>
            <a:pathLst>
              <a:path w="113029" h="510539">
                <a:moveTo>
                  <a:pt x="112649" y="0"/>
                </a:moveTo>
                <a:lnTo>
                  <a:pt x="0" y="112775"/>
                </a:lnTo>
                <a:lnTo>
                  <a:pt x="0" y="510159"/>
                </a:lnTo>
                <a:lnTo>
                  <a:pt x="112649" y="397383"/>
                </a:lnTo>
                <a:lnTo>
                  <a:pt x="112649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07148" y="1376315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505587" y="0"/>
                </a:moveTo>
                <a:lnTo>
                  <a:pt x="112649" y="0"/>
                </a:lnTo>
                <a:lnTo>
                  <a:pt x="0" y="112649"/>
                </a:lnTo>
                <a:lnTo>
                  <a:pt x="392938" y="112649"/>
                </a:lnTo>
                <a:lnTo>
                  <a:pt x="505587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07910" y="1377077"/>
            <a:ext cx="506095" cy="510540"/>
          </a:xfrm>
          <a:custGeom>
            <a:avLst/>
            <a:gdLst/>
            <a:ahLst/>
            <a:cxnLst/>
            <a:rect l="l" t="t" r="r" b="b"/>
            <a:pathLst>
              <a:path w="506095" h="510539">
                <a:moveTo>
                  <a:pt x="0" y="112775"/>
                </a:moveTo>
                <a:lnTo>
                  <a:pt x="112775" y="0"/>
                </a:lnTo>
                <a:lnTo>
                  <a:pt x="505713" y="0"/>
                </a:lnTo>
                <a:lnTo>
                  <a:pt x="505713" y="397382"/>
                </a:lnTo>
                <a:lnTo>
                  <a:pt x="393064" y="510158"/>
                </a:lnTo>
                <a:lnTo>
                  <a:pt x="0" y="510158"/>
                </a:lnTo>
                <a:lnTo>
                  <a:pt x="0" y="112775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07910" y="1377077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0" y="112775"/>
                </a:moveTo>
                <a:lnTo>
                  <a:pt x="393064" y="112775"/>
                </a:lnTo>
                <a:lnTo>
                  <a:pt x="50571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00974" y="1489853"/>
            <a:ext cx="0" cy="397510"/>
          </a:xfrm>
          <a:custGeom>
            <a:avLst/>
            <a:gdLst/>
            <a:ahLst/>
            <a:cxnLst/>
            <a:rect l="l" t="t" r="r" b="b"/>
            <a:pathLst>
              <a:path h="397510">
                <a:moveTo>
                  <a:pt x="0" y="0"/>
                </a:moveTo>
                <a:lnTo>
                  <a:pt x="0" y="39738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04379" y="1496203"/>
            <a:ext cx="1905" cy="391160"/>
          </a:xfrm>
          <a:custGeom>
            <a:avLst/>
            <a:gdLst/>
            <a:ahLst/>
            <a:cxnLst/>
            <a:rect l="l" t="t" r="r" b="b"/>
            <a:pathLst>
              <a:path w="1904" h="391160">
                <a:moveTo>
                  <a:pt x="1650" y="0"/>
                </a:moveTo>
                <a:lnTo>
                  <a:pt x="0" y="39103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07910" y="1688481"/>
            <a:ext cx="393065" cy="3810"/>
          </a:xfrm>
          <a:custGeom>
            <a:avLst/>
            <a:gdLst/>
            <a:ahLst/>
            <a:cxnLst/>
            <a:rect l="l" t="t" r="r" b="b"/>
            <a:pathLst>
              <a:path w="393064" h="3810">
                <a:moveTo>
                  <a:pt x="393064" y="0"/>
                </a:moveTo>
                <a:lnTo>
                  <a:pt x="0" y="3301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43446" y="1675781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6945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357111" y="921401"/>
            <a:ext cx="9398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对每个子区域进行 最大池化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132" y="298451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3722" y="1928740"/>
            <a:ext cx="101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marR="140335" algn="ctr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latin typeface="微软雅黑"/>
                <a:cs typeface="微软雅黑"/>
              </a:rPr>
              <a:t>此处特征图</a:t>
            </a:r>
            <a:r>
              <a:rPr sz="800" spc="-15" dirty="0">
                <a:latin typeface="微软雅黑"/>
                <a:cs typeface="微软雅黑"/>
              </a:rPr>
              <a:t>尺</a:t>
            </a:r>
            <a:r>
              <a:rPr sz="800" dirty="0">
                <a:latin typeface="微软雅黑"/>
                <a:cs typeface="微软雅黑"/>
              </a:rPr>
              <a:t>寸 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4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2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90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2;</a:t>
            </a:r>
            <a:endParaRPr sz="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800" spc="-5" dirty="0">
                <a:latin typeface="微软雅黑"/>
                <a:cs typeface="微软雅黑"/>
              </a:rPr>
              <a:t>(</a:t>
            </a:r>
            <a:r>
              <a:rPr sz="800" dirty="0">
                <a:latin typeface="微软雅黑"/>
                <a:cs typeface="微软雅黑"/>
              </a:rPr>
              <a:t>论文中为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5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2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7</a:t>
            </a:r>
            <a:r>
              <a:rPr sz="800" spc="-2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65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7)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4756" y="2501789"/>
            <a:ext cx="186880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 algn="just">
              <a:lnSpc>
                <a:spcPct val="15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ROI</a:t>
            </a:r>
            <a:r>
              <a:rPr sz="900" spc="-100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Pool</a:t>
            </a:r>
            <a:r>
              <a:rPr sz="900" dirty="0">
                <a:latin typeface="微软雅黑"/>
                <a:cs typeface="微软雅黑"/>
              </a:rPr>
              <a:t>处理前不同的</a:t>
            </a:r>
            <a:r>
              <a:rPr sz="900" spc="-15" dirty="0">
                <a:latin typeface="微软雅黑"/>
                <a:cs typeface="微软雅黑"/>
              </a:rPr>
              <a:t>区</a:t>
            </a:r>
            <a:r>
              <a:rPr sz="900" dirty="0">
                <a:latin typeface="微软雅黑"/>
                <a:cs typeface="微软雅黑"/>
              </a:rPr>
              <a:t>域特征</a:t>
            </a:r>
            <a:r>
              <a:rPr sz="900" spc="-15" dirty="0">
                <a:latin typeface="微软雅黑"/>
                <a:cs typeface="微软雅黑"/>
              </a:rPr>
              <a:t>的</a:t>
            </a:r>
            <a:r>
              <a:rPr sz="900" dirty="0">
                <a:latin typeface="微软雅黑"/>
                <a:cs typeface="微软雅黑"/>
              </a:rPr>
              <a:t>空 间尺寸可能不一致，但是处</a:t>
            </a:r>
            <a:r>
              <a:rPr sz="900" spc="-15" dirty="0">
                <a:latin typeface="微软雅黑"/>
                <a:cs typeface="微软雅黑"/>
              </a:rPr>
              <a:t>理</a:t>
            </a:r>
            <a:r>
              <a:rPr sz="900" dirty="0">
                <a:latin typeface="微软雅黑"/>
                <a:cs typeface="微软雅黑"/>
              </a:rPr>
              <a:t>后的所 有区域特征尺寸都是一样的。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2348098" y="1004891"/>
          <a:ext cx="1662427" cy="1421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2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object 50"/>
          <p:cNvSpPr/>
          <p:nvPr/>
        </p:nvSpPr>
        <p:spPr>
          <a:xfrm>
            <a:off x="4689216" y="1633871"/>
            <a:ext cx="105155" cy="82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15280" y="1182767"/>
            <a:ext cx="883158" cy="10751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269607" y="224934"/>
            <a:ext cx="11277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将其粗略的分成面积 相等的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x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个子区</a:t>
            </a:r>
            <a:r>
              <a:rPr sz="900" spc="-15" dirty="0">
                <a:latin typeface="微软雅黑"/>
                <a:cs typeface="微软雅黑"/>
              </a:rPr>
              <a:t>域</a:t>
            </a:r>
            <a:r>
              <a:rPr sz="900" dirty="0">
                <a:latin typeface="微软雅黑"/>
                <a:cs typeface="微软雅黑"/>
              </a:rPr>
              <a:t>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43502" y="56897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42762" y="329454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将区域顶点规整 到网格交点上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19" y="1285582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3129" y="580770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5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2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0"/>
                </a:lnTo>
                <a:lnTo>
                  <a:pt x="399288" y="133350"/>
                </a:lnTo>
                <a:lnTo>
                  <a:pt x="466089" y="111632"/>
                </a:lnTo>
                <a:lnTo>
                  <a:pt x="536194" y="91566"/>
                </a:lnTo>
                <a:lnTo>
                  <a:pt x="609472" y="73151"/>
                </a:lnTo>
                <a:lnTo>
                  <a:pt x="647064" y="64515"/>
                </a:lnTo>
                <a:lnTo>
                  <a:pt x="685292" y="56514"/>
                </a:lnTo>
                <a:lnTo>
                  <a:pt x="724153" y="48894"/>
                </a:lnTo>
                <a:lnTo>
                  <a:pt x="763524" y="41782"/>
                </a:lnTo>
                <a:lnTo>
                  <a:pt x="803401" y="35178"/>
                </a:lnTo>
                <a:lnTo>
                  <a:pt x="843661" y="29082"/>
                </a:lnTo>
                <a:lnTo>
                  <a:pt x="884174" y="23494"/>
                </a:lnTo>
                <a:lnTo>
                  <a:pt x="925194" y="18541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7"/>
                </a:lnTo>
                <a:lnTo>
                  <a:pt x="1133347" y="2286"/>
                </a:lnTo>
                <a:lnTo>
                  <a:pt x="1175384" y="888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8"/>
                </a:lnTo>
                <a:lnTo>
                  <a:pt x="1502028" y="11302"/>
                </a:lnTo>
                <a:lnTo>
                  <a:pt x="1572259" y="18287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3"/>
                </a:lnTo>
                <a:lnTo>
                  <a:pt x="1955419" y="88518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8"/>
                </a:lnTo>
                <a:lnTo>
                  <a:pt x="2249678" y="203073"/>
                </a:lnTo>
                <a:lnTo>
                  <a:pt x="2283714" y="225932"/>
                </a:lnTo>
                <a:lnTo>
                  <a:pt x="2284603" y="226567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4839" y="781178"/>
            <a:ext cx="92963" cy="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53380" y="12288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199"/>
                </a:moveTo>
                <a:lnTo>
                  <a:pt x="212509" y="203199"/>
                </a:lnTo>
                <a:lnTo>
                  <a:pt x="212509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65977" y="12288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199"/>
                </a:moveTo>
                <a:lnTo>
                  <a:pt x="203200" y="203199"/>
                </a:lnTo>
                <a:lnTo>
                  <a:pt x="20320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9178" y="12288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199"/>
                </a:moveTo>
                <a:lnTo>
                  <a:pt x="203200" y="203199"/>
                </a:lnTo>
                <a:lnTo>
                  <a:pt x="20320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72378" y="12288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199"/>
                </a:moveTo>
                <a:lnTo>
                  <a:pt x="190080" y="203199"/>
                </a:lnTo>
                <a:lnTo>
                  <a:pt x="190080" y="0"/>
                </a:lnTo>
                <a:lnTo>
                  <a:pt x="0" y="0"/>
                </a:lnTo>
                <a:lnTo>
                  <a:pt x="0" y="2031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3380" y="14320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65977" y="14320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69178" y="14320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2378" y="14320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53380" y="16352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65977" y="16352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69178" y="16352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72378" y="16352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53380" y="18384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65977" y="18384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69178" y="18384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72378" y="18384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53380" y="2041651"/>
            <a:ext cx="212725" cy="203200"/>
          </a:xfrm>
          <a:custGeom>
            <a:avLst/>
            <a:gdLst/>
            <a:ahLst/>
            <a:cxnLst/>
            <a:rect l="l" t="t" r="r" b="b"/>
            <a:pathLst>
              <a:path w="212725" h="203200">
                <a:moveTo>
                  <a:pt x="0" y="203200"/>
                </a:moveTo>
                <a:lnTo>
                  <a:pt x="212509" y="203200"/>
                </a:lnTo>
                <a:lnTo>
                  <a:pt x="212509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65977" y="20416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69178" y="20416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03200"/>
                </a:moveTo>
                <a:lnTo>
                  <a:pt x="203200" y="203200"/>
                </a:lnTo>
                <a:lnTo>
                  <a:pt x="2032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72378" y="204165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>
                <a:moveTo>
                  <a:pt x="0" y="203200"/>
                </a:moveTo>
                <a:lnTo>
                  <a:pt x="190080" y="203200"/>
                </a:lnTo>
                <a:lnTo>
                  <a:pt x="19008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645912" y="2512821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07147" y="1511236"/>
            <a:ext cx="393065" cy="398145"/>
          </a:xfrm>
          <a:custGeom>
            <a:avLst/>
            <a:gdLst/>
            <a:ahLst/>
            <a:cxnLst/>
            <a:rect l="l" t="t" r="r" b="b"/>
            <a:pathLst>
              <a:path w="393064" h="398144">
                <a:moveTo>
                  <a:pt x="0" y="397573"/>
                </a:moveTo>
                <a:lnTo>
                  <a:pt x="393039" y="397573"/>
                </a:lnTo>
                <a:lnTo>
                  <a:pt x="393039" y="0"/>
                </a:lnTo>
                <a:lnTo>
                  <a:pt x="0" y="0"/>
                </a:lnTo>
                <a:lnTo>
                  <a:pt x="0" y="3975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00340" y="1398396"/>
            <a:ext cx="113030" cy="510540"/>
          </a:xfrm>
          <a:custGeom>
            <a:avLst/>
            <a:gdLst/>
            <a:ahLst/>
            <a:cxnLst/>
            <a:rect l="l" t="t" r="r" b="b"/>
            <a:pathLst>
              <a:path w="113029" h="510539">
                <a:moveTo>
                  <a:pt x="112649" y="0"/>
                </a:moveTo>
                <a:lnTo>
                  <a:pt x="0" y="112775"/>
                </a:lnTo>
                <a:lnTo>
                  <a:pt x="0" y="510158"/>
                </a:lnTo>
                <a:lnTo>
                  <a:pt x="112649" y="397382"/>
                </a:lnTo>
                <a:lnTo>
                  <a:pt x="112649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07147" y="1398396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505587" y="0"/>
                </a:moveTo>
                <a:lnTo>
                  <a:pt x="112649" y="0"/>
                </a:lnTo>
                <a:lnTo>
                  <a:pt x="0" y="112649"/>
                </a:lnTo>
                <a:lnTo>
                  <a:pt x="392938" y="112649"/>
                </a:lnTo>
                <a:lnTo>
                  <a:pt x="505587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07910" y="1399158"/>
            <a:ext cx="506095" cy="510540"/>
          </a:xfrm>
          <a:custGeom>
            <a:avLst/>
            <a:gdLst/>
            <a:ahLst/>
            <a:cxnLst/>
            <a:rect l="l" t="t" r="r" b="b"/>
            <a:pathLst>
              <a:path w="506095" h="510539">
                <a:moveTo>
                  <a:pt x="0" y="112775"/>
                </a:moveTo>
                <a:lnTo>
                  <a:pt x="112775" y="0"/>
                </a:lnTo>
                <a:lnTo>
                  <a:pt x="505713" y="0"/>
                </a:lnTo>
                <a:lnTo>
                  <a:pt x="505713" y="397382"/>
                </a:lnTo>
                <a:lnTo>
                  <a:pt x="393064" y="510158"/>
                </a:lnTo>
                <a:lnTo>
                  <a:pt x="0" y="510158"/>
                </a:lnTo>
                <a:lnTo>
                  <a:pt x="0" y="112775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07910" y="1399158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0" y="112775"/>
                </a:moveTo>
                <a:lnTo>
                  <a:pt x="393064" y="112775"/>
                </a:lnTo>
                <a:lnTo>
                  <a:pt x="50571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00974" y="1511934"/>
            <a:ext cx="0" cy="397510"/>
          </a:xfrm>
          <a:custGeom>
            <a:avLst/>
            <a:gdLst/>
            <a:ahLst/>
            <a:cxnLst/>
            <a:rect l="l" t="t" r="r" b="b"/>
            <a:pathLst>
              <a:path h="397510">
                <a:moveTo>
                  <a:pt x="0" y="0"/>
                </a:moveTo>
                <a:lnTo>
                  <a:pt x="0" y="39738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04378" y="1518284"/>
            <a:ext cx="1905" cy="391160"/>
          </a:xfrm>
          <a:custGeom>
            <a:avLst/>
            <a:gdLst/>
            <a:ahLst/>
            <a:cxnLst/>
            <a:rect l="l" t="t" r="r" b="b"/>
            <a:pathLst>
              <a:path w="1904" h="391160">
                <a:moveTo>
                  <a:pt x="1650" y="0"/>
                </a:moveTo>
                <a:lnTo>
                  <a:pt x="0" y="39103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07910" y="1710562"/>
            <a:ext cx="393065" cy="3810"/>
          </a:xfrm>
          <a:custGeom>
            <a:avLst/>
            <a:gdLst/>
            <a:ahLst/>
            <a:cxnLst/>
            <a:rect l="l" t="t" r="r" b="b"/>
            <a:pathLst>
              <a:path w="393064" h="3810">
                <a:moveTo>
                  <a:pt x="393064" y="0"/>
                </a:moveTo>
                <a:lnTo>
                  <a:pt x="0" y="330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43446" y="169786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6945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357110" y="943990"/>
            <a:ext cx="9398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对每个子区域进行 最大池化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131" y="300748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Arial"/>
                <a:cs typeface="Arial"/>
              </a:rPr>
              <a:t>Girshick,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“Fast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2015.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3722" y="1951456"/>
            <a:ext cx="101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marR="140335" algn="ctr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latin typeface="微软雅黑"/>
                <a:cs typeface="微软雅黑"/>
              </a:rPr>
              <a:t>此处特征图</a:t>
            </a:r>
            <a:r>
              <a:rPr sz="800" spc="-15" dirty="0">
                <a:latin typeface="微软雅黑"/>
                <a:cs typeface="微软雅黑"/>
              </a:rPr>
              <a:t>尺</a:t>
            </a:r>
            <a:r>
              <a:rPr sz="800" dirty="0">
                <a:latin typeface="微软雅黑"/>
                <a:cs typeface="微软雅黑"/>
              </a:rPr>
              <a:t>寸 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4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2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90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2;</a:t>
            </a:r>
            <a:endParaRPr sz="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800" spc="-5" dirty="0">
                <a:latin typeface="微软雅黑"/>
                <a:cs typeface="微软雅黑"/>
              </a:rPr>
              <a:t>(</a:t>
            </a:r>
            <a:r>
              <a:rPr sz="800" dirty="0">
                <a:latin typeface="微软雅黑"/>
                <a:cs typeface="微软雅黑"/>
              </a:rPr>
              <a:t>论文中为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5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2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7</a:t>
            </a:r>
            <a:r>
              <a:rPr sz="800" spc="-2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65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7)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4756" y="2524379"/>
            <a:ext cx="186880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 algn="just">
              <a:lnSpc>
                <a:spcPct val="15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ROI</a:t>
            </a:r>
            <a:r>
              <a:rPr sz="900" spc="-100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Pool</a:t>
            </a:r>
            <a:r>
              <a:rPr sz="900" dirty="0">
                <a:latin typeface="微软雅黑"/>
                <a:cs typeface="微软雅黑"/>
              </a:rPr>
              <a:t>处理前不同的</a:t>
            </a:r>
            <a:r>
              <a:rPr sz="900" spc="-15" dirty="0">
                <a:latin typeface="微软雅黑"/>
                <a:cs typeface="微软雅黑"/>
              </a:rPr>
              <a:t>区</a:t>
            </a:r>
            <a:r>
              <a:rPr sz="900" dirty="0">
                <a:latin typeface="微软雅黑"/>
                <a:cs typeface="微软雅黑"/>
              </a:rPr>
              <a:t>域特征</a:t>
            </a:r>
            <a:r>
              <a:rPr sz="900" spc="-15" dirty="0">
                <a:latin typeface="微软雅黑"/>
                <a:cs typeface="微软雅黑"/>
              </a:rPr>
              <a:t>的</a:t>
            </a:r>
            <a:r>
              <a:rPr sz="900" dirty="0">
                <a:latin typeface="微软雅黑"/>
                <a:cs typeface="微软雅黑"/>
              </a:rPr>
              <a:t>空 间尺寸可能不一致，但是处</a:t>
            </a:r>
            <a:r>
              <a:rPr sz="900" spc="-15" dirty="0">
                <a:latin typeface="微软雅黑"/>
                <a:cs typeface="微软雅黑"/>
              </a:rPr>
              <a:t>理</a:t>
            </a:r>
            <a:r>
              <a:rPr sz="900" dirty="0">
                <a:latin typeface="微软雅黑"/>
                <a:cs typeface="微软雅黑"/>
              </a:rPr>
              <a:t>后的所 有区域特征尺寸都是一样的。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336468" y="171957"/>
            <a:ext cx="202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60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120" dirty="0">
                <a:latin typeface="微软雅黑"/>
                <a:cs typeface="微软雅黑"/>
              </a:rPr>
              <a:t> </a:t>
            </a:r>
            <a:r>
              <a:rPr sz="1800" b="1" spc="-15" dirty="0">
                <a:latin typeface="微软雅黑"/>
                <a:cs typeface="微软雅黑"/>
              </a:rPr>
              <a:t>Pool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2348097" y="1026972"/>
          <a:ext cx="1662427" cy="1421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2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66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28575">
                      <a:solidFill>
                        <a:srgbClr val="0066FF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4885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19050">
                      <a:solidFill>
                        <a:srgbClr val="4885E8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4885E8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885E8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28575">
                      <a:solidFill>
                        <a:srgbClr val="0066FF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38100">
                      <a:solidFill>
                        <a:srgbClr val="0066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66FF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38100">
                      <a:solidFill>
                        <a:srgbClr val="0066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object 50"/>
          <p:cNvSpPr/>
          <p:nvPr/>
        </p:nvSpPr>
        <p:spPr>
          <a:xfrm>
            <a:off x="4689216" y="1655954"/>
            <a:ext cx="105155" cy="822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15280" y="1204848"/>
            <a:ext cx="883158" cy="10751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269607" y="247522"/>
            <a:ext cx="11277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将其粗略的分成面积 相等的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x</a:t>
            </a:r>
            <a:r>
              <a:rPr sz="900" spc="-15" dirty="0">
                <a:latin typeface="微软雅黑"/>
                <a:cs typeface="微软雅黑"/>
              </a:rPr>
              <a:t>2</a:t>
            </a:r>
            <a:r>
              <a:rPr sz="900" dirty="0">
                <a:latin typeface="微软雅黑"/>
                <a:cs typeface="微软雅黑"/>
              </a:rPr>
              <a:t>个子区</a:t>
            </a:r>
            <a:r>
              <a:rPr sz="900" spc="-15" dirty="0">
                <a:latin typeface="微软雅黑"/>
                <a:cs typeface="微软雅黑"/>
              </a:rPr>
              <a:t>域</a:t>
            </a:r>
            <a:r>
              <a:rPr sz="900" dirty="0">
                <a:latin typeface="微软雅黑"/>
                <a:cs typeface="微软雅黑"/>
              </a:rPr>
              <a:t>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43502" y="59194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22521" y="3009010"/>
            <a:ext cx="2496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CC0000"/>
                </a:solidFill>
                <a:latin typeface="微软雅黑"/>
                <a:cs typeface="微软雅黑"/>
              </a:rPr>
              <a:t>问题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:</a:t>
            </a:r>
            <a:r>
              <a:rPr sz="1000" spc="-70" dirty="0">
                <a:solidFill>
                  <a:srgbClr val="CC0000"/>
                </a:solidFill>
                <a:latin typeface="微软雅黑"/>
                <a:cs typeface="微软雅黑"/>
              </a:rPr>
              <a:t> </a:t>
            </a:r>
            <a:r>
              <a:rPr sz="1000" spc="-5" dirty="0">
                <a:solidFill>
                  <a:srgbClr val="CC0000"/>
                </a:solidFill>
                <a:latin typeface="微软雅黑"/>
                <a:cs typeface="微软雅黑"/>
              </a:rPr>
              <a:t>处理后的区域特征会有轻微的对不齐！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42761" y="352424"/>
            <a:ext cx="825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将区域顶点规整 到网格交点上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3130" y="558689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6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3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1"/>
                </a:lnTo>
                <a:lnTo>
                  <a:pt x="399288" y="133350"/>
                </a:lnTo>
                <a:lnTo>
                  <a:pt x="466089" y="111633"/>
                </a:lnTo>
                <a:lnTo>
                  <a:pt x="536194" y="91567"/>
                </a:lnTo>
                <a:lnTo>
                  <a:pt x="609472" y="73151"/>
                </a:lnTo>
                <a:lnTo>
                  <a:pt x="647064" y="64516"/>
                </a:lnTo>
                <a:lnTo>
                  <a:pt x="685292" y="56515"/>
                </a:lnTo>
                <a:lnTo>
                  <a:pt x="724153" y="48895"/>
                </a:lnTo>
                <a:lnTo>
                  <a:pt x="763524" y="41783"/>
                </a:lnTo>
                <a:lnTo>
                  <a:pt x="803401" y="35178"/>
                </a:lnTo>
                <a:lnTo>
                  <a:pt x="843661" y="29083"/>
                </a:lnTo>
                <a:lnTo>
                  <a:pt x="884174" y="23495"/>
                </a:lnTo>
                <a:lnTo>
                  <a:pt x="925194" y="18542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8"/>
                </a:lnTo>
                <a:lnTo>
                  <a:pt x="1133347" y="2286"/>
                </a:lnTo>
                <a:lnTo>
                  <a:pt x="1175384" y="889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9"/>
                </a:lnTo>
                <a:lnTo>
                  <a:pt x="1502028" y="11302"/>
                </a:lnTo>
                <a:lnTo>
                  <a:pt x="1572259" y="18288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4"/>
                </a:lnTo>
                <a:lnTo>
                  <a:pt x="1955419" y="88519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9"/>
                </a:lnTo>
                <a:lnTo>
                  <a:pt x="2249678" y="203073"/>
                </a:lnTo>
                <a:lnTo>
                  <a:pt x="2283714" y="225933"/>
                </a:lnTo>
                <a:lnTo>
                  <a:pt x="2284603" y="226568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0956" y="2466102"/>
            <a:ext cx="1032510" cy="31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5913" y="2494423"/>
            <a:ext cx="1031240" cy="30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图像特征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349019" y="1004459"/>
          <a:ext cx="1656077" cy="1421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3204840" y="759095"/>
            <a:ext cx="92963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3890" y="556149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不进行规整操作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32" y="298451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et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al,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“Mask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5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5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Align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43502" y="56897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19" y="1285582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399" y="1026540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3129" y="580770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5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2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0"/>
                </a:lnTo>
                <a:lnTo>
                  <a:pt x="399288" y="133350"/>
                </a:lnTo>
                <a:lnTo>
                  <a:pt x="466089" y="111632"/>
                </a:lnTo>
                <a:lnTo>
                  <a:pt x="536194" y="91566"/>
                </a:lnTo>
                <a:lnTo>
                  <a:pt x="609472" y="73151"/>
                </a:lnTo>
                <a:lnTo>
                  <a:pt x="647064" y="64515"/>
                </a:lnTo>
                <a:lnTo>
                  <a:pt x="685292" y="56514"/>
                </a:lnTo>
                <a:lnTo>
                  <a:pt x="724153" y="48894"/>
                </a:lnTo>
                <a:lnTo>
                  <a:pt x="763524" y="41782"/>
                </a:lnTo>
                <a:lnTo>
                  <a:pt x="803401" y="35178"/>
                </a:lnTo>
                <a:lnTo>
                  <a:pt x="843661" y="29082"/>
                </a:lnTo>
                <a:lnTo>
                  <a:pt x="884174" y="23494"/>
                </a:lnTo>
                <a:lnTo>
                  <a:pt x="925194" y="18541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7"/>
                </a:lnTo>
                <a:lnTo>
                  <a:pt x="1133347" y="2286"/>
                </a:lnTo>
                <a:lnTo>
                  <a:pt x="1175384" y="888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8"/>
                </a:lnTo>
                <a:lnTo>
                  <a:pt x="1502028" y="11302"/>
                </a:lnTo>
                <a:lnTo>
                  <a:pt x="1572259" y="18287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3"/>
                </a:lnTo>
                <a:lnTo>
                  <a:pt x="1955419" y="88518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8"/>
                </a:lnTo>
                <a:lnTo>
                  <a:pt x="2249678" y="203073"/>
                </a:lnTo>
                <a:lnTo>
                  <a:pt x="2283714" y="225932"/>
                </a:lnTo>
                <a:lnTo>
                  <a:pt x="2284603" y="226567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49019" y="1026540"/>
          <a:ext cx="1656077" cy="142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204839" y="781178"/>
            <a:ext cx="92963" cy="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0624" y="1593470"/>
            <a:ext cx="77724" cy="79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6052" y="1392302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0163" y="1392302"/>
            <a:ext cx="77724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0163" y="1591946"/>
            <a:ext cx="77724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6007" y="1593470"/>
            <a:ext cx="79248" cy="79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2960" y="1392302"/>
            <a:ext cx="77724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35547" y="1392302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35547" y="1591946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00624" y="2100962"/>
            <a:ext cx="77724" cy="792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6052" y="1901318"/>
            <a:ext cx="79248" cy="777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30163" y="1901318"/>
            <a:ext cx="77724" cy="777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30163" y="2100962"/>
            <a:ext cx="77724" cy="777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06007" y="2100962"/>
            <a:ext cx="79248" cy="792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02960" y="1901318"/>
            <a:ext cx="77724" cy="777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35547" y="1901318"/>
            <a:ext cx="79248" cy="777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35547" y="2100962"/>
            <a:ext cx="79248" cy="777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336468" y="171957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5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Align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0956" y="2488818"/>
            <a:ext cx="1032510" cy="31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45912" y="2517393"/>
            <a:ext cx="1031240" cy="30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图像特征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23889" y="578865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不进行规整操作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43502" y="59194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131" y="2938602"/>
            <a:ext cx="6001385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15" dirty="0">
                <a:latin typeface="Arial"/>
                <a:cs typeface="Arial"/>
              </a:rPr>
              <a:t>He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“Mask </a:t>
            </a:r>
            <a:r>
              <a:rPr sz="500" spc="15" dirty="0">
                <a:latin typeface="Arial"/>
                <a:cs typeface="Arial"/>
              </a:rPr>
              <a:t>R-CNN”, ICCV </a:t>
            </a:r>
            <a:r>
              <a:rPr sz="500" spc="5" dirty="0">
                <a:latin typeface="Arial"/>
                <a:cs typeface="Arial"/>
              </a:rPr>
              <a:t>2017 </a:t>
            </a:r>
            <a:r>
              <a:rPr sz="1575" b="1" spc="7" baseline="5291" dirty="0">
                <a:latin typeface="微软雅黑"/>
                <a:cs typeface="微软雅黑"/>
              </a:rPr>
              <a:t>Sample at regular points in each subregion </a:t>
            </a:r>
            <a:r>
              <a:rPr sz="1575" b="1" spc="15" baseline="5291" dirty="0">
                <a:latin typeface="微软雅黑"/>
                <a:cs typeface="微软雅黑"/>
              </a:rPr>
              <a:t>using </a:t>
            </a:r>
            <a:r>
              <a:rPr sz="1575" b="1" baseline="5291" dirty="0">
                <a:latin typeface="微软雅黑"/>
                <a:cs typeface="微软雅黑"/>
              </a:rPr>
              <a:t>bilinear</a:t>
            </a:r>
            <a:r>
              <a:rPr sz="1575" b="1" spc="-142" baseline="5291" dirty="0">
                <a:latin typeface="微软雅黑"/>
                <a:cs typeface="微软雅黑"/>
              </a:rPr>
              <a:t> </a:t>
            </a:r>
            <a:r>
              <a:rPr sz="1575" b="1" baseline="5291" dirty="0">
                <a:latin typeface="微软雅黑"/>
                <a:cs typeface="微软雅黑"/>
              </a:rPr>
              <a:t>interpolation</a:t>
            </a:r>
            <a:endParaRPr sz="1575" baseline="5291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tabLst>
                <a:tab pos="2416810" algn="l"/>
                <a:tab pos="557530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400" y="1004459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3130" y="558689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6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3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1"/>
                </a:lnTo>
                <a:lnTo>
                  <a:pt x="399288" y="133350"/>
                </a:lnTo>
                <a:lnTo>
                  <a:pt x="466089" y="111633"/>
                </a:lnTo>
                <a:lnTo>
                  <a:pt x="536194" y="91567"/>
                </a:lnTo>
                <a:lnTo>
                  <a:pt x="609472" y="73151"/>
                </a:lnTo>
                <a:lnTo>
                  <a:pt x="647064" y="64516"/>
                </a:lnTo>
                <a:lnTo>
                  <a:pt x="685292" y="56515"/>
                </a:lnTo>
                <a:lnTo>
                  <a:pt x="724153" y="48895"/>
                </a:lnTo>
                <a:lnTo>
                  <a:pt x="763524" y="41783"/>
                </a:lnTo>
                <a:lnTo>
                  <a:pt x="803401" y="35178"/>
                </a:lnTo>
                <a:lnTo>
                  <a:pt x="843661" y="29083"/>
                </a:lnTo>
                <a:lnTo>
                  <a:pt x="884174" y="23495"/>
                </a:lnTo>
                <a:lnTo>
                  <a:pt x="925194" y="18542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8"/>
                </a:lnTo>
                <a:lnTo>
                  <a:pt x="1133347" y="2286"/>
                </a:lnTo>
                <a:lnTo>
                  <a:pt x="1175384" y="889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9"/>
                </a:lnTo>
                <a:lnTo>
                  <a:pt x="1502028" y="11302"/>
                </a:lnTo>
                <a:lnTo>
                  <a:pt x="1572259" y="18288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4"/>
                </a:lnTo>
                <a:lnTo>
                  <a:pt x="1955419" y="88519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9"/>
                </a:lnTo>
                <a:lnTo>
                  <a:pt x="2249678" y="203073"/>
                </a:lnTo>
                <a:lnTo>
                  <a:pt x="2283714" y="225933"/>
                </a:lnTo>
                <a:lnTo>
                  <a:pt x="2284603" y="226568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49019" y="1004459"/>
          <a:ext cx="1656077" cy="1421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204840" y="759095"/>
            <a:ext cx="92963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0624" y="1571387"/>
            <a:ext cx="77724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6052" y="1370219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0164" y="1370219"/>
            <a:ext cx="77724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0164" y="1569863"/>
            <a:ext cx="77724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6007" y="1571387"/>
            <a:ext cx="79248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2960" y="1370219"/>
            <a:ext cx="77724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35548" y="1370219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35548" y="1569863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00624" y="2078879"/>
            <a:ext cx="77724" cy="792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6052" y="1879235"/>
            <a:ext cx="79248" cy="777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30164" y="1879235"/>
            <a:ext cx="77724" cy="777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30164" y="2078879"/>
            <a:ext cx="77724" cy="77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06007" y="2078879"/>
            <a:ext cx="79248" cy="792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02960" y="1879235"/>
            <a:ext cx="77724" cy="777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35548" y="1879235"/>
            <a:ext cx="79248" cy="777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35548" y="2078879"/>
            <a:ext cx="79248" cy="77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01080" y="801767"/>
            <a:ext cx="792480" cy="381635"/>
          </a:xfrm>
          <a:custGeom>
            <a:avLst/>
            <a:gdLst/>
            <a:ahLst/>
            <a:cxnLst/>
            <a:rect l="l" t="t" r="r" b="b"/>
            <a:pathLst>
              <a:path w="792479" h="381634">
                <a:moveTo>
                  <a:pt x="0" y="381635"/>
                </a:moveTo>
                <a:lnTo>
                  <a:pt x="792353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11493" y="1629172"/>
            <a:ext cx="772795" cy="411480"/>
          </a:xfrm>
          <a:custGeom>
            <a:avLst/>
            <a:gdLst/>
            <a:ahLst/>
            <a:cxnLst/>
            <a:rect l="l" t="t" r="r" b="b"/>
            <a:pathLst>
              <a:path w="772795" h="411480">
                <a:moveTo>
                  <a:pt x="0" y="0"/>
                </a:moveTo>
                <a:lnTo>
                  <a:pt x="772794" y="411352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37756" y="788051"/>
            <a:ext cx="1283335" cy="1283335"/>
          </a:xfrm>
          <a:custGeom>
            <a:avLst/>
            <a:gdLst/>
            <a:ahLst/>
            <a:cxnLst/>
            <a:rect l="l" t="t" r="r" b="b"/>
            <a:pathLst>
              <a:path w="1283335" h="1283335">
                <a:moveTo>
                  <a:pt x="0" y="1282953"/>
                </a:moveTo>
                <a:lnTo>
                  <a:pt x="1282953" y="1282953"/>
                </a:lnTo>
                <a:lnTo>
                  <a:pt x="1282953" y="0"/>
                </a:lnTo>
                <a:lnTo>
                  <a:pt x="0" y="0"/>
                </a:lnTo>
                <a:lnTo>
                  <a:pt x="0" y="1282953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4436136" y="786432"/>
          <a:ext cx="1282700" cy="1282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4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4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5189087" y="1362599"/>
            <a:ext cx="132587" cy="132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84643" y="1045607"/>
            <a:ext cx="131063" cy="132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84643" y="1699403"/>
            <a:ext cx="131063" cy="132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14056" y="1699403"/>
            <a:ext cx="131063" cy="1325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14056" y="1045607"/>
            <a:ext cx="131063" cy="132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342506" y="2149110"/>
            <a:ext cx="1510030" cy="6851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70"/>
              </a:spcBef>
            </a:pPr>
            <a:r>
              <a:rPr sz="1050" spc="5" dirty="0">
                <a:latin typeface="Arial"/>
                <a:cs typeface="Arial"/>
              </a:rPr>
              <a:t>Feature f</a:t>
            </a:r>
            <a:r>
              <a:rPr sz="1050" spc="7" baseline="-23809" dirty="0">
                <a:latin typeface="Arial"/>
                <a:cs typeface="Arial"/>
              </a:rPr>
              <a:t>xy </a:t>
            </a:r>
            <a:r>
              <a:rPr sz="1050" spc="5" dirty="0">
                <a:latin typeface="Arial"/>
                <a:cs typeface="Arial"/>
              </a:rPr>
              <a:t>for </a:t>
            </a:r>
            <a:r>
              <a:rPr sz="1050" dirty="0">
                <a:latin typeface="Arial"/>
                <a:cs typeface="Arial"/>
              </a:rPr>
              <a:t>point </a:t>
            </a:r>
            <a:r>
              <a:rPr sz="1050" spc="5" dirty="0">
                <a:latin typeface="Arial"/>
                <a:cs typeface="Arial"/>
              </a:rPr>
              <a:t>(x,</a:t>
            </a:r>
            <a:r>
              <a:rPr sz="1050" spc="-13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y)  </a:t>
            </a:r>
            <a:r>
              <a:rPr sz="1050" spc="5" dirty="0">
                <a:latin typeface="Arial"/>
                <a:cs typeface="Arial"/>
              </a:rPr>
              <a:t>is a </a:t>
            </a:r>
            <a:r>
              <a:rPr sz="1050" dirty="0">
                <a:latin typeface="Arial"/>
                <a:cs typeface="Arial"/>
              </a:rPr>
              <a:t>linear </a:t>
            </a:r>
            <a:r>
              <a:rPr sz="1050" spc="5" dirty="0">
                <a:latin typeface="Arial"/>
                <a:cs typeface="Arial"/>
              </a:rPr>
              <a:t>combination</a:t>
            </a:r>
            <a:r>
              <a:rPr sz="1050" spc="-15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  </a:t>
            </a:r>
            <a:r>
              <a:rPr sz="1050" spc="5" dirty="0">
                <a:latin typeface="Arial"/>
                <a:cs typeface="Arial"/>
              </a:rPr>
              <a:t>features </a:t>
            </a:r>
            <a:r>
              <a:rPr sz="1050" dirty="0">
                <a:latin typeface="Arial"/>
                <a:cs typeface="Arial"/>
              </a:rPr>
              <a:t>at </a:t>
            </a:r>
            <a:r>
              <a:rPr sz="1050" spc="5" dirty="0">
                <a:latin typeface="Arial"/>
                <a:cs typeface="Arial"/>
              </a:rPr>
              <a:t>its four  </a:t>
            </a:r>
            <a:r>
              <a:rPr sz="1050" dirty="0">
                <a:latin typeface="Arial"/>
                <a:cs typeface="Arial"/>
              </a:rPr>
              <a:t>neighboring grid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cells: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5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Align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0956" y="2466102"/>
            <a:ext cx="1032510" cy="31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45913" y="2494423"/>
            <a:ext cx="1031240" cy="30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图像特征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23890" y="556149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不进行规整操作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43502" y="56897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132" y="2998613"/>
            <a:ext cx="6001385" cy="426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22" baseline="72222" dirty="0">
                <a:latin typeface="Arial"/>
                <a:cs typeface="Arial"/>
              </a:rPr>
              <a:t>He </a:t>
            </a:r>
            <a:r>
              <a:rPr sz="750" spc="7" baseline="72222" dirty="0">
                <a:latin typeface="Arial"/>
                <a:cs typeface="Arial"/>
              </a:rPr>
              <a:t>et al, </a:t>
            </a:r>
            <a:r>
              <a:rPr sz="750" spc="15" baseline="72222" dirty="0">
                <a:latin typeface="Arial"/>
                <a:cs typeface="Arial"/>
              </a:rPr>
              <a:t>“Mask </a:t>
            </a:r>
            <a:r>
              <a:rPr sz="750" spc="22" baseline="72222" dirty="0">
                <a:latin typeface="Arial"/>
                <a:cs typeface="Arial"/>
              </a:rPr>
              <a:t>R-CNN”, ICCV </a:t>
            </a:r>
            <a:r>
              <a:rPr sz="750" spc="7" baseline="72222" dirty="0">
                <a:latin typeface="Arial"/>
                <a:cs typeface="Arial"/>
              </a:rPr>
              <a:t>2017 </a:t>
            </a:r>
            <a:r>
              <a:rPr sz="1050" b="1" spc="5" dirty="0">
                <a:latin typeface="微软雅黑"/>
                <a:cs typeface="微软雅黑"/>
              </a:rPr>
              <a:t>Sample at regular points in </a:t>
            </a:r>
            <a:r>
              <a:rPr sz="1050" b="1" spc="10" dirty="0">
                <a:latin typeface="微软雅黑"/>
                <a:cs typeface="微软雅黑"/>
              </a:rPr>
              <a:t>each </a:t>
            </a:r>
            <a:r>
              <a:rPr sz="1050" b="1" spc="5" dirty="0">
                <a:latin typeface="微软雅黑"/>
                <a:cs typeface="微软雅黑"/>
              </a:rPr>
              <a:t>subregion using bilinear</a:t>
            </a:r>
            <a:r>
              <a:rPr sz="1050" b="1" spc="-100" dirty="0">
                <a:latin typeface="微软雅黑"/>
                <a:cs typeface="微软雅黑"/>
              </a:rPr>
              <a:t> </a:t>
            </a:r>
            <a:r>
              <a:rPr sz="1050" b="1" dirty="0">
                <a:latin typeface="微软雅黑"/>
                <a:cs typeface="微软雅黑"/>
              </a:rPr>
              <a:t>interpolation</a:t>
            </a:r>
            <a:endParaRPr sz="1050">
              <a:latin typeface="微软雅黑"/>
              <a:cs typeface="微软雅黑"/>
            </a:endParaRPr>
          </a:p>
          <a:p>
            <a:pPr marL="140335">
              <a:lnSpc>
                <a:spcPct val="100000"/>
              </a:lnSpc>
              <a:spcBef>
                <a:spcPts val="800"/>
              </a:spcBef>
              <a:tabLst>
                <a:tab pos="2416810" algn="l"/>
                <a:tab pos="557530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19" y="1285582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399" y="1026540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3129" y="580770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5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2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0"/>
                </a:lnTo>
                <a:lnTo>
                  <a:pt x="399288" y="133350"/>
                </a:lnTo>
                <a:lnTo>
                  <a:pt x="466089" y="111632"/>
                </a:lnTo>
                <a:lnTo>
                  <a:pt x="536194" y="91566"/>
                </a:lnTo>
                <a:lnTo>
                  <a:pt x="609472" y="73151"/>
                </a:lnTo>
                <a:lnTo>
                  <a:pt x="647064" y="64515"/>
                </a:lnTo>
                <a:lnTo>
                  <a:pt x="685292" y="56514"/>
                </a:lnTo>
                <a:lnTo>
                  <a:pt x="724153" y="48894"/>
                </a:lnTo>
                <a:lnTo>
                  <a:pt x="763524" y="41782"/>
                </a:lnTo>
                <a:lnTo>
                  <a:pt x="803401" y="35178"/>
                </a:lnTo>
                <a:lnTo>
                  <a:pt x="843661" y="29082"/>
                </a:lnTo>
                <a:lnTo>
                  <a:pt x="884174" y="23494"/>
                </a:lnTo>
                <a:lnTo>
                  <a:pt x="925194" y="18541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7"/>
                </a:lnTo>
                <a:lnTo>
                  <a:pt x="1133347" y="2286"/>
                </a:lnTo>
                <a:lnTo>
                  <a:pt x="1175384" y="888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8"/>
                </a:lnTo>
                <a:lnTo>
                  <a:pt x="1502028" y="11302"/>
                </a:lnTo>
                <a:lnTo>
                  <a:pt x="1572259" y="18287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3"/>
                </a:lnTo>
                <a:lnTo>
                  <a:pt x="1955419" y="88518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8"/>
                </a:lnTo>
                <a:lnTo>
                  <a:pt x="2249678" y="203073"/>
                </a:lnTo>
                <a:lnTo>
                  <a:pt x="2283714" y="225932"/>
                </a:lnTo>
                <a:lnTo>
                  <a:pt x="2284603" y="226567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49019" y="1026540"/>
          <a:ext cx="1656077" cy="142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D7E9D2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D7E9D2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7E9D2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D7E9D2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204839" y="781178"/>
            <a:ext cx="92963" cy="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0624" y="1593470"/>
            <a:ext cx="77724" cy="79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6052" y="1392302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0163" y="1392302"/>
            <a:ext cx="77724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0163" y="1591946"/>
            <a:ext cx="77724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6007" y="1593470"/>
            <a:ext cx="79248" cy="79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2960" y="1392302"/>
            <a:ext cx="77724" cy="792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35547" y="1392302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35547" y="1591946"/>
            <a:ext cx="79248" cy="792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00624" y="2100962"/>
            <a:ext cx="77724" cy="792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6052" y="1901318"/>
            <a:ext cx="79248" cy="777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30163" y="1901318"/>
            <a:ext cx="77724" cy="777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30163" y="2100962"/>
            <a:ext cx="77724" cy="777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06007" y="2100962"/>
            <a:ext cx="79248" cy="792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02960" y="1901318"/>
            <a:ext cx="77724" cy="777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35547" y="1901318"/>
            <a:ext cx="79248" cy="777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35547" y="2100962"/>
            <a:ext cx="79248" cy="777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01079" y="823848"/>
            <a:ext cx="792480" cy="381635"/>
          </a:xfrm>
          <a:custGeom>
            <a:avLst/>
            <a:gdLst/>
            <a:ahLst/>
            <a:cxnLst/>
            <a:rect l="l" t="t" r="r" b="b"/>
            <a:pathLst>
              <a:path w="792479" h="381634">
                <a:moveTo>
                  <a:pt x="0" y="381635"/>
                </a:moveTo>
                <a:lnTo>
                  <a:pt x="792353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11493" y="1651253"/>
            <a:ext cx="772795" cy="411480"/>
          </a:xfrm>
          <a:custGeom>
            <a:avLst/>
            <a:gdLst/>
            <a:ahLst/>
            <a:cxnLst/>
            <a:rect l="l" t="t" r="r" b="b"/>
            <a:pathLst>
              <a:path w="772795" h="411480">
                <a:moveTo>
                  <a:pt x="0" y="0"/>
                </a:moveTo>
                <a:lnTo>
                  <a:pt x="772794" y="411352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336663" y="203072"/>
            <a:ext cx="1498600" cy="3968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85"/>
              </a:spcBef>
              <a:tabLst>
                <a:tab pos="1161415" algn="l"/>
              </a:tabLst>
            </a:pPr>
            <a:r>
              <a:rPr sz="800" spc="-5" dirty="0">
                <a:latin typeface="Arial"/>
                <a:cs typeface="Arial"/>
              </a:rPr>
              <a:t>Sample </a:t>
            </a:r>
            <a:r>
              <a:rPr sz="800" spc="-10" dirty="0">
                <a:latin typeface="Arial"/>
                <a:cs typeface="Arial"/>
              </a:rPr>
              <a:t>at </a:t>
            </a:r>
            <a:r>
              <a:rPr sz="800" spc="-5" dirty="0">
                <a:latin typeface="Arial"/>
                <a:cs typeface="Arial"/>
              </a:rPr>
              <a:t>regular </a:t>
            </a:r>
            <a:r>
              <a:rPr sz="800" spc="-10" dirty="0">
                <a:latin typeface="Arial"/>
                <a:cs typeface="Arial"/>
              </a:rPr>
              <a:t>points </a:t>
            </a:r>
            <a:r>
              <a:rPr sz="800" dirty="0">
                <a:latin typeface="Arial"/>
                <a:cs typeface="Arial"/>
              </a:rPr>
              <a:t>in </a:t>
            </a:r>
            <a:r>
              <a:rPr sz="800" spc="-15" dirty="0">
                <a:latin typeface="Arial"/>
                <a:cs typeface="Arial"/>
              </a:rPr>
              <a:t>each  </a:t>
            </a:r>
            <a:r>
              <a:rPr sz="800" dirty="0">
                <a:latin typeface="Arial"/>
                <a:cs typeface="Arial"/>
              </a:rPr>
              <a:t>s</a:t>
            </a:r>
            <a:r>
              <a:rPr sz="800" spc="-5" dirty="0">
                <a:latin typeface="Arial"/>
                <a:cs typeface="Arial"/>
              </a:rPr>
              <a:t>ubreg</a:t>
            </a:r>
            <a:r>
              <a:rPr sz="800" dirty="0">
                <a:latin typeface="Arial"/>
                <a:cs typeface="Arial"/>
              </a:rPr>
              <a:t>ion    </a:t>
            </a:r>
            <a:r>
              <a:rPr sz="800" spc="10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u</a:t>
            </a:r>
            <a:r>
              <a:rPr sz="800" spc="-10" dirty="0">
                <a:latin typeface="Arial"/>
                <a:cs typeface="Arial"/>
              </a:rPr>
              <a:t>s</a:t>
            </a:r>
            <a:r>
              <a:rPr sz="800" dirty="0">
                <a:latin typeface="Arial"/>
                <a:cs typeface="Arial"/>
              </a:rPr>
              <a:t>ing	</a:t>
            </a:r>
            <a:r>
              <a:rPr sz="800" spc="-20" dirty="0">
                <a:latin typeface="Arial"/>
                <a:cs typeface="Arial"/>
              </a:rPr>
              <a:t>b</a:t>
            </a:r>
            <a:r>
              <a:rPr sz="800" dirty="0">
                <a:latin typeface="Arial"/>
                <a:cs typeface="Arial"/>
              </a:rPr>
              <a:t>i</a:t>
            </a:r>
            <a:r>
              <a:rPr sz="800" spc="-10" dirty="0">
                <a:latin typeface="Arial"/>
                <a:cs typeface="Arial"/>
              </a:rPr>
              <a:t>l</a:t>
            </a:r>
            <a:r>
              <a:rPr sz="800" dirty="0">
                <a:latin typeface="Arial"/>
                <a:cs typeface="Arial"/>
              </a:rPr>
              <a:t>i</a:t>
            </a:r>
            <a:r>
              <a:rPr sz="800" spc="-15" dirty="0">
                <a:latin typeface="Arial"/>
                <a:cs typeface="Arial"/>
              </a:rPr>
              <a:t>n</a:t>
            </a:r>
            <a:r>
              <a:rPr sz="800" spc="-5" dirty="0">
                <a:latin typeface="Arial"/>
                <a:cs typeface="Arial"/>
              </a:rPr>
              <a:t>ea</a:t>
            </a:r>
            <a:r>
              <a:rPr sz="800" dirty="0">
                <a:latin typeface="Arial"/>
                <a:cs typeface="Arial"/>
              </a:rPr>
              <a:t>r  </a:t>
            </a:r>
            <a:r>
              <a:rPr sz="800" spc="-5" dirty="0">
                <a:latin typeface="Arial"/>
                <a:cs typeface="Arial"/>
              </a:rPr>
              <a:t>interpolation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37755" y="810132"/>
            <a:ext cx="1283335" cy="1283335"/>
          </a:xfrm>
          <a:custGeom>
            <a:avLst/>
            <a:gdLst/>
            <a:ahLst/>
            <a:cxnLst/>
            <a:rect l="l" t="t" r="r" b="b"/>
            <a:pathLst>
              <a:path w="1283335" h="1283335">
                <a:moveTo>
                  <a:pt x="0" y="1282953"/>
                </a:moveTo>
                <a:lnTo>
                  <a:pt x="1282953" y="1282953"/>
                </a:lnTo>
                <a:lnTo>
                  <a:pt x="1282953" y="0"/>
                </a:lnTo>
                <a:lnTo>
                  <a:pt x="0" y="0"/>
                </a:lnTo>
                <a:lnTo>
                  <a:pt x="0" y="1282953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89087" y="1384680"/>
            <a:ext cx="132587" cy="132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84643" y="1067688"/>
            <a:ext cx="131063" cy="132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84643" y="1721484"/>
            <a:ext cx="131063" cy="13258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14055" y="1721484"/>
            <a:ext cx="131063" cy="13258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14055" y="1067688"/>
            <a:ext cx="131063" cy="13258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323202" y="2087196"/>
            <a:ext cx="1608455" cy="724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125"/>
              </a:spcBef>
            </a:pPr>
            <a:r>
              <a:rPr sz="1050" spc="5" dirty="0">
                <a:latin typeface="Arial"/>
                <a:cs typeface="Arial"/>
              </a:rPr>
              <a:t>Feature </a:t>
            </a:r>
            <a:r>
              <a:rPr sz="1200" spc="-35" dirty="0">
                <a:latin typeface="Cambria Math"/>
                <a:cs typeface="Cambria Math"/>
              </a:rPr>
              <a:t>𝑓</a:t>
            </a:r>
            <a:r>
              <a:rPr sz="1275" spc="-52" baseline="-16339" dirty="0">
                <a:latin typeface="Cambria Math"/>
                <a:cs typeface="Cambria Math"/>
              </a:rPr>
              <a:t>𝑥𝑦</a:t>
            </a:r>
            <a:r>
              <a:rPr sz="1275" spc="172" baseline="-16339" dirty="0">
                <a:latin typeface="Cambria Math"/>
                <a:cs typeface="Cambria Math"/>
              </a:rPr>
              <a:t> </a:t>
            </a:r>
            <a:r>
              <a:rPr sz="1050" spc="5" dirty="0">
                <a:latin typeface="Arial"/>
                <a:cs typeface="Arial"/>
              </a:rPr>
              <a:t>for </a:t>
            </a:r>
            <a:r>
              <a:rPr sz="1050" dirty="0">
                <a:latin typeface="Arial"/>
                <a:cs typeface="Arial"/>
              </a:rPr>
              <a:t>point </a:t>
            </a:r>
            <a:r>
              <a:rPr sz="1050" spc="5" dirty="0">
                <a:latin typeface="Arial"/>
                <a:cs typeface="Arial"/>
              </a:rPr>
              <a:t>(x, </a:t>
            </a:r>
            <a:r>
              <a:rPr sz="1050" spc="-5" dirty="0">
                <a:latin typeface="Arial"/>
                <a:cs typeface="Arial"/>
              </a:rPr>
              <a:t>y)  </a:t>
            </a:r>
            <a:r>
              <a:rPr sz="1050" spc="5" dirty="0">
                <a:latin typeface="Arial"/>
                <a:cs typeface="Arial"/>
              </a:rPr>
              <a:t>is a </a:t>
            </a:r>
            <a:r>
              <a:rPr sz="1050" dirty="0">
                <a:latin typeface="Arial"/>
                <a:cs typeface="Arial"/>
              </a:rPr>
              <a:t>linear </a:t>
            </a:r>
            <a:r>
              <a:rPr sz="1050" spc="5" dirty="0">
                <a:latin typeface="Arial"/>
                <a:cs typeface="Arial"/>
              </a:rPr>
              <a:t>combination </a:t>
            </a:r>
            <a:r>
              <a:rPr sz="1050" dirty="0">
                <a:latin typeface="Arial"/>
                <a:cs typeface="Arial"/>
              </a:rPr>
              <a:t>of  </a:t>
            </a:r>
            <a:r>
              <a:rPr sz="1050" spc="5" dirty="0">
                <a:latin typeface="Arial"/>
                <a:cs typeface="Arial"/>
              </a:rPr>
              <a:t>features </a:t>
            </a:r>
            <a:r>
              <a:rPr sz="1050" dirty="0">
                <a:latin typeface="Arial"/>
                <a:cs typeface="Arial"/>
              </a:rPr>
              <a:t>at </a:t>
            </a:r>
            <a:r>
              <a:rPr sz="1050" spc="5" dirty="0">
                <a:latin typeface="Arial"/>
                <a:cs typeface="Arial"/>
              </a:rPr>
              <a:t>its four  </a:t>
            </a:r>
            <a:r>
              <a:rPr sz="1050" dirty="0">
                <a:latin typeface="Arial"/>
                <a:cs typeface="Arial"/>
              </a:rPr>
              <a:t>neighboring grid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cells: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131" y="3007486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et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al,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“Mask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5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36468" y="171957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5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Align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435628" y="810164"/>
          <a:ext cx="1282700" cy="12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222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350" spc="-67" baseline="12345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650" spc="-45" dirty="0">
                          <a:latin typeface="Cambria Math"/>
                          <a:cs typeface="Cambria Math"/>
                        </a:rPr>
                        <a:t>11</a:t>
                      </a:r>
                      <a:endParaRPr sz="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6350" algn="ctr">
                        <a:lnSpc>
                          <a:spcPct val="100000"/>
                        </a:lnSpc>
                      </a:pPr>
                      <a:r>
                        <a:rPr sz="900" spc="5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975" spc="7" baseline="-17094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900" spc="5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900" spc="-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975" baseline="-17094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)</a:t>
                      </a:r>
                      <a:endParaRPr sz="900">
                        <a:latin typeface="Cambria Math"/>
                        <a:cs typeface="Cambria Math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350" spc="-60" baseline="12345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650" spc="-40" dirty="0">
                          <a:latin typeface="Cambria Math"/>
                          <a:cs typeface="Cambria Math"/>
                        </a:rPr>
                        <a:t>21</a:t>
                      </a:r>
                      <a:endParaRPr sz="65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5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975" spc="7" baseline="-17094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900" spc="5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900" spc="-6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975" baseline="-17094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)</a:t>
                      </a:r>
                      <a:endParaRPr sz="900">
                        <a:latin typeface="Cambria Math"/>
                        <a:cs typeface="Cambria Math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 marL="157480" marR="112395" indent="73025">
                        <a:lnSpc>
                          <a:spcPct val="177800"/>
                        </a:lnSpc>
                        <a:spcBef>
                          <a:spcPts val="185"/>
                        </a:spcBef>
                      </a:pPr>
                      <a:r>
                        <a:rPr sz="1350" spc="-67" baseline="12345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650" spc="-45" dirty="0">
                          <a:latin typeface="Cambria Math"/>
                          <a:cs typeface="Cambria Math"/>
                        </a:rPr>
                        <a:t>12 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975" baseline="-17094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900" spc="-1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spc="1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975" spc="15" baseline="-17094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900" spc="10" dirty="0">
                          <a:latin typeface="Cambria Math"/>
                          <a:cs typeface="Cambria Math"/>
                        </a:rPr>
                        <a:t>)</a:t>
                      </a:r>
                      <a:endParaRPr sz="90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 marR="148590" indent="107314">
                        <a:lnSpc>
                          <a:spcPct val="179400"/>
                        </a:lnSpc>
                        <a:spcBef>
                          <a:spcPts val="195"/>
                        </a:spcBef>
                      </a:pPr>
                      <a:r>
                        <a:rPr sz="1350" spc="-60" baseline="12345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650" spc="-40" dirty="0">
                          <a:latin typeface="Cambria Math"/>
                          <a:cs typeface="Cambria Math"/>
                        </a:rPr>
                        <a:t>22  </a:t>
                      </a:r>
                      <a:r>
                        <a:rPr sz="900" spc="5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975" spc="7" baseline="-17094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900" spc="5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90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spc="1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975" spc="15" baseline="-17094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900" spc="10" dirty="0">
                          <a:latin typeface="Cambria Math"/>
                          <a:cs typeface="Cambria Math"/>
                        </a:rPr>
                        <a:t>)</a:t>
                      </a:r>
                      <a:endParaRPr sz="900">
                        <a:latin typeface="Cambria Math"/>
                        <a:cs typeface="Cambria Math"/>
                      </a:endParaRPr>
                    </a:p>
                  </a:txBody>
                  <a:tcPr marL="0" marR="0" marT="24765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1732655" y="2862960"/>
            <a:ext cx="4372356" cy="2499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791448" y="1359534"/>
            <a:ext cx="295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latin typeface="Cambria Math"/>
                <a:cs typeface="Cambria Math"/>
              </a:rPr>
              <a:t>(𝑥,</a:t>
            </a:r>
            <a:r>
              <a:rPr sz="900" spc="-105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𝑦)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956" y="2488818"/>
            <a:ext cx="1032510" cy="31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45912" y="2517393"/>
            <a:ext cx="1031240" cy="30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图像特征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23889" y="578865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不进行规整操作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43502" y="59194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0720" y="1263501"/>
            <a:ext cx="806450" cy="1013460"/>
          </a:xfrm>
          <a:custGeom>
            <a:avLst/>
            <a:gdLst/>
            <a:ahLst/>
            <a:cxnLst/>
            <a:rect l="l" t="t" r="r" b="b"/>
            <a:pathLst>
              <a:path w="806450" h="1013460">
                <a:moveTo>
                  <a:pt x="0" y="1013371"/>
                </a:moveTo>
                <a:lnTo>
                  <a:pt x="805992" y="1013371"/>
                </a:lnTo>
                <a:lnTo>
                  <a:pt x="805992" y="0"/>
                </a:lnTo>
                <a:lnTo>
                  <a:pt x="0" y="0"/>
                </a:lnTo>
                <a:lnTo>
                  <a:pt x="0" y="10133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400" y="1004459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3130" y="558689"/>
            <a:ext cx="2287905" cy="443865"/>
          </a:xfrm>
          <a:custGeom>
            <a:avLst/>
            <a:gdLst/>
            <a:ahLst/>
            <a:cxnLst/>
            <a:rect l="l" t="t" r="r" b="b"/>
            <a:pathLst>
              <a:path w="2287905" h="443865">
                <a:moveTo>
                  <a:pt x="0" y="443356"/>
                </a:moveTo>
                <a:lnTo>
                  <a:pt x="15493" y="380746"/>
                </a:lnTo>
                <a:lnTo>
                  <a:pt x="59943" y="319786"/>
                </a:lnTo>
                <a:lnTo>
                  <a:pt x="92075" y="290322"/>
                </a:lnTo>
                <a:lnTo>
                  <a:pt x="130175" y="261493"/>
                </a:lnTo>
                <a:lnTo>
                  <a:pt x="174116" y="233679"/>
                </a:lnTo>
                <a:lnTo>
                  <a:pt x="223393" y="206755"/>
                </a:lnTo>
                <a:lnTo>
                  <a:pt x="277621" y="181101"/>
                </a:lnTo>
                <a:lnTo>
                  <a:pt x="336295" y="156591"/>
                </a:lnTo>
                <a:lnTo>
                  <a:pt x="399288" y="133350"/>
                </a:lnTo>
                <a:lnTo>
                  <a:pt x="466089" y="111633"/>
                </a:lnTo>
                <a:lnTo>
                  <a:pt x="536194" y="91567"/>
                </a:lnTo>
                <a:lnTo>
                  <a:pt x="609472" y="73151"/>
                </a:lnTo>
                <a:lnTo>
                  <a:pt x="647064" y="64516"/>
                </a:lnTo>
                <a:lnTo>
                  <a:pt x="685292" y="56515"/>
                </a:lnTo>
                <a:lnTo>
                  <a:pt x="724153" y="48895"/>
                </a:lnTo>
                <a:lnTo>
                  <a:pt x="763524" y="41783"/>
                </a:lnTo>
                <a:lnTo>
                  <a:pt x="803401" y="35178"/>
                </a:lnTo>
                <a:lnTo>
                  <a:pt x="843661" y="29083"/>
                </a:lnTo>
                <a:lnTo>
                  <a:pt x="884174" y="23495"/>
                </a:lnTo>
                <a:lnTo>
                  <a:pt x="925194" y="18542"/>
                </a:lnTo>
                <a:lnTo>
                  <a:pt x="966469" y="14097"/>
                </a:lnTo>
                <a:lnTo>
                  <a:pt x="1007999" y="10160"/>
                </a:lnTo>
                <a:lnTo>
                  <a:pt x="1049655" y="6985"/>
                </a:lnTo>
                <a:lnTo>
                  <a:pt x="1091438" y="4318"/>
                </a:lnTo>
                <a:lnTo>
                  <a:pt x="1133347" y="2286"/>
                </a:lnTo>
                <a:lnTo>
                  <a:pt x="1175384" y="889"/>
                </a:lnTo>
                <a:lnTo>
                  <a:pt x="1248790" y="0"/>
                </a:lnTo>
                <a:lnTo>
                  <a:pt x="1285367" y="253"/>
                </a:lnTo>
                <a:lnTo>
                  <a:pt x="1358392" y="2159"/>
                </a:lnTo>
                <a:lnTo>
                  <a:pt x="1430655" y="5969"/>
                </a:lnTo>
                <a:lnTo>
                  <a:pt x="1502028" y="11302"/>
                </a:lnTo>
                <a:lnTo>
                  <a:pt x="1572259" y="18288"/>
                </a:lnTo>
                <a:lnTo>
                  <a:pt x="1641220" y="26797"/>
                </a:lnTo>
                <a:lnTo>
                  <a:pt x="1708403" y="36575"/>
                </a:lnTo>
                <a:lnTo>
                  <a:pt x="1773682" y="47878"/>
                </a:lnTo>
                <a:lnTo>
                  <a:pt x="1836800" y="60325"/>
                </a:lnTo>
                <a:lnTo>
                  <a:pt x="1897507" y="73914"/>
                </a:lnTo>
                <a:lnTo>
                  <a:pt x="1955419" y="88519"/>
                </a:lnTo>
                <a:lnTo>
                  <a:pt x="2019427" y="106806"/>
                </a:lnTo>
                <a:lnTo>
                  <a:pt x="2087118" y="129159"/>
                </a:lnTo>
                <a:lnTo>
                  <a:pt x="2148459" y="152780"/>
                </a:lnTo>
                <a:lnTo>
                  <a:pt x="2202815" y="177419"/>
                </a:lnTo>
                <a:lnTo>
                  <a:pt x="2249678" y="203073"/>
                </a:lnTo>
                <a:lnTo>
                  <a:pt x="2283714" y="225933"/>
                </a:lnTo>
                <a:lnTo>
                  <a:pt x="2284603" y="226568"/>
                </a:lnTo>
                <a:lnTo>
                  <a:pt x="2285365" y="227075"/>
                </a:lnTo>
                <a:lnTo>
                  <a:pt x="2287397" y="228726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49019" y="1004459"/>
          <a:ext cx="1656077" cy="1421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02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00FF00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FF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FF00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3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00FF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204840" y="759095"/>
            <a:ext cx="92963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0624" y="1571387"/>
            <a:ext cx="77724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6052" y="1370219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0164" y="1370219"/>
            <a:ext cx="77724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0164" y="1569863"/>
            <a:ext cx="77724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6007" y="1571387"/>
            <a:ext cx="79248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2960" y="1370219"/>
            <a:ext cx="77724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35548" y="1370219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35548" y="1569863"/>
            <a:ext cx="79248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00624" y="2078879"/>
            <a:ext cx="77724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96052" y="1879235"/>
            <a:ext cx="79248" cy="777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30164" y="1879235"/>
            <a:ext cx="77724" cy="777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30164" y="2078879"/>
            <a:ext cx="77724" cy="77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06007" y="2078879"/>
            <a:ext cx="79248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02960" y="1879235"/>
            <a:ext cx="77724" cy="777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35548" y="1879235"/>
            <a:ext cx="79248" cy="777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35548" y="2078879"/>
            <a:ext cx="79248" cy="77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07148" y="1489155"/>
            <a:ext cx="393065" cy="398145"/>
          </a:xfrm>
          <a:custGeom>
            <a:avLst/>
            <a:gdLst/>
            <a:ahLst/>
            <a:cxnLst/>
            <a:rect l="l" t="t" r="r" b="b"/>
            <a:pathLst>
              <a:path w="393064" h="398144">
                <a:moveTo>
                  <a:pt x="0" y="397573"/>
                </a:moveTo>
                <a:lnTo>
                  <a:pt x="393039" y="397573"/>
                </a:lnTo>
                <a:lnTo>
                  <a:pt x="393039" y="0"/>
                </a:lnTo>
                <a:lnTo>
                  <a:pt x="0" y="0"/>
                </a:lnTo>
                <a:lnTo>
                  <a:pt x="0" y="3975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0340" y="1376315"/>
            <a:ext cx="113030" cy="510540"/>
          </a:xfrm>
          <a:custGeom>
            <a:avLst/>
            <a:gdLst/>
            <a:ahLst/>
            <a:cxnLst/>
            <a:rect l="l" t="t" r="r" b="b"/>
            <a:pathLst>
              <a:path w="113029" h="510539">
                <a:moveTo>
                  <a:pt x="112649" y="0"/>
                </a:moveTo>
                <a:lnTo>
                  <a:pt x="0" y="112775"/>
                </a:lnTo>
                <a:lnTo>
                  <a:pt x="0" y="510159"/>
                </a:lnTo>
                <a:lnTo>
                  <a:pt x="112649" y="397383"/>
                </a:lnTo>
                <a:lnTo>
                  <a:pt x="112649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07148" y="1376315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505587" y="0"/>
                </a:moveTo>
                <a:lnTo>
                  <a:pt x="112649" y="0"/>
                </a:lnTo>
                <a:lnTo>
                  <a:pt x="0" y="112649"/>
                </a:lnTo>
                <a:lnTo>
                  <a:pt x="392938" y="112649"/>
                </a:lnTo>
                <a:lnTo>
                  <a:pt x="505587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07910" y="1377077"/>
            <a:ext cx="506095" cy="510540"/>
          </a:xfrm>
          <a:custGeom>
            <a:avLst/>
            <a:gdLst/>
            <a:ahLst/>
            <a:cxnLst/>
            <a:rect l="l" t="t" r="r" b="b"/>
            <a:pathLst>
              <a:path w="506095" h="510539">
                <a:moveTo>
                  <a:pt x="0" y="112775"/>
                </a:moveTo>
                <a:lnTo>
                  <a:pt x="112775" y="0"/>
                </a:lnTo>
                <a:lnTo>
                  <a:pt x="505713" y="0"/>
                </a:lnTo>
                <a:lnTo>
                  <a:pt x="505713" y="397382"/>
                </a:lnTo>
                <a:lnTo>
                  <a:pt x="393064" y="510158"/>
                </a:lnTo>
                <a:lnTo>
                  <a:pt x="0" y="510158"/>
                </a:lnTo>
                <a:lnTo>
                  <a:pt x="0" y="112775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07910" y="1377077"/>
            <a:ext cx="506095" cy="113030"/>
          </a:xfrm>
          <a:custGeom>
            <a:avLst/>
            <a:gdLst/>
            <a:ahLst/>
            <a:cxnLst/>
            <a:rect l="l" t="t" r="r" b="b"/>
            <a:pathLst>
              <a:path w="506095" h="113030">
                <a:moveTo>
                  <a:pt x="0" y="112775"/>
                </a:moveTo>
                <a:lnTo>
                  <a:pt x="393064" y="112775"/>
                </a:lnTo>
                <a:lnTo>
                  <a:pt x="505713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00974" y="1489853"/>
            <a:ext cx="0" cy="397510"/>
          </a:xfrm>
          <a:custGeom>
            <a:avLst/>
            <a:gdLst/>
            <a:ahLst/>
            <a:cxnLst/>
            <a:rect l="l" t="t" r="r" b="b"/>
            <a:pathLst>
              <a:path h="397510">
                <a:moveTo>
                  <a:pt x="0" y="0"/>
                </a:moveTo>
                <a:lnTo>
                  <a:pt x="0" y="39738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04379" y="1496203"/>
            <a:ext cx="1905" cy="391160"/>
          </a:xfrm>
          <a:custGeom>
            <a:avLst/>
            <a:gdLst/>
            <a:ahLst/>
            <a:cxnLst/>
            <a:rect l="l" t="t" r="r" b="b"/>
            <a:pathLst>
              <a:path w="1904" h="391160">
                <a:moveTo>
                  <a:pt x="1650" y="0"/>
                </a:moveTo>
                <a:lnTo>
                  <a:pt x="0" y="39103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07910" y="1688481"/>
            <a:ext cx="393065" cy="3810"/>
          </a:xfrm>
          <a:custGeom>
            <a:avLst/>
            <a:gdLst/>
            <a:ahLst/>
            <a:cxnLst/>
            <a:rect l="l" t="t" r="r" b="b"/>
            <a:pathLst>
              <a:path w="393064" h="3810">
                <a:moveTo>
                  <a:pt x="393064" y="0"/>
                </a:moveTo>
                <a:lnTo>
                  <a:pt x="0" y="3301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43446" y="1675781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6945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89216" y="1633871"/>
            <a:ext cx="105155" cy="82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336468" y="149241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区域裁</a:t>
            </a:r>
            <a:r>
              <a:rPr sz="1800" b="1" spc="-5" dirty="0">
                <a:latin typeface="微软雅黑"/>
                <a:cs typeface="微软雅黑"/>
              </a:rPr>
              <a:t>剪</a:t>
            </a:r>
            <a:r>
              <a:rPr sz="1800" b="1" dirty="0">
                <a:latin typeface="微软雅黑"/>
                <a:cs typeface="微软雅黑"/>
              </a:rPr>
              <a:t>:</a:t>
            </a:r>
            <a:r>
              <a:rPr sz="1800" b="1" spc="-55" dirty="0">
                <a:latin typeface="微软雅黑"/>
                <a:cs typeface="微软雅黑"/>
              </a:rPr>
              <a:t> </a:t>
            </a:r>
            <a:r>
              <a:rPr sz="1800" b="1" spc="-20" dirty="0">
                <a:latin typeface="微软雅黑"/>
                <a:cs typeface="微软雅黑"/>
              </a:rPr>
              <a:t>RoI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Align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0956" y="2466102"/>
            <a:ext cx="1032510" cy="31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45913" y="2494423"/>
            <a:ext cx="1031240" cy="30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图像特征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23890" y="556149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不进行规整操作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43502" y="568976"/>
            <a:ext cx="7131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将候选区域投 影到特征图上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57111" y="921401"/>
            <a:ext cx="9398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对每个子区域进行 最大池化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73722" y="1928740"/>
            <a:ext cx="101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marR="140335" algn="ctr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latin typeface="微软雅黑"/>
                <a:cs typeface="微软雅黑"/>
              </a:rPr>
              <a:t>此处特征图</a:t>
            </a:r>
            <a:r>
              <a:rPr sz="800" spc="-15" dirty="0">
                <a:latin typeface="微软雅黑"/>
                <a:cs typeface="微软雅黑"/>
              </a:rPr>
              <a:t>尺</a:t>
            </a:r>
            <a:r>
              <a:rPr sz="800" dirty="0">
                <a:latin typeface="微软雅黑"/>
                <a:cs typeface="微软雅黑"/>
              </a:rPr>
              <a:t>寸 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4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2</a:t>
            </a:r>
            <a:r>
              <a:rPr sz="800" spc="-1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90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2;</a:t>
            </a:r>
            <a:endParaRPr sz="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800" spc="-5" dirty="0">
                <a:latin typeface="微软雅黑"/>
                <a:cs typeface="微软雅黑"/>
              </a:rPr>
              <a:t>(</a:t>
            </a:r>
            <a:r>
              <a:rPr sz="800" dirty="0">
                <a:latin typeface="微软雅黑"/>
                <a:cs typeface="微软雅黑"/>
              </a:rPr>
              <a:t>论文中为</a:t>
            </a:r>
            <a:r>
              <a:rPr sz="800" spc="-5" dirty="0">
                <a:latin typeface="微软雅黑"/>
                <a:cs typeface="微软雅黑"/>
              </a:rPr>
              <a:t>512</a:t>
            </a:r>
            <a:r>
              <a:rPr sz="800" spc="-5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2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7</a:t>
            </a:r>
            <a:r>
              <a:rPr sz="800" spc="-20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x</a:t>
            </a:r>
            <a:r>
              <a:rPr sz="800" spc="-65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7)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132" y="2949210"/>
            <a:ext cx="6047105" cy="4762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22" baseline="27777" dirty="0">
                <a:latin typeface="Arial"/>
                <a:cs typeface="Arial"/>
              </a:rPr>
              <a:t>He </a:t>
            </a:r>
            <a:r>
              <a:rPr sz="750" spc="7" baseline="27777" dirty="0">
                <a:latin typeface="Arial"/>
                <a:cs typeface="Arial"/>
              </a:rPr>
              <a:t>et al, </a:t>
            </a:r>
            <a:r>
              <a:rPr sz="750" spc="15" baseline="27777" dirty="0">
                <a:latin typeface="Arial"/>
                <a:cs typeface="Arial"/>
              </a:rPr>
              <a:t>“Mask </a:t>
            </a:r>
            <a:r>
              <a:rPr sz="750" spc="22" baseline="27777" dirty="0">
                <a:latin typeface="Arial"/>
                <a:cs typeface="Arial"/>
              </a:rPr>
              <a:t>R-CNN”, ICCV </a:t>
            </a:r>
            <a:r>
              <a:rPr sz="750" spc="7" baseline="27777" dirty="0">
                <a:latin typeface="Arial"/>
                <a:cs typeface="Arial"/>
              </a:rPr>
              <a:t>2017 </a:t>
            </a:r>
            <a:r>
              <a:rPr sz="1050" b="1" spc="5" dirty="0">
                <a:latin typeface="微软雅黑"/>
                <a:cs typeface="微软雅黑"/>
              </a:rPr>
              <a:t>Sample at regular points in </a:t>
            </a:r>
            <a:r>
              <a:rPr sz="1050" b="1" spc="10" dirty="0">
                <a:latin typeface="微软雅黑"/>
                <a:cs typeface="微软雅黑"/>
              </a:rPr>
              <a:t>each </a:t>
            </a:r>
            <a:r>
              <a:rPr sz="1050" b="1" spc="5" dirty="0">
                <a:latin typeface="微软雅黑"/>
                <a:cs typeface="微软雅黑"/>
              </a:rPr>
              <a:t>subregion </a:t>
            </a:r>
            <a:r>
              <a:rPr sz="1050" b="1" spc="10" dirty="0">
                <a:latin typeface="微软雅黑"/>
                <a:cs typeface="微软雅黑"/>
              </a:rPr>
              <a:t>using </a:t>
            </a:r>
            <a:r>
              <a:rPr sz="1050" b="1" spc="5" dirty="0">
                <a:latin typeface="微软雅黑"/>
                <a:cs typeface="微软雅黑"/>
              </a:rPr>
              <a:t>bilinear</a:t>
            </a:r>
            <a:r>
              <a:rPr sz="1050" b="1" spc="-204" dirty="0">
                <a:latin typeface="微软雅黑"/>
                <a:cs typeface="微软雅黑"/>
              </a:rPr>
              <a:t> </a:t>
            </a:r>
            <a:r>
              <a:rPr sz="1050" b="1" dirty="0">
                <a:latin typeface="微软雅黑"/>
                <a:cs typeface="微软雅黑"/>
              </a:rPr>
              <a:t>interpolation</a:t>
            </a:r>
            <a:endParaRPr sz="1050">
              <a:latin typeface="微软雅黑"/>
              <a:cs typeface="微软雅黑"/>
            </a:endParaRPr>
          </a:p>
          <a:p>
            <a:pPr marL="140335">
              <a:lnSpc>
                <a:spcPct val="100000"/>
              </a:lnSpc>
              <a:spcBef>
                <a:spcPts val="1190"/>
              </a:spcBef>
              <a:tabLst>
                <a:tab pos="2416810" algn="l"/>
                <a:tab pos="557530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359" y="974724"/>
            <a:ext cx="2484119" cy="1484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28996" y="825372"/>
            <a:ext cx="2820924" cy="1812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26193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0" dirty="0">
                <a:latin typeface="微软雅黑"/>
                <a:cs typeface="微软雅黑"/>
              </a:rPr>
              <a:t>R-CNN </a:t>
            </a:r>
            <a:r>
              <a:rPr b="1" spc="5" dirty="0">
                <a:latin typeface="微软雅黑"/>
                <a:cs typeface="微软雅黑"/>
              </a:rPr>
              <a:t>vs </a:t>
            </a:r>
            <a:r>
              <a:rPr b="1" spc="-5" dirty="0">
                <a:latin typeface="微软雅黑"/>
                <a:cs typeface="微软雅黑"/>
              </a:rPr>
              <a:t>Fast</a:t>
            </a:r>
            <a:r>
              <a:rPr b="1" spc="-21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R-CNN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131" y="2812795"/>
            <a:ext cx="3302635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 </a:t>
            </a:r>
            <a:r>
              <a:rPr sz="500" spc="5" dirty="0">
                <a:latin typeface="Arial"/>
                <a:cs typeface="Arial"/>
              </a:rPr>
              <a:t>2014.  </a:t>
            </a:r>
            <a:r>
              <a:rPr sz="500" spc="15" dirty="0">
                <a:latin typeface="Arial"/>
                <a:cs typeface="Arial"/>
              </a:rPr>
              <a:t>He </a:t>
            </a:r>
            <a:r>
              <a:rPr sz="500" spc="5" dirty="0">
                <a:latin typeface="Arial"/>
                <a:cs typeface="Arial"/>
              </a:rPr>
              <a:t>et al, “Spatial </a:t>
            </a:r>
            <a:r>
              <a:rPr sz="500" spc="10" dirty="0">
                <a:latin typeface="Arial"/>
                <a:cs typeface="Arial"/>
              </a:rPr>
              <a:t>pyramid </a:t>
            </a:r>
            <a:r>
              <a:rPr sz="500" spc="5" dirty="0">
                <a:latin typeface="Arial"/>
                <a:cs typeface="Arial"/>
              </a:rPr>
              <a:t>pooling </a:t>
            </a:r>
            <a:r>
              <a:rPr sz="500" spc="10" dirty="0">
                <a:latin typeface="Arial"/>
                <a:cs typeface="Arial"/>
              </a:rPr>
              <a:t>in </a:t>
            </a:r>
            <a:r>
              <a:rPr sz="500" spc="5" dirty="0">
                <a:latin typeface="Arial"/>
                <a:cs typeface="Arial"/>
              </a:rPr>
              <a:t>deep convolutional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visual </a:t>
            </a:r>
            <a:r>
              <a:rPr sz="500" spc="5" dirty="0">
                <a:latin typeface="Arial"/>
                <a:cs typeface="Arial"/>
              </a:rPr>
              <a:t>recognition”, </a:t>
            </a:r>
            <a:r>
              <a:rPr sz="500" spc="15" dirty="0">
                <a:latin typeface="Arial"/>
                <a:cs typeface="Arial"/>
              </a:rPr>
              <a:t>ECCV</a:t>
            </a:r>
            <a:r>
              <a:rPr sz="500" spc="-8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2014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Girshick, “Fast </a:t>
            </a:r>
            <a:r>
              <a:rPr sz="500" spc="15" dirty="0">
                <a:latin typeface="Arial"/>
                <a:cs typeface="Arial"/>
              </a:rPr>
              <a:t>R-CNN”, ICCV</a:t>
            </a:r>
            <a:r>
              <a:rPr sz="500" spc="-4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2015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8996" y="803291"/>
            <a:ext cx="2820924" cy="1812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71412" y="2286143"/>
            <a:ext cx="506095" cy="0"/>
          </a:xfrm>
          <a:custGeom>
            <a:avLst/>
            <a:gdLst/>
            <a:ahLst/>
            <a:cxnLst/>
            <a:rect l="l" t="t" r="r" b="b"/>
            <a:pathLst>
              <a:path w="506095">
                <a:moveTo>
                  <a:pt x="0" y="0"/>
                </a:moveTo>
                <a:lnTo>
                  <a:pt x="50584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7404" y="2258712"/>
            <a:ext cx="70103" cy="54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360" y="952643"/>
            <a:ext cx="2484119" cy="14843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26193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0" dirty="0">
                <a:latin typeface="微软雅黑"/>
                <a:cs typeface="微软雅黑"/>
              </a:rPr>
              <a:t>R-CNN </a:t>
            </a:r>
            <a:r>
              <a:rPr b="1" spc="5" dirty="0">
                <a:latin typeface="微软雅黑"/>
                <a:cs typeface="微软雅黑"/>
              </a:rPr>
              <a:t>vs </a:t>
            </a:r>
            <a:r>
              <a:rPr b="1" spc="-5" dirty="0">
                <a:latin typeface="微软雅黑"/>
                <a:cs typeface="微软雅黑"/>
              </a:rPr>
              <a:t>Fast</a:t>
            </a:r>
            <a:r>
              <a:rPr b="1" spc="-21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R-CNN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132" y="2790079"/>
            <a:ext cx="3302635" cy="275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Girshick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“Rich </a:t>
            </a:r>
            <a:r>
              <a:rPr sz="500" spc="5" dirty="0">
                <a:latin typeface="Arial"/>
                <a:cs typeface="Arial"/>
              </a:rPr>
              <a:t>feature hierarchies for accurate object detection and </a:t>
            </a:r>
            <a:r>
              <a:rPr sz="500" spc="10" dirty="0">
                <a:latin typeface="Arial"/>
                <a:cs typeface="Arial"/>
              </a:rPr>
              <a:t>semantic </a:t>
            </a:r>
            <a:r>
              <a:rPr sz="500" spc="5" dirty="0">
                <a:latin typeface="Arial"/>
                <a:cs typeface="Arial"/>
              </a:rPr>
              <a:t>segmentation”, </a:t>
            </a:r>
            <a:r>
              <a:rPr sz="500" spc="15" dirty="0">
                <a:latin typeface="Arial"/>
                <a:cs typeface="Arial"/>
              </a:rPr>
              <a:t>CVPR </a:t>
            </a:r>
            <a:r>
              <a:rPr sz="500" spc="5" dirty="0">
                <a:latin typeface="Arial"/>
                <a:cs typeface="Arial"/>
              </a:rPr>
              <a:t>2014.  </a:t>
            </a:r>
            <a:r>
              <a:rPr sz="500" spc="15" dirty="0">
                <a:latin typeface="Arial"/>
                <a:cs typeface="Arial"/>
              </a:rPr>
              <a:t>He </a:t>
            </a:r>
            <a:r>
              <a:rPr sz="500" spc="5" dirty="0">
                <a:latin typeface="Arial"/>
                <a:cs typeface="Arial"/>
              </a:rPr>
              <a:t>et al, “Spatial </a:t>
            </a:r>
            <a:r>
              <a:rPr sz="500" spc="10" dirty="0">
                <a:latin typeface="Arial"/>
                <a:cs typeface="Arial"/>
              </a:rPr>
              <a:t>pyramid </a:t>
            </a:r>
            <a:r>
              <a:rPr sz="500" spc="5" dirty="0">
                <a:latin typeface="Arial"/>
                <a:cs typeface="Arial"/>
              </a:rPr>
              <a:t>pooling </a:t>
            </a:r>
            <a:r>
              <a:rPr sz="500" spc="10" dirty="0">
                <a:latin typeface="Arial"/>
                <a:cs typeface="Arial"/>
              </a:rPr>
              <a:t>in </a:t>
            </a:r>
            <a:r>
              <a:rPr sz="500" spc="5" dirty="0">
                <a:latin typeface="Arial"/>
                <a:cs typeface="Arial"/>
              </a:rPr>
              <a:t>deep convolutional </a:t>
            </a:r>
            <a:r>
              <a:rPr sz="500" spc="10" dirty="0">
                <a:latin typeface="Arial"/>
                <a:cs typeface="Arial"/>
              </a:rPr>
              <a:t>networks </a:t>
            </a:r>
            <a:r>
              <a:rPr sz="500" spc="5" dirty="0">
                <a:latin typeface="Arial"/>
                <a:cs typeface="Arial"/>
              </a:rPr>
              <a:t>for </a:t>
            </a:r>
            <a:r>
              <a:rPr sz="500" spc="10" dirty="0">
                <a:latin typeface="Arial"/>
                <a:cs typeface="Arial"/>
              </a:rPr>
              <a:t>visual </a:t>
            </a:r>
            <a:r>
              <a:rPr sz="500" spc="5" dirty="0">
                <a:latin typeface="Arial"/>
                <a:cs typeface="Arial"/>
              </a:rPr>
              <a:t>recognition”, </a:t>
            </a:r>
            <a:r>
              <a:rPr sz="500" spc="15" dirty="0">
                <a:latin typeface="Arial"/>
                <a:cs typeface="Arial"/>
              </a:rPr>
              <a:t>ECCV</a:t>
            </a:r>
            <a:r>
              <a:rPr sz="500" spc="-8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2014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10" dirty="0">
                <a:latin typeface="Arial"/>
                <a:cs typeface="Arial"/>
              </a:rPr>
              <a:t>Girshick, “Fast </a:t>
            </a:r>
            <a:r>
              <a:rPr sz="500" spc="15" dirty="0">
                <a:latin typeface="Arial"/>
                <a:cs typeface="Arial"/>
              </a:rPr>
              <a:t>R-CNN”, ICCV</a:t>
            </a:r>
            <a:r>
              <a:rPr sz="500" spc="-4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2015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8274" y="1939107"/>
            <a:ext cx="1290320" cy="93154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问题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: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候选区域产生过程耗时</a:t>
            </a:r>
            <a:endParaRPr sz="10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</a:pPr>
            <a:r>
              <a:rPr sz="1000" spc="-5" dirty="0">
                <a:solidFill>
                  <a:srgbClr val="FF0000"/>
                </a:solidFill>
                <a:latin typeface="微软雅黑"/>
                <a:cs typeface="微软雅黑"/>
              </a:rPr>
              <a:t>过高，几乎等于单张图 片的检测时间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9603" y="106044"/>
            <a:ext cx="3671316" cy="298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36159" y="106070"/>
            <a:ext cx="1467485" cy="379730"/>
          </a:xfrm>
          <a:custGeom>
            <a:avLst/>
            <a:gdLst/>
            <a:ahLst/>
            <a:cxnLst/>
            <a:rect l="l" t="t" r="r" b="b"/>
            <a:pathLst>
              <a:path w="1467485" h="379730">
                <a:moveTo>
                  <a:pt x="0" y="379196"/>
                </a:moveTo>
                <a:lnTo>
                  <a:pt x="1467485" y="379196"/>
                </a:lnTo>
                <a:lnTo>
                  <a:pt x="1467485" y="0"/>
                </a:lnTo>
                <a:lnTo>
                  <a:pt x="0" y="0"/>
                </a:lnTo>
                <a:lnTo>
                  <a:pt x="0" y="379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468" y="6222"/>
            <a:ext cx="1686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dirty="0">
                <a:latin typeface="微软雅黑"/>
                <a:cs typeface="微软雅黑"/>
              </a:rPr>
              <a:t>Fast</a:t>
            </a:r>
            <a:r>
              <a:rPr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5" dirty="0">
                <a:latin typeface="微软雅黑"/>
                <a:cs typeface="微软雅黑"/>
              </a:rPr>
              <a:t>R-CNN: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6468" y="295783"/>
            <a:ext cx="3541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latin typeface="微软雅黑"/>
                <a:cs typeface="微软雅黑"/>
              </a:rPr>
              <a:t>Make </a:t>
            </a:r>
            <a:r>
              <a:rPr sz="2200" b="1" spc="-10" dirty="0">
                <a:latin typeface="微软雅黑"/>
                <a:cs typeface="微软雅黑"/>
              </a:rPr>
              <a:t>CNN </a:t>
            </a:r>
            <a:r>
              <a:rPr sz="2200" b="1" spc="-5" dirty="0">
                <a:latin typeface="微软雅黑"/>
                <a:cs typeface="微软雅黑"/>
              </a:rPr>
              <a:t>do</a:t>
            </a:r>
            <a:r>
              <a:rPr sz="2200" b="1" spc="-75" dirty="0">
                <a:latin typeface="微软雅黑"/>
                <a:cs typeface="微软雅黑"/>
              </a:rPr>
              <a:t> </a:t>
            </a:r>
            <a:r>
              <a:rPr sz="2200" b="1" spc="-5" dirty="0">
                <a:latin typeface="微软雅黑"/>
                <a:cs typeface="微软雅黑"/>
              </a:rPr>
              <a:t>proposals!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34" y="2889250"/>
            <a:ext cx="3220720" cy="1885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Ren </a:t>
            </a:r>
            <a:r>
              <a:rPr sz="500" spc="5" dirty="0">
                <a:latin typeface="Arial"/>
                <a:cs typeface="Arial"/>
              </a:rPr>
              <a:t>et al, “Faster </a:t>
            </a:r>
            <a:r>
              <a:rPr sz="500" spc="15" dirty="0">
                <a:latin typeface="Arial"/>
                <a:cs typeface="Arial"/>
              </a:rPr>
              <a:t>R-CNN: </a:t>
            </a:r>
            <a:r>
              <a:rPr sz="500" dirty="0">
                <a:latin typeface="Arial"/>
                <a:cs typeface="Arial"/>
              </a:rPr>
              <a:t>Towards Real-Time </a:t>
            </a:r>
            <a:r>
              <a:rPr sz="500" spc="10" dirty="0">
                <a:latin typeface="Arial"/>
                <a:cs typeface="Arial"/>
              </a:rPr>
              <a:t>Object </a:t>
            </a:r>
            <a:r>
              <a:rPr sz="500" spc="5" dirty="0">
                <a:latin typeface="Arial"/>
                <a:cs typeface="Arial"/>
              </a:rPr>
              <a:t>Detection </a:t>
            </a:r>
            <a:r>
              <a:rPr sz="500" spc="10" dirty="0">
                <a:latin typeface="Arial"/>
                <a:cs typeface="Arial"/>
              </a:rPr>
              <a:t>with Region Proposal Networks”, NIPS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2015, </a:t>
            </a:r>
            <a:r>
              <a:rPr sz="500" spc="10" dirty="0">
                <a:latin typeface="Arial"/>
                <a:cs typeface="Arial"/>
              </a:rPr>
              <a:t>Ross Girshick; </a:t>
            </a:r>
            <a:r>
              <a:rPr sz="500" spc="5" dirty="0">
                <a:latin typeface="Arial"/>
                <a:cs typeface="Arial"/>
              </a:rPr>
              <a:t>reproduced </a:t>
            </a:r>
            <a:r>
              <a:rPr sz="500" spc="10" dirty="0">
                <a:latin typeface="Arial"/>
                <a:cs typeface="Arial"/>
              </a:rPr>
              <a:t>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817" y="921511"/>
            <a:ext cx="2041525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15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在中间特征层后加入区域建</a:t>
            </a:r>
            <a:r>
              <a:rPr sz="900" spc="-15" dirty="0">
                <a:latin typeface="微软雅黑"/>
                <a:cs typeface="微软雅黑"/>
              </a:rPr>
              <a:t>议</a:t>
            </a:r>
            <a:r>
              <a:rPr sz="900" dirty="0">
                <a:latin typeface="微软雅黑"/>
                <a:cs typeface="微软雅黑"/>
              </a:rPr>
              <a:t>网络</a:t>
            </a:r>
            <a:r>
              <a:rPr sz="900" b="1" spc="-5" dirty="0">
                <a:latin typeface="微软雅黑"/>
                <a:cs typeface="微软雅黑"/>
              </a:rPr>
              <a:t>RP</a:t>
            </a:r>
            <a:r>
              <a:rPr sz="900" b="1" dirty="0">
                <a:latin typeface="微软雅黑"/>
                <a:cs typeface="微软雅黑"/>
              </a:rPr>
              <a:t>N  ( </a:t>
            </a:r>
            <a:r>
              <a:rPr sz="900" b="1" spc="-10" dirty="0">
                <a:latin typeface="微软雅黑"/>
                <a:cs typeface="微软雅黑"/>
              </a:rPr>
              <a:t>Region </a:t>
            </a:r>
            <a:r>
              <a:rPr sz="900" b="1" spc="-5" dirty="0">
                <a:latin typeface="微软雅黑"/>
                <a:cs typeface="微软雅黑"/>
              </a:rPr>
              <a:t>Proposal Network) </a:t>
            </a:r>
            <a:r>
              <a:rPr sz="900" spc="-60" dirty="0">
                <a:latin typeface="微软雅黑"/>
                <a:cs typeface="微软雅黑"/>
              </a:rPr>
              <a:t>产 生 候选区域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40640" marR="5080" algn="just">
              <a:lnSpc>
                <a:spcPct val="150100"/>
              </a:lnSpc>
              <a:spcBef>
                <a:spcPts val="690"/>
              </a:spcBef>
            </a:pPr>
            <a:r>
              <a:rPr sz="900" spc="45" dirty="0">
                <a:latin typeface="微软雅黑"/>
                <a:cs typeface="微软雅黑"/>
              </a:rPr>
              <a:t>其他部分保持</a:t>
            </a:r>
            <a:r>
              <a:rPr sz="900" spc="50" dirty="0">
                <a:latin typeface="微软雅黑"/>
                <a:cs typeface="微软雅黑"/>
              </a:rPr>
              <a:t>与</a:t>
            </a:r>
            <a:r>
              <a:rPr sz="900" spc="-15" dirty="0">
                <a:latin typeface="微软雅黑"/>
                <a:cs typeface="微软雅黑"/>
              </a:rPr>
              <a:t>Fast</a:t>
            </a:r>
            <a:r>
              <a:rPr sz="900" spc="17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R-CNN</a:t>
            </a:r>
            <a:r>
              <a:rPr sz="900" spc="45" dirty="0">
                <a:latin typeface="微软雅黑"/>
                <a:cs typeface="微软雅黑"/>
              </a:rPr>
              <a:t>一致，</a:t>
            </a:r>
            <a:r>
              <a:rPr sz="900" dirty="0">
                <a:latin typeface="微软雅黑"/>
                <a:cs typeface="微软雅黑"/>
              </a:rPr>
              <a:t>即 </a:t>
            </a:r>
            <a:r>
              <a:rPr sz="900" spc="20" dirty="0">
                <a:latin typeface="微软雅黑"/>
                <a:cs typeface="微软雅黑"/>
              </a:rPr>
              <a:t>扣取每个候</a:t>
            </a:r>
            <a:r>
              <a:rPr sz="900" spc="10" dirty="0">
                <a:latin typeface="微软雅黑"/>
                <a:cs typeface="微软雅黑"/>
              </a:rPr>
              <a:t>选</a:t>
            </a:r>
            <a:r>
              <a:rPr sz="900" spc="20" dirty="0">
                <a:latin typeface="微软雅黑"/>
                <a:cs typeface="微软雅黑"/>
              </a:rPr>
              <a:t>区域</a:t>
            </a:r>
            <a:r>
              <a:rPr sz="900" spc="10" dirty="0">
                <a:latin typeface="微软雅黑"/>
                <a:cs typeface="微软雅黑"/>
              </a:rPr>
              <a:t>的</a:t>
            </a:r>
            <a:r>
              <a:rPr sz="900" spc="20" dirty="0">
                <a:latin typeface="微软雅黑"/>
                <a:cs typeface="微软雅黑"/>
              </a:rPr>
              <a:t>特</a:t>
            </a:r>
            <a:r>
              <a:rPr sz="900" spc="30" dirty="0">
                <a:latin typeface="微软雅黑"/>
                <a:cs typeface="微软雅黑"/>
              </a:rPr>
              <a:t>征</a:t>
            </a:r>
            <a:r>
              <a:rPr sz="900" spc="20" dirty="0">
                <a:latin typeface="微软雅黑"/>
                <a:cs typeface="微软雅黑"/>
              </a:rPr>
              <a:t>，</a:t>
            </a:r>
            <a:r>
              <a:rPr sz="900" spc="10" dirty="0">
                <a:latin typeface="微软雅黑"/>
                <a:cs typeface="微软雅黑"/>
              </a:rPr>
              <a:t>然</a:t>
            </a:r>
            <a:r>
              <a:rPr sz="900" spc="20" dirty="0">
                <a:latin typeface="微软雅黑"/>
                <a:cs typeface="微软雅黑"/>
              </a:rPr>
              <a:t>后对其</a:t>
            </a:r>
            <a:r>
              <a:rPr sz="900" dirty="0">
                <a:latin typeface="微软雅黑"/>
                <a:cs typeface="微软雅黑"/>
              </a:rPr>
              <a:t>进 行分类。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400" y="1004459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20" y="996839"/>
            <a:ext cx="1653539" cy="1429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352162" y="1002173"/>
          <a:ext cx="1663695" cy="14245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8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5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lnB w="6350">
                      <a:solidFill>
                        <a:srgbClr val="66666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R w="635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66666"/>
                      </a:solidFill>
                      <a:prstDash val="solid"/>
                    </a:lnL>
                    <a:lnT w="6350">
                      <a:solidFill>
                        <a:srgbClr val="666666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6468" y="137684"/>
            <a:ext cx="41351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微软雅黑"/>
                <a:cs typeface="微软雅黑"/>
              </a:rPr>
              <a:t>区</a:t>
            </a:r>
            <a:r>
              <a:rPr sz="2000" b="1" spc="-15" dirty="0">
                <a:latin typeface="微软雅黑"/>
                <a:cs typeface="微软雅黑"/>
              </a:rPr>
              <a:t>域</a:t>
            </a:r>
            <a:r>
              <a:rPr sz="2000" b="1" dirty="0">
                <a:latin typeface="微软雅黑"/>
                <a:cs typeface="微软雅黑"/>
              </a:rPr>
              <a:t>建</a:t>
            </a:r>
            <a:r>
              <a:rPr sz="2000" b="1" spc="-15" dirty="0">
                <a:latin typeface="微软雅黑"/>
                <a:cs typeface="微软雅黑"/>
              </a:rPr>
              <a:t>议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Calibri"/>
                <a:cs typeface="Calibri"/>
              </a:rPr>
              <a:t>Region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Proposal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spc="-1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5913" y="2615073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99" y="1026540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19" y="1018920"/>
            <a:ext cx="1653539" cy="142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54853" y="1024254"/>
            <a:ext cx="0" cy="1414145"/>
          </a:xfrm>
          <a:custGeom>
            <a:avLst/>
            <a:gdLst/>
            <a:ahLst/>
            <a:cxnLst/>
            <a:rect l="l" t="t" r="r" b="b"/>
            <a:pathLst>
              <a:path h="1414145">
                <a:moveTo>
                  <a:pt x="0" y="0"/>
                </a:moveTo>
                <a:lnTo>
                  <a:pt x="0" y="141414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71833" y="2244216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0" y="0"/>
                </a:moveTo>
                <a:lnTo>
                  <a:pt x="1239075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51399" y="2244216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360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1399" y="2247010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63641" y="2247772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4">
                <a:moveTo>
                  <a:pt x="0" y="0"/>
                </a:moveTo>
                <a:lnTo>
                  <a:pt x="0" y="2012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3641" y="1027302"/>
            <a:ext cx="0" cy="1014094"/>
          </a:xfrm>
          <a:custGeom>
            <a:avLst/>
            <a:gdLst/>
            <a:ahLst/>
            <a:cxnLst/>
            <a:rect l="l" t="t" r="r" b="b"/>
            <a:pathLst>
              <a:path h="1014094">
                <a:moveTo>
                  <a:pt x="0" y="0"/>
                </a:moveTo>
                <a:lnTo>
                  <a:pt x="0" y="10140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66333" y="1638172"/>
            <a:ext cx="0" cy="810895"/>
          </a:xfrm>
          <a:custGeom>
            <a:avLst/>
            <a:gdLst/>
            <a:ahLst/>
            <a:cxnLst/>
            <a:rect l="l" t="t" r="r" b="b"/>
            <a:pathLst>
              <a:path h="810894">
                <a:moveTo>
                  <a:pt x="0" y="0"/>
                </a:moveTo>
                <a:lnTo>
                  <a:pt x="0" y="8108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66333" y="1027302"/>
            <a:ext cx="0" cy="404495"/>
          </a:xfrm>
          <a:custGeom>
            <a:avLst/>
            <a:gdLst/>
            <a:ahLst/>
            <a:cxnLst/>
            <a:rect l="l" t="t" r="r" b="b"/>
            <a:pathLst>
              <a:path h="404494">
                <a:moveTo>
                  <a:pt x="0" y="0"/>
                </a:moveTo>
                <a:lnTo>
                  <a:pt x="0" y="4044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9025" y="1027302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3241" y="1841372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73241" y="1027302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75934" y="1027302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8625" y="2044572"/>
            <a:ext cx="0" cy="404495"/>
          </a:xfrm>
          <a:custGeom>
            <a:avLst/>
            <a:gdLst/>
            <a:ahLst/>
            <a:cxnLst/>
            <a:rect l="l" t="t" r="r" b="b"/>
            <a:pathLst>
              <a:path h="404494">
                <a:moveTo>
                  <a:pt x="0" y="0"/>
                </a:moveTo>
                <a:lnTo>
                  <a:pt x="0" y="4044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8625" y="1027302"/>
            <a:ext cx="0" cy="810895"/>
          </a:xfrm>
          <a:custGeom>
            <a:avLst/>
            <a:gdLst/>
            <a:ahLst/>
            <a:cxnLst/>
            <a:rect l="l" t="t" r="r" b="b"/>
            <a:pathLst>
              <a:path h="810894">
                <a:moveTo>
                  <a:pt x="0" y="0"/>
                </a:moveTo>
                <a:lnTo>
                  <a:pt x="0" y="8108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86817" y="2041525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4091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71833" y="2041525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>
                <a:moveTo>
                  <a:pt x="0" y="0"/>
                </a:moveTo>
                <a:lnTo>
                  <a:pt x="809434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1399" y="2041525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360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86817" y="2040000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4091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51399" y="2040000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>
                <a:moveTo>
                  <a:pt x="0" y="0"/>
                </a:moveTo>
                <a:lnTo>
                  <a:pt x="1229867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51399" y="2044572"/>
            <a:ext cx="213995" cy="0"/>
          </a:xfrm>
          <a:custGeom>
            <a:avLst/>
            <a:gdLst/>
            <a:ahLst/>
            <a:cxnLst/>
            <a:rect l="l" t="t" r="r" b="b"/>
            <a:pathLst>
              <a:path w="213994">
                <a:moveTo>
                  <a:pt x="0" y="0"/>
                </a:moveTo>
                <a:lnTo>
                  <a:pt x="213741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71515" y="2044572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0" y="0"/>
                </a:moveTo>
                <a:lnTo>
                  <a:pt x="1239393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86817" y="1838832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4091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81433" y="1838832"/>
            <a:ext cx="200025" cy="0"/>
          </a:xfrm>
          <a:custGeom>
            <a:avLst/>
            <a:gdLst/>
            <a:ahLst/>
            <a:cxnLst/>
            <a:rect l="l" t="t" r="r" b="b"/>
            <a:pathLst>
              <a:path w="200025">
                <a:moveTo>
                  <a:pt x="0" y="0"/>
                </a:moveTo>
                <a:lnTo>
                  <a:pt x="199834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1399" y="1838832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>
                <a:moveTo>
                  <a:pt x="0" y="0"/>
                </a:moveTo>
                <a:lnTo>
                  <a:pt x="822960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81433" y="1835784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>
                <a:moveTo>
                  <a:pt x="0" y="0"/>
                </a:moveTo>
                <a:lnTo>
                  <a:pt x="629475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51399" y="1835784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>
                <a:moveTo>
                  <a:pt x="0" y="0"/>
                </a:moveTo>
                <a:lnTo>
                  <a:pt x="822960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1399" y="1840356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>
                <a:moveTo>
                  <a:pt x="0" y="0"/>
                </a:moveTo>
                <a:lnTo>
                  <a:pt x="1229740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87642" y="1840356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266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81433" y="1636140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>
                <a:moveTo>
                  <a:pt x="0" y="0"/>
                </a:moveTo>
                <a:lnTo>
                  <a:pt x="629475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74525" y="1636140"/>
            <a:ext cx="200025" cy="0"/>
          </a:xfrm>
          <a:custGeom>
            <a:avLst/>
            <a:gdLst/>
            <a:ahLst/>
            <a:cxnLst/>
            <a:rect l="l" t="t" r="r" b="b"/>
            <a:pathLst>
              <a:path w="200025">
                <a:moveTo>
                  <a:pt x="0" y="0"/>
                </a:moveTo>
                <a:lnTo>
                  <a:pt x="199834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51399" y="1636140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051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81433" y="1637537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>
                <a:moveTo>
                  <a:pt x="0" y="0"/>
                </a:moveTo>
                <a:lnTo>
                  <a:pt x="629475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51399" y="1637537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>
                <a:moveTo>
                  <a:pt x="0" y="0"/>
                </a:moveTo>
                <a:lnTo>
                  <a:pt x="822960" y="0"/>
                </a:lnTo>
              </a:path>
            </a:pathLst>
          </a:custGeom>
          <a:ln w="317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51399" y="1633092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4">
                <a:moveTo>
                  <a:pt x="0" y="0"/>
                </a:moveTo>
                <a:lnTo>
                  <a:pt x="416941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74715" y="1633092"/>
            <a:ext cx="1036319" cy="0"/>
          </a:xfrm>
          <a:custGeom>
            <a:avLst/>
            <a:gdLst/>
            <a:ahLst/>
            <a:cxnLst/>
            <a:rect l="l" t="t" r="r" b="b"/>
            <a:pathLst>
              <a:path w="1036320">
                <a:moveTo>
                  <a:pt x="0" y="0"/>
                </a:moveTo>
                <a:lnTo>
                  <a:pt x="1036193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74525" y="1433194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4">
                <a:moveTo>
                  <a:pt x="0" y="0"/>
                </a:moveTo>
                <a:lnTo>
                  <a:pt x="1036383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51399" y="1433194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051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51399" y="1430400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52161" y="1229994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62625" y="2634106"/>
            <a:ext cx="80581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Image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features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47436" y="2774060"/>
            <a:ext cx="10325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695824" y="1198778"/>
            <a:ext cx="1164590" cy="1077595"/>
          </a:xfrm>
          <a:custGeom>
            <a:avLst/>
            <a:gdLst/>
            <a:ahLst/>
            <a:cxnLst/>
            <a:rect l="l" t="t" r="r" b="b"/>
            <a:pathLst>
              <a:path w="1164589" h="1077595">
                <a:moveTo>
                  <a:pt x="0" y="1077061"/>
                </a:moveTo>
                <a:lnTo>
                  <a:pt x="1163993" y="1077061"/>
                </a:lnTo>
                <a:lnTo>
                  <a:pt x="1163993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74359" y="1634667"/>
            <a:ext cx="207645" cy="205740"/>
          </a:xfrm>
          <a:custGeom>
            <a:avLst/>
            <a:gdLst/>
            <a:ahLst/>
            <a:cxnLst/>
            <a:rect l="l" t="t" r="r" b="b"/>
            <a:pathLst>
              <a:path w="207645" h="205739">
                <a:moveTo>
                  <a:pt x="0" y="205562"/>
                </a:moveTo>
                <a:lnTo>
                  <a:pt x="207073" y="205562"/>
                </a:lnTo>
                <a:lnTo>
                  <a:pt x="207073" y="0"/>
                </a:lnTo>
                <a:lnTo>
                  <a:pt x="0" y="0"/>
                </a:lnTo>
                <a:lnTo>
                  <a:pt x="0" y="205562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88915" y="994562"/>
            <a:ext cx="1164590" cy="1078865"/>
          </a:xfrm>
          <a:custGeom>
            <a:avLst/>
            <a:gdLst/>
            <a:ahLst/>
            <a:cxnLst/>
            <a:rect l="l" t="t" r="r" b="b"/>
            <a:pathLst>
              <a:path w="1164589" h="1078864">
                <a:moveTo>
                  <a:pt x="0" y="1078585"/>
                </a:moveTo>
                <a:lnTo>
                  <a:pt x="1163993" y="1078585"/>
                </a:lnTo>
                <a:lnTo>
                  <a:pt x="1163993" y="0"/>
                </a:lnTo>
                <a:lnTo>
                  <a:pt x="0" y="0"/>
                </a:lnTo>
                <a:lnTo>
                  <a:pt x="0" y="1078585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767452" y="1430464"/>
            <a:ext cx="207645" cy="207645"/>
          </a:xfrm>
          <a:custGeom>
            <a:avLst/>
            <a:gdLst/>
            <a:ahLst/>
            <a:cxnLst/>
            <a:rect l="l" t="t" r="r" b="b"/>
            <a:pathLst>
              <a:path w="207644" h="207644">
                <a:moveTo>
                  <a:pt x="0" y="207073"/>
                </a:moveTo>
                <a:lnTo>
                  <a:pt x="207073" y="207073"/>
                </a:lnTo>
                <a:lnTo>
                  <a:pt x="207073" y="0"/>
                </a:lnTo>
                <a:lnTo>
                  <a:pt x="0" y="0"/>
                </a:lnTo>
                <a:lnTo>
                  <a:pt x="0" y="207073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02731" y="1401470"/>
            <a:ext cx="1162685" cy="1077595"/>
          </a:xfrm>
          <a:custGeom>
            <a:avLst/>
            <a:gdLst/>
            <a:ahLst/>
            <a:cxnLst/>
            <a:rect l="l" t="t" r="r" b="b"/>
            <a:pathLst>
              <a:path w="1162685" h="1077595">
                <a:moveTo>
                  <a:pt x="0" y="1077061"/>
                </a:moveTo>
                <a:lnTo>
                  <a:pt x="1162469" y="1077061"/>
                </a:lnTo>
                <a:lnTo>
                  <a:pt x="1162469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81267" y="1837372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205549"/>
                </a:moveTo>
                <a:lnTo>
                  <a:pt x="205549" y="205549"/>
                </a:lnTo>
                <a:lnTo>
                  <a:pt x="205549" y="0"/>
                </a:lnTo>
                <a:lnTo>
                  <a:pt x="0" y="0"/>
                </a:lnTo>
                <a:lnTo>
                  <a:pt x="0" y="205549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086224" y="1604162"/>
            <a:ext cx="1164590" cy="1078865"/>
          </a:xfrm>
          <a:custGeom>
            <a:avLst/>
            <a:gdLst/>
            <a:ahLst/>
            <a:cxnLst/>
            <a:rect l="l" t="t" r="r" b="b"/>
            <a:pathLst>
              <a:path w="1164589" h="1078864">
                <a:moveTo>
                  <a:pt x="0" y="1078585"/>
                </a:moveTo>
                <a:lnTo>
                  <a:pt x="1163993" y="1078585"/>
                </a:lnTo>
                <a:lnTo>
                  <a:pt x="1163993" y="0"/>
                </a:lnTo>
                <a:lnTo>
                  <a:pt x="0" y="0"/>
                </a:lnTo>
                <a:lnTo>
                  <a:pt x="0" y="1078585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564759" y="2040064"/>
            <a:ext cx="207645" cy="207645"/>
          </a:xfrm>
          <a:custGeom>
            <a:avLst/>
            <a:gdLst/>
            <a:ahLst/>
            <a:cxnLst/>
            <a:rect l="l" t="t" r="r" b="b"/>
            <a:pathLst>
              <a:path w="207644" h="207644">
                <a:moveTo>
                  <a:pt x="0" y="207073"/>
                </a:moveTo>
                <a:lnTo>
                  <a:pt x="207073" y="207073"/>
                </a:lnTo>
                <a:lnTo>
                  <a:pt x="207073" y="0"/>
                </a:lnTo>
                <a:lnTo>
                  <a:pt x="0" y="0"/>
                </a:lnTo>
                <a:lnTo>
                  <a:pt x="0" y="207073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336468" y="130343"/>
            <a:ext cx="5557520" cy="7067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latin typeface="微软雅黑"/>
                <a:cs typeface="微软雅黑"/>
              </a:rPr>
              <a:t>区</a:t>
            </a:r>
            <a:r>
              <a:rPr sz="2000" b="1" spc="-15" dirty="0">
                <a:latin typeface="微软雅黑"/>
                <a:cs typeface="微软雅黑"/>
              </a:rPr>
              <a:t>域</a:t>
            </a:r>
            <a:r>
              <a:rPr sz="2000" b="1" dirty="0">
                <a:latin typeface="微软雅黑"/>
                <a:cs typeface="微软雅黑"/>
              </a:rPr>
              <a:t>建</a:t>
            </a:r>
            <a:r>
              <a:rPr sz="2000" b="1" spc="-15" dirty="0">
                <a:latin typeface="微软雅黑"/>
                <a:cs typeface="微软雅黑"/>
              </a:rPr>
              <a:t>议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Calibri"/>
                <a:cs typeface="Calibri"/>
              </a:rPr>
              <a:t>Region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Proposal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Network</a:t>
            </a:r>
            <a:r>
              <a:rPr sz="2000" spc="-5" dirty="0">
                <a:latin typeface="微软雅黑"/>
                <a:cs typeface="微软雅黑"/>
              </a:rPr>
              <a:t>）</a:t>
            </a:r>
            <a:r>
              <a:rPr sz="1575" spc="-7" baseline="-15873" dirty="0"/>
              <a:t>Imagine</a:t>
            </a:r>
            <a:r>
              <a:rPr sz="1575" spc="-30" baseline="-15873" dirty="0"/>
              <a:t> </a:t>
            </a:r>
            <a:r>
              <a:rPr sz="1575" baseline="-15873" dirty="0"/>
              <a:t>an</a:t>
            </a:r>
            <a:r>
              <a:rPr sz="1575" spc="7" baseline="-15873" dirty="0"/>
              <a:t> </a:t>
            </a:r>
            <a:r>
              <a:rPr sz="1575" b="1" baseline="-15873" dirty="0">
                <a:latin typeface="Arial"/>
                <a:cs typeface="Arial"/>
              </a:rPr>
              <a:t>anchor</a:t>
            </a:r>
            <a:r>
              <a:rPr sz="1575" b="1" spc="-67" baseline="-15873" dirty="0">
                <a:latin typeface="Arial"/>
                <a:cs typeface="Arial"/>
              </a:rPr>
              <a:t> </a:t>
            </a:r>
            <a:r>
              <a:rPr sz="1575" b="1" spc="7" baseline="-15873" dirty="0">
                <a:latin typeface="Arial"/>
                <a:cs typeface="Arial"/>
              </a:rPr>
              <a:t>box</a:t>
            </a:r>
            <a:endParaRPr sz="1575" baseline="-15873">
              <a:latin typeface="Arial"/>
              <a:cs typeface="Arial"/>
            </a:endParaRPr>
          </a:p>
          <a:p>
            <a:pPr marL="4130675" marR="12700" indent="107950">
              <a:lnSpc>
                <a:spcPct val="103800"/>
              </a:lnSpc>
              <a:spcBef>
                <a:spcPts val="100"/>
              </a:spcBef>
            </a:pPr>
            <a:r>
              <a:rPr sz="1050" dirty="0"/>
              <a:t>of </a:t>
            </a:r>
            <a:r>
              <a:rPr sz="1050" spc="5" dirty="0"/>
              <a:t>fixed size </a:t>
            </a:r>
            <a:r>
              <a:rPr sz="1050" dirty="0"/>
              <a:t>at </a:t>
            </a:r>
            <a:r>
              <a:rPr sz="1050" spc="5" dirty="0"/>
              <a:t>each  </a:t>
            </a:r>
            <a:r>
              <a:rPr sz="1050" dirty="0"/>
              <a:t>point </a:t>
            </a:r>
            <a:r>
              <a:rPr sz="1050" spc="5" dirty="0"/>
              <a:t>in the feature</a:t>
            </a:r>
            <a:r>
              <a:rPr sz="1050" spc="-185" dirty="0"/>
              <a:t> </a:t>
            </a:r>
            <a:r>
              <a:rPr sz="1050" spc="5" dirty="0"/>
              <a:t>map</a:t>
            </a:r>
            <a:endParaRPr sz="1050"/>
          </a:p>
        </p:txBody>
      </p:sp>
      <p:sp>
        <p:nvSpPr>
          <p:cNvPr id="65" name="object 65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400" y="1004459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20" y="996839"/>
            <a:ext cx="1653539" cy="1429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5743" y="1002173"/>
            <a:ext cx="0" cy="1414145"/>
          </a:xfrm>
          <a:custGeom>
            <a:avLst/>
            <a:gdLst/>
            <a:ahLst/>
            <a:cxnLst/>
            <a:rect l="l" t="t" r="r" b="b"/>
            <a:pathLst>
              <a:path h="1414145">
                <a:moveTo>
                  <a:pt x="0" y="0"/>
                </a:moveTo>
                <a:lnTo>
                  <a:pt x="0" y="14137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52162" y="222353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63515" y="1004967"/>
            <a:ext cx="0" cy="1013460"/>
          </a:xfrm>
          <a:custGeom>
            <a:avLst/>
            <a:gdLst/>
            <a:ahLst/>
            <a:cxnLst/>
            <a:rect l="l" t="t" r="r" b="b"/>
            <a:pathLst>
              <a:path h="1013460">
                <a:moveTo>
                  <a:pt x="0" y="0"/>
                </a:moveTo>
                <a:lnTo>
                  <a:pt x="0" y="101301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63515" y="2225056"/>
            <a:ext cx="0" cy="201930"/>
          </a:xfrm>
          <a:custGeom>
            <a:avLst/>
            <a:gdLst/>
            <a:ahLst/>
            <a:cxnLst/>
            <a:rect l="l" t="t" r="r" b="b"/>
            <a:pathLst>
              <a:path h="201930">
                <a:moveTo>
                  <a:pt x="0" y="0"/>
                </a:moveTo>
                <a:lnTo>
                  <a:pt x="0" y="20167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66842" y="1004967"/>
            <a:ext cx="0" cy="403860"/>
          </a:xfrm>
          <a:custGeom>
            <a:avLst/>
            <a:gdLst/>
            <a:ahLst/>
            <a:cxnLst/>
            <a:rect l="l" t="t" r="r" b="b"/>
            <a:pathLst>
              <a:path h="403859">
                <a:moveTo>
                  <a:pt x="0" y="0"/>
                </a:moveTo>
                <a:lnTo>
                  <a:pt x="0" y="40341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66842" y="1615456"/>
            <a:ext cx="0" cy="811530"/>
          </a:xfrm>
          <a:custGeom>
            <a:avLst/>
            <a:gdLst/>
            <a:ahLst/>
            <a:cxnLst/>
            <a:rect l="l" t="t" r="r" b="b"/>
            <a:pathLst>
              <a:path h="811530">
                <a:moveTo>
                  <a:pt x="0" y="0"/>
                </a:moveTo>
                <a:lnTo>
                  <a:pt x="0" y="811276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70042" y="1004967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73242" y="1004967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18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73242" y="1818148"/>
            <a:ext cx="0" cy="608965"/>
          </a:xfrm>
          <a:custGeom>
            <a:avLst/>
            <a:gdLst/>
            <a:ahLst/>
            <a:cxnLst/>
            <a:rect l="l" t="t" r="r" b="b"/>
            <a:pathLst>
              <a:path h="608964">
                <a:moveTo>
                  <a:pt x="0" y="0"/>
                </a:moveTo>
                <a:lnTo>
                  <a:pt x="0" y="6085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6442" y="1004967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79642" y="1004967"/>
            <a:ext cx="0" cy="810895"/>
          </a:xfrm>
          <a:custGeom>
            <a:avLst/>
            <a:gdLst/>
            <a:ahLst/>
            <a:cxnLst/>
            <a:rect l="l" t="t" r="r" b="b"/>
            <a:pathLst>
              <a:path h="810894">
                <a:moveTo>
                  <a:pt x="0" y="0"/>
                </a:moveTo>
                <a:lnTo>
                  <a:pt x="0" y="81032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9642" y="2020840"/>
            <a:ext cx="0" cy="406400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5892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71833" y="2020332"/>
            <a:ext cx="1240155" cy="0"/>
          </a:xfrm>
          <a:custGeom>
            <a:avLst/>
            <a:gdLst/>
            <a:ahLst/>
            <a:cxnLst/>
            <a:rect l="l" t="t" r="r" b="b"/>
            <a:pathLst>
              <a:path w="1240154">
                <a:moveTo>
                  <a:pt x="0" y="0"/>
                </a:moveTo>
                <a:lnTo>
                  <a:pt x="1239837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2162" y="2020332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0" y="0"/>
                </a:moveTo>
                <a:lnTo>
                  <a:pt x="21259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52162" y="181713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52162" y="161393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74525" y="1410732"/>
            <a:ext cx="1037590" cy="0"/>
          </a:xfrm>
          <a:custGeom>
            <a:avLst/>
            <a:gdLst/>
            <a:ahLst/>
            <a:cxnLst/>
            <a:rect l="l" t="t" r="r" b="b"/>
            <a:pathLst>
              <a:path w="1037589">
                <a:moveTo>
                  <a:pt x="0" y="0"/>
                </a:moveTo>
                <a:lnTo>
                  <a:pt x="1037145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352162" y="1410732"/>
            <a:ext cx="415290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52162" y="120753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62626" y="2611517"/>
            <a:ext cx="80581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Image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features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47437" y="2751344"/>
            <a:ext cx="10325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95824" y="1176696"/>
            <a:ext cx="1164590" cy="1077595"/>
          </a:xfrm>
          <a:custGeom>
            <a:avLst/>
            <a:gdLst/>
            <a:ahLst/>
            <a:cxnLst/>
            <a:rect l="l" t="t" r="r" b="b"/>
            <a:pathLst>
              <a:path w="1164589" h="1077595">
                <a:moveTo>
                  <a:pt x="0" y="1077061"/>
                </a:moveTo>
                <a:lnTo>
                  <a:pt x="1163993" y="1077061"/>
                </a:lnTo>
                <a:lnTo>
                  <a:pt x="1163993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74360" y="1612586"/>
            <a:ext cx="207645" cy="205740"/>
          </a:xfrm>
          <a:custGeom>
            <a:avLst/>
            <a:gdLst/>
            <a:ahLst/>
            <a:cxnLst/>
            <a:rect l="l" t="t" r="r" b="b"/>
            <a:pathLst>
              <a:path w="207645" h="205739">
                <a:moveTo>
                  <a:pt x="0" y="205562"/>
                </a:moveTo>
                <a:lnTo>
                  <a:pt x="207073" y="205562"/>
                </a:lnTo>
                <a:lnTo>
                  <a:pt x="207073" y="0"/>
                </a:lnTo>
                <a:lnTo>
                  <a:pt x="0" y="0"/>
                </a:lnTo>
                <a:lnTo>
                  <a:pt x="0" y="205562"/>
                </a:lnTo>
                <a:close/>
              </a:path>
            </a:pathLst>
          </a:custGeom>
          <a:solidFill>
            <a:srgbClr val="00FF00">
              <a:alpha val="3137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88916" y="972481"/>
            <a:ext cx="1164590" cy="1078865"/>
          </a:xfrm>
          <a:custGeom>
            <a:avLst/>
            <a:gdLst/>
            <a:ahLst/>
            <a:cxnLst/>
            <a:rect l="l" t="t" r="r" b="b"/>
            <a:pathLst>
              <a:path w="1164589" h="1078864">
                <a:moveTo>
                  <a:pt x="0" y="1078585"/>
                </a:moveTo>
                <a:lnTo>
                  <a:pt x="1163993" y="1078585"/>
                </a:lnTo>
                <a:lnTo>
                  <a:pt x="1163993" y="0"/>
                </a:lnTo>
                <a:lnTo>
                  <a:pt x="0" y="0"/>
                </a:lnTo>
                <a:lnTo>
                  <a:pt x="0" y="107858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67452" y="1408383"/>
            <a:ext cx="207645" cy="207645"/>
          </a:xfrm>
          <a:custGeom>
            <a:avLst/>
            <a:gdLst/>
            <a:ahLst/>
            <a:cxnLst/>
            <a:rect l="l" t="t" r="r" b="b"/>
            <a:pathLst>
              <a:path w="207644" h="207644">
                <a:moveTo>
                  <a:pt x="0" y="207073"/>
                </a:moveTo>
                <a:lnTo>
                  <a:pt x="207073" y="207073"/>
                </a:lnTo>
                <a:lnTo>
                  <a:pt x="207073" y="0"/>
                </a:lnTo>
                <a:lnTo>
                  <a:pt x="0" y="0"/>
                </a:lnTo>
                <a:lnTo>
                  <a:pt x="0" y="207073"/>
                </a:lnTo>
                <a:close/>
              </a:path>
            </a:pathLst>
          </a:custGeom>
          <a:solidFill>
            <a:srgbClr val="FF0000">
              <a:alpha val="3137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102732" y="1379389"/>
            <a:ext cx="1162685" cy="1077595"/>
          </a:xfrm>
          <a:custGeom>
            <a:avLst/>
            <a:gdLst/>
            <a:ahLst/>
            <a:cxnLst/>
            <a:rect l="l" t="t" r="r" b="b"/>
            <a:pathLst>
              <a:path w="1162685" h="1077595">
                <a:moveTo>
                  <a:pt x="0" y="1077061"/>
                </a:moveTo>
                <a:lnTo>
                  <a:pt x="1162469" y="1077061"/>
                </a:lnTo>
                <a:lnTo>
                  <a:pt x="1162469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81268" y="1815291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205549"/>
                </a:moveTo>
                <a:lnTo>
                  <a:pt x="205549" y="205549"/>
                </a:lnTo>
                <a:lnTo>
                  <a:pt x="205549" y="0"/>
                </a:lnTo>
                <a:lnTo>
                  <a:pt x="0" y="0"/>
                </a:lnTo>
                <a:lnTo>
                  <a:pt x="0" y="205549"/>
                </a:lnTo>
                <a:close/>
              </a:path>
            </a:pathLst>
          </a:custGeom>
          <a:solidFill>
            <a:srgbClr val="FF0000">
              <a:alpha val="3137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086224" y="1582081"/>
            <a:ext cx="1164590" cy="1078865"/>
          </a:xfrm>
          <a:custGeom>
            <a:avLst/>
            <a:gdLst/>
            <a:ahLst/>
            <a:cxnLst/>
            <a:rect l="l" t="t" r="r" b="b"/>
            <a:pathLst>
              <a:path w="1164589" h="1078864">
                <a:moveTo>
                  <a:pt x="0" y="1078585"/>
                </a:moveTo>
                <a:lnTo>
                  <a:pt x="1163993" y="1078585"/>
                </a:lnTo>
                <a:lnTo>
                  <a:pt x="1163993" y="0"/>
                </a:lnTo>
                <a:lnTo>
                  <a:pt x="0" y="0"/>
                </a:lnTo>
                <a:lnTo>
                  <a:pt x="0" y="107858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64760" y="2017983"/>
            <a:ext cx="207645" cy="207645"/>
          </a:xfrm>
          <a:custGeom>
            <a:avLst/>
            <a:gdLst/>
            <a:ahLst/>
            <a:cxnLst/>
            <a:rect l="l" t="t" r="r" b="b"/>
            <a:pathLst>
              <a:path w="207644" h="207644">
                <a:moveTo>
                  <a:pt x="0" y="207073"/>
                </a:moveTo>
                <a:lnTo>
                  <a:pt x="207073" y="207073"/>
                </a:lnTo>
                <a:lnTo>
                  <a:pt x="207073" y="0"/>
                </a:lnTo>
                <a:lnTo>
                  <a:pt x="0" y="0"/>
                </a:lnTo>
                <a:lnTo>
                  <a:pt x="0" y="207073"/>
                </a:lnTo>
                <a:close/>
              </a:path>
            </a:pathLst>
          </a:custGeom>
          <a:solidFill>
            <a:srgbClr val="FF0000">
              <a:alpha val="3137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07631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0" y="812038"/>
                </a:lnTo>
                <a:lnTo>
                  <a:pt x="354710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08393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0" y="88645"/>
                </a:lnTo>
                <a:lnTo>
                  <a:pt x="354710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34810" y="1648603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37374" y="1379109"/>
            <a:ext cx="108521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Anchor </a:t>
            </a:r>
            <a:r>
              <a:rPr sz="900" spc="10" dirty="0">
                <a:latin typeface="Arial"/>
                <a:cs typeface="Arial"/>
              </a:rPr>
              <a:t>is </a:t>
            </a:r>
            <a:r>
              <a:rPr sz="900" spc="15" dirty="0">
                <a:latin typeface="Arial"/>
                <a:cs typeface="Arial"/>
              </a:rPr>
              <a:t>an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object?</a:t>
            </a:r>
            <a:endParaRPr sz="9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1 x 20 x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608443" y="1557671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809612" y="1530240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324472" y="2351167"/>
            <a:ext cx="1744345" cy="6851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499"/>
              </a:lnSpc>
              <a:spcBef>
                <a:spcPts val="70"/>
              </a:spcBef>
            </a:pPr>
            <a:r>
              <a:rPr sz="1050" spc="5" dirty="0">
                <a:latin typeface="Arial"/>
                <a:cs typeface="Arial"/>
              </a:rPr>
              <a:t>At each </a:t>
            </a:r>
            <a:r>
              <a:rPr sz="1050" dirty="0">
                <a:latin typeface="Arial"/>
                <a:cs typeface="Arial"/>
              </a:rPr>
              <a:t>point, predict  whether </a:t>
            </a:r>
            <a:r>
              <a:rPr sz="1050" spc="5" dirty="0">
                <a:latin typeface="Arial"/>
                <a:cs typeface="Arial"/>
              </a:rPr>
              <a:t>the </a:t>
            </a:r>
            <a:r>
              <a:rPr sz="1050" dirty="0">
                <a:latin typeface="Arial"/>
                <a:cs typeface="Arial"/>
              </a:rPr>
              <a:t>corresponding  anchor </a:t>
            </a:r>
            <a:r>
              <a:rPr sz="1050" spc="5" dirty="0">
                <a:latin typeface="Arial"/>
                <a:cs typeface="Arial"/>
              </a:rPr>
              <a:t>contains </a:t>
            </a:r>
            <a:r>
              <a:rPr sz="1050" dirty="0">
                <a:latin typeface="Arial"/>
                <a:cs typeface="Arial"/>
              </a:rPr>
              <a:t>an object  (per-pixel </a:t>
            </a:r>
            <a:r>
              <a:rPr sz="1050" spc="5" dirty="0">
                <a:latin typeface="Arial"/>
                <a:cs typeface="Arial"/>
              </a:rPr>
              <a:t>logistic</a:t>
            </a:r>
            <a:r>
              <a:rPr sz="1050" spc="-14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regression)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336468" y="106656"/>
            <a:ext cx="5557520" cy="7073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00" b="1" dirty="0">
                <a:latin typeface="微软雅黑"/>
                <a:cs typeface="微软雅黑"/>
              </a:rPr>
              <a:t>区</a:t>
            </a:r>
            <a:r>
              <a:rPr sz="2000" b="1" spc="-15" dirty="0">
                <a:latin typeface="微软雅黑"/>
                <a:cs typeface="微软雅黑"/>
              </a:rPr>
              <a:t>域</a:t>
            </a:r>
            <a:r>
              <a:rPr sz="2000" b="1" dirty="0">
                <a:latin typeface="微软雅黑"/>
                <a:cs typeface="微软雅黑"/>
              </a:rPr>
              <a:t>建</a:t>
            </a:r>
            <a:r>
              <a:rPr sz="2000" b="1" spc="-15" dirty="0">
                <a:latin typeface="微软雅黑"/>
                <a:cs typeface="微软雅黑"/>
              </a:rPr>
              <a:t>议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Calibri"/>
                <a:cs typeface="Calibri"/>
              </a:rPr>
              <a:t>Region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Proposal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Network</a:t>
            </a:r>
            <a:r>
              <a:rPr sz="2000" spc="-5" dirty="0">
                <a:latin typeface="微软雅黑"/>
                <a:cs typeface="微软雅黑"/>
              </a:rPr>
              <a:t>）</a:t>
            </a:r>
            <a:r>
              <a:rPr sz="1575" spc="-7" baseline="-15873" dirty="0"/>
              <a:t>Imagine</a:t>
            </a:r>
            <a:r>
              <a:rPr sz="1575" spc="-30" baseline="-15873" dirty="0"/>
              <a:t> </a:t>
            </a:r>
            <a:r>
              <a:rPr sz="1575" baseline="-15873" dirty="0"/>
              <a:t>an</a:t>
            </a:r>
            <a:r>
              <a:rPr sz="1575" spc="7" baseline="-15873" dirty="0"/>
              <a:t> </a:t>
            </a:r>
            <a:r>
              <a:rPr sz="1575" b="1" baseline="-15873" dirty="0">
                <a:latin typeface="Arial"/>
                <a:cs typeface="Arial"/>
              </a:rPr>
              <a:t>anchor</a:t>
            </a:r>
            <a:r>
              <a:rPr sz="1575" b="1" spc="-67" baseline="-15873" dirty="0">
                <a:latin typeface="Arial"/>
                <a:cs typeface="Arial"/>
              </a:rPr>
              <a:t> </a:t>
            </a:r>
            <a:r>
              <a:rPr sz="1575" b="1" spc="7" baseline="-15873" dirty="0">
                <a:latin typeface="Arial"/>
                <a:cs typeface="Arial"/>
              </a:rPr>
              <a:t>box</a:t>
            </a:r>
            <a:endParaRPr sz="1575" baseline="-15873">
              <a:latin typeface="Arial"/>
              <a:cs typeface="Arial"/>
            </a:endParaRPr>
          </a:p>
          <a:p>
            <a:pPr marL="4130675" marR="12700" indent="107950">
              <a:lnSpc>
                <a:spcPct val="103800"/>
              </a:lnSpc>
              <a:spcBef>
                <a:spcPts val="105"/>
              </a:spcBef>
            </a:pPr>
            <a:r>
              <a:rPr sz="1050" dirty="0"/>
              <a:t>of </a:t>
            </a:r>
            <a:r>
              <a:rPr sz="1050" spc="5" dirty="0"/>
              <a:t>fixed size </a:t>
            </a:r>
            <a:r>
              <a:rPr sz="1050" dirty="0"/>
              <a:t>at </a:t>
            </a:r>
            <a:r>
              <a:rPr sz="1050" spc="5" dirty="0"/>
              <a:t>each  </a:t>
            </a:r>
            <a:r>
              <a:rPr sz="1050" dirty="0"/>
              <a:t>point </a:t>
            </a:r>
            <a:r>
              <a:rPr sz="1050" spc="5" dirty="0"/>
              <a:t>in the feature</a:t>
            </a:r>
            <a:r>
              <a:rPr sz="1050" spc="-185" dirty="0"/>
              <a:t> </a:t>
            </a:r>
            <a:r>
              <a:rPr sz="1050" spc="5" dirty="0"/>
              <a:t>map</a:t>
            </a:r>
            <a:endParaRPr sz="1050"/>
          </a:p>
        </p:txBody>
      </p:sp>
      <p:sp>
        <p:nvSpPr>
          <p:cNvPr id="52" name="object 5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99" y="1026540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19" y="1018920"/>
            <a:ext cx="1653539" cy="142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55742" y="1024254"/>
            <a:ext cx="0" cy="1414145"/>
          </a:xfrm>
          <a:custGeom>
            <a:avLst/>
            <a:gdLst/>
            <a:ahLst/>
            <a:cxnLst/>
            <a:rect l="l" t="t" r="r" b="b"/>
            <a:pathLst>
              <a:path h="1414145">
                <a:moveTo>
                  <a:pt x="0" y="0"/>
                </a:moveTo>
                <a:lnTo>
                  <a:pt x="0" y="14137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2161" y="22456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3514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668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00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3241" y="1027048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18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3241" y="1840229"/>
            <a:ext cx="0" cy="608965"/>
          </a:xfrm>
          <a:custGeom>
            <a:avLst/>
            <a:gdLst/>
            <a:ahLst/>
            <a:cxnLst/>
            <a:rect l="l" t="t" r="r" b="b"/>
            <a:pathLst>
              <a:path h="608964">
                <a:moveTo>
                  <a:pt x="0" y="0"/>
                </a:moveTo>
                <a:lnTo>
                  <a:pt x="0" y="60858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64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96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2161" y="20424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52161" y="18392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2161" y="16360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2161" y="14328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52161" y="12296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95824" y="1198778"/>
            <a:ext cx="1164590" cy="1077595"/>
          </a:xfrm>
          <a:custGeom>
            <a:avLst/>
            <a:gdLst/>
            <a:ahLst/>
            <a:cxnLst/>
            <a:rect l="l" t="t" r="r" b="b"/>
            <a:pathLst>
              <a:path w="1164589" h="1077595">
                <a:moveTo>
                  <a:pt x="0" y="1077061"/>
                </a:moveTo>
                <a:lnTo>
                  <a:pt x="1163993" y="1077061"/>
                </a:lnTo>
                <a:lnTo>
                  <a:pt x="1163993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74359" y="1634667"/>
            <a:ext cx="207645" cy="205740"/>
          </a:xfrm>
          <a:custGeom>
            <a:avLst/>
            <a:gdLst/>
            <a:ahLst/>
            <a:cxnLst/>
            <a:rect l="l" t="t" r="r" b="b"/>
            <a:pathLst>
              <a:path w="207645" h="205739">
                <a:moveTo>
                  <a:pt x="0" y="205562"/>
                </a:moveTo>
                <a:lnTo>
                  <a:pt x="207073" y="205562"/>
                </a:lnTo>
                <a:lnTo>
                  <a:pt x="207073" y="0"/>
                </a:lnTo>
                <a:lnTo>
                  <a:pt x="0" y="0"/>
                </a:lnTo>
                <a:lnTo>
                  <a:pt x="0" y="205562"/>
                </a:lnTo>
                <a:close/>
              </a:path>
            </a:pathLst>
          </a:custGeom>
          <a:solidFill>
            <a:srgbClr val="00FF00">
              <a:alpha val="3137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39791" y="1299336"/>
            <a:ext cx="1285875" cy="915669"/>
          </a:xfrm>
          <a:custGeom>
            <a:avLst/>
            <a:gdLst/>
            <a:ahLst/>
            <a:cxnLst/>
            <a:rect l="l" t="t" r="r" b="b"/>
            <a:pathLst>
              <a:path w="1285875" h="915669">
                <a:moveTo>
                  <a:pt x="0" y="915669"/>
                </a:moveTo>
                <a:lnTo>
                  <a:pt x="1285875" y="915669"/>
                </a:lnTo>
                <a:lnTo>
                  <a:pt x="1285875" y="0"/>
                </a:lnTo>
                <a:lnTo>
                  <a:pt x="0" y="0"/>
                </a:lnTo>
                <a:lnTo>
                  <a:pt x="0" y="915669"/>
                </a:lnTo>
                <a:close/>
              </a:path>
            </a:pathLst>
          </a:custGeom>
          <a:ln w="19050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45503" y="317627"/>
            <a:ext cx="1448435" cy="5194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3299"/>
              </a:lnSpc>
              <a:spcBef>
                <a:spcPts val="75"/>
              </a:spcBef>
            </a:pPr>
            <a:r>
              <a:rPr sz="1050" spc="5" dirty="0">
                <a:latin typeface="Arial"/>
                <a:cs typeface="Arial"/>
              </a:rPr>
              <a:t>Imagine </a:t>
            </a:r>
            <a:r>
              <a:rPr sz="1050" dirty="0">
                <a:latin typeface="Arial"/>
                <a:cs typeface="Arial"/>
              </a:rPr>
              <a:t>an </a:t>
            </a:r>
            <a:r>
              <a:rPr sz="1050" b="1" dirty="0">
                <a:latin typeface="Arial"/>
                <a:cs typeface="Arial"/>
              </a:rPr>
              <a:t>anchor</a:t>
            </a:r>
            <a:r>
              <a:rPr sz="1050" b="1" spc="-125" dirty="0">
                <a:latin typeface="Arial"/>
                <a:cs typeface="Arial"/>
              </a:rPr>
              <a:t> </a:t>
            </a:r>
            <a:r>
              <a:rPr sz="1050" b="1" spc="5" dirty="0">
                <a:latin typeface="Arial"/>
                <a:cs typeface="Arial"/>
              </a:rPr>
              <a:t>box  </a:t>
            </a:r>
            <a:r>
              <a:rPr sz="1050" dirty="0">
                <a:latin typeface="Arial"/>
                <a:cs typeface="Arial"/>
              </a:rPr>
              <a:t>of </a:t>
            </a:r>
            <a:r>
              <a:rPr sz="1050" spc="5" dirty="0">
                <a:latin typeface="Arial"/>
                <a:cs typeface="Arial"/>
              </a:rPr>
              <a:t>fixed size </a:t>
            </a:r>
            <a:r>
              <a:rPr sz="1050" dirty="0">
                <a:latin typeface="Arial"/>
                <a:cs typeface="Arial"/>
              </a:rPr>
              <a:t>at </a:t>
            </a:r>
            <a:r>
              <a:rPr sz="1050" spc="5" dirty="0">
                <a:latin typeface="Arial"/>
                <a:cs typeface="Arial"/>
              </a:rPr>
              <a:t>each  </a:t>
            </a:r>
            <a:r>
              <a:rPr sz="1050" dirty="0">
                <a:latin typeface="Arial"/>
                <a:cs typeface="Arial"/>
              </a:rPr>
              <a:t>point </a:t>
            </a:r>
            <a:r>
              <a:rPr sz="1050" spc="5" dirty="0">
                <a:latin typeface="Arial"/>
                <a:cs typeface="Arial"/>
              </a:rPr>
              <a:t>in the feature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map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207631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0" y="812037"/>
                </a:lnTo>
                <a:lnTo>
                  <a:pt x="354710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08393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0" y="88645"/>
                </a:lnTo>
                <a:lnTo>
                  <a:pt x="354710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234810" y="1671573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37373" y="1401825"/>
            <a:ext cx="108521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Anchor </a:t>
            </a:r>
            <a:r>
              <a:rPr sz="900" spc="10" dirty="0">
                <a:latin typeface="Arial"/>
                <a:cs typeface="Arial"/>
              </a:rPr>
              <a:t>is </a:t>
            </a:r>
            <a:r>
              <a:rPr sz="900" spc="15" dirty="0">
                <a:latin typeface="Arial"/>
                <a:cs typeface="Arial"/>
              </a:rPr>
              <a:t>an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object?</a:t>
            </a:r>
            <a:endParaRPr sz="9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1 x 20 x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08443" y="157975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09611" y="155232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067929" y="1866010"/>
            <a:ext cx="81343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2555" marR="5080" indent="-110489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Box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transforms  </a:t>
            </a:r>
            <a:r>
              <a:rPr sz="900" spc="15" dirty="0">
                <a:latin typeface="Arial"/>
                <a:cs typeface="Arial"/>
              </a:rPr>
              <a:t>4 x 20 x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08443" y="203695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9611" y="200952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647436" y="2634106"/>
            <a:ext cx="1032510" cy="307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14935">
              <a:lnSpc>
                <a:spcPct val="101899"/>
              </a:lnSpc>
              <a:spcBef>
                <a:spcPts val="114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82104" y="2373883"/>
            <a:ext cx="1872614" cy="69405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5300"/>
              </a:lnSpc>
              <a:spcBef>
                <a:spcPts val="50"/>
              </a:spcBef>
            </a:pPr>
            <a:r>
              <a:rPr sz="1050" dirty="0">
                <a:latin typeface="Arial"/>
                <a:cs typeface="Arial"/>
              </a:rPr>
              <a:t>For </a:t>
            </a:r>
            <a:r>
              <a:rPr sz="1050" spc="5" dirty="0">
                <a:latin typeface="Arial"/>
                <a:cs typeface="Arial"/>
              </a:rPr>
              <a:t>positive boxes, also</a:t>
            </a:r>
            <a:r>
              <a:rPr sz="1050" spc="-204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predict  </a:t>
            </a:r>
            <a:r>
              <a:rPr sz="1050" spc="5" dirty="0">
                <a:latin typeface="Arial"/>
                <a:cs typeface="Arial"/>
              </a:rPr>
              <a:t>a </a:t>
            </a:r>
            <a:r>
              <a:rPr sz="1050" dirty="0">
                <a:latin typeface="Arial"/>
                <a:cs typeface="Arial"/>
              </a:rPr>
              <a:t>transformation </a:t>
            </a:r>
            <a:r>
              <a:rPr sz="1050" spc="5" dirty="0">
                <a:latin typeface="Arial"/>
                <a:cs typeface="Arial"/>
              </a:rPr>
              <a:t>from the  </a:t>
            </a:r>
            <a:r>
              <a:rPr sz="1050" dirty="0">
                <a:latin typeface="Arial"/>
                <a:cs typeface="Arial"/>
              </a:rPr>
              <a:t>anchor </a:t>
            </a:r>
            <a:r>
              <a:rPr sz="1050" spc="5" dirty="0">
                <a:latin typeface="Arial"/>
                <a:cs typeface="Arial"/>
              </a:rPr>
              <a:t>to the </a:t>
            </a:r>
            <a:r>
              <a:rPr sz="1050" dirty="0">
                <a:latin typeface="Arial"/>
                <a:cs typeface="Arial"/>
              </a:rPr>
              <a:t>ground-truth </a:t>
            </a:r>
            <a:r>
              <a:rPr sz="1050" spc="-5" dirty="0">
                <a:latin typeface="Arial"/>
                <a:cs typeface="Arial"/>
              </a:rPr>
              <a:t>box  </a:t>
            </a:r>
            <a:r>
              <a:rPr sz="1050" spc="5" dirty="0">
                <a:latin typeface="Arial"/>
                <a:cs typeface="Arial"/>
              </a:rPr>
              <a:t>(regress 4 </a:t>
            </a:r>
            <a:r>
              <a:rPr sz="1050" dirty="0">
                <a:latin typeface="Arial"/>
                <a:cs typeface="Arial"/>
              </a:rPr>
              <a:t>numbers per</a:t>
            </a:r>
            <a:r>
              <a:rPr sz="1050" spc="-114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pixel)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36468" y="177419"/>
            <a:ext cx="3723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区域建</a:t>
            </a:r>
            <a:r>
              <a:rPr sz="1800" b="1" spc="-5" dirty="0">
                <a:latin typeface="微软雅黑"/>
                <a:cs typeface="微软雅黑"/>
              </a:rPr>
              <a:t>议</a:t>
            </a:r>
            <a:r>
              <a:rPr sz="1800" spc="-10" dirty="0">
                <a:latin typeface="微软雅黑"/>
                <a:cs typeface="微软雅黑"/>
              </a:rPr>
              <a:t>（</a:t>
            </a:r>
            <a:r>
              <a:rPr sz="1800" spc="-10" dirty="0">
                <a:latin typeface="Calibri"/>
                <a:cs typeface="Calibri"/>
              </a:rPr>
              <a:t>Region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Proposal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10" dirty="0">
                <a:latin typeface="微软雅黑"/>
                <a:cs typeface="微软雅黑"/>
              </a:rPr>
              <a:t>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400" y="1004459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2" y="881015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90"/>
                </a:lnTo>
                <a:lnTo>
                  <a:pt x="0" y="1545209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400" y="881015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4"/>
                </a:lnTo>
                <a:lnTo>
                  <a:pt x="1658239" y="123444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2" y="881777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8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2" y="881777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20" y="996839"/>
            <a:ext cx="1653539" cy="1429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55743" y="1002173"/>
            <a:ext cx="0" cy="1414145"/>
          </a:xfrm>
          <a:custGeom>
            <a:avLst/>
            <a:gdLst/>
            <a:ahLst/>
            <a:cxnLst/>
            <a:rect l="l" t="t" r="r" b="b"/>
            <a:pathLst>
              <a:path h="1414145">
                <a:moveTo>
                  <a:pt x="0" y="0"/>
                </a:moveTo>
                <a:lnTo>
                  <a:pt x="0" y="14137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2162" y="222353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3515" y="1004967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66842" y="1004967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0042" y="1004967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3242" y="1819291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3242" y="1005221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6442" y="1005221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9642" y="1005221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2162" y="2020586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81433" y="1815227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>
                <a:moveTo>
                  <a:pt x="0" y="0"/>
                </a:moveTo>
                <a:lnTo>
                  <a:pt x="629475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1400" y="1815227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>
                <a:moveTo>
                  <a:pt x="0" y="0"/>
                </a:moveTo>
                <a:lnTo>
                  <a:pt x="822960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1400" y="1819545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51400" y="1613805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1400" y="1611011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2162" y="1410605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2162" y="12079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07631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0" y="812038"/>
                </a:lnTo>
                <a:lnTo>
                  <a:pt x="354710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08393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0" y="88645"/>
                </a:lnTo>
                <a:lnTo>
                  <a:pt x="354710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4836" y="1001411"/>
            <a:ext cx="1656588" cy="1435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89628" y="1268111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8"/>
                </a:lnTo>
                <a:lnTo>
                  <a:pt x="354711" y="8851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90390" y="1268873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16298" y="1652921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0956" y="2469150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45913" y="2615073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1884" y="584851"/>
            <a:ext cx="50819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微软雅黑"/>
                <a:cs typeface="微软雅黑"/>
              </a:rPr>
              <a:t>实际使用中</a:t>
            </a:r>
            <a:r>
              <a:rPr sz="800" spc="-15" dirty="0">
                <a:latin typeface="微软雅黑"/>
                <a:cs typeface="微软雅黑"/>
              </a:rPr>
              <a:t>，</a:t>
            </a:r>
            <a:r>
              <a:rPr sz="800" dirty="0">
                <a:latin typeface="微软雅黑"/>
                <a:cs typeface="微软雅黑"/>
              </a:rPr>
              <a:t>对</a:t>
            </a:r>
            <a:r>
              <a:rPr sz="800" spc="-15" dirty="0">
                <a:latin typeface="微软雅黑"/>
                <a:cs typeface="微软雅黑"/>
              </a:rPr>
              <a:t>于每</a:t>
            </a:r>
            <a:r>
              <a:rPr sz="800" dirty="0">
                <a:latin typeface="微软雅黑"/>
                <a:cs typeface="微软雅黑"/>
              </a:rPr>
              <a:t>个</a:t>
            </a:r>
            <a:r>
              <a:rPr sz="800" spc="-15" dirty="0">
                <a:latin typeface="微软雅黑"/>
                <a:cs typeface="微软雅黑"/>
              </a:rPr>
              <a:t>特</a:t>
            </a:r>
            <a:r>
              <a:rPr sz="800" dirty="0">
                <a:latin typeface="微软雅黑"/>
                <a:cs typeface="微软雅黑"/>
              </a:rPr>
              <a:t>征</a:t>
            </a:r>
            <a:r>
              <a:rPr sz="800" spc="-15" dirty="0">
                <a:latin typeface="微软雅黑"/>
                <a:cs typeface="微软雅黑"/>
              </a:rPr>
              <a:t>图上</a:t>
            </a:r>
            <a:r>
              <a:rPr sz="800" dirty="0">
                <a:latin typeface="微软雅黑"/>
                <a:cs typeface="微软雅黑"/>
              </a:rPr>
              <a:t>的</a:t>
            </a:r>
            <a:r>
              <a:rPr sz="800" spc="-15" dirty="0">
                <a:latin typeface="微软雅黑"/>
                <a:cs typeface="微软雅黑"/>
              </a:rPr>
              <a:t>每个</a:t>
            </a:r>
            <a:r>
              <a:rPr sz="800" dirty="0">
                <a:latin typeface="微软雅黑"/>
                <a:cs typeface="微软雅黑"/>
              </a:rPr>
              <a:t>位</a:t>
            </a:r>
            <a:r>
              <a:rPr sz="800" spc="-10" dirty="0">
                <a:latin typeface="微软雅黑"/>
                <a:cs typeface="微软雅黑"/>
              </a:rPr>
              <a:t>置</a:t>
            </a:r>
            <a:r>
              <a:rPr sz="800" dirty="0">
                <a:latin typeface="微软雅黑"/>
                <a:cs typeface="微软雅黑"/>
              </a:rPr>
              <a:t>，</a:t>
            </a:r>
            <a:r>
              <a:rPr sz="800" spc="-15" dirty="0">
                <a:latin typeface="微软雅黑"/>
                <a:cs typeface="微软雅黑"/>
              </a:rPr>
              <a:t>我们</a:t>
            </a:r>
            <a:r>
              <a:rPr sz="800" dirty="0">
                <a:latin typeface="微软雅黑"/>
                <a:cs typeface="微软雅黑"/>
              </a:rPr>
              <a:t>通</a:t>
            </a:r>
            <a:r>
              <a:rPr sz="800" spc="-15" dirty="0">
                <a:latin typeface="微软雅黑"/>
                <a:cs typeface="微软雅黑"/>
              </a:rPr>
              <a:t>常会</a:t>
            </a:r>
            <a:r>
              <a:rPr sz="800" dirty="0">
                <a:latin typeface="微软雅黑"/>
                <a:cs typeface="微软雅黑"/>
              </a:rPr>
              <a:t>采</a:t>
            </a:r>
            <a:r>
              <a:rPr sz="800" spc="-15" dirty="0">
                <a:latin typeface="微软雅黑"/>
                <a:cs typeface="微软雅黑"/>
              </a:rPr>
              <a:t>用</a:t>
            </a:r>
            <a:r>
              <a:rPr sz="800" spc="-10" dirty="0">
                <a:latin typeface="微软雅黑"/>
                <a:cs typeface="微软雅黑"/>
              </a:rPr>
              <a:t>k</a:t>
            </a:r>
            <a:r>
              <a:rPr sz="800" dirty="0">
                <a:latin typeface="微软雅黑"/>
                <a:cs typeface="微软雅黑"/>
              </a:rPr>
              <a:t>个</a:t>
            </a:r>
            <a:r>
              <a:rPr sz="800" spc="-15" dirty="0">
                <a:latin typeface="微软雅黑"/>
                <a:cs typeface="微软雅黑"/>
              </a:rPr>
              <a:t>不同</a:t>
            </a:r>
            <a:r>
              <a:rPr sz="800" dirty="0">
                <a:latin typeface="微软雅黑"/>
                <a:cs typeface="微软雅黑"/>
              </a:rPr>
              <a:t>尺</a:t>
            </a:r>
            <a:r>
              <a:rPr sz="800" spc="-15" dirty="0">
                <a:latin typeface="微软雅黑"/>
                <a:cs typeface="微软雅黑"/>
              </a:rPr>
              <a:t>寸</a:t>
            </a:r>
            <a:r>
              <a:rPr sz="800" dirty="0">
                <a:latin typeface="微软雅黑"/>
                <a:cs typeface="微软雅黑"/>
              </a:rPr>
              <a:t>和</a:t>
            </a:r>
            <a:r>
              <a:rPr sz="800" spc="-15" dirty="0">
                <a:latin typeface="微软雅黑"/>
                <a:cs typeface="微软雅黑"/>
              </a:rPr>
              <a:t>分辨</a:t>
            </a:r>
            <a:r>
              <a:rPr sz="800" dirty="0">
                <a:latin typeface="微软雅黑"/>
                <a:cs typeface="微软雅黑"/>
              </a:rPr>
              <a:t>率</a:t>
            </a:r>
            <a:r>
              <a:rPr sz="800" spc="-10" dirty="0">
                <a:latin typeface="微软雅黑"/>
                <a:cs typeface="微软雅黑"/>
              </a:rPr>
              <a:t>的</a:t>
            </a:r>
            <a:r>
              <a:rPr sz="800" dirty="0">
                <a:latin typeface="微软雅黑"/>
                <a:cs typeface="微软雅黑"/>
              </a:rPr>
              <a:t>锚</a:t>
            </a:r>
            <a:r>
              <a:rPr sz="800" spc="-15" dirty="0">
                <a:latin typeface="微软雅黑"/>
                <a:cs typeface="微软雅黑"/>
              </a:rPr>
              <a:t>点</a:t>
            </a:r>
            <a:r>
              <a:rPr sz="800" dirty="0">
                <a:latin typeface="微软雅黑"/>
                <a:cs typeface="微软雅黑"/>
              </a:rPr>
              <a:t>区域</a:t>
            </a:r>
            <a:r>
              <a:rPr sz="800" spc="-5" dirty="0">
                <a:latin typeface="微软雅黑"/>
                <a:cs typeface="微软雅黑"/>
              </a:rPr>
              <a:t>（anchor</a:t>
            </a:r>
            <a:r>
              <a:rPr sz="800" spc="-10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boxes）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34810" y="1648603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37374" y="1379109"/>
            <a:ext cx="108521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Anchor </a:t>
            </a:r>
            <a:r>
              <a:rPr sz="900" spc="10" dirty="0">
                <a:latin typeface="Arial"/>
                <a:cs typeface="Arial"/>
              </a:rPr>
              <a:t>is </a:t>
            </a:r>
            <a:r>
              <a:rPr sz="900" spc="15" dirty="0">
                <a:latin typeface="Arial"/>
                <a:cs typeface="Arial"/>
              </a:rPr>
              <a:t>an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object?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b="1" spc="25" dirty="0">
                <a:latin typeface="Arial"/>
                <a:cs typeface="Arial"/>
              </a:rPr>
              <a:t>K </a:t>
            </a:r>
            <a:r>
              <a:rPr sz="900" spc="15" dirty="0">
                <a:latin typeface="Arial"/>
                <a:cs typeface="Arial"/>
              </a:rPr>
              <a:t>x 20 x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608443" y="1557671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09612" y="1530240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069454" y="1836309"/>
            <a:ext cx="815340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Box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transforms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b="1" spc="20" dirty="0">
                <a:latin typeface="Arial"/>
                <a:cs typeface="Arial"/>
              </a:rPr>
              <a:t>4K </a:t>
            </a:r>
            <a:r>
              <a:rPr sz="900" spc="15" dirty="0">
                <a:latin typeface="Arial"/>
                <a:cs typeface="Arial"/>
              </a:rPr>
              <a:t>x 20 x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608443" y="2014871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09612" y="1987440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95824" y="1176696"/>
            <a:ext cx="1164590" cy="1077595"/>
          </a:xfrm>
          <a:custGeom>
            <a:avLst/>
            <a:gdLst/>
            <a:ahLst/>
            <a:cxnLst/>
            <a:rect l="l" t="t" r="r" b="b"/>
            <a:pathLst>
              <a:path w="1164589" h="1077595">
                <a:moveTo>
                  <a:pt x="0" y="1077061"/>
                </a:moveTo>
                <a:lnTo>
                  <a:pt x="1163993" y="1077061"/>
                </a:lnTo>
                <a:lnTo>
                  <a:pt x="1163993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74360" y="1612586"/>
            <a:ext cx="207645" cy="205740"/>
          </a:xfrm>
          <a:custGeom>
            <a:avLst/>
            <a:gdLst/>
            <a:ahLst/>
            <a:cxnLst/>
            <a:rect l="l" t="t" r="r" b="b"/>
            <a:pathLst>
              <a:path w="207645" h="205739">
                <a:moveTo>
                  <a:pt x="0" y="205562"/>
                </a:moveTo>
                <a:lnTo>
                  <a:pt x="207073" y="205562"/>
                </a:lnTo>
                <a:lnTo>
                  <a:pt x="207073" y="0"/>
                </a:lnTo>
                <a:lnTo>
                  <a:pt x="0" y="0"/>
                </a:lnTo>
                <a:lnTo>
                  <a:pt x="0" y="205562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85892" y="1445365"/>
            <a:ext cx="584200" cy="540385"/>
          </a:xfrm>
          <a:custGeom>
            <a:avLst/>
            <a:gdLst/>
            <a:ahLst/>
            <a:cxnLst/>
            <a:rect l="l" t="t" r="r" b="b"/>
            <a:pathLst>
              <a:path w="584200" h="540385">
                <a:moveTo>
                  <a:pt x="0" y="539915"/>
                </a:moveTo>
                <a:lnTo>
                  <a:pt x="583717" y="539915"/>
                </a:lnTo>
                <a:lnTo>
                  <a:pt x="583717" y="0"/>
                </a:lnTo>
                <a:lnTo>
                  <a:pt x="0" y="0"/>
                </a:lnTo>
                <a:lnTo>
                  <a:pt x="0" y="539915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32857" y="911495"/>
            <a:ext cx="890269" cy="1607820"/>
          </a:xfrm>
          <a:custGeom>
            <a:avLst/>
            <a:gdLst/>
            <a:ahLst/>
            <a:cxnLst/>
            <a:rect l="l" t="t" r="r" b="b"/>
            <a:pathLst>
              <a:path w="890270" h="1607820">
                <a:moveTo>
                  <a:pt x="0" y="1607693"/>
                </a:moveTo>
                <a:lnTo>
                  <a:pt x="889876" y="1607693"/>
                </a:lnTo>
                <a:lnTo>
                  <a:pt x="889876" y="0"/>
                </a:lnTo>
                <a:lnTo>
                  <a:pt x="0" y="0"/>
                </a:lnTo>
                <a:lnTo>
                  <a:pt x="0" y="1607693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37684" y="1305881"/>
            <a:ext cx="1880235" cy="819150"/>
          </a:xfrm>
          <a:custGeom>
            <a:avLst/>
            <a:gdLst/>
            <a:ahLst/>
            <a:cxnLst/>
            <a:rect l="l" t="t" r="r" b="b"/>
            <a:pathLst>
              <a:path w="1880235" h="819150">
                <a:moveTo>
                  <a:pt x="0" y="818972"/>
                </a:moveTo>
                <a:lnTo>
                  <a:pt x="1880235" y="818972"/>
                </a:lnTo>
                <a:lnTo>
                  <a:pt x="1880235" y="0"/>
                </a:lnTo>
                <a:lnTo>
                  <a:pt x="0" y="0"/>
                </a:lnTo>
                <a:lnTo>
                  <a:pt x="0" y="818972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336468" y="154448"/>
            <a:ext cx="3723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区域建</a:t>
            </a:r>
            <a:r>
              <a:rPr sz="1800" b="1" spc="-5" dirty="0">
                <a:latin typeface="微软雅黑"/>
                <a:cs typeface="微软雅黑"/>
              </a:rPr>
              <a:t>议</a:t>
            </a:r>
            <a:r>
              <a:rPr sz="1800" spc="-10" dirty="0">
                <a:latin typeface="微软雅黑"/>
                <a:cs typeface="微软雅黑"/>
              </a:rPr>
              <a:t>（</a:t>
            </a:r>
            <a:r>
              <a:rPr sz="1800" spc="-10" dirty="0">
                <a:latin typeface="Calibri"/>
                <a:cs typeface="Calibri"/>
              </a:rPr>
              <a:t>Region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Proposal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10" dirty="0">
                <a:latin typeface="微软雅黑"/>
                <a:cs typeface="微软雅黑"/>
              </a:rPr>
              <a:t>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99" y="1026540"/>
            <a:ext cx="1657985" cy="1421765"/>
          </a:xfrm>
          <a:custGeom>
            <a:avLst/>
            <a:gdLst/>
            <a:ahLst/>
            <a:cxnLst/>
            <a:rect l="l" t="t" r="r" b="b"/>
            <a:pathLst>
              <a:path w="1657985" h="1421764">
                <a:moveTo>
                  <a:pt x="0" y="1421765"/>
                </a:moveTo>
                <a:lnTo>
                  <a:pt x="1657985" y="1421765"/>
                </a:lnTo>
                <a:lnTo>
                  <a:pt x="1657985" y="0"/>
                </a:lnTo>
                <a:lnTo>
                  <a:pt x="0" y="0"/>
                </a:lnTo>
                <a:lnTo>
                  <a:pt x="0" y="142176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9511" y="903096"/>
            <a:ext cx="121920" cy="1545590"/>
          </a:xfrm>
          <a:custGeom>
            <a:avLst/>
            <a:gdLst/>
            <a:ahLst/>
            <a:cxnLst/>
            <a:rect l="l" t="t" r="r" b="b"/>
            <a:pathLst>
              <a:path w="121920" h="1545589">
                <a:moveTo>
                  <a:pt x="121920" y="0"/>
                </a:moveTo>
                <a:lnTo>
                  <a:pt x="0" y="123189"/>
                </a:lnTo>
                <a:lnTo>
                  <a:pt x="0" y="1545208"/>
                </a:lnTo>
                <a:lnTo>
                  <a:pt x="121920" y="1422019"/>
                </a:lnTo>
                <a:lnTo>
                  <a:pt x="12192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1399" y="903096"/>
            <a:ext cx="1781810" cy="123825"/>
          </a:xfrm>
          <a:custGeom>
            <a:avLst/>
            <a:gdLst/>
            <a:ahLst/>
            <a:cxnLst/>
            <a:rect l="l" t="t" r="r" b="b"/>
            <a:pathLst>
              <a:path w="1781810" h="123825">
                <a:moveTo>
                  <a:pt x="1781428" y="0"/>
                </a:moveTo>
                <a:lnTo>
                  <a:pt x="123189" y="0"/>
                </a:lnTo>
                <a:lnTo>
                  <a:pt x="0" y="123443"/>
                </a:lnTo>
                <a:lnTo>
                  <a:pt x="1658239" y="123443"/>
                </a:lnTo>
                <a:lnTo>
                  <a:pt x="1781428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2161" y="903858"/>
            <a:ext cx="1781810" cy="1545590"/>
          </a:xfrm>
          <a:custGeom>
            <a:avLst/>
            <a:gdLst/>
            <a:ahLst/>
            <a:cxnLst/>
            <a:rect l="l" t="t" r="r" b="b"/>
            <a:pathLst>
              <a:path w="1781810" h="1545589">
                <a:moveTo>
                  <a:pt x="0" y="123189"/>
                </a:moveTo>
                <a:lnTo>
                  <a:pt x="123189" y="0"/>
                </a:lnTo>
                <a:lnTo>
                  <a:pt x="1781428" y="0"/>
                </a:lnTo>
                <a:lnTo>
                  <a:pt x="1781428" y="1422019"/>
                </a:lnTo>
                <a:lnTo>
                  <a:pt x="1658239" y="1545208"/>
                </a:lnTo>
                <a:lnTo>
                  <a:pt x="0" y="1545208"/>
                </a:lnTo>
                <a:lnTo>
                  <a:pt x="0" y="123189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2161" y="903858"/>
            <a:ext cx="1781810" cy="123189"/>
          </a:xfrm>
          <a:custGeom>
            <a:avLst/>
            <a:gdLst/>
            <a:ahLst/>
            <a:cxnLst/>
            <a:rect l="l" t="t" r="r" b="b"/>
            <a:pathLst>
              <a:path w="1781810" h="123190">
                <a:moveTo>
                  <a:pt x="0" y="123189"/>
                </a:moveTo>
                <a:lnTo>
                  <a:pt x="1658239" y="123189"/>
                </a:lnTo>
                <a:lnTo>
                  <a:pt x="1781428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59019" y="1018920"/>
            <a:ext cx="1653539" cy="142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55742" y="1024254"/>
            <a:ext cx="0" cy="1414145"/>
          </a:xfrm>
          <a:custGeom>
            <a:avLst/>
            <a:gdLst/>
            <a:ahLst/>
            <a:cxnLst/>
            <a:rect l="l" t="t" r="r" b="b"/>
            <a:pathLst>
              <a:path h="1414145">
                <a:moveTo>
                  <a:pt x="0" y="0"/>
                </a:moveTo>
                <a:lnTo>
                  <a:pt x="0" y="1413763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2161" y="2245613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3514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668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0041" y="1027048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3241" y="1841372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3241" y="1027302"/>
            <a:ext cx="0" cy="607695"/>
          </a:xfrm>
          <a:custGeom>
            <a:avLst/>
            <a:gdLst/>
            <a:ahLst/>
            <a:cxnLst/>
            <a:rect l="l" t="t" r="r" b="b"/>
            <a:pathLst>
              <a:path h="607694">
                <a:moveTo>
                  <a:pt x="0" y="0"/>
                </a:moveTo>
                <a:lnTo>
                  <a:pt x="0" y="60769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6441" y="1027302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9641" y="1027302"/>
            <a:ext cx="0" cy="1421765"/>
          </a:xfrm>
          <a:custGeom>
            <a:avLst/>
            <a:gdLst/>
            <a:ahLst/>
            <a:cxnLst/>
            <a:rect l="l" t="t" r="r" b="b"/>
            <a:pathLst>
              <a:path h="1421764">
                <a:moveTo>
                  <a:pt x="0" y="0"/>
                </a:moveTo>
                <a:lnTo>
                  <a:pt x="0" y="14217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2161" y="2042667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81433" y="1837308"/>
            <a:ext cx="629920" cy="0"/>
          </a:xfrm>
          <a:custGeom>
            <a:avLst/>
            <a:gdLst/>
            <a:ahLst/>
            <a:cxnLst/>
            <a:rect l="l" t="t" r="r" b="b"/>
            <a:pathLst>
              <a:path w="629920">
                <a:moveTo>
                  <a:pt x="0" y="0"/>
                </a:moveTo>
                <a:lnTo>
                  <a:pt x="629475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1399" y="1837308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>
                <a:moveTo>
                  <a:pt x="0" y="0"/>
                </a:moveTo>
                <a:lnTo>
                  <a:pt x="822960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1399" y="1841626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806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51399" y="1635886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1399" y="1633092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3358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2161" y="1432686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2161" y="1229994"/>
            <a:ext cx="1659889" cy="0"/>
          </a:xfrm>
          <a:custGeom>
            <a:avLst/>
            <a:gdLst/>
            <a:ahLst/>
            <a:cxnLst/>
            <a:rect l="l" t="t" r="r" b="b"/>
            <a:pathLst>
              <a:path w="1659889">
                <a:moveTo>
                  <a:pt x="0" y="0"/>
                </a:moveTo>
                <a:lnTo>
                  <a:pt x="1659509" y="0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07631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0" y="812037"/>
                </a:lnTo>
                <a:lnTo>
                  <a:pt x="354710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08393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0" y="88645"/>
                </a:lnTo>
                <a:lnTo>
                  <a:pt x="354710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4835" y="1023492"/>
            <a:ext cx="1656588" cy="1435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89627" y="1290192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0" y="900683"/>
                </a:lnTo>
                <a:lnTo>
                  <a:pt x="354711" y="812037"/>
                </a:lnTo>
                <a:lnTo>
                  <a:pt x="354711" y="88645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90389" y="1290954"/>
            <a:ext cx="354965" cy="901065"/>
          </a:xfrm>
          <a:custGeom>
            <a:avLst/>
            <a:gdLst/>
            <a:ahLst/>
            <a:cxnLst/>
            <a:rect l="l" t="t" r="r" b="b"/>
            <a:pathLst>
              <a:path w="354964" h="901064">
                <a:moveTo>
                  <a:pt x="0" y="0"/>
                </a:moveTo>
                <a:lnTo>
                  <a:pt x="354711" y="88645"/>
                </a:lnTo>
                <a:lnTo>
                  <a:pt x="354711" y="812037"/>
                </a:lnTo>
                <a:lnTo>
                  <a:pt x="0" y="900683"/>
                </a:lnTo>
                <a:lnTo>
                  <a:pt x="0" y="0"/>
                </a:lnTo>
                <a:close/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16297" y="1675510"/>
            <a:ext cx="281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0956" y="2491866"/>
            <a:ext cx="103251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6215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 </a:t>
            </a:r>
            <a:r>
              <a:rPr sz="900" spc="15" dirty="0">
                <a:latin typeface="Arial"/>
                <a:cs typeface="Arial"/>
              </a:rPr>
              <a:t>Image  </a:t>
            </a:r>
            <a:r>
              <a:rPr sz="900" spc="10" dirty="0">
                <a:latin typeface="Arial"/>
                <a:cs typeface="Arial"/>
              </a:rPr>
              <a:t>(e.g. </a:t>
            </a:r>
            <a:r>
              <a:rPr sz="900" spc="15" dirty="0">
                <a:latin typeface="Arial"/>
                <a:cs typeface="Arial"/>
              </a:rPr>
              <a:t>3 x 640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480)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45912" y="2638170"/>
            <a:ext cx="10312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15570">
              <a:lnSpc>
                <a:spcPct val="102200"/>
              </a:lnSpc>
              <a:spcBef>
                <a:spcPts val="110"/>
              </a:spcBef>
            </a:pP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features  (e.g. </a:t>
            </a:r>
            <a:r>
              <a:rPr sz="900" spc="15" dirty="0">
                <a:latin typeface="Arial"/>
                <a:cs typeface="Arial"/>
              </a:rPr>
              <a:t>512 x 20 x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15)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34810" y="1671573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37373" y="1401825"/>
            <a:ext cx="108521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Anchor </a:t>
            </a:r>
            <a:r>
              <a:rPr sz="900" spc="10" dirty="0">
                <a:latin typeface="Arial"/>
                <a:cs typeface="Arial"/>
              </a:rPr>
              <a:t>is </a:t>
            </a:r>
            <a:r>
              <a:rPr sz="900" spc="15" dirty="0">
                <a:latin typeface="Arial"/>
                <a:cs typeface="Arial"/>
              </a:rPr>
              <a:t>an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object?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b="1" spc="25" dirty="0">
                <a:latin typeface="Arial"/>
                <a:cs typeface="Arial"/>
              </a:rPr>
              <a:t>K </a:t>
            </a:r>
            <a:r>
              <a:rPr sz="900" spc="15" dirty="0">
                <a:latin typeface="Arial"/>
                <a:cs typeface="Arial"/>
              </a:rPr>
              <a:t>x 20 x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08443" y="157975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09611" y="155232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069453" y="1859025"/>
            <a:ext cx="815340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Box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transforms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00" b="1" spc="20" dirty="0">
                <a:latin typeface="Arial"/>
                <a:cs typeface="Arial"/>
              </a:rPr>
              <a:t>4K </a:t>
            </a:r>
            <a:r>
              <a:rPr sz="900" spc="15" dirty="0">
                <a:latin typeface="Arial"/>
                <a:cs typeface="Arial"/>
              </a:rPr>
              <a:t>x 20 x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08443" y="203695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700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9611" y="2009522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95824" y="1198778"/>
            <a:ext cx="1164590" cy="1077595"/>
          </a:xfrm>
          <a:custGeom>
            <a:avLst/>
            <a:gdLst/>
            <a:ahLst/>
            <a:cxnLst/>
            <a:rect l="l" t="t" r="r" b="b"/>
            <a:pathLst>
              <a:path w="1164589" h="1077595">
                <a:moveTo>
                  <a:pt x="0" y="1077061"/>
                </a:moveTo>
                <a:lnTo>
                  <a:pt x="1163993" y="1077061"/>
                </a:lnTo>
                <a:lnTo>
                  <a:pt x="1163993" y="0"/>
                </a:lnTo>
                <a:lnTo>
                  <a:pt x="0" y="0"/>
                </a:lnTo>
                <a:lnTo>
                  <a:pt x="0" y="107706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74359" y="1634667"/>
            <a:ext cx="207645" cy="205740"/>
          </a:xfrm>
          <a:custGeom>
            <a:avLst/>
            <a:gdLst/>
            <a:ahLst/>
            <a:cxnLst/>
            <a:rect l="l" t="t" r="r" b="b"/>
            <a:pathLst>
              <a:path w="207645" h="205739">
                <a:moveTo>
                  <a:pt x="0" y="205562"/>
                </a:moveTo>
                <a:lnTo>
                  <a:pt x="207073" y="205562"/>
                </a:lnTo>
                <a:lnTo>
                  <a:pt x="207073" y="0"/>
                </a:lnTo>
                <a:lnTo>
                  <a:pt x="0" y="0"/>
                </a:lnTo>
                <a:lnTo>
                  <a:pt x="0" y="205562"/>
                </a:lnTo>
                <a:close/>
              </a:path>
            </a:pathLst>
          </a:custGeom>
          <a:solidFill>
            <a:srgbClr val="4885E8">
              <a:alpha val="5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85891" y="1467446"/>
            <a:ext cx="584200" cy="540385"/>
          </a:xfrm>
          <a:custGeom>
            <a:avLst/>
            <a:gdLst/>
            <a:ahLst/>
            <a:cxnLst/>
            <a:rect l="l" t="t" r="r" b="b"/>
            <a:pathLst>
              <a:path w="584200" h="540385">
                <a:moveTo>
                  <a:pt x="0" y="539915"/>
                </a:moveTo>
                <a:lnTo>
                  <a:pt x="583717" y="539915"/>
                </a:lnTo>
                <a:lnTo>
                  <a:pt x="583717" y="0"/>
                </a:lnTo>
                <a:lnTo>
                  <a:pt x="0" y="0"/>
                </a:lnTo>
                <a:lnTo>
                  <a:pt x="0" y="539915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32856" y="933576"/>
            <a:ext cx="890269" cy="1607820"/>
          </a:xfrm>
          <a:custGeom>
            <a:avLst/>
            <a:gdLst/>
            <a:ahLst/>
            <a:cxnLst/>
            <a:rect l="l" t="t" r="r" b="b"/>
            <a:pathLst>
              <a:path w="890270" h="1607820">
                <a:moveTo>
                  <a:pt x="0" y="1607693"/>
                </a:moveTo>
                <a:lnTo>
                  <a:pt x="889876" y="1607693"/>
                </a:lnTo>
                <a:lnTo>
                  <a:pt x="889876" y="0"/>
                </a:lnTo>
                <a:lnTo>
                  <a:pt x="0" y="0"/>
                </a:lnTo>
                <a:lnTo>
                  <a:pt x="0" y="1607693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37683" y="1327962"/>
            <a:ext cx="1880235" cy="819150"/>
          </a:xfrm>
          <a:custGeom>
            <a:avLst/>
            <a:gdLst/>
            <a:ahLst/>
            <a:cxnLst/>
            <a:rect l="l" t="t" r="r" b="b"/>
            <a:pathLst>
              <a:path w="1880235" h="819150">
                <a:moveTo>
                  <a:pt x="0" y="818972"/>
                </a:moveTo>
                <a:lnTo>
                  <a:pt x="1880235" y="818972"/>
                </a:lnTo>
                <a:lnTo>
                  <a:pt x="1880235" y="0"/>
                </a:lnTo>
                <a:lnTo>
                  <a:pt x="0" y="0"/>
                </a:lnTo>
                <a:lnTo>
                  <a:pt x="0" y="818972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283959" y="2261742"/>
            <a:ext cx="1689735" cy="5270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80"/>
              </a:spcBef>
            </a:pPr>
            <a:r>
              <a:rPr sz="1050" dirty="0">
                <a:latin typeface="Arial"/>
                <a:cs typeface="Arial"/>
              </a:rPr>
              <a:t>Sort </a:t>
            </a:r>
            <a:r>
              <a:rPr sz="1050" spc="5" dirty="0">
                <a:latin typeface="Arial"/>
                <a:cs typeface="Arial"/>
              </a:rPr>
              <a:t>the </a:t>
            </a:r>
            <a:r>
              <a:rPr sz="1050" dirty="0">
                <a:latin typeface="Arial"/>
                <a:cs typeface="Arial"/>
              </a:rPr>
              <a:t>K*20*15 boxes by  </a:t>
            </a:r>
            <a:r>
              <a:rPr sz="1050" spc="5" dirty="0">
                <a:latin typeface="Arial"/>
                <a:cs typeface="Arial"/>
              </a:rPr>
              <a:t>their </a:t>
            </a:r>
            <a:r>
              <a:rPr sz="1050" dirty="0">
                <a:latin typeface="Arial"/>
                <a:cs typeface="Arial"/>
              </a:rPr>
              <a:t>“object” </a:t>
            </a:r>
            <a:r>
              <a:rPr sz="1050" spc="5" dirty="0">
                <a:latin typeface="Arial"/>
                <a:cs typeface="Arial"/>
              </a:rPr>
              <a:t>score, take</a:t>
            </a:r>
            <a:r>
              <a:rPr sz="1050" spc="-16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top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"/>
                <a:cs typeface="Arial"/>
              </a:rPr>
              <a:t>~300 as </a:t>
            </a:r>
            <a:r>
              <a:rPr sz="1050" dirty="0">
                <a:latin typeface="Arial"/>
                <a:cs typeface="Arial"/>
              </a:rPr>
              <a:t>our</a:t>
            </a:r>
            <a:r>
              <a:rPr sz="1050" spc="-7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proposals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336468" y="177419"/>
            <a:ext cx="3723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区域建</a:t>
            </a:r>
            <a:r>
              <a:rPr sz="1800" b="1" spc="-5" dirty="0">
                <a:latin typeface="微软雅黑"/>
                <a:cs typeface="微软雅黑"/>
              </a:rPr>
              <a:t>议</a:t>
            </a:r>
            <a:r>
              <a:rPr sz="1800" spc="-10" dirty="0">
                <a:latin typeface="微软雅黑"/>
                <a:cs typeface="微软雅黑"/>
              </a:rPr>
              <a:t>（</a:t>
            </a:r>
            <a:r>
              <a:rPr sz="1800" spc="-10" dirty="0">
                <a:latin typeface="Calibri"/>
                <a:cs typeface="Calibri"/>
              </a:rPr>
              <a:t>Region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Proposal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10" dirty="0">
                <a:latin typeface="微软雅黑"/>
                <a:cs typeface="微软雅黑"/>
              </a:rPr>
              <a:t>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1883" y="607568"/>
            <a:ext cx="50819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微软雅黑"/>
                <a:cs typeface="微软雅黑"/>
              </a:rPr>
              <a:t>实际使用中</a:t>
            </a:r>
            <a:r>
              <a:rPr sz="800" spc="-15" dirty="0">
                <a:latin typeface="微软雅黑"/>
                <a:cs typeface="微软雅黑"/>
              </a:rPr>
              <a:t>，</a:t>
            </a:r>
            <a:r>
              <a:rPr sz="800" dirty="0">
                <a:latin typeface="微软雅黑"/>
                <a:cs typeface="微软雅黑"/>
              </a:rPr>
              <a:t>对</a:t>
            </a:r>
            <a:r>
              <a:rPr sz="800" spc="-15" dirty="0">
                <a:latin typeface="微软雅黑"/>
                <a:cs typeface="微软雅黑"/>
              </a:rPr>
              <a:t>于每</a:t>
            </a:r>
            <a:r>
              <a:rPr sz="800" dirty="0">
                <a:latin typeface="微软雅黑"/>
                <a:cs typeface="微软雅黑"/>
              </a:rPr>
              <a:t>个</a:t>
            </a:r>
            <a:r>
              <a:rPr sz="800" spc="-15" dirty="0">
                <a:latin typeface="微软雅黑"/>
                <a:cs typeface="微软雅黑"/>
              </a:rPr>
              <a:t>特</a:t>
            </a:r>
            <a:r>
              <a:rPr sz="800" dirty="0">
                <a:latin typeface="微软雅黑"/>
                <a:cs typeface="微软雅黑"/>
              </a:rPr>
              <a:t>征</a:t>
            </a:r>
            <a:r>
              <a:rPr sz="800" spc="-15" dirty="0">
                <a:latin typeface="微软雅黑"/>
                <a:cs typeface="微软雅黑"/>
              </a:rPr>
              <a:t>图上</a:t>
            </a:r>
            <a:r>
              <a:rPr sz="800" dirty="0">
                <a:latin typeface="微软雅黑"/>
                <a:cs typeface="微软雅黑"/>
              </a:rPr>
              <a:t>的</a:t>
            </a:r>
            <a:r>
              <a:rPr sz="800" spc="-15" dirty="0">
                <a:latin typeface="微软雅黑"/>
                <a:cs typeface="微软雅黑"/>
              </a:rPr>
              <a:t>每个</a:t>
            </a:r>
            <a:r>
              <a:rPr sz="800" dirty="0">
                <a:latin typeface="微软雅黑"/>
                <a:cs typeface="微软雅黑"/>
              </a:rPr>
              <a:t>位</a:t>
            </a:r>
            <a:r>
              <a:rPr sz="800" spc="-10" dirty="0">
                <a:latin typeface="微软雅黑"/>
                <a:cs typeface="微软雅黑"/>
              </a:rPr>
              <a:t>置</a:t>
            </a:r>
            <a:r>
              <a:rPr sz="800" dirty="0">
                <a:latin typeface="微软雅黑"/>
                <a:cs typeface="微软雅黑"/>
              </a:rPr>
              <a:t>，</a:t>
            </a:r>
            <a:r>
              <a:rPr sz="800" spc="-15" dirty="0">
                <a:latin typeface="微软雅黑"/>
                <a:cs typeface="微软雅黑"/>
              </a:rPr>
              <a:t>我们</a:t>
            </a:r>
            <a:r>
              <a:rPr sz="800" dirty="0">
                <a:latin typeface="微软雅黑"/>
                <a:cs typeface="微软雅黑"/>
              </a:rPr>
              <a:t>通</a:t>
            </a:r>
            <a:r>
              <a:rPr sz="800" spc="-15" dirty="0">
                <a:latin typeface="微软雅黑"/>
                <a:cs typeface="微软雅黑"/>
              </a:rPr>
              <a:t>常会</a:t>
            </a:r>
            <a:r>
              <a:rPr sz="800" dirty="0">
                <a:latin typeface="微软雅黑"/>
                <a:cs typeface="微软雅黑"/>
              </a:rPr>
              <a:t>采</a:t>
            </a:r>
            <a:r>
              <a:rPr sz="800" spc="-15" dirty="0">
                <a:latin typeface="微软雅黑"/>
                <a:cs typeface="微软雅黑"/>
              </a:rPr>
              <a:t>用</a:t>
            </a:r>
            <a:r>
              <a:rPr sz="800" spc="-10" dirty="0">
                <a:latin typeface="微软雅黑"/>
                <a:cs typeface="微软雅黑"/>
              </a:rPr>
              <a:t>k</a:t>
            </a:r>
            <a:r>
              <a:rPr sz="800" dirty="0">
                <a:latin typeface="微软雅黑"/>
                <a:cs typeface="微软雅黑"/>
              </a:rPr>
              <a:t>个</a:t>
            </a:r>
            <a:r>
              <a:rPr sz="800" spc="-15" dirty="0">
                <a:latin typeface="微软雅黑"/>
                <a:cs typeface="微软雅黑"/>
              </a:rPr>
              <a:t>不同</a:t>
            </a:r>
            <a:r>
              <a:rPr sz="800" dirty="0">
                <a:latin typeface="微软雅黑"/>
                <a:cs typeface="微软雅黑"/>
              </a:rPr>
              <a:t>尺</a:t>
            </a:r>
            <a:r>
              <a:rPr sz="800" spc="-15" dirty="0">
                <a:latin typeface="微软雅黑"/>
                <a:cs typeface="微软雅黑"/>
              </a:rPr>
              <a:t>寸</a:t>
            </a:r>
            <a:r>
              <a:rPr sz="800" dirty="0">
                <a:latin typeface="微软雅黑"/>
                <a:cs typeface="微软雅黑"/>
              </a:rPr>
              <a:t>和</a:t>
            </a:r>
            <a:r>
              <a:rPr sz="800" spc="-15" dirty="0">
                <a:latin typeface="微软雅黑"/>
                <a:cs typeface="微软雅黑"/>
              </a:rPr>
              <a:t>分辨</a:t>
            </a:r>
            <a:r>
              <a:rPr sz="800" dirty="0">
                <a:latin typeface="微软雅黑"/>
                <a:cs typeface="微软雅黑"/>
              </a:rPr>
              <a:t>率</a:t>
            </a:r>
            <a:r>
              <a:rPr sz="800" spc="-10" dirty="0">
                <a:latin typeface="微软雅黑"/>
                <a:cs typeface="微软雅黑"/>
              </a:rPr>
              <a:t>的</a:t>
            </a:r>
            <a:r>
              <a:rPr sz="800" dirty="0">
                <a:latin typeface="微软雅黑"/>
                <a:cs typeface="微软雅黑"/>
              </a:rPr>
              <a:t>锚</a:t>
            </a:r>
            <a:r>
              <a:rPr sz="800" spc="-15" dirty="0">
                <a:latin typeface="微软雅黑"/>
                <a:cs typeface="微软雅黑"/>
              </a:rPr>
              <a:t>点</a:t>
            </a:r>
            <a:r>
              <a:rPr sz="800" dirty="0">
                <a:latin typeface="微软雅黑"/>
                <a:cs typeface="微软雅黑"/>
              </a:rPr>
              <a:t>区域</a:t>
            </a:r>
            <a:r>
              <a:rPr sz="800" spc="-5" dirty="0">
                <a:latin typeface="微软雅黑"/>
                <a:cs typeface="微软雅黑"/>
              </a:rPr>
              <a:t>（anchor</a:t>
            </a:r>
            <a:r>
              <a:rPr sz="800" spc="-10" dirty="0">
                <a:latin typeface="微软雅黑"/>
                <a:cs typeface="微软雅黑"/>
              </a:rPr>
              <a:t> </a:t>
            </a:r>
            <a:r>
              <a:rPr sz="800" spc="-5" dirty="0">
                <a:latin typeface="微软雅黑"/>
                <a:cs typeface="微软雅黑"/>
              </a:rPr>
              <a:t>boxes）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9688" y="146447"/>
            <a:ext cx="3537204" cy="2923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50816" y="146473"/>
            <a:ext cx="1412875" cy="372110"/>
          </a:xfrm>
          <a:custGeom>
            <a:avLst/>
            <a:gdLst/>
            <a:ahLst/>
            <a:cxnLst/>
            <a:rect l="l" t="t" r="r" b="b"/>
            <a:pathLst>
              <a:path w="1412875" h="372109">
                <a:moveTo>
                  <a:pt x="0" y="371576"/>
                </a:moveTo>
                <a:lnTo>
                  <a:pt x="1412620" y="371576"/>
                </a:lnTo>
                <a:lnTo>
                  <a:pt x="1412620" y="0"/>
                </a:lnTo>
                <a:lnTo>
                  <a:pt x="0" y="0"/>
                </a:lnTo>
                <a:lnTo>
                  <a:pt x="0" y="371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468" y="160544"/>
            <a:ext cx="155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Fast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34" y="2866533"/>
            <a:ext cx="3220720" cy="1885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Ren </a:t>
            </a:r>
            <a:r>
              <a:rPr sz="500" spc="5" dirty="0">
                <a:latin typeface="Arial"/>
                <a:cs typeface="Arial"/>
              </a:rPr>
              <a:t>et al, “Faster </a:t>
            </a:r>
            <a:r>
              <a:rPr sz="500" spc="15" dirty="0">
                <a:latin typeface="Arial"/>
                <a:cs typeface="Arial"/>
              </a:rPr>
              <a:t>R-CNN: </a:t>
            </a:r>
            <a:r>
              <a:rPr sz="500" dirty="0">
                <a:latin typeface="Arial"/>
                <a:cs typeface="Arial"/>
              </a:rPr>
              <a:t>Towards Real-Time </a:t>
            </a:r>
            <a:r>
              <a:rPr sz="500" spc="10" dirty="0">
                <a:latin typeface="Arial"/>
                <a:cs typeface="Arial"/>
              </a:rPr>
              <a:t>Object </a:t>
            </a:r>
            <a:r>
              <a:rPr sz="500" spc="5" dirty="0">
                <a:latin typeface="Arial"/>
                <a:cs typeface="Arial"/>
              </a:rPr>
              <a:t>Detection </a:t>
            </a:r>
            <a:r>
              <a:rPr sz="500" spc="10" dirty="0">
                <a:latin typeface="Arial"/>
                <a:cs typeface="Arial"/>
              </a:rPr>
              <a:t>with Region Proposal Networks”, NIPS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2015, </a:t>
            </a:r>
            <a:r>
              <a:rPr sz="500" spc="10" dirty="0">
                <a:latin typeface="Arial"/>
                <a:cs typeface="Arial"/>
              </a:rPr>
              <a:t>Ross Girshick; </a:t>
            </a:r>
            <a:r>
              <a:rPr sz="500" spc="5" dirty="0">
                <a:latin typeface="Arial"/>
                <a:cs typeface="Arial"/>
              </a:rPr>
              <a:t>reproduced </a:t>
            </a:r>
            <a:r>
              <a:rPr sz="500" spc="10" dirty="0">
                <a:latin typeface="Arial"/>
                <a:cs typeface="Arial"/>
              </a:rPr>
              <a:t>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161" y="601615"/>
            <a:ext cx="1789430" cy="1853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利用卷积网络产生候选区域！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000" spc="-30" dirty="0">
                <a:latin typeface="微软雅黑"/>
                <a:cs typeface="微软雅黑"/>
              </a:rPr>
              <a:t>四种损失联合训</a:t>
            </a:r>
            <a:r>
              <a:rPr sz="1000" spc="-20" dirty="0">
                <a:latin typeface="微软雅黑"/>
                <a:cs typeface="微软雅黑"/>
              </a:rPr>
              <a:t>练</a:t>
            </a:r>
            <a:r>
              <a:rPr sz="1000" spc="-5" dirty="0">
                <a:latin typeface="微软雅黑"/>
                <a:cs typeface="微软雅黑"/>
              </a:rPr>
              <a:t>：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Font typeface="Arial"/>
              <a:buChar char="•"/>
              <a:tabLst>
                <a:tab pos="183515" algn="l"/>
              </a:tabLst>
            </a:pPr>
            <a:r>
              <a:rPr sz="1000" spc="-10" dirty="0">
                <a:latin typeface="微软雅黑"/>
                <a:cs typeface="微软雅黑"/>
              </a:rPr>
              <a:t>RPN</a:t>
            </a:r>
            <a:r>
              <a:rPr sz="1000" spc="-30" dirty="0">
                <a:latin typeface="微软雅黑"/>
                <a:cs typeface="微软雅黑"/>
              </a:rPr>
              <a:t>分类损失(目标</a:t>
            </a:r>
            <a:r>
              <a:rPr sz="1000" spc="-35" dirty="0">
                <a:latin typeface="微软雅黑"/>
                <a:cs typeface="微软雅黑"/>
              </a:rPr>
              <a:t>/</a:t>
            </a:r>
            <a:r>
              <a:rPr sz="1000" spc="-20" dirty="0">
                <a:latin typeface="微软雅黑"/>
                <a:cs typeface="微软雅黑"/>
              </a:rPr>
              <a:t>非目</a:t>
            </a:r>
            <a:r>
              <a:rPr sz="1000" spc="-30" dirty="0">
                <a:latin typeface="微软雅黑"/>
                <a:cs typeface="微软雅黑"/>
              </a:rPr>
              <a:t>标</a:t>
            </a:r>
            <a:r>
              <a:rPr sz="1000" spc="-5" dirty="0"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Font typeface="Arial"/>
              <a:buChar char="•"/>
              <a:tabLst>
                <a:tab pos="183515" algn="l"/>
              </a:tabLst>
            </a:pPr>
            <a:r>
              <a:rPr sz="1000" spc="-10" dirty="0">
                <a:latin typeface="微软雅黑"/>
                <a:cs typeface="微软雅黑"/>
              </a:rPr>
              <a:t>RPN</a:t>
            </a:r>
            <a:r>
              <a:rPr sz="1000" spc="-5" dirty="0">
                <a:latin typeface="微软雅黑"/>
                <a:cs typeface="微软雅黑"/>
              </a:rPr>
              <a:t>边界框坐标回归损失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1000">
              <a:latin typeface="Times New Roman"/>
              <a:cs typeface="Times New Roman"/>
            </a:endParaRPr>
          </a:p>
          <a:p>
            <a:pPr marL="207645" indent="-170815">
              <a:lnSpc>
                <a:spcPct val="100000"/>
              </a:lnSpc>
              <a:buFont typeface="Arial"/>
              <a:buChar char="•"/>
              <a:tabLst>
                <a:tab pos="208279" algn="l"/>
              </a:tabLst>
            </a:pPr>
            <a:r>
              <a:rPr sz="1000" spc="-5" dirty="0">
                <a:latin typeface="微软雅黑"/>
                <a:cs typeface="微软雅黑"/>
              </a:rPr>
              <a:t>候选区域分类损失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1000">
              <a:latin typeface="Times New Roman"/>
              <a:cs typeface="Times New Roman"/>
            </a:endParaRPr>
          </a:p>
          <a:p>
            <a:pPr marL="207645" indent="-17081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8279" algn="l"/>
              </a:tabLst>
            </a:pPr>
            <a:r>
              <a:rPr sz="1000" spc="-5" dirty="0">
                <a:latin typeface="微软雅黑"/>
                <a:cs typeface="微软雅黑"/>
              </a:rPr>
              <a:t>最终边界框坐标回归损失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9443" y="872616"/>
            <a:ext cx="3729228" cy="1862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468" y="183514"/>
            <a:ext cx="162877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Fast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endParaRPr sz="1800">
              <a:latin typeface="微软雅黑"/>
              <a:cs typeface="微软雅黑"/>
            </a:endParaRPr>
          </a:p>
          <a:p>
            <a:pPr marL="129539">
              <a:lnSpc>
                <a:spcPct val="100000"/>
              </a:lnSpc>
              <a:spcBef>
                <a:spcPts val="1310"/>
              </a:spcBef>
            </a:pPr>
            <a:r>
              <a:rPr sz="900" dirty="0">
                <a:latin typeface="微软雅黑"/>
                <a:cs typeface="微软雅黑"/>
              </a:rPr>
              <a:t>利用卷积网络产生候选区域！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79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2212" y="452771"/>
            <a:ext cx="3163824" cy="2572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45532" y="452758"/>
            <a:ext cx="1264920" cy="326390"/>
          </a:xfrm>
          <a:custGeom>
            <a:avLst/>
            <a:gdLst/>
            <a:ahLst/>
            <a:cxnLst/>
            <a:rect l="l" t="t" r="r" b="b"/>
            <a:pathLst>
              <a:path w="1264920" h="326390">
                <a:moveTo>
                  <a:pt x="0" y="325894"/>
                </a:moveTo>
                <a:lnTo>
                  <a:pt x="1264856" y="325894"/>
                </a:lnTo>
                <a:lnTo>
                  <a:pt x="1264856" y="0"/>
                </a:lnTo>
                <a:lnTo>
                  <a:pt x="0" y="0"/>
                </a:lnTo>
                <a:lnTo>
                  <a:pt x="0" y="325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34" y="2866533"/>
            <a:ext cx="3220720" cy="1885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80"/>
              </a:spcBef>
            </a:pPr>
            <a:r>
              <a:rPr sz="500" spc="10" dirty="0">
                <a:latin typeface="Arial"/>
                <a:cs typeface="Arial"/>
              </a:rPr>
              <a:t>Ren </a:t>
            </a:r>
            <a:r>
              <a:rPr sz="500" spc="5" dirty="0">
                <a:latin typeface="Arial"/>
                <a:cs typeface="Arial"/>
              </a:rPr>
              <a:t>et al, “Faster </a:t>
            </a:r>
            <a:r>
              <a:rPr sz="500" spc="15" dirty="0">
                <a:latin typeface="Arial"/>
                <a:cs typeface="Arial"/>
              </a:rPr>
              <a:t>R-CNN: </a:t>
            </a:r>
            <a:r>
              <a:rPr sz="500" dirty="0">
                <a:latin typeface="Arial"/>
                <a:cs typeface="Arial"/>
              </a:rPr>
              <a:t>Towards Real-Time </a:t>
            </a:r>
            <a:r>
              <a:rPr sz="500" spc="10" dirty="0">
                <a:latin typeface="Arial"/>
                <a:cs typeface="Arial"/>
              </a:rPr>
              <a:t>Object </a:t>
            </a:r>
            <a:r>
              <a:rPr sz="500" spc="5" dirty="0">
                <a:latin typeface="Arial"/>
                <a:cs typeface="Arial"/>
              </a:rPr>
              <a:t>Detection </a:t>
            </a:r>
            <a:r>
              <a:rPr sz="500" spc="10" dirty="0">
                <a:latin typeface="Arial"/>
                <a:cs typeface="Arial"/>
              </a:rPr>
              <a:t>with Region Proposal Networks”, NIPS </a:t>
            </a:r>
            <a:r>
              <a:rPr sz="500" spc="5" dirty="0">
                <a:latin typeface="Arial"/>
                <a:cs typeface="Arial"/>
              </a:rPr>
              <a:t>2015  </a:t>
            </a:r>
            <a:r>
              <a:rPr sz="500" spc="10" dirty="0">
                <a:latin typeface="Arial"/>
                <a:cs typeface="Arial"/>
              </a:rPr>
              <a:t>Figure </a:t>
            </a:r>
            <a:r>
              <a:rPr sz="500" spc="5" dirty="0">
                <a:latin typeface="Arial"/>
                <a:cs typeface="Arial"/>
              </a:rPr>
              <a:t>copyright 2015, </a:t>
            </a:r>
            <a:r>
              <a:rPr sz="500" spc="10" dirty="0">
                <a:latin typeface="Arial"/>
                <a:cs typeface="Arial"/>
              </a:rPr>
              <a:t>Ross Girshick; </a:t>
            </a:r>
            <a:r>
              <a:rPr sz="500" spc="5" dirty="0">
                <a:latin typeface="Arial"/>
                <a:cs typeface="Arial"/>
              </a:rPr>
              <a:t>reproduced </a:t>
            </a:r>
            <a:r>
              <a:rPr sz="500" spc="10" dirty="0">
                <a:latin typeface="Arial"/>
                <a:cs typeface="Arial"/>
              </a:rPr>
              <a:t>with</a:t>
            </a:r>
            <a:r>
              <a:rPr sz="500" spc="-5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permission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6468" y="160544"/>
            <a:ext cx="155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Fast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599" y="601615"/>
            <a:ext cx="2592705" cy="1920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利用卷积网络产生候选区域！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200" spc="-5" dirty="0">
                <a:latin typeface="Arial"/>
                <a:cs typeface="Arial"/>
              </a:rPr>
              <a:t>Glossing over </a:t>
            </a:r>
            <a:r>
              <a:rPr sz="1200" dirty="0">
                <a:latin typeface="Arial"/>
                <a:cs typeface="Arial"/>
              </a:rPr>
              <a:t>many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details:</a:t>
            </a:r>
            <a:endParaRPr sz="1200">
              <a:latin typeface="Arial"/>
              <a:cs typeface="Arial"/>
            </a:endParaRPr>
          </a:p>
          <a:p>
            <a:pPr marL="315595" indent="-202565">
              <a:lnSpc>
                <a:spcPct val="100000"/>
              </a:lnSpc>
              <a:buChar char="-"/>
              <a:tabLst>
                <a:tab pos="316865" algn="l"/>
                <a:tab pos="317500" algn="l"/>
              </a:tabLst>
            </a:pPr>
            <a:r>
              <a:rPr sz="1200" spc="-5" dirty="0">
                <a:latin typeface="Arial"/>
                <a:cs typeface="Arial"/>
              </a:rPr>
              <a:t>Ignore overlapping </a:t>
            </a:r>
            <a:r>
              <a:rPr sz="1200" dirty="0">
                <a:latin typeface="Arial"/>
                <a:cs typeface="Arial"/>
              </a:rPr>
              <a:t>proposals</a:t>
            </a:r>
            <a:r>
              <a:rPr sz="1200" spc="-1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  <a:p>
            <a:pPr marL="315595">
              <a:lnSpc>
                <a:spcPts val="1405"/>
              </a:lnSpc>
            </a:pPr>
            <a:r>
              <a:rPr sz="1200" b="1" spc="-5" dirty="0">
                <a:latin typeface="Arial"/>
                <a:cs typeface="Arial"/>
              </a:rPr>
              <a:t>non-max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suppression</a:t>
            </a:r>
            <a:endParaRPr sz="1200">
              <a:latin typeface="Arial"/>
              <a:cs typeface="Arial"/>
            </a:endParaRPr>
          </a:p>
          <a:p>
            <a:pPr marL="315595" marR="106045" indent="-202565">
              <a:lnSpc>
                <a:spcPts val="1450"/>
              </a:lnSpc>
              <a:spcBef>
                <a:spcPts val="5"/>
              </a:spcBef>
              <a:buChar char="-"/>
              <a:tabLst>
                <a:tab pos="315595" algn="l"/>
                <a:tab pos="316230" algn="l"/>
              </a:tabLst>
            </a:pPr>
            <a:r>
              <a:rPr sz="1200" dirty="0">
                <a:latin typeface="Arial"/>
                <a:cs typeface="Arial"/>
              </a:rPr>
              <a:t>How to determine whether </a:t>
            </a:r>
            <a:r>
              <a:rPr sz="1200" spc="-5" dirty="0">
                <a:latin typeface="Arial"/>
                <a:cs typeface="Arial"/>
              </a:rPr>
              <a:t>a  </a:t>
            </a:r>
            <a:r>
              <a:rPr sz="1200" dirty="0">
                <a:latin typeface="Arial"/>
                <a:cs typeface="Arial"/>
              </a:rPr>
              <a:t>proposal </a:t>
            </a:r>
            <a:r>
              <a:rPr sz="1200" spc="-5" dirty="0">
                <a:latin typeface="Arial"/>
                <a:cs typeface="Arial"/>
              </a:rPr>
              <a:t>is positive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negative?</a:t>
            </a:r>
            <a:endParaRPr sz="1200">
              <a:latin typeface="Arial"/>
              <a:cs typeface="Arial"/>
            </a:endParaRPr>
          </a:p>
          <a:p>
            <a:pPr marL="315595" indent="-202565">
              <a:lnSpc>
                <a:spcPts val="1405"/>
              </a:lnSpc>
              <a:buChar char="-"/>
              <a:tabLst>
                <a:tab pos="315595" algn="l"/>
                <a:tab pos="316230" algn="l"/>
              </a:tabLst>
            </a:pPr>
            <a:r>
              <a:rPr sz="1200" dirty="0">
                <a:latin typeface="Arial"/>
                <a:cs typeface="Arial"/>
              </a:rPr>
              <a:t>How many </a:t>
            </a:r>
            <a:r>
              <a:rPr sz="1200" spc="-5" dirty="0">
                <a:latin typeface="Arial"/>
                <a:cs typeface="Arial"/>
              </a:rPr>
              <a:t>positives </a:t>
            </a:r>
            <a:r>
              <a:rPr sz="1200" dirty="0">
                <a:latin typeface="Arial"/>
                <a:cs typeface="Arial"/>
              </a:rPr>
              <a:t>/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negatives</a:t>
            </a:r>
            <a:endParaRPr sz="12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send </a:t>
            </a:r>
            <a:r>
              <a:rPr sz="1200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second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stage?</a:t>
            </a:r>
            <a:endParaRPr sz="1200">
              <a:latin typeface="Arial"/>
              <a:cs typeface="Arial"/>
            </a:endParaRPr>
          </a:p>
          <a:p>
            <a:pPr marL="315595" marR="194945" indent="-202565">
              <a:lnSpc>
                <a:spcPct val="100800"/>
              </a:lnSpc>
              <a:buChar char="-"/>
              <a:tabLst>
                <a:tab pos="315595" algn="l"/>
                <a:tab pos="316230" algn="l"/>
              </a:tabLst>
            </a:pPr>
            <a:r>
              <a:rPr sz="1200" dirty="0">
                <a:latin typeface="Arial"/>
                <a:cs typeface="Arial"/>
              </a:rPr>
              <a:t>How to </a:t>
            </a:r>
            <a:r>
              <a:rPr sz="1200" spc="-5" dirty="0">
                <a:latin typeface="Arial"/>
                <a:cs typeface="Arial"/>
              </a:rPr>
              <a:t>parameterize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bounding  box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regression?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5575" y="106044"/>
            <a:ext cx="3671316" cy="298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12131" y="106070"/>
            <a:ext cx="1467485" cy="379730"/>
          </a:xfrm>
          <a:custGeom>
            <a:avLst/>
            <a:gdLst/>
            <a:ahLst/>
            <a:cxnLst/>
            <a:rect l="l" t="t" r="r" b="b"/>
            <a:pathLst>
              <a:path w="1467485" h="379730">
                <a:moveTo>
                  <a:pt x="0" y="379196"/>
                </a:moveTo>
                <a:lnTo>
                  <a:pt x="1467484" y="379196"/>
                </a:lnTo>
                <a:lnTo>
                  <a:pt x="1467484" y="0"/>
                </a:lnTo>
                <a:lnTo>
                  <a:pt x="0" y="0"/>
                </a:lnTo>
                <a:lnTo>
                  <a:pt x="0" y="379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2271" y="1175892"/>
            <a:ext cx="2139315" cy="1831975"/>
          </a:xfrm>
          <a:custGeom>
            <a:avLst/>
            <a:gdLst/>
            <a:ahLst/>
            <a:cxnLst/>
            <a:rect l="l" t="t" r="r" b="b"/>
            <a:pathLst>
              <a:path w="2139315" h="1831975">
                <a:moveTo>
                  <a:pt x="0" y="1831721"/>
                </a:moveTo>
                <a:lnTo>
                  <a:pt x="2139315" y="1831721"/>
                </a:lnTo>
                <a:lnTo>
                  <a:pt x="2139315" y="0"/>
                </a:lnTo>
                <a:lnTo>
                  <a:pt x="0" y="0"/>
                </a:lnTo>
                <a:lnTo>
                  <a:pt x="0" y="183172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2916" y="64884"/>
            <a:ext cx="2141220" cy="1038225"/>
          </a:xfrm>
          <a:custGeom>
            <a:avLst/>
            <a:gdLst/>
            <a:ahLst/>
            <a:cxnLst/>
            <a:rect l="l" t="t" r="r" b="b"/>
            <a:pathLst>
              <a:path w="2141220" h="1038225">
                <a:moveTo>
                  <a:pt x="0" y="1037602"/>
                </a:moveTo>
                <a:lnTo>
                  <a:pt x="2140839" y="1037602"/>
                </a:lnTo>
                <a:lnTo>
                  <a:pt x="2140839" y="0"/>
                </a:lnTo>
                <a:lnTo>
                  <a:pt x="0" y="0"/>
                </a:lnTo>
                <a:lnTo>
                  <a:pt x="0" y="1037602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6468" y="183514"/>
            <a:ext cx="155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Fast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696" y="624332"/>
            <a:ext cx="2230120" cy="246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4325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利用卷积网络产生候选区域！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R="422275" algn="ctr">
              <a:lnSpc>
                <a:spcPct val="100000"/>
              </a:lnSpc>
            </a:pPr>
            <a:r>
              <a:rPr sz="800" spc="-10" dirty="0">
                <a:latin typeface="微软雅黑"/>
                <a:cs typeface="微软雅黑"/>
              </a:rPr>
              <a:t>Faster</a:t>
            </a:r>
            <a:r>
              <a:rPr sz="800" spc="-5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R-CNN是一</a:t>
            </a:r>
            <a:r>
              <a:rPr sz="800" spc="-15" dirty="0">
                <a:latin typeface="微软雅黑"/>
                <a:cs typeface="微软雅黑"/>
              </a:rPr>
              <a:t>个</a:t>
            </a:r>
            <a:r>
              <a:rPr sz="800" dirty="0">
                <a:latin typeface="微软雅黑"/>
                <a:cs typeface="微软雅黑"/>
              </a:rPr>
              <a:t>两</a:t>
            </a:r>
            <a:r>
              <a:rPr sz="800" spc="-15" dirty="0">
                <a:latin typeface="微软雅黑"/>
                <a:cs typeface="微软雅黑"/>
              </a:rPr>
              <a:t>阶</a:t>
            </a:r>
            <a:r>
              <a:rPr sz="800" dirty="0">
                <a:latin typeface="微软雅黑"/>
                <a:cs typeface="微软雅黑"/>
              </a:rPr>
              <a:t>段</a:t>
            </a:r>
            <a:r>
              <a:rPr sz="800" spc="-15" dirty="0">
                <a:latin typeface="微软雅黑"/>
                <a:cs typeface="微软雅黑"/>
              </a:rPr>
              <a:t>目标</a:t>
            </a:r>
            <a:r>
              <a:rPr sz="800" dirty="0">
                <a:latin typeface="微软雅黑"/>
                <a:cs typeface="微软雅黑"/>
              </a:rPr>
              <a:t>检</a:t>
            </a:r>
            <a:r>
              <a:rPr sz="800" spc="-15" dirty="0">
                <a:latin typeface="微软雅黑"/>
                <a:cs typeface="微软雅黑"/>
              </a:rPr>
              <a:t>测</a:t>
            </a:r>
            <a:r>
              <a:rPr sz="800" dirty="0">
                <a:latin typeface="微软雅黑"/>
                <a:cs typeface="微软雅黑"/>
              </a:rPr>
              <a:t>器</a:t>
            </a:r>
            <a:endParaRPr sz="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R="439420" algn="ctr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第一阶</a:t>
            </a:r>
            <a:r>
              <a:rPr sz="900" spc="-5" dirty="0">
                <a:solidFill>
                  <a:srgbClr val="FF0000"/>
                </a:solidFill>
                <a:latin typeface="微软雅黑"/>
                <a:cs typeface="微软雅黑"/>
              </a:rPr>
              <a:t>段</a:t>
            </a:r>
            <a:r>
              <a:rPr sz="900" dirty="0">
                <a:latin typeface="微软雅黑"/>
                <a:cs typeface="微软雅黑"/>
              </a:rPr>
              <a:t>:</a:t>
            </a:r>
            <a:r>
              <a:rPr sz="900" spc="-3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每张图运行一次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L="232410" indent="22860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主干网络</a:t>
            </a:r>
            <a:r>
              <a:rPr sz="900" spc="-5" dirty="0">
                <a:latin typeface="微软雅黑"/>
                <a:cs typeface="微软雅黑"/>
              </a:rPr>
              <a:t>(</a:t>
            </a:r>
            <a:r>
              <a:rPr sz="900" spc="-5" dirty="0">
                <a:latin typeface="Arial"/>
                <a:cs typeface="Arial"/>
              </a:rPr>
              <a:t>Ba</a:t>
            </a:r>
            <a:r>
              <a:rPr sz="900" spc="5" dirty="0">
                <a:latin typeface="Arial"/>
                <a:cs typeface="Arial"/>
              </a:rPr>
              <a:t>c</a:t>
            </a:r>
            <a:r>
              <a:rPr sz="900" spc="-10" dirty="0">
                <a:latin typeface="Arial"/>
                <a:cs typeface="Arial"/>
              </a:rPr>
              <a:t>k</a:t>
            </a:r>
            <a:r>
              <a:rPr sz="900" spc="-15" dirty="0">
                <a:latin typeface="Arial"/>
                <a:cs typeface="Arial"/>
              </a:rPr>
              <a:t>b</a:t>
            </a:r>
            <a:r>
              <a:rPr sz="900" spc="-5" dirty="0">
                <a:latin typeface="Arial"/>
                <a:cs typeface="Arial"/>
              </a:rPr>
              <a:t>o</a:t>
            </a:r>
            <a:r>
              <a:rPr sz="900" spc="-15" dirty="0">
                <a:latin typeface="Arial"/>
                <a:cs typeface="Arial"/>
              </a:rPr>
              <a:t>n</a:t>
            </a:r>
            <a:r>
              <a:rPr sz="900" spc="-5" dirty="0">
                <a:latin typeface="Arial"/>
                <a:cs typeface="Arial"/>
              </a:rPr>
              <a:t>e</a:t>
            </a:r>
            <a:r>
              <a:rPr sz="90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32410" marR="558165" indent="228600">
              <a:lnSpc>
                <a:spcPct val="2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区域建议网络(RPN)  </a:t>
            </a: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第二阶</a:t>
            </a:r>
            <a:r>
              <a:rPr sz="900" spc="-5" dirty="0">
                <a:solidFill>
                  <a:srgbClr val="FF0000"/>
                </a:solidFill>
                <a:latin typeface="微软雅黑"/>
                <a:cs typeface="微软雅黑"/>
              </a:rPr>
              <a:t>段</a:t>
            </a:r>
            <a:r>
              <a:rPr sz="900" dirty="0">
                <a:latin typeface="微软雅黑"/>
                <a:cs typeface="微软雅黑"/>
              </a:rPr>
              <a:t>:</a:t>
            </a:r>
            <a:r>
              <a:rPr sz="900" spc="-114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每个区域运行一次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扣取区域特征:</a:t>
            </a:r>
            <a:r>
              <a:rPr sz="900" spc="-45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RoI</a:t>
            </a:r>
            <a:r>
              <a:rPr sz="900" spc="-3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pool</a:t>
            </a:r>
            <a:r>
              <a:rPr sz="900" spc="-4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/</a:t>
            </a:r>
            <a:r>
              <a:rPr sz="900" spc="-40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align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预测目标类别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预测边界框偏移量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7235" y="2053704"/>
            <a:ext cx="2223135" cy="1038225"/>
          </a:xfrm>
          <a:custGeom>
            <a:avLst/>
            <a:gdLst/>
            <a:ahLst/>
            <a:cxnLst/>
            <a:rect l="l" t="t" r="r" b="b"/>
            <a:pathLst>
              <a:path w="2223135" h="1038225">
                <a:moveTo>
                  <a:pt x="0" y="1037602"/>
                </a:moveTo>
                <a:lnTo>
                  <a:pt x="2223135" y="1037602"/>
                </a:lnTo>
                <a:lnTo>
                  <a:pt x="2223135" y="0"/>
                </a:lnTo>
                <a:lnTo>
                  <a:pt x="0" y="0"/>
                </a:lnTo>
                <a:lnTo>
                  <a:pt x="0" y="1037602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5576" y="83963"/>
            <a:ext cx="3671316" cy="298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12132" y="83989"/>
            <a:ext cx="1467485" cy="379730"/>
          </a:xfrm>
          <a:custGeom>
            <a:avLst/>
            <a:gdLst/>
            <a:ahLst/>
            <a:cxnLst/>
            <a:rect l="l" t="t" r="r" b="b"/>
            <a:pathLst>
              <a:path w="1467485" h="379730">
                <a:moveTo>
                  <a:pt x="0" y="379196"/>
                </a:moveTo>
                <a:lnTo>
                  <a:pt x="1467484" y="379196"/>
                </a:lnTo>
                <a:lnTo>
                  <a:pt x="1467484" y="0"/>
                </a:lnTo>
                <a:lnTo>
                  <a:pt x="0" y="0"/>
                </a:lnTo>
                <a:lnTo>
                  <a:pt x="0" y="379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2272" y="1153811"/>
            <a:ext cx="2139315" cy="1831975"/>
          </a:xfrm>
          <a:custGeom>
            <a:avLst/>
            <a:gdLst/>
            <a:ahLst/>
            <a:cxnLst/>
            <a:rect l="l" t="t" r="r" b="b"/>
            <a:pathLst>
              <a:path w="2139315" h="1831975">
                <a:moveTo>
                  <a:pt x="0" y="1831721"/>
                </a:moveTo>
                <a:lnTo>
                  <a:pt x="2139315" y="1831721"/>
                </a:lnTo>
                <a:lnTo>
                  <a:pt x="2139315" y="0"/>
                </a:lnTo>
                <a:lnTo>
                  <a:pt x="0" y="0"/>
                </a:lnTo>
                <a:lnTo>
                  <a:pt x="0" y="1831721"/>
                </a:lnTo>
                <a:close/>
              </a:path>
            </a:pathLst>
          </a:custGeom>
          <a:ln w="19050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2916" y="42802"/>
            <a:ext cx="2141220" cy="1038225"/>
          </a:xfrm>
          <a:custGeom>
            <a:avLst/>
            <a:gdLst/>
            <a:ahLst/>
            <a:cxnLst/>
            <a:rect l="l" t="t" r="r" b="b"/>
            <a:pathLst>
              <a:path w="2141220" h="1038225">
                <a:moveTo>
                  <a:pt x="0" y="1037602"/>
                </a:moveTo>
                <a:lnTo>
                  <a:pt x="2140839" y="1037602"/>
                </a:lnTo>
                <a:lnTo>
                  <a:pt x="2140839" y="0"/>
                </a:lnTo>
                <a:lnTo>
                  <a:pt x="0" y="0"/>
                </a:lnTo>
                <a:lnTo>
                  <a:pt x="0" y="1037602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59452" y="143526"/>
            <a:ext cx="12954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问题：是否必须采用两个 阶段范式完成目标检测?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468" y="160544"/>
            <a:ext cx="162877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Fast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endParaRPr sz="1800">
              <a:latin typeface="微软雅黑"/>
              <a:cs typeface="微软雅黑"/>
            </a:endParaRPr>
          </a:p>
          <a:p>
            <a:pPr marL="129539">
              <a:lnSpc>
                <a:spcPct val="100000"/>
              </a:lnSpc>
              <a:spcBef>
                <a:spcPts val="1310"/>
              </a:spcBef>
            </a:pPr>
            <a:r>
              <a:rPr sz="900" dirty="0">
                <a:latin typeface="微软雅黑"/>
                <a:cs typeface="微软雅黑"/>
              </a:rPr>
              <a:t>利用卷积网络产生候选区域！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696" y="988457"/>
            <a:ext cx="2230120" cy="207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微软雅黑"/>
                <a:cs typeface="微软雅黑"/>
              </a:rPr>
              <a:t>Faster</a:t>
            </a:r>
            <a:r>
              <a:rPr sz="800" spc="-35" dirty="0">
                <a:latin typeface="微软雅黑"/>
                <a:cs typeface="微软雅黑"/>
              </a:rPr>
              <a:t> </a:t>
            </a:r>
            <a:r>
              <a:rPr sz="800" dirty="0">
                <a:latin typeface="微软雅黑"/>
                <a:cs typeface="微软雅黑"/>
              </a:rPr>
              <a:t>R-CNN是一</a:t>
            </a:r>
            <a:r>
              <a:rPr sz="800" spc="-15" dirty="0">
                <a:latin typeface="微软雅黑"/>
                <a:cs typeface="微软雅黑"/>
              </a:rPr>
              <a:t>个</a:t>
            </a:r>
            <a:r>
              <a:rPr sz="800" dirty="0">
                <a:latin typeface="微软雅黑"/>
                <a:cs typeface="微软雅黑"/>
              </a:rPr>
              <a:t>两</a:t>
            </a:r>
            <a:r>
              <a:rPr sz="800" spc="-15" dirty="0">
                <a:latin typeface="微软雅黑"/>
                <a:cs typeface="微软雅黑"/>
              </a:rPr>
              <a:t>阶</a:t>
            </a:r>
            <a:r>
              <a:rPr sz="800" dirty="0">
                <a:latin typeface="微软雅黑"/>
                <a:cs typeface="微软雅黑"/>
              </a:rPr>
              <a:t>段</a:t>
            </a:r>
            <a:r>
              <a:rPr sz="800" spc="-15" dirty="0">
                <a:latin typeface="微软雅黑"/>
                <a:cs typeface="微软雅黑"/>
              </a:rPr>
              <a:t>目标</a:t>
            </a:r>
            <a:r>
              <a:rPr sz="800" dirty="0">
                <a:latin typeface="微软雅黑"/>
                <a:cs typeface="微软雅黑"/>
              </a:rPr>
              <a:t>检</a:t>
            </a:r>
            <a:r>
              <a:rPr sz="800" spc="-15" dirty="0">
                <a:latin typeface="微软雅黑"/>
                <a:cs typeface="微软雅黑"/>
              </a:rPr>
              <a:t>测</a:t>
            </a:r>
            <a:r>
              <a:rPr sz="800" dirty="0">
                <a:latin typeface="微软雅黑"/>
                <a:cs typeface="微软雅黑"/>
              </a:rPr>
              <a:t>器</a:t>
            </a:r>
            <a:endParaRPr sz="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23241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第一阶</a:t>
            </a:r>
            <a:r>
              <a:rPr sz="900" spc="-5" dirty="0">
                <a:solidFill>
                  <a:srgbClr val="FF0000"/>
                </a:solidFill>
                <a:latin typeface="微软雅黑"/>
                <a:cs typeface="微软雅黑"/>
              </a:rPr>
              <a:t>段</a:t>
            </a:r>
            <a:r>
              <a:rPr sz="900" dirty="0">
                <a:latin typeface="微软雅黑"/>
                <a:cs typeface="微软雅黑"/>
              </a:rPr>
              <a:t>:</a:t>
            </a:r>
            <a:r>
              <a:rPr sz="900" spc="-2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每张图运行一次</a:t>
            </a:r>
            <a:endParaRPr sz="900">
              <a:latin typeface="微软雅黑"/>
              <a:cs typeface="微软雅黑"/>
            </a:endParaRPr>
          </a:p>
          <a:p>
            <a:pPr marL="232410" indent="22860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主干网络</a:t>
            </a:r>
            <a:r>
              <a:rPr sz="900" spc="-5" dirty="0">
                <a:latin typeface="微软雅黑"/>
                <a:cs typeface="微软雅黑"/>
              </a:rPr>
              <a:t>(</a:t>
            </a:r>
            <a:r>
              <a:rPr sz="900" spc="-5" dirty="0">
                <a:latin typeface="Arial"/>
                <a:cs typeface="Arial"/>
              </a:rPr>
              <a:t>Ba</a:t>
            </a:r>
            <a:r>
              <a:rPr sz="900" spc="5" dirty="0">
                <a:latin typeface="Arial"/>
                <a:cs typeface="Arial"/>
              </a:rPr>
              <a:t>c</a:t>
            </a:r>
            <a:r>
              <a:rPr sz="900" spc="-10" dirty="0">
                <a:latin typeface="Arial"/>
                <a:cs typeface="Arial"/>
              </a:rPr>
              <a:t>k</a:t>
            </a:r>
            <a:r>
              <a:rPr sz="900" spc="-15" dirty="0">
                <a:latin typeface="Arial"/>
                <a:cs typeface="Arial"/>
              </a:rPr>
              <a:t>b</a:t>
            </a:r>
            <a:r>
              <a:rPr sz="900" spc="-5" dirty="0">
                <a:latin typeface="Arial"/>
                <a:cs typeface="Arial"/>
              </a:rPr>
              <a:t>o</a:t>
            </a:r>
            <a:r>
              <a:rPr sz="900" spc="-15" dirty="0">
                <a:latin typeface="Arial"/>
                <a:cs typeface="Arial"/>
              </a:rPr>
              <a:t>n</a:t>
            </a:r>
            <a:r>
              <a:rPr sz="900" spc="-5" dirty="0">
                <a:latin typeface="Arial"/>
                <a:cs typeface="Arial"/>
              </a:rPr>
              <a:t>e</a:t>
            </a:r>
            <a:r>
              <a:rPr sz="90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32410" marR="558165" indent="228600">
              <a:lnSpc>
                <a:spcPct val="2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区域建议网络(RPN)  </a:t>
            </a: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第二阶</a:t>
            </a:r>
            <a:r>
              <a:rPr sz="900" spc="-5" dirty="0">
                <a:solidFill>
                  <a:srgbClr val="FF0000"/>
                </a:solidFill>
                <a:latin typeface="微软雅黑"/>
                <a:cs typeface="微软雅黑"/>
              </a:rPr>
              <a:t>段</a:t>
            </a:r>
            <a:r>
              <a:rPr sz="900" dirty="0">
                <a:latin typeface="微软雅黑"/>
                <a:cs typeface="微软雅黑"/>
              </a:rPr>
              <a:t>:</a:t>
            </a:r>
            <a:r>
              <a:rPr sz="900" spc="-114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每个区域运行一次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扣取区域特征:</a:t>
            </a:r>
            <a:r>
              <a:rPr sz="900" spc="-45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RoI</a:t>
            </a:r>
            <a:r>
              <a:rPr sz="900" spc="-3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pool</a:t>
            </a:r>
            <a:r>
              <a:rPr sz="900" spc="-4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/</a:t>
            </a:r>
            <a:r>
              <a:rPr sz="900" spc="-40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align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预测目标类别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604520" indent="-143510">
              <a:lnSpc>
                <a:spcPct val="100000"/>
              </a:lnSpc>
              <a:buFont typeface="Wingdings"/>
              <a:buChar char=""/>
              <a:tabLst>
                <a:tab pos="605155" algn="l"/>
              </a:tabLst>
            </a:pPr>
            <a:r>
              <a:rPr sz="900" dirty="0">
                <a:latin typeface="微软雅黑"/>
                <a:cs typeface="微软雅黑"/>
              </a:rPr>
              <a:t>预测边界框偏移量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7236" y="2031622"/>
            <a:ext cx="2223135" cy="1038225"/>
          </a:xfrm>
          <a:custGeom>
            <a:avLst/>
            <a:gdLst/>
            <a:ahLst/>
            <a:cxnLst/>
            <a:rect l="l" t="t" r="r" b="b"/>
            <a:pathLst>
              <a:path w="2223135" h="1038225">
                <a:moveTo>
                  <a:pt x="0" y="1037602"/>
                </a:moveTo>
                <a:lnTo>
                  <a:pt x="2223135" y="1037602"/>
                </a:lnTo>
                <a:lnTo>
                  <a:pt x="2223135" y="0"/>
                </a:lnTo>
                <a:lnTo>
                  <a:pt x="0" y="0"/>
                </a:lnTo>
                <a:lnTo>
                  <a:pt x="0" y="1037602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76910"/>
            <a:ext cx="46355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一阶段目标检</a:t>
            </a:r>
            <a:r>
              <a:rPr b="1" spc="10" dirty="0">
                <a:latin typeface="微软雅黑"/>
                <a:cs typeface="微软雅黑"/>
              </a:rPr>
              <a:t>测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50" dirty="0">
                <a:latin typeface="微软雅黑"/>
                <a:cs typeface="微软雅黑"/>
              </a:rPr>
              <a:t> </a:t>
            </a:r>
            <a:r>
              <a:rPr b="1" spc="-20" dirty="0">
                <a:latin typeface="微软雅黑"/>
                <a:cs typeface="微软雅黑"/>
              </a:rPr>
              <a:t>YOLO</a:t>
            </a:r>
            <a:r>
              <a:rPr b="1" spc="-2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/</a:t>
            </a:r>
            <a:r>
              <a:rPr b="1" spc="-5" dirty="0">
                <a:latin typeface="微软雅黑"/>
                <a:cs typeface="微软雅黑"/>
              </a:rPr>
              <a:t> </a:t>
            </a:r>
            <a:r>
              <a:rPr b="1" dirty="0">
                <a:latin typeface="微软雅黑"/>
                <a:cs typeface="微软雅黑"/>
              </a:rPr>
              <a:t>SSD</a:t>
            </a:r>
            <a:r>
              <a:rPr b="1" spc="-10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/</a:t>
            </a:r>
            <a:r>
              <a:rPr b="1" spc="-100" dirty="0">
                <a:latin typeface="微软雅黑"/>
                <a:cs typeface="微软雅黑"/>
              </a:rPr>
              <a:t> </a:t>
            </a:r>
            <a:r>
              <a:rPr b="1" dirty="0">
                <a:latin typeface="微软雅黑"/>
                <a:cs typeface="微软雅黑"/>
              </a:rPr>
              <a:t>RetinaNet</a:t>
            </a:r>
          </a:p>
        </p:txBody>
      </p:sp>
      <p:sp>
        <p:nvSpPr>
          <p:cNvPr id="3" name="object 3"/>
          <p:cNvSpPr/>
          <p:nvPr/>
        </p:nvSpPr>
        <p:spPr>
          <a:xfrm>
            <a:off x="207131" y="951864"/>
            <a:ext cx="1499616" cy="128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21859" y="956436"/>
            <a:ext cx="1488948" cy="128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18074" y="96964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16830" y="96964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43271" y="96329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7458" y="96329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11773" y="96329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06591" y="963294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0"/>
                </a:moveTo>
                <a:lnTo>
                  <a:pt x="0" y="1267714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22621" y="2047747"/>
            <a:ext cx="1475740" cy="0"/>
          </a:xfrm>
          <a:custGeom>
            <a:avLst/>
            <a:gdLst/>
            <a:ahLst/>
            <a:cxnLst/>
            <a:rect l="l" t="t" r="r" b="b"/>
            <a:pathLst>
              <a:path w="1475739">
                <a:moveTo>
                  <a:pt x="1475613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22621" y="1864613"/>
            <a:ext cx="1499870" cy="0"/>
          </a:xfrm>
          <a:custGeom>
            <a:avLst/>
            <a:gdLst/>
            <a:ahLst/>
            <a:cxnLst/>
            <a:rect l="l" t="t" r="r" b="b"/>
            <a:pathLst>
              <a:path w="1499870">
                <a:moveTo>
                  <a:pt x="1499362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22621" y="1681352"/>
            <a:ext cx="1475740" cy="0"/>
          </a:xfrm>
          <a:custGeom>
            <a:avLst/>
            <a:gdLst/>
            <a:ahLst/>
            <a:cxnLst/>
            <a:rect l="l" t="t" r="r" b="b"/>
            <a:pathLst>
              <a:path w="1475739">
                <a:moveTo>
                  <a:pt x="1475613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22621" y="1498218"/>
            <a:ext cx="1499870" cy="0"/>
          </a:xfrm>
          <a:custGeom>
            <a:avLst/>
            <a:gdLst/>
            <a:ahLst/>
            <a:cxnLst/>
            <a:rect l="l" t="t" r="r" b="b"/>
            <a:pathLst>
              <a:path w="1499870">
                <a:moveTo>
                  <a:pt x="1499362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22749" y="1314957"/>
            <a:ext cx="1483360" cy="0"/>
          </a:xfrm>
          <a:custGeom>
            <a:avLst/>
            <a:gdLst/>
            <a:ahLst/>
            <a:cxnLst/>
            <a:rect l="l" t="t" r="r" b="b"/>
            <a:pathLst>
              <a:path w="1483360">
                <a:moveTo>
                  <a:pt x="1483360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22749" y="1131823"/>
            <a:ext cx="1459865" cy="0"/>
          </a:xfrm>
          <a:custGeom>
            <a:avLst/>
            <a:gdLst/>
            <a:ahLst/>
            <a:cxnLst/>
            <a:rect l="l" t="t" r="r" b="b"/>
            <a:pathLst>
              <a:path w="1459864">
                <a:moveTo>
                  <a:pt x="1459738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65039" y="955471"/>
            <a:ext cx="488315" cy="488315"/>
          </a:xfrm>
          <a:custGeom>
            <a:avLst/>
            <a:gdLst/>
            <a:ahLst/>
            <a:cxnLst/>
            <a:rect l="l" t="t" r="r" b="b"/>
            <a:pathLst>
              <a:path w="488314" h="488315">
                <a:moveTo>
                  <a:pt x="0" y="488010"/>
                </a:moveTo>
                <a:lnTo>
                  <a:pt x="488010" y="488010"/>
                </a:lnTo>
                <a:lnTo>
                  <a:pt x="488010" y="0"/>
                </a:lnTo>
                <a:lnTo>
                  <a:pt x="0" y="0"/>
                </a:lnTo>
                <a:lnTo>
                  <a:pt x="0" y="48801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48352" y="881011"/>
            <a:ext cx="321945" cy="636905"/>
          </a:xfrm>
          <a:custGeom>
            <a:avLst/>
            <a:gdLst/>
            <a:ahLst/>
            <a:cxnLst/>
            <a:rect l="l" t="t" r="r" b="b"/>
            <a:pathLst>
              <a:path w="321944" h="636905">
                <a:moveTo>
                  <a:pt x="0" y="636892"/>
                </a:moveTo>
                <a:lnTo>
                  <a:pt x="321538" y="636892"/>
                </a:lnTo>
                <a:lnTo>
                  <a:pt x="321538" y="0"/>
                </a:lnTo>
                <a:lnTo>
                  <a:pt x="0" y="0"/>
                </a:lnTo>
                <a:lnTo>
                  <a:pt x="0" y="636892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90617" y="1038631"/>
            <a:ext cx="636905" cy="321945"/>
          </a:xfrm>
          <a:custGeom>
            <a:avLst/>
            <a:gdLst/>
            <a:ahLst/>
            <a:cxnLst/>
            <a:rect l="l" t="t" r="r" b="b"/>
            <a:pathLst>
              <a:path w="636905" h="321944">
                <a:moveTo>
                  <a:pt x="0" y="321538"/>
                </a:moveTo>
                <a:lnTo>
                  <a:pt x="636892" y="321538"/>
                </a:lnTo>
                <a:lnTo>
                  <a:pt x="636892" y="0"/>
                </a:lnTo>
                <a:lnTo>
                  <a:pt x="0" y="0"/>
                </a:lnTo>
                <a:lnTo>
                  <a:pt x="0" y="321538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61127" y="1151510"/>
            <a:ext cx="94487" cy="944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49315" y="1517827"/>
            <a:ext cx="488315" cy="488315"/>
          </a:xfrm>
          <a:custGeom>
            <a:avLst/>
            <a:gdLst/>
            <a:ahLst/>
            <a:cxnLst/>
            <a:rect l="l" t="t" r="r" b="b"/>
            <a:pathLst>
              <a:path w="488314" h="488314">
                <a:moveTo>
                  <a:pt x="0" y="488010"/>
                </a:moveTo>
                <a:lnTo>
                  <a:pt x="488010" y="488010"/>
                </a:lnTo>
                <a:lnTo>
                  <a:pt x="488010" y="0"/>
                </a:lnTo>
                <a:lnTo>
                  <a:pt x="0" y="0"/>
                </a:lnTo>
                <a:lnTo>
                  <a:pt x="0" y="488010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32627" y="1443367"/>
            <a:ext cx="321945" cy="636905"/>
          </a:xfrm>
          <a:custGeom>
            <a:avLst/>
            <a:gdLst/>
            <a:ahLst/>
            <a:cxnLst/>
            <a:rect l="l" t="t" r="r" b="b"/>
            <a:pathLst>
              <a:path w="321945" h="636905">
                <a:moveTo>
                  <a:pt x="0" y="636892"/>
                </a:moveTo>
                <a:lnTo>
                  <a:pt x="321538" y="636892"/>
                </a:lnTo>
                <a:lnTo>
                  <a:pt x="321538" y="0"/>
                </a:lnTo>
                <a:lnTo>
                  <a:pt x="0" y="0"/>
                </a:lnTo>
                <a:lnTo>
                  <a:pt x="0" y="636892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74893" y="1600987"/>
            <a:ext cx="636905" cy="321945"/>
          </a:xfrm>
          <a:custGeom>
            <a:avLst/>
            <a:gdLst/>
            <a:ahLst/>
            <a:cxnLst/>
            <a:rect l="l" t="t" r="r" b="b"/>
            <a:pathLst>
              <a:path w="636904" h="321944">
                <a:moveTo>
                  <a:pt x="0" y="321538"/>
                </a:moveTo>
                <a:lnTo>
                  <a:pt x="636892" y="321538"/>
                </a:lnTo>
                <a:lnTo>
                  <a:pt x="636892" y="0"/>
                </a:lnTo>
                <a:lnTo>
                  <a:pt x="0" y="0"/>
                </a:lnTo>
                <a:lnTo>
                  <a:pt x="0" y="321538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45403" y="1713866"/>
            <a:ext cx="94487" cy="944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11141" y="1595754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68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06975" y="1553846"/>
            <a:ext cx="106680" cy="822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252721" y="2303144"/>
            <a:ext cx="1438910" cy="790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0" marR="149225" algn="ctr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Divide </a:t>
            </a:r>
            <a:r>
              <a:rPr sz="900" spc="15" dirty="0">
                <a:latin typeface="Arial"/>
                <a:cs typeface="Arial"/>
              </a:rPr>
              <a:t>image </a:t>
            </a:r>
            <a:r>
              <a:rPr sz="900" spc="10" dirty="0">
                <a:latin typeface="Arial"/>
                <a:cs typeface="Arial"/>
              </a:rPr>
              <a:t>into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grid  </a:t>
            </a:r>
            <a:r>
              <a:rPr sz="900" spc="15" dirty="0">
                <a:latin typeface="Arial"/>
                <a:cs typeface="Arial"/>
              </a:rPr>
              <a:t>7 x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  <a:p>
            <a:pPr marL="12700" marR="5080" algn="ctr">
              <a:lnSpc>
                <a:spcPct val="101699"/>
              </a:lnSpc>
              <a:spcBef>
                <a:spcPts val="500"/>
              </a:spcBef>
            </a:pPr>
            <a:r>
              <a:rPr sz="900" spc="15" dirty="0">
                <a:latin typeface="Arial"/>
                <a:cs typeface="Arial"/>
              </a:rPr>
              <a:t>Image a </a:t>
            </a:r>
            <a:r>
              <a:rPr sz="900" spc="10" dirty="0">
                <a:latin typeface="Arial"/>
                <a:cs typeface="Arial"/>
              </a:rPr>
              <a:t>set of </a:t>
            </a:r>
            <a:r>
              <a:rPr sz="900" b="1" spc="15" dirty="0">
                <a:latin typeface="Arial"/>
                <a:cs typeface="Arial"/>
              </a:rPr>
              <a:t>base</a:t>
            </a:r>
            <a:r>
              <a:rPr sz="900" b="1" spc="-185" dirty="0">
                <a:latin typeface="Arial"/>
                <a:cs typeface="Arial"/>
              </a:rPr>
              <a:t> </a:t>
            </a:r>
            <a:r>
              <a:rPr sz="900" b="1" spc="15" dirty="0">
                <a:latin typeface="Arial"/>
                <a:cs typeface="Arial"/>
              </a:rPr>
              <a:t>boxes  </a:t>
            </a:r>
            <a:r>
              <a:rPr sz="900" spc="10" dirty="0">
                <a:latin typeface="Arial"/>
                <a:cs typeface="Arial"/>
              </a:rPr>
              <a:t>centered at </a:t>
            </a:r>
            <a:r>
              <a:rPr sz="900" spc="15" dirty="0">
                <a:latin typeface="Arial"/>
                <a:cs typeface="Arial"/>
              </a:rPr>
              <a:t>each </a:t>
            </a:r>
            <a:r>
              <a:rPr sz="900" spc="10" dirty="0">
                <a:latin typeface="Arial"/>
                <a:cs typeface="Arial"/>
              </a:rPr>
              <a:t>grid cell  </a:t>
            </a:r>
            <a:r>
              <a:rPr sz="900" spc="15" dirty="0">
                <a:latin typeface="Arial"/>
                <a:cs typeface="Arial"/>
              </a:rPr>
              <a:t>Here </a:t>
            </a:r>
            <a:r>
              <a:rPr sz="900" spc="20" dirty="0">
                <a:latin typeface="Arial"/>
                <a:cs typeface="Arial"/>
              </a:rPr>
              <a:t>B =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3953" y="2278760"/>
            <a:ext cx="633095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6040" marR="5080" indent="-5334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Input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image  3 x </a:t>
            </a:r>
            <a:r>
              <a:rPr sz="900" spc="25" dirty="0">
                <a:latin typeface="Arial"/>
                <a:cs typeface="Arial"/>
              </a:rPr>
              <a:t>H </a:t>
            </a:r>
            <a:r>
              <a:rPr sz="900" spc="15" dirty="0">
                <a:latin typeface="Arial"/>
                <a:cs typeface="Arial"/>
              </a:rPr>
              <a:t>x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67957" y="1595754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6882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65316" y="1553846"/>
            <a:ext cx="105155" cy="822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027546" y="724915"/>
            <a:ext cx="12617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Arial"/>
                <a:cs typeface="Arial"/>
              </a:rPr>
              <a:t>Within each </a:t>
            </a:r>
            <a:r>
              <a:rPr sz="1050" dirty="0">
                <a:latin typeface="Arial"/>
                <a:cs typeface="Arial"/>
              </a:rPr>
              <a:t>grid</a:t>
            </a:r>
            <a:r>
              <a:rPr sz="1050" spc="-17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cell: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33336" y="881253"/>
            <a:ext cx="1877060" cy="15113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0820" marR="29209" indent="-198120">
              <a:lnSpc>
                <a:spcPct val="103299"/>
              </a:lnSpc>
              <a:spcBef>
                <a:spcPts val="75"/>
              </a:spcBef>
              <a:buChar char="-"/>
              <a:tabLst>
                <a:tab pos="210820" algn="l"/>
                <a:tab pos="211454" algn="l"/>
              </a:tabLst>
            </a:pPr>
            <a:r>
              <a:rPr sz="1050" spc="5" dirty="0">
                <a:latin typeface="Arial"/>
                <a:cs typeface="Arial"/>
              </a:rPr>
              <a:t>Regress from each </a:t>
            </a:r>
            <a:r>
              <a:rPr sz="1050" dirty="0">
                <a:latin typeface="Arial"/>
                <a:cs typeface="Arial"/>
              </a:rPr>
              <a:t>of </a:t>
            </a:r>
            <a:r>
              <a:rPr sz="1050" spc="5" dirty="0">
                <a:latin typeface="Arial"/>
                <a:cs typeface="Arial"/>
              </a:rPr>
              <a:t>the</a:t>
            </a:r>
            <a:r>
              <a:rPr sz="1050" spc="-225" dirty="0">
                <a:latin typeface="Arial"/>
                <a:cs typeface="Arial"/>
              </a:rPr>
              <a:t> </a:t>
            </a:r>
            <a:r>
              <a:rPr sz="1050" spc="10" dirty="0">
                <a:latin typeface="Arial"/>
                <a:cs typeface="Arial"/>
              </a:rPr>
              <a:t>B  </a:t>
            </a:r>
            <a:r>
              <a:rPr sz="1050" spc="5" dirty="0">
                <a:latin typeface="Arial"/>
                <a:cs typeface="Arial"/>
              </a:rPr>
              <a:t>base </a:t>
            </a:r>
            <a:r>
              <a:rPr sz="1050" dirty="0">
                <a:latin typeface="Arial"/>
                <a:cs typeface="Arial"/>
              </a:rPr>
              <a:t>boxes </a:t>
            </a:r>
            <a:r>
              <a:rPr sz="1050" spc="5" dirty="0">
                <a:latin typeface="Arial"/>
                <a:cs typeface="Arial"/>
              </a:rPr>
              <a:t>to a final </a:t>
            </a:r>
            <a:r>
              <a:rPr sz="1050" dirty="0">
                <a:latin typeface="Arial"/>
                <a:cs typeface="Arial"/>
              </a:rPr>
              <a:t>box  </a:t>
            </a:r>
            <a:r>
              <a:rPr sz="1050" spc="5" dirty="0">
                <a:latin typeface="Arial"/>
                <a:cs typeface="Arial"/>
              </a:rPr>
              <a:t>with 5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numbers:</a:t>
            </a:r>
            <a:endParaRPr sz="1050">
              <a:latin typeface="Arial"/>
              <a:cs typeface="Arial"/>
            </a:endParaRPr>
          </a:p>
          <a:p>
            <a:pPr marL="210820">
              <a:lnSpc>
                <a:spcPts val="1245"/>
              </a:lnSpc>
              <a:spcBef>
                <a:spcPts val="110"/>
              </a:spcBef>
            </a:pPr>
            <a:r>
              <a:rPr sz="1050" spc="5" dirty="0">
                <a:latin typeface="Arial"/>
                <a:cs typeface="Arial"/>
              </a:rPr>
              <a:t>(dx, </a:t>
            </a:r>
            <a:r>
              <a:rPr sz="1050" spc="-55" dirty="0">
                <a:latin typeface="Arial"/>
                <a:cs typeface="Arial"/>
              </a:rPr>
              <a:t>dy, </a:t>
            </a:r>
            <a:r>
              <a:rPr sz="1050" dirty="0">
                <a:latin typeface="Arial"/>
                <a:cs typeface="Arial"/>
              </a:rPr>
              <a:t>dh, </a:t>
            </a:r>
            <a:r>
              <a:rPr sz="1050" spc="-40" dirty="0">
                <a:latin typeface="Arial"/>
                <a:cs typeface="Arial"/>
              </a:rPr>
              <a:t>dw,</a:t>
            </a:r>
            <a:r>
              <a:rPr sz="1050" spc="-6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confidence)</a:t>
            </a:r>
            <a:endParaRPr sz="1050">
              <a:latin typeface="Arial"/>
              <a:cs typeface="Arial"/>
            </a:endParaRPr>
          </a:p>
          <a:p>
            <a:pPr marL="210820" indent="-198120">
              <a:lnSpc>
                <a:spcPts val="1245"/>
              </a:lnSpc>
              <a:buChar char="-"/>
              <a:tabLst>
                <a:tab pos="210820" algn="l"/>
                <a:tab pos="211454" algn="l"/>
              </a:tabLst>
            </a:pPr>
            <a:r>
              <a:rPr sz="1050" spc="5" dirty="0">
                <a:latin typeface="Arial"/>
                <a:cs typeface="Arial"/>
              </a:rPr>
              <a:t>Predict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scores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for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each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70" dirty="0">
                <a:latin typeface="Arial"/>
                <a:cs typeface="Arial"/>
              </a:rPr>
              <a:t> </a:t>
            </a:r>
            <a:r>
              <a:rPr sz="1050" spc="1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  <a:p>
            <a:pPr marL="210820" marR="273050">
              <a:lnSpc>
                <a:spcPts val="1310"/>
              </a:lnSpc>
              <a:spcBef>
                <a:spcPts val="35"/>
              </a:spcBef>
            </a:pPr>
            <a:r>
              <a:rPr sz="1050" spc="5" dirty="0">
                <a:latin typeface="Arial"/>
                <a:cs typeface="Arial"/>
              </a:rPr>
              <a:t>classes (including  </a:t>
            </a:r>
            <a:r>
              <a:rPr sz="1050" dirty="0">
                <a:latin typeface="Arial"/>
                <a:cs typeface="Arial"/>
              </a:rPr>
              <a:t>background as </a:t>
            </a:r>
            <a:r>
              <a:rPr sz="1050" spc="5" dirty="0">
                <a:latin typeface="Arial"/>
                <a:cs typeface="Arial"/>
              </a:rPr>
              <a:t>a</a:t>
            </a:r>
            <a:r>
              <a:rPr sz="1050" spc="-85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class)</a:t>
            </a:r>
            <a:endParaRPr sz="1050">
              <a:latin typeface="Arial"/>
              <a:cs typeface="Arial"/>
            </a:endParaRPr>
          </a:p>
          <a:p>
            <a:pPr marL="210820" indent="-198120">
              <a:lnSpc>
                <a:spcPts val="1255"/>
              </a:lnSpc>
              <a:buChar char="-"/>
              <a:tabLst>
                <a:tab pos="210820" algn="l"/>
                <a:tab pos="211454" algn="l"/>
              </a:tabLst>
            </a:pPr>
            <a:r>
              <a:rPr sz="1050" dirty="0">
                <a:latin typeface="Arial"/>
                <a:cs typeface="Arial"/>
              </a:rPr>
              <a:t>Looks </a:t>
            </a:r>
            <a:r>
              <a:rPr sz="1050" spc="5" dirty="0">
                <a:latin typeface="Arial"/>
                <a:cs typeface="Arial"/>
              </a:rPr>
              <a:t>a lot like RPN,</a:t>
            </a:r>
            <a:r>
              <a:rPr sz="1050" spc="-1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but</a:t>
            </a:r>
            <a:endParaRPr sz="1050">
              <a:latin typeface="Arial"/>
              <a:cs typeface="Arial"/>
            </a:endParaRPr>
          </a:p>
          <a:p>
            <a:pPr marL="210820">
              <a:lnSpc>
                <a:spcPct val="100000"/>
              </a:lnSpc>
              <a:spcBef>
                <a:spcPts val="50"/>
              </a:spcBef>
            </a:pPr>
            <a:r>
              <a:rPr sz="1050" spc="5" dirty="0">
                <a:latin typeface="Arial"/>
                <a:cs typeface="Arial"/>
              </a:rPr>
              <a:t>category-specific!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22261" y="2534538"/>
            <a:ext cx="1217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Output: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7 </a:t>
            </a:r>
            <a:r>
              <a:rPr sz="1200" dirty="0">
                <a:latin typeface="Arial"/>
                <a:cs typeface="Arial"/>
              </a:rPr>
              <a:t>x </a:t>
            </a:r>
            <a:r>
              <a:rPr sz="1200" spc="-5" dirty="0">
                <a:latin typeface="Arial"/>
                <a:cs typeface="Arial"/>
              </a:rPr>
              <a:t>7 </a:t>
            </a:r>
            <a:r>
              <a:rPr sz="1200" dirty="0">
                <a:latin typeface="Arial"/>
                <a:cs typeface="Arial"/>
              </a:rPr>
              <a:t>x </a:t>
            </a:r>
            <a:r>
              <a:rPr sz="1200" spc="-5" dirty="0">
                <a:latin typeface="Arial"/>
                <a:cs typeface="Arial"/>
              </a:rPr>
              <a:t>(5 * </a:t>
            </a:r>
            <a:r>
              <a:rPr sz="1200" dirty="0">
                <a:latin typeface="Arial"/>
                <a:cs typeface="Arial"/>
              </a:rPr>
              <a:t>B +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131" y="2762503"/>
            <a:ext cx="1842770" cy="348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Redmon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-5" dirty="0">
                <a:latin typeface="Arial"/>
                <a:cs typeface="Arial"/>
              </a:rPr>
              <a:t>“You </a:t>
            </a:r>
            <a:r>
              <a:rPr sz="500" spc="10" dirty="0">
                <a:latin typeface="Arial"/>
                <a:cs typeface="Arial"/>
              </a:rPr>
              <a:t>Only </a:t>
            </a:r>
            <a:r>
              <a:rPr sz="500" spc="5" dirty="0">
                <a:latin typeface="Arial"/>
                <a:cs typeface="Arial"/>
              </a:rPr>
              <a:t>Look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Once: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500" spc="5" dirty="0">
                <a:latin typeface="Arial"/>
                <a:cs typeface="Arial"/>
              </a:rPr>
              <a:t>Unified, </a:t>
            </a:r>
            <a:r>
              <a:rPr sz="500" dirty="0">
                <a:latin typeface="Arial"/>
                <a:cs typeface="Arial"/>
              </a:rPr>
              <a:t>Real-Time </a:t>
            </a:r>
            <a:r>
              <a:rPr sz="500" spc="10" dirty="0">
                <a:latin typeface="Arial"/>
                <a:cs typeface="Arial"/>
              </a:rPr>
              <a:t>Object </a:t>
            </a:r>
            <a:r>
              <a:rPr sz="500" spc="5" dirty="0">
                <a:latin typeface="Arial"/>
                <a:cs typeface="Arial"/>
              </a:rPr>
              <a:t>Detection”, </a:t>
            </a:r>
            <a:r>
              <a:rPr sz="500" spc="15" dirty="0">
                <a:latin typeface="Arial"/>
                <a:cs typeface="Arial"/>
              </a:rPr>
              <a:t>CVPR</a:t>
            </a:r>
            <a:r>
              <a:rPr sz="500" spc="3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2016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00" spc="5" dirty="0">
                <a:latin typeface="Arial"/>
                <a:cs typeface="Arial"/>
              </a:rPr>
              <a:t>Liu et al, </a:t>
            </a:r>
            <a:r>
              <a:rPr sz="500" spc="10" dirty="0">
                <a:latin typeface="Arial"/>
                <a:cs typeface="Arial"/>
              </a:rPr>
              <a:t>“SSD: </a:t>
            </a:r>
            <a:r>
              <a:rPr sz="500" spc="5" dirty="0">
                <a:latin typeface="Arial"/>
                <a:cs typeface="Arial"/>
              </a:rPr>
              <a:t>Single-Shot MultiBox Detector”, </a:t>
            </a:r>
            <a:r>
              <a:rPr sz="500" spc="15" dirty="0">
                <a:latin typeface="Arial"/>
                <a:cs typeface="Arial"/>
              </a:rPr>
              <a:t>ECCV</a:t>
            </a:r>
            <a:r>
              <a:rPr sz="500" spc="1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2016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500" spc="5" dirty="0">
                <a:latin typeface="Arial"/>
                <a:cs typeface="Arial"/>
              </a:rPr>
              <a:t>Lin et al, </a:t>
            </a:r>
            <a:r>
              <a:rPr sz="500" spc="10" dirty="0">
                <a:latin typeface="Arial"/>
                <a:cs typeface="Arial"/>
              </a:rPr>
              <a:t>“Focal </a:t>
            </a:r>
            <a:r>
              <a:rPr sz="500" spc="5" dirty="0">
                <a:latin typeface="Arial"/>
                <a:cs typeface="Arial"/>
              </a:rPr>
              <a:t>Loss for </a:t>
            </a:r>
            <a:r>
              <a:rPr sz="500" spc="10" dirty="0">
                <a:latin typeface="Arial"/>
                <a:cs typeface="Arial"/>
              </a:rPr>
              <a:t>Dense Object </a:t>
            </a:r>
            <a:r>
              <a:rPr sz="500" spc="5" dirty="0">
                <a:latin typeface="Arial"/>
                <a:cs typeface="Arial"/>
              </a:rPr>
              <a:t>Detection”,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30378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目标检</a:t>
            </a:r>
            <a:r>
              <a:rPr b="1" spc="15" dirty="0">
                <a:latin typeface="微软雅黑"/>
                <a:cs typeface="微软雅黑"/>
              </a:rPr>
              <a:t>测</a:t>
            </a:r>
            <a:r>
              <a:rPr b="1" spc="5" dirty="0">
                <a:latin typeface="微软雅黑"/>
                <a:cs typeface="微软雅黑"/>
              </a:rPr>
              <a:t>:</a:t>
            </a:r>
            <a:r>
              <a:rPr b="1" spc="-90" dirty="0">
                <a:latin typeface="微软雅黑"/>
                <a:cs typeface="微软雅黑"/>
              </a:rPr>
              <a:t> </a:t>
            </a:r>
            <a:r>
              <a:rPr b="1" spc="20" dirty="0">
                <a:latin typeface="微软雅黑"/>
                <a:cs typeface="微软雅黑"/>
              </a:rPr>
              <a:t>影响</a:t>
            </a:r>
            <a:r>
              <a:rPr b="1" spc="25" dirty="0">
                <a:latin typeface="微软雅黑"/>
                <a:cs typeface="微软雅黑"/>
              </a:rPr>
              <a:t>精</a:t>
            </a:r>
            <a:r>
              <a:rPr b="1" spc="20" dirty="0">
                <a:latin typeface="微软雅黑"/>
                <a:cs typeface="微软雅黑"/>
              </a:rPr>
              <a:t>度的因</a:t>
            </a:r>
            <a:r>
              <a:rPr b="1" spc="459" dirty="0">
                <a:latin typeface="微软雅黑"/>
                <a:cs typeface="微软雅黑"/>
              </a:rPr>
              <a:t>素</a:t>
            </a:r>
            <a:r>
              <a:rPr b="1" spc="10" dirty="0">
                <a:latin typeface="微软雅黑"/>
                <a:cs typeface="微软雅黑"/>
              </a:rPr>
              <a:t>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524" y="2524649"/>
            <a:ext cx="39344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Calibri"/>
                <a:cs typeface="Calibri"/>
              </a:rPr>
              <a:t>Huang et al, “Speed/accuracy </a:t>
            </a:r>
            <a:r>
              <a:rPr sz="800" spc="-20" dirty="0">
                <a:latin typeface="Calibri"/>
                <a:cs typeface="Calibri"/>
              </a:rPr>
              <a:t>trade-offs </a:t>
            </a:r>
            <a:r>
              <a:rPr sz="800" spc="-10" dirty="0">
                <a:latin typeface="Calibri"/>
                <a:cs typeface="Calibri"/>
              </a:rPr>
              <a:t>for </a:t>
            </a:r>
            <a:r>
              <a:rPr sz="800" spc="-5" dirty="0">
                <a:latin typeface="Calibri"/>
                <a:cs typeface="Calibri"/>
              </a:rPr>
              <a:t>modern </a:t>
            </a:r>
            <a:r>
              <a:rPr sz="800" spc="-10" dirty="0">
                <a:latin typeface="Calibri"/>
                <a:cs typeface="Calibri"/>
              </a:rPr>
              <a:t>convolutional </a:t>
            </a:r>
            <a:r>
              <a:rPr sz="800" spc="-5" dirty="0">
                <a:latin typeface="Calibri"/>
                <a:cs typeface="Calibri"/>
              </a:rPr>
              <a:t>object </a:t>
            </a:r>
            <a:r>
              <a:rPr sz="800" spc="-15" dirty="0">
                <a:latin typeface="Calibri"/>
                <a:cs typeface="Calibri"/>
              </a:rPr>
              <a:t>detectors”, </a:t>
            </a:r>
            <a:r>
              <a:rPr sz="800" dirty="0">
                <a:latin typeface="Calibri"/>
                <a:cs typeface="Calibri"/>
              </a:rPr>
              <a:t>CVPR</a:t>
            </a:r>
            <a:r>
              <a:rPr sz="800" spc="-9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2017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524" y="557760"/>
            <a:ext cx="657860" cy="17113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b="1" spc="-5" dirty="0">
                <a:latin typeface="微软雅黑"/>
                <a:cs typeface="微软雅黑"/>
              </a:rPr>
              <a:t>主干网络：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00" spc="-10" dirty="0">
                <a:latin typeface="微软雅黑"/>
                <a:cs typeface="微软雅黑"/>
              </a:rPr>
              <a:t>VGG16</a:t>
            </a:r>
            <a:endParaRPr sz="900">
              <a:latin typeface="微软雅黑"/>
              <a:cs typeface="微软雅黑"/>
            </a:endParaRPr>
          </a:p>
          <a:p>
            <a:pPr marL="12700" marR="14604">
              <a:lnSpc>
                <a:spcPct val="150000"/>
              </a:lnSpc>
            </a:pPr>
            <a:r>
              <a:rPr sz="900" spc="-5" dirty="0">
                <a:latin typeface="Arial"/>
                <a:cs typeface="Arial"/>
              </a:rPr>
              <a:t>ResNet-101  Inception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V2  Inception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V3  Inception  </a:t>
            </a:r>
            <a:r>
              <a:rPr sz="900" dirty="0">
                <a:latin typeface="Arial"/>
                <a:cs typeface="Arial"/>
              </a:rPr>
              <a:t>ResNet  </a:t>
            </a:r>
            <a:r>
              <a:rPr sz="900" spc="-5" dirty="0">
                <a:latin typeface="Arial"/>
                <a:cs typeface="Arial"/>
              </a:rPr>
              <a:t>MobileNet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8434" y="634508"/>
            <a:ext cx="1335405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基础架构：</a:t>
            </a:r>
            <a:endParaRPr sz="1000">
              <a:latin typeface="微软雅黑"/>
              <a:cs typeface="微软雅黑"/>
            </a:endParaRPr>
          </a:p>
          <a:p>
            <a:pPr marL="182880" indent="-170180">
              <a:lnSpc>
                <a:spcPct val="100000"/>
              </a:lnSpc>
              <a:spcBef>
                <a:spcPts val="1120"/>
              </a:spcBef>
              <a:buFont typeface="Wingdings"/>
              <a:buChar char=""/>
              <a:tabLst>
                <a:tab pos="183515" algn="l"/>
              </a:tabLst>
            </a:pPr>
            <a:r>
              <a:rPr sz="900" spc="-15" dirty="0">
                <a:latin typeface="微软雅黑"/>
                <a:cs typeface="微软雅黑"/>
              </a:rPr>
              <a:t>两阶</a:t>
            </a:r>
            <a:r>
              <a:rPr sz="900" spc="-10" dirty="0">
                <a:latin typeface="微软雅黑"/>
                <a:cs typeface="微软雅黑"/>
              </a:rPr>
              <a:t>段</a:t>
            </a:r>
            <a:r>
              <a:rPr sz="900" dirty="0">
                <a:latin typeface="微软雅黑"/>
                <a:cs typeface="微软雅黑"/>
              </a:rPr>
              <a:t>:</a:t>
            </a:r>
            <a:r>
              <a:rPr sz="900" spc="-50" dirty="0">
                <a:latin typeface="微软雅黑"/>
                <a:cs typeface="微软雅黑"/>
              </a:rPr>
              <a:t> </a:t>
            </a:r>
            <a:r>
              <a:rPr sz="900" spc="-10" dirty="0">
                <a:latin typeface="微软雅黑"/>
                <a:cs typeface="微软雅黑"/>
              </a:rPr>
              <a:t>Faster</a:t>
            </a:r>
            <a:r>
              <a:rPr sz="900" spc="-45" dirty="0">
                <a:latin typeface="微软雅黑"/>
                <a:cs typeface="微软雅黑"/>
              </a:rPr>
              <a:t> </a:t>
            </a:r>
            <a:r>
              <a:rPr sz="900" spc="-5" dirty="0">
                <a:latin typeface="微软雅黑"/>
                <a:cs typeface="微软雅黑"/>
              </a:rPr>
              <a:t>R-CNN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Font typeface="Wingdings"/>
              <a:buChar char=""/>
              <a:tabLst>
                <a:tab pos="183515" algn="l"/>
              </a:tabLst>
            </a:pPr>
            <a:r>
              <a:rPr sz="900" dirty="0">
                <a:latin typeface="微软雅黑"/>
                <a:cs typeface="微软雅黑"/>
              </a:rPr>
              <a:t>一阶段:</a:t>
            </a:r>
            <a:r>
              <a:rPr sz="900" spc="-30" dirty="0">
                <a:latin typeface="微软雅黑"/>
                <a:cs typeface="微软雅黑"/>
              </a:rPr>
              <a:t> </a:t>
            </a:r>
            <a:r>
              <a:rPr sz="900" spc="-20" dirty="0">
                <a:latin typeface="微软雅黑"/>
                <a:cs typeface="微软雅黑"/>
              </a:rPr>
              <a:t>YOLO </a:t>
            </a:r>
            <a:r>
              <a:rPr sz="900" dirty="0">
                <a:latin typeface="微软雅黑"/>
                <a:cs typeface="微软雅黑"/>
              </a:rPr>
              <a:t>/</a:t>
            </a:r>
            <a:r>
              <a:rPr sz="900" spc="-100" dirty="0">
                <a:latin typeface="微软雅黑"/>
                <a:cs typeface="微软雅黑"/>
              </a:rPr>
              <a:t> </a:t>
            </a:r>
            <a:r>
              <a:rPr sz="900" spc="-5" dirty="0">
                <a:latin typeface="微软雅黑"/>
                <a:cs typeface="微软雅黑"/>
              </a:rPr>
              <a:t>SSD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90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Font typeface="Wingdings"/>
              <a:buChar char=""/>
              <a:tabLst>
                <a:tab pos="183515" algn="l"/>
              </a:tabLst>
            </a:pPr>
            <a:r>
              <a:rPr sz="900" dirty="0">
                <a:latin typeface="微软雅黑"/>
                <a:cs typeface="微软雅黑"/>
              </a:rPr>
              <a:t>混合：</a:t>
            </a:r>
            <a:r>
              <a:rPr sz="900" spc="-25" dirty="0">
                <a:latin typeface="微软雅黑"/>
                <a:cs typeface="微软雅黑"/>
              </a:rPr>
              <a:t> </a:t>
            </a:r>
            <a:r>
              <a:rPr sz="900" spc="-5" dirty="0">
                <a:latin typeface="微软雅黑"/>
                <a:cs typeface="微软雅黑"/>
              </a:rPr>
              <a:t>R-FCN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8854" y="601703"/>
            <a:ext cx="1539240" cy="15189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b="1" spc="-5" dirty="0">
                <a:latin typeface="微软雅黑"/>
                <a:cs typeface="微软雅黑"/>
              </a:rPr>
              <a:t>一些经验性的结论：</a:t>
            </a:r>
            <a:endParaRPr sz="1000">
              <a:latin typeface="微软雅黑"/>
              <a:cs typeface="微软雅黑"/>
            </a:endParaRPr>
          </a:p>
          <a:p>
            <a:pPr marL="154305" marR="62865" indent="-141605">
              <a:lnSpc>
                <a:spcPct val="150200"/>
              </a:lnSpc>
              <a:spcBef>
                <a:spcPts val="60"/>
              </a:spcBef>
              <a:buFont typeface="Wingdings"/>
              <a:buChar char=""/>
              <a:tabLst>
                <a:tab pos="154940" algn="l"/>
              </a:tabLst>
            </a:pPr>
            <a:r>
              <a:rPr sz="900" spc="-10" dirty="0">
                <a:latin typeface="微软雅黑"/>
                <a:cs typeface="微软雅黑"/>
              </a:rPr>
              <a:t>Faster</a:t>
            </a:r>
            <a:r>
              <a:rPr sz="900" spc="-90" dirty="0">
                <a:latin typeface="微软雅黑"/>
                <a:cs typeface="微软雅黑"/>
              </a:rPr>
              <a:t> </a:t>
            </a:r>
            <a:r>
              <a:rPr sz="900" spc="-5" dirty="0">
                <a:latin typeface="微软雅黑"/>
                <a:cs typeface="微软雅黑"/>
              </a:rPr>
              <a:t>R-CNN</a:t>
            </a:r>
            <a:r>
              <a:rPr sz="900" dirty="0">
                <a:latin typeface="微软雅黑"/>
                <a:cs typeface="微软雅黑"/>
              </a:rPr>
              <a:t>速度偏慢，  但精度高</a:t>
            </a:r>
            <a:endParaRPr sz="900">
              <a:latin typeface="微软雅黑"/>
              <a:cs typeface="微软雅黑"/>
            </a:endParaRPr>
          </a:p>
          <a:p>
            <a:pPr marL="154305" marR="35560" indent="-141605">
              <a:lnSpc>
                <a:spcPct val="150000"/>
              </a:lnSpc>
              <a:spcBef>
                <a:spcPts val="60"/>
              </a:spcBef>
              <a:buFont typeface="Wingdings"/>
              <a:buChar char=""/>
              <a:tabLst>
                <a:tab pos="154940" algn="l"/>
              </a:tabLst>
            </a:pPr>
            <a:r>
              <a:rPr sz="900" spc="-5" dirty="0">
                <a:latin typeface="微软雅黑"/>
                <a:cs typeface="微软雅黑"/>
              </a:rPr>
              <a:t>SSD</a:t>
            </a:r>
            <a:r>
              <a:rPr sz="900" dirty="0">
                <a:latin typeface="微软雅黑"/>
                <a:cs typeface="微软雅黑"/>
              </a:rPr>
              <a:t>速度快，相对于</a:t>
            </a:r>
            <a:r>
              <a:rPr sz="900" spc="-35" dirty="0">
                <a:latin typeface="微软雅黑"/>
                <a:cs typeface="微软雅黑"/>
              </a:rPr>
              <a:t>F</a:t>
            </a:r>
            <a:r>
              <a:rPr sz="900" spc="-10" dirty="0">
                <a:latin typeface="微软雅黑"/>
                <a:cs typeface="微软雅黑"/>
              </a:rPr>
              <a:t>a</a:t>
            </a:r>
            <a:r>
              <a:rPr sz="900" dirty="0">
                <a:latin typeface="微软雅黑"/>
                <a:cs typeface="微软雅黑"/>
              </a:rPr>
              <a:t>s</a:t>
            </a:r>
            <a:r>
              <a:rPr sz="900" spc="-15" dirty="0">
                <a:latin typeface="微软雅黑"/>
                <a:cs typeface="微软雅黑"/>
              </a:rPr>
              <a:t>t</a:t>
            </a:r>
            <a:r>
              <a:rPr sz="900" dirty="0">
                <a:latin typeface="微软雅黑"/>
                <a:cs typeface="微软雅黑"/>
              </a:rPr>
              <a:t>er  </a:t>
            </a:r>
            <a:r>
              <a:rPr sz="900" spc="-5" dirty="0">
                <a:latin typeface="微软雅黑"/>
                <a:cs typeface="微软雅黑"/>
              </a:rPr>
              <a:t>R-CNN</a:t>
            </a:r>
            <a:r>
              <a:rPr sz="900" dirty="0">
                <a:latin typeface="微软雅黑"/>
                <a:cs typeface="微软雅黑"/>
              </a:rPr>
              <a:t>精度有所欠缺</a:t>
            </a:r>
            <a:endParaRPr sz="900">
              <a:latin typeface="微软雅黑"/>
              <a:cs typeface="微软雅黑"/>
            </a:endParaRPr>
          </a:p>
          <a:p>
            <a:pPr marL="154305" marR="5080" indent="-141605">
              <a:lnSpc>
                <a:spcPct val="150000"/>
              </a:lnSpc>
              <a:spcBef>
                <a:spcPts val="50"/>
              </a:spcBef>
              <a:buFont typeface="Wingdings"/>
              <a:buChar char=""/>
              <a:tabLst>
                <a:tab pos="154940" algn="l"/>
              </a:tabLst>
            </a:pPr>
            <a:r>
              <a:rPr sz="900" dirty="0">
                <a:latin typeface="微软雅黑"/>
                <a:cs typeface="微软雅黑"/>
              </a:rPr>
              <a:t>主干网越宽、深度越深，对 性能的帮助就越大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3128" y="1762293"/>
            <a:ext cx="784860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spc="-5" dirty="0">
                <a:latin typeface="微软雅黑"/>
                <a:cs typeface="微软雅黑"/>
              </a:rPr>
              <a:t>图像尺寸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spc="-5" dirty="0">
                <a:latin typeface="微软雅黑"/>
                <a:cs typeface="微软雅黑"/>
              </a:rPr>
              <a:t>区域建议个数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spc="-5" dirty="0">
                <a:latin typeface="微软雅黑"/>
                <a:cs typeface="微软雅黑"/>
              </a:rPr>
              <a:t>…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32" y="2779995"/>
            <a:ext cx="3984625" cy="6451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450" spc="5" dirty="0">
                <a:latin typeface="Arial"/>
                <a:cs typeface="Arial"/>
              </a:rPr>
              <a:t>R-FCN:</a:t>
            </a:r>
            <a:r>
              <a:rPr sz="450" spc="-2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Dai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et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al,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“R-FCN: Object</a:t>
            </a:r>
            <a:r>
              <a:rPr sz="450" spc="-3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Detection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via</a:t>
            </a:r>
            <a:r>
              <a:rPr sz="450" spc="1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Region-based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Fully</a:t>
            </a:r>
            <a:r>
              <a:rPr sz="450" spc="-2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Convolutional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Networks”,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NIPS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2016</a:t>
            </a:r>
            <a:endParaRPr sz="450">
              <a:latin typeface="Arial"/>
              <a:cs typeface="Arial"/>
            </a:endParaRPr>
          </a:p>
          <a:p>
            <a:pPr marL="12700" marR="285750">
              <a:lnSpc>
                <a:spcPct val="102200"/>
              </a:lnSpc>
              <a:spcBef>
                <a:spcPts val="50"/>
              </a:spcBef>
            </a:pPr>
            <a:r>
              <a:rPr sz="450" spc="5" dirty="0">
                <a:latin typeface="Arial"/>
                <a:cs typeface="Arial"/>
              </a:rPr>
              <a:t>Inception-V2: </a:t>
            </a:r>
            <a:r>
              <a:rPr sz="450" dirty="0">
                <a:latin typeface="Arial"/>
                <a:cs typeface="Arial"/>
              </a:rPr>
              <a:t>Ioffe </a:t>
            </a:r>
            <a:r>
              <a:rPr sz="450" spc="5" dirty="0">
                <a:latin typeface="Arial"/>
                <a:cs typeface="Arial"/>
              </a:rPr>
              <a:t>and </a:t>
            </a:r>
            <a:r>
              <a:rPr sz="450" spc="-5" dirty="0">
                <a:latin typeface="Arial"/>
                <a:cs typeface="Arial"/>
              </a:rPr>
              <a:t>Szegedy, </a:t>
            </a:r>
            <a:r>
              <a:rPr sz="450" spc="5" dirty="0">
                <a:latin typeface="Arial"/>
                <a:cs typeface="Arial"/>
              </a:rPr>
              <a:t>“Batch Normalization: Accelerating Deep Network Training by Reducing Internal Covariate Shift”, </a:t>
            </a:r>
            <a:r>
              <a:rPr sz="450" spc="10" dirty="0">
                <a:latin typeface="Arial"/>
                <a:cs typeface="Arial"/>
              </a:rPr>
              <a:t>ICML 2015  </a:t>
            </a:r>
            <a:r>
              <a:rPr sz="450" spc="5" dirty="0">
                <a:latin typeface="Arial"/>
                <a:cs typeface="Arial"/>
              </a:rPr>
              <a:t>Inception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V3: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Szegedy</a:t>
            </a:r>
            <a:r>
              <a:rPr sz="450" spc="-2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et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al,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“Rethinking</a:t>
            </a:r>
            <a:r>
              <a:rPr sz="450" spc="-1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the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Inception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Architecture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10" dirty="0">
                <a:latin typeface="Arial"/>
                <a:cs typeface="Arial"/>
              </a:rPr>
              <a:t>for</a:t>
            </a:r>
            <a:r>
              <a:rPr sz="450" spc="-2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Computer</a:t>
            </a:r>
            <a:r>
              <a:rPr sz="450" spc="-25" dirty="0">
                <a:latin typeface="Arial"/>
                <a:cs typeface="Arial"/>
              </a:rPr>
              <a:t> </a:t>
            </a:r>
            <a:r>
              <a:rPr sz="450" spc="-5" dirty="0">
                <a:latin typeface="Arial"/>
                <a:cs typeface="Arial"/>
              </a:rPr>
              <a:t>Vision”,</a:t>
            </a:r>
            <a:r>
              <a:rPr sz="450" spc="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arXiv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2016</a:t>
            </a:r>
            <a:endParaRPr sz="450">
              <a:latin typeface="Arial"/>
              <a:cs typeface="Arial"/>
            </a:endParaRPr>
          </a:p>
          <a:p>
            <a:pPr marL="12700" marR="528955">
              <a:lnSpc>
                <a:spcPct val="102200"/>
              </a:lnSpc>
            </a:pPr>
            <a:r>
              <a:rPr sz="450" spc="5" dirty="0">
                <a:latin typeface="Arial"/>
                <a:cs typeface="Arial"/>
              </a:rPr>
              <a:t>Inception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ResNet:</a:t>
            </a:r>
            <a:r>
              <a:rPr sz="450" spc="-1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Szegedy</a:t>
            </a:r>
            <a:r>
              <a:rPr sz="450" spc="-2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et al,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“Inception-V4,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Inception-ResNet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10" dirty="0">
                <a:latin typeface="Arial"/>
                <a:cs typeface="Arial"/>
              </a:rPr>
              <a:t>and</a:t>
            </a:r>
            <a:r>
              <a:rPr sz="450" spc="-1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the </a:t>
            </a:r>
            <a:r>
              <a:rPr sz="450" spc="10" dirty="0">
                <a:latin typeface="Arial"/>
                <a:cs typeface="Arial"/>
              </a:rPr>
              <a:t>Impact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of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Residual</a:t>
            </a:r>
            <a:r>
              <a:rPr sz="450" spc="-2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Connections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10" dirty="0">
                <a:latin typeface="Arial"/>
                <a:cs typeface="Arial"/>
              </a:rPr>
              <a:t>on</a:t>
            </a:r>
            <a:r>
              <a:rPr sz="450" spc="5" dirty="0">
                <a:latin typeface="Arial"/>
                <a:cs typeface="Arial"/>
              </a:rPr>
              <a:t> Learning”,</a:t>
            </a:r>
            <a:r>
              <a:rPr sz="450" spc="-3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arXiv</a:t>
            </a:r>
            <a:r>
              <a:rPr sz="450" spc="10" dirty="0">
                <a:latin typeface="Arial"/>
                <a:cs typeface="Arial"/>
              </a:rPr>
              <a:t> 2016  </a:t>
            </a:r>
            <a:r>
              <a:rPr sz="450" spc="5" dirty="0">
                <a:latin typeface="Arial"/>
                <a:cs typeface="Arial"/>
              </a:rPr>
              <a:t>MobileNet:</a:t>
            </a:r>
            <a:r>
              <a:rPr sz="450" spc="-15" dirty="0">
                <a:latin typeface="Arial"/>
                <a:cs typeface="Arial"/>
              </a:rPr>
              <a:t> </a:t>
            </a:r>
            <a:r>
              <a:rPr sz="450" spc="10" dirty="0">
                <a:latin typeface="Arial"/>
                <a:cs typeface="Arial"/>
              </a:rPr>
              <a:t>Howard</a:t>
            </a:r>
            <a:r>
              <a:rPr sz="450" spc="-3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et</a:t>
            </a:r>
            <a:r>
              <a:rPr sz="450" spc="-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al,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“Efficient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Convolutional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Neural</a:t>
            </a:r>
            <a:r>
              <a:rPr sz="450" spc="-2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Networks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10" dirty="0">
                <a:latin typeface="Arial"/>
                <a:cs typeface="Arial"/>
              </a:rPr>
              <a:t>for</a:t>
            </a:r>
            <a:r>
              <a:rPr sz="45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Mobile</a:t>
            </a:r>
            <a:r>
              <a:rPr sz="450" spc="-15" dirty="0">
                <a:latin typeface="Arial"/>
                <a:cs typeface="Arial"/>
              </a:rPr>
              <a:t> </a:t>
            </a:r>
            <a:r>
              <a:rPr sz="450" spc="-5" dirty="0">
                <a:latin typeface="Arial"/>
                <a:cs typeface="Arial"/>
              </a:rPr>
              <a:t>Vision</a:t>
            </a:r>
            <a:r>
              <a:rPr sz="450" spc="25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Applications”,</a:t>
            </a:r>
            <a:r>
              <a:rPr sz="450" spc="-4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arXiv</a:t>
            </a:r>
            <a:r>
              <a:rPr sz="450" spc="-30" dirty="0">
                <a:latin typeface="Arial"/>
                <a:cs typeface="Arial"/>
              </a:rPr>
              <a:t> </a:t>
            </a:r>
            <a:r>
              <a:rPr sz="450" spc="5" dirty="0">
                <a:latin typeface="Arial"/>
                <a:cs typeface="Arial"/>
              </a:rPr>
              <a:t>2017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370"/>
              </a:spcBef>
              <a:tabLst>
                <a:tab pos="2416810" algn="l"/>
              </a:tabLst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468" y="176910"/>
            <a:ext cx="14522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0" dirty="0">
                <a:latin typeface="微软雅黑"/>
                <a:cs typeface="微软雅黑"/>
              </a:rPr>
              <a:t>视觉识别任务</a:t>
            </a:r>
            <a:endParaRPr sz="185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39" y="1180464"/>
            <a:ext cx="1395984" cy="1208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03286" y="759078"/>
            <a:ext cx="70231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实例分割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7115" y="1209420"/>
            <a:ext cx="1395984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6543" y="1209420"/>
            <a:ext cx="1405127" cy="120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9340" y="1713864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459662" y="409956"/>
                </a:move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436962" y="540003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59662" y="409956"/>
                </a:lnTo>
                <a:close/>
              </a:path>
              <a:path w="471170" h="702310">
                <a:moveTo>
                  <a:pt x="436962" y="540003"/>
                </a:move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36962" y="540003"/>
                </a:lnTo>
                <a:close/>
              </a:path>
              <a:path w="471170" h="702310">
                <a:moveTo>
                  <a:pt x="41401" y="256031"/>
                </a:move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459662" y="409956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6744" y="338581"/>
                </a:lnTo>
                <a:lnTo>
                  <a:pt x="120776" y="338581"/>
                </a:lnTo>
                <a:lnTo>
                  <a:pt x="41401" y="256031"/>
                </a:lnTo>
                <a:close/>
              </a:path>
              <a:path w="471170" h="702310">
                <a:moveTo>
                  <a:pt x="134112" y="15366"/>
                </a:moveTo>
                <a:lnTo>
                  <a:pt x="117094" y="62991"/>
                </a:lnTo>
                <a:lnTo>
                  <a:pt x="134112" y="92328"/>
                </a:ln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46744" y="338581"/>
                </a:lnTo>
                <a:lnTo>
                  <a:pt x="440309" y="237870"/>
                </a:lnTo>
                <a:lnTo>
                  <a:pt x="425704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94583" y="36321"/>
                </a:lnTo>
                <a:lnTo>
                  <a:pt x="335407" y="36321"/>
                </a:lnTo>
                <a:lnTo>
                  <a:pt x="319268" y="25145"/>
                </a:lnTo>
                <a:lnTo>
                  <a:pt x="196342" y="25145"/>
                </a:lnTo>
                <a:lnTo>
                  <a:pt x="134112" y="15366"/>
                </a:lnTo>
                <a:close/>
              </a:path>
              <a:path w="471170" h="702310">
                <a:moveTo>
                  <a:pt x="363474" y="12572"/>
                </a:moveTo>
                <a:lnTo>
                  <a:pt x="335407" y="36321"/>
                </a:lnTo>
                <a:lnTo>
                  <a:pt x="394583" y="36321"/>
                </a:lnTo>
                <a:lnTo>
                  <a:pt x="363474" y="12572"/>
                </a:lnTo>
                <a:close/>
              </a:path>
              <a:path w="471170" h="702310">
                <a:moveTo>
                  <a:pt x="282956" y="0"/>
                </a:moveTo>
                <a:lnTo>
                  <a:pt x="215900" y="8381"/>
                </a:lnTo>
                <a:lnTo>
                  <a:pt x="196342" y="25145"/>
                </a:lnTo>
                <a:lnTo>
                  <a:pt x="319268" y="25145"/>
                </a:lnTo>
                <a:lnTo>
                  <a:pt x="282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20102" y="1714626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134112" y="92328"/>
                </a:moveTo>
                <a:lnTo>
                  <a:pt x="102488" y="204215"/>
                </a:lnTo>
                <a:lnTo>
                  <a:pt x="153670" y="260222"/>
                </a:lnTo>
                <a:lnTo>
                  <a:pt x="120776" y="338581"/>
                </a:lnTo>
                <a:lnTo>
                  <a:pt x="41401" y="256031"/>
                </a:lnTo>
                <a:lnTo>
                  <a:pt x="4825" y="264413"/>
                </a:lnTo>
                <a:lnTo>
                  <a:pt x="0" y="382015"/>
                </a:lnTo>
                <a:lnTo>
                  <a:pt x="72009" y="419734"/>
                </a:lnTo>
                <a:lnTo>
                  <a:pt x="139064" y="409956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4"/>
                </a:lnTo>
                <a:lnTo>
                  <a:pt x="311023" y="540003"/>
                </a:lnTo>
                <a:lnTo>
                  <a:pt x="330581" y="582040"/>
                </a:lnTo>
                <a:lnTo>
                  <a:pt x="268350" y="693927"/>
                </a:lnTo>
                <a:lnTo>
                  <a:pt x="374396" y="696721"/>
                </a:lnTo>
                <a:lnTo>
                  <a:pt x="440309" y="531621"/>
                </a:lnTo>
                <a:lnTo>
                  <a:pt x="419608" y="460247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0309" y="237870"/>
                </a:lnTo>
                <a:lnTo>
                  <a:pt x="425703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3"/>
                </a:lnTo>
                <a:lnTo>
                  <a:pt x="403733" y="43306"/>
                </a:lnTo>
                <a:lnTo>
                  <a:pt x="363474" y="12572"/>
                </a:lnTo>
                <a:lnTo>
                  <a:pt x="335407" y="36321"/>
                </a:lnTo>
                <a:lnTo>
                  <a:pt x="282956" y="0"/>
                </a:lnTo>
                <a:lnTo>
                  <a:pt x="215900" y="8381"/>
                </a:lnTo>
                <a:lnTo>
                  <a:pt x="196342" y="25145"/>
                </a:lnTo>
                <a:lnTo>
                  <a:pt x="134112" y="15366"/>
                </a:lnTo>
                <a:lnTo>
                  <a:pt x="117094" y="62991"/>
                </a:lnTo>
                <a:lnTo>
                  <a:pt x="134112" y="92328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208788" y="407669"/>
                </a:moveTo>
                <a:lnTo>
                  <a:pt x="78867" y="407669"/>
                </a:lnTo>
                <a:lnTo>
                  <a:pt x="145161" y="419988"/>
                </a:lnTo>
                <a:lnTo>
                  <a:pt x="100584" y="522350"/>
                </a:lnTo>
                <a:lnTo>
                  <a:pt x="138684" y="547115"/>
                </a:lnTo>
                <a:lnTo>
                  <a:pt x="198501" y="531621"/>
                </a:lnTo>
                <a:lnTo>
                  <a:pt x="180721" y="475869"/>
                </a:lnTo>
                <a:lnTo>
                  <a:pt x="208788" y="429386"/>
                </a:lnTo>
                <a:lnTo>
                  <a:pt x="208788" y="407669"/>
                </a:lnTo>
                <a:close/>
              </a:path>
              <a:path w="248285" h="547369">
                <a:moveTo>
                  <a:pt x="119634" y="0"/>
                </a:moveTo>
                <a:lnTo>
                  <a:pt x="69977" y="35686"/>
                </a:lnTo>
                <a:lnTo>
                  <a:pt x="34417" y="271271"/>
                </a:lnTo>
                <a:lnTo>
                  <a:pt x="59817" y="303783"/>
                </a:lnTo>
                <a:lnTo>
                  <a:pt x="38227" y="337819"/>
                </a:lnTo>
                <a:lnTo>
                  <a:pt x="20320" y="389000"/>
                </a:lnTo>
                <a:lnTo>
                  <a:pt x="25400" y="424688"/>
                </a:lnTo>
                <a:lnTo>
                  <a:pt x="0" y="505205"/>
                </a:lnTo>
                <a:lnTo>
                  <a:pt x="68707" y="494410"/>
                </a:lnTo>
                <a:lnTo>
                  <a:pt x="63627" y="418464"/>
                </a:lnTo>
                <a:lnTo>
                  <a:pt x="78867" y="407669"/>
                </a:lnTo>
                <a:lnTo>
                  <a:pt x="208788" y="407669"/>
                </a:lnTo>
                <a:lnTo>
                  <a:pt x="208788" y="347217"/>
                </a:lnTo>
                <a:lnTo>
                  <a:pt x="244348" y="274319"/>
                </a:lnTo>
                <a:lnTo>
                  <a:pt x="244348" y="172084"/>
                </a:lnTo>
                <a:lnTo>
                  <a:pt x="248158" y="94487"/>
                </a:lnTo>
                <a:lnTo>
                  <a:pt x="211328" y="66675"/>
                </a:lnTo>
                <a:lnTo>
                  <a:pt x="190881" y="17017"/>
                </a:lnTo>
                <a:lnTo>
                  <a:pt x="11963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52155" y="1800732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34417" y="271271"/>
                </a:moveTo>
                <a:lnTo>
                  <a:pt x="69977" y="35686"/>
                </a:lnTo>
                <a:lnTo>
                  <a:pt x="119634" y="0"/>
                </a:lnTo>
                <a:lnTo>
                  <a:pt x="190881" y="17017"/>
                </a:lnTo>
                <a:lnTo>
                  <a:pt x="211328" y="66675"/>
                </a:lnTo>
                <a:lnTo>
                  <a:pt x="248158" y="94487"/>
                </a:lnTo>
                <a:lnTo>
                  <a:pt x="244348" y="172084"/>
                </a:lnTo>
                <a:lnTo>
                  <a:pt x="244348" y="274319"/>
                </a:lnTo>
                <a:lnTo>
                  <a:pt x="208788" y="347217"/>
                </a:lnTo>
                <a:lnTo>
                  <a:pt x="208788" y="429386"/>
                </a:lnTo>
                <a:lnTo>
                  <a:pt x="180721" y="475869"/>
                </a:lnTo>
                <a:lnTo>
                  <a:pt x="198501" y="531621"/>
                </a:lnTo>
                <a:lnTo>
                  <a:pt x="138684" y="547115"/>
                </a:lnTo>
                <a:lnTo>
                  <a:pt x="100584" y="522350"/>
                </a:lnTo>
                <a:lnTo>
                  <a:pt x="145161" y="419988"/>
                </a:lnTo>
                <a:lnTo>
                  <a:pt x="78867" y="407669"/>
                </a:lnTo>
                <a:lnTo>
                  <a:pt x="63627" y="418464"/>
                </a:lnTo>
                <a:lnTo>
                  <a:pt x="68707" y="494410"/>
                </a:lnTo>
                <a:lnTo>
                  <a:pt x="0" y="505205"/>
                </a:lnTo>
                <a:lnTo>
                  <a:pt x="25400" y="424688"/>
                </a:lnTo>
                <a:lnTo>
                  <a:pt x="20320" y="389000"/>
                </a:lnTo>
                <a:lnTo>
                  <a:pt x="38227" y="337819"/>
                </a:lnTo>
                <a:lnTo>
                  <a:pt x="59817" y="303783"/>
                </a:lnTo>
                <a:lnTo>
                  <a:pt x="34417" y="271271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7707" y="1721484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58674" y="0"/>
                </a:moveTo>
                <a:lnTo>
                  <a:pt x="58674" y="38734"/>
                </a:lnTo>
                <a:lnTo>
                  <a:pt x="21716" y="136270"/>
                </a:lnTo>
                <a:lnTo>
                  <a:pt x="43306" y="363727"/>
                </a:lnTo>
                <a:lnTo>
                  <a:pt x="24256" y="379221"/>
                </a:lnTo>
                <a:lnTo>
                  <a:pt x="0" y="433450"/>
                </a:lnTo>
                <a:lnTo>
                  <a:pt x="50926" y="436499"/>
                </a:lnTo>
                <a:lnTo>
                  <a:pt x="33146" y="464312"/>
                </a:lnTo>
                <a:lnTo>
                  <a:pt x="58674" y="476757"/>
                </a:lnTo>
                <a:lnTo>
                  <a:pt x="112140" y="473709"/>
                </a:lnTo>
                <a:lnTo>
                  <a:pt x="133908" y="473709"/>
                </a:lnTo>
                <a:lnTo>
                  <a:pt x="178434" y="456692"/>
                </a:lnTo>
                <a:lnTo>
                  <a:pt x="169417" y="390017"/>
                </a:lnTo>
                <a:lnTo>
                  <a:pt x="194944" y="292607"/>
                </a:lnTo>
                <a:lnTo>
                  <a:pt x="211454" y="185800"/>
                </a:lnTo>
                <a:lnTo>
                  <a:pt x="174497" y="52577"/>
                </a:lnTo>
                <a:lnTo>
                  <a:pt x="173777" y="26288"/>
                </a:lnTo>
                <a:lnTo>
                  <a:pt x="145287" y="26288"/>
                </a:lnTo>
                <a:lnTo>
                  <a:pt x="91693" y="18542"/>
                </a:lnTo>
                <a:lnTo>
                  <a:pt x="58674" y="0"/>
                </a:lnTo>
                <a:close/>
              </a:path>
              <a:path w="211454" h="476885">
                <a:moveTo>
                  <a:pt x="133908" y="473709"/>
                </a:moveTo>
                <a:lnTo>
                  <a:pt x="112140" y="473709"/>
                </a:lnTo>
                <a:lnTo>
                  <a:pt x="129920" y="475233"/>
                </a:lnTo>
                <a:lnTo>
                  <a:pt x="133908" y="473709"/>
                </a:lnTo>
                <a:close/>
              </a:path>
              <a:path w="211454" h="476885">
                <a:moveTo>
                  <a:pt x="173227" y="6223"/>
                </a:moveTo>
                <a:lnTo>
                  <a:pt x="145287" y="26288"/>
                </a:lnTo>
                <a:lnTo>
                  <a:pt x="173777" y="26288"/>
                </a:lnTo>
                <a:lnTo>
                  <a:pt x="173227" y="62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78469" y="1722246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21716" y="136270"/>
                </a:moveTo>
                <a:lnTo>
                  <a:pt x="58674" y="38734"/>
                </a:lnTo>
                <a:lnTo>
                  <a:pt x="58674" y="0"/>
                </a:lnTo>
                <a:lnTo>
                  <a:pt x="91693" y="18541"/>
                </a:lnTo>
                <a:lnTo>
                  <a:pt x="145287" y="26288"/>
                </a:lnTo>
                <a:lnTo>
                  <a:pt x="173227" y="6222"/>
                </a:lnTo>
                <a:lnTo>
                  <a:pt x="174497" y="52577"/>
                </a:lnTo>
                <a:lnTo>
                  <a:pt x="211454" y="185800"/>
                </a:lnTo>
                <a:lnTo>
                  <a:pt x="194944" y="292607"/>
                </a:lnTo>
                <a:lnTo>
                  <a:pt x="169417" y="390016"/>
                </a:lnTo>
                <a:lnTo>
                  <a:pt x="178434" y="456691"/>
                </a:lnTo>
                <a:lnTo>
                  <a:pt x="129920" y="475233"/>
                </a:lnTo>
                <a:lnTo>
                  <a:pt x="112140" y="473709"/>
                </a:lnTo>
                <a:lnTo>
                  <a:pt x="58674" y="476757"/>
                </a:lnTo>
                <a:lnTo>
                  <a:pt x="33146" y="464312"/>
                </a:lnTo>
                <a:lnTo>
                  <a:pt x="50926" y="436499"/>
                </a:lnTo>
                <a:lnTo>
                  <a:pt x="0" y="433450"/>
                </a:lnTo>
                <a:lnTo>
                  <a:pt x="24256" y="379221"/>
                </a:lnTo>
                <a:lnTo>
                  <a:pt x="43306" y="363727"/>
                </a:lnTo>
                <a:lnTo>
                  <a:pt x="21716" y="136270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2271" y="2693796"/>
            <a:ext cx="2748915" cy="234315"/>
          </a:xfrm>
          <a:custGeom>
            <a:avLst/>
            <a:gdLst/>
            <a:ahLst/>
            <a:cxnLst/>
            <a:rect l="l" t="t" r="r" b="b"/>
            <a:pathLst>
              <a:path w="2748915" h="234314">
                <a:moveTo>
                  <a:pt x="2748915" y="0"/>
                </a:moveTo>
                <a:lnTo>
                  <a:pt x="2733548" y="51562"/>
                </a:lnTo>
                <a:lnTo>
                  <a:pt x="2692145" y="91439"/>
                </a:lnTo>
                <a:lnTo>
                  <a:pt x="2632075" y="114045"/>
                </a:lnTo>
                <a:lnTo>
                  <a:pt x="2597277" y="117220"/>
                </a:lnTo>
                <a:lnTo>
                  <a:pt x="1526031" y="117220"/>
                </a:lnTo>
                <a:lnTo>
                  <a:pt x="1491361" y="120268"/>
                </a:lnTo>
                <a:lnTo>
                  <a:pt x="1431289" y="142875"/>
                </a:lnTo>
                <a:lnTo>
                  <a:pt x="1389888" y="182752"/>
                </a:lnTo>
                <a:lnTo>
                  <a:pt x="1374520" y="234314"/>
                </a:lnTo>
                <a:lnTo>
                  <a:pt x="1370456" y="207518"/>
                </a:lnTo>
                <a:lnTo>
                  <a:pt x="1341119" y="161036"/>
                </a:lnTo>
                <a:lnTo>
                  <a:pt x="1289557" y="129031"/>
                </a:lnTo>
                <a:lnTo>
                  <a:pt x="1222882" y="117220"/>
                </a:lnTo>
                <a:lnTo>
                  <a:pt x="151637" y="117220"/>
                </a:lnTo>
                <a:lnTo>
                  <a:pt x="116839" y="114045"/>
                </a:lnTo>
                <a:lnTo>
                  <a:pt x="56768" y="91439"/>
                </a:lnTo>
                <a:lnTo>
                  <a:pt x="15366" y="51562"/>
                </a:lnTo>
                <a:lnTo>
                  <a:pt x="4063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43" y="2699892"/>
            <a:ext cx="1397635" cy="234315"/>
          </a:xfrm>
          <a:custGeom>
            <a:avLst/>
            <a:gdLst/>
            <a:ahLst/>
            <a:cxnLst/>
            <a:rect l="l" t="t" r="r" b="b"/>
            <a:pathLst>
              <a:path w="1397635" h="234314">
                <a:moveTo>
                  <a:pt x="1397254" y="0"/>
                </a:moveTo>
                <a:lnTo>
                  <a:pt x="1381887" y="51562"/>
                </a:lnTo>
                <a:lnTo>
                  <a:pt x="1340485" y="91440"/>
                </a:lnTo>
                <a:lnTo>
                  <a:pt x="1280414" y="114045"/>
                </a:lnTo>
                <a:lnTo>
                  <a:pt x="1245616" y="117220"/>
                </a:lnTo>
                <a:lnTo>
                  <a:pt x="850265" y="117220"/>
                </a:lnTo>
                <a:lnTo>
                  <a:pt x="815594" y="120268"/>
                </a:lnTo>
                <a:lnTo>
                  <a:pt x="755396" y="142875"/>
                </a:lnTo>
                <a:lnTo>
                  <a:pt x="714057" y="182753"/>
                </a:lnTo>
                <a:lnTo>
                  <a:pt x="698639" y="234315"/>
                </a:lnTo>
                <a:lnTo>
                  <a:pt x="694639" y="207518"/>
                </a:lnTo>
                <a:lnTo>
                  <a:pt x="665314" y="161036"/>
                </a:lnTo>
                <a:lnTo>
                  <a:pt x="613664" y="129031"/>
                </a:lnTo>
                <a:lnTo>
                  <a:pt x="546963" y="117220"/>
                </a:lnTo>
                <a:lnTo>
                  <a:pt x="151676" y="117220"/>
                </a:lnTo>
                <a:lnTo>
                  <a:pt x="116890" y="114045"/>
                </a:lnTo>
                <a:lnTo>
                  <a:pt x="56807" y="91440"/>
                </a:lnTo>
                <a:lnTo>
                  <a:pt x="15417" y="51562"/>
                </a:lnTo>
                <a:lnTo>
                  <a:pt x="4000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82461" y="753948"/>
            <a:ext cx="758190" cy="18846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6675" algn="ctr">
              <a:lnSpc>
                <a:spcPct val="100000"/>
              </a:lnSpc>
              <a:spcBef>
                <a:spcPts val="110"/>
              </a:spcBef>
            </a:pPr>
            <a:r>
              <a:rPr sz="1300" b="1" spc="30" dirty="0">
                <a:latin typeface="微软雅黑"/>
                <a:cs typeface="微软雅黑"/>
              </a:rPr>
              <a:t>目标检测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98715" y="2433319"/>
            <a:ext cx="783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92797" y="2918840"/>
            <a:ext cx="405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多目标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24451" y="2699892"/>
            <a:ext cx="1377315" cy="234315"/>
          </a:xfrm>
          <a:custGeom>
            <a:avLst/>
            <a:gdLst/>
            <a:ahLst/>
            <a:cxnLst/>
            <a:rect l="l" t="t" r="r" b="b"/>
            <a:pathLst>
              <a:path w="1377314" h="234314">
                <a:moveTo>
                  <a:pt x="1377314" y="0"/>
                </a:moveTo>
                <a:lnTo>
                  <a:pt x="1361948" y="51562"/>
                </a:lnTo>
                <a:lnTo>
                  <a:pt x="1320546" y="91440"/>
                </a:lnTo>
                <a:lnTo>
                  <a:pt x="1260475" y="114045"/>
                </a:lnTo>
                <a:lnTo>
                  <a:pt x="1225677" y="117220"/>
                </a:lnTo>
                <a:lnTo>
                  <a:pt x="840232" y="117220"/>
                </a:lnTo>
                <a:lnTo>
                  <a:pt x="805434" y="120268"/>
                </a:lnTo>
                <a:lnTo>
                  <a:pt x="745490" y="142875"/>
                </a:lnTo>
                <a:lnTo>
                  <a:pt x="704088" y="182753"/>
                </a:lnTo>
                <a:lnTo>
                  <a:pt x="688721" y="234315"/>
                </a:lnTo>
                <a:lnTo>
                  <a:pt x="684657" y="207518"/>
                </a:lnTo>
                <a:lnTo>
                  <a:pt x="655320" y="161036"/>
                </a:lnTo>
                <a:lnTo>
                  <a:pt x="603758" y="129031"/>
                </a:lnTo>
                <a:lnTo>
                  <a:pt x="537083" y="117220"/>
                </a:lnTo>
                <a:lnTo>
                  <a:pt x="151637" y="117220"/>
                </a:lnTo>
                <a:lnTo>
                  <a:pt x="116840" y="114045"/>
                </a:lnTo>
                <a:lnTo>
                  <a:pt x="56768" y="91440"/>
                </a:lnTo>
                <a:lnTo>
                  <a:pt x="15367" y="51562"/>
                </a:lnTo>
                <a:lnTo>
                  <a:pt x="4064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7891" y="762203"/>
            <a:ext cx="2522855" cy="2338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110"/>
              </a:spcBef>
              <a:tabLst>
                <a:tab pos="1577340" algn="l"/>
              </a:tabLst>
            </a:pPr>
            <a:r>
              <a:rPr sz="1300" b="1" spc="30" dirty="0">
                <a:latin typeface="微软雅黑"/>
                <a:cs typeface="微软雅黑"/>
              </a:rPr>
              <a:t>分类	语义分割</a:t>
            </a:r>
            <a:endParaRPr sz="1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tabLst>
                <a:tab pos="1308100" algn="l"/>
              </a:tabLst>
            </a:pPr>
            <a:r>
              <a:rPr sz="1800" b="1" baseline="16203" dirty="0">
                <a:latin typeface="微软雅黑"/>
                <a:cs typeface="微软雅黑"/>
              </a:rPr>
              <a:t>猫	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草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spc="-25" dirty="0">
                <a:solidFill>
                  <a:srgbClr val="EFC130"/>
                </a:solidFill>
                <a:latin typeface="微软雅黑"/>
                <a:cs typeface="微软雅黑"/>
              </a:rPr>
              <a:t>猫</a:t>
            </a:r>
            <a:r>
              <a:rPr sz="1200" b="1" spc="-25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A44D79"/>
                </a:solidFill>
                <a:latin typeface="微软雅黑"/>
                <a:cs typeface="微软雅黑"/>
              </a:rPr>
              <a:t>树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天空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1654810" algn="l"/>
              </a:tabLst>
            </a:pPr>
            <a:r>
              <a:rPr sz="1000" b="1" spc="-5" dirty="0">
                <a:latin typeface="微软雅黑"/>
                <a:cs typeface="微软雅黑"/>
              </a:rPr>
              <a:t>不考虑空间位置	像素的类别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57768" y="3056508"/>
            <a:ext cx="20320" cy="3175"/>
          </a:xfrm>
          <a:custGeom>
            <a:avLst/>
            <a:gdLst/>
            <a:ahLst/>
            <a:cxnLst/>
            <a:rect l="l" t="t" r="r" b="b"/>
            <a:pathLst>
              <a:path w="20320" h="3175">
                <a:moveTo>
                  <a:pt x="0" y="3047"/>
                </a:moveTo>
                <a:lnTo>
                  <a:pt x="19812" y="3047"/>
                </a:lnTo>
                <a:lnTo>
                  <a:pt x="19812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07197" y="2990468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This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imag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CC0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public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69587" y="1178940"/>
            <a:ext cx="1424939" cy="1211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9"/>
                </a:moveTo>
                <a:lnTo>
                  <a:pt x="684403" y="613029"/>
                </a:lnTo>
                <a:lnTo>
                  <a:pt x="721106" y="709168"/>
                </a:lnTo>
                <a:lnTo>
                  <a:pt x="806704" y="769366"/>
                </a:lnTo>
                <a:lnTo>
                  <a:pt x="855472" y="727201"/>
                </a:lnTo>
                <a:lnTo>
                  <a:pt x="858266" y="657987"/>
                </a:lnTo>
                <a:lnTo>
                  <a:pt x="841607" y="613029"/>
                </a:lnTo>
                <a:close/>
              </a:path>
              <a:path w="1094105" h="769619">
                <a:moveTo>
                  <a:pt x="1091235" y="480822"/>
                </a:moveTo>
                <a:lnTo>
                  <a:pt x="971677" y="480822"/>
                </a:lnTo>
                <a:lnTo>
                  <a:pt x="947166" y="589026"/>
                </a:lnTo>
                <a:lnTo>
                  <a:pt x="1032764" y="631063"/>
                </a:lnTo>
                <a:lnTo>
                  <a:pt x="1093851" y="570992"/>
                </a:lnTo>
                <a:lnTo>
                  <a:pt x="1093851" y="498856"/>
                </a:lnTo>
                <a:lnTo>
                  <a:pt x="1091235" y="480822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3"/>
                </a:lnTo>
                <a:lnTo>
                  <a:pt x="427736" y="258444"/>
                </a:lnTo>
                <a:lnTo>
                  <a:pt x="537718" y="324485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4"/>
                </a:lnTo>
                <a:lnTo>
                  <a:pt x="684403" y="613029"/>
                </a:lnTo>
                <a:lnTo>
                  <a:pt x="841607" y="613029"/>
                </a:lnTo>
                <a:lnTo>
                  <a:pt x="837184" y="601091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2"/>
                </a:lnTo>
                <a:lnTo>
                  <a:pt x="1091235" y="480822"/>
                </a:lnTo>
                <a:lnTo>
                  <a:pt x="1081659" y="414781"/>
                </a:lnTo>
                <a:lnTo>
                  <a:pt x="1038860" y="360680"/>
                </a:lnTo>
                <a:lnTo>
                  <a:pt x="1063371" y="312547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3"/>
                </a:lnTo>
                <a:lnTo>
                  <a:pt x="647827" y="102235"/>
                </a:lnTo>
                <a:lnTo>
                  <a:pt x="672211" y="204343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5"/>
                </a:lnTo>
                <a:lnTo>
                  <a:pt x="788289" y="102235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4"/>
                </a:moveTo>
                <a:lnTo>
                  <a:pt x="40259" y="127126"/>
                </a:lnTo>
                <a:lnTo>
                  <a:pt x="0" y="174244"/>
                </a:lnTo>
                <a:lnTo>
                  <a:pt x="73279" y="192278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4"/>
                </a:lnTo>
                <a:lnTo>
                  <a:pt x="244475" y="108204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5"/>
                </a:lnTo>
                <a:lnTo>
                  <a:pt x="1090434" y="102235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4"/>
                </a:lnTo>
                <a:lnTo>
                  <a:pt x="464439" y="174244"/>
                </a:lnTo>
                <a:lnTo>
                  <a:pt x="617220" y="222376"/>
                </a:lnTo>
                <a:lnTo>
                  <a:pt x="672211" y="204343"/>
                </a:lnTo>
                <a:lnTo>
                  <a:pt x="647827" y="102235"/>
                </a:lnTo>
                <a:lnTo>
                  <a:pt x="647827" y="24003"/>
                </a:lnTo>
                <a:lnTo>
                  <a:pt x="684403" y="18033"/>
                </a:lnTo>
                <a:lnTo>
                  <a:pt x="788289" y="102235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7"/>
                </a:lnTo>
                <a:lnTo>
                  <a:pt x="1038860" y="360680"/>
                </a:lnTo>
                <a:lnTo>
                  <a:pt x="1081659" y="414781"/>
                </a:lnTo>
                <a:lnTo>
                  <a:pt x="1093851" y="498856"/>
                </a:lnTo>
                <a:lnTo>
                  <a:pt x="1093851" y="570992"/>
                </a:lnTo>
                <a:lnTo>
                  <a:pt x="1032764" y="631063"/>
                </a:lnTo>
                <a:lnTo>
                  <a:pt x="947166" y="589026"/>
                </a:lnTo>
                <a:lnTo>
                  <a:pt x="971677" y="480822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1"/>
                </a:lnTo>
                <a:lnTo>
                  <a:pt x="858266" y="657987"/>
                </a:lnTo>
                <a:lnTo>
                  <a:pt x="855472" y="727201"/>
                </a:lnTo>
                <a:lnTo>
                  <a:pt x="806704" y="769366"/>
                </a:lnTo>
                <a:lnTo>
                  <a:pt x="721106" y="709168"/>
                </a:lnTo>
                <a:lnTo>
                  <a:pt x="684403" y="613029"/>
                </a:lnTo>
                <a:lnTo>
                  <a:pt x="598932" y="625094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5"/>
                </a:lnTo>
                <a:lnTo>
                  <a:pt x="427736" y="258444"/>
                </a:lnTo>
                <a:lnTo>
                  <a:pt x="262763" y="204343"/>
                </a:lnTo>
                <a:lnTo>
                  <a:pt x="164973" y="180339"/>
                </a:lnTo>
                <a:lnTo>
                  <a:pt x="73279" y="192278"/>
                </a:lnTo>
                <a:lnTo>
                  <a:pt x="0" y="174244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63110" y="1174083"/>
            <a:ext cx="1443863" cy="1216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9"/>
                </a:moveTo>
                <a:lnTo>
                  <a:pt x="684403" y="613029"/>
                </a:lnTo>
                <a:lnTo>
                  <a:pt x="721106" y="709168"/>
                </a:lnTo>
                <a:lnTo>
                  <a:pt x="806704" y="769366"/>
                </a:lnTo>
                <a:lnTo>
                  <a:pt x="855472" y="727201"/>
                </a:lnTo>
                <a:lnTo>
                  <a:pt x="858266" y="657987"/>
                </a:lnTo>
                <a:lnTo>
                  <a:pt x="841607" y="613029"/>
                </a:lnTo>
                <a:close/>
              </a:path>
              <a:path w="1094105" h="769619">
                <a:moveTo>
                  <a:pt x="1091235" y="480822"/>
                </a:moveTo>
                <a:lnTo>
                  <a:pt x="971677" y="480822"/>
                </a:lnTo>
                <a:lnTo>
                  <a:pt x="947166" y="589026"/>
                </a:lnTo>
                <a:lnTo>
                  <a:pt x="1032764" y="631063"/>
                </a:lnTo>
                <a:lnTo>
                  <a:pt x="1093851" y="570992"/>
                </a:lnTo>
                <a:lnTo>
                  <a:pt x="1093851" y="498856"/>
                </a:lnTo>
                <a:lnTo>
                  <a:pt x="1091235" y="480822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3"/>
                </a:lnTo>
                <a:lnTo>
                  <a:pt x="427736" y="258444"/>
                </a:lnTo>
                <a:lnTo>
                  <a:pt x="537718" y="324485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4"/>
                </a:lnTo>
                <a:lnTo>
                  <a:pt x="684403" y="613029"/>
                </a:lnTo>
                <a:lnTo>
                  <a:pt x="841607" y="613029"/>
                </a:lnTo>
                <a:lnTo>
                  <a:pt x="837184" y="601091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2"/>
                </a:lnTo>
                <a:lnTo>
                  <a:pt x="1091235" y="480822"/>
                </a:lnTo>
                <a:lnTo>
                  <a:pt x="1081659" y="414781"/>
                </a:lnTo>
                <a:lnTo>
                  <a:pt x="1038860" y="360680"/>
                </a:lnTo>
                <a:lnTo>
                  <a:pt x="1063371" y="312547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3"/>
                </a:lnTo>
                <a:lnTo>
                  <a:pt x="647827" y="102235"/>
                </a:lnTo>
                <a:lnTo>
                  <a:pt x="672211" y="204343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5"/>
                </a:lnTo>
                <a:lnTo>
                  <a:pt x="788289" y="102235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4"/>
                </a:moveTo>
                <a:lnTo>
                  <a:pt x="40259" y="127126"/>
                </a:lnTo>
                <a:lnTo>
                  <a:pt x="0" y="174244"/>
                </a:lnTo>
                <a:lnTo>
                  <a:pt x="73279" y="192278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4"/>
                </a:lnTo>
                <a:lnTo>
                  <a:pt x="244475" y="108204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5"/>
                </a:lnTo>
                <a:lnTo>
                  <a:pt x="1090434" y="102235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13783" y="1424304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4"/>
                </a:lnTo>
                <a:lnTo>
                  <a:pt x="464439" y="174244"/>
                </a:lnTo>
                <a:lnTo>
                  <a:pt x="617220" y="222376"/>
                </a:lnTo>
                <a:lnTo>
                  <a:pt x="672211" y="204343"/>
                </a:lnTo>
                <a:lnTo>
                  <a:pt x="647827" y="102235"/>
                </a:lnTo>
                <a:lnTo>
                  <a:pt x="647827" y="24003"/>
                </a:lnTo>
                <a:lnTo>
                  <a:pt x="684403" y="18033"/>
                </a:lnTo>
                <a:lnTo>
                  <a:pt x="788289" y="102235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7"/>
                </a:lnTo>
                <a:lnTo>
                  <a:pt x="1038860" y="360680"/>
                </a:lnTo>
                <a:lnTo>
                  <a:pt x="1081659" y="414781"/>
                </a:lnTo>
                <a:lnTo>
                  <a:pt x="1093851" y="498856"/>
                </a:lnTo>
                <a:lnTo>
                  <a:pt x="1093851" y="570992"/>
                </a:lnTo>
                <a:lnTo>
                  <a:pt x="1032764" y="631063"/>
                </a:lnTo>
                <a:lnTo>
                  <a:pt x="947166" y="589026"/>
                </a:lnTo>
                <a:lnTo>
                  <a:pt x="971677" y="480822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1"/>
                </a:lnTo>
                <a:lnTo>
                  <a:pt x="858266" y="657987"/>
                </a:lnTo>
                <a:lnTo>
                  <a:pt x="855472" y="727201"/>
                </a:lnTo>
                <a:lnTo>
                  <a:pt x="806704" y="769366"/>
                </a:lnTo>
                <a:lnTo>
                  <a:pt x="721106" y="709168"/>
                </a:lnTo>
                <a:lnTo>
                  <a:pt x="684403" y="613029"/>
                </a:lnTo>
                <a:lnTo>
                  <a:pt x="598932" y="625094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5"/>
                </a:lnTo>
                <a:lnTo>
                  <a:pt x="427736" y="258444"/>
                </a:lnTo>
                <a:lnTo>
                  <a:pt x="262763" y="204343"/>
                </a:lnTo>
                <a:lnTo>
                  <a:pt x="164973" y="180339"/>
                </a:lnTo>
                <a:lnTo>
                  <a:pt x="73279" y="192278"/>
                </a:lnTo>
                <a:lnTo>
                  <a:pt x="0" y="174244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4" y="76962"/>
                </a:moveTo>
                <a:lnTo>
                  <a:pt x="0" y="133477"/>
                </a:lnTo>
                <a:lnTo>
                  <a:pt x="0" y="758698"/>
                </a:lnTo>
                <a:lnTo>
                  <a:pt x="1412240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2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9" y="160655"/>
                </a:lnTo>
                <a:lnTo>
                  <a:pt x="473964" y="76962"/>
                </a:lnTo>
                <a:close/>
              </a:path>
              <a:path w="1421764" h="758825">
                <a:moveTo>
                  <a:pt x="981202" y="332867"/>
                </a:moveTo>
                <a:lnTo>
                  <a:pt x="895477" y="369824"/>
                </a:lnTo>
                <a:lnTo>
                  <a:pt x="902589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6"/>
                </a:lnTo>
                <a:lnTo>
                  <a:pt x="1078865" y="463296"/>
                </a:lnTo>
                <a:lnTo>
                  <a:pt x="964565" y="416560"/>
                </a:lnTo>
                <a:lnTo>
                  <a:pt x="981202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40" y="160655"/>
                </a:lnTo>
                <a:lnTo>
                  <a:pt x="1166876" y="286131"/>
                </a:lnTo>
                <a:lnTo>
                  <a:pt x="1162177" y="386969"/>
                </a:lnTo>
                <a:lnTo>
                  <a:pt x="1078865" y="463296"/>
                </a:lnTo>
                <a:lnTo>
                  <a:pt x="1416141" y="463296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5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5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75683" y="1622424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7"/>
                </a:moveTo>
                <a:lnTo>
                  <a:pt x="473964" y="76962"/>
                </a:lnTo>
                <a:lnTo>
                  <a:pt x="559689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2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9" y="421513"/>
                </a:lnTo>
                <a:lnTo>
                  <a:pt x="895477" y="369824"/>
                </a:lnTo>
                <a:lnTo>
                  <a:pt x="981202" y="332867"/>
                </a:lnTo>
                <a:lnTo>
                  <a:pt x="964565" y="416560"/>
                </a:lnTo>
                <a:lnTo>
                  <a:pt x="1078865" y="463296"/>
                </a:lnTo>
                <a:lnTo>
                  <a:pt x="1162177" y="386969"/>
                </a:lnTo>
                <a:lnTo>
                  <a:pt x="1166876" y="286131"/>
                </a:lnTo>
                <a:lnTo>
                  <a:pt x="1107440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5" y="37592"/>
                </a:lnTo>
                <a:lnTo>
                  <a:pt x="1412240" y="758698"/>
                </a:lnTo>
                <a:lnTo>
                  <a:pt x="0" y="758698"/>
                </a:lnTo>
                <a:lnTo>
                  <a:pt x="0" y="133477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58469" y="217424"/>
                </a:moveTo>
                <a:lnTo>
                  <a:pt x="326389" y="268731"/>
                </a:lnTo>
                <a:lnTo>
                  <a:pt x="2412" y="305688"/>
                </a:lnTo>
                <a:lnTo>
                  <a:pt x="0" y="529970"/>
                </a:lnTo>
                <a:lnTo>
                  <a:pt x="426465" y="483107"/>
                </a:lnTo>
                <a:lnTo>
                  <a:pt x="218350" y="426465"/>
                </a:lnTo>
                <a:lnTo>
                  <a:pt x="109600" y="426465"/>
                </a:lnTo>
                <a:lnTo>
                  <a:pt x="16637" y="394462"/>
                </a:lnTo>
                <a:lnTo>
                  <a:pt x="78612" y="327787"/>
                </a:lnTo>
                <a:lnTo>
                  <a:pt x="300227" y="315468"/>
                </a:lnTo>
                <a:lnTo>
                  <a:pt x="676674" y="315468"/>
                </a:lnTo>
                <a:lnTo>
                  <a:pt x="669670" y="274955"/>
                </a:lnTo>
                <a:lnTo>
                  <a:pt x="698459" y="239140"/>
                </a:lnTo>
                <a:lnTo>
                  <a:pt x="609853" y="239140"/>
                </a:lnTo>
                <a:lnTo>
                  <a:pt x="458469" y="217424"/>
                </a:lnTo>
                <a:close/>
              </a:path>
              <a:path w="1420495" h="530225">
                <a:moveTo>
                  <a:pt x="1416670" y="204596"/>
                </a:moveTo>
                <a:lnTo>
                  <a:pt x="1072133" y="204596"/>
                </a:lnTo>
                <a:lnTo>
                  <a:pt x="1150746" y="236600"/>
                </a:lnTo>
                <a:lnTo>
                  <a:pt x="1149603" y="396748"/>
                </a:lnTo>
                <a:lnTo>
                  <a:pt x="1248410" y="409194"/>
                </a:lnTo>
                <a:lnTo>
                  <a:pt x="1257935" y="438785"/>
                </a:lnTo>
                <a:lnTo>
                  <a:pt x="1412875" y="438785"/>
                </a:lnTo>
                <a:lnTo>
                  <a:pt x="1416670" y="204596"/>
                </a:lnTo>
                <a:close/>
              </a:path>
              <a:path w="1420495" h="530225">
                <a:moveTo>
                  <a:pt x="200151" y="421513"/>
                </a:moveTo>
                <a:lnTo>
                  <a:pt x="109600" y="426465"/>
                </a:lnTo>
                <a:lnTo>
                  <a:pt x="218350" y="426465"/>
                </a:lnTo>
                <a:lnTo>
                  <a:pt x="200151" y="421513"/>
                </a:lnTo>
                <a:close/>
              </a:path>
              <a:path w="1420495" h="530225">
                <a:moveTo>
                  <a:pt x="676674" y="315468"/>
                </a:moveTo>
                <a:lnTo>
                  <a:pt x="300227" y="315468"/>
                </a:lnTo>
                <a:lnTo>
                  <a:pt x="657606" y="418973"/>
                </a:lnTo>
                <a:lnTo>
                  <a:pt x="693293" y="411606"/>
                </a:lnTo>
                <a:lnTo>
                  <a:pt x="676674" y="315468"/>
                </a:lnTo>
                <a:close/>
              </a:path>
              <a:path w="1420495" h="530225">
                <a:moveTo>
                  <a:pt x="1054979" y="221869"/>
                </a:moveTo>
                <a:lnTo>
                  <a:pt x="712343" y="221869"/>
                </a:lnTo>
                <a:lnTo>
                  <a:pt x="743331" y="229235"/>
                </a:lnTo>
                <a:lnTo>
                  <a:pt x="843407" y="303149"/>
                </a:lnTo>
                <a:lnTo>
                  <a:pt x="979169" y="298195"/>
                </a:lnTo>
                <a:lnTo>
                  <a:pt x="1054979" y="221869"/>
                </a:lnTo>
                <a:close/>
              </a:path>
              <a:path w="1420495" h="530225">
                <a:moveTo>
                  <a:pt x="1419987" y="0"/>
                </a:moveTo>
                <a:lnTo>
                  <a:pt x="1341374" y="49275"/>
                </a:lnTo>
                <a:lnTo>
                  <a:pt x="1279398" y="68961"/>
                </a:lnTo>
                <a:lnTo>
                  <a:pt x="1148333" y="81407"/>
                </a:lnTo>
                <a:lnTo>
                  <a:pt x="717169" y="204596"/>
                </a:lnTo>
                <a:lnTo>
                  <a:pt x="609853" y="239140"/>
                </a:lnTo>
                <a:lnTo>
                  <a:pt x="698459" y="239140"/>
                </a:lnTo>
                <a:lnTo>
                  <a:pt x="712343" y="221869"/>
                </a:lnTo>
                <a:lnTo>
                  <a:pt x="1054979" y="221869"/>
                </a:lnTo>
                <a:lnTo>
                  <a:pt x="1072133" y="204596"/>
                </a:lnTo>
                <a:lnTo>
                  <a:pt x="1416670" y="204596"/>
                </a:lnTo>
                <a:lnTo>
                  <a:pt x="1419987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72635" y="1206372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26465" y="483107"/>
                </a:moveTo>
                <a:lnTo>
                  <a:pt x="0" y="529970"/>
                </a:lnTo>
                <a:lnTo>
                  <a:pt x="2412" y="305688"/>
                </a:lnTo>
                <a:lnTo>
                  <a:pt x="326389" y="268731"/>
                </a:lnTo>
                <a:lnTo>
                  <a:pt x="458469" y="217424"/>
                </a:lnTo>
                <a:lnTo>
                  <a:pt x="609853" y="239140"/>
                </a:lnTo>
                <a:lnTo>
                  <a:pt x="717169" y="204596"/>
                </a:lnTo>
                <a:lnTo>
                  <a:pt x="1148333" y="81407"/>
                </a:lnTo>
                <a:lnTo>
                  <a:pt x="1279398" y="68961"/>
                </a:lnTo>
                <a:lnTo>
                  <a:pt x="1341374" y="49275"/>
                </a:lnTo>
                <a:lnTo>
                  <a:pt x="1419987" y="0"/>
                </a:lnTo>
                <a:lnTo>
                  <a:pt x="1412875" y="438785"/>
                </a:lnTo>
                <a:lnTo>
                  <a:pt x="1257935" y="438785"/>
                </a:lnTo>
                <a:lnTo>
                  <a:pt x="1248410" y="409194"/>
                </a:lnTo>
                <a:lnTo>
                  <a:pt x="1149603" y="396748"/>
                </a:lnTo>
                <a:lnTo>
                  <a:pt x="1150746" y="236600"/>
                </a:lnTo>
                <a:lnTo>
                  <a:pt x="1072133" y="204596"/>
                </a:lnTo>
                <a:lnTo>
                  <a:pt x="979169" y="298195"/>
                </a:lnTo>
                <a:lnTo>
                  <a:pt x="843407" y="303149"/>
                </a:lnTo>
                <a:lnTo>
                  <a:pt x="743331" y="229235"/>
                </a:lnTo>
                <a:lnTo>
                  <a:pt x="712343" y="221869"/>
                </a:lnTo>
                <a:lnTo>
                  <a:pt x="669670" y="274955"/>
                </a:lnTo>
                <a:lnTo>
                  <a:pt x="693293" y="411606"/>
                </a:lnTo>
                <a:lnTo>
                  <a:pt x="657606" y="418973"/>
                </a:lnTo>
                <a:lnTo>
                  <a:pt x="300227" y="315468"/>
                </a:lnTo>
                <a:lnTo>
                  <a:pt x="78612" y="327787"/>
                </a:lnTo>
                <a:lnTo>
                  <a:pt x="16637" y="394462"/>
                </a:lnTo>
                <a:lnTo>
                  <a:pt x="109600" y="426465"/>
                </a:lnTo>
                <a:lnTo>
                  <a:pt x="200151" y="421513"/>
                </a:lnTo>
                <a:lnTo>
                  <a:pt x="426465" y="483107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77207" y="1180464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0"/>
                </a:moveTo>
                <a:lnTo>
                  <a:pt x="0" y="320040"/>
                </a:lnTo>
                <a:lnTo>
                  <a:pt x="309753" y="280543"/>
                </a:lnTo>
                <a:lnTo>
                  <a:pt x="452755" y="221487"/>
                </a:lnTo>
                <a:lnTo>
                  <a:pt x="674262" y="221487"/>
                </a:lnTo>
                <a:lnTo>
                  <a:pt x="1119886" y="91059"/>
                </a:lnTo>
                <a:lnTo>
                  <a:pt x="1308100" y="68961"/>
                </a:lnTo>
                <a:lnTo>
                  <a:pt x="1408176" y="4953"/>
                </a:lnTo>
                <a:lnTo>
                  <a:pt x="0" y="0"/>
                </a:lnTo>
                <a:close/>
              </a:path>
              <a:path w="1408430" h="320040">
                <a:moveTo>
                  <a:pt x="674262" y="221487"/>
                </a:moveTo>
                <a:lnTo>
                  <a:pt x="452755" y="221487"/>
                </a:lnTo>
                <a:lnTo>
                  <a:pt x="581406" y="248666"/>
                </a:lnTo>
                <a:lnTo>
                  <a:pt x="674262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77969" y="1181226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320040"/>
                </a:moveTo>
                <a:lnTo>
                  <a:pt x="0" y="0"/>
                </a:lnTo>
                <a:lnTo>
                  <a:pt x="1408176" y="4953"/>
                </a:lnTo>
                <a:lnTo>
                  <a:pt x="1308100" y="68961"/>
                </a:lnTo>
                <a:lnTo>
                  <a:pt x="1119886" y="91059"/>
                </a:lnTo>
                <a:lnTo>
                  <a:pt x="581406" y="248666"/>
                </a:lnTo>
                <a:lnTo>
                  <a:pt x="452755" y="221488"/>
                </a:lnTo>
                <a:lnTo>
                  <a:pt x="309753" y="280543"/>
                </a:lnTo>
                <a:lnTo>
                  <a:pt x="0" y="320040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919" y="709548"/>
            <a:ext cx="3041015" cy="2416810"/>
          </a:xfrm>
          <a:custGeom>
            <a:avLst/>
            <a:gdLst/>
            <a:ahLst/>
            <a:cxnLst/>
            <a:rect l="l" t="t" r="r" b="b"/>
            <a:pathLst>
              <a:path w="3041015" h="2416810">
                <a:moveTo>
                  <a:pt x="0" y="2416810"/>
                </a:moveTo>
                <a:lnTo>
                  <a:pt x="3040634" y="2416810"/>
                </a:lnTo>
                <a:lnTo>
                  <a:pt x="3040634" y="0"/>
                </a:lnTo>
                <a:lnTo>
                  <a:pt x="0" y="0"/>
                </a:lnTo>
                <a:lnTo>
                  <a:pt x="0" y="2416810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82284" y="709548"/>
            <a:ext cx="1485265" cy="1984375"/>
          </a:xfrm>
          <a:custGeom>
            <a:avLst/>
            <a:gdLst/>
            <a:ahLst/>
            <a:cxnLst/>
            <a:rect l="l" t="t" r="r" b="b"/>
            <a:pathLst>
              <a:path w="1485264" h="1984375">
                <a:moveTo>
                  <a:pt x="0" y="1984375"/>
                </a:moveTo>
                <a:lnTo>
                  <a:pt x="1484884" y="1984375"/>
                </a:lnTo>
                <a:lnTo>
                  <a:pt x="1484884" y="0"/>
                </a:lnTo>
                <a:lnTo>
                  <a:pt x="0" y="0"/>
                </a:lnTo>
                <a:lnTo>
                  <a:pt x="0" y="1984375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6080" y="484775"/>
            <a:ext cx="3182112" cy="2624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469" y="1603137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目标检测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6710" y="1614075"/>
            <a:ext cx="506095" cy="1670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000" b="1" spc="-5" dirty="0">
                <a:latin typeface="微软雅黑"/>
                <a:cs typeface="微软雅黑"/>
              </a:rPr>
              <a:t>实例分割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9136" y="1932575"/>
            <a:ext cx="1001268" cy="859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8796" y="1932575"/>
            <a:ext cx="1007363" cy="8656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5392" y="2295287"/>
            <a:ext cx="337185" cy="502920"/>
          </a:xfrm>
          <a:custGeom>
            <a:avLst/>
            <a:gdLst/>
            <a:ahLst/>
            <a:cxnLst/>
            <a:rect l="l" t="t" r="r" b="b"/>
            <a:pathLst>
              <a:path w="337185" h="502919">
                <a:moveTo>
                  <a:pt x="328694" y="293497"/>
                </a:moveTo>
                <a:lnTo>
                  <a:pt x="99440" y="293497"/>
                </a:lnTo>
                <a:lnTo>
                  <a:pt x="82931" y="369570"/>
                </a:lnTo>
                <a:lnTo>
                  <a:pt x="96774" y="454660"/>
                </a:lnTo>
                <a:lnTo>
                  <a:pt x="79375" y="502793"/>
                </a:lnTo>
                <a:lnTo>
                  <a:pt x="162306" y="501776"/>
                </a:lnTo>
                <a:lnTo>
                  <a:pt x="143890" y="415671"/>
                </a:lnTo>
                <a:lnTo>
                  <a:pt x="170941" y="389636"/>
                </a:lnTo>
                <a:lnTo>
                  <a:pt x="222376" y="386588"/>
                </a:lnTo>
                <a:lnTo>
                  <a:pt x="312578" y="386588"/>
                </a:lnTo>
                <a:lnTo>
                  <a:pt x="314959" y="380619"/>
                </a:lnTo>
                <a:lnTo>
                  <a:pt x="300100" y="329438"/>
                </a:lnTo>
                <a:lnTo>
                  <a:pt x="328694" y="293497"/>
                </a:lnTo>
                <a:close/>
              </a:path>
              <a:path w="337185" h="502919">
                <a:moveTo>
                  <a:pt x="312578" y="386588"/>
                </a:moveTo>
                <a:lnTo>
                  <a:pt x="222376" y="386588"/>
                </a:lnTo>
                <a:lnTo>
                  <a:pt x="236346" y="416560"/>
                </a:lnTo>
                <a:lnTo>
                  <a:pt x="191896" y="496697"/>
                </a:lnTo>
                <a:lnTo>
                  <a:pt x="267843" y="498729"/>
                </a:lnTo>
                <a:lnTo>
                  <a:pt x="312578" y="386588"/>
                </a:lnTo>
                <a:close/>
              </a:path>
              <a:path w="337185" h="502919">
                <a:moveTo>
                  <a:pt x="29718" y="183261"/>
                </a:moveTo>
                <a:lnTo>
                  <a:pt x="3556" y="189229"/>
                </a:lnTo>
                <a:lnTo>
                  <a:pt x="0" y="273430"/>
                </a:lnTo>
                <a:lnTo>
                  <a:pt x="51434" y="300482"/>
                </a:lnTo>
                <a:lnTo>
                  <a:pt x="99440" y="293497"/>
                </a:lnTo>
                <a:lnTo>
                  <a:pt x="328694" y="293497"/>
                </a:lnTo>
                <a:lnTo>
                  <a:pt x="336676" y="283464"/>
                </a:lnTo>
                <a:lnTo>
                  <a:pt x="320166" y="251332"/>
                </a:lnTo>
                <a:lnTo>
                  <a:pt x="319587" y="242316"/>
                </a:lnTo>
                <a:lnTo>
                  <a:pt x="86359" y="242316"/>
                </a:lnTo>
                <a:lnTo>
                  <a:pt x="29718" y="183261"/>
                </a:lnTo>
                <a:close/>
              </a:path>
              <a:path w="337185" h="502919">
                <a:moveTo>
                  <a:pt x="96012" y="11049"/>
                </a:moveTo>
                <a:lnTo>
                  <a:pt x="83693" y="45085"/>
                </a:lnTo>
                <a:lnTo>
                  <a:pt x="96012" y="66040"/>
                </a:lnTo>
                <a:lnTo>
                  <a:pt x="73278" y="146176"/>
                </a:lnTo>
                <a:lnTo>
                  <a:pt x="109855" y="186308"/>
                </a:lnTo>
                <a:lnTo>
                  <a:pt x="86359" y="242316"/>
                </a:lnTo>
                <a:lnTo>
                  <a:pt x="319587" y="242316"/>
                </a:lnTo>
                <a:lnTo>
                  <a:pt x="314959" y="170306"/>
                </a:lnTo>
                <a:lnTo>
                  <a:pt x="304419" y="160274"/>
                </a:lnTo>
                <a:lnTo>
                  <a:pt x="315721" y="124205"/>
                </a:lnTo>
                <a:lnTo>
                  <a:pt x="292226" y="100202"/>
                </a:lnTo>
                <a:lnTo>
                  <a:pt x="284352" y="71120"/>
                </a:lnTo>
                <a:lnTo>
                  <a:pt x="288797" y="30988"/>
                </a:lnTo>
                <a:lnTo>
                  <a:pt x="282298" y="26035"/>
                </a:lnTo>
                <a:lnTo>
                  <a:pt x="239902" y="26035"/>
                </a:lnTo>
                <a:lnTo>
                  <a:pt x="228350" y="18033"/>
                </a:lnTo>
                <a:lnTo>
                  <a:pt x="140462" y="18033"/>
                </a:lnTo>
                <a:lnTo>
                  <a:pt x="96012" y="11049"/>
                </a:lnTo>
                <a:close/>
              </a:path>
              <a:path w="337185" h="502919">
                <a:moveTo>
                  <a:pt x="259969" y="9017"/>
                </a:moveTo>
                <a:lnTo>
                  <a:pt x="239902" y="26035"/>
                </a:lnTo>
                <a:lnTo>
                  <a:pt x="282298" y="26035"/>
                </a:lnTo>
                <a:lnTo>
                  <a:pt x="259969" y="9017"/>
                </a:lnTo>
                <a:close/>
              </a:path>
              <a:path w="337185" h="502919">
                <a:moveTo>
                  <a:pt x="202310" y="0"/>
                </a:moveTo>
                <a:lnTo>
                  <a:pt x="154431" y="5969"/>
                </a:lnTo>
                <a:lnTo>
                  <a:pt x="140462" y="18033"/>
                </a:lnTo>
                <a:lnTo>
                  <a:pt x="228350" y="18033"/>
                </a:lnTo>
                <a:lnTo>
                  <a:pt x="2023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6154" y="2296049"/>
            <a:ext cx="337185" cy="502920"/>
          </a:xfrm>
          <a:custGeom>
            <a:avLst/>
            <a:gdLst/>
            <a:ahLst/>
            <a:cxnLst/>
            <a:rect l="l" t="t" r="r" b="b"/>
            <a:pathLst>
              <a:path w="337185" h="502919">
                <a:moveTo>
                  <a:pt x="96012" y="66039"/>
                </a:moveTo>
                <a:lnTo>
                  <a:pt x="73278" y="146176"/>
                </a:lnTo>
                <a:lnTo>
                  <a:pt x="109854" y="186308"/>
                </a:lnTo>
                <a:lnTo>
                  <a:pt x="86359" y="242315"/>
                </a:lnTo>
                <a:lnTo>
                  <a:pt x="29718" y="183260"/>
                </a:lnTo>
                <a:lnTo>
                  <a:pt x="3556" y="189229"/>
                </a:lnTo>
                <a:lnTo>
                  <a:pt x="0" y="273430"/>
                </a:lnTo>
                <a:lnTo>
                  <a:pt x="51434" y="300481"/>
                </a:lnTo>
                <a:lnTo>
                  <a:pt x="99440" y="293496"/>
                </a:lnTo>
                <a:lnTo>
                  <a:pt x="82931" y="369569"/>
                </a:lnTo>
                <a:lnTo>
                  <a:pt x="96773" y="454659"/>
                </a:lnTo>
                <a:lnTo>
                  <a:pt x="79375" y="502792"/>
                </a:lnTo>
                <a:lnTo>
                  <a:pt x="162306" y="501776"/>
                </a:lnTo>
                <a:lnTo>
                  <a:pt x="143890" y="415670"/>
                </a:lnTo>
                <a:lnTo>
                  <a:pt x="170941" y="389635"/>
                </a:lnTo>
                <a:lnTo>
                  <a:pt x="222376" y="386587"/>
                </a:lnTo>
                <a:lnTo>
                  <a:pt x="236346" y="416559"/>
                </a:lnTo>
                <a:lnTo>
                  <a:pt x="191896" y="496696"/>
                </a:lnTo>
                <a:lnTo>
                  <a:pt x="267843" y="498728"/>
                </a:lnTo>
                <a:lnTo>
                  <a:pt x="314959" y="380618"/>
                </a:lnTo>
                <a:lnTo>
                  <a:pt x="300100" y="329437"/>
                </a:lnTo>
                <a:lnTo>
                  <a:pt x="336676" y="283463"/>
                </a:lnTo>
                <a:lnTo>
                  <a:pt x="320166" y="251332"/>
                </a:lnTo>
                <a:lnTo>
                  <a:pt x="314959" y="170306"/>
                </a:lnTo>
                <a:lnTo>
                  <a:pt x="304419" y="160274"/>
                </a:lnTo>
                <a:lnTo>
                  <a:pt x="315721" y="124205"/>
                </a:lnTo>
                <a:lnTo>
                  <a:pt x="292226" y="100202"/>
                </a:lnTo>
                <a:lnTo>
                  <a:pt x="284352" y="71119"/>
                </a:lnTo>
                <a:lnTo>
                  <a:pt x="288797" y="30987"/>
                </a:lnTo>
                <a:lnTo>
                  <a:pt x="259969" y="9016"/>
                </a:lnTo>
                <a:lnTo>
                  <a:pt x="239902" y="26034"/>
                </a:lnTo>
                <a:lnTo>
                  <a:pt x="202310" y="0"/>
                </a:lnTo>
                <a:lnTo>
                  <a:pt x="154431" y="5968"/>
                </a:lnTo>
                <a:lnTo>
                  <a:pt x="140462" y="18033"/>
                </a:lnTo>
                <a:lnTo>
                  <a:pt x="96012" y="11049"/>
                </a:lnTo>
                <a:lnTo>
                  <a:pt x="83693" y="45084"/>
                </a:lnTo>
                <a:lnTo>
                  <a:pt x="96012" y="66039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4764" y="2357771"/>
            <a:ext cx="178435" cy="391795"/>
          </a:xfrm>
          <a:custGeom>
            <a:avLst/>
            <a:gdLst/>
            <a:ahLst/>
            <a:cxnLst/>
            <a:rect l="l" t="t" r="r" b="b"/>
            <a:pathLst>
              <a:path w="178435" h="391794">
                <a:moveTo>
                  <a:pt x="149860" y="291846"/>
                </a:moveTo>
                <a:lnTo>
                  <a:pt x="56642" y="291846"/>
                </a:lnTo>
                <a:lnTo>
                  <a:pt x="104140" y="300736"/>
                </a:lnTo>
                <a:lnTo>
                  <a:pt x="72136" y="373888"/>
                </a:lnTo>
                <a:lnTo>
                  <a:pt x="99568" y="391668"/>
                </a:lnTo>
                <a:lnTo>
                  <a:pt x="142494" y="380619"/>
                </a:lnTo>
                <a:lnTo>
                  <a:pt x="129667" y="340614"/>
                </a:lnTo>
                <a:lnTo>
                  <a:pt x="149860" y="307340"/>
                </a:lnTo>
                <a:lnTo>
                  <a:pt x="149860" y="291846"/>
                </a:lnTo>
                <a:close/>
              </a:path>
              <a:path w="178435" h="391794">
                <a:moveTo>
                  <a:pt x="85852" y="0"/>
                </a:moveTo>
                <a:lnTo>
                  <a:pt x="50292" y="25527"/>
                </a:lnTo>
                <a:lnTo>
                  <a:pt x="24637" y="194183"/>
                </a:lnTo>
                <a:lnTo>
                  <a:pt x="42925" y="217424"/>
                </a:lnTo>
                <a:lnTo>
                  <a:pt x="27431" y="241935"/>
                </a:lnTo>
                <a:lnTo>
                  <a:pt x="14605" y="278511"/>
                </a:lnTo>
                <a:lnTo>
                  <a:pt x="18287" y="304038"/>
                </a:lnTo>
                <a:lnTo>
                  <a:pt x="0" y="361696"/>
                </a:lnTo>
                <a:lnTo>
                  <a:pt x="49275" y="353949"/>
                </a:lnTo>
                <a:lnTo>
                  <a:pt x="45719" y="299593"/>
                </a:lnTo>
                <a:lnTo>
                  <a:pt x="56642" y="291846"/>
                </a:lnTo>
                <a:lnTo>
                  <a:pt x="149860" y="291846"/>
                </a:lnTo>
                <a:lnTo>
                  <a:pt x="149860" y="248539"/>
                </a:lnTo>
                <a:lnTo>
                  <a:pt x="175387" y="196342"/>
                </a:lnTo>
                <a:lnTo>
                  <a:pt x="175387" y="123190"/>
                </a:lnTo>
                <a:lnTo>
                  <a:pt x="178181" y="67691"/>
                </a:lnTo>
                <a:lnTo>
                  <a:pt x="151637" y="47752"/>
                </a:lnTo>
                <a:lnTo>
                  <a:pt x="137033" y="12192"/>
                </a:lnTo>
                <a:lnTo>
                  <a:pt x="8585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34764" y="2357771"/>
            <a:ext cx="178435" cy="391795"/>
          </a:xfrm>
          <a:custGeom>
            <a:avLst/>
            <a:gdLst/>
            <a:ahLst/>
            <a:cxnLst/>
            <a:rect l="l" t="t" r="r" b="b"/>
            <a:pathLst>
              <a:path w="178435" h="391794">
                <a:moveTo>
                  <a:pt x="24637" y="194183"/>
                </a:moveTo>
                <a:lnTo>
                  <a:pt x="50292" y="25527"/>
                </a:lnTo>
                <a:lnTo>
                  <a:pt x="85852" y="0"/>
                </a:lnTo>
                <a:lnTo>
                  <a:pt x="137033" y="12192"/>
                </a:lnTo>
                <a:lnTo>
                  <a:pt x="151637" y="47752"/>
                </a:lnTo>
                <a:lnTo>
                  <a:pt x="178181" y="67691"/>
                </a:lnTo>
                <a:lnTo>
                  <a:pt x="175387" y="123190"/>
                </a:lnTo>
                <a:lnTo>
                  <a:pt x="175387" y="196342"/>
                </a:lnTo>
                <a:lnTo>
                  <a:pt x="149860" y="248539"/>
                </a:lnTo>
                <a:lnTo>
                  <a:pt x="149860" y="307340"/>
                </a:lnTo>
                <a:lnTo>
                  <a:pt x="129667" y="340614"/>
                </a:lnTo>
                <a:lnTo>
                  <a:pt x="142494" y="380619"/>
                </a:lnTo>
                <a:lnTo>
                  <a:pt x="99568" y="391668"/>
                </a:lnTo>
                <a:lnTo>
                  <a:pt x="72136" y="373888"/>
                </a:lnTo>
                <a:lnTo>
                  <a:pt x="104140" y="300736"/>
                </a:lnTo>
                <a:lnTo>
                  <a:pt x="56642" y="291846"/>
                </a:lnTo>
                <a:lnTo>
                  <a:pt x="45719" y="299593"/>
                </a:lnTo>
                <a:lnTo>
                  <a:pt x="49275" y="353949"/>
                </a:lnTo>
                <a:lnTo>
                  <a:pt x="0" y="361696"/>
                </a:lnTo>
                <a:lnTo>
                  <a:pt x="18287" y="304038"/>
                </a:lnTo>
                <a:lnTo>
                  <a:pt x="14605" y="278511"/>
                </a:lnTo>
                <a:lnTo>
                  <a:pt x="27431" y="241935"/>
                </a:lnTo>
                <a:lnTo>
                  <a:pt x="42925" y="217424"/>
                </a:lnTo>
                <a:lnTo>
                  <a:pt x="24637" y="194183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96307" y="2299859"/>
            <a:ext cx="151130" cy="342900"/>
          </a:xfrm>
          <a:custGeom>
            <a:avLst/>
            <a:gdLst/>
            <a:ahLst/>
            <a:cxnLst/>
            <a:rect l="l" t="t" r="r" b="b"/>
            <a:pathLst>
              <a:path w="151130" h="342900">
                <a:moveTo>
                  <a:pt x="41783" y="0"/>
                </a:moveTo>
                <a:lnTo>
                  <a:pt x="41783" y="27813"/>
                </a:lnTo>
                <a:lnTo>
                  <a:pt x="15493" y="97917"/>
                </a:lnTo>
                <a:lnTo>
                  <a:pt x="30861" y="261493"/>
                </a:lnTo>
                <a:lnTo>
                  <a:pt x="17272" y="272669"/>
                </a:lnTo>
                <a:lnTo>
                  <a:pt x="0" y="311530"/>
                </a:lnTo>
                <a:lnTo>
                  <a:pt x="36322" y="313816"/>
                </a:lnTo>
                <a:lnTo>
                  <a:pt x="23622" y="333755"/>
                </a:lnTo>
                <a:lnTo>
                  <a:pt x="41783" y="342773"/>
                </a:lnTo>
                <a:lnTo>
                  <a:pt x="79883" y="340487"/>
                </a:lnTo>
                <a:lnTo>
                  <a:pt x="95533" y="340487"/>
                </a:lnTo>
                <a:lnTo>
                  <a:pt x="127000" y="328295"/>
                </a:lnTo>
                <a:lnTo>
                  <a:pt x="120650" y="280415"/>
                </a:lnTo>
                <a:lnTo>
                  <a:pt x="138811" y="210311"/>
                </a:lnTo>
                <a:lnTo>
                  <a:pt x="150622" y="133476"/>
                </a:lnTo>
                <a:lnTo>
                  <a:pt x="124333" y="37846"/>
                </a:lnTo>
                <a:lnTo>
                  <a:pt x="123829" y="18923"/>
                </a:lnTo>
                <a:lnTo>
                  <a:pt x="103505" y="18923"/>
                </a:lnTo>
                <a:lnTo>
                  <a:pt x="65278" y="13334"/>
                </a:lnTo>
                <a:lnTo>
                  <a:pt x="41783" y="0"/>
                </a:lnTo>
                <a:close/>
              </a:path>
              <a:path w="151130" h="342900">
                <a:moveTo>
                  <a:pt x="95533" y="340487"/>
                </a:moveTo>
                <a:lnTo>
                  <a:pt x="79883" y="340487"/>
                </a:lnTo>
                <a:lnTo>
                  <a:pt x="92583" y="341629"/>
                </a:lnTo>
                <a:lnTo>
                  <a:pt x="95533" y="340487"/>
                </a:lnTo>
                <a:close/>
              </a:path>
              <a:path w="151130" h="342900">
                <a:moveTo>
                  <a:pt x="123443" y="4445"/>
                </a:moveTo>
                <a:lnTo>
                  <a:pt x="103505" y="18923"/>
                </a:lnTo>
                <a:lnTo>
                  <a:pt x="123829" y="18923"/>
                </a:lnTo>
                <a:lnTo>
                  <a:pt x="123443" y="444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97070" y="2300621"/>
            <a:ext cx="151130" cy="342900"/>
          </a:xfrm>
          <a:custGeom>
            <a:avLst/>
            <a:gdLst/>
            <a:ahLst/>
            <a:cxnLst/>
            <a:rect l="l" t="t" r="r" b="b"/>
            <a:pathLst>
              <a:path w="151130" h="342900">
                <a:moveTo>
                  <a:pt x="15493" y="97917"/>
                </a:moveTo>
                <a:lnTo>
                  <a:pt x="41782" y="27813"/>
                </a:lnTo>
                <a:lnTo>
                  <a:pt x="41782" y="0"/>
                </a:lnTo>
                <a:lnTo>
                  <a:pt x="65278" y="13335"/>
                </a:lnTo>
                <a:lnTo>
                  <a:pt x="103505" y="18923"/>
                </a:lnTo>
                <a:lnTo>
                  <a:pt x="123443" y="4445"/>
                </a:lnTo>
                <a:lnTo>
                  <a:pt x="124332" y="37846"/>
                </a:lnTo>
                <a:lnTo>
                  <a:pt x="150622" y="133477"/>
                </a:lnTo>
                <a:lnTo>
                  <a:pt x="138811" y="210312"/>
                </a:lnTo>
                <a:lnTo>
                  <a:pt x="120650" y="280416"/>
                </a:lnTo>
                <a:lnTo>
                  <a:pt x="127000" y="328295"/>
                </a:lnTo>
                <a:lnTo>
                  <a:pt x="92582" y="341630"/>
                </a:lnTo>
                <a:lnTo>
                  <a:pt x="79882" y="340487"/>
                </a:lnTo>
                <a:lnTo>
                  <a:pt x="41782" y="342773"/>
                </a:lnTo>
                <a:lnTo>
                  <a:pt x="23622" y="333756"/>
                </a:lnTo>
                <a:lnTo>
                  <a:pt x="36322" y="313817"/>
                </a:lnTo>
                <a:lnTo>
                  <a:pt x="0" y="311531"/>
                </a:lnTo>
                <a:lnTo>
                  <a:pt x="17272" y="272669"/>
                </a:lnTo>
                <a:lnTo>
                  <a:pt x="30861" y="261493"/>
                </a:lnTo>
                <a:lnTo>
                  <a:pt x="15493" y="97917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6468" y="153559"/>
            <a:ext cx="279463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67765" algn="l"/>
              </a:tabLst>
            </a:pPr>
            <a:r>
              <a:rPr sz="1850" b="1" spc="20" dirty="0">
                <a:latin typeface="微软雅黑"/>
                <a:cs typeface="微软雅黑"/>
              </a:rPr>
              <a:t>目标检</a:t>
            </a:r>
            <a:r>
              <a:rPr sz="1850" b="1" spc="15" dirty="0">
                <a:latin typeface="微软雅黑"/>
                <a:cs typeface="微软雅黑"/>
              </a:rPr>
              <a:t>测</a:t>
            </a:r>
            <a:r>
              <a:rPr sz="1850" b="1" spc="5" dirty="0">
                <a:latin typeface="微软雅黑"/>
                <a:cs typeface="微软雅黑"/>
              </a:rPr>
              <a:t>:	</a:t>
            </a:r>
            <a:r>
              <a:rPr sz="1850" b="1" spc="-5" dirty="0">
                <a:latin typeface="微软雅黑"/>
                <a:cs typeface="微软雅黑"/>
              </a:rPr>
              <a:t>Faster</a:t>
            </a:r>
            <a:r>
              <a:rPr sz="1850" b="1" spc="-110" dirty="0">
                <a:latin typeface="微软雅黑"/>
                <a:cs typeface="微软雅黑"/>
              </a:rPr>
              <a:t> </a:t>
            </a:r>
            <a:r>
              <a:rPr sz="1850" b="1" spc="10" dirty="0">
                <a:latin typeface="微软雅黑"/>
                <a:cs typeface="微软雅黑"/>
              </a:rPr>
              <a:t>R-CNN</a:t>
            </a:r>
            <a:endParaRPr sz="185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87648" y="1632347"/>
            <a:ext cx="1085215" cy="1411605"/>
          </a:xfrm>
          <a:custGeom>
            <a:avLst/>
            <a:gdLst/>
            <a:ahLst/>
            <a:cxnLst/>
            <a:rect l="l" t="t" r="r" b="b"/>
            <a:pathLst>
              <a:path w="1085214" h="1411605">
                <a:moveTo>
                  <a:pt x="0" y="1411096"/>
                </a:moveTo>
                <a:lnTo>
                  <a:pt x="1085037" y="1411096"/>
                </a:lnTo>
                <a:lnTo>
                  <a:pt x="1085037" y="0"/>
                </a:lnTo>
                <a:lnTo>
                  <a:pt x="0" y="0"/>
                </a:lnTo>
                <a:lnTo>
                  <a:pt x="0" y="1411096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6080" y="506856"/>
            <a:ext cx="3182112" cy="2624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46899" y="826896"/>
            <a:ext cx="659765" cy="281940"/>
          </a:xfrm>
          <a:custGeom>
            <a:avLst/>
            <a:gdLst/>
            <a:ahLst/>
            <a:cxnLst/>
            <a:rect l="l" t="t" r="r" b="b"/>
            <a:pathLst>
              <a:path w="659764" h="281940">
                <a:moveTo>
                  <a:pt x="548894" y="0"/>
                </a:moveTo>
                <a:lnTo>
                  <a:pt x="560577" y="43687"/>
                </a:lnTo>
                <a:lnTo>
                  <a:pt x="0" y="194183"/>
                </a:lnTo>
                <a:lnTo>
                  <a:pt x="23495" y="281686"/>
                </a:lnTo>
                <a:lnTo>
                  <a:pt x="584073" y="131190"/>
                </a:lnTo>
                <a:lnTo>
                  <a:pt x="620928" y="131190"/>
                </a:lnTo>
                <a:lnTo>
                  <a:pt x="659638" y="64008"/>
                </a:lnTo>
                <a:lnTo>
                  <a:pt x="548894" y="0"/>
                </a:lnTo>
                <a:close/>
              </a:path>
              <a:path w="659764" h="281940">
                <a:moveTo>
                  <a:pt x="620928" y="131190"/>
                </a:moveTo>
                <a:lnTo>
                  <a:pt x="584073" y="131190"/>
                </a:lnTo>
                <a:lnTo>
                  <a:pt x="595757" y="174878"/>
                </a:lnTo>
                <a:lnTo>
                  <a:pt x="620928" y="131190"/>
                </a:lnTo>
                <a:close/>
              </a:path>
            </a:pathLst>
          </a:custGeom>
          <a:solidFill>
            <a:srgbClr val="EFC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42605" y="748410"/>
            <a:ext cx="966469" cy="212090"/>
          </a:xfrm>
          <a:prstGeom prst="rect">
            <a:avLst/>
          </a:prstGeom>
          <a:ln w="4761">
            <a:solidFill>
              <a:srgbClr val="E69138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545"/>
              </a:spcBef>
            </a:pPr>
            <a:r>
              <a:rPr sz="900" spc="20" dirty="0">
                <a:solidFill>
                  <a:srgbClr val="E69138"/>
                </a:solidFill>
                <a:latin typeface="Arial"/>
                <a:cs typeface="Arial"/>
              </a:rPr>
              <a:t>Mask</a:t>
            </a:r>
            <a:r>
              <a:rPr sz="900" spc="-45" dirty="0">
                <a:solidFill>
                  <a:srgbClr val="E69138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E69138"/>
                </a:solidFill>
                <a:latin typeface="Arial"/>
                <a:cs typeface="Arial"/>
              </a:rPr>
              <a:t>Prediction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31" y="2995294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et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al,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“Mask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5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7410" y="1435684"/>
            <a:ext cx="1311910" cy="8521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75"/>
              </a:spcBef>
            </a:pPr>
            <a:r>
              <a:rPr sz="1050" spc="5" dirty="0">
                <a:latin typeface="Arial"/>
                <a:cs typeface="Arial"/>
              </a:rPr>
              <a:t>Add </a:t>
            </a:r>
            <a:r>
              <a:rPr sz="1050" spc="10" dirty="0">
                <a:latin typeface="Arial"/>
                <a:cs typeface="Arial"/>
              </a:rPr>
              <a:t>a </a:t>
            </a:r>
            <a:r>
              <a:rPr sz="1050" spc="5" dirty="0">
                <a:latin typeface="Arial"/>
                <a:cs typeface="Arial"/>
              </a:rPr>
              <a:t>small mask  </a:t>
            </a:r>
            <a:r>
              <a:rPr sz="1050" dirty="0">
                <a:latin typeface="Arial"/>
                <a:cs typeface="Arial"/>
              </a:rPr>
              <a:t>network </a:t>
            </a:r>
            <a:r>
              <a:rPr sz="1050" spc="5" dirty="0">
                <a:latin typeface="Arial"/>
                <a:cs typeface="Arial"/>
              </a:rPr>
              <a:t>that</a:t>
            </a:r>
            <a:r>
              <a:rPr sz="1050" spc="-1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operates  on </a:t>
            </a:r>
            <a:r>
              <a:rPr sz="1050" spc="5" dirty="0">
                <a:latin typeface="Arial"/>
                <a:cs typeface="Arial"/>
              </a:rPr>
              <a:t>each RoI </a:t>
            </a:r>
            <a:r>
              <a:rPr sz="1050" dirty="0">
                <a:latin typeface="Arial"/>
                <a:cs typeface="Arial"/>
              </a:rPr>
              <a:t>and  predicts </a:t>
            </a:r>
            <a:r>
              <a:rPr sz="1050" spc="5" dirty="0">
                <a:latin typeface="Arial"/>
                <a:cs typeface="Arial"/>
              </a:rPr>
              <a:t>a </a:t>
            </a:r>
            <a:r>
              <a:rPr sz="1050" dirty="0">
                <a:latin typeface="Arial"/>
                <a:cs typeface="Arial"/>
              </a:rPr>
              <a:t>28x28  binary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5" dirty="0">
                <a:latin typeface="Arial"/>
                <a:cs typeface="Arial"/>
              </a:rPr>
              <a:t>mask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169" y="1631585"/>
            <a:ext cx="506095" cy="1670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000" b="1" spc="-5" dirty="0">
                <a:latin typeface="微软雅黑"/>
                <a:cs typeface="微软雅黑"/>
              </a:rPr>
              <a:t>目标检测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009" y="1631695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实例分割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135" y="1954656"/>
            <a:ext cx="1001268" cy="859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28795" y="1954656"/>
            <a:ext cx="1007363" cy="8656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5391" y="2317368"/>
            <a:ext cx="337185" cy="502920"/>
          </a:xfrm>
          <a:custGeom>
            <a:avLst/>
            <a:gdLst/>
            <a:ahLst/>
            <a:cxnLst/>
            <a:rect l="l" t="t" r="r" b="b"/>
            <a:pathLst>
              <a:path w="337185" h="502919">
                <a:moveTo>
                  <a:pt x="328694" y="293497"/>
                </a:moveTo>
                <a:lnTo>
                  <a:pt x="99440" y="293497"/>
                </a:lnTo>
                <a:lnTo>
                  <a:pt x="82931" y="369569"/>
                </a:lnTo>
                <a:lnTo>
                  <a:pt x="96774" y="454660"/>
                </a:lnTo>
                <a:lnTo>
                  <a:pt x="79375" y="502793"/>
                </a:lnTo>
                <a:lnTo>
                  <a:pt x="162306" y="501777"/>
                </a:lnTo>
                <a:lnTo>
                  <a:pt x="143890" y="415671"/>
                </a:lnTo>
                <a:lnTo>
                  <a:pt x="170941" y="389636"/>
                </a:lnTo>
                <a:lnTo>
                  <a:pt x="222376" y="386588"/>
                </a:lnTo>
                <a:lnTo>
                  <a:pt x="312578" y="386588"/>
                </a:lnTo>
                <a:lnTo>
                  <a:pt x="314959" y="380619"/>
                </a:lnTo>
                <a:lnTo>
                  <a:pt x="300100" y="329438"/>
                </a:lnTo>
                <a:lnTo>
                  <a:pt x="328694" y="293497"/>
                </a:lnTo>
                <a:close/>
              </a:path>
              <a:path w="337185" h="502919">
                <a:moveTo>
                  <a:pt x="312578" y="386588"/>
                </a:moveTo>
                <a:lnTo>
                  <a:pt x="222376" y="386588"/>
                </a:lnTo>
                <a:lnTo>
                  <a:pt x="236346" y="416560"/>
                </a:lnTo>
                <a:lnTo>
                  <a:pt x="191896" y="496697"/>
                </a:lnTo>
                <a:lnTo>
                  <a:pt x="267843" y="498729"/>
                </a:lnTo>
                <a:lnTo>
                  <a:pt x="312578" y="386588"/>
                </a:lnTo>
                <a:close/>
              </a:path>
              <a:path w="337185" h="502919">
                <a:moveTo>
                  <a:pt x="29718" y="183261"/>
                </a:moveTo>
                <a:lnTo>
                  <a:pt x="3556" y="189230"/>
                </a:lnTo>
                <a:lnTo>
                  <a:pt x="0" y="273431"/>
                </a:lnTo>
                <a:lnTo>
                  <a:pt x="51434" y="300481"/>
                </a:lnTo>
                <a:lnTo>
                  <a:pt x="99440" y="293497"/>
                </a:lnTo>
                <a:lnTo>
                  <a:pt x="328694" y="293497"/>
                </a:lnTo>
                <a:lnTo>
                  <a:pt x="336676" y="283464"/>
                </a:lnTo>
                <a:lnTo>
                  <a:pt x="320166" y="251333"/>
                </a:lnTo>
                <a:lnTo>
                  <a:pt x="319587" y="242316"/>
                </a:lnTo>
                <a:lnTo>
                  <a:pt x="86359" y="242316"/>
                </a:lnTo>
                <a:lnTo>
                  <a:pt x="29718" y="183261"/>
                </a:lnTo>
                <a:close/>
              </a:path>
              <a:path w="337185" h="502919">
                <a:moveTo>
                  <a:pt x="96012" y="11049"/>
                </a:moveTo>
                <a:lnTo>
                  <a:pt x="83693" y="45085"/>
                </a:lnTo>
                <a:lnTo>
                  <a:pt x="96012" y="66040"/>
                </a:lnTo>
                <a:lnTo>
                  <a:pt x="73278" y="146177"/>
                </a:lnTo>
                <a:lnTo>
                  <a:pt x="109855" y="186309"/>
                </a:lnTo>
                <a:lnTo>
                  <a:pt x="86359" y="242316"/>
                </a:lnTo>
                <a:lnTo>
                  <a:pt x="319587" y="242316"/>
                </a:lnTo>
                <a:lnTo>
                  <a:pt x="314959" y="170306"/>
                </a:lnTo>
                <a:lnTo>
                  <a:pt x="304419" y="160274"/>
                </a:lnTo>
                <a:lnTo>
                  <a:pt x="315721" y="124206"/>
                </a:lnTo>
                <a:lnTo>
                  <a:pt x="292226" y="100203"/>
                </a:lnTo>
                <a:lnTo>
                  <a:pt x="284352" y="71119"/>
                </a:lnTo>
                <a:lnTo>
                  <a:pt x="288797" y="30987"/>
                </a:lnTo>
                <a:lnTo>
                  <a:pt x="282298" y="26035"/>
                </a:lnTo>
                <a:lnTo>
                  <a:pt x="239902" y="26035"/>
                </a:lnTo>
                <a:lnTo>
                  <a:pt x="228350" y="18034"/>
                </a:lnTo>
                <a:lnTo>
                  <a:pt x="140462" y="18034"/>
                </a:lnTo>
                <a:lnTo>
                  <a:pt x="96012" y="11049"/>
                </a:lnTo>
                <a:close/>
              </a:path>
              <a:path w="337185" h="502919">
                <a:moveTo>
                  <a:pt x="259969" y="9017"/>
                </a:moveTo>
                <a:lnTo>
                  <a:pt x="239902" y="26035"/>
                </a:lnTo>
                <a:lnTo>
                  <a:pt x="282298" y="26035"/>
                </a:lnTo>
                <a:lnTo>
                  <a:pt x="259969" y="9017"/>
                </a:lnTo>
                <a:close/>
              </a:path>
              <a:path w="337185" h="502919">
                <a:moveTo>
                  <a:pt x="202310" y="0"/>
                </a:moveTo>
                <a:lnTo>
                  <a:pt x="154431" y="5968"/>
                </a:lnTo>
                <a:lnTo>
                  <a:pt x="140462" y="18034"/>
                </a:lnTo>
                <a:lnTo>
                  <a:pt x="228350" y="18034"/>
                </a:lnTo>
                <a:lnTo>
                  <a:pt x="2023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6153" y="2318130"/>
            <a:ext cx="337185" cy="502920"/>
          </a:xfrm>
          <a:custGeom>
            <a:avLst/>
            <a:gdLst/>
            <a:ahLst/>
            <a:cxnLst/>
            <a:rect l="l" t="t" r="r" b="b"/>
            <a:pathLst>
              <a:path w="337185" h="502919">
                <a:moveTo>
                  <a:pt x="96012" y="66040"/>
                </a:moveTo>
                <a:lnTo>
                  <a:pt x="73278" y="146177"/>
                </a:lnTo>
                <a:lnTo>
                  <a:pt x="109854" y="186309"/>
                </a:lnTo>
                <a:lnTo>
                  <a:pt x="86359" y="242316"/>
                </a:lnTo>
                <a:lnTo>
                  <a:pt x="29718" y="183261"/>
                </a:lnTo>
                <a:lnTo>
                  <a:pt x="3556" y="189230"/>
                </a:lnTo>
                <a:lnTo>
                  <a:pt x="0" y="273431"/>
                </a:lnTo>
                <a:lnTo>
                  <a:pt x="51434" y="300481"/>
                </a:lnTo>
                <a:lnTo>
                  <a:pt x="99440" y="293497"/>
                </a:lnTo>
                <a:lnTo>
                  <a:pt x="82931" y="369569"/>
                </a:lnTo>
                <a:lnTo>
                  <a:pt x="96773" y="454660"/>
                </a:lnTo>
                <a:lnTo>
                  <a:pt x="79375" y="502793"/>
                </a:lnTo>
                <a:lnTo>
                  <a:pt x="162306" y="501777"/>
                </a:lnTo>
                <a:lnTo>
                  <a:pt x="143890" y="415671"/>
                </a:lnTo>
                <a:lnTo>
                  <a:pt x="170941" y="389636"/>
                </a:lnTo>
                <a:lnTo>
                  <a:pt x="222376" y="386588"/>
                </a:lnTo>
                <a:lnTo>
                  <a:pt x="236346" y="416560"/>
                </a:lnTo>
                <a:lnTo>
                  <a:pt x="191896" y="496697"/>
                </a:lnTo>
                <a:lnTo>
                  <a:pt x="267843" y="498729"/>
                </a:lnTo>
                <a:lnTo>
                  <a:pt x="314959" y="380619"/>
                </a:lnTo>
                <a:lnTo>
                  <a:pt x="300100" y="329438"/>
                </a:lnTo>
                <a:lnTo>
                  <a:pt x="336676" y="283463"/>
                </a:lnTo>
                <a:lnTo>
                  <a:pt x="320166" y="251332"/>
                </a:lnTo>
                <a:lnTo>
                  <a:pt x="314959" y="170306"/>
                </a:lnTo>
                <a:lnTo>
                  <a:pt x="304419" y="160274"/>
                </a:lnTo>
                <a:lnTo>
                  <a:pt x="315721" y="124206"/>
                </a:lnTo>
                <a:lnTo>
                  <a:pt x="292226" y="100203"/>
                </a:lnTo>
                <a:lnTo>
                  <a:pt x="284352" y="71119"/>
                </a:lnTo>
                <a:lnTo>
                  <a:pt x="288797" y="30987"/>
                </a:lnTo>
                <a:lnTo>
                  <a:pt x="259969" y="9017"/>
                </a:lnTo>
                <a:lnTo>
                  <a:pt x="239902" y="26035"/>
                </a:lnTo>
                <a:lnTo>
                  <a:pt x="202310" y="0"/>
                </a:lnTo>
                <a:lnTo>
                  <a:pt x="154431" y="5968"/>
                </a:lnTo>
                <a:lnTo>
                  <a:pt x="140462" y="18034"/>
                </a:lnTo>
                <a:lnTo>
                  <a:pt x="96012" y="11049"/>
                </a:lnTo>
                <a:lnTo>
                  <a:pt x="83693" y="45085"/>
                </a:lnTo>
                <a:lnTo>
                  <a:pt x="96012" y="6604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34763" y="2379852"/>
            <a:ext cx="178435" cy="391795"/>
          </a:xfrm>
          <a:custGeom>
            <a:avLst/>
            <a:gdLst/>
            <a:ahLst/>
            <a:cxnLst/>
            <a:rect l="l" t="t" r="r" b="b"/>
            <a:pathLst>
              <a:path w="178435" h="391794">
                <a:moveTo>
                  <a:pt x="149860" y="291845"/>
                </a:moveTo>
                <a:lnTo>
                  <a:pt x="56642" y="291845"/>
                </a:lnTo>
                <a:lnTo>
                  <a:pt x="104140" y="300735"/>
                </a:lnTo>
                <a:lnTo>
                  <a:pt x="72136" y="373888"/>
                </a:lnTo>
                <a:lnTo>
                  <a:pt x="99568" y="391668"/>
                </a:lnTo>
                <a:lnTo>
                  <a:pt x="142494" y="380619"/>
                </a:lnTo>
                <a:lnTo>
                  <a:pt x="129667" y="340613"/>
                </a:lnTo>
                <a:lnTo>
                  <a:pt x="149860" y="307339"/>
                </a:lnTo>
                <a:lnTo>
                  <a:pt x="149860" y="291845"/>
                </a:lnTo>
                <a:close/>
              </a:path>
              <a:path w="178435" h="391794">
                <a:moveTo>
                  <a:pt x="85852" y="0"/>
                </a:moveTo>
                <a:lnTo>
                  <a:pt x="50292" y="25526"/>
                </a:lnTo>
                <a:lnTo>
                  <a:pt x="24637" y="194182"/>
                </a:lnTo>
                <a:lnTo>
                  <a:pt x="42925" y="217424"/>
                </a:lnTo>
                <a:lnTo>
                  <a:pt x="27431" y="241934"/>
                </a:lnTo>
                <a:lnTo>
                  <a:pt x="14605" y="278510"/>
                </a:lnTo>
                <a:lnTo>
                  <a:pt x="18287" y="304038"/>
                </a:lnTo>
                <a:lnTo>
                  <a:pt x="0" y="361695"/>
                </a:lnTo>
                <a:lnTo>
                  <a:pt x="49275" y="353949"/>
                </a:lnTo>
                <a:lnTo>
                  <a:pt x="45719" y="299593"/>
                </a:lnTo>
                <a:lnTo>
                  <a:pt x="56642" y="291845"/>
                </a:lnTo>
                <a:lnTo>
                  <a:pt x="149860" y="291845"/>
                </a:lnTo>
                <a:lnTo>
                  <a:pt x="149860" y="248538"/>
                </a:lnTo>
                <a:lnTo>
                  <a:pt x="175387" y="196341"/>
                </a:lnTo>
                <a:lnTo>
                  <a:pt x="175387" y="123189"/>
                </a:lnTo>
                <a:lnTo>
                  <a:pt x="178181" y="67690"/>
                </a:lnTo>
                <a:lnTo>
                  <a:pt x="151637" y="47751"/>
                </a:lnTo>
                <a:lnTo>
                  <a:pt x="137033" y="12191"/>
                </a:lnTo>
                <a:lnTo>
                  <a:pt x="8585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34763" y="2379852"/>
            <a:ext cx="178435" cy="391795"/>
          </a:xfrm>
          <a:custGeom>
            <a:avLst/>
            <a:gdLst/>
            <a:ahLst/>
            <a:cxnLst/>
            <a:rect l="l" t="t" r="r" b="b"/>
            <a:pathLst>
              <a:path w="178435" h="391794">
                <a:moveTo>
                  <a:pt x="24637" y="194182"/>
                </a:moveTo>
                <a:lnTo>
                  <a:pt x="50292" y="25526"/>
                </a:lnTo>
                <a:lnTo>
                  <a:pt x="85852" y="0"/>
                </a:lnTo>
                <a:lnTo>
                  <a:pt x="137033" y="12191"/>
                </a:lnTo>
                <a:lnTo>
                  <a:pt x="151637" y="47751"/>
                </a:lnTo>
                <a:lnTo>
                  <a:pt x="178181" y="67690"/>
                </a:lnTo>
                <a:lnTo>
                  <a:pt x="175387" y="123189"/>
                </a:lnTo>
                <a:lnTo>
                  <a:pt x="175387" y="196341"/>
                </a:lnTo>
                <a:lnTo>
                  <a:pt x="149860" y="248538"/>
                </a:lnTo>
                <a:lnTo>
                  <a:pt x="149860" y="307339"/>
                </a:lnTo>
                <a:lnTo>
                  <a:pt x="129667" y="340613"/>
                </a:lnTo>
                <a:lnTo>
                  <a:pt x="142494" y="380619"/>
                </a:lnTo>
                <a:lnTo>
                  <a:pt x="99568" y="391668"/>
                </a:lnTo>
                <a:lnTo>
                  <a:pt x="72136" y="373888"/>
                </a:lnTo>
                <a:lnTo>
                  <a:pt x="104140" y="300735"/>
                </a:lnTo>
                <a:lnTo>
                  <a:pt x="56642" y="291845"/>
                </a:lnTo>
                <a:lnTo>
                  <a:pt x="45719" y="299593"/>
                </a:lnTo>
                <a:lnTo>
                  <a:pt x="49275" y="353949"/>
                </a:lnTo>
                <a:lnTo>
                  <a:pt x="0" y="361695"/>
                </a:lnTo>
                <a:lnTo>
                  <a:pt x="18287" y="304038"/>
                </a:lnTo>
                <a:lnTo>
                  <a:pt x="14605" y="278510"/>
                </a:lnTo>
                <a:lnTo>
                  <a:pt x="27431" y="241934"/>
                </a:lnTo>
                <a:lnTo>
                  <a:pt x="42925" y="217424"/>
                </a:lnTo>
                <a:lnTo>
                  <a:pt x="24637" y="194182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96307" y="2321940"/>
            <a:ext cx="151130" cy="342900"/>
          </a:xfrm>
          <a:custGeom>
            <a:avLst/>
            <a:gdLst/>
            <a:ahLst/>
            <a:cxnLst/>
            <a:rect l="l" t="t" r="r" b="b"/>
            <a:pathLst>
              <a:path w="151130" h="342900">
                <a:moveTo>
                  <a:pt x="41783" y="0"/>
                </a:moveTo>
                <a:lnTo>
                  <a:pt x="41783" y="27812"/>
                </a:lnTo>
                <a:lnTo>
                  <a:pt x="15493" y="97917"/>
                </a:lnTo>
                <a:lnTo>
                  <a:pt x="30861" y="261493"/>
                </a:lnTo>
                <a:lnTo>
                  <a:pt x="17272" y="272669"/>
                </a:lnTo>
                <a:lnTo>
                  <a:pt x="0" y="311531"/>
                </a:lnTo>
                <a:lnTo>
                  <a:pt x="36322" y="313817"/>
                </a:lnTo>
                <a:lnTo>
                  <a:pt x="23622" y="333756"/>
                </a:lnTo>
                <a:lnTo>
                  <a:pt x="41783" y="342772"/>
                </a:lnTo>
                <a:lnTo>
                  <a:pt x="79883" y="340487"/>
                </a:lnTo>
                <a:lnTo>
                  <a:pt x="95533" y="340487"/>
                </a:lnTo>
                <a:lnTo>
                  <a:pt x="127000" y="328294"/>
                </a:lnTo>
                <a:lnTo>
                  <a:pt x="120650" y="280415"/>
                </a:lnTo>
                <a:lnTo>
                  <a:pt x="138811" y="210312"/>
                </a:lnTo>
                <a:lnTo>
                  <a:pt x="150622" y="133476"/>
                </a:lnTo>
                <a:lnTo>
                  <a:pt x="124333" y="37845"/>
                </a:lnTo>
                <a:lnTo>
                  <a:pt x="123829" y="18922"/>
                </a:lnTo>
                <a:lnTo>
                  <a:pt x="103505" y="18922"/>
                </a:lnTo>
                <a:lnTo>
                  <a:pt x="65278" y="13334"/>
                </a:lnTo>
                <a:lnTo>
                  <a:pt x="41783" y="0"/>
                </a:lnTo>
                <a:close/>
              </a:path>
              <a:path w="151130" h="342900">
                <a:moveTo>
                  <a:pt x="95533" y="340487"/>
                </a:moveTo>
                <a:lnTo>
                  <a:pt x="79883" y="340487"/>
                </a:lnTo>
                <a:lnTo>
                  <a:pt x="92583" y="341630"/>
                </a:lnTo>
                <a:lnTo>
                  <a:pt x="95533" y="340487"/>
                </a:lnTo>
                <a:close/>
              </a:path>
              <a:path w="151130" h="342900">
                <a:moveTo>
                  <a:pt x="123443" y="4444"/>
                </a:moveTo>
                <a:lnTo>
                  <a:pt x="103505" y="18922"/>
                </a:lnTo>
                <a:lnTo>
                  <a:pt x="123829" y="18922"/>
                </a:lnTo>
                <a:lnTo>
                  <a:pt x="123443" y="444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97069" y="2322702"/>
            <a:ext cx="151130" cy="342900"/>
          </a:xfrm>
          <a:custGeom>
            <a:avLst/>
            <a:gdLst/>
            <a:ahLst/>
            <a:cxnLst/>
            <a:rect l="l" t="t" r="r" b="b"/>
            <a:pathLst>
              <a:path w="151130" h="342900">
                <a:moveTo>
                  <a:pt x="15493" y="97916"/>
                </a:moveTo>
                <a:lnTo>
                  <a:pt x="41782" y="27812"/>
                </a:lnTo>
                <a:lnTo>
                  <a:pt x="41782" y="0"/>
                </a:lnTo>
                <a:lnTo>
                  <a:pt x="65278" y="13334"/>
                </a:lnTo>
                <a:lnTo>
                  <a:pt x="103505" y="18922"/>
                </a:lnTo>
                <a:lnTo>
                  <a:pt x="123443" y="4444"/>
                </a:lnTo>
                <a:lnTo>
                  <a:pt x="124332" y="37845"/>
                </a:lnTo>
                <a:lnTo>
                  <a:pt x="150622" y="133476"/>
                </a:lnTo>
                <a:lnTo>
                  <a:pt x="138811" y="210312"/>
                </a:lnTo>
                <a:lnTo>
                  <a:pt x="120650" y="280415"/>
                </a:lnTo>
                <a:lnTo>
                  <a:pt x="127000" y="328294"/>
                </a:lnTo>
                <a:lnTo>
                  <a:pt x="92582" y="341630"/>
                </a:lnTo>
                <a:lnTo>
                  <a:pt x="79882" y="340487"/>
                </a:lnTo>
                <a:lnTo>
                  <a:pt x="41782" y="342772"/>
                </a:lnTo>
                <a:lnTo>
                  <a:pt x="23622" y="333756"/>
                </a:lnTo>
                <a:lnTo>
                  <a:pt x="36322" y="313816"/>
                </a:lnTo>
                <a:lnTo>
                  <a:pt x="0" y="311531"/>
                </a:lnTo>
                <a:lnTo>
                  <a:pt x="17272" y="272669"/>
                </a:lnTo>
                <a:lnTo>
                  <a:pt x="30861" y="261493"/>
                </a:lnTo>
                <a:lnTo>
                  <a:pt x="15493" y="97916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4939" y="1654479"/>
            <a:ext cx="1085215" cy="1240790"/>
          </a:xfrm>
          <a:custGeom>
            <a:avLst/>
            <a:gdLst/>
            <a:ahLst/>
            <a:cxnLst/>
            <a:rect l="l" t="t" r="r" b="b"/>
            <a:pathLst>
              <a:path w="1085215" h="1240789">
                <a:moveTo>
                  <a:pt x="0" y="1240485"/>
                </a:moveTo>
                <a:lnTo>
                  <a:pt x="1085037" y="1240485"/>
                </a:lnTo>
                <a:lnTo>
                  <a:pt x="1085037" y="0"/>
                </a:lnTo>
                <a:lnTo>
                  <a:pt x="0" y="0"/>
                </a:lnTo>
                <a:lnTo>
                  <a:pt x="0" y="1240485"/>
                </a:lnTo>
                <a:close/>
              </a:path>
            </a:pathLst>
          </a:custGeom>
          <a:solidFill>
            <a:srgbClr val="FFFFF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6468" y="176276"/>
            <a:ext cx="27197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67765" algn="l"/>
              </a:tabLst>
            </a:pPr>
            <a:r>
              <a:rPr b="1" spc="20" dirty="0">
                <a:latin typeface="微软雅黑"/>
                <a:cs typeface="微软雅黑"/>
              </a:rPr>
              <a:t>实例分</a:t>
            </a:r>
            <a:r>
              <a:rPr b="1" spc="15" dirty="0">
                <a:latin typeface="微软雅黑"/>
                <a:cs typeface="微软雅黑"/>
              </a:rPr>
              <a:t>割</a:t>
            </a:r>
            <a:r>
              <a:rPr b="1" spc="5" dirty="0">
                <a:latin typeface="微软雅黑"/>
                <a:cs typeface="微软雅黑"/>
              </a:rPr>
              <a:t>:	</a:t>
            </a:r>
            <a:r>
              <a:rPr b="1" spc="10" dirty="0">
                <a:latin typeface="微软雅黑"/>
                <a:cs typeface="微软雅黑"/>
              </a:rPr>
              <a:t>Mask</a:t>
            </a:r>
            <a:r>
              <a:rPr b="1" spc="-110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R-CNN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1559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10" dirty="0">
                <a:latin typeface="微软雅黑"/>
                <a:cs typeface="微软雅黑"/>
              </a:rPr>
              <a:t>Mask</a:t>
            </a:r>
            <a:r>
              <a:rPr b="1" spc="-145" dirty="0">
                <a:latin typeface="微软雅黑"/>
                <a:cs typeface="微软雅黑"/>
              </a:rPr>
              <a:t> </a:t>
            </a:r>
            <a:r>
              <a:rPr b="1" spc="10" dirty="0">
                <a:latin typeface="微软雅黑"/>
                <a:cs typeface="微软雅黑"/>
              </a:rPr>
              <a:t>R-CNN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32" y="2972324"/>
            <a:ext cx="1082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 </a:t>
            </a:r>
            <a:r>
              <a:rPr sz="500" spc="5" dirty="0">
                <a:latin typeface="Arial"/>
                <a:cs typeface="Arial"/>
              </a:rPr>
              <a:t>et al, </a:t>
            </a:r>
            <a:r>
              <a:rPr sz="500" spc="10" dirty="0">
                <a:latin typeface="Arial"/>
                <a:cs typeface="Arial"/>
              </a:rPr>
              <a:t>“Mask </a:t>
            </a:r>
            <a:r>
              <a:rPr sz="500" spc="15" dirty="0">
                <a:latin typeface="Arial"/>
                <a:cs typeface="Arial"/>
              </a:rPr>
              <a:t>R-CNN”, </a:t>
            </a:r>
            <a:r>
              <a:rPr sz="500" spc="5" dirty="0">
                <a:latin typeface="Arial"/>
                <a:cs typeface="Arial"/>
              </a:rPr>
              <a:t>arXiv</a:t>
            </a:r>
            <a:r>
              <a:rPr sz="500" spc="-114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168" y="1094375"/>
            <a:ext cx="1234440" cy="1060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674" y="1493498"/>
            <a:ext cx="405130" cy="676275"/>
          </a:xfrm>
          <a:custGeom>
            <a:avLst/>
            <a:gdLst/>
            <a:ahLst/>
            <a:cxnLst/>
            <a:rect l="l" t="t" r="r" b="b"/>
            <a:pathLst>
              <a:path w="405130" h="676275">
                <a:moveTo>
                  <a:pt x="0" y="675678"/>
                </a:moveTo>
                <a:lnTo>
                  <a:pt x="404749" y="675678"/>
                </a:lnTo>
                <a:lnTo>
                  <a:pt x="404749" y="0"/>
                </a:lnTo>
                <a:lnTo>
                  <a:pt x="0" y="0"/>
                </a:lnTo>
                <a:lnTo>
                  <a:pt x="0" y="675678"/>
                </a:lnTo>
                <a:close/>
              </a:path>
            </a:pathLst>
          </a:custGeom>
          <a:ln w="14287">
            <a:solidFill>
              <a:srgbClr val="B6D5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0839" y="1531014"/>
            <a:ext cx="276860" cy="486409"/>
          </a:xfrm>
          <a:custGeom>
            <a:avLst/>
            <a:gdLst/>
            <a:ahLst/>
            <a:cxnLst/>
            <a:rect l="l" t="t" r="r" b="b"/>
            <a:pathLst>
              <a:path w="276859" h="486410">
                <a:moveTo>
                  <a:pt x="0" y="485889"/>
                </a:moveTo>
                <a:lnTo>
                  <a:pt x="276694" y="485889"/>
                </a:lnTo>
                <a:lnTo>
                  <a:pt x="276694" y="0"/>
                </a:lnTo>
                <a:lnTo>
                  <a:pt x="0" y="0"/>
                </a:lnTo>
                <a:lnTo>
                  <a:pt x="0" y="485889"/>
                </a:lnTo>
                <a:close/>
              </a:path>
            </a:pathLst>
          </a:custGeom>
          <a:ln w="14287">
            <a:solidFill>
              <a:srgbClr val="B6D5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579" y="1119483"/>
            <a:ext cx="572770" cy="321945"/>
          </a:xfrm>
          <a:custGeom>
            <a:avLst/>
            <a:gdLst/>
            <a:ahLst/>
            <a:cxnLst/>
            <a:rect l="l" t="t" r="r" b="b"/>
            <a:pathLst>
              <a:path w="572769" h="321944">
                <a:moveTo>
                  <a:pt x="0" y="321856"/>
                </a:moveTo>
                <a:lnTo>
                  <a:pt x="572363" y="321856"/>
                </a:lnTo>
                <a:lnTo>
                  <a:pt x="572363" y="0"/>
                </a:lnTo>
                <a:lnTo>
                  <a:pt x="0" y="0"/>
                </a:lnTo>
                <a:lnTo>
                  <a:pt x="0" y="321856"/>
                </a:lnTo>
                <a:close/>
              </a:path>
            </a:pathLst>
          </a:custGeom>
          <a:ln w="14287">
            <a:solidFill>
              <a:srgbClr val="B6D5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60900" y="437531"/>
            <a:ext cx="757555" cy="2060575"/>
          </a:xfrm>
          <a:custGeom>
            <a:avLst/>
            <a:gdLst/>
            <a:ahLst/>
            <a:cxnLst/>
            <a:rect l="l" t="t" r="r" b="b"/>
            <a:pathLst>
              <a:path w="757555" h="2060575">
                <a:moveTo>
                  <a:pt x="757047" y="0"/>
                </a:moveTo>
                <a:lnTo>
                  <a:pt x="0" y="756538"/>
                </a:lnTo>
                <a:lnTo>
                  <a:pt x="0" y="2060194"/>
                </a:lnTo>
                <a:lnTo>
                  <a:pt x="757047" y="1303654"/>
                </a:lnTo>
                <a:lnTo>
                  <a:pt x="757047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4972" y="437531"/>
            <a:ext cx="943610" cy="757555"/>
          </a:xfrm>
          <a:custGeom>
            <a:avLst/>
            <a:gdLst/>
            <a:ahLst/>
            <a:cxnLst/>
            <a:rect l="l" t="t" r="r" b="b"/>
            <a:pathLst>
              <a:path w="943610" h="757555">
                <a:moveTo>
                  <a:pt x="943228" y="0"/>
                </a:moveTo>
                <a:lnTo>
                  <a:pt x="757808" y="0"/>
                </a:lnTo>
                <a:lnTo>
                  <a:pt x="0" y="757047"/>
                </a:lnTo>
                <a:lnTo>
                  <a:pt x="185419" y="757047"/>
                </a:lnTo>
                <a:lnTo>
                  <a:pt x="943228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74972" y="437531"/>
            <a:ext cx="943610" cy="2060575"/>
          </a:xfrm>
          <a:custGeom>
            <a:avLst/>
            <a:gdLst/>
            <a:ahLst/>
            <a:cxnLst/>
            <a:rect l="l" t="t" r="r" b="b"/>
            <a:pathLst>
              <a:path w="943610" h="2060575">
                <a:moveTo>
                  <a:pt x="0" y="756538"/>
                </a:moveTo>
                <a:lnTo>
                  <a:pt x="757808" y="0"/>
                </a:lnTo>
                <a:lnTo>
                  <a:pt x="943228" y="0"/>
                </a:lnTo>
                <a:lnTo>
                  <a:pt x="943228" y="1303654"/>
                </a:lnTo>
                <a:lnTo>
                  <a:pt x="185419" y="2060194"/>
                </a:lnTo>
                <a:lnTo>
                  <a:pt x="0" y="2060194"/>
                </a:lnTo>
                <a:lnTo>
                  <a:pt x="0" y="756538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4972" y="437531"/>
            <a:ext cx="943610" cy="756920"/>
          </a:xfrm>
          <a:custGeom>
            <a:avLst/>
            <a:gdLst/>
            <a:ahLst/>
            <a:cxnLst/>
            <a:rect l="l" t="t" r="r" b="b"/>
            <a:pathLst>
              <a:path w="943610" h="756919">
                <a:moveTo>
                  <a:pt x="0" y="756538"/>
                </a:moveTo>
                <a:lnTo>
                  <a:pt x="185419" y="756538"/>
                </a:lnTo>
                <a:lnTo>
                  <a:pt x="94322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60392" y="1194070"/>
            <a:ext cx="0" cy="1303655"/>
          </a:xfrm>
          <a:custGeom>
            <a:avLst/>
            <a:gdLst/>
            <a:ahLst/>
            <a:cxnLst/>
            <a:rect l="l" t="t" r="r" b="b"/>
            <a:pathLst>
              <a:path h="1303655">
                <a:moveTo>
                  <a:pt x="0" y="0"/>
                </a:moveTo>
                <a:lnTo>
                  <a:pt x="0" y="1303655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53864" y="1322975"/>
            <a:ext cx="237490" cy="934085"/>
          </a:xfrm>
          <a:custGeom>
            <a:avLst/>
            <a:gdLst/>
            <a:ahLst/>
            <a:cxnLst/>
            <a:rect l="l" t="t" r="r" b="b"/>
            <a:pathLst>
              <a:path w="237489" h="934085">
                <a:moveTo>
                  <a:pt x="237490" y="0"/>
                </a:moveTo>
                <a:lnTo>
                  <a:pt x="0" y="234314"/>
                </a:lnTo>
                <a:lnTo>
                  <a:pt x="0" y="933957"/>
                </a:lnTo>
                <a:lnTo>
                  <a:pt x="237490" y="699642"/>
                </a:lnTo>
                <a:lnTo>
                  <a:pt x="23749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53864" y="1322975"/>
            <a:ext cx="237490" cy="934085"/>
          </a:xfrm>
          <a:custGeom>
            <a:avLst/>
            <a:gdLst/>
            <a:ahLst/>
            <a:cxnLst/>
            <a:rect l="l" t="t" r="r" b="b"/>
            <a:pathLst>
              <a:path w="237489" h="934085">
                <a:moveTo>
                  <a:pt x="237490" y="0"/>
                </a:moveTo>
                <a:lnTo>
                  <a:pt x="0" y="234314"/>
                </a:lnTo>
                <a:lnTo>
                  <a:pt x="0" y="933957"/>
                </a:lnTo>
                <a:lnTo>
                  <a:pt x="237490" y="699642"/>
                </a:lnTo>
                <a:lnTo>
                  <a:pt x="23749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05934" y="1507760"/>
            <a:ext cx="0" cy="708660"/>
          </a:xfrm>
          <a:custGeom>
            <a:avLst/>
            <a:gdLst/>
            <a:ahLst/>
            <a:cxnLst/>
            <a:rect l="l" t="t" r="r" b="b"/>
            <a:pathLst>
              <a:path h="708660">
                <a:moveTo>
                  <a:pt x="0" y="0"/>
                </a:moveTo>
                <a:lnTo>
                  <a:pt x="0" y="708659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3084" y="1453785"/>
            <a:ext cx="0" cy="711835"/>
          </a:xfrm>
          <a:custGeom>
            <a:avLst/>
            <a:gdLst/>
            <a:ahLst/>
            <a:cxnLst/>
            <a:rect l="l" t="t" r="r" b="b"/>
            <a:pathLst>
              <a:path h="711835">
                <a:moveTo>
                  <a:pt x="0" y="0"/>
                </a:moveTo>
                <a:lnTo>
                  <a:pt x="0" y="71183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23409" y="1384697"/>
            <a:ext cx="0" cy="707390"/>
          </a:xfrm>
          <a:custGeom>
            <a:avLst/>
            <a:gdLst/>
            <a:ahLst/>
            <a:cxnLst/>
            <a:rect l="l" t="t" r="r" b="b"/>
            <a:pathLst>
              <a:path h="707389">
                <a:moveTo>
                  <a:pt x="0" y="0"/>
                </a:moveTo>
                <a:lnTo>
                  <a:pt x="0" y="707008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57674" y="1478169"/>
            <a:ext cx="233045" cy="177165"/>
          </a:xfrm>
          <a:custGeom>
            <a:avLst/>
            <a:gdLst/>
            <a:ahLst/>
            <a:cxnLst/>
            <a:rect l="l" t="t" r="r" b="b"/>
            <a:pathLst>
              <a:path w="233044" h="177164">
                <a:moveTo>
                  <a:pt x="233044" y="0"/>
                </a:moveTo>
                <a:lnTo>
                  <a:pt x="0" y="1771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57674" y="1630569"/>
            <a:ext cx="233045" cy="177165"/>
          </a:xfrm>
          <a:custGeom>
            <a:avLst/>
            <a:gdLst/>
            <a:ahLst/>
            <a:cxnLst/>
            <a:rect l="l" t="t" r="r" b="b"/>
            <a:pathLst>
              <a:path w="233044" h="177164">
                <a:moveTo>
                  <a:pt x="233044" y="0"/>
                </a:moveTo>
                <a:lnTo>
                  <a:pt x="0" y="1771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57674" y="1782969"/>
            <a:ext cx="233045" cy="177165"/>
          </a:xfrm>
          <a:custGeom>
            <a:avLst/>
            <a:gdLst/>
            <a:ahLst/>
            <a:cxnLst/>
            <a:rect l="l" t="t" r="r" b="b"/>
            <a:pathLst>
              <a:path w="233044" h="177164">
                <a:moveTo>
                  <a:pt x="233044" y="0"/>
                </a:moveTo>
                <a:lnTo>
                  <a:pt x="0" y="1771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57674" y="1935369"/>
            <a:ext cx="233045" cy="177165"/>
          </a:xfrm>
          <a:custGeom>
            <a:avLst/>
            <a:gdLst/>
            <a:ahLst/>
            <a:cxnLst/>
            <a:rect l="l" t="t" r="r" b="b"/>
            <a:pathLst>
              <a:path w="233044" h="177164">
                <a:moveTo>
                  <a:pt x="233044" y="0"/>
                </a:moveTo>
                <a:lnTo>
                  <a:pt x="0" y="177165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11420" y="1891427"/>
            <a:ext cx="656590" cy="0"/>
          </a:xfrm>
          <a:custGeom>
            <a:avLst/>
            <a:gdLst/>
            <a:ahLst/>
            <a:cxnLst/>
            <a:rect l="l" t="t" r="r" b="b"/>
            <a:pathLst>
              <a:path w="656589">
                <a:moveTo>
                  <a:pt x="0" y="0"/>
                </a:moveTo>
                <a:lnTo>
                  <a:pt x="656463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31916" y="1277255"/>
            <a:ext cx="239395" cy="934085"/>
          </a:xfrm>
          <a:custGeom>
            <a:avLst/>
            <a:gdLst/>
            <a:ahLst/>
            <a:cxnLst/>
            <a:rect l="l" t="t" r="r" b="b"/>
            <a:pathLst>
              <a:path w="239395" h="934085">
                <a:moveTo>
                  <a:pt x="239141" y="0"/>
                </a:moveTo>
                <a:lnTo>
                  <a:pt x="0" y="238505"/>
                </a:lnTo>
                <a:lnTo>
                  <a:pt x="0" y="933957"/>
                </a:lnTo>
                <a:lnTo>
                  <a:pt x="239141" y="695325"/>
                </a:lnTo>
                <a:lnTo>
                  <a:pt x="239141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65799" y="1277255"/>
            <a:ext cx="405130" cy="239395"/>
          </a:xfrm>
          <a:custGeom>
            <a:avLst/>
            <a:gdLst/>
            <a:ahLst/>
            <a:cxnLst/>
            <a:rect l="l" t="t" r="r" b="b"/>
            <a:pathLst>
              <a:path w="405129" h="239394">
                <a:moveTo>
                  <a:pt x="405002" y="0"/>
                </a:moveTo>
                <a:lnTo>
                  <a:pt x="238505" y="0"/>
                </a:lnTo>
                <a:lnTo>
                  <a:pt x="0" y="239140"/>
                </a:lnTo>
                <a:lnTo>
                  <a:pt x="166497" y="239140"/>
                </a:lnTo>
                <a:lnTo>
                  <a:pt x="40500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65799" y="1277255"/>
            <a:ext cx="405130" cy="934085"/>
          </a:xfrm>
          <a:custGeom>
            <a:avLst/>
            <a:gdLst/>
            <a:ahLst/>
            <a:cxnLst/>
            <a:rect l="l" t="t" r="r" b="b"/>
            <a:pathLst>
              <a:path w="405129" h="934085">
                <a:moveTo>
                  <a:pt x="0" y="238505"/>
                </a:moveTo>
                <a:lnTo>
                  <a:pt x="238505" y="0"/>
                </a:lnTo>
                <a:lnTo>
                  <a:pt x="405002" y="0"/>
                </a:lnTo>
                <a:lnTo>
                  <a:pt x="405002" y="695325"/>
                </a:lnTo>
                <a:lnTo>
                  <a:pt x="166497" y="933957"/>
                </a:lnTo>
                <a:lnTo>
                  <a:pt x="0" y="933957"/>
                </a:lnTo>
                <a:lnTo>
                  <a:pt x="0" y="238505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65799" y="1277255"/>
            <a:ext cx="405130" cy="238760"/>
          </a:xfrm>
          <a:custGeom>
            <a:avLst/>
            <a:gdLst/>
            <a:ahLst/>
            <a:cxnLst/>
            <a:rect l="l" t="t" r="r" b="b"/>
            <a:pathLst>
              <a:path w="405129" h="238759">
                <a:moveTo>
                  <a:pt x="0" y="238505"/>
                </a:moveTo>
                <a:lnTo>
                  <a:pt x="166497" y="238505"/>
                </a:lnTo>
                <a:lnTo>
                  <a:pt x="405002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32297" y="1515761"/>
            <a:ext cx="0" cy="695960"/>
          </a:xfrm>
          <a:custGeom>
            <a:avLst/>
            <a:gdLst/>
            <a:ahLst/>
            <a:cxnLst/>
            <a:rect l="l" t="t" r="r" b="b"/>
            <a:pathLst>
              <a:path h="695960">
                <a:moveTo>
                  <a:pt x="0" y="0"/>
                </a:moveTo>
                <a:lnTo>
                  <a:pt x="0" y="69545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32678" y="1849771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7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32678" y="1681369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7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32678" y="1494425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7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45199" y="1417082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58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08065" y="1354217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58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83859" y="1479820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6021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61634" y="785765"/>
            <a:ext cx="239395" cy="607695"/>
          </a:xfrm>
          <a:custGeom>
            <a:avLst/>
            <a:gdLst/>
            <a:ahLst/>
            <a:cxnLst/>
            <a:rect l="l" t="t" r="r" b="b"/>
            <a:pathLst>
              <a:path w="239395" h="607694">
                <a:moveTo>
                  <a:pt x="0" y="607695"/>
                </a:moveTo>
                <a:lnTo>
                  <a:pt x="0" y="0"/>
                </a:lnTo>
                <a:lnTo>
                  <a:pt x="239267" y="0"/>
                </a:lnTo>
              </a:path>
            </a:pathLst>
          </a:custGeom>
          <a:ln w="14287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89472" y="743855"/>
            <a:ext cx="106679" cy="80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62168" y="1863995"/>
            <a:ext cx="70103" cy="54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45731" y="1277255"/>
            <a:ext cx="238125" cy="934085"/>
          </a:xfrm>
          <a:custGeom>
            <a:avLst/>
            <a:gdLst/>
            <a:ahLst/>
            <a:cxnLst/>
            <a:rect l="l" t="t" r="r" b="b"/>
            <a:pathLst>
              <a:path w="238125" h="934085">
                <a:moveTo>
                  <a:pt x="237616" y="0"/>
                </a:moveTo>
                <a:lnTo>
                  <a:pt x="0" y="238505"/>
                </a:lnTo>
                <a:lnTo>
                  <a:pt x="0" y="933957"/>
                </a:lnTo>
                <a:lnTo>
                  <a:pt x="237616" y="695325"/>
                </a:lnTo>
                <a:lnTo>
                  <a:pt x="237616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78092" y="1277255"/>
            <a:ext cx="407034" cy="239395"/>
          </a:xfrm>
          <a:custGeom>
            <a:avLst/>
            <a:gdLst/>
            <a:ahLst/>
            <a:cxnLst/>
            <a:rect l="l" t="t" r="r" b="b"/>
            <a:pathLst>
              <a:path w="407035" h="239394">
                <a:moveTo>
                  <a:pt x="406527" y="0"/>
                </a:moveTo>
                <a:lnTo>
                  <a:pt x="239395" y="0"/>
                </a:lnTo>
                <a:lnTo>
                  <a:pt x="0" y="239140"/>
                </a:lnTo>
                <a:lnTo>
                  <a:pt x="167132" y="239140"/>
                </a:lnTo>
                <a:lnTo>
                  <a:pt x="40652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078092" y="1277255"/>
            <a:ext cx="407034" cy="934085"/>
          </a:xfrm>
          <a:custGeom>
            <a:avLst/>
            <a:gdLst/>
            <a:ahLst/>
            <a:cxnLst/>
            <a:rect l="l" t="t" r="r" b="b"/>
            <a:pathLst>
              <a:path w="407035" h="934085">
                <a:moveTo>
                  <a:pt x="0" y="238505"/>
                </a:moveTo>
                <a:lnTo>
                  <a:pt x="239395" y="0"/>
                </a:lnTo>
                <a:lnTo>
                  <a:pt x="406527" y="0"/>
                </a:lnTo>
                <a:lnTo>
                  <a:pt x="406527" y="695325"/>
                </a:lnTo>
                <a:lnTo>
                  <a:pt x="167132" y="933957"/>
                </a:lnTo>
                <a:lnTo>
                  <a:pt x="0" y="933957"/>
                </a:lnTo>
                <a:lnTo>
                  <a:pt x="0" y="238505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078092" y="1277255"/>
            <a:ext cx="407034" cy="238760"/>
          </a:xfrm>
          <a:custGeom>
            <a:avLst/>
            <a:gdLst/>
            <a:ahLst/>
            <a:cxnLst/>
            <a:rect l="l" t="t" r="r" b="b"/>
            <a:pathLst>
              <a:path w="407035" h="238759">
                <a:moveTo>
                  <a:pt x="0" y="238505"/>
                </a:moveTo>
                <a:lnTo>
                  <a:pt x="167132" y="238505"/>
                </a:lnTo>
                <a:lnTo>
                  <a:pt x="40652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45224" y="1515761"/>
            <a:ext cx="0" cy="695960"/>
          </a:xfrm>
          <a:custGeom>
            <a:avLst/>
            <a:gdLst/>
            <a:ahLst/>
            <a:cxnLst/>
            <a:rect l="l" t="t" r="r" b="b"/>
            <a:pathLst>
              <a:path h="695960">
                <a:moveTo>
                  <a:pt x="0" y="0"/>
                </a:moveTo>
                <a:lnTo>
                  <a:pt x="0" y="69545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46493" y="1849771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6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46493" y="1681369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6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46493" y="1494425"/>
            <a:ext cx="239395" cy="211454"/>
          </a:xfrm>
          <a:custGeom>
            <a:avLst/>
            <a:gdLst/>
            <a:ahLst/>
            <a:cxnLst/>
            <a:rect l="l" t="t" r="r" b="b"/>
            <a:pathLst>
              <a:path w="239395" h="211455">
                <a:moveTo>
                  <a:pt x="238886" y="0"/>
                </a:moveTo>
                <a:lnTo>
                  <a:pt x="0" y="21107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59016" y="1417082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58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421881" y="1354217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5894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97674" y="1479820"/>
            <a:ext cx="0" cy="676275"/>
          </a:xfrm>
          <a:custGeom>
            <a:avLst/>
            <a:gdLst/>
            <a:ahLst/>
            <a:cxnLst/>
            <a:rect l="l" t="t" r="r" b="b"/>
            <a:pathLst>
              <a:path h="676275">
                <a:moveTo>
                  <a:pt x="0" y="0"/>
                </a:moveTo>
                <a:lnTo>
                  <a:pt x="0" y="676021"/>
                </a:lnTo>
              </a:path>
            </a:pathLst>
          </a:custGeom>
          <a:ln w="4761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15480" y="1789319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74560" y="1761888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664582" y="2003060"/>
            <a:ext cx="4851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RoI</a:t>
            </a:r>
            <a:r>
              <a:rPr sz="900" spc="-19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Align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703187" y="1789319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962268" y="1761888"/>
            <a:ext cx="70103" cy="5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66868" y="1156859"/>
            <a:ext cx="137160" cy="638175"/>
          </a:xfrm>
          <a:custGeom>
            <a:avLst/>
            <a:gdLst/>
            <a:ahLst/>
            <a:cxnLst/>
            <a:rect l="l" t="t" r="r" b="b"/>
            <a:pathLst>
              <a:path w="137160" h="638175">
                <a:moveTo>
                  <a:pt x="137032" y="0"/>
                </a:moveTo>
                <a:lnTo>
                  <a:pt x="0" y="137668"/>
                </a:lnTo>
                <a:lnTo>
                  <a:pt x="0" y="638175"/>
                </a:lnTo>
                <a:lnTo>
                  <a:pt x="137032" y="500379"/>
                </a:lnTo>
                <a:lnTo>
                  <a:pt x="137032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666868" y="1156859"/>
            <a:ext cx="137160" cy="638175"/>
          </a:xfrm>
          <a:custGeom>
            <a:avLst/>
            <a:gdLst/>
            <a:ahLst/>
            <a:cxnLst/>
            <a:rect l="l" t="t" r="r" b="b"/>
            <a:pathLst>
              <a:path w="137160" h="638175">
                <a:moveTo>
                  <a:pt x="137032" y="0"/>
                </a:moveTo>
                <a:lnTo>
                  <a:pt x="0" y="137668"/>
                </a:lnTo>
                <a:lnTo>
                  <a:pt x="0" y="638175"/>
                </a:lnTo>
                <a:lnTo>
                  <a:pt x="137032" y="500379"/>
                </a:lnTo>
                <a:lnTo>
                  <a:pt x="137032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317872" y="675275"/>
            <a:ext cx="473709" cy="707390"/>
          </a:xfrm>
          <a:custGeom>
            <a:avLst/>
            <a:gdLst/>
            <a:ahLst/>
            <a:cxnLst/>
            <a:rect l="l" t="t" r="r" b="b"/>
            <a:pathLst>
              <a:path w="473710" h="707390">
                <a:moveTo>
                  <a:pt x="473582" y="0"/>
                </a:moveTo>
                <a:lnTo>
                  <a:pt x="0" y="445007"/>
                </a:lnTo>
                <a:lnTo>
                  <a:pt x="0" y="707135"/>
                </a:lnTo>
                <a:lnTo>
                  <a:pt x="473582" y="262127"/>
                </a:lnTo>
                <a:lnTo>
                  <a:pt x="473582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317872" y="675275"/>
            <a:ext cx="473709" cy="707390"/>
          </a:xfrm>
          <a:custGeom>
            <a:avLst/>
            <a:gdLst/>
            <a:ahLst/>
            <a:cxnLst/>
            <a:rect l="l" t="t" r="r" b="b"/>
            <a:pathLst>
              <a:path w="473710" h="707390">
                <a:moveTo>
                  <a:pt x="473582" y="0"/>
                </a:moveTo>
                <a:lnTo>
                  <a:pt x="0" y="445007"/>
                </a:lnTo>
                <a:lnTo>
                  <a:pt x="0" y="707135"/>
                </a:lnTo>
                <a:lnTo>
                  <a:pt x="473582" y="262127"/>
                </a:lnTo>
                <a:lnTo>
                  <a:pt x="473582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707887" y="1928765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94068" y="630317"/>
            <a:ext cx="1779270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/>
                <a:cs typeface="Arial"/>
              </a:rPr>
              <a:t>Classification </a:t>
            </a:r>
            <a:r>
              <a:rPr sz="900" spc="15" dirty="0">
                <a:latin typeface="Arial"/>
                <a:cs typeface="Arial"/>
              </a:rPr>
              <a:t>Scores: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15" dirty="0">
                <a:latin typeface="Arial"/>
                <a:cs typeface="Arial"/>
              </a:rPr>
              <a:t>Box </a:t>
            </a:r>
            <a:r>
              <a:rPr sz="900" spc="10" dirty="0">
                <a:latin typeface="Arial"/>
                <a:cs typeface="Arial"/>
              </a:rPr>
              <a:t>coordinates (per class): </a:t>
            </a:r>
            <a:r>
              <a:rPr sz="900" spc="15" dirty="0">
                <a:latin typeface="Arial"/>
                <a:cs typeface="Arial"/>
              </a:rPr>
              <a:t>4 </a:t>
            </a:r>
            <a:r>
              <a:rPr sz="900" spc="10" dirty="0">
                <a:latin typeface="Arial"/>
                <a:cs typeface="Arial"/>
              </a:rPr>
              <a:t>*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936770" y="1220645"/>
          <a:ext cx="1021080" cy="1046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  <a:solidFill>
                      <a:srgbClr val="D7E9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E9E9E"/>
                      </a:solidFill>
                      <a:prstDash val="solid"/>
                    </a:lnL>
                    <a:lnR w="6350">
                      <a:solidFill>
                        <a:srgbClr val="9E9E9E"/>
                      </a:solidFill>
                      <a:prstDash val="solid"/>
                    </a:lnR>
                    <a:lnT w="6350">
                      <a:solidFill>
                        <a:srgbClr val="9E9E9E"/>
                      </a:solidFill>
                      <a:prstDash val="solid"/>
                    </a:lnT>
                    <a:lnB w="63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1394328" y="1789319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5">
                <a:moveTo>
                  <a:pt x="0" y="0"/>
                </a:moveTo>
                <a:lnTo>
                  <a:pt x="42049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07332" y="1761888"/>
            <a:ext cx="70104" cy="54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460876" y="1883553"/>
            <a:ext cx="346075" cy="30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20" dirty="0">
                <a:latin typeface="Arial"/>
                <a:cs typeface="Arial"/>
              </a:rPr>
              <a:t>+RPN</a:t>
            </a:r>
            <a:endParaRPr sz="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20813" y="1928765"/>
            <a:ext cx="3009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Conv</a:t>
            </a:r>
            <a:endParaRPr sz="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903592" y="2297192"/>
            <a:ext cx="967740" cy="308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10"/>
              </a:spcBef>
            </a:pPr>
            <a:r>
              <a:rPr sz="900" spc="10" dirty="0">
                <a:latin typeface="Arial"/>
                <a:cs typeface="Arial"/>
              </a:rPr>
              <a:t>Predict </a:t>
            </a:r>
            <a:r>
              <a:rPr sz="900" spc="15" dirty="0">
                <a:latin typeface="Arial"/>
                <a:cs typeface="Arial"/>
              </a:rPr>
              <a:t>a </a:t>
            </a:r>
            <a:r>
              <a:rPr sz="900" spc="20" dirty="0">
                <a:latin typeface="Arial"/>
                <a:cs typeface="Arial"/>
              </a:rPr>
              <a:t>mask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for  </a:t>
            </a:r>
            <a:r>
              <a:rPr sz="900" spc="15" dirty="0">
                <a:latin typeface="Arial"/>
                <a:cs typeface="Arial"/>
              </a:rPr>
              <a:t>each </a:t>
            </a:r>
            <a:r>
              <a:rPr sz="900" spc="10" dirty="0">
                <a:latin typeface="Arial"/>
                <a:cs typeface="Arial"/>
              </a:rPr>
              <a:t>of </a:t>
            </a:r>
            <a:r>
              <a:rPr sz="900" spc="25" dirty="0">
                <a:latin typeface="Arial"/>
                <a:cs typeface="Arial"/>
              </a:rPr>
              <a:t>C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classes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18730" y="2712609"/>
            <a:ext cx="61404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5" dirty="0">
                <a:latin typeface="Arial"/>
                <a:cs typeface="Arial"/>
              </a:rPr>
              <a:t>C </a:t>
            </a:r>
            <a:r>
              <a:rPr sz="900" spc="15" dirty="0">
                <a:latin typeface="Arial"/>
                <a:cs typeface="Arial"/>
              </a:rPr>
              <a:t>x 28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895849" y="2293509"/>
            <a:ext cx="7239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256 x 14 x</a:t>
            </a:r>
            <a:r>
              <a:rPr sz="900" spc="-18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759703" y="2293509"/>
            <a:ext cx="7239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"/>
                <a:cs typeface="Arial"/>
              </a:rPr>
              <a:t>256 x 14 x</a:t>
            </a:r>
            <a:r>
              <a:rPr sz="900" spc="-18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468" y="181990"/>
            <a:ext cx="417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训练阶段使用的</a:t>
            </a:r>
            <a:r>
              <a:rPr sz="1800" b="1" spc="-15" dirty="0">
                <a:latin typeface="微软雅黑"/>
                <a:cs typeface="微软雅黑"/>
              </a:rPr>
              <a:t>Mask样例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6943" y="567816"/>
            <a:ext cx="2904744" cy="123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89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944" y="545735"/>
            <a:ext cx="2904744" cy="2488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468" y="159020"/>
            <a:ext cx="417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训练阶段使用的</a:t>
            </a:r>
            <a:r>
              <a:rPr sz="1800" b="1" spc="-15" dirty="0">
                <a:latin typeface="微软雅黑"/>
                <a:cs typeface="微软雅黑"/>
              </a:rPr>
              <a:t>Mask样例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943" y="567816"/>
            <a:ext cx="2904744" cy="2488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31687" y="567816"/>
            <a:ext cx="2889504" cy="1229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6468" y="181990"/>
            <a:ext cx="417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训练阶段使用的</a:t>
            </a:r>
            <a:r>
              <a:rPr sz="1800" b="1" spc="-15" dirty="0">
                <a:latin typeface="微软雅黑"/>
                <a:cs typeface="微软雅黑"/>
              </a:rPr>
              <a:t>Mask样例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944" y="545735"/>
            <a:ext cx="5795772" cy="2488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468" y="159020"/>
            <a:ext cx="417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训练阶段使用的</a:t>
            </a:r>
            <a:r>
              <a:rPr sz="1800" b="1" spc="-15" dirty="0">
                <a:latin typeface="微软雅黑"/>
                <a:cs typeface="微软雅黑"/>
              </a:rPr>
              <a:t>Mask样例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0899" y="1154556"/>
            <a:ext cx="1844039" cy="1386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7611" y="1154556"/>
            <a:ext cx="1845564" cy="1385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715" y="253110"/>
            <a:ext cx="288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实例分割结果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96379" y="1149984"/>
            <a:ext cx="1844039" cy="13959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131" y="3001390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et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al,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“Mask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5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604" y="899303"/>
            <a:ext cx="2391156" cy="1648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16576" y="899303"/>
            <a:ext cx="2199131" cy="1648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49236" y="899303"/>
            <a:ext cx="1100327" cy="1648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020" y="228235"/>
            <a:ext cx="2424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Mask</a:t>
            </a:r>
            <a:r>
              <a:rPr sz="1800" b="1" spc="-70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R-CNN</a:t>
            </a:r>
            <a:r>
              <a:rPr sz="1800" b="1" dirty="0">
                <a:latin typeface="微软雅黑"/>
                <a:cs typeface="微软雅黑"/>
              </a:rPr>
              <a:t>检测姿态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32" y="2978420"/>
            <a:ext cx="10909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Arial"/>
                <a:cs typeface="Arial"/>
              </a:rPr>
              <a:t>He</a:t>
            </a:r>
            <a:r>
              <a:rPr sz="500" spc="-15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et</a:t>
            </a:r>
            <a:r>
              <a:rPr sz="50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al,</a:t>
            </a:r>
            <a:r>
              <a:rPr sz="500" spc="-10" dirty="0">
                <a:latin typeface="Arial"/>
                <a:cs typeface="Arial"/>
              </a:rPr>
              <a:t> </a:t>
            </a:r>
            <a:r>
              <a:rPr sz="500" spc="10" dirty="0">
                <a:latin typeface="Arial"/>
                <a:cs typeface="Arial"/>
              </a:rPr>
              <a:t>“Mask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R-CNN”,</a:t>
            </a:r>
            <a:r>
              <a:rPr sz="500" spc="-20" dirty="0">
                <a:latin typeface="Arial"/>
                <a:cs typeface="Arial"/>
              </a:rPr>
              <a:t> </a:t>
            </a:r>
            <a:r>
              <a:rPr sz="500" spc="15" dirty="0">
                <a:latin typeface="Arial"/>
                <a:cs typeface="Arial"/>
              </a:rPr>
              <a:t>ICCV</a:t>
            </a:r>
            <a:r>
              <a:rPr sz="500" spc="-50" dirty="0">
                <a:latin typeface="Arial"/>
                <a:cs typeface="Arial"/>
              </a:rPr>
              <a:t> </a:t>
            </a:r>
            <a:r>
              <a:rPr sz="500" spc="5" dirty="0">
                <a:latin typeface="Arial"/>
                <a:cs typeface="Arial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65226"/>
            <a:ext cx="32816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微软雅黑"/>
                <a:cs typeface="微软雅黑"/>
              </a:rPr>
              <a:t>Open </a:t>
            </a:r>
            <a:r>
              <a:rPr sz="2000" b="1" spc="-15" dirty="0">
                <a:latin typeface="微软雅黑"/>
                <a:cs typeface="微软雅黑"/>
              </a:rPr>
              <a:t>Source</a:t>
            </a:r>
            <a:r>
              <a:rPr sz="2000" b="1" spc="-125" dirty="0">
                <a:latin typeface="微软雅黑"/>
                <a:cs typeface="微软雅黑"/>
              </a:rPr>
              <a:t> </a:t>
            </a:r>
            <a:r>
              <a:rPr sz="2000" b="1" spc="-5" dirty="0">
                <a:latin typeface="微软雅黑"/>
                <a:cs typeface="微软雅黑"/>
              </a:rPr>
              <a:t>Frameworks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931" y="881507"/>
            <a:ext cx="3935095" cy="1891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Lots of </a:t>
            </a:r>
            <a:r>
              <a:rPr sz="1200" spc="-5" dirty="0">
                <a:latin typeface="Arial"/>
                <a:cs typeface="Arial"/>
              </a:rPr>
              <a:t>good implementations on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GitHub!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30" dirty="0">
                <a:latin typeface="Arial"/>
                <a:cs typeface="Arial"/>
              </a:rPr>
              <a:t>TensorFlow </a:t>
            </a:r>
            <a:r>
              <a:rPr sz="1200" spc="-5" dirty="0">
                <a:latin typeface="Arial"/>
                <a:cs typeface="Arial"/>
              </a:rPr>
              <a:t>Detection</a:t>
            </a:r>
            <a:r>
              <a:rPr sz="1200" spc="-20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API: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105"/>
              </a:spcBef>
            </a:pPr>
            <a:r>
              <a:rPr sz="900" u="sng" spc="5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2"/>
              </a:rPr>
              <a:t>https://github.com/tensorflow/models/tree/master/research/object_detection </a:t>
            </a:r>
            <a:r>
              <a:rPr sz="9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Faster RCNN, SSD, RFCN, </a:t>
            </a:r>
            <a:r>
              <a:rPr sz="900" spc="20" dirty="0">
                <a:latin typeface="Arial"/>
                <a:cs typeface="Arial"/>
              </a:rPr>
              <a:t>Mask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R-CNN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Caffe2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Detectron: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u="sng" spc="10" dirty="0">
                <a:solidFill>
                  <a:srgbClr val="0000FF"/>
                </a:solidFill>
                <a:uFill>
                  <a:solidFill>
                    <a:srgbClr val="1153CC"/>
                  </a:solidFill>
                </a:uFill>
                <a:latin typeface="Arial"/>
                <a:cs typeface="Arial"/>
                <a:hlinkClick r:id="rId3"/>
              </a:rPr>
              <a:t>https://github.com/facebookresearch/Detectron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spc="20" dirty="0">
                <a:latin typeface="Arial"/>
                <a:cs typeface="Arial"/>
              </a:rPr>
              <a:t>Mask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R-CNN,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RetinaNet,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Faster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R-CNN,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RPN,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Fast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15" dirty="0">
                <a:latin typeface="Arial"/>
                <a:cs typeface="Arial"/>
              </a:rPr>
              <a:t>R-CNN,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20" dirty="0">
                <a:latin typeface="Arial"/>
                <a:cs typeface="Arial"/>
              </a:rPr>
              <a:t>R-FCN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Finetune on your </a:t>
            </a:r>
            <a:r>
              <a:rPr sz="1200" spc="-10" dirty="0">
                <a:latin typeface="Arial"/>
                <a:cs typeface="Arial"/>
              </a:rPr>
              <a:t>own </a:t>
            </a:r>
            <a:r>
              <a:rPr sz="1200" dirty="0">
                <a:latin typeface="Arial"/>
                <a:cs typeface="Arial"/>
              </a:rPr>
              <a:t>dataset </a:t>
            </a:r>
            <a:r>
              <a:rPr sz="1200" spc="-5" dirty="0">
                <a:latin typeface="Arial"/>
                <a:cs typeface="Arial"/>
              </a:rPr>
              <a:t>with </a:t>
            </a:r>
            <a:r>
              <a:rPr sz="1200" dirty="0">
                <a:latin typeface="Arial"/>
                <a:cs typeface="Arial"/>
              </a:rPr>
              <a:t>pre-trained</a:t>
            </a:r>
            <a:r>
              <a:rPr sz="1200" spc="-1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2985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468" y="154194"/>
            <a:ext cx="14522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0" dirty="0">
                <a:latin typeface="微软雅黑"/>
                <a:cs typeface="微软雅黑"/>
              </a:rPr>
              <a:t>视觉识别任务</a:t>
            </a:r>
          </a:p>
        </p:txBody>
      </p:sp>
      <p:sp>
        <p:nvSpPr>
          <p:cNvPr id="3" name="object 3"/>
          <p:cNvSpPr/>
          <p:nvPr/>
        </p:nvSpPr>
        <p:spPr>
          <a:xfrm>
            <a:off x="80640" y="1158383"/>
            <a:ext cx="1395984" cy="1208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607" y="736616"/>
            <a:ext cx="36385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分类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2835" y="736616"/>
            <a:ext cx="70231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语义分割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3294" y="728361"/>
            <a:ext cx="7035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目标检测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3287" y="735981"/>
            <a:ext cx="70231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30" dirty="0">
                <a:latin typeface="微软雅黑"/>
                <a:cs typeface="微软雅黑"/>
              </a:rPr>
              <a:t>实例分割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266" y="2410603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27116" y="1187339"/>
            <a:ext cx="1395984" cy="1197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6543" y="1187339"/>
            <a:ext cx="1405127" cy="1207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19340" y="1691783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459662" y="409955"/>
                </a:moveTo>
                <a:lnTo>
                  <a:pt x="139064" y="409955"/>
                </a:lnTo>
                <a:lnTo>
                  <a:pt x="115824" y="516254"/>
                </a:lnTo>
                <a:lnTo>
                  <a:pt x="135382" y="635126"/>
                </a:lnTo>
                <a:lnTo>
                  <a:pt x="110998" y="702309"/>
                </a:lnTo>
                <a:lnTo>
                  <a:pt x="226822" y="700912"/>
                </a:lnTo>
                <a:lnTo>
                  <a:pt x="201295" y="580644"/>
                </a:lnTo>
                <a:lnTo>
                  <a:pt x="239013" y="544195"/>
                </a:lnTo>
                <a:lnTo>
                  <a:pt x="311023" y="540003"/>
                </a:lnTo>
                <a:lnTo>
                  <a:pt x="436962" y="540003"/>
                </a:lnTo>
                <a:lnTo>
                  <a:pt x="440309" y="531622"/>
                </a:lnTo>
                <a:lnTo>
                  <a:pt x="419608" y="460248"/>
                </a:lnTo>
                <a:lnTo>
                  <a:pt x="459662" y="409955"/>
                </a:lnTo>
                <a:close/>
              </a:path>
              <a:path w="471170" h="702310">
                <a:moveTo>
                  <a:pt x="436962" y="540003"/>
                </a:moveTo>
                <a:lnTo>
                  <a:pt x="311023" y="540003"/>
                </a:lnTo>
                <a:lnTo>
                  <a:pt x="330581" y="582041"/>
                </a:lnTo>
                <a:lnTo>
                  <a:pt x="268350" y="693927"/>
                </a:lnTo>
                <a:lnTo>
                  <a:pt x="374396" y="696722"/>
                </a:lnTo>
                <a:lnTo>
                  <a:pt x="436962" y="540003"/>
                </a:lnTo>
                <a:close/>
              </a:path>
              <a:path w="471170" h="702310">
                <a:moveTo>
                  <a:pt x="41401" y="256031"/>
                </a:moveTo>
                <a:lnTo>
                  <a:pt x="4825" y="264414"/>
                </a:lnTo>
                <a:lnTo>
                  <a:pt x="0" y="382016"/>
                </a:lnTo>
                <a:lnTo>
                  <a:pt x="72009" y="419734"/>
                </a:lnTo>
                <a:lnTo>
                  <a:pt x="139064" y="409955"/>
                </a:lnTo>
                <a:lnTo>
                  <a:pt x="459662" y="409955"/>
                </a:lnTo>
                <a:lnTo>
                  <a:pt x="470788" y="395985"/>
                </a:lnTo>
                <a:lnTo>
                  <a:pt x="447548" y="351154"/>
                </a:lnTo>
                <a:lnTo>
                  <a:pt x="446744" y="338581"/>
                </a:lnTo>
                <a:lnTo>
                  <a:pt x="120776" y="338581"/>
                </a:lnTo>
                <a:lnTo>
                  <a:pt x="41401" y="256031"/>
                </a:lnTo>
                <a:close/>
              </a:path>
              <a:path w="471170" h="702310">
                <a:moveTo>
                  <a:pt x="134112" y="15367"/>
                </a:moveTo>
                <a:lnTo>
                  <a:pt x="117094" y="62992"/>
                </a:lnTo>
                <a:lnTo>
                  <a:pt x="134112" y="92328"/>
                </a:lnTo>
                <a:lnTo>
                  <a:pt x="102488" y="204216"/>
                </a:lnTo>
                <a:lnTo>
                  <a:pt x="153670" y="260223"/>
                </a:lnTo>
                <a:lnTo>
                  <a:pt x="120776" y="338581"/>
                </a:lnTo>
                <a:lnTo>
                  <a:pt x="446744" y="338581"/>
                </a:lnTo>
                <a:lnTo>
                  <a:pt x="440309" y="237871"/>
                </a:lnTo>
                <a:lnTo>
                  <a:pt x="425704" y="223900"/>
                </a:lnTo>
                <a:lnTo>
                  <a:pt x="441451" y="173481"/>
                </a:lnTo>
                <a:lnTo>
                  <a:pt x="408559" y="139953"/>
                </a:lnTo>
                <a:lnTo>
                  <a:pt x="397637" y="99314"/>
                </a:lnTo>
                <a:lnTo>
                  <a:pt x="403733" y="43306"/>
                </a:lnTo>
                <a:lnTo>
                  <a:pt x="394583" y="36322"/>
                </a:lnTo>
                <a:lnTo>
                  <a:pt x="335407" y="36322"/>
                </a:lnTo>
                <a:lnTo>
                  <a:pt x="319268" y="25146"/>
                </a:lnTo>
                <a:lnTo>
                  <a:pt x="196342" y="25146"/>
                </a:lnTo>
                <a:lnTo>
                  <a:pt x="134112" y="15367"/>
                </a:lnTo>
                <a:close/>
              </a:path>
              <a:path w="471170" h="702310">
                <a:moveTo>
                  <a:pt x="363474" y="12573"/>
                </a:moveTo>
                <a:lnTo>
                  <a:pt x="335407" y="36322"/>
                </a:lnTo>
                <a:lnTo>
                  <a:pt x="394583" y="36322"/>
                </a:lnTo>
                <a:lnTo>
                  <a:pt x="363474" y="12573"/>
                </a:lnTo>
                <a:close/>
              </a:path>
              <a:path w="471170" h="702310">
                <a:moveTo>
                  <a:pt x="282956" y="0"/>
                </a:moveTo>
                <a:lnTo>
                  <a:pt x="215900" y="8381"/>
                </a:lnTo>
                <a:lnTo>
                  <a:pt x="196342" y="25146"/>
                </a:lnTo>
                <a:lnTo>
                  <a:pt x="319268" y="25146"/>
                </a:lnTo>
                <a:lnTo>
                  <a:pt x="282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20102" y="1692545"/>
            <a:ext cx="471170" cy="702310"/>
          </a:xfrm>
          <a:custGeom>
            <a:avLst/>
            <a:gdLst/>
            <a:ahLst/>
            <a:cxnLst/>
            <a:rect l="l" t="t" r="r" b="b"/>
            <a:pathLst>
              <a:path w="471170" h="702310">
                <a:moveTo>
                  <a:pt x="134112" y="92329"/>
                </a:moveTo>
                <a:lnTo>
                  <a:pt x="102488" y="204216"/>
                </a:lnTo>
                <a:lnTo>
                  <a:pt x="153670" y="260223"/>
                </a:lnTo>
                <a:lnTo>
                  <a:pt x="120776" y="338582"/>
                </a:lnTo>
                <a:lnTo>
                  <a:pt x="41401" y="256032"/>
                </a:lnTo>
                <a:lnTo>
                  <a:pt x="4825" y="264414"/>
                </a:lnTo>
                <a:lnTo>
                  <a:pt x="0" y="382016"/>
                </a:lnTo>
                <a:lnTo>
                  <a:pt x="72009" y="419735"/>
                </a:lnTo>
                <a:lnTo>
                  <a:pt x="139064" y="409956"/>
                </a:lnTo>
                <a:lnTo>
                  <a:pt x="115824" y="516255"/>
                </a:lnTo>
                <a:lnTo>
                  <a:pt x="135382" y="635127"/>
                </a:lnTo>
                <a:lnTo>
                  <a:pt x="110998" y="702310"/>
                </a:lnTo>
                <a:lnTo>
                  <a:pt x="226822" y="700913"/>
                </a:lnTo>
                <a:lnTo>
                  <a:pt x="201295" y="580644"/>
                </a:lnTo>
                <a:lnTo>
                  <a:pt x="239013" y="544195"/>
                </a:lnTo>
                <a:lnTo>
                  <a:pt x="311023" y="540004"/>
                </a:lnTo>
                <a:lnTo>
                  <a:pt x="330581" y="582041"/>
                </a:lnTo>
                <a:lnTo>
                  <a:pt x="268350" y="693928"/>
                </a:lnTo>
                <a:lnTo>
                  <a:pt x="374396" y="696722"/>
                </a:lnTo>
                <a:lnTo>
                  <a:pt x="440309" y="531622"/>
                </a:lnTo>
                <a:lnTo>
                  <a:pt x="419608" y="460248"/>
                </a:lnTo>
                <a:lnTo>
                  <a:pt x="470788" y="395986"/>
                </a:lnTo>
                <a:lnTo>
                  <a:pt x="447548" y="351155"/>
                </a:lnTo>
                <a:lnTo>
                  <a:pt x="440309" y="237871"/>
                </a:lnTo>
                <a:lnTo>
                  <a:pt x="425703" y="223900"/>
                </a:lnTo>
                <a:lnTo>
                  <a:pt x="441451" y="173482"/>
                </a:lnTo>
                <a:lnTo>
                  <a:pt x="408559" y="139954"/>
                </a:lnTo>
                <a:lnTo>
                  <a:pt x="397637" y="99314"/>
                </a:lnTo>
                <a:lnTo>
                  <a:pt x="403733" y="43307"/>
                </a:lnTo>
                <a:lnTo>
                  <a:pt x="363474" y="12573"/>
                </a:lnTo>
                <a:lnTo>
                  <a:pt x="335407" y="36322"/>
                </a:lnTo>
                <a:lnTo>
                  <a:pt x="282956" y="0"/>
                </a:lnTo>
                <a:lnTo>
                  <a:pt x="215900" y="8382"/>
                </a:lnTo>
                <a:lnTo>
                  <a:pt x="196342" y="25146"/>
                </a:lnTo>
                <a:lnTo>
                  <a:pt x="134112" y="15367"/>
                </a:lnTo>
                <a:lnTo>
                  <a:pt x="117094" y="62992"/>
                </a:lnTo>
                <a:lnTo>
                  <a:pt x="134112" y="92329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52156" y="1778651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208788" y="407669"/>
                </a:moveTo>
                <a:lnTo>
                  <a:pt x="78867" y="407669"/>
                </a:lnTo>
                <a:lnTo>
                  <a:pt x="145161" y="419988"/>
                </a:lnTo>
                <a:lnTo>
                  <a:pt x="100584" y="522350"/>
                </a:lnTo>
                <a:lnTo>
                  <a:pt x="138684" y="547115"/>
                </a:lnTo>
                <a:lnTo>
                  <a:pt x="198501" y="531622"/>
                </a:lnTo>
                <a:lnTo>
                  <a:pt x="180721" y="475868"/>
                </a:lnTo>
                <a:lnTo>
                  <a:pt x="208788" y="429386"/>
                </a:lnTo>
                <a:lnTo>
                  <a:pt x="208788" y="407669"/>
                </a:lnTo>
                <a:close/>
              </a:path>
              <a:path w="248285" h="547369">
                <a:moveTo>
                  <a:pt x="119634" y="0"/>
                </a:moveTo>
                <a:lnTo>
                  <a:pt x="69977" y="35686"/>
                </a:lnTo>
                <a:lnTo>
                  <a:pt x="34417" y="271272"/>
                </a:lnTo>
                <a:lnTo>
                  <a:pt x="59817" y="303783"/>
                </a:lnTo>
                <a:lnTo>
                  <a:pt x="38227" y="337819"/>
                </a:lnTo>
                <a:lnTo>
                  <a:pt x="20320" y="389000"/>
                </a:lnTo>
                <a:lnTo>
                  <a:pt x="25400" y="424687"/>
                </a:lnTo>
                <a:lnTo>
                  <a:pt x="0" y="505205"/>
                </a:lnTo>
                <a:lnTo>
                  <a:pt x="68707" y="494410"/>
                </a:lnTo>
                <a:lnTo>
                  <a:pt x="63627" y="418464"/>
                </a:lnTo>
                <a:lnTo>
                  <a:pt x="78867" y="407669"/>
                </a:lnTo>
                <a:lnTo>
                  <a:pt x="208788" y="407669"/>
                </a:lnTo>
                <a:lnTo>
                  <a:pt x="208788" y="347217"/>
                </a:lnTo>
                <a:lnTo>
                  <a:pt x="244348" y="274319"/>
                </a:lnTo>
                <a:lnTo>
                  <a:pt x="244348" y="172084"/>
                </a:lnTo>
                <a:lnTo>
                  <a:pt x="248158" y="94614"/>
                </a:lnTo>
                <a:lnTo>
                  <a:pt x="211328" y="66675"/>
                </a:lnTo>
                <a:lnTo>
                  <a:pt x="190881" y="17017"/>
                </a:lnTo>
                <a:lnTo>
                  <a:pt x="11963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52156" y="1778651"/>
            <a:ext cx="248285" cy="547370"/>
          </a:xfrm>
          <a:custGeom>
            <a:avLst/>
            <a:gdLst/>
            <a:ahLst/>
            <a:cxnLst/>
            <a:rect l="l" t="t" r="r" b="b"/>
            <a:pathLst>
              <a:path w="248285" h="547369">
                <a:moveTo>
                  <a:pt x="34417" y="271272"/>
                </a:moveTo>
                <a:lnTo>
                  <a:pt x="69977" y="35686"/>
                </a:lnTo>
                <a:lnTo>
                  <a:pt x="119634" y="0"/>
                </a:lnTo>
                <a:lnTo>
                  <a:pt x="190881" y="17017"/>
                </a:lnTo>
                <a:lnTo>
                  <a:pt x="211328" y="66675"/>
                </a:lnTo>
                <a:lnTo>
                  <a:pt x="248158" y="94614"/>
                </a:lnTo>
                <a:lnTo>
                  <a:pt x="244348" y="172084"/>
                </a:lnTo>
                <a:lnTo>
                  <a:pt x="244348" y="274319"/>
                </a:lnTo>
                <a:lnTo>
                  <a:pt x="208788" y="347217"/>
                </a:lnTo>
                <a:lnTo>
                  <a:pt x="208788" y="429386"/>
                </a:lnTo>
                <a:lnTo>
                  <a:pt x="180721" y="475868"/>
                </a:lnTo>
                <a:lnTo>
                  <a:pt x="198501" y="531622"/>
                </a:lnTo>
                <a:lnTo>
                  <a:pt x="138684" y="547115"/>
                </a:lnTo>
                <a:lnTo>
                  <a:pt x="100584" y="522350"/>
                </a:lnTo>
                <a:lnTo>
                  <a:pt x="145161" y="419988"/>
                </a:lnTo>
                <a:lnTo>
                  <a:pt x="78867" y="407669"/>
                </a:lnTo>
                <a:lnTo>
                  <a:pt x="63627" y="418464"/>
                </a:lnTo>
                <a:lnTo>
                  <a:pt x="68707" y="494410"/>
                </a:lnTo>
                <a:lnTo>
                  <a:pt x="0" y="505205"/>
                </a:lnTo>
                <a:lnTo>
                  <a:pt x="25400" y="424687"/>
                </a:lnTo>
                <a:lnTo>
                  <a:pt x="20320" y="389000"/>
                </a:lnTo>
                <a:lnTo>
                  <a:pt x="38227" y="337819"/>
                </a:lnTo>
                <a:lnTo>
                  <a:pt x="59817" y="303783"/>
                </a:lnTo>
                <a:lnTo>
                  <a:pt x="34417" y="271272"/>
                </a:lnTo>
                <a:close/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77707" y="1699403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58674" y="0"/>
                </a:moveTo>
                <a:lnTo>
                  <a:pt x="58674" y="38734"/>
                </a:lnTo>
                <a:lnTo>
                  <a:pt x="21716" y="136271"/>
                </a:lnTo>
                <a:lnTo>
                  <a:pt x="43306" y="363727"/>
                </a:lnTo>
                <a:lnTo>
                  <a:pt x="24256" y="379222"/>
                </a:lnTo>
                <a:lnTo>
                  <a:pt x="0" y="433450"/>
                </a:lnTo>
                <a:lnTo>
                  <a:pt x="50926" y="436499"/>
                </a:lnTo>
                <a:lnTo>
                  <a:pt x="33146" y="464311"/>
                </a:lnTo>
                <a:lnTo>
                  <a:pt x="58674" y="476757"/>
                </a:lnTo>
                <a:lnTo>
                  <a:pt x="112140" y="473709"/>
                </a:lnTo>
                <a:lnTo>
                  <a:pt x="133908" y="473709"/>
                </a:lnTo>
                <a:lnTo>
                  <a:pt x="178434" y="456691"/>
                </a:lnTo>
                <a:lnTo>
                  <a:pt x="169417" y="390016"/>
                </a:lnTo>
                <a:lnTo>
                  <a:pt x="194944" y="292607"/>
                </a:lnTo>
                <a:lnTo>
                  <a:pt x="211454" y="185800"/>
                </a:lnTo>
                <a:lnTo>
                  <a:pt x="174497" y="52577"/>
                </a:lnTo>
                <a:lnTo>
                  <a:pt x="173777" y="26288"/>
                </a:lnTo>
                <a:lnTo>
                  <a:pt x="145287" y="26288"/>
                </a:lnTo>
                <a:lnTo>
                  <a:pt x="91693" y="18541"/>
                </a:lnTo>
                <a:lnTo>
                  <a:pt x="58674" y="0"/>
                </a:lnTo>
                <a:close/>
              </a:path>
              <a:path w="211454" h="476885">
                <a:moveTo>
                  <a:pt x="133908" y="473709"/>
                </a:moveTo>
                <a:lnTo>
                  <a:pt x="112140" y="473709"/>
                </a:lnTo>
                <a:lnTo>
                  <a:pt x="129920" y="475233"/>
                </a:lnTo>
                <a:lnTo>
                  <a:pt x="133908" y="473709"/>
                </a:lnTo>
                <a:close/>
              </a:path>
              <a:path w="211454" h="476885">
                <a:moveTo>
                  <a:pt x="173227" y="6223"/>
                </a:moveTo>
                <a:lnTo>
                  <a:pt x="145287" y="26288"/>
                </a:lnTo>
                <a:lnTo>
                  <a:pt x="173777" y="26288"/>
                </a:lnTo>
                <a:lnTo>
                  <a:pt x="173227" y="62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78469" y="1700165"/>
            <a:ext cx="211454" cy="476884"/>
          </a:xfrm>
          <a:custGeom>
            <a:avLst/>
            <a:gdLst/>
            <a:ahLst/>
            <a:cxnLst/>
            <a:rect l="l" t="t" r="r" b="b"/>
            <a:pathLst>
              <a:path w="211454" h="476885">
                <a:moveTo>
                  <a:pt x="21716" y="136271"/>
                </a:moveTo>
                <a:lnTo>
                  <a:pt x="58674" y="38735"/>
                </a:lnTo>
                <a:lnTo>
                  <a:pt x="58674" y="0"/>
                </a:lnTo>
                <a:lnTo>
                  <a:pt x="91693" y="18542"/>
                </a:lnTo>
                <a:lnTo>
                  <a:pt x="145287" y="26289"/>
                </a:lnTo>
                <a:lnTo>
                  <a:pt x="173227" y="6223"/>
                </a:lnTo>
                <a:lnTo>
                  <a:pt x="174497" y="52577"/>
                </a:lnTo>
                <a:lnTo>
                  <a:pt x="211454" y="185800"/>
                </a:lnTo>
                <a:lnTo>
                  <a:pt x="194944" y="292608"/>
                </a:lnTo>
                <a:lnTo>
                  <a:pt x="169417" y="390017"/>
                </a:lnTo>
                <a:lnTo>
                  <a:pt x="178434" y="456692"/>
                </a:lnTo>
                <a:lnTo>
                  <a:pt x="129920" y="475234"/>
                </a:lnTo>
                <a:lnTo>
                  <a:pt x="112140" y="473710"/>
                </a:lnTo>
                <a:lnTo>
                  <a:pt x="58674" y="476758"/>
                </a:lnTo>
                <a:lnTo>
                  <a:pt x="33146" y="464312"/>
                </a:lnTo>
                <a:lnTo>
                  <a:pt x="50926" y="436499"/>
                </a:lnTo>
                <a:lnTo>
                  <a:pt x="0" y="433450"/>
                </a:lnTo>
                <a:lnTo>
                  <a:pt x="24256" y="379222"/>
                </a:lnTo>
                <a:lnTo>
                  <a:pt x="43306" y="363727"/>
                </a:lnTo>
                <a:lnTo>
                  <a:pt x="21716" y="136271"/>
                </a:lnTo>
                <a:close/>
              </a:path>
            </a:pathLst>
          </a:custGeom>
          <a:ln w="142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32272" y="2671715"/>
            <a:ext cx="2748915" cy="234315"/>
          </a:xfrm>
          <a:custGeom>
            <a:avLst/>
            <a:gdLst/>
            <a:ahLst/>
            <a:cxnLst/>
            <a:rect l="l" t="t" r="r" b="b"/>
            <a:pathLst>
              <a:path w="2748915" h="234314">
                <a:moveTo>
                  <a:pt x="2748915" y="0"/>
                </a:moveTo>
                <a:lnTo>
                  <a:pt x="2733548" y="51562"/>
                </a:lnTo>
                <a:lnTo>
                  <a:pt x="2692145" y="91440"/>
                </a:lnTo>
                <a:lnTo>
                  <a:pt x="2632075" y="114046"/>
                </a:lnTo>
                <a:lnTo>
                  <a:pt x="2597277" y="117221"/>
                </a:lnTo>
                <a:lnTo>
                  <a:pt x="1526031" y="117221"/>
                </a:lnTo>
                <a:lnTo>
                  <a:pt x="1491361" y="120269"/>
                </a:lnTo>
                <a:lnTo>
                  <a:pt x="1431289" y="142875"/>
                </a:lnTo>
                <a:lnTo>
                  <a:pt x="1389888" y="182753"/>
                </a:lnTo>
                <a:lnTo>
                  <a:pt x="1374520" y="234315"/>
                </a:lnTo>
                <a:lnTo>
                  <a:pt x="1370456" y="207518"/>
                </a:lnTo>
                <a:lnTo>
                  <a:pt x="1341119" y="161036"/>
                </a:lnTo>
                <a:lnTo>
                  <a:pt x="1289557" y="129032"/>
                </a:lnTo>
                <a:lnTo>
                  <a:pt x="1222882" y="117221"/>
                </a:lnTo>
                <a:lnTo>
                  <a:pt x="151637" y="117221"/>
                </a:lnTo>
                <a:lnTo>
                  <a:pt x="116839" y="114046"/>
                </a:lnTo>
                <a:lnTo>
                  <a:pt x="56768" y="91440"/>
                </a:lnTo>
                <a:lnTo>
                  <a:pt x="15366" y="51562"/>
                </a:lnTo>
                <a:lnTo>
                  <a:pt x="4063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544" y="2677811"/>
            <a:ext cx="1397635" cy="234315"/>
          </a:xfrm>
          <a:custGeom>
            <a:avLst/>
            <a:gdLst/>
            <a:ahLst/>
            <a:cxnLst/>
            <a:rect l="l" t="t" r="r" b="b"/>
            <a:pathLst>
              <a:path w="1397635" h="234314">
                <a:moveTo>
                  <a:pt x="1397254" y="0"/>
                </a:moveTo>
                <a:lnTo>
                  <a:pt x="1381887" y="51562"/>
                </a:lnTo>
                <a:lnTo>
                  <a:pt x="1340485" y="91439"/>
                </a:lnTo>
                <a:lnTo>
                  <a:pt x="1280414" y="114046"/>
                </a:lnTo>
                <a:lnTo>
                  <a:pt x="1245616" y="117221"/>
                </a:lnTo>
                <a:lnTo>
                  <a:pt x="850265" y="117221"/>
                </a:lnTo>
                <a:lnTo>
                  <a:pt x="815594" y="120269"/>
                </a:lnTo>
                <a:lnTo>
                  <a:pt x="755396" y="142875"/>
                </a:lnTo>
                <a:lnTo>
                  <a:pt x="714057" y="182752"/>
                </a:lnTo>
                <a:lnTo>
                  <a:pt x="698639" y="234314"/>
                </a:lnTo>
                <a:lnTo>
                  <a:pt x="694639" y="207518"/>
                </a:lnTo>
                <a:lnTo>
                  <a:pt x="665314" y="161036"/>
                </a:lnTo>
                <a:lnTo>
                  <a:pt x="613664" y="129032"/>
                </a:lnTo>
                <a:lnTo>
                  <a:pt x="546963" y="117221"/>
                </a:lnTo>
                <a:lnTo>
                  <a:pt x="151676" y="117221"/>
                </a:lnTo>
                <a:lnTo>
                  <a:pt x="116890" y="114046"/>
                </a:lnTo>
                <a:lnTo>
                  <a:pt x="56807" y="91439"/>
                </a:lnTo>
                <a:lnTo>
                  <a:pt x="15417" y="51562"/>
                </a:lnTo>
                <a:lnTo>
                  <a:pt x="4000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33977" y="2456069"/>
            <a:ext cx="1238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草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spc="-25" dirty="0">
                <a:solidFill>
                  <a:srgbClr val="EFC130"/>
                </a:solidFill>
                <a:latin typeface="微软雅黑"/>
                <a:cs typeface="微软雅黑"/>
              </a:rPr>
              <a:t>猫</a:t>
            </a:r>
            <a:r>
              <a:rPr sz="1200" b="1" spc="-25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A44D79"/>
                </a:solidFill>
                <a:latin typeface="微软雅黑"/>
                <a:cs typeface="微软雅黑"/>
              </a:rPr>
              <a:t>树</a:t>
            </a:r>
            <a:r>
              <a:rPr sz="1200" b="1" dirty="0"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天空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9762" y="2410603"/>
            <a:ext cx="783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8715" y="2410603"/>
            <a:ext cx="783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微软雅黑"/>
                <a:cs typeface="微软雅黑"/>
              </a:rPr>
              <a:t>狗，</a:t>
            </a:r>
            <a:r>
              <a:rPr sz="1200" b="1" dirty="0">
                <a:solidFill>
                  <a:srgbClr val="69A84F"/>
                </a:solidFill>
                <a:latin typeface="微软雅黑"/>
                <a:cs typeface="微软雅黑"/>
              </a:rPr>
              <a:t>狗</a:t>
            </a:r>
            <a:r>
              <a:rPr sz="1200" b="1" spc="-40" dirty="0">
                <a:solidFill>
                  <a:srgbClr val="69A84F"/>
                </a:solidFill>
                <a:latin typeface="微软雅黑"/>
                <a:cs typeface="微软雅黑"/>
              </a:rPr>
              <a:t>，</a:t>
            </a:r>
            <a:r>
              <a:rPr sz="1200" b="1" dirty="0">
                <a:solidFill>
                  <a:srgbClr val="4885E8"/>
                </a:solidFill>
                <a:latin typeface="微软雅黑"/>
                <a:cs typeface="微软雅黑"/>
              </a:rPr>
              <a:t>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191" y="2905649"/>
            <a:ext cx="911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不考虑空间位置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92798" y="2896124"/>
            <a:ext cx="405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多目标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24452" y="2677811"/>
            <a:ext cx="1377315" cy="234315"/>
          </a:xfrm>
          <a:custGeom>
            <a:avLst/>
            <a:gdLst/>
            <a:ahLst/>
            <a:cxnLst/>
            <a:rect l="l" t="t" r="r" b="b"/>
            <a:pathLst>
              <a:path w="1377314" h="234314">
                <a:moveTo>
                  <a:pt x="1377314" y="0"/>
                </a:moveTo>
                <a:lnTo>
                  <a:pt x="1361948" y="51562"/>
                </a:lnTo>
                <a:lnTo>
                  <a:pt x="1320546" y="91439"/>
                </a:lnTo>
                <a:lnTo>
                  <a:pt x="1260475" y="114046"/>
                </a:lnTo>
                <a:lnTo>
                  <a:pt x="1225677" y="117221"/>
                </a:lnTo>
                <a:lnTo>
                  <a:pt x="840232" y="117221"/>
                </a:lnTo>
                <a:lnTo>
                  <a:pt x="805434" y="120269"/>
                </a:lnTo>
                <a:lnTo>
                  <a:pt x="745490" y="142875"/>
                </a:lnTo>
                <a:lnTo>
                  <a:pt x="704088" y="182752"/>
                </a:lnTo>
                <a:lnTo>
                  <a:pt x="688721" y="234314"/>
                </a:lnTo>
                <a:lnTo>
                  <a:pt x="684657" y="207518"/>
                </a:lnTo>
                <a:lnTo>
                  <a:pt x="655320" y="161036"/>
                </a:lnTo>
                <a:lnTo>
                  <a:pt x="603758" y="129032"/>
                </a:lnTo>
                <a:lnTo>
                  <a:pt x="537083" y="117221"/>
                </a:lnTo>
                <a:lnTo>
                  <a:pt x="151637" y="117221"/>
                </a:lnTo>
                <a:lnTo>
                  <a:pt x="116840" y="114046"/>
                </a:lnTo>
                <a:lnTo>
                  <a:pt x="56768" y="91439"/>
                </a:lnTo>
                <a:lnTo>
                  <a:pt x="15367" y="51562"/>
                </a:lnTo>
                <a:lnTo>
                  <a:pt x="4064" y="26924"/>
                </a:ln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80560" y="2905649"/>
            <a:ext cx="657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微软雅黑"/>
                <a:cs typeface="微软雅黑"/>
              </a:rPr>
              <a:t>像素的类别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57768" y="3034427"/>
            <a:ext cx="20320" cy="3175"/>
          </a:xfrm>
          <a:custGeom>
            <a:avLst/>
            <a:gdLst/>
            <a:ahLst/>
            <a:cxnLst/>
            <a:rect l="l" t="t" r="r" b="b"/>
            <a:pathLst>
              <a:path w="20320" h="3175">
                <a:moveTo>
                  <a:pt x="0" y="3047"/>
                </a:moveTo>
                <a:lnTo>
                  <a:pt x="19812" y="3047"/>
                </a:lnTo>
                <a:lnTo>
                  <a:pt x="19812" y="0"/>
                </a:lnTo>
                <a:lnTo>
                  <a:pt x="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07198" y="2967498"/>
            <a:ext cx="7467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This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5"/>
              </a:rPr>
              <a:t>imag</a:t>
            </a:r>
            <a:r>
              <a:rPr sz="400" spc="-15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e </a:t>
            </a:r>
            <a:r>
              <a:rPr sz="400" spc="-5" dirty="0">
                <a:solidFill>
                  <a:srgbClr val="999999"/>
                </a:solidFill>
                <a:latin typeface="Arial"/>
                <a:cs typeface="Arial"/>
              </a:rPr>
              <a:t>is </a:t>
            </a:r>
            <a:r>
              <a:rPr sz="400" u="sng" spc="-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CC0 </a:t>
            </a:r>
            <a:r>
              <a:rPr sz="400" u="sng" spc="-10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public </a:t>
            </a:r>
            <a:r>
              <a:rPr sz="400" u="sng" spc="-15" dirty="0">
                <a:solidFill>
                  <a:srgbClr val="0000FF"/>
                </a:solidFill>
                <a:uFill>
                  <a:solidFill>
                    <a:srgbClr val="999999"/>
                  </a:solidFill>
                </a:uFill>
                <a:latin typeface="Arial"/>
                <a:cs typeface="Arial"/>
                <a:hlinkClick r:id="rId6"/>
              </a:rPr>
              <a:t>domain</a:t>
            </a:r>
            <a:endParaRPr sz="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69588" y="1156859"/>
            <a:ext cx="1424939" cy="1211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3784" y="1402223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841607" y="613028"/>
                </a:moveTo>
                <a:lnTo>
                  <a:pt x="684403" y="613028"/>
                </a:lnTo>
                <a:lnTo>
                  <a:pt x="721106" y="709167"/>
                </a:lnTo>
                <a:lnTo>
                  <a:pt x="806704" y="769365"/>
                </a:lnTo>
                <a:lnTo>
                  <a:pt x="855472" y="727201"/>
                </a:lnTo>
                <a:lnTo>
                  <a:pt x="858266" y="657986"/>
                </a:lnTo>
                <a:lnTo>
                  <a:pt x="841607" y="613028"/>
                </a:lnTo>
                <a:close/>
              </a:path>
              <a:path w="1094105" h="769619">
                <a:moveTo>
                  <a:pt x="1091235" y="480821"/>
                </a:moveTo>
                <a:lnTo>
                  <a:pt x="971677" y="480821"/>
                </a:lnTo>
                <a:lnTo>
                  <a:pt x="947166" y="589026"/>
                </a:lnTo>
                <a:lnTo>
                  <a:pt x="1032764" y="631062"/>
                </a:lnTo>
                <a:lnTo>
                  <a:pt x="1093851" y="570991"/>
                </a:lnTo>
                <a:lnTo>
                  <a:pt x="1093851" y="498855"/>
                </a:lnTo>
                <a:lnTo>
                  <a:pt x="1091235" y="480821"/>
                </a:lnTo>
                <a:close/>
              </a:path>
              <a:path w="1094105" h="769619">
                <a:moveTo>
                  <a:pt x="483788" y="180339"/>
                </a:moveTo>
                <a:lnTo>
                  <a:pt x="164973" y="180339"/>
                </a:lnTo>
                <a:lnTo>
                  <a:pt x="262763" y="204342"/>
                </a:lnTo>
                <a:lnTo>
                  <a:pt x="427736" y="258444"/>
                </a:lnTo>
                <a:lnTo>
                  <a:pt x="537718" y="324484"/>
                </a:lnTo>
                <a:lnTo>
                  <a:pt x="550037" y="426719"/>
                </a:lnTo>
                <a:lnTo>
                  <a:pt x="580517" y="558926"/>
                </a:lnTo>
                <a:lnTo>
                  <a:pt x="598932" y="625093"/>
                </a:lnTo>
                <a:lnTo>
                  <a:pt x="684403" y="613028"/>
                </a:lnTo>
                <a:lnTo>
                  <a:pt x="841607" y="613028"/>
                </a:lnTo>
                <a:lnTo>
                  <a:pt x="837184" y="601090"/>
                </a:lnTo>
                <a:lnTo>
                  <a:pt x="824992" y="546988"/>
                </a:lnTo>
                <a:lnTo>
                  <a:pt x="904367" y="522858"/>
                </a:lnTo>
                <a:lnTo>
                  <a:pt x="971677" y="480821"/>
                </a:lnTo>
                <a:lnTo>
                  <a:pt x="1091235" y="480821"/>
                </a:lnTo>
                <a:lnTo>
                  <a:pt x="1081659" y="414781"/>
                </a:lnTo>
                <a:lnTo>
                  <a:pt x="1038860" y="360679"/>
                </a:lnTo>
                <a:lnTo>
                  <a:pt x="1063371" y="312546"/>
                </a:lnTo>
                <a:lnTo>
                  <a:pt x="1078611" y="222376"/>
                </a:lnTo>
                <a:lnTo>
                  <a:pt x="617220" y="222376"/>
                </a:lnTo>
                <a:lnTo>
                  <a:pt x="483788" y="180339"/>
                </a:lnTo>
                <a:close/>
              </a:path>
              <a:path w="1094105" h="769619">
                <a:moveTo>
                  <a:pt x="684403" y="18033"/>
                </a:moveTo>
                <a:lnTo>
                  <a:pt x="647827" y="24002"/>
                </a:lnTo>
                <a:lnTo>
                  <a:pt x="647827" y="102234"/>
                </a:lnTo>
                <a:lnTo>
                  <a:pt x="672211" y="204342"/>
                </a:lnTo>
                <a:lnTo>
                  <a:pt x="617220" y="222376"/>
                </a:lnTo>
                <a:lnTo>
                  <a:pt x="1078611" y="222376"/>
                </a:lnTo>
                <a:lnTo>
                  <a:pt x="1087755" y="168275"/>
                </a:lnTo>
                <a:lnTo>
                  <a:pt x="1090434" y="102234"/>
                </a:lnTo>
                <a:lnTo>
                  <a:pt x="788289" y="102234"/>
                </a:lnTo>
                <a:lnTo>
                  <a:pt x="684403" y="18033"/>
                </a:lnTo>
                <a:close/>
              </a:path>
              <a:path w="1094105" h="769619">
                <a:moveTo>
                  <a:pt x="244475" y="108203"/>
                </a:moveTo>
                <a:lnTo>
                  <a:pt x="40259" y="127126"/>
                </a:lnTo>
                <a:lnTo>
                  <a:pt x="0" y="174243"/>
                </a:lnTo>
                <a:lnTo>
                  <a:pt x="73279" y="192277"/>
                </a:lnTo>
                <a:lnTo>
                  <a:pt x="164973" y="180339"/>
                </a:lnTo>
                <a:lnTo>
                  <a:pt x="483788" y="180339"/>
                </a:lnTo>
                <a:lnTo>
                  <a:pt x="464439" y="174243"/>
                </a:lnTo>
                <a:lnTo>
                  <a:pt x="244475" y="108203"/>
                </a:lnTo>
                <a:close/>
              </a:path>
              <a:path w="1094105" h="769619">
                <a:moveTo>
                  <a:pt x="1051052" y="0"/>
                </a:moveTo>
                <a:lnTo>
                  <a:pt x="953262" y="90169"/>
                </a:lnTo>
                <a:lnTo>
                  <a:pt x="788289" y="102234"/>
                </a:lnTo>
                <a:lnTo>
                  <a:pt x="1090434" y="102234"/>
                </a:lnTo>
                <a:lnTo>
                  <a:pt x="1093851" y="18033"/>
                </a:lnTo>
                <a:lnTo>
                  <a:pt x="1051052" y="0"/>
                </a:lnTo>
                <a:close/>
              </a:path>
            </a:pathLst>
          </a:custGeom>
          <a:solidFill>
            <a:srgbClr val="FFD7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3784" y="1402223"/>
            <a:ext cx="1094105" cy="769620"/>
          </a:xfrm>
          <a:custGeom>
            <a:avLst/>
            <a:gdLst/>
            <a:ahLst/>
            <a:cxnLst/>
            <a:rect l="l" t="t" r="r" b="b"/>
            <a:pathLst>
              <a:path w="1094105" h="769619">
                <a:moveTo>
                  <a:pt x="40259" y="127126"/>
                </a:moveTo>
                <a:lnTo>
                  <a:pt x="244475" y="108203"/>
                </a:lnTo>
                <a:lnTo>
                  <a:pt x="464439" y="174243"/>
                </a:lnTo>
                <a:lnTo>
                  <a:pt x="617220" y="222376"/>
                </a:lnTo>
                <a:lnTo>
                  <a:pt x="672211" y="204342"/>
                </a:lnTo>
                <a:lnTo>
                  <a:pt x="647827" y="102234"/>
                </a:lnTo>
                <a:lnTo>
                  <a:pt x="647827" y="24002"/>
                </a:lnTo>
                <a:lnTo>
                  <a:pt x="684403" y="18033"/>
                </a:lnTo>
                <a:lnTo>
                  <a:pt x="788289" y="102234"/>
                </a:lnTo>
                <a:lnTo>
                  <a:pt x="953262" y="90169"/>
                </a:lnTo>
                <a:lnTo>
                  <a:pt x="1051052" y="0"/>
                </a:lnTo>
                <a:lnTo>
                  <a:pt x="1093851" y="18033"/>
                </a:lnTo>
                <a:lnTo>
                  <a:pt x="1087755" y="168275"/>
                </a:lnTo>
                <a:lnTo>
                  <a:pt x="1063371" y="312546"/>
                </a:lnTo>
                <a:lnTo>
                  <a:pt x="1038860" y="360679"/>
                </a:lnTo>
                <a:lnTo>
                  <a:pt x="1081659" y="414781"/>
                </a:lnTo>
                <a:lnTo>
                  <a:pt x="1093851" y="498855"/>
                </a:lnTo>
                <a:lnTo>
                  <a:pt x="1093851" y="570991"/>
                </a:lnTo>
                <a:lnTo>
                  <a:pt x="1032764" y="631062"/>
                </a:lnTo>
                <a:lnTo>
                  <a:pt x="947166" y="589026"/>
                </a:lnTo>
                <a:lnTo>
                  <a:pt x="971677" y="480821"/>
                </a:lnTo>
                <a:lnTo>
                  <a:pt x="904367" y="522858"/>
                </a:lnTo>
                <a:lnTo>
                  <a:pt x="824992" y="546988"/>
                </a:lnTo>
                <a:lnTo>
                  <a:pt x="837184" y="601090"/>
                </a:lnTo>
                <a:lnTo>
                  <a:pt x="858266" y="657986"/>
                </a:lnTo>
                <a:lnTo>
                  <a:pt x="855472" y="727201"/>
                </a:lnTo>
                <a:lnTo>
                  <a:pt x="806704" y="769365"/>
                </a:lnTo>
                <a:lnTo>
                  <a:pt x="721106" y="709167"/>
                </a:lnTo>
                <a:lnTo>
                  <a:pt x="684403" y="613028"/>
                </a:lnTo>
                <a:lnTo>
                  <a:pt x="598932" y="625093"/>
                </a:lnTo>
                <a:lnTo>
                  <a:pt x="580517" y="558926"/>
                </a:lnTo>
                <a:lnTo>
                  <a:pt x="550037" y="426719"/>
                </a:lnTo>
                <a:lnTo>
                  <a:pt x="537718" y="324484"/>
                </a:lnTo>
                <a:lnTo>
                  <a:pt x="427736" y="258444"/>
                </a:lnTo>
                <a:lnTo>
                  <a:pt x="262763" y="204342"/>
                </a:lnTo>
                <a:lnTo>
                  <a:pt x="164973" y="180339"/>
                </a:lnTo>
                <a:lnTo>
                  <a:pt x="73279" y="192277"/>
                </a:lnTo>
                <a:lnTo>
                  <a:pt x="0" y="174243"/>
                </a:lnTo>
              </a:path>
            </a:pathLst>
          </a:custGeom>
          <a:ln w="19050">
            <a:solidFill>
              <a:srgbClr val="FFD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75684" y="1600343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473964" y="76962"/>
                </a:moveTo>
                <a:lnTo>
                  <a:pt x="0" y="133476"/>
                </a:lnTo>
                <a:lnTo>
                  <a:pt x="0" y="758698"/>
                </a:lnTo>
                <a:lnTo>
                  <a:pt x="1412240" y="758698"/>
                </a:lnTo>
                <a:lnTo>
                  <a:pt x="1414482" y="588899"/>
                </a:lnTo>
                <a:lnTo>
                  <a:pt x="823976" y="588899"/>
                </a:lnTo>
                <a:lnTo>
                  <a:pt x="752602" y="532257"/>
                </a:lnTo>
                <a:lnTo>
                  <a:pt x="718311" y="428879"/>
                </a:lnTo>
                <a:lnTo>
                  <a:pt x="609600" y="428879"/>
                </a:lnTo>
                <a:lnTo>
                  <a:pt x="559689" y="160655"/>
                </a:lnTo>
                <a:lnTo>
                  <a:pt x="473964" y="76962"/>
                </a:lnTo>
                <a:close/>
              </a:path>
              <a:path w="1421764" h="758825">
                <a:moveTo>
                  <a:pt x="981202" y="332867"/>
                </a:moveTo>
                <a:lnTo>
                  <a:pt x="895477" y="369824"/>
                </a:lnTo>
                <a:lnTo>
                  <a:pt x="902589" y="421513"/>
                </a:lnTo>
                <a:lnTo>
                  <a:pt x="916813" y="492887"/>
                </a:lnTo>
                <a:lnTo>
                  <a:pt x="909701" y="566674"/>
                </a:lnTo>
                <a:lnTo>
                  <a:pt x="823976" y="588899"/>
                </a:lnTo>
                <a:lnTo>
                  <a:pt x="1414482" y="588899"/>
                </a:lnTo>
                <a:lnTo>
                  <a:pt x="1416141" y="463296"/>
                </a:lnTo>
                <a:lnTo>
                  <a:pt x="1078865" y="463296"/>
                </a:lnTo>
                <a:lnTo>
                  <a:pt x="964565" y="416560"/>
                </a:lnTo>
                <a:lnTo>
                  <a:pt x="981202" y="332867"/>
                </a:lnTo>
                <a:close/>
              </a:path>
              <a:path w="1421764" h="758825">
                <a:moveTo>
                  <a:pt x="1140333" y="0"/>
                </a:moveTo>
                <a:lnTo>
                  <a:pt x="1107440" y="160655"/>
                </a:lnTo>
                <a:lnTo>
                  <a:pt x="1166876" y="286131"/>
                </a:lnTo>
                <a:lnTo>
                  <a:pt x="1162177" y="386969"/>
                </a:lnTo>
                <a:lnTo>
                  <a:pt x="1078865" y="463296"/>
                </a:lnTo>
                <a:lnTo>
                  <a:pt x="1416141" y="463296"/>
                </a:lnTo>
                <a:lnTo>
                  <a:pt x="1421501" y="57531"/>
                </a:lnTo>
                <a:lnTo>
                  <a:pt x="1249045" y="57531"/>
                </a:lnTo>
                <a:lnTo>
                  <a:pt x="1226439" y="3048"/>
                </a:lnTo>
                <a:lnTo>
                  <a:pt x="1140333" y="0"/>
                </a:lnTo>
                <a:close/>
              </a:path>
              <a:path w="1421764" h="758825">
                <a:moveTo>
                  <a:pt x="718185" y="428498"/>
                </a:moveTo>
                <a:lnTo>
                  <a:pt x="609600" y="428879"/>
                </a:lnTo>
                <a:lnTo>
                  <a:pt x="718311" y="428879"/>
                </a:lnTo>
                <a:lnTo>
                  <a:pt x="718185" y="428498"/>
                </a:lnTo>
                <a:close/>
              </a:path>
              <a:path w="1421764" h="758825">
                <a:moveTo>
                  <a:pt x="1421765" y="37592"/>
                </a:moveTo>
                <a:lnTo>
                  <a:pt x="1249045" y="57531"/>
                </a:lnTo>
                <a:lnTo>
                  <a:pt x="1421501" y="57531"/>
                </a:lnTo>
                <a:lnTo>
                  <a:pt x="1421765" y="37592"/>
                </a:lnTo>
                <a:close/>
              </a:path>
            </a:pathLst>
          </a:custGeom>
          <a:solidFill>
            <a:srgbClr val="69A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75684" y="1600343"/>
            <a:ext cx="1421765" cy="758825"/>
          </a:xfrm>
          <a:custGeom>
            <a:avLst/>
            <a:gdLst/>
            <a:ahLst/>
            <a:cxnLst/>
            <a:rect l="l" t="t" r="r" b="b"/>
            <a:pathLst>
              <a:path w="1421764" h="758825">
                <a:moveTo>
                  <a:pt x="0" y="133476"/>
                </a:moveTo>
                <a:lnTo>
                  <a:pt x="473964" y="76962"/>
                </a:lnTo>
                <a:lnTo>
                  <a:pt x="559689" y="160655"/>
                </a:lnTo>
                <a:lnTo>
                  <a:pt x="609600" y="428879"/>
                </a:lnTo>
                <a:lnTo>
                  <a:pt x="718185" y="428498"/>
                </a:lnTo>
                <a:lnTo>
                  <a:pt x="752602" y="532257"/>
                </a:lnTo>
                <a:lnTo>
                  <a:pt x="823976" y="588899"/>
                </a:lnTo>
                <a:lnTo>
                  <a:pt x="909701" y="566674"/>
                </a:lnTo>
                <a:lnTo>
                  <a:pt x="916813" y="492887"/>
                </a:lnTo>
                <a:lnTo>
                  <a:pt x="902589" y="421513"/>
                </a:lnTo>
                <a:lnTo>
                  <a:pt x="895477" y="369824"/>
                </a:lnTo>
                <a:lnTo>
                  <a:pt x="981202" y="332867"/>
                </a:lnTo>
                <a:lnTo>
                  <a:pt x="964565" y="416560"/>
                </a:lnTo>
                <a:lnTo>
                  <a:pt x="1078865" y="463296"/>
                </a:lnTo>
                <a:lnTo>
                  <a:pt x="1162177" y="386969"/>
                </a:lnTo>
                <a:lnTo>
                  <a:pt x="1166876" y="286131"/>
                </a:lnTo>
                <a:lnTo>
                  <a:pt x="1107440" y="160655"/>
                </a:lnTo>
                <a:lnTo>
                  <a:pt x="1140333" y="0"/>
                </a:lnTo>
                <a:lnTo>
                  <a:pt x="1226439" y="3048"/>
                </a:lnTo>
                <a:lnTo>
                  <a:pt x="1249045" y="57531"/>
                </a:lnTo>
                <a:lnTo>
                  <a:pt x="1421765" y="37592"/>
                </a:lnTo>
                <a:lnTo>
                  <a:pt x="1412240" y="758698"/>
                </a:lnTo>
                <a:lnTo>
                  <a:pt x="0" y="758698"/>
                </a:lnTo>
                <a:lnTo>
                  <a:pt x="0" y="133476"/>
                </a:lnTo>
                <a:close/>
              </a:path>
            </a:pathLst>
          </a:custGeom>
          <a:ln w="19050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72636" y="1184291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58469" y="217424"/>
                </a:moveTo>
                <a:lnTo>
                  <a:pt x="326389" y="268732"/>
                </a:lnTo>
                <a:lnTo>
                  <a:pt x="2412" y="305689"/>
                </a:lnTo>
                <a:lnTo>
                  <a:pt x="0" y="529971"/>
                </a:lnTo>
                <a:lnTo>
                  <a:pt x="426465" y="483108"/>
                </a:lnTo>
                <a:lnTo>
                  <a:pt x="218350" y="426466"/>
                </a:lnTo>
                <a:lnTo>
                  <a:pt x="109600" y="426466"/>
                </a:lnTo>
                <a:lnTo>
                  <a:pt x="16637" y="394462"/>
                </a:lnTo>
                <a:lnTo>
                  <a:pt x="78612" y="327787"/>
                </a:lnTo>
                <a:lnTo>
                  <a:pt x="300227" y="315468"/>
                </a:lnTo>
                <a:lnTo>
                  <a:pt x="676674" y="315468"/>
                </a:lnTo>
                <a:lnTo>
                  <a:pt x="669670" y="274954"/>
                </a:lnTo>
                <a:lnTo>
                  <a:pt x="698459" y="239141"/>
                </a:lnTo>
                <a:lnTo>
                  <a:pt x="609853" y="239141"/>
                </a:lnTo>
                <a:lnTo>
                  <a:pt x="458469" y="217424"/>
                </a:lnTo>
                <a:close/>
              </a:path>
              <a:path w="1420495" h="530225">
                <a:moveTo>
                  <a:pt x="1416670" y="204597"/>
                </a:moveTo>
                <a:lnTo>
                  <a:pt x="1072133" y="204597"/>
                </a:lnTo>
                <a:lnTo>
                  <a:pt x="1150746" y="236600"/>
                </a:lnTo>
                <a:lnTo>
                  <a:pt x="1149603" y="396748"/>
                </a:lnTo>
                <a:lnTo>
                  <a:pt x="1248410" y="409194"/>
                </a:lnTo>
                <a:lnTo>
                  <a:pt x="1257935" y="438785"/>
                </a:lnTo>
                <a:lnTo>
                  <a:pt x="1412875" y="438785"/>
                </a:lnTo>
                <a:lnTo>
                  <a:pt x="1416670" y="204597"/>
                </a:lnTo>
                <a:close/>
              </a:path>
              <a:path w="1420495" h="530225">
                <a:moveTo>
                  <a:pt x="200151" y="421513"/>
                </a:moveTo>
                <a:lnTo>
                  <a:pt x="109600" y="426466"/>
                </a:lnTo>
                <a:lnTo>
                  <a:pt x="218350" y="426466"/>
                </a:lnTo>
                <a:lnTo>
                  <a:pt x="200151" y="421513"/>
                </a:lnTo>
                <a:close/>
              </a:path>
              <a:path w="1420495" h="530225">
                <a:moveTo>
                  <a:pt x="676674" y="315468"/>
                </a:moveTo>
                <a:lnTo>
                  <a:pt x="300227" y="315468"/>
                </a:lnTo>
                <a:lnTo>
                  <a:pt x="657606" y="418973"/>
                </a:lnTo>
                <a:lnTo>
                  <a:pt x="693293" y="411607"/>
                </a:lnTo>
                <a:lnTo>
                  <a:pt x="676674" y="315468"/>
                </a:lnTo>
                <a:close/>
              </a:path>
              <a:path w="1420495" h="530225">
                <a:moveTo>
                  <a:pt x="1054979" y="221869"/>
                </a:moveTo>
                <a:lnTo>
                  <a:pt x="712343" y="221869"/>
                </a:lnTo>
                <a:lnTo>
                  <a:pt x="743331" y="229235"/>
                </a:lnTo>
                <a:lnTo>
                  <a:pt x="843407" y="303149"/>
                </a:lnTo>
                <a:lnTo>
                  <a:pt x="979169" y="298196"/>
                </a:lnTo>
                <a:lnTo>
                  <a:pt x="1054979" y="221869"/>
                </a:lnTo>
                <a:close/>
              </a:path>
              <a:path w="1420495" h="530225">
                <a:moveTo>
                  <a:pt x="1419987" y="0"/>
                </a:moveTo>
                <a:lnTo>
                  <a:pt x="1341374" y="49275"/>
                </a:lnTo>
                <a:lnTo>
                  <a:pt x="1279398" y="68961"/>
                </a:lnTo>
                <a:lnTo>
                  <a:pt x="1148333" y="81407"/>
                </a:lnTo>
                <a:lnTo>
                  <a:pt x="717169" y="204597"/>
                </a:lnTo>
                <a:lnTo>
                  <a:pt x="609853" y="239141"/>
                </a:lnTo>
                <a:lnTo>
                  <a:pt x="698459" y="239141"/>
                </a:lnTo>
                <a:lnTo>
                  <a:pt x="712343" y="221869"/>
                </a:lnTo>
                <a:lnTo>
                  <a:pt x="1054979" y="221869"/>
                </a:lnTo>
                <a:lnTo>
                  <a:pt x="1072133" y="204597"/>
                </a:lnTo>
                <a:lnTo>
                  <a:pt x="1416670" y="204597"/>
                </a:lnTo>
                <a:lnTo>
                  <a:pt x="1419987" y="0"/>
                </a:lnTo>
                <a:close/>
              </a:path>
            </a:pathLst>
          </a:custGeom>
          <a:solidFill>
            <a:srgbClr val="C17A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2636" y="1184291"/>
            <a:ext cx="1420495" cy="530225"/>
          </a:xfrm>
          <a:custGeom>
            <a:avLst/>
            <a:gdLst/>
            <a:ahLst/>
            <a:cxnLst/>
            <a:rect l="l" t="t" r="r" b="b"/>
            <a:pathLst>
              <a:path w="1420495" h="530225">
                <a:moveTo>
                  <a:pt x="426465" y="483108"/>
                </a:moveTo>
                <a:lnTo>
                  <a:pt x="0" y="529971"/>
                </a:lnTo>
                <a:lnTo>
                  <a:pt x="2412" y="305689"/>
                </a:lnTo>
                <a:lnTo>
                  <a:pt x="326389" y="268732"/>
                </a:lnTo>
                <a:lnTo>
                  <a:pt x="458469" y="217424"/>
                </a:lnTo>
                <a:lnTo>
                  <a:pt x="609853" y="239141"/>
                </a:lnTo>
                <a:lnTo>
                  <a:pt x="717169" y="204597"/>
                </a:lnTo>
                <a:lnTo>
                  <a:pt x="1148333" y="81407"/>
                </a:lnTo>
                <a:lnTo>
                  <a:pt x="1279398" y="68961"/>
                </a:lnTo>
                <a:lnTo>
                  <a:pt x="1341374" y="49275"/>
                </a:lnTo>
                <a:lnTo>
                  <a:pt x="1419987" y="0"/>
                </a:lnTo>
                <a:lnTo>
                  <a:pt x="1412875" y="438785"/>
                </a:lnTo>
                <a:lnTo>
                  <a:pt x="1257935" y="438785"/>
                </a:lnTo>
                <a:lnTo>
                  <a:pt x="1248410" y="409194"/>
                </a:lnTo>
                <a:lnTo>
                  <a:pt x="1149603" y="396748"/>
                </a:lnTo>
                <a:lnTo>
                  <a:pt x="1150746" y="236600"/>
                </a:lnTo>
                <a:lnTo>
                  <a:pt x="1072133" y="204597"/>
                </a:lnTo>
                <a:lnTo>
                  <a:pt x="979169" y="298196"/>
                </a:lnTo>
                <a:lnTo>
                  <a:pt x="843407" y="303149"/>
                </a:lnTo>
                <a:lnTo>
                  <a:pt x="743331" y="229235"/>
                </a:lnTo>
                <a:lnTo>
                  <a:pt x="712343" y="221869"/>
                </a:lnTo>
                <a:lnTo>
                  <a:pt x="669670" y="274954"/>
                </a:lnTo>
                <a:lnTo>
                  <a:pt x="693293" y="411607"/>
                </a:lnTo>
                <a:lnTo>
                  <a:pt x="657606" y="418973"/>
                </a:lnTo>
                <a:lnTo>
                  <a:pt x="300227" y="315468"/>
                </a:lnTo>
                <a:lnTo>
                  <a:pt x="78612" y="327787"/>
                </a:lnTo>
                <a:lnTo>
                  <a:pt x="16637" y="394462"/>
                </a:lnTo>
                <a:lnTo>
                  <a:pt x="109600" y="426466"/>
                </a:lnTo>
                <a:lnTo>
                  <a:pt x="200151" y="421513"/>
                </a:lnTo>
                <a:lnTo>
                  <a:pt x="426465" y="483108"/>
                </a:lnTo>
                <a:close/>
              </a:path>
            </a:pathLst>
          </a:custGeom>
          <a:ln w="19050">
            <a:solidFill>
              <a:srgbClr val="C17A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77208" y="1158383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0"/>
                </a:moveTo>
                <a:lnTo>
                  <a:pt x="0" y="320040"/>
                </a:lnTo>
                <a:lnTo>
                  <a:pt x="309753" y="280543"/>
                </a:lnTo>
                <a:lnTo>
                  <a:pt x="452755" y="221487"/>
                </a:lnTo>
                <a:lnTo>
                  <a:pt x="674262" y="221487"/>
                </a:lnTo>
                <a:lnTo>
                  <a:pt x="1119886" y="91058"/>
                </a:lnTo>
                <a:lnTo>
                  <a:pt x="1308100" y="68960"/>
                </a:lnTo>
                <a:lnTo>
                  <a:pt x="1408176" y="4952"/>
                </a:lnTo>
                <a:lnTo>
                  <a:pt x="0" y="0"/>
                </a:lnTo>
                <a:close/>
              </a:path>
              <a:path w="1408430" h="320040">
                <a:moveTo>
                  <a:pt x="674262" y="221487"/>
                </a:moveTo>
                <a:lnTo>
                  <a:pt x="452755" y="221487"/>
                </a:lnTo>
                <a:lnTo>
                  <a:pt x="581406" y="248666"/>
                </a:lnTo>
                <a:lnTo>
                  <a:pt x="674262" y="221487"/>
                </a:lnTo>
                <a:close/>
              </a:path>
            </a:pathLst>
          </a:custGeom>
          <a:solidFill>
            <a:srgbClr val="488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77970" y="1159145"/>
            <a:ext cx="1408430" cy="320040"/>
          </a:xfrm>
          <a:custGeom>
            <a:avLst/>
            <a:gdLst/>
            <a:ahLst/>
            <a:cxnLst/>
            <a:rect l="l" t="t" r="r" b="b"/>
            <a:pathLst>
              <a:path w="1408430" h="320040">
                <a:moveTo>
                  <a:pt x="0" y="320040"/>
                </a:moveTo>
                <a:lnTo>
                  <a:pt x="0" y="0"/>
                </a:lnTo>
                <a:lnTo>
                  <a:pt x="1408176" y="4953"/>
                </a:lnTo>
                <a:lnTo>
                  <a:pt x="1308100" y="68961"/>
                </a:lnTo>
                <a:lnTo>
                  <a:pt x="1119886" y="91059"/>
                </a:lnTo>
                <a:lnTo>
                  <a:pt x="581406" y="248666"/>
                </a:lnTo>
                <a:lnTo>
                  <a:pt x="452755" y="221488"/>
                </a:lnTo>
                <a:lnTo>
                  <a:pt x="309753" y="280543"/>
                </a:lnTo>
                <a:lnTo>
                  <a:pt x="0" y="320040"/>
                </a:lnTo>
                <a:close/>
              </a:path>
            </a:pathLst>
          </a:custGeom>
          <a:ln w="14287">
            <a:solidFill>
              <a:srgbClr val="48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96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4707</Words>
  <Application>Microsoft Office PowerPoint</Application>
  <PresentationFormat>自定义</PresentationFormat>
  <Paragraphs>1108</Paragraphs>
  <Slides>97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97</vt:i4>
      </vt:variant>
    </vt:vector>
  </HeadingPairs>
  <TitlesOfParts>
    <vt:vector size="105" baseType="lpstr"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Theme</vt:lpstr>
      <vt:lpstr>PowerPoint 演示文稿</vt:lpstr>
      <vt:lpstr>视觉识别任务</vt:lpstr>
      <vt:lpstr>PowerPoint 演示文稿</vt:lpstr>
      <vt:lpstr>语义分割</vt:lpstr>
      <vt:lpstr>语义分割思路：滑动窗口</vt:lpstr>
      <vt:lpstr>语义分割思路：滑动窗口</vt:lpstr>
      <vt:lpstr>语义分割思路：全卷积</vt:lpstr>
      <vt:lpstr>语义分割思路：全卷积</vt:lpstr>
      <vt:lpstr>语义分割思路：全卷积</vt:lpstr>
      <vt:lpstr>语义分割思路：全卷积</vt:lpstr>
      <vt:lpstr>反池化操作: “Unpooling”</vt:lpstr>
      <vt:lpstr>反池化操作: “Max Unpooling”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转置卷积（Transpose Convolution）</vt:lpstr>
      <vt:lpstr>可学习的上采样: 一维例子</vt:lpstr>
      <vt:lpstr>PowerPoint 演示文稿</vt:lpstr>
      <vt:lpstr>卷积与矩阵相乘 (一维例子)</vt:lpstr>
      <vt:lpstr>PowerPoint 演示文稿</vt:lpstr>
      <vt:lpstr>卷积与矩阵相乘 (一维例子)</vt:lpstr>
      <vt:lpstr>语义分割：全卷积神经网络</vt:lpstr>
      <vt:lpstr>计算机视觉任务</vt:lpstr>
      <vt:lpstr>深度学习带来的飞跃</vt:lpstr>
      <vt:lpstr>目标检测: 单目标(分类+定位)</vt:lpstr>
      <vt:lpstr>目标检测: 单目标(分类+定位)</vt:lpstr>
      <vt:lpstr>目标检测: 单目标(分类+定位)</vt:lpstr>
      <vt:lpstr>目标检测: 单目标(分类+定位)</vt:lpstr>
      <vt:lpstr>目标检测: 多目标</vt:lpstr>
      <vt:lpstr>目标检测: 多目标</vt:lpstr>
      <vt:lpstr>目标检测: 多目标</vt:lpstr>
      <vt:lpstr>目标检测: 多目标</vt:lpstr>
      <vt:lpstr>目标检测: 多目标</vt:lpstr>
      <vt:lpstr>目标检测: 多目标</vt:lpstr>
      <vt:lpstr>目标检测: 多目标</vt:lpstr>
      <vt:lpstr>区域建议: Selective Search</vt:lpstr>
      <vt:lpstr>R-CNN</vt:lpstr>
      <vt:lpstr>R-CNN</vt:lpstr>
      <vt:lpstr>R-CNN</vt:lpstr>
      <vt:lpstr>R-CNN</vt:lpstr>
      <vt:lpstr>R-CNN</vt:lpstr>
      <vt:lpstr>R-CNN</vt:lpstr>
      <vt:lpstr>R-CNN</vt:lpstr>
      <vt:lpstr>“慢速” R-CNN</vt:lpstr>
      <vt:lpstr>Fast R-CNN</vt:lpstr>
      <vt:lpstr>Fast R-CNN</vt:lpstr>
      <vt:lpstr>Fast R-CNN</vt:lpstr>
      <vt:lpstr>Fast R-CNN</vt:lpstr>
      <vt:lpstr>Fast R-CNN</vt:lpstr>
      <vt:lpstr>Fast R-CNN</vt:lpstr>
      <vt:lpstr>Fast R-CNN</vt:lpstr>
      <vt:lpstr>区域裁剪: RoI Pool</vt:lpstr>
      <vt:lpstr>区域裁剪: RoI Pool</vt:lpstr>
      <vt:lpstr>区域裁剪: RoI Pool</vt:lpstr>
      <vt:lpstr>区域裁剪: RoI Pool</vt:lpstr>
      <vt:lpstr>区域裁剪: RoI Pool</vt:lpstr>
      <vt:lpstr>区域裁剪: RoI Pool</vt:lpstr>
      <vt:lpstr>区域裁剪: RoI Align</vt:lpstr>
      <vt:lpstr>区域裁剪: RoI Align</vt:lpstr>
      <vt:lpstr>区域裁剪: RoI Align</vt:lpstr>
      <vt:lpstr>区域裁剪: RoI Align</vt:lpstr>
      <vt:lpstr>区域裁剪: RoI Align</vt:lpstr>
      <vt:lpstr>R-CNN vs Fast R-CNN</vt:lpstr>
      <vt:lpstr>R-CNN vs Fast R-CNN</vt:lpstr>
      <vt:lpstr>Faster R-CNN:</vt:lpstr>
      <vt:lpstr>区域建议（Region Proposal Network）</vt:lpstr>
      <vt:lpstr>区域建议（Region Proposal Network）Imagine an anchor box of fixed size at each  point in the feature map</vt:lpstr>
      <vt:lpstr>区域建议（Region Proposal Network）Imagine an anchor box of fixed size at each  point in the feature map</vt:lpstr>
      <vt:lpstr>区域建议（Region Proposal Network）</vt:lpstr>
      <vt:lpstr>区域建议（Region Proposal Network）</vt:lpstr>
      <vt:lpstr>区域建议（Region Proposal Network）</vt:lpstr>
      <vt:lpstr>Faster R-CNN</vt:lpstr>
      <vt:lpstr>PowerPoint 演示文稿</vt:lpstr>
      <vt:lpstr>Faster R-CNN</vt:lpstr>
      <vt:lpstr>Faster R-CNN</vt:lpstr>
      <vt:lpstr>问题：是否必须采用两个 阶段范式完成目标检测?</vt:lpstr>
      <vt:lpstr>一阶段目标检测: YOLO / SSD / RetinaNet</vt:lpstr>
      <vt:lpstr>目标检测: 影响精度的因素...</vt:lpstr>
      <vt:lpstr>PowerPoint 演示文稿</vt:lpstr>
      <vt:lpstr>PowerPoint 演示文稿</vt:lpstr>
      <vt:lpstr>实例分割: Mask R-CNN</vt:lpstr>
      <vt:lpstr>Mask R-CNN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Open Source Frameworks</vt:lpstr>
      <vt:lpstr>视觉识别任务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 Introduction to “Computer Vision”</dc:title>
  <dc:creator>lu peng</dc:creator>
  <cp:lastModifiedBy>Administrator</cp:lastModifiedBy>
  <cp:revision>3</cp:revision>
  <dcterms:created xsi:type="dcterms:W3CDTF">2020-12-15T02:12:40Z</dcterms:created>
  <dcterms:modified xsi:type="dcterms:W3CDTF">2020-12-15T02:23:51Z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2020-12-15T00:00:00Z</vt:filetime>
  </property>
</Properties>
</file>