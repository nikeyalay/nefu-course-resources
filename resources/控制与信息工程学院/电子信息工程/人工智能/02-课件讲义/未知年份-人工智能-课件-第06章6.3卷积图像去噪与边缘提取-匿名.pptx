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slides/slide116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84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</p:sldIdLst>
  <p:sldSz cx="6159500" cy="3759200"/>
  <p:notesSz cx="6159500" cy="3759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-979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2438" y="1141730"/>
            <a:ext cx="5240972" cy="773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24877" y="2062480"/>
            <a:ext cx="4316095" cy="92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8292" y="847090"/>
            <a:ext cx="2682144" cy="2430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75412" y="847090"/>
            <a:ext cx="2682144" cy="2430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334" y="373024"/>
            <a:ext cx="2425181" cy="28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8344" y="1471733"/>
            <a:ext cx="4061460" cy="91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96389" y="3425190"/>
            <a:ext cx="1973072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8292" y="3425190"/>
            <a:ext cx="1418145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39412" y="3425190"/>
            <a:ext cx="1418145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5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2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68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jpe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68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jpe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jpeg"/><Relationship Id="rId4" Type="http://schemas.openxmlformats.org/officeDocument/2006/relationships/image" Target="../media/image68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jpeg"/><Relationship Id="rId4" Type="http://schemas.openxmlformats.org/officeDocument/2006/relationships/image" Target="../media/image68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jpe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jpe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6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6.jpe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jpe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jpeg"/><Relationship Id="rId3" Type="http://schemas.openxmlformats.org/officeDocument/2006/relationships/image" Target="../media/image99.jpeg"/><Relationship Id="rId7" Type="http://schemas.openxmlformats.org/officeDocument/2006/relationships/image" Target="../media/image103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jpeg"/><Relationship Id="rId5" Type="http://schemas.openxmlformats.org/officeDocument/2006/relationships/image" Target="../media/image101.png"/><Relationship Id="rId10" Type="http://schemas.openxmlformats.org/officeDocument/2006/relationships/image" Target="../media/image106.jpeg"/><Relationship Id="rId4" Type="http://schemas.openxmlformats.org/officeDocument/2006/relationships/image" Target="../media/image100.jpeg"/><Relationship Id="rId9" Type="http://schemas.openxmlformats.org/officeDocument/2006/relationships/image" Target="../media/image105.jpe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0.jpeg"/><Relationship Id="rId4" Type="http://schemas.openxmlformats.org/officeDocument/2006/relationships/image" Target="../media/image109.jpe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053" y="1457382"/>
            <a:ext cx="3208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微软雅黑"/>
                <a:cs typeface="微软雅黑"/>
              </a:rPr>
              <a:t>补充材料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dirty="0">
                <a:latin typeface="微软雅黑"/>
                <a:cs typeface="微软雅黑"/>
              </a:rPr>
              <a:t>：卷积与</a:t>
            </a:r>
            <a:r>
              <a:rPr sz="2000" spc="-15" dirty="0">
                <a:latin typeface="微软雅黑"/>
                <a:cs typeface="微软雅黑"/>
              </a:rPr>
              <a:t>图</a:t>
            </a:r>
            <a:r>
              <a:rPr sz="2000" dirty="0">
                <a:latin typeface="微软雅黑"/>
                <a:cs typeface="微软雅黑"/>
              </a:rPr>
              <a:t>像去噪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5667" y="2108740"/>
            <a:ext cx="3796665" cy="53796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lang="zh-CN" altLang="en-US" sz="1400" b="1" smtClean="0">
                <a:latin typeface="微软雅黑"/>
                <a:cs typeface="微软雅黑"/>
              </a:rPr>
              <a:t>赵亚凤</a:t>
            </a:r>
            <a:endParaRPr lang="en-US" altLang="zh-CN" sz="1400" b="1" smtClean="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lang="zh-CN" altLang="en-US" sz="1400" b="1" smtClean="0">
                <a:latin typeface="微软雅黑"/>
                <a:cs typeface="微软雅黑"/>
              </a:rPr>
              <a:t>东北林业大学 信息与计算机工程学院</a:t>
            </a:r>
            <a:endParaRPr sz="1400" b="1">
              <a:latin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53415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4739" y="1399057"/>
            <a:ext cx="169608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图像</a:t>
            </a:r>
            <a:r>
              <a:rPr sz="1200" spc="-10" dirty="0">
                <a:latin typeface="黑体"/>
                <a:cs typeface="黑体"/>
              </a:rPr>
              <a:t>去</a:t>
            </a:r>
            <a:r>
              <a:rPr sz="1200" dirty="0">
                <a:latin typeface="黑体"/>
                <a:cs typeface="黑体"/>
              </a:rPr>
              <a:t>噪与</a:t>
            </a:r>
            <a:r>
              <a:rPr sz="1200" spc="-10" dirty="0">
                <a:latin typeface="黑体"/>
                <a:cs typeface="黑体"/>
              </a:rPr>
              <a:t>卷</a:t>
            </a:r>
            <a:r>
              <a:rPr sz="1200" dirty="0">
                <a:latin typeface="黑体"/>
                <a:cs typeface="黑体"/>
              </a:rPr>
              <a:t>积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buFont typeface="΢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高斯</a:t>
            </a:r>
            <a:r>
              <a:rPr sz="1200" spc="-10" dirty="0">
                <a:latin typeface="黑体"/>
                <a:cs typeface="黑体"/>
              </a:rPr>
              <a:t>卷</a:t>
            </a:r>
            <a:r>
              <a:rPr sz="1200" dirty="0">
                <a:latin typeface="黑体"/>
                <a:cs typeface="黑体"/>
              </a:rPr>
              <a:t>积核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΢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图像噪声与中值滤波器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820" y="377088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补</a:t>
            </a:r>
            <a:r>
              <a:rPr sz="1800" spc="-5" dirty="0">
                <a:latin typeface="黑体"/>
                <a:cs typeface="黑体"/>
              </a:rPr>
              <a:t>充</a:t>
            </a:r>
            <a:r>
              <a:rPr sz="1800" dirty="0">
                <a:latin typeface="黑体"/>
                <a:cs typeface="黑体"/>
              </a:rPr>
              <a:t>1：卷积与图像去噪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43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4740" y="1304347"/>
            <a:ext cx="169608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图像</a:t>
            </a:r>
            <a:r>
              <a:rPr sz="1200" spc="-10" dirty="0">
                <a:latin typeface="黑体"/>
                <a:cs typeface="黑体"/>
              </a:rPr>
              <a:t>去</a:t>
            </a:r>
            <a:r>
              <a:rPr sz="1200" dirty="0">
                <a:latin typeface="黑体"/>
                <a:cs typeface="黑体"/>
              </a:rPr>
              <a:t>噪与</a:t>
            </a:r>
            <a:r>
              <a:rPr sz="1200" spc="-10" dirty="0">
                <a:latin typeface="黑体"/>
                <a:cs typeface="黑体"/>
              </a:rPr>
              <a:t>卷</a:t>
            </a:r>
            <a:r>
              <a:rPr sz="1200" dirty="0">
                <a:latin typeface="黑体"/>
                <a:cs typeface="黑体"/>
              </a:rPr>
              <a:t>积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高斯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卷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积核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图像噪声与中值滤波器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820" y="282378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补</a:t>
            </a:r>
            <a:r>
              <a:rPr sz="1800" spc="-5" dirty="0">
                <a:latin typeface="黑体"/>
                <a:cs typeface="黑体"/>
              </a:rPr>
              <a:t>充</a:t>
            </a:r>
            <a:r>
              <a:rPr sz="1800" dirty="0">
                <a:latin typeface="黑体"/>
                <a:cs typeface="黑体"/>
              </a:rPr>
              <a:t>1：卷积与图像去噪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53415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716" y="1328142"/>
            <a:ext cx="2778246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2912" y="1335762"/>
            <a:ext cx="2779678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41003" y="809142"/>
            <a:ext cx="73660" cy="2651760"/>
          </a:xfrm>
          <a:custGeom>
            <a:avLst/>
            <a:gdLst/>
            <a:ahLst/>
            <a:cxnLst/>
            <a:rect l="l" t="t" r="r" b="b"/>
            <a:pathLst>
              <a:path w="73660" h="2651760">
                <a:moveTo>
                  <a:pt x="0" y="2651760"/>
                </a:moveTo>
                <a:lnTo>
                  <a:pt x="73151" y="2651760"/>
                </a:lnTo>
                <a:lnTo>
                  <a:pt x="73151" y="0"/>
                </a:lnTo>
                <a:lnTo>
                  <a:pt x="0" y="0"/>
                </a:lnTo>
                <a:lnTo>
                  <a:pt x="0" y="2651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119" y="735990"/>
            <a:ext cx="1445260" cy="2725420"/>
          </a:xfrm>
          <a:custGeom>
            <a:avLst/>
            <a:gdLst/>
            <a:ahLst/>
            <a:cxnLst/>
            <a:rect l="l" t="t" r="r" b="b"/>
            <a:pathLst>
              <a:path w="1445260" h="2725420">
                <a:moveTo>
                  <a:pt x="0" y="2724912"/>
                </a:moveTo>
                <a:lnTo>
                  <a:pt x="1444752" y="2724912"/>
                </a:lnTo>
                <a:lnTo>
                  <a:pt x="1444752" y="0"/>
                </a:lnTo>
                <a:lnTo>
                  <a:pt x="0" y="0"/>
                </a:lnTo>
                <a:lnTo>
                  <a:pt x="0" y="2724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噪声图像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7324" y="3053740"/>
            <a:ext cx="4279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5" dirty="0">
                <a:latin typeface="黑体"/>
                <a:cs typeface="黑体"/>
              </a:rPr>
              <a:t>噪声图像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13143" y="1792122"/>
            <a:ext cx="74930" cy="71755"/>
          </a:xfrm>
          <a:custGeom>
            <a:avLst/>
            <a:gdLst/>
            <a:ahLst/>
            <a:cxnLst/>
            <a:rect l="l" t="t" r="r" b="b"/>
            <a:pathLst>
              <a:path w="74929" h="71755">
                <a:moveTo>
                  <a:pt x="0" y="71627"/>
                </a:moveTo>
                <a:lnTo>
                  <a:pt x="74675" y="71627"/>
                </a:lnTo>
                <a:lnTo>
                  <a:pt x="74675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56578" y="1790344"/>
            <a:ext cx="869950" cy="59055"/>
          </a:xfrm>
          <a:custGeom>
            <a:avLst/>
            <a:gdLst/>
            <a:ahLst/>
            <a:cxnLst/>
            <a:rect l="l" t="t" r="r" b="b"/>
            <a:pathLst>
              <a:path w="869950" h="59055">
                <a:moveTo>
                  <a:pt x="42037" y="15748"/>
                </a:moveTo>
                <a:lnTo>
                  <a:pt x="0" y="38735"/>
                </a:lnTo>
                <a:lnTo>
                  <a:pt x="43561" y="58547"/>
                </a:lnTo>
                <a:lnTo>
                  <a:pt x="43063" y="44577"/>
                </a:lnTo>
                <a:lnTo>
                  <a:pt x="35941" y="44577"/>
                </a:lnTo>
                <a:lnTo>
                  <a:pt x="35433" y="30353"/>
                </a:lnTo>
                <a:lnTo>
                  <a:pt x="42547" y="30093"/>
                </a:lnTo>
                <a:lnTo>
                  <a:pt x="42037" y="15748"/>
                </a:lnTo>
                <a:close/>
              </a:path>
              <a:path w="869950" h="59055">
                <a:moveTo>
                  <a:pt x="42547" y="30093"/>
                </a:moveTo>
                <a:lnTo>
                  <a:pt x="35433" y="30353"/>
                </a:lnTo>
                <a:lnTo>
                  <a:pt x="35941" y="44577"/>
                </a:lnTo>
                <a:lnTo>
                  <a:pt x="43054" y="44317"/>
                </a:lnTo>
                <a:lnTo>
                  <a:pt x="42547" y="30093"/>
                </a:lnTo>
                <a:close/>
              </a:path>
              <a:path w="869950" h="59055">
                <a:moveTo>
                  <a:pt x="43054" y="44317"/>
                </a:moveTo>
                <a:lnTo>
                  <a:pt x="35941" y="44577"/>
                </a:lnTo>
                <a:lnTo>
                  <a:pt x="43063" y="44577"/>
                </a:lnTo>
                <a:lnTo>
                  <a:pt x="43054" y="44317"/>
                </a:lnTo>
                <a:close/>
              </a:path>
              <a:path w="869950" h="59055">
                <a:moveTo>
                  <a:pt x="869061" y="0"/>
                </a:moveTo>
                <a:lnTo>
                  <a:pt x="42547" y="30093"/>
                </a:lnTo>
                <a:lnTo>
                  <a:pt x="43054" y="44317"/>
                </a:lnTo>
                <a:lnTo>
                  <a:pt x="869569" y="14224"/>
                </a:lnTo>
                <a:lnTo>
                  <a:pt x="8690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71184" y="1082033"/>
            <a:ext cx="2174875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7244" algn="ctr">
              <a:lnSpc>
                <a:spcPts val="1270"/>
              </a:lnSpc>
            </a:pPr>
            <a:r>
              <a:rPr sz="1200" dirty="0">
                <a:latin typeface="黑体"/>
                <a:cs typeface="黑体"/>
              </a:rPr>
              <a:t>去噪后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848994" algn="ctr">
              <a:lnSpc>
                <a:spcPct val="100000"/>
              </a:lnSpc>
              <a:tabLst>
                <a:tab pos="1153795" algn="l"/>
                <a:tab pos="1458595" algn="l"/>
              </a:tabLst>
            </a:pPr>
            <a:r>
              <a:rPr sz="1200" spc="-5" dirty="0">
                <a:latin typeface="Arial"/>
                <a:cs typeface="Arial"/>
              </a:rPr>
              <a:t>64	76	</a:t>
            </a:r>
            <a:r>
              <a:rPr sz="1200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  <a:p>
            <a:pPr marL="848994" algn="ctr">
              <a:lnSpc>
                <a:spcPct val="100000"/>
              </a:lnSpc>
              <a:spcBef>
                <a:spcPts val="990"/>
              </a:spcBef>
              <a:tabLst>
                <a:tab pos="1150620" algn="l"/>
                <a:tab pos="1458595" algn="l"/>
              </a:tabLst>
            </a:pPr>
            <a:r>
              <a:rPr sz="1800" spc="-7" baseline="2314" dirty="0">
                <a:latin typeface="Arial"/>
                <a:cs typeface="Arial"/>
              </a:rPr>
              <a:t>71	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92	</a:t>
            </a:r>
            <a:r>
              <a:rPr sz="1800" baseline="2314" dirty="0">
                <a:latin typeface="Arial"/>
                <a:cs typeface="Arial"/>
              </a:rPr>
              <a:t>75</a:t>
            </a:r>
            <a:endParaRPr sz="1800" baseline="2314">
              <a:latin typeface="Arial"/>
              <a:cs typeface="Arial"/>
            </a:endParaRPr>
          </a:p>
          <a:p>
            <a:pPr marL="848994" algn="ctr">
              <a:lnSpc>
                <a:spcPct val="100000"/>
              </a:lnSpc>
              <a:spcBef>
                <a:spcPts val="865"/>
              </a:spcBef>
              <a:tabLst>
                <a:tab pos="1153795" algn="l"/>
                <a:tab pos="1458595" algn="l"/>
              </a:tabLst>
            </a:pPr>
            <a:r>
              <a:rPr sz="1200" spc="-5" dirty="0">
                <a:latin typeface="Arial"/>
                <a:cs typeface="Arial"/>
              </a:rPr>
              <a:t>68	74	</a:t>
            </a:r>
            <a:r>
              <a:rPr sz="1200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057275" marR="1270">
              <a:lnSpc>
                <a:spcPts val="1180"/>
              </a:lnSpc>
              <a:spcBef>
                <a:spcPts val="944"/>
              </a:spcBef>
            </a:pP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64 + 76 + 69 +  71 + 253 + 75</a:t>
            </a:r>
            <a:r>
              <a:rPr sz="10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  <a:p>
            <a:pPr marL="1057275">
              <a:lnSpc>
                <a:spcPts val="1130"/>
              </a:lnSpc>
            </a:pP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68 + 74 + 78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/9</a:t>
            </a:r>
            <a:r>
              <a:rPr sz="1000" spc="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L="80645" algn="ctr">
              <a:lnSpc>
                <a:spcPts val="1195"/>
              </a:lnSpc>
            </a:pP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>
              <a:lnSpc>
                <a:spcPts val="915"/>
              </a:lnSpc>
              <a:spcBef>
                <a:spcPts val="50"/>
              </a:spcBef>
            </a:pPr>
            <a:r>
              <a:rPr sz="800" spc="-15" dirty="0">
                <a:latin typeface="黑体"/>
                <a:cs typeface="黑体"/>
              </a:rPr>
              <a:t>去噪图像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07223" y="1933346"/>
            <a:ext cx="127000" cy="483234"/>
          </a:xfrm>
          <a:custGeom>
            <a:avLst/>
            <a:gdLst/>
            <a:ahLst/>
            <a:cxnLst/>
            <a:rect l="l" t="t" r="r" b="b"/>
            <a:pathLst>
              <a:path w="127000" h="483235">
                <a:moveTo>
                  <a:pt x="0" y="426465"/>
                </a:moveTo>
                <a:lnTo>
                  <a:pt x="25273" y="429387"/>
                </a:lnTo>
                <a:lnTo>
                  <a:pt x="76200" y="0"/>
                </a:lnTo>
                <a:lnTo>
                  <a:pt x="126873" y="6095"/>
                </a:lnTo>
                <a:lnTo>
                  <a:pt x="75946" y="435482"/>
                </a:lnTo>
                <a:lnTo>
                  <a:pt x="101346" y="438403"/>
                </a:lnTo>
                <a:lnTo>
                  <a:pt x="44703" y="483107"/>
                </a:lnTo>
                <a:lnTo>
                  <a:pt x="0" y="42646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82919" y="809142"/>
            <a:ext cx="2958465" cy="2651760"/>
          </a:xfrm>
          <a:custGeom>
            <a:avLst/>
            <a:gdLst/>
            <a:ahLst/>
            <a:cxnLst/>
            <a:rect l="l" t="t" r="r" b="b"/>
            <a:pathLst>
              <a:path w="2958465" h="2651760">
                <a:moveTo>
                  <a:pt x="0" y="2651760"/>
                </a:moveTo>
                <a:lnTo>
                  <a:pt x="2958083" y="2651760"/>
                </a:lnTo>
                <a:lnTo>
                  <a:pt x="2958083" y="0"/>
                </a:lnTo>
                <a:lnTo>
                  <a:pt x="0" y="0"/>
                </a:lnTo>
                <a:lnTo>
                  <a:pt x="0" y="2651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43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717" y="1234067"/>
            <a:ext cx="2778246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2912" y="1241687"/>
            <a:ext cx="2779678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9404" y="715067"/>
            <a:ext cx="1445260" cy="2641600"/>
          </a:xfrm>
          <a:custGeom>
            <a:avLst/>
            <a:gdLst/>
            <a:ahLst/>
            <a:cxnLst/>
            <a:rect l="l" t="t" r="r" b="b"/>
            <a:pathLst>
              <a:path w="1445260" h="2641600">
                <a:moveTo>
                  <a:pt x="0" y="2641092"/>
                </a:moveTo>
                <a:lnTo>
                  <a:pt x="1444752" y="2641092"/>
                </a:lnTo>
                <a:lnTo>
                  <a:pt x="1444752" y="0"/>
                </a:lnTo>
                <a:lnTo>
                  <a:pt x="0" y="0"/>
                </a:lnTo>
                <a:lnTo>
                  <a:pt x="0" y="26410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120" y="641915"/>
            <a:ext cx="1445260" cy="2714625"/>
          </a:xfrm>
          <a:custGeom>
            <a:avLst/>
            <a:gdLst/>
            <a:ahLst/>
            <a:cxnLst/>
            <a:rect l="l" t="t" r="r" b="b"/>
            <a:pathLst>
              <a:path w="1445260" h="2714625">
                <a:moveTo>
                  <a:pt x="0" y="2714244"/>
                </a:moveTo>
                <a:lnTo>
                  <a:pt x="1444752" y="2714244"/>
                </a:lnTo>
                <a:lnTo>
                  <a:pt x="1444752" y="0"/>
                </a:lnTo>
                <a:lnTo>
                  <a:pt x="0" y="0"/>
                </a:lnTo>
                <a:lnTo>
                  <a:pt x="0" y="2714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12385" y="32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噪声图像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7324" y="2959157"/>
            <a:ext cx="42799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5" dirty="0">
                <a:latin typeface="黑体"/>
                <a:cs typeface="黑体"/>
              </a:rPr>
              <a:t>噪声图像</a:t>
            </a:r>
            <a:endParaRPr sz="800">
              <a:latin typeface="黑体"/>
              <a:cs typeface="黑体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20790" y="1231417"/>
          <a:ext cx="914399" cy="9022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54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099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022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73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098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137407" y="1696269"/>
            <a:ext cx="1336675" cy="50800"/>
          </a:xfrm>
          <a:custGeom>
            <a:avLst/>
            <a:gdLst/>
            <a:ahLst/>
            <a:cxnLst/>
            <a:rect l="l" t="t" r="r" b="b"/>
            <a:pathLst>
              <a:path w="1336675" h="50800">
                <a:moveTo>
                  <a:pt x="1294130" y="7747"/>
                </a:moveTo>
                <a:lnTo>
                  <a:pt x="1293876" y="21977"/>
                </a:lnTo>
                <a:lnTo>
                  <a:pt x="1300988" y="22098"/>
                </a:lnTo>
                <a:lnTo>
                  <a:pt x="1300734" y="36322"/>
                </a:lnTo>
                <a:lnTo>
                  <a:pt x="1293621" y="36322"/>
                </a:lnTo>
                <a:lnTo>
                  <a:pt x="1293368" y="50546"/>
                </a:lnTo>
                <a:lnTo>
                  <a:pt x="1323037" y="36322"/>
                </a:lnTo>
                <a:lnTo>
                  <a:pt x="1300734" y="36322"/>
                </a:lnTo>
                <a:lnTo>
                  <a:pt x="1293623" y="36201"/>
                </a:lnTo>
                <a:lnTo>
                  <a:pt x="1323289" y="36201"/>
                </a:lnTo>
                <a:lnTo>
                  <a:pt x="1336548" y="29845"/>
                </a:lnTo>
                <a:lnTo>
                  <a:pt x="1294130" y="7747"/>
                </a:lnTo>
                <a:close/>
              </a:path>
              <a:path w="1336675" h="50800">
                <a:moveTo>
                  <a:pt x="1293876" y="21977"/>
                </a:moveTo>
                <a:lnTo>
                  <a:pt x="1293623" y="36201"/>
                </a:lnTo>
                <a:lnTo>
                  <a:pt x="1300734" y="36322"/>
                </a:lnTo>
                <a:lnTo>
                  <a:pt x="1300988" y="22098"/>
                </a:lnTo>
                <a:lnTo>
                  <a:pt x="1293876" y="21977"/>
                </a:lnTo>
                <a:close/>
              </a:path>
              <a:path w="1336675" h="50800">
                <a:moveTo>
                  <a:pt x="254" y="0"/>
                </a:moveTo>
                <a:lnTo>
                  <a:pt x="0" y="14224"/>
                </a:lnTo>
                <a:lnTo>
                  <a:pt x="1293623" y="36201"/>
                </a:lnTo>
                <a:lnTo>
                  <a:pt x="1293876" y="21977"/>
                </a:lnTo>
                <a:lnTo>
                  <a:pt x="2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44364" y="1688903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73151"/>
                </a:moveTo>
                <a:lnTo>
                  <a:pt x="73151" y="73151"/>
                </a:lnTo>
                <a:lnTo>
                  <a:pt x="73151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13143" y="1698047"/>
            <a:ext cx="74930" cy="71755"/>
          </a:xfrm>
          <a:custGeom>
            <a:avLst/>
            <a:gdLst/>
            <a:ahLst/>
            <a:cxnLst/>
            <a:rect l="l" t="t" r="r" b="b"/>
            <a:pathLst>
              <a:path w="74929" h="71755">
                <a:moveTo>
                  <a:pt x="0" y="71627"/>
                </a:moveTo>
                <a:lnTo>
                  <a:pt x="74675" y="71627"/>
                </a:lnTo>
                <a:lnTo>
                  <a:pt x="74675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56578" y="1696269"/>
            <a:ext cx="869950" cy="59055"/>
          </a:xfrm>
          <a:custGeom>
            <a:avLst/>
            <a:gdLst/>
            <a:ahLst/>
            <a:cxnLst/>
            <a:rect l="l" t="t" r="r" b="b"/>
            <a:pathLst>
              <a:path w="869950" h="59055">
                <a:moveTo>
                  <a:pt x="42037" y="15748"/>
                </a:moveTo>
                <a:lnTo>
                  <a:pt x="0" y="38735"/>
                </a:lnTo>
                <a:lnTo>
                  <a:pt x="43561" y="58547"/>
                </a:lnTo>
                <a:lnTo>
                  <a:pt x="43063" y="44576"/>
                </a:lnTo>
                <a:lnTo>
                  <a:pt x="35941" y="44576"/>
                </a:lnTo>
                <a:lnTo>
                  <a:pt x="35433" y="30353"/>
                </a:lnTo>
                <a:lnTo>
                  <a:pt x="42547" y="30093"/>
                </a:lnTo>
                <a:lnTo>
                  <a:pt x="42037" y="15748"/>
                </a:lnTo>
                <a:close/>
              </a:path>
              <a:path w="869950" h="59055">
                <a:moveTo>
                  <a:pt x="42547" y="30093"/>
                </a:moveTo>
                <a:lnTo>
                  <a:pt x="35433" y="30353"/>
                </a:lnTo>
                <a:lnTo>
                  <a:pt x="35941" y="44576"/>
                </a:lnTo>
                <a:lnTo>
                  <a:pt x="43054" y="44317"/>
                </a:lnTo>
                <a:lnTo>
                  <a:pt x="42547" y="30093"/>
                </a:lnTo>
                <a:close/>
              </a:path>
              <a:path w="869950" h="59055">
                <a:moveTo>
                  <a:pt x="43054" y="44317"/>
                </a:moveTo>
                <a:lnTo>
                  <a:pt x="35941" y="44576"/>
                </a:lnTo>
                <a:lnTo>
                  <a:pt x="43063" y="44576"/>
                </a:lnTo>
                <a:lnTo>
                  <a:pt x="43054" y="44317"/>
                </a:lnTo>
                <a:close/>
              </a:path>
              <a:path w="869950" h="59055">
                <a:moveTo>
                  <a:pt x="869061" y="0"/>
                </a:moveTo>
                <a:lnTo>
                  <a:pt x="42547" y="30093"/>
                </a:lnTo>
                <a:lnTo>
                  <a:pt x="43054" y="44317"/>
                </a:lnTo>
                <a:lnTo>
                  <a:pt x="869569" y="14224"/>
                </a:lnTo>
                <a:lnTo>
                  <a:pt x="8690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71184" y="987323"/>
            <a:ext cx="2174875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7244" algn="ctr">
              <a:lnSpc>
                <a:spcPts val="1270"/>
              </a:lnSpc>
            </a:pPr>
            <a:r>
              <a:rPr sz="1200" dirty="0">
                <a:latin typeface="黑体"/>
                <a:cs typeface="黑体"/>
              </a:rPr>
              <a:t>去噪后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848994" algn="ctr">
              <a:lnSpc>
                <a:spcPct val="100000"/>
              </a:lnSpc>
              <a:tabLst>
                <a:tab pos="1153795" algn="l"/>
                <a:tab pos="1458595" algn="l"/>
              </a:tabLst>
            </a:pPr>
            <a:r>
              <a:rPr sz="1200" spc="-5" dirty="0">
                <a:latin typeface="Arial"/>
                <a:cs typeface="Arial"/>
              </a:rPr>
              <a:t>64	76	</a:t>
            </a:r>
            <a:r>
              <a:rPr sz="1200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  <a:p>
            <a:pPr marL="848994" algn="ctr">
              <a:lnSpc>
                <a:spcPct val="100000"/>
              </a:lnSpc>
              <a:spcBef>
                <a:spcPts val="990"/>
              </a:spcBef>
              <a:tabLst>
                <a:tab pos="1150620" algn="l"/>
                <a:tab pos="1458595" algn="l"/>
              </a:tabLst>
            </a:pPr>
            <a:r>
              <a:rPr sz="1800" spc="-7" baseline="2314" dirty="0">
                <a:latin typeface="Arial"/>
                <a:cs typeface="Arial"/>
              </a:rPr>
              <a:t>71	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92	</a:t>
            </a:r>
            <a:r>
              <a:rPr sz="1800" baseline="2314" dirty="0">
                <a:latin typeface="Arial"/>
                <a:cs typeface="Arial"/>
              </a:rPr>
              <a:t>75</a:t>
            </a:r>
            <a:endParaRPr sz="1800" baseline="2314">
              <a:latin typeface="Arial"/>
              <a:cs typeface="Arial"/>
            </a:endParaRPr>
          </a:p>
          <a:p>
            <a:pPr marL="848994" algn="ctr">
              <a:lnSpc>
                <a:spcPct val="100000"/>
              </a:lnSpc>
              <a:spcBef>
                <a:spcPts val="860"/>
              </a:spcBef>
              <a:tabLst>
                <a:tab pos="1153795" algn="l"/>
                <a:tab pos="1458595" algn="l"/>
              </a:tabLst>
            </a:pPr>
            <a:r>
              <a:rPr sz="1200" spc="-5" dirty="0">
                <a:latin typeface="Arial"/>
                <a:cs typeface="Arial"/>
              </a:rPr>
              <a:t>68	74	</a:t>
            </a:r>
            <a:r>
              <a:rPr sz="1200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057275" marR="1270">
              <a:lnSpc>
                <a:spcPts val="1180"/>
              </a:lnSpc>
              <a:spcBef>
                <a:spcPts val="950"/>
              </a:spcBef>
            </a:pP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64 + 76 + 69 +  71 + 253 + 75</a:t>
            </a:r>
            <a:r>
              <a:rPr sz="10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  <a:p>
            <a:pPr marL="1057275">
              <a:lnSpc>
                <a:spcPts val="1130"/>
              </a:lnSpc>
            </a:pP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68 + 74 + 78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/9</a:t>
            </a:r>
            <a:r>
              <a:rPr sz="1000" spc="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L="80645" algn="ctr">
              <a:lnSpc>
                <a:spcPts val="1195"/>
              </a:lnSpc>
            </a:pP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>
              <a:lnSpc>
                <a:spcPts val="915"/>
              </a:lnSpc>
              <a:spcBef>
                <a:spcPts val="45"/>
              </a:spcBef>
            </a:pPr>
            <a:r>
              <a:rPr sz="800" spc="-15" dirty="0">
                <a:latin typeface="黑体"/>
                <a:cs typeface="黑体"/>
              </a:rPr>
              <a:t>去噪图像</a:t>
            </a:r>
            <a:endParaRPr sz="8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07224" y="1839271"/>
            <a:ext cx="127000" cy="483234"/>
          </a:xfrm>
          <a:custGeom>
            <a:avLst/>
            <a:gdLst/>
            <a:ahLst/>
            <a:cxnLst/>
            <a:rect l="l" t="t" r="r" b="b"/>
            <a:pathLst>
              <a:path w="127000" h="483235">
                <a:moveTo>
                  <a:pt x="0" y="426466"/>
                </a:moveTo>
                <a:lnTo>
                  <a:pt x="25273" y="429387"/>
                </a:lnTo>
                <a:lnTo>
                  <a:pt x="76200" y="0"/>
                </a:lnTo>
                <a:lnTo>
                  <a:pt x="126873" y="6096"/>
                </a:lnTo>
                <a:lnTo>
                  <a:pt x="75946" y="435483"/>
                </a:lnTo>
                <a:lnTo>
                  <a:pt x="101346" y="438404"/>
                </a:lnTo>
                <a:lnTo>
                  <a:pt x="44703" y="483108"/>
                </a:lnTo>
                <a:lnTo>
                  <a:pt x="0" y="42646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44694" y="1671377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黑体"/>
                <a:cs typeface="黑体"/>
              </a:rPr>
              <a:t>噪声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82920" y="715067"/>
            <a:ext cx="2958465" cy="2537460"/>
          </a:xfrm>
          <a:custGeom>
            <a:avLst/>
            <a:gdLst/>
            <a:ahLst/>
            <a:cxnLst/>
            <a:rect l="l" t="t" r="r" b="b"/>
            <a:pathLst>
              <a:path w="2958465" h="2537460">
                <a:moveTo>
                  <a:pt x="0" y="2537460"/>
                </a:moveTo>
                <a:lnTo>
                  <a:pt x="2958083" y="2537460"/>
                </a:lnTo>
                <a:lnTo>
                  <a:pt x="2958083" y="0"/>
                </a:lnTo>
                <a:lnTo>
                  <a:pt x="0" y="0"/>
                </a:lnTo>
                <a:lnTo>
                  <a:pt x="0" y="2537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53415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716" y="1328142"/>
            <a:ext cx="2778246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2912" y="1335762"/>
            <a:ext cx="2779678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41003" y="809142"/>
            <a:ext cx="73660" cy="2575560"/>
          </a:xfrm>
          <a:custGeom>
            <a:avLst/>
            <a:gdLst/>
            <a:ahLst/>
            <a:cxnLst/>
            <a:rect l="l" t="t" r="r" b="b"/>
            <a:pathLst>
              <a:path w="73660" h="2575560">
                <a:moveTo>
                  <a:pt x="0" y="2575560"/>
                </a:moveTo>
                <a:lnTo>
                  <a:pt x="73151" y="2575560"/>
                </a:lnTo>
                <a:lnTo>
                  <a:pt x="73151" y="0"/>
                </a:lnTo>
                <a:lnTo>
                  <a:pt x="0" y="0"/>
                </a:lnTo>
                <a:lnTo>
                  <a:pt x="0" y="2575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119" y="735990"/>
            <a:ext cx="1445260" cy="2649220"/>
          </a:xfrm>
          <a:custGeom>
            <a:avLst/>
            <a:gdLst/>
            <a:ahLst/>
            <a:cxnLst/>
            <a:rect l="l" t="t" r="r" b="b"/>
            <a:pathLst>
              <a:path w="1445260" h="2649220">
                <a:moveTo>
                  <a:pt x="0" y="2648712"/>
                </a:moveTo>
                <a:lnTo>
                  <a:pt x="1444752" y="2648712"/>
                </a:lnTo>
                <a:lnTo>
                  <a:pt x="1444752" y="0"/>
                </a:lnTo>
                <a:lnTo>
                  <a:pt x="0" y="0"/>
                </a:lnTo>
                <a:lnTo>
                  <a:pt x="0" y="2648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图像去噪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0024" y="3080799"/>
            <a:ext cx="40259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5"/>
              </a:lnSpc>
            </a:pPr>
            <a:r>
              <a:rPr sz="800" spc="-15" dirty="0">
                <a:latin typeface="黑体"/>
                <a:cs typeface="黑体"/>
              </a:rPr>
              <a:t>噪声图像</a:t>
            </a:r>
            <a:endParaRPr sz="800">
              <a:latin typeface="黑体"/>
              <a:cs typeface="黑体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20790" y="1332636"/>
          <a:ext cx="914399" cy="90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54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098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022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73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098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78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137406" y="1790344"/>
            <a:ext cx="1353185" cy="50800"/>
          </a:xfrm>
          <a:custGeom>
            <a:avLst/>
            <a:gdLst/>
            <a:ahLst/>
            <a:cxnLst/>
            <a:rect l="l" t="t" r="r" b="b"/>
            <a:pathLst>
              <a:path w="1353185" h="50800">
                <a:moveTo>
                  <a:pt x="1310386" y="7747"/>
                </a:moveTo>
                <a:lnTo>
                  <a:pt x="1310132" y="21978"/>
                </a:lnTo>
                <a:lnTo>
                  <a:pt x="1317244" y="22098"/>
                </a:lnTo>
                <a:lnTo>
                  <a:pt x="1316990" y="36449"/>
                </a:lnTo>
                <a:lnTo>
                  <a:pt x="1309874" y="36449"/>
                </a:lnTo>
                <a:lnTo>
                  <a:pt x="1309624" y="50546"/>
                </a:lnTo>
                <a:lnTo>
                  <a:pt x="1339028" y="36449"/>
                </a:lnTo>
                <a:lnTo>
                  <a:pt x="1316990" y="36449"/>
                </a:lnTo>
                <a:lnTo>
                  <a:pt x="1309877" y="36328"/>
                </a:lnTo>
                <a:lnTo>
                  <a:pt x="1339279" y="36328"/>
                </a:lnTo>
                <a:lnTo>
                  <a:pt x="1352804" y="29845"/>
                </a:lnTo>
                <a:lnTo>
                  <a:pt x="1310386" y="7747"/>
                </a:lnTo>
                <a:close/>
              </a:path>
              <a:path w="1353185" h="50800">
                <a:moveTo>
                  <a:pt x="1310132" y="21978"/>
                </a:moveTo>
                <a:lnTo>
                  <a:pt x="1309877" y="36328"/>
                </a:lnTo>
                <a:lnTo>
                  <a:pt x="1316990" y="36449"/>
                </a:lnTo>
                <a:lnTo>
                  <a:pt x="1317244" y="22098"/>
                </a:lnTo>
                <a:lnTo>
                  <a:pt x="1310132" y="21978"/>
                </a:lnTo>
                <a:close/>
              </a:path>
              <a:path w="1353185" h="50800">
                <a:moveTo>
                  <a:pt x="254" y="0"/>
                </a:moveTo>
                <a:lnTo>
                  <a:pt x="0" y="14224"/>
                </a:lnTo>
                <a:lnTo>
                  <a:pt x="1309877" y="36328"/>
                </a:lnTo>
                <a:lnTo>
                  <a:pt x="1310132" y="21978"/>
                </a:lnTo>
                <a:lnTo>
                  <a:pt x="2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5827" y="1043330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去噪前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51983" y="1782978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73151"/>
                </a:moveTo>
                <a:lnTo>
                  <a:pt x="73151" y="73151"/>
                </a:lnTo>
                <a:lnTo>
                  <a:pt x="73151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13143" y="1792122"/>
            <a:ext cx="74930" cy="71755"/>
          </a:xfrm>
          <a:custGeom>
            <a:avLst/>
            <a:gdLst/>
            <a:ahLst/>
            <a:cxnLst/>
            <a:rect l="l" t="t" r="r" b="b"/>
            <a:pathLst>
              <a:path w="74929" h="71755">
                <a:moveTo>
                  <a:pt x="0" y="71627"/>
                </a:moveTo>
                <a:lnTo>
                  <a:pt x="74675" y="71627"/>
                </a:lnTo>
                <a:lnTo>
                  <a:pt x="74675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56578" y="1790344"/>
            <a:ext cx="869950" cy="59055"/>
          </a:xfrm>
          <a:custGeom>
            <a:avLst/>
            <a:gdLst/>
            <a:ahLst/>
            <a:cxnLst/>
            <a:rect l="l" t="t" r="r" b="b"/>
            <a:pathLst>
              <a:path w="869950" h="59055">
                <a:moveTo>
                  <a:pt x="42037" y="15748"/>
                </a:moveTo>
                <a:lnTo>
                  <a:pt x="0" y="38735"/>
                </a:lnTo>
                <a:lnTo>
                  <a:pt x="43561" y="58547"/>
                </a:lnTo>
                <a:lnTo>
                  <a:pt x="43063" y="44577"/>
                </a:lnTo>
                <a:lnTo>
                  <a:pt x="35941" y="44577"/>
                </a:lnTo>
                <a:lnTo>
                  <a:pt x="35433" y="30353"/>
                </a:lnTo>
                <a:lnTo>
                  <a:pt x="42547" y="30093"/>
                </a:lnTo>
                <a:lnTo>
                  <a:pt x="42037" y="15748"/>
                </a:lnTo>
                <a:close/>
              </a:path>
              <a:path w="869950" h="59055">
                <a:moveTo>
                  <a:pt x="42547" y="30093"/>
                </a:moveTo>
                <a:lnTo>
                  <a:pt x="35433" y="30353"/>
                </a:lnTo>
                <a:lnTo>
                  <a:pt x="35941" y="44577"/>
                </a:lnTo>
                <a:lnTo>
                  <a:pt x="43054" y="44317"/>
                </a:lnTo>
                <a:lnTo>
                  <a:pt x="42547" y="30093"/>
                </a:lnTo>
                <a:close/>
              </a:path>
              <a:path w="869950" h="59055">
                <a:moveTo>
                  <a:pt x="43054" y="44317"/>
                </a:moveTo>
                <a:lnTo>
                  <a:pt x="35941" y="44577"/>
                </a:lnTo>
                <a:lnTo>
                  <a:pt x="43063" y="44577"/>
                </a:lnTo>
                <a:lnTo>
                  <a:pt x="43054" y="44317"/>
                </a:lnTo>
                <a:close/>
              </a:path>
              <a:path w="869950" h="59055">
                <a:moveTo>
                  <a:pt x="869061" y="0"/>
                </a:moveTo>
                <a:lnTo>
                  <a:pt x="42547" y="30093"/>
                </a:lnTo>
                <a:lnTo>
                  <a:pt x="43054" y="44317"/>
                </a:lnTo>
                <a:lnTo>
                  <a:pt x="869569" y="14224"/>
                </a:lnTo>
                <a:lnTo>
                  <a:pt x="8690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71184" y="1082033"/>
            <a:ext cx="1903095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9660" algn="ctr">
              <a:lnSpc>
                <a:spcPts val="1270"/>
              </a:lnSpc>
            </a:pPr>
            <a:r>
              <a:rPr sz="1200" dirty="0">
                <a:latin typeface="黑体"/>
                <a:cs typeface="黑体"/>
              </a:rPr>
              <a:t>去噪后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121410" algn="ctr">
              <a:lnSpc>
                <a:spcPct val="100000"/>
              </a:lnSpc>
              <a:tabLst>
                <a:tab pos="1426210" algn="l"/>
                <a:tab pos="1731010" algn="l"/>
              </a:tabLst>
            </a:pPr>
            <a:r>
              <a:rPr sz="1200" spc="-5" dirty="0">
                <a:latin typeface="Arial"/>
                <a:cs typeface="Arial"/>
              </a:rPr>
              <a:t>64	76	</a:t>
            </a:r>
            <a:r>
              <a:rPr sz="1200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  <a:p>
            <a:pPr marL="1121410" algn="ctr">
              <a:lnSpc>
                <a:spcPct val="100000"/>
              </a:lnSpc>
              <a:spcBef>
                <a:spcPts val="990"/>
              </a:spcBef>
              <a:tabLst>
                <a:tab pos="1423035" algn="l"/>
                <a:tab pos="1731010" algn="l"/>
              </a:tabLst>
            </a:pPr>
            <a:r>
              <a:rPr sz="1800" spc="-7" baseline="2314" dirty="0">
                <a:latin typeface="Arial"/>
                <a:cs typeface="Arial"/>
              </a:rPr>
              <a:t>71	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92	</a:t>
            </a:r>
            <a:r>
              <a:rPr sz="1800" baseline="2314" dirty="0">
                <a:latin typeface="Arial"/>
                <a:cs typeface="Arial"/>
              </a:rPr>
              <a:t>75</a:t>
            </a:r>
            <a:endParaRPr sz="1800" baseline="2314">
              <a:latin typeface="Arial"/>
              <a:cs typeface="Arial"/>
            </a:endParaRPr>
          </a:p>
          <a:p>
            <a:pPr marL="1121410" algn="ctr">
              <a:lnSpc>
                <a:spcPct val="100000"/>
              </a:lnSpc>
              <a:spcBef>
                <a:spcPts val="865"/>
              </a:spcBef>
              <a:tabLst>
                <a:tab pos="1426210" algn="l"/>
                <a:tab pos="1731010" algn="l"/>
              </a:tabLst>
            </a:pPr>
            <a:r>
              <a:rPr sz="1200" spc="-5" dirty="0">
                <a:latin typeface="Arial"/>
                <a:cs typeface="Arial"/>
              </a:rPr>
              <a:t>68	74	</a:t>
            </a:r>
            <a:r>
              <a:rPr sz="1200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ts val="915"/>
              </a:lnSpc>
              <a:spcBef>
                <a:spcPts val="5"/>
              </a:spcBef>
            </a:pPr>
            <a:r>
              <a:rPr sz="800" spc="-15" dirty="0">
                <a:latin typeface="黑体"/>
                <a:cs typeface="黑体"/>
              </a:rPr>
              <a:t>去噪图像</a:t>
            </a:r>
            <a:endParaRPr sz="8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4693" y="1765960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黑体"/>
                <a:cs typeface="黑体"/>
              </a:rPr>
              <a:t>噪声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59269" y="1935378"/>
            <a:ext cx="647065" cy="606425"/>
          </a:xfrm>
          <a:custGeom>
            <a:avLst/>
            <a:gdLst/>
            <a:ahLst/>
            <a:cxnLst/>
            <a:rect l="l" t="t" r="r" b="b"/>
            <a:pathLst>
              <a:path w="647064" h="606425">
                <a:moveTo>
                  <a:pt x="519938" y="0"/>
                </a:moveTo>
                <a:lnTo>
                  <a:pt x="550290" y="33019"/>
                </a:lnTo>
                <a:lnTo>
                  <a:pt x="0" y="540512"/>
                </a:lnTo>
                <a:lnTo>
                  <a:pt x="60705" y="606298"/>
                </a:lnTo>
                <a:lnTo>
                  <a:pt x="610996" y="98806"/>
                </a:lnTo>
                <a:lnTo>
                  <a:pt x="642704" y="98806"/>
                </a:lnTo>
                <a:lnTo>
                  <a:pt x="646556" y="5206"/>
                </a:lnTo>
                <a:lnTo>
                  <a:pt x="519938" y="0"/>
                </a:lnTo>
                <a:close/>
              </a:path>
              <a:path w="647064" h="606425">
                <a:moveTo>
                  <a:pt x="642704" y="98806"/>
                </a:moveTo>
                <a:lnTo>
                  <a:pt x="610996" y="98806"/>
                </a:lnTo>
                <a:lnTo>
                  <a:pt x="641350" y="131699"/>
                </a:lnTo>
                <a:lnTo>
                  <a:pt x="642704" y="988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59269" y="1935378"/>
            <a:ext cx="647065" cy="606425"/>
          </a:xfrm>
          <a:custGeom>
            <a:avLst/>
            <a:gdLst/>
            <a:ahLst/>
            <a:cxnLst/>
            <a:rect l="l" t="t" r="r" b="b"/>
            <a:pathLst>
              <a:path w="647064" h="606425">
                <a:moveTo>
                  <a:pt x="641350" y="131699"/>
                </a:moveTo>
                <a:lnTo>
                  <a:pt x="610996" y="98806"/>
                </a:lnTo>
                <a:lnTo>
                  <a:pt x="60705" y="606298"/>
                </a:lnTo>
                <a:lnTo>
                  <a:pt x="0" y="540512"/>
                </a:lnTo>
                <a:lnTo>
                  <a:pt x="550290" y="33019"/>
                </a:lnTo>
                <a:lnTo>
                  <a:pt x="519938" y="0"/>
                </a:lnTo>
                <a:lnTo>
                  <a:pt x="646556" y="5206"/>
                </a:lnTo>
                <a:lnTo>
                  <a:pt x="641350" y="13169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22166" y="1892579"/>
            <a:ext cx="824230" cy="641985"/>
          </a:xfrm>
          <a:custGeom>
            <a:avLst/>
            <a:gdLst/>
            <a:ahLst/>
            <a:cxnLst/>
            <a:rect l="l" t="t" r="r" b="b"/>
            <a:pathLst>
              <a:path w="824230" h="641985">
                <a:moveTo>
                  <a:pt x="49276" y="0"/>
                </a:moveTo>
                <a:lnTo>
                  <a:pt x="0" y="66675"/>
                </a:lnTo>
                <a:lnTo>
                  <a:pt x="732663" y="608457"/>
                </a:lnTo>
                <a:lnTo>
                  <a:pt x="708025" y="641857"/>
                </a:lnTo>
                <a:lnTo>
                  <a:pt x="824103" y="624458"/>
                </a:lnTo>
                <a:lnTo>
                  <a:pt x="811710" y="541782"/>
                </a:lnTo>
                <a:lnTo>
                  <a:pt x="782066" y="541782"/>
                </a:lnTo>
                <a:lnTo>
                  <a:pt x="49276" y="0"/>
                </a:lnTo>
                <a:close/>
              </a:path>
              <a:path w="824230" h="641985">
                <a:moveTo>
                  <a:pt x="806704" y="508381"/>
                </a:moveTo>
                <a:lnTo>
                  <a:pt x="782066" y="541782"/>
                </a:lnTo>
                <a:lnTo>
                  <a:pt x="811710" y="541782"/>
                </a:lnTo>
                <a:lnTo>
                  <a:pt x="806704" y="508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22166" y="1892579"/>
            <a:ext cx="824230" cy="641985"/>
          </a:xfrm>
          <a:custGeom>
            <a:avLst/>
            <a:gdLst/>
            <a:ahLst/>
            <a:cxnLst/>
            <a:rect l="l" t="t" r="r" b="b"/>
            <a:pathLst>
              <a:path w="824230" h="641985">
                <a:moveTo>
                  <a:pt x="708025" y="641857"/>
                </a:moveTo>
                <a:lnTo>
                  <a:pt x="732663" y="608457"/>
                </a:lnTo>
                <a:lnTo>
                  <a:pt x="0" y="66675"/>
                </a:lnTo>
                <a:lnTo>
                  <a:pt x="49276" y="0"/>
                </a:lnTo>
                <a:lnTo>
                  <a:pt x="782066" y="541782"/>
                </a:lnTo>
                <a:lnTo>
                  <a:pt x="806704" y="508381"/>
                </a:lnTo>
                <a:lnTo>
                  <a:pt x="824103" y="624458"/>
                </a:lnTo>
                <a:lnTo>
                  <a:pt x="708025" y="641857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82919" y="809142"/>
            <a:ext cx="2958465" cy="2649220"/>
          </a:xfrm>
          <a:custGeom>
            <a:avLst/>
            <a:gdLst/>
            <a:ahLst/>
            <a:cxnLst/>
            <a:rect l="l" t="t" r="r" b="b"/>
            <a:pathLst>
              <a:path w="2958465" h="2649220">
                <a:moveTo>
                  <a:pt x="0" y="2648712"/>
                </a:moveTo>
                <a:lnTo>
                  <a:pt x="2958083" y="2648712"/>
                </a:lnTo>
                <a:lnTo>
                  <a:pt x="2958083" y="0"/>
                </a:lnTo>
                <a:lnTo>
                  <a:pt x="0" y="0"/>
                </a:lnTo>
                <a:lnTo>
                  <a:pt x="0" y="2648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03165" y="2516784"/>
            <a:ext cx="2308860" cy="699770"/>
          </a:xfrm>
          <a:custGeom>
            <a:avLst/>
            <a:gdLst/>
            <a:ahLst/>
            <a:cxnLst/>
            <a:rect l="l" t="t" r="r" b="b"/>
            <a:pathLst>
              <a:path w="2308860" h="699769">
                <a:moveTo>
                  <a:pt x="0" y="699516"/>
                </a:moveTo>
                <a:lnTo>
                  <a:pt x="2308860" y="699516"/>
                </a:lnTo>
                <a:lnTo>
                  <a:pt x="2308860" y="0"/>
                </a:lnTo>
                <a:lnTo>
                  <a:pt x="0" y="0"/>
                </a:lnTo>
                <a:lnTo>
                  <a:pt x="0" y="699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03165" y="2516784"/>
            <a:ext cx="2308860" cy="699770"/>
          </a:xfrm>
          <a:custGeom>
            <a:avLst/>
            <a:gdLst/>
            <a:ahLst/>
            <a:cxnLst/>
            <a:rect l="l" t="t" r="r" b="b"/>
            <a:pathLst>
              <a:path w="2308860" h="699769">
                <a:moveTo>
                  <a:pt x="0" y="699516"/>
                </a:moveTo>
                <a:lnTo>
                  <a:pt x="2308860" y="699516"/>
                </a:lnTo>
                <a:lnTo>
                  <a:pt x="2308860" y="0"/>
                </a:lnTo>
                <a:lnTo>
                  <a:pt x="0" y="0"/>
                </a:lnTo>
                <a:lnTo>
                  <a:pt x="0" y="699516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67224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60999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54775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48552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56682" y="2648737"/>
            <a:ext cx="15582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6095" algn="l"/>
                <a:tab pos="1000125" algn="l"/>
                <a:tab pos="1494155" algn="l"/>
              </a:tabLst>
            </a:pPr>
            <a:r>
              <a:rPr sz="700" spc="15" dirty="0">
                <a:latin typeface="Cambria Math"/>
                <a:cs typeface="Cambria Math"/>
              </a:rPr>
              <a:t>9	9	9	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36058" y="2551201"/>
            <a:ext cx="2103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= 64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+ 76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+ 69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+ 71 × </a:t>
            </a:r>
            <a:r>
              <a:rPr sz="1050" spc="52" baseline="47619" dirty="0">
                <a:latin typeface="Cambria Math"/>
                <a:cs typeface="Cambria Math"/>
              </a:rPr>
              <a:t>1</a:t>
            </a:r>
            <a:r>
              <a:rPr sz="1050" spc="97" baseline="47619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406263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395722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01563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394199" y="2726461"/>
            <a:ext cx="5746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7365" algn="l"/>
              </a:tabLst>
            </a:pPr>
            <a:r>
              <a:rPr sz="700" spc="35" dirty="0">
                <a:latin typeface="Cambria Math"/>
                <a:cs typeface="Cambria Math"/>
              </a:rPr>
              <a:t>1	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91022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395340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83528" y="2726461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latin typeface="Cambria Math"/>
                <a:cs typeface="Cambria Math"/>
              </a:rPr>
              <a:t>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85053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89116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877304" y="2726461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latin typeface="Cambria Math"/>
                <a:cs typeface="Cambria Math"/>
              </a:rPr>
              <a:t>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78828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36058" y="2767609"/>
            <a:ext cx="20440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253 × + 75 × + 68 × + 74 ×</a:t>
            </a:r>
            <a:r>
              <a:rPr sz="1000" spc="6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336159" y="3082315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325618" y="3081553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36058" y="2984017"/>
            <a:ext cx="675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78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=</a:t>
            </a:r>
            <a:r>
              <a:rPr sz="1000" spc="-105" dirty="0">
                <a:latin typeface="Cambria Math"/>
                <a:cs typeface="Cambria Math"/>
              </a:rPr>
              <a:t> </a:t>
            </a:r>
            <a:r>
              <a:rPr sz="1000" dirty="0">
                <a:latin typeface="Cambria Math"/>
                <a:cs typeface="Cambria Math"/>
              </a:rPr>
              <a:t>9</a:t>
            </a:r>
            <a:r>
              <a:rPr sz="100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39632" y="343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717" y="1234067"/>
            <a:ext cx="2778246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32912" y="1241687"/>
            <a:ext cx="2779678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69404" y="715067"/>
            <a:ext cx="1445260" cy="2504440"/>
          </a:xfrm>
          <a:custGeom>
            <a:avLst/>
            <a:gdLst/>
            <a:ahLst/>
            <a:cxnLst/>
            <a:rect l="l" t="t" r="r" b="b"/>
            <a:pathLst>
              <a:path w="1445260" h="2504440">
                <a:moveTo>
                  <a:pt x="0" y="2503932"/>
                </a:moveTo>
                <a:lnTo>
                  <a:pt x="1444752" y="2503932"/>
                </a:lnTo>
                <a:lnTo>
                  <a:pt x="1444752" y="0"/>
                </a:lnTo>
                <a:lnTo>
                  <a:pt x="0" y="0"/>
                </a:lnTo>
                <a:lnTo>
                  <a:pt x="0" y="2503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1120" y="641915"/>
            <a:ext cx="1445260" cy="2577465"/>
          </a:xfrm>
          <a:custGeom>
            <a:avLst/>
            <a:gdLst/>
            <a:ahLst/>
            <a:cxnLst/>
            <a:rect l="l" t="t" r="r" b="b"/>
            <a:pathLst>
              <a:path w="1445260" h="2577465">
                <a:moveTo>
                  <a:pt x="0" y="2577084"/>
                </a:moveTo>
                <a:lnTo>
                  <a:pt x="1444752" y="2577084"/>
                </a:lnTo>
                <a:lnTo>
                  <a:pt x="1444752" y="0"/>
                </a:lnTo>
                <a:lnTo>
                  <a:pt x="0" y="0"/>
                </a:lnTo>
                <a:lnTo>
                  <a:pt x="0" y="25770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12385" y="32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图像去噪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9947" y="1842954"/>
            <a:ext cx="29527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147" y="1842954"/>
            <a:ext cx="298450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74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077" y="1842954"/>
            <a:ext cx="29400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36772" y="1539551"/>
            <a:ext cx="304800" cy="300355"/>
          </a:xfrm>
          <a:custGeom>
            <a:avLst/>
            <a:gdLst/>
            <a:ahLst/>
            <a:cxnLst/>
            <a:rect l="l" t="t" r="r" b="b"/>
            <a:pathLst>
              <a:path w="304800" h="300355">
                <a:moveTo>
                  <a:pt x="0" y="300227"/>
                </a:moveTo>
                <a:lnTo>
                  <a:pt x="304800" y="300227"/>
                </a:lnTo>
                <a:lnTo>
                  <a:pt x="304800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9947" y="1581080"/>
            <a:ext cx="295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75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1972" y="1539551"/>
            <a:ext cx="304800" cy="300355"/>
          </a:xfrm>
          <a:prstGeom prst="rect">
            <a:avLst/>
          </a:prstGeom>
          <a:solidFill>
            <a:srgbClr val="009973"/>
          </a:solidFill>
          <a:ln w="6350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253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077" y="1542726"/>
            <a:ext cx="294005" cy="29400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08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0"/>
              </a:spcBef>
            </a:pPr>
            <a:r>
              <a:rPr sz="1200" spc="-5" dirty="0">
                <a:latin typeface="Arial"/>
                <a:cs typeface="Arial"/>
              </a:rPr>
              <a:t>71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9947" y="1245705"/>
            <a:ext cx="29527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762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375"/>
              </a:spcBef>
            </a:pPr>
            <a:r>
              <a:rPr sz="1200" spc="-5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147" y="1245705"/>
            <a:ext cx="298450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762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375"/>
              </a:spcBef>
            </a:pPr>
            <a:r>
              <a:rPr sz="1200" spc="-5" dirty="0">
                <a:latin typeface="Arial"/>
                <a:cs typeface="Arial"/>
              </a:rPr>
              <a:t>76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077" y="1245705"/>
            <a:ext cx="29400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762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75"/>
              </a:spcBef>
            </a:pPr>
            <a:r>
              <a:rPr sz="1200" spc="-5" dirty="0">
                <a:latin typeface="Arial"/>
                <a:cs typeface="Arial"/>
              </a:rPr>
              <a:t>64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7934" y="12385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7172" y="153955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7172" y="1839779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7934" y="2140769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7934" y="1238561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1972" y="1237799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36772" y="1237799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42334" y="1238561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37407" y="1696269"/>
            <a:ext cx="1353185" cy="50800"/>
          </a:xfrm>
          <a:custGeom>
            <a:avLst/>
            <a:gdLst/>
            <a:ahLst/>
            <a:cxnLst/>
            <a:rect l="l" t="t" r="r" b="b"/>
            <a:pathLst>
              <a:path w="1353185" h="50800">
                <a:moveTo>
                  <a:pt x="1310386" y="7747"/>
                </a:moveTo>
                <a:lnTo>
                  <a:pt x="1310132" y="21978"/>
                </a:lnTo>
                <a:lnTo>
                  <a:pt x="1317244" y="22098"/>
                </a:lnTo>
                <a:lnTo>
                  <a:pt x="1316990" y="36449"/>
                </a:lnTo>
                <a:lnTo>
                  <a:pt x="1309874" y="36449"/>
                </a:lnTo>
                <a:lnTo>
                  <a:pt x="1309624" y="50546"/>
                </a:lnTo>
                <a:lnTo>
                  <a:pt x="1339028" y="36449"/>
                </a:lnTo>
                <a:lnTo>
                  <a:pt x="1316990" y="36449"/>
                </a:lnTo>
                <a:lnTo>
                  <a:pt x="1309877" y="36328"/>
                </a:lnTo>
                <a:lnTo>
                  <a:pt x="1339279" y="36328"/>
                </a:lnTo>
                <a:lnTo>
                  <a:pt x="1352804" y="29845"/>
                </a:lnTo>
                <a:lnTo>
                  <a:pt x="1310386" y="7747"/>
                </a:lnTo>
                <a:close/>
              </a:path>
              <a:path w="1353185" h="50800">
                <a:moveTo>
                  <a:pt x="1310132" y="21978"/>
                </a:moveTo>
                <a:lnTo>
                  <a:pt x="1309877" y="36328"/>
                </a:lnTo>
                <a:lnTo>
                  <a:pt x="1316990" y="36449"/>
                </a:lnTo>
                <a:lnTo>
                  <a:pt x="1317244" y="22098"/>
                </a:lnTo>
                <a:lnTo>
                  <a:pt x="1310132" y="21978"/>
                </a:lnTo>
                <a:close/>
              </a:path>
              <a:path w="1353185" h="50800">
                <a:moveTo>
                  <a:pt x="254" y="0"/>
                </a:moveTo>
                <a:lnTo>
                  <a:pt x="0" y="14224"/>
                </a:lnTo>
                <a:lnTo>
                  <a:pt x="1309877" y="36328"/>
                </a:lnTo>
                <a:lnTo>
                  <a:pt x="1310132" y="21978"/>
                </a:lnTo>
                <a:lnTo>
                  <a:pt x="2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95828" y="948620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去噪前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451984" y="1688903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73151"/>
                </a:moveTo>
                <a:lnTo>
                  <a:pt x="73151" y="73151"/>
                </a:lnTo>
                <a:lnTo>
                  <a:pt x="73151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926198" y="95319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去噪后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113143" y="1698047"/>
            <a:ext cx="74930" cy="71755"/>
          </a:xfrm>
          <a:custGeom>
            <a:avLst/>
            <a:gdLst/>
            <a:ahLst/>
            <a:cxnLst/>
            <a:rect l="l" t="t" r="r" b="b"/>
            <a:pathLst>
              <a:path w="74929" h="71755">
                <a:moveTo>
                  <a:pt x="0" y="71627"/>
                </a:moveTo>
                <a:lnTo>
                  <a:pt x="74675" y="71627"/>
                </a:lnTo>
                <a:lnTo>
                  <a:pt x="74675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337043" y="1847526"/>
            <a:ext cx="295275" cy="29273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32243" y="1847526"/>
            <a:ext cx="298450" cy="29273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74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32173" y="1847526"/>
            <a:ext cx="294005" cy="29273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7043" y="1547298"/>
            <a:ext cx="295275" cy="29400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Arial"/>
                <a:cs typeface="Arial"/>
              </a:rPr>
              <a:t>75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724268" y="1544123"/>
            <a:ext cx="304800" cy="300355"/>
          </a:xfrm>
          <a:custGeom>
            <a:avLst/>
            <a:gdLst/>
            <a:ahLst/>
            <a:cxnLst/>
            <a:rect l="l" t="t" r="r" b="b"/>
            <a:pathLst>
              <a:path w="304800" h="300355">
                <a:moveTo>
                  <a:pt x="0" y="300227"/>
                </a:moveTo>
                <a:lnTo>
                  <a:pt x="304800" y="300227"/>
                </a:lnTo>
                <a:lnTo>
                  <a:pt x="304800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32173" y="1586541"/>
            <a:ext cx="294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71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37043" y="1251801"/>
            <a:ext cx="295275" cy="28956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699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70"/>
              </a:spcBef>
            </a:pPr>
            <a:r>
              <a:rPr sz="1200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32243" y="1251801"/>
            <a:ext cx="298450" cy="28956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699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70"/>
              </a:spcBef>
            </a:pPr>
            <a:r>
              <a:rPr sz="1200" spc="-5" dirty="0">
                <a:latin typeface="Arial"/>
                <a:cs typeface="Arial"/>
              </a:rPr>
              <a:t>76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32173" y="1251801"/>
            <a:ext cx="294005" cy="28956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699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370"/>
              </a:spcBef>
            </a:pPr>
            <a:r>
              <a:rPr sz="1200" spc="-5" dirty="0">
                <a:latin typeface="Arial"/>
                <a:cs typeface="Arial"/>
              </a:rPr>
              <a:t>64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725030" y="1244657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724268" y="154412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724268" y="184435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725030" y="214686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25030" y="1244657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29068" y="1243895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33868" y="1243895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39430" y="1244657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029068" y="1544123"/>
            <a:ext cx="304800" cy="300355"/>
          </a:xfrm>
          <a:prstGeom prst="rect">
            <a:avLst/>
          </a:prstGeom>
          <a:solidFill>
            <a:srgbClr val="009973"/>
          </a:solidFill>
          <a:ln w="635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95"/>
              </a:spcBef>
            </a:pP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92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156578" y="1696269"/>
            <a:ext cx="869950" cy="59055"/>
          </a:xfrm>
          <a:custGeom>
            <a:avLst/>
            <a:gdLst/>
            <a:ahLst/>
            <a:cxnLst/>
            <a:rect l="l" t="t" r="r" b="b"/>
            <a:pathLst>
              <a:path w="869950" h="59055">
                <a:moveTo>
                  <a:pt x="42037" y="15748"/>
                </a:moveTo>
                <a:lnTo>
                  <a:pt x="0" y="38735"/>
                </a:lnTo>
                <a:lnTo>
                  <a:pt x="43561" y="58547"/>
                </a:lnTo>
                <a:lnTo>
                  <a:pt x="43063" y="44576"/>
                </a:lnTo>
                <a:lnTo>
                  <a:pt x="35941" y="44576"/>
                </a:lnTo>
                <a:lnTo>
                  <a:pt x="35433" y="30353"/>
                </a:lnTo>
                <a:lnTo>
                  <a:pt x="42547" y="30093"/>
                </a:lnTo>
                <a:lnTo>
                  <a:pt x="42037" y="15748"/>
                </a:lnTo>
                <a:close/>
              </a:path>
              <a:path w="869950" h="59055">
                <a:moveTo>
                  <a:pt x="42547" y="30093"/>
                </a:moveTo>
                <a:lnTo>
                  <a:pt x="35433" y="30353"/>
                </a:lnTo>
                <a:lnTo>
                  <a:pt x="35941" y="44576"/>
                </a:lnTo>
                <a:lnTo>
                  <a:pt x="43054" y="44317"/>
                </a:lnTo>
                <a:lnTo>
                  <a:pt x="42547" y="30093"/>
                </a:lnTo>
                <a:close/>
              </a:path>
              <a:path w="869950" h="59055">
                <a:moveTo>
                  <a:pt x="43054" y="44317"/>
                </a:moveTo>
                <a:lnTo>
                  <a:pt x="35941" y="44576"/>
                </a:lnTo>
                <a:lnTo>
                  <a:pt x="43063" y="44576"/>
                </a:lnTo>
                <a:lnTo>
                  <a:pt x="43054" y="44317"/>
                </a:lnTo>
                <a:close/>
              </a:path>
              <a:path w="869950" h="59055">
                <a:moveTo>
                  <a:pt x="869061" y="0"/>
                </a:moveTo>
                <a:lnTo>
                  <a:pt x="42547" y="30093"/>
                </a:lnTo>
                <a:lnTo>
                  <a:pt x="43054" y="44317"/>
                </a:lnTo>
                <a:lnTo>
                  <a:pt x="869569" y="14224"/>
                </a:lnTo>
                <a:lnTo>
                  <a:pt x="8690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010024" y="2986216"/>
            <a:ext cx="2063750" cy="12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  <a:tabLst>
                <a:tab pos="1660525" algn="l"/>
              </a:tabLst>
            </a:pPr>
            <a:r>
              <a:rPr sz="800" spc="-15" dirty="0">
                <a:latin typeface="黑体"/>
                <a:cs typeface="黑体"/>
              </a:rPr>
              <a:t>噪声图</a:t>
            </a:r>
            <a:r>
              <a:rPr sz="800" dirty="0">
                <a:latin typeface="黑体"/>
                <a:cs typeface="黑体"/>
              </a:rPr>
              <a:t>像	</a:t>
            </a:r>
            <a:r>
              <a:rPr sz="1200" spc="-22" baseline="-10416" dirty="0">
                <a:latin typeface="黑体"/>
                <a:cs typeface="黑体"/>
              </a:rPr>
              <a:t>去噪图像</a:t>
            </a:r>
            <a:endParaRPr sz="1200" baseline="-10416">
              <a:latin typeface="黑体"/>
              <a:cs typeface="黑体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003166" y="2422709"/>
            <a:ext cx="2308860" cy="699770"/>
          </a:xfrm>
          <a:custGeom>
            <a:avLst/>
            <a:gdLst/>
            <a:ahLst/>
            <a:cxnLst/>
            <a:rect l="l" t="t" r="r" b="b"/>
            <a:pathLst>
              <a:path w="2308860" h="699769">
                <a:moveTo>
                  <a:pt x="0" y="699515"/>
                </a:moveTo>
                <a:lnTo>
                  <a:pt x="2308860" y="699515"/>
                </a:lnTo>
                <a:lnTo>
                  <a:pt x="2308860" y="0"/>
                </a:lnTo>
                <a:lnTo>
                  <a:pt x="0" y="0"/>
                </a:lnTo>
                <a:lnTo>
                  <a:pt x="0" y="6995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003166" y="2422709"/>
            <a:ext cx="2308860" cy="699770"/>
          </a:xfrm>
          <a:custGeom>
            <a:avLst/>
            <a:gdLst/>
            <a:ahLst/>
            <a:cxnLst/>
            <a:rect l="l" t="t" r="r" b="b"/>
            <a:pathLst>
              <a:path w="2308860" h="699769">
                <a:moveTo>
                  <a:pt x="0" y="699515"/>
                </a:moveTo>
                <a:lnTo>
                  <a:pt x="2308860" y="699515"/>
                </a:lnTo>
                <a:lnTo>
                  <a:pt x="2308860" y="0"/>
                </a:lnTo>
                <a:lnTo>
                  <a:pt x="0" y="0"/>
                </a:lnTo>
                <a:lnTo>
                  <a:pt x="0" y="699515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67224" y="2555424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961000" y="2555424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454775" y="2555424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48552" y="2555424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456682" y="2554027"/>
            <a:ext cx="15582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6095" algn="l"/>
                <a:tab pos="1000125" algn="l"/>
                <a:tab pos="1494155" algn="l"/>
              </a:tabLst>
            </a:pPr>
            <a:r>
              <a:rPr sz="700" spc="15" dirty="0">
                <a:latin typeface="Cambria Math"/>
                <a:cs typeface="Cambria Math"/>
              </a:rPr>
              <a:t>9	9	9	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36059" y="2456491"/>
            <a:ext cx="2103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= 64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+ 76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+ 69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+ 71 × </a:t>
            </a:r>
            <a:r>
              <a:rPr sz="1050" spc="52" baseline="47619" dirty="0">
                <a:latin typeface="Cambria Math"/>
                <a:cs typeface="Cambria Math"/>
              </a:rPr>
              <a:t>1</a:t>
            </a:r>
            <a:r>
              <a:rPr sz="1050" spc="97" baseline="47619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06264" y="2771832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395723" y="277043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01564" y="2771832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2394199" y="2631751"/>
            <a:ext cx="5746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7365" algn="l"/>
              </a:tabLst>
            </a:pPr>
            <a:r>
              <a:rPr sz="700" spc="35" dirty="0">
                <a:latin typeface="Cambria Math"/>
                <a:cs typeface="Cambria Math"/>
              </a:rPr>
              <a:t>1	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91023" y="277043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395340" y="2771832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383529" y="2631751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latin typeface="Cambria Math"/>
                <a:cs typeface="Cambria Math"/>
              </a:rPr>
              <a:t>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385053" y="277043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889116" y="2771832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877305" y="2631751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latin typeface="Cambria Math"/>
                <a:cs typeface="Cambria Math"/>
              </a:rPr>
              <a:t>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78829" y="277043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036059" y="2672899"/>
            <a:ext cx="20440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253 × + 75 × + 68 × + 74 ×</a:t>
            </a:r>
            <a:r>
              <a:rPr sz="1000" spc="6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336160" y="2988240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325619" y="2986843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036059" y="2889307"/>
            <a:ext cx="675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78 × </a:t>
            </a:r>
            <a:r>
              <a:rPr sz="1050" spc="52" baseline="47619" dirty="0"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=</a:t>
            </a:r>
            <a:r>
              <a:rPr sz="1000" spc="-105" dirty="0">
                <a:latin typeface="Cambria Math"/>
                <a:cs typeface="Cambria Math"/>
              </a:rPr>
              <a:t> </a:t>
            </a:r>
            <a:r>
              <a:rPr sz="1000" dirty="0">
                <a:latin typeface="Cambria Math"/>
                <a:cs typeface="Cambria Math"/>
              </a:rPr>
              <a:t>9</a:t>
            </a:r>
            <a:r>
              <a:rPr sz="100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544694" y="1671377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黑体"/>
                <a:cs typeface="黑体"/>
              </a:rPr>
              <a:t>噪声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359269" y="1841303"/>
            <a:ext cx="647065" cy="606425"/>
          </a:xfrm>
          <a:custGeom>
            <a:avLst/>
            <a:gdLst/>
            <a:ahLst/>
            <a:cxnLst/>
            <a:rect l="l" t="t" r="r" b="b"/>
            <a:pathLst>
              <a:path w="647064" h="606425">
                <a:moveTo>
                  <a:pt x="519938" y="0"/>
                </a:moveTo>
                <a:lnTo>
                  <a:pt x="550290" y="33020"/>
                </a:lnTo>
                <a:lnTo>
                  <a:pt x="0" y="540511"/>
                </a:lnTo>
                <a:lnTo>
                  <a:pt x="60705" y="606298"/>
                </a:lnTo>
                <a:lnTo>
                  <a:pt x="610996" y="98805"/>
                </a:lnTo>
                <a:lnTo>
                  <a:pt x="642704" y="98805"/>
                </a:lnTo>
                <a:lnTo>
                  <a:pt x="646556" y="5206"/>
                </a:lnTo>
                <a:lnTo>
                  <a:pt x="519938" y="0"/>
                </a:lnTo>
                <a:close/>
              </a:path>
              <a:path w="647064" h="606425">
                <a:moveTo>
                  <a:pt x="642704" y="98805"/>
                </a:moveTo>
                <a:lnTo>
                  <a:pt x="610996" y="98805"/>
                </a:lnTo>
                <a:lnTo>
                  <a:pt x="641350" y="131699"/>
                </a:lnTo>
                <a:lnTo>
                  <a:pt x="642704" y="988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359269" y="1841303"/>
            <a:ext cx="647065" cy="606425"/>
          </a:xfrm>
          <a:custGeom>
            <a:avLst/>
            <a:gdLst/>
            <a:ahLst/>
            <a:cxnLst/>
            <a:rect l="l" t="t" r="r" b="b"/>
            <a:pathLst>
              <a:path w="647064" h="606425">
                <a:moveTo>
                  <a:pt x="641350" y="131699"/>
                </a:moveTo>
                <a:lnTo>
                  <a:pt x="610996" y="98805"/>
                </a:lnTo>
                <a:lnTo>
                  <a:pt x="60705" y="606298"/>
                </a:lnTo>
                <a:lnTo>
                  <a:pt x="0" y="540511"/>
                </a:lnTo>
                <a:lnTo>
                  <a:pt x="550290" y="33020"/>
                </a:lnTo>
                <a:lnTo>
                  <a:pt x="519938" y="0"/>
                </a:lnTo>
                <a:lnTo>
                  <a:pt x="646556" y="5206"/>
                </a:lnTo>
                <a:lnTo>
                  <a:pt x="641350" y="13169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122167" y="1798504"/>
            <a:ext cx="824230" cy="641985"/>
          </a:xfrm>
          <a:custGeom>
            <a:avLst/>
            <a:gdLst/>
            <a:ahLst/>
            <a:cxnLst/>
            <a:rect l="l" t="t" r="r" b="b"/>
            <a:pathLst>
              <a:path w="824230" h="641985">
                <a:moveTo>
                  <a:pt x="49276" y="0"/>
                </a:moveTo>
                <a:lnTo>
                  <a:pt x="0" y="66675"/>
                </a:lnTo>
                <a:lnTo>
                  <a:pt x="732663" y="608456"/>
                </a:lnTo>
                <a:lnTo>
                  <a:pt x="708025" y="641857"/>
                </a:lnTo>
                <a:lnTo>
                  <a:pt x="824103" y="624458"/>
                </a:lnTo>
                <a:lnTo>
                  <a:pt x="811710" y="541781"/>
                </a:lnTo>
                <a:lnTo>
                  <a:pt x="782066" y="541781"/>
                </a:lnTo>
                <a:lnTo>
                  <a:pt x="49276" y="0"/>
                </a:lnTo>
                <a:close/>
              </a:path>
              <a:path w="824230" h="641985">
                <a:moveTo>
                  <a:pt x="806704" y="508380"/>
                </a:moveTo>
                <a:lnTo>
                  <a:pt x="782066" y="541781"/>
                </a:lnTo>
                <a:lnTo>
                  <a:pt x="811710" y="541781"/>
                </a:lnTo>
                <a:lnTo>
                  <a:pt x="806704" y="5083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22167" y="1798504"/>
            <a:ext cx="824230" cy="641985"/>
          </a:xfrm>
          <a:custGeom>
            <a:avLst/>
            <a:gdLst/>
            <a:ahLst/>
            <a:cxnLst/>
            <a:rect l="l" t="t" r="r" b="b"/>
            <a:pathLst>
              <a:path w="824230" h="641985">
                <a:moveTo>
                  <a:pt x="708025" y="641857"/>
                </a:moveTo>
                <a:lnTo>
                  <a:pt x="732663" y="608456"/>
                </a:lnTo>
                <a:lnTo>
                  <a:pt x="0" y="66675"/>
                </a:lnTo>
                <a:lnTo>
                  <a:pt x="49276" y="0"/>
                </a:lnTo>
                <a:lnTo>
                  <a:pt x="782066" y="541781"/>
                </a:lnTo>
                <a:lnTo>
                  <a:pt x="806704" y="508380"/>
                </a:lnTo>
                <a:lnTo>
                  <a:pt x="824103" y="624458"/>
                </a:lnTo>
                <a:lnTo>
                  <a:pt x="708025" y="64185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53415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716" y="1328142"/>
            <a:ext cx="2778246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2912" y="1335762"/>
            <a:ext cx="2779678" cy="1600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9403" y="809142"/>
            <a:ext cx="1445260" cy="2479675"/>
          </a:xfrm>
          <a:custGeom>
            <a:avLst/>
            <a:gdLst/>
            <a:ahLst/>
            <a:cxnLst/>
            <a:rect l="l" t="t" r="r" b="b"/>
            <a:pathLst>
              <a:path w="1445260" h="2479675">
                <a:moveTo>
                  <a:pt x="0" y="2479548"/>
                </a:moveTo>
                <a:lnTo>
                  <a:pt x="1444752" y="2479548"/>
                </a:lnTo>
                <a:lnTo>
                  <a:pt x="1444752" y="0"/>
                </a:lnTo>
                <a:lnTo>
                  <a:pt x="0" y="0"/>
                </a:lnTo>
                <a:lnTo>
                  <a:pt x="0" y="2479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119" y="735990"/>
            <a:ext cx="1445260" cy="2479675"/>
          </a:xfrm>
          <a:custGeom>
            <a:avLst/>
            <a:gdLst/>
            <a:ahLst/>
            <a:cxnLst/>
            <a:rect l="l" t="t" r="r" b="b"/>
            <a:pathLst>
              <a:path w="1445260" h="2479675">
                <a:moveTo>
                  <a:pt x="0" y="2479548"/>
                </a:moveTo>
                <a:lnTo>
                  <a:pt x="1444752" y="2479548"/>
                </a:lnTo>
                <a:lnTo>
                  <a:pt x="1444752" y="0"/>
                </a:lnTo>
                <a:lnTo>
                  <a:pt x="0" y="0"/>
                </a:lnTo>
                <a:lnTo>
                  <a:pt x="0" y="2479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图像去噪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9946" y="1937029"/>
            <a:ext cx="29527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146" y="1937029"/>
            <a:ext cx="298450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74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077" y="1937029"/>
            <a:ext cx="29400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36771" y="1633626"/>
            <a:ext cx="304800" cy="300355"/>
          </a:xfrm>
          <a:custGeom>
            <a:avLst/>
            <a:gdLst/>
            <a:ahLst/>
            <a:cxnLst/>
            <a:rect l="l" t="t" r="r" b="b"/>
            <a:pathLst>
              <a:path w="304800" h="300355">
                <a:moveTo>
                  <a:pt x="0" y="300227"/>
                </a:moveTo>
                <a:lnTo>
                  <a:pt x="304800" y="300227"/>
                </a:lnTo>
                <a:lnTo>
                  <a:pt x="304800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9946" y="1675790"/>
            <a:ext cx="295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75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971" y="1633626"/>
            <a:ext cx="304800" cy="300355"/>
          </a:xfrm>
          <a:prstGeom prst="rect">
            <a:avLst/>
          </a:prstGeom>
          <a:solidFill>
            <a:srgbClr val="009973"/>
          </a:solidFill>
          <a:ln w="635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425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253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077" y="1636801"/>
            <a:ext cx="294005" cy="29400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143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/>
                <a:cs typeface="Arial"/>
              </a:rPr>
              <a:t>71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39946" y="1339780"/>
            <a:ext cx="29527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826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380"/>
              </a:spcBef>
            </a:pPr>
            <a:r>
              <a:rPr sz="1200" spc="-5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146" y="1339780"/>
            <a:ext cx="298450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826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380"/>
              </a:spcBef>
            </a:pPr>
            <a:r>
              <a:rPr sz="1200" spc="-5" dirty="0">
                <a:latin typeface="Arial"/>
                <a:cs typeface="Arial"/>
              </a:rPr>
              <a:t>76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077" y="1339780"/>
            <a:ext cx="294005" cy="29083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826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80"/>
              </a:spcBef>
            </a:pPr>
            <a:r>
              <a:rPr sz="1200" spc="-5" dirty="0">
                <a:latin typeface="Arial"/>
                <a:cs typeface="Arial"/>
              </a:rPr>
              <a:t>64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7933" y="1332636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7171" y="1633626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7171" y="1933854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7933" y="2234844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7933" y="1332636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1971" y="1331874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6771" y="1331874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42333" y="1332636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7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37406" y="1790344"/>
            <a:ext cx="1353185" cy="50800"/>
          </a:xfrm>
          <a:custGeom>
            <a:avLst/>
            <a:gdLst/>
            <a:ahLst/>
            <a:cxnLst/>
            <a:rect l="l" t="t" r="r" b="b"/>
            <a:pathLst>
              <a:path w="1353185" h="50800">
                <a:moveTo>
                  <a:pt x="1310386" y="7747"/>
                </a:moveTo>
                <a:lnTo>
                  <a:pt x="1310132" y="21978"/>
                </a:lnTo>
                <a:lnTo>
                  <a:pt x="1317244" y="22098"/>
                </a:lnTo>
                <a:lnTo>
                  <a:pt x="1316990" y="36449"/>
                </a:lnTo>
                <a:lnTo>
                  <a:pt x="1309874" y="36449"/>
                </a:lnTo>
                <a:lnTo>
                  <a:pt x="1309624" y="50546"/>
                </a:lnTo>
                <a:lnTo>
                  <a:pt x="1339028" y="36449"/>
                </a:lnTo>
                <a:lnTo>
                  <a:pt x="1316990" y="36449"/>
                </a:lnTo>
                <a:lnTo>
                  <a:pt x="1309877" y="36328"/>
                </a:lnTo>
                <a:lnTo>
                  <a:pt x="1339279" y="36328"/>
                </a:lnTo>
                <a:lnTo>
                  <a:pt x="1352804" y="29845"/>
                </a:lnTo>
                <a:lnTo>
                  <a:pt x="1310386" y="7747"/>
                </a:lnTo>
                <a:close/>
              </a:path>
              <a:path w="1353185" h="50800">
                <a:moveTo>
                  <a:pt x="1310132" y="21978"/>
                </a:moveTo>
                <a:lnTo>
                  <a:pt x="1309877" y="36328"/>
                </a:lnTo>
                <a:lnTo>
                  <a:pt x="1316990" y="36449"/>
                </a:lnTo>
                <a:lnTo>
                  <a:pt x="1317244" y="22098"/>
                </a:lnTo>
                <a:lnTo>
                  <a:pt x="1310132" y="21978"/>
                </a:lnTo>
                <a:close/>
              </a:path>
              <a:path w="1353185" h="50800">
                <a:moveTo>
                  <a:pt x="254" y="0"/>
                </a:moveTo>
                <a:lnTo>
                  <a:pt x="0" y="14224"/>
                </a:lnTo>
                <a:lnTo>
                  <a:pt x="1309877" y="36328"/>
                </a:lnTo>
                <a:lnTo>
                  <a:pt x="1310132" y="21978"/>
                </a:lnTo>
                <a:lnTo>
                  <a:pt x="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95827" y="1043330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去噪前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451983" y="1782978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73151"/>
                </a:moveTo>
                <a:lnTo>
                  <a:pt x="73151" y="73151"/>
                </a:lnTo>
                <a:lnTo>
                  <a:pt x="73151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926197" y="104790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去噪后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113143" y="1792122"/>
            <a:ext cx="74930" cy="71755"/>
          </a:xfrm>
          <a:custGeom>
            <a:avLst/>
            <a:gdLst/>
            <a:ahLst/>
            <a:cxnLst/>
            <a:rect l="l" t="t" r="r" b="b"/>
            <a:pathLst>
              <a:path w="74929" h="71755">
                <a:moveTo>
                  <a:pt x="0" y="71627"/>
                </a:moveTo>
                <a:lnTo>
                  <a:pt x="74675" y="71627"/>
                </a:lnTo>
                <a:lnTo>
                  <a:pt x="74675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337042" y="1941601"/>
            <a:ext cx="295275" cy="29273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2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15"/>
              </a:spcBef>
            </a:pPr>
            <a:r>
              <a:rPr sz="1200" dirty="0">
                <a:latin typeface="Arial"/>
                <a:cs typeface="Arial"/>
              </a:rPr>
              <a:t>78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32242" y="1941601"/>
            <a:ext cx="298450" cy="29273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2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15"/>
              </a:spcBef>
            </a:pPr>
            <a:r>
              <a:rPr sz="1200" spc="-5" dirty="0">
                <a:latin typeface="Arial"/>
                <a:cs typeface="Arial"/>
              </a:rPr>
              <a:t>74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32173" y="1941601"/>
            <a:ext cx="294005" cy="29273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270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15"/>
              </a:spcBef>
            </a:pPr>
            <a:r>
              <a:rPr sz="1200" spc="-5" dirty="0"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37042" y="1641373"/>
            <a:ext cx="295275" cy="294005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52704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14"/>
              </a:spcBef>
            </a:pPr>
            <a:r>
              <a:rPr sz="1200" dirty="0">
                <a:latin typeface="Arial"/>
                <a:cs typeface="Arial"/>
              </a:rPr>
              <a:t>75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724267" y="1638198"/>
            <a:ext cx="304800" cy="300355"/>
          </a:xfrm>
          <a:custGeom>
            <a:avLst/>
            <a:gdLst/>
            <a:ahLst/>
            <a:cxnLst/>
            <a:rect l="l" t="t" r="r" b="b"/>
            <a:pathLst>
              <a:path w="304800" h="300355">
                <a:moveTo>
                  <a:pt x="0" y="300227"/>
                </a:moveTo>
                <a:lnTo>
                  <a:pt x="304800" y="300227"/>
                </a:lnTo>
                <a:lnTo>
                  <a:pt x="304800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732173" y="1681251"/>
            <a:ext cx="294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71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37042" y="1345876"/>
            <a:ext cx="295275" cy="28956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762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32242" y="1345876"/>
            <a:ext cx="298450" cy="28956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762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75"/>
              </a:spcBef>
            </a:pPr>
            <a:r>
              <a:rPr sz="1200" spc="-5" dirty="0">
                <a:latin typeface="Arial"/>
                <a:cs typeface="Arial"/>
              </a:rPr>
              <a:t>76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32173" y="1345876"/>
            <a:ext cx="294005" cy="289560"/>
          </a:xfrm>
          <a:prstGeom prst="rect">
            <a:avLst/>
          </a:prstGeom>
          <a:solidFill>
            <a:srgbClr val="FFCC99"/>
          </a:solidFill>
        </p:spPr>
        <p:txBody>
          <a:bodyPr vert="horz" wrap="square" lIns="0" tIns="4762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375"/>
              </a:spcBef>
            </a:pPr>
            <a:r>
              <a:rPr sz="1200" spc="-5" dirty="0">
                <a:latin typeface="Arial"/>
                <a:cs typeface="Arial"/>
              </a:rPr>
              <a:t>64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725029" y="1338732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24267" y="1638198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724267" y="1938426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25029" y="224094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25029" y="1338732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8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29067" y="1337970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333867" y="1337970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39429" y="1338732"/>
            <a:ext cx="0" cy="902335"/>
          </a:xfrm>
          <a:custGeom>
            <a:avLst/>
            <a:gdLst/>
            <a:ahLst/>
            <a:cxnLst/>
            <a:rect l="l" t="t" r="r" b="b"/>
            <a:pathLst>
              <a:path h="902335">
                <a:moveTo>
                  <a:pt x="0" y="0"/>
                </a:moveTo>
                <a:lnTo>
                  <a:pt x="0" y="902208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029067" y="1638198"/>
            <a:ext cx="304800" cy="300355"/>
          </a:xfrm>
          <a:prstGeom prst="rect">
            <a:avLst/>
          </a:prstGeom>
          <a:solidFill>
            <a:srgbClr val="009973"/>
          </a:solidFill>
          <a:ln w="6350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500"/>
              </a:spcBef>
            </a:pP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92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156578" y="1790344"/>
            <a:ext cx="869950" cy="59055"/>
          </a:xfrm>
          <a:custGeom>
            <a:avLst/>
            <a:gdLst/>
            <a:ahLst/>
            <a:cxnLst/>
            <a:rect l="l" t="t" r="r" b="b"/>
            <a:pathLst>
              <a:path w="869950" h="59055">
                <a:moveTo>
                  <a:pt x="42037" y="15748"/>
                </a:moveTo>
                <a:lnTo>
                  <a:pt x="0" y="38735"/>
                </a:lnTo>
                <a:lnTo>
                  <a:pt x="43561" y="58547"/>
                </a:lnTo>
                <a:lnTo>
                  <a:pt x="43063" y="44577"/>
                </a:lnTo>
                <a:lnTo>
                  <a:pt x="35941" y="44577"/>
                </a:lnTo>
                <a:lnTo>
                  <a:pt x="35433" y="30353"/>
                </a:lnTo>
                <a:lnTo>
                  <a:pt x="42547" y="30093"/>
                </a:lnTo>
                <a:lnTo>
                  <a:pt x="42037" y="15748"/>
                </a:lnTo>
                <a:close/>
              </a:path>
              <a:path w="869950" h="59055">
                <a:moveTo>
                  <a:pt x="42547" y="30093"/>
                </a:moveTo>
                <a:lnTo>
                  <a:pt x="35433" y="30353"/>
                </a:lnTo>
                <a:lnTo>
                  <a:pt x="35941" y="44577"/>
                </a:lnTo>
                <a:lnTo>
                  <a:pt x="43054" y="44317"/>
                </a:lnTo>
                <a:lnTo>
                  <a:pt x="42547" y="30093"/>
                </a:lnTo>
                <a:close/>
              </a:path>
              <a:path w="869950" h="59055">
                <a:moveTo>
                  <a:pt x="43054" y="44317"/>
                </a:moveTo>
                <a:lnTo>
                  <a:pt x="35941" y="44577"/>
                </a:lnTo>
                <a:lnTo>
                  <a:pt x="43063" y="44577"/>
                </a:lnTo>
                <a:lnTo>
                  <a:pt x="43054" y="44317"/>
                </a:lnTo>
                <a:close/>
              </a:path>
              <a:path w="869950" h="59055">
                <a:moveTo>
                  <a:pt x="869061" y="0"/>
                </a:moveTo>
                <a:lnTo>
                  <a:pt x="42547" y="30093"/>
                </a:lnTo>
                <a:lnTo>
                  <a:pt x="43054" y="44317"/>
                </a:lnTo>
                <a:lnTo>
                  <a:pt x="869569" y="14224"/>
                </a:lnTo>
                <a:lnTo>
                  <a:pt x="869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010024" y="3080799"/>
            <a:ext cx="2063750" cy="12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  <a:tabLst>
                <a:tab pos="1660525" algn="l"/>
              </a:tabLst>
            </a:pPr>
            <a:r>
              <a:rPr sz="800" spc="-15" dirty="0">
                <a:latin typeface="黑体"/>
                <a:cs typeface="黑体"/>
              </a:rPr>
              <a:t>噪声图</a:t>
            </a:r>
            <a:r>
              <a:rPr sz="800" dirty="0">
                <a:latin typeface="黑体"/>
                <a:cs typeface="黑体"/>
              </a:rPr>
              <a:t>像	</a:t>
            </a:r>
            <a:r>
              <a:rPr sz="1200" spc="-22" baseline="-10416" dirty="0">
                <a:latin typeface="黑体"/>
                <a:cs typeface="黑体"/>
              </a:rPr>
              <a:t>去噪图像</a:t>
            </a:r>
            <a:endParaRPr sz="1200" baseline="-10416">
              <a:latin typeface="黑体"/>
              <a:cs typeface="黑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003165" y="2516784"/>
            <a:ext cx="2308860" cy="699770"/>
          </a:xfrm>
          <a:custGeom>
            <a:avLst/>
            <a:gdLst/>
            <a:ahLst/>
            <a:cxnLst/>
            <a:rect l="l" t="t" r="r" b="b"/>
            <a:pathLst>
              <a:path w="2308860" h="699769">
                <a:moveTo>
                  <a:pt x="0" y="699516"/>
                </a:moveTo>
                <a:lnTo>
                  <a:pt x="2308860" y="699516"/>
                </a:lnTo>
                <a:lnTo>
                  <a:pt x="2308860" y="0"/>
                </a:lnTo>
                <a:lnTo>
                  <a:pt x="0" y="0"/>
                </a:lnTo>
                <a:lnTo>
                  <a:pt x="0" y="699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003165" y="2516784"/>
            <a:ext cx="2308860" cy="699770"/>
          </a:xfrm>
          <a:custGeom>
            <a:avLst/>
            <a:gdLst/>
            <a:ahLst/>
            <a:cxnLst/>
            <a:rect l="l" t="t" r="r" b="b"/>
            <a:pathLst>
              <a:path w="2308860" h="699769">
                <a:moveTo>
                  <a:pt x="0" y="699516"/>
                </a:moveTo>
                <a:lnTo>
                  <a:pt x="2308860" y="699516"/>
                </a:lnTo>
                <a:lnTo>
                  <a:pt x="2308860" y="0"/>
                </a:lnTo>
                <a:lnTo>
                  <a:pt x="0" y="0"/>
                </a:lnTo>
                <a:lnTo>
                  <a:pt x="0" y="699516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467224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960999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454775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48552" y="2649499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456682" y="2648737"/>
            <a:ext cx="15582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6095" algn="l"/>
                <a:tab pos="1000125" algn="l"/>
                <a:tab pos="1494155" algn="l"/>
              </a:tabLst>
            </a:pPr>
            <a:r>
              <a:rPr sz="700" spc="15" dirty="0">
                <a:solidFill>
                  <a:srgbClr val="FF0000"/>
                </a:solidFill>
                <a:latin typeface="Cambria Math"/>
                <a:cs typeface="Cambria Math"/>
              </a:rPr>
              <a:t>9	9	9	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36058" y="2551201"/>
            <a:ext cx="2103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= 64 × </a:t>
            </a:r>
            <a:r>
              <a:rPr sz="1050" spc="52" baseline="47619" dirty="0">
                <a:solidFill>
                  <a:srgbClr val="FF0000"/>
                </a:solidFill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+ 76 × </a:t>
            </a:r>
            <a:r>
              <a:rPr sz="1050" spc="52" baseline="47619" dirty="0">
                <a:solidFill>
                  <a:srgbClr val="FF0000"/>
                </a:solidFill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+ 69 × </a:t>
            </a:r>
            <a:r>
              <a:rPr sz="1050" spc="52" baseline="47619" dirty="0">
                <a:solidFill>
                  <a:srgbClr val="FF0000"/>
                </a:solidFill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+ 71 × </a:t>
            </a:r>
            <a:r>
              <a:rPr sz="1050" spc="52" baseline="47619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050" spc="97" baseline="4761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06263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395722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901563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394199" y="2726461"/>
            <a:ext cx="5746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7365" algn="l"/>
              </a:tabLst>
            </a:pPr>
            <a:r>
              <a:rPr sz="700" spc="35" dirty="0">
                <a:solidFill>
                  <a:srgbClr val="FF0000"/>
                </a:solidFill>
                <a:latin typeface="Cambria Math"/>
                <a:cs typeface="Cambria Math"/>
              </a:rPr>
              <a:t>1	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891022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395340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383528" y="2726461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385053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889116" y="2865907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877304" y="2726461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878828" y="2865145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036058" y="2767609"/>
            <a:ext cx="20440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253 × + 75 × + 68 × + 74 ×</a:t>
            </a:r>
            <a:r>
              <a:rPr sz="1000" spc="6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336159" y="3082315"/>
            <a:ext cx="53340" cy="7620"/>
          </a:xfrm>
          <a:custGeom>
            <a:avLst/>
            <a:gdLst/>
            <a:ahLst/>
            <a:cxnLst/>
            <a:rect l="l" t="t" r="r" b="b"/>
            <a:pathLst>
              <a:path w="53339" h="7619">
                <a:moveTo>
                  <a:pt x="0" y="7619"/>
                </a:moveTo>
                <a:lnTo>
                  <a:pt x="53339" y="7619"/>
                </a:lnTo>
                <a:lnTo>
                  <a:pt x="53339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325618" y="3081553"/>
            <a:ext cx="768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FF0000"/>
                </a:solidFill>
                <a:latin typeface="Cambria Math"/>
                <a:cs typeface="Cambria Math"/>
              </a:rPr>
              <a:t>9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036058" y="2984017"/>
            <a:ext cx="675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78 × </a:t>
            </a:r>
            <a:r>
              <a:rPr sz="1050" spc="52" baseline="47619" dirty="0">
                <a:solidFill>
                  <a:srgbClr val="FF0000"/>
                </a:solidFill>
                <a:latin typeface="Cambria Math"/>
                <a:cs typeface="Cambria Math"/>
              </a:rPr>
              <a:t>1 </a:t>
            </a:r>
            <a:r>
              <a:rPr sz="1000" spc="-5" dirty="0">
                <a:latin typeface="Cambria Math"/>
                <a:cs typeface="Cambria Math"/>
              </a:rPr>
              <a:t>=</a:t>
            </a:r>
            <a:r>
              <a:rPr sz="1000" spc="-105" dirty="0">
                <a:latin typeface="Cambria Math"/>
                <a:cs typeface="Cambria Math"/>
              </a:rPr>
              <a:t> </a:t>
            </a:r>
            <a:r>
              <a:rPr sz="1000" dirty="0">
                <a:latin typeface="Cambria Math"/>
                <a:cs typeface="Cambria Math"/>
              </a:rPr>
              <a:t>9</a:t>
            </a:r>
            <a:r>
              <a:rPr sz="100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544693" y="1765960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黑体"/>
                <a:cs typeface="黑体"/>
              </a:rPr>
              <a:t>噪声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359269" y="1935378"/>
            <a:ext cx="647065" cy="606425"/>
          </a:xfrm>
          <a:custGeom>
            <a:avLst/>
            <a:gdLst/>
            <a:ahLst/>
            <a:cxnLst/>
            <a:rect l="l" t="t" r="r" b="b"/>
            <a:pathLst>
              <a:path w="647064" h="606425">
                <a:moveTo>
                  <a:pt x="519938" y="0"/>
                </a:moveTo>
                <a:lnTo>
                  <a:pt x="550290" y="33019"/>
                </a:lnTo>
                <a:lnTo>
                  <a:pt x="0" y="540512"/>
                </a:lnTo>
                <a:lnTo>
                  <a:pt x="60705" y="606298"/>
                </a:lnTo>
                <a:lnTo>
                  <a:pt x="610996" y="98806"/>
                </a:lnTo>
                <a:lnTo>
                  <a:pt x="642704" y="98806"/>
                </a:lnTo>
                <a:lnTo>
                  <a:pt x="646556" y="5206"/>
                </a:lnTo>
                <a:lnTo>
                  <a:pt x="519938" y="0"/>
                </a:lnTo>
                <a:close/>
              </a:path>
              <a:path w="647064" h="606425">
                <a:moveTo>
                  <a:pt x="642704" y="98806"/>
                </a:moveTo>
                <a:lnTo>
                  <a:pt x="610996" y="98806"/>
                </a:lnTo>
                <a:lnTo>
                  <a:pt x="641350" y="131699"/>
                </a:lnTo>
                <a:lnTo>
                  <a:pt x="642704" y="988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359269" y="1935378"/>
            <a:ext cx="647065" cy="606425"/>
          </a:xfrm>
          <a:custGeom>
            <a:avLst/>
            <a:gdLst/>
            <a:ahLst/>
            <a:cxnLst/>
            <a:rect l="l" t="t" r="r" b="b"/>
            <a:pathLst>
              <a:path w="647064" h="606425">
                <a:moveTo>
                  <a:pt x="641350" y="131699"/>
                </a:moveTo>
                <a:lnTo>
                  <a:pt x="610996" y="98806"/>
                </a:lnTo>
                <a:lnTo>
                  <a:pt x="60705" y="606298"/>
                </a:lnTo>
                <a:lnTo>
                  <a:pt x="0" y="540512"/>
                </a:lnTo>
                <a:lnTo>
                  <a:pt x="550290" y="33019"/>
                </a:lnTo>
                <a:lnTo>
                  <a:pt x="519938" y="0"/>
                </a:lnTo>
                <a:lnTo>
                  <a:pt x="646556" y="5206"/>
                </a:lnTo>
                <a:lnTo>
                  <a:pt x="641350" y="1316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22166" y="1892579"/>
            <a:ext cx="824230" cy="641985"/>
          </a:xfrm>
          <a:custGeom>
            <a:avLst/>
            <a:gdLst/>
            <a:ahLst/>
            <a:cxnLst/>
            <a:rect l="l" t="t" r="r" b="b"/>
            <a:pathLst>
              <a:path w="824230" h="641985">
                <a:moveTo>
                  <a:pt x="49276" y="0"/>
                </a:moveTo>
                <a:lnTo>
                  <a:pt x="0" y="66675"/>
                </a:lnTo>
                <a:lnTo>
                  <a:pt x="732663" y="608457"/>
                </a:lnTo>
                <a:lnTo>
                  <a:pt x="708025" y="641857"/>
                </a:lnTo>
                <a:lnTo>
                  <a:pt x="824103" y="624458"/>
                </a:lnTo>
                <a:lnTo>
                  <a:pt x="811710" y="541782"/>
                </a:lnTo>
                <a:lnTo>
                  <a:pt x="782066" y="541782"/>
                </a:lnTo>
                <a:lnTo>
                  <a:pt x="49276" y="0"/>
                </a:lnTo>
                <a:close/>
              </a:path>
              <a:path w="824230" h="641985">
                <a:moveTo>
                  <a:pt x="806704" y="508381"/>
                </a:moveTo>
                <a:lnTo>
                  <a:pt x="782066" y="541782"/>
                </a:lnTo>
                <a:lnTo>
                  <a:pt x="811710" y="541782"/>
                </a:lnTo>
                <a:lnTo>
                  <a:pt x="806704" y="508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22166" y="1892579"/>
            <a:ext cx="824230" cy="641985"/>
          </a:xfrm>
          <a:custGeom>
            <a:avLst/>
            <a:gdLst/>
            <a:ahLst/>
            <a:cxnLst/>
            <a:rect l="l" t="t" r="r" b="b"/>
            <a:pathLst>
              <a:path w="824230" h="641985">
                <a:moveTo>
                  <a:pt x="708025" y="641857"/>
                </a:moveTo>
                <a:lnTo>
                  <a:pt x="732663" y="608457"/>
                </a:lnTo>
                <a:lnTo>
                  <a:pt x="0" y="66675"/>
                </a:lnTo>
                <a:lnTo>
                  <a:pt x="49276" y="0"/>
                </a:lnTo>
                <a:lnTo>
                  <a:pt x="782066" y="541782"/>
                </a:lnTo>
                <a:lnTo>
                  <a:pt x="806704" y="508381"/>
                </a:lnTo>
                <a:lnTo>
                  <a:pt x="824103" y="624458"/>
                </a:lnTo>
                <a:lnTo>
                  <a:pt x="708025" y="64185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43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6685" y="328733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卷积核</a:t>
            </a:r>
            <a:endParaRPr sz="1800">
              <a:latin typeface="黑体"/>
              <a:cs typeface="黑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726018" y="1074445"/>
          <a:ext cx="914399" cy="9022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54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9946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022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251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509896" y="1309427"/>
            <a:ext cx="152400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46776" y="206698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卷积核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9632" y="353415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8084" y="423316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卷积的定义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91345" y="1010310"/>
            <a:ext cx="1783149" cy="2028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07456" y="3064154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入图像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6209" y="831748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积后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98085" y="32873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卷积的定义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770" y="920934"/>
            <a:ext cx="3514725" cy="89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黑体"/>
                <a:cs typeface="黑体"/>
              </a:rPr>
              <a:t>令</a:t>
            </a:r>
            <a:r>
              <a:rPr sz="1200" spc="35" dirty="0">
                <a:latin typeface="Cambria Math"/>
                <a:cs typeface="Cambria Math"/>
              </a:rPr>
              <a:t>𝐹</a:t>
            </a:r>
            <a:r>
              <a:rPr sz="1200" spc="-10" dirty="0">
                <a:latin typeface="黑体"/>
                <a:cs typeface="黑体"/>
              </a:rPr>
              <a:t>为图像</a:t>
            </a:r>
            <a:r>
              <a:rPr sz="1200" spc="10" dirty="0">
                <a:latin typeface="黑体"/>
                <a:cs typeface="黑体"/>
              </a:rPr>
              <a:t>，</a:t>
            </a:r>
            <a:r>
              <a:rPr sz="1200" spc="10" dirty="0">
                <a:latin typeface="Cambria Math"/>
                <a:cs typeface="Cambria Math"/>
              </a:rPr>
              <a:t>𝐻</a:t>
            </a:r>
            <a:r>
              <a:rPr sz="1200" spc="-15" dirty="0">
                <a:latin typeface="黑体"/>
                <a:cs typeface="黑体"/>
              </a:rPr>
              <a:t>为卷积核</a:t>
            </a:r>
            <a:r>
              <a:rPr sz="1200" spc="15" dirty="0">
                <a:latin typeface="黑体"/>
                <a:cs typeface="黑体"/>
              </a:rPr>
              <a:t>，</a:t>
            </a:r>
            <a:r>
              <a:rPr sz="1200" spc="15" dirty="0">
                <a:latin typeface="Cambria Math"/>
                <a:cs typeface="Cambria Math"/>
              </a:rPr>
              <a:t>𝐹</a:t>
            </a:r>
            <a:r>
              <a:rPr sz="1200" spc="-15" dirty="0">
                <a:latin typeface="黑体"/>
                <a:cs typeface="黑体"/>
              </a:rPr>
              <a:t>与</a:t>
            </a:r>
            <a:r>
              <a:rPr sz="1200" spc="25" dirty="0">
                <a:latin typeface="Cambria Math"/>
                <a:cs typeface="Cambria Math"/>
              </a:rPr>
              <a:t>𝐻</a:t>
            </a:r>
            <a:r>
              <a:rPr sz="1200" spc="-15" dirty="0">
                <a:latin typeface="黑体"/>
                <a:cs typeface="黑体"/>
              </a:rPr>
              <a:t>的卷积记</a:t>
            </a:r>
            <a:r>
              <a:rPr sz="1200" dirty="0">
                <a:latin typeface="黑体"/>
                <a:cs typeface="黑体"/>
              </a:rPr>
              <a:t>为</a:t>
            </a:r>
            <a:r>
              <a:rPr sz="1200" dirty="0">
                <a:latin typeface="Cambria Math"/>
                <a:cs typeface="Cambria Math"/>
              </a:rPr>
              <a:t>𝑅</a:t>
            </a:r>
            <a:r>
              <a:rPr sz="1200" spc="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3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𝐹</a:t>
            </a:r>
            <a:r>
              <a:rPr sz="1200" spc="1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∗</a:t>
            </a:r>
            <a:r>
              <a:rPr sz="1200" spc="-2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𝐻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843280">
              <a:lnSpc>
                <a:spcPct val="100000"/>
              </a:lnSpc>
              <a:spcBef>
                <a:spcPts val="775"/>
              </a:spcBef>
            </a:pPr>
            <a:r>
              <a:rPr sz="2100" spc="67" baseline="11904" dirty="0">
                <a:latin typeface="Cambria Math"/>
                <a:cs typeface="Cambria Math"/>
              </a:rPr>
              <a:t>𝑅</a:t>
            </a:r>
            <a:r>
              <a:rPr sz="1000" spc="45" dirty="0">
                <a:latin typeface="Cambria Math"/>
                <a:cs typeface="Cambria Math"/>
              </a:rPr>
              <a:t>𝑖𝑗 </a:t>
            </a:r>
            <a:r>
              <a:rPr sz="2100" baseline="11904" dirty="0">
                <a:latin typeface="Cambria Math"/>
                <a:cs typeface="Cambria Math"/>
              </a:rPr>
              <a:t>= </a:t>
            </a:r>
            <a:r>
              <a:rPr sz="2100" spc="2137" baseline="11904" dirty="0">
                <a:latin typeface="Cambria Math"/>
                <a:cs typeface="Cambria Math"/>
              </a:rPr>
              <a:t>෍</a:t>
            </a:r>
            <a:r>
              <a:rPr sz="2100" spc="-30" baseline="11904" dirty="0">
                <a:latin typeface="Cambria Math"/>
                <a:cs typeface="Cambria Math"/>
              </a:rPr>
              <a:t> </a:t>
            </a:r>
            <a:r>
              <a:rPr sz="2100" spc="44" baseline="11904" dirty="0">
                <a:latin typeface="Cambria Math"/>
                <a:cs typeface="Cambria Math"/>
              </a:rPr>
              <a:t>𝐻</a:t>
            </a:r>
            <a:r>
              <a:rPr sz="1000" spc="30" dirty="0">
                <a:latin typeface="Cambria Math"/>
                <a:cs typeface="Cambria Math"/>
              </a:rPr>
              <a:t>𝑖−𝑢,𝑗−𝑣 </a:t>
            </a:r>
            <a:r>
              <a:rPr sz="2100" spc="-52" baseline="11904" dirty="0">
                <a:latin typeface="Cambria Math"/>
                <a:cs typeface="Cambria Math"/>
              </a:rPr>
              <a:t>𝐹</a:t>
            </a:r>
            <a:r>
              <a:rPr sz="1000" spc="-35" dirty="0"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  <a:p>
            <a:pPr marR="666750" algn="ctr">
              <a:lnSpc>
                <a:spcPct val="100000"/>
              </a:lnSpc>
              <a:spcBef>
                <a:spcPts val="229"/>
              </a:spcBef>
            </a:pPr>
            <a:r>
              <a:rPr sz="1000" spc="45" dirty="0"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98084" y="423316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卷积的定义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769" y="1015644"/>
            <a:ext cx="3514725" cy="89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FF0000"/>
                </a:solidFill>
                <a:latin typeface="黑体"/>
                <a:cs typeface="黑体"/>
              </a:rPr>
              <a:t>令</a:t>
            </a:r>
            <a:r>
              <a:rPr sz="1200" spc="35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r>
              <a:rPr sz="1200" spc="-10" dirty="0">
                <a:solidFill>
                  <a:srgbClr val="FF0000"/>
                </a:solidFill>
                <a:latin typeface="黑体"/>
                <a:cs typeface="黑体"/>
              </a:rPr>
              <a:t>为图像</a:t>
            </a:r>
            <a:r>
              <a:rPr sz="1200" spc="10" dirty="0">
                <a:solidFill>
                  <a:srgbClr val="FF0000"/>
                </a:solidFill>
                <a:latin typeface="黑体"/>
                <a:cs typeface="黑体"/>
              </a:rPr>
              <a:t>，</a:t>
            </a:r>
            <a:r>
              <a:rPr sz="1200" spc="10" dirty="0">
                <a:solidFill>
                  <a:srgbClr val="FF0000"/>
                </a:solidFill>
                <a:latin typeface="Cambria Math"/>
                <a:cs typeface="Cambria Math"/>
              </a:rPr>
              <a:t>𝐻</a:t>
            </a:r>
            <a:r>
              <a:rPr sz="1200" spc="-15" dirty="0">
                <a:solidFill>
                  <a:srgbClr val="FF0000"/>
                </a:solidFill>
                <a:latin typeface="黑体"/>
                <a:cs typeface="黑体"/>
              </a:rPr>
              <a:t>为卷积核</a:t>
            </a:r>
            <a:r>
              <a:rPr sz="1200" spc="15" dirty="0">
                <a:solidFill>
                  <a:srgbClr val="FF0000"/>
                </a:solidFill>
                <a:latin typeface="黑体"/>
                <a:cs typeface="黑体"/>
              </a:rPr>
              <a:t>，</a:t>
            </a:r>
            <a:r>
              <a:rPr sz="1200" spc="15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r>
              <a:rPr sz="1200" spc="-15" dirty="0">
                <a:solidFill>
                  <a:srgbClr val="FF0000"/>
                </a:solidFill>
                <a:latin typeface="黑体"/>
                <a:cs typeface="黑体"/>
              </a:rPr>
              <a:t>与</a:t>
            </a:r>
            <a:r>
              <a:rPr sz="1200" spc="25" dirty="0">
                <a:solidFill>
                  <a:srgbClr val="FF0000"/>
                </a:solidFill>
                <a:latin typeface="Cambria Math"/>
                <a:cs typeface="Cambria Math"/>
              </a:rPr>
              <a:t>𝐻</a:t>
            </a:r>
            <a:r>
              <a:rPr sz="1200" spc="-15" dirty="0">
                <a:solidFill>
                  <a:srgbClr val="FF0000"/>
                </a:solidFill>
                <a:latin typeface="黑体"/>
                <a:cs typeface="黑体"/>
              </a:rPr>
              <a:t>的卷积记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为</a:t>
            </a: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𝑅</a:t>
            </a:r>
            <a:r>
              <a:rPr sz="1200" spc="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200" spc="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r>
              <a:rPr sz="12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200" spc="-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𝐻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843280">
              <a:lnSpc>
                <a:spcPct val="100000"/>
              </a:lnSpc>
              <a:spcBef>
                <a:spcPts val="775"/>
              </a:spcBef>
            </a:pPr>
            <a:r>
              <a:rPr sz="2100" spc="67" baseline="11904" dirty="0">
                <a:latin typeface="Cambria Math"/>
                <a:cs typeface="Cambria Math"/>
              </a:rPr>
              <a:t>𝑅</a:t>
            </a:r>
            <a:r>
              <a:rPr sz="1000" spc="45" dirty="0">
                <a:latin typeface="Cambria Math"/>
                <a:cs typeface="Cambria Math"/>
              </a:rPr>
              <a:t>𝑖𝑗 </a:t>
            </a:r>
            <a:r>
              <a:rPr sz="2100" baseline="11904" dirty="0">
                <a:latin typeface="Cambria Math"/>
                <a:cs typeface="Cambria Math"/>
              </a:rPr>
              <a:t>= </a:t>
            </a:r>
            <a:r>
              <a:rPr sz="2100" spc="2137" baseline="11904" dirty="0">
                <a:latin typeface="Cambria Math"/>
                <a:cs typeface="Cambria Math"/>
              </a:rPr>
              <a:t>෍</a:t>
            </a:r>
            <a:r>
              <a:rPr sz="2100" spc="-30" baseline="11904" dirty="0">
                <a:latin typeface="Cambria Math"/>
                <a:cs typeface="Cambria Math"/>
              </a:rPr>
              <a:t> </a:t>
            </a:r>
            <a:r>
              <a:rPr sz="2100" spc="44" baseline="11904" dirty="0">
                <a:latin typeface="Cambria Math"/>
                <a:cs typeface="Cambria Math"/>
              </a:rPr>
              <a:t>𝐻</a:t>
            </a:r>
            <a:r>
              <a:rPr sz="1000" spc="30" dirty="0">
                <a:latin typeface="Cambria Math"/>
                <a:cs typeface="Cambria Math"/>
              </a:rPr>
              <a:t>𝑖−𝑢,𝑗−𝑣 </a:t>
            </a:r>
            <a:r>
              <a:rPr sz="2100" spc="-52" baseline="11904" dirty="0">
                <a:latin typeface="Cambria Math"/>
                <a:cs typeface="Cambria Math"/>
              </a:rPr>
              <a:t>𝐹</a:t>
            </a:r>
            <a:r>
              <a:rPr sz="1000" spc="-35" dirty="0"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  <a:p>
            <a:pPr marR="666750" algn="ctr">
              <a:lnSpc>
                <a:spcPct val="100000"/>
              </a:lnSpc>
              <a:spcBef>
                <a:spcPts val="234"/>
              </a:spcBef>
            </a:pPr>
            <a:r>
              <a:rPr sz="1000" spc="45" dirty="0"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98085" y="32873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卷积的定义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770" y="920934"/>
            <a:ext cx="3514725" cy="89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黑体"/>
                <a:cs typeface="黑体"/>
              </a:rPr>
              <a:t>令</a:t>
            </a:r>
            <a:r>
              <a:rPr sz="1200" spc="35" dirty="0">
                <a:latin typeface="Cambria Math"/>
                <a:cs typeface="Cambria Math"/>
              </a:rPr>
              <a:t>𝐹</a:t>
            </a:r>
            <a:r>
              <a:rPr sz="1200" spc="-10" dirty="0">
                <a:latin typeface="黑体"/>
                <a:cs typeface="黑体"/>
              </a:rPr>
              <a:t>为图像</a:t>
            </a:r>
            <a:r>
              <a:rPr sz="1200" spc="10" dirty="0">
                <a:latin typeface="黑体"/>
                <a:cs typeface="黑体"/>
              </a:rPr>
              <a:t>，</a:t>
            </a:r>
            <a:r>
              <a:rPr sz="1200" spc="10" dirty="0">
                <a:latin typeface="Cambria Math"/>
                <a:cs typeface="Cambria Math"/>
              </a:rPr>
              <a:t>𝐻</a:t>
            </a:r>
            <a:r>
              <a:rPr sz="1200" spc="-15" dirty="0">
                <a:latin typeface="黑体"/>
                <a:cs typeface="黑体"/>
              </a:rPr>
              <a:t>为卷积核</a:t>
            </a:r>
            <a:r>
              <a:rPr sz="1200" spc="15" dirty="0">
                <a:latin typeface="黑体"/>
                <a:cs typeface="黑体"/>
              </a:rPr>
              <a:t>，</a:t>
            </a:r>
            <a:r>
              <a:rPr sz="1200" spc="15" dirty="0">
                <a:latin typeface="Cambria Math"/>
                <a:cs typeface="Cambria Math"/>
              </a:rPr>
              <a:t>𝐹</a:t>
            </a:r>
            <a:r>
              <a:rPr sz="1200" spc="-15" dirty="0">
                <a:latin typeface="黑体"/>
                <a:cs typeface="黑体"/>
              </a:rPr>
              <a:t>与</a:t>
            </a:r>
            <a:r>
              <a:rPr sz="1200" spc="25" dirty="0">
                <a:latin typeface="Cambria Math"/>
                <a:cs typeface="Cambria Math"/>
              </a:rPr>
              <a:t>𝐻</a:t>
            </a:r>
            <a:r>
              <a:rPr sz="1200" spc="-15" dirty="0">
                <a:latin typeface="黑体"/>
                <a:cs typeface="黑体"/>
              </a:rPr>
              <a:t>的卷积记</a:t>
            </a:r>
            <a:r>
              <a:rPr sz="1200" dirty="0">
                <a:latin typeface="黑体"/>
                <a:cs typeface="黑体"/>
              </a:rPr>
              <a:t>为</a:t>
            </a:r>
            <a:r>
              <a:rPr sz="1200" dirty="0">
                <a:latin typeface="Cambria Math"/>
                <a:cs typeface="Cambria Math"/>
              </a:rPr>
              <a:t>𝑅</a:t>
            </a:r>
            <a:r>
              <a:rPr sz="1200" spc="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3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𝐹</a:t>
            </a:r>
            <a:r>
              <a:rPr sz="1200" spc="1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∗</a:t>
            </a:r>
            <a:r>
              <a:rPr sz="1200" spc="-2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𝐻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843280">
              <a:lnSpc>
                <a:spcPct val="100000"/>
              </a:lnSpc>
              <a:spcBef>
                <a:spcPts val="775"/>
              </a:spcBef>
            </a:pPr>
            <a:r>
              <a:rPr sz="2100" spc="67" baseline="11904" dirty="0">
                <a:solidFill>
                  <a:srgbClr val="FF0000"/>
                </a:solidFill>
                <a:latin typeface="Cambria Math"/>
                <a:cs typeface="Cambria Math"/>
              </a:rPr>
              <a:t>𝑅</a:t>
            </a:r>
            <a:r>
              <a:rPr sz="1000" spc="45" dirty="0">
                <a:solidFill>
                  <a:srgbClr val="FF0000"/>
                </a:solidFill>
                <a:latin typeface="Cambria Math"/>
                <a:cs typeface="Cambria Math"/>
              </a:rPr>
              <a:t>𝑖𝑗 </a:t>
            </a:r>
            <a:r>
              <a:rPr sz="2100" baseline="11904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2100" spc="2137" baseline="11904" dirty="0">
                <a:solidFill>
                  <a:srgbClr val="FF0000"/>
                </a:solidFill>
                <a:latin typeface="Cambria Math"/>
                <a:cs typeface="Cambria Math"/>
              </a:rPr>
              <a:t>෍</a:t>
            </a:r>
            <a:r>
              <a:rPr sz="2100" spc="-30" baseline="119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100" spc="44" baseline="11904" dirty="0">
                <a:solidFill>
                  <a:srgbClr val="FF0000"/>
                </a:solidFill>
                <a:latin typeface="Cambria Math"/>
                <a:cs typeface="Cambria Math"/>
              </a:rPr>
              <a:t>𝐻</a:t>
            </a:r>
            <a:r>
              <a:rPr sz="1000" spc="30" dirty="0">
                <a:solidFill>
                  <a:srgbClr val="FF0000"/>
                </a:solidFill>
                <a:latin typeface="Cambria Math"/>
                <a:cs typeface="Cambria Math"/>
              </a:rPr>
              <a:t>𝑖−𝑢,𝑗−𝑣 </a:t>
            </a:r>
            <a:r>
              <a:rPr sz="2100" spc="-52" baseline="11904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r>
              <a:rPr sz="1000" spc="-35" dirty="0">
                <a:solidFill>
                  <a:srgbClr val="FF0000"/>
                </a:solidFill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  <a:p>
            <a:pPr marR="666750" algn="ctr">
              <a:lnSpc>
                <a:spcPct val="100000"/>
              </a:lnSpc>
              <a:spcBef>
                <a:spcPts val="229"/>
              </a:spcBef>
            </a:pPr>
            <a:r>
              <a:rPr sz="1000" spc="45" dirty="0">
                <a:solidFill>
                  <a:srgbClr val="FF0000"/>
                </a:solidFill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98084" y="423316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卷积的定义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769" y="1015644"/>
            <a:ext cx="3514725" cy="132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黑体"/>
                <a:cs typeface="黑体"/>
              </a:rPr>
              <a:t>令</a:t>
            </a:r>
            <a:r>
              <a:rPr sz="1200" spc="35" dirty="0">
                <a:latin typeface="Cambria Math"/>
                <a:cs typeface="Cambria Math"/>
              </a:rPr>
              <a:t>𝐹</a:t>
            </a:r>
            <a:r>
              <a:rPr sz="1200" spc="-10" dirty="0">
                <a:latin typeface="黑体"/>
                <a:cs typeface="黑体"/>
              </a:rPr>
              <a:t>为图像</a:t>
            </a:r>
            <a:r>
              <a:rPr sz="1200" spc="10" dirty="0">
                <a:latin typeface="黑体"/>
                <a:cs typeface="黑体"/>
              </a:rPr>
              <a:t>，</a:t>
            </a:r>
            <a:r>
              <a:rPr sz="1200" spc="10" dirty="0">
                <a:latin typeface="Cambria Math"/>
                <a:cs typeface="Cambria Math"/>
              </a:rPr>
              <a:t>𝐻</a:t>
            </a:r>
            <a:r>
              <a:rPr sz="1200" spc="-15" dirty="0">
                <a:latin typeface="黑体"/>
                <a:cs typeface="黑体"/>
              </a:rPr>
              <a:t>为卷积核</a:t>
            </a:r>
            <a:r>
              <a:rPr sz="1200" spc="15" dirty="0">
                <a:latin typeface="黑体"/>
                <a:cs typeface="黑体"/>
              </a:rPr>
              <a:t>，</a:t>
            </a:r>
            <a:r>
              <a:rPr sz="1200" spc="15" dirty="0">
                <a:latin typeface="Cambria Math"/>
                <a:cs typeface="Cambria Math"/>
              </a:rPr>
              <a:t>𝐹</a:t>
            </a:r>
            <a:r>
              <a:rPr sz="1200" spc="-15" dirty="0">
                <a:latin typeface="黑体"/>
                <a:cs typeface="黑体"/>
              </a:rPr>
              <a:t>与</a:t>
            </a:r>
            <a:r>
              <a:rPr sz="1200" spc="25" dirty="0">
                <a:latin typeface="Cambria Math"/>
                <a:cs typeface="Cambria Math"/>
              </a:rPr>
              <a:t>𝐻</a:t>
            </a:r>
            <a:r>
              <a:rPr sz="1200" spc="-15" dirty="0">
                <a:latin typeface="黑体"/>
                <a:cs typeface="黑体"/>
              </a:rPr>
              <a:t>的卷积记</a:t>
            </a:r>
            <a:r>
              <a:rPr sz="1200" dirty="0">
                <a:latin typeface="黑体"/>
                <a:cs typeface="黑体"/>
              </a:rPr>
              <a:t>为</a:t>
            </a:r>
            <a:r>
              <a:rPr sz="1200" dirty="0">
                <a:latin typeface="Cambria Math"/>
                <a:cs typeface="Cambria Math"/>
              </a:rPr>
              <a:t>𝑅</a:t>
            </a:r>
            <a:r>
              <a:rPr sz="1200" spc="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3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𝐹</a:t>
            </a:r>
            <a:r>
              <a:rPr sz="1200" spc="1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∗</a:t>
            </a:r>
            <a:r>
              <a:rPr sz="1200" spc="-2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𝐻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R="183515" algn="ctr">
              <a:lnSpc>
                <a:spcPct val="100000"/>
              </a:lnSpc>
              <a:spcBef>
                <a:spcPts val="775"/>
              </a:spcBef>
            </a:pPr>
            <a:r>
              <a:rPr sz="2100" spc="67" baseline="11904" dirty="0">
                <a:latin typeface="Cambria Math"/>
                <a:cs typeface="Cambria Math"/>
              </a:rPr>
              <a:t>𝑅</a:t>
            </a:r>
            <a:r>
              <a:rPr sz="1000" spc="45" dirty="0">
                <a:latin typeface="Cambria Math"/>
                <a:cs typeface="Cambria Math"/>
              </a:rPr>
              <a:t>𝑖𝑗 </a:t>
            </a:r>
            <a:r>
              <a:rPr sz="2100" baseline="11904" dirty="0">
                <a:latin typeface="Cambria Math"/>
                <a:cs typeface="Cambria Math"/>
              </a:rPr>
              <a:t>= </a:t>
            </a:r>
            <a:r>
              <a:rPr sz="2100" spc="2137" baseline="11904" dirty="0">
                <a:latin typeface="Cambria Math"/>
                <a:cs typeface="Cambria Math"/>
              </a:rPr>
              <a:t>෍</a:t>
            </a:r>
            <a:r>
              <a:rPr sz="2100" spc="-30" baseline="11904" dirty="0">
                <a:latin typeface="Cambria Math"/>
                <a:cs typeface="Cambria Math"/>
              </a:rPr>
              <a:t> </a:t>
            </a:r>
            <a:r>
              <a:rPr sz="2100" spc="44" baseline="11904" dirty="0">
                <a:latin typeface="Cambria Math"/>
                <a:cs typeface="Cambria Math"/>
              </a:rPr>
              <a:t>𝐻</a:t>
            </a:r>
            <a:r>
              <a:rPr sz="1000" spc="30" dirty="0">
                <a:latin typeface="Cambria Math"/>
                <a:cs typeface="Cambria Math"/>
              </a:rPr>
              <a:t>𝑖−𝑢,𝑗−𝑣 </a:t>
            </a:r>
            <a:r>
              <a:rPr sz="2100" spc="-52" baseline="11904" dirty="0">
                <a:latin typeface="Cambria Math"/>
                <a:cs typeface="Cambria Math"/>
              </a:rPr>
              <a:t>𝐹</a:t>
            </a:r>
            <a:r>
              <a:rPr sz="1000" spc="-35" dirty="0"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  <a:p>
            <a:pPr marR="666750" algn="ctr">
              <a:lnSpc>
                <a:spcPct val="100000"/>
              </a:lnSpc>
              <a:spcBef>
                <a:spcPts val="234"/>
              </a:spcBef>
            </a:pPr>
            <a:r>
              <a:rPr sz="1000" spc="45" dirty="0">
                <a:latin typeface="Cambria Math"/>
                <a:cs typeface="Cambria Math"/>
              </a:rPr>
              <a:t>𝑢,𝑣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R="205740" algn="ctr">
              <a:lnSpc>
                <a:spcPct val="100000"/>
              </a:lnSpc>
              <a:spcBef>
                <a:spcPts val="795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使用H将F卷积到域R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2385" y="32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卷积性质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卷积性质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3525" y="1258798"/>
            <a:ext cx="7105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1200" b="1" dirty="0">
                <a:latin typeface="黑体"/>
                <a:cs typeface="黑体"/>
              </a:rPr>
              <a:t>叠加</a:t>
            </a:r>
            <a:r>
              <a:rPr sz="1200" b="1" spc="5" dirty="0">
                <a:latin typeface="黑体"/>
                <a:cs typeface="黑体"/>
              </a:rPr>
              <a:t>性</a:t>
            </a:r>
            <a:r>
              <a:rPr sz="1200" b="1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3335" y="1258798"/>
            <a:ext cx="18586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filter(</a:t>
            </a:r>
            <a:r>
              <a:rPr sz="1200" i="1" spc="-5" dirty="0">
                <a:latin typeface="Arial"/>
                <a:cs typeface="Arial"/>
              </a:rPr>
              <a:t>f</a:t>
            </a:r>
            <a:r>
              <a:rPr sz="1200" spc="-7" baseline="-20833" dirty="0">
                <a:latin typeface="Arial"/>
                <a:cs typeface="Arial"/>
              </a:rPr>
              <a:t>1</a:t>
            </a:r>
            <a:r>
              <a:rPr sz="1200" spc="-5" dirty="0">
                <a:latin typeface="Arial"/>
                <a:cs typeface="Arial"/>
              </a:rPr>
              <a:t>+</a:t>
            </a:r>
            <a:r>
              <a:rPr sz="1200" i="1" spc="-5" dirty="0">
                <a:latin typeface="Arial"/>
                <a:cs typeface="Arial"/>
              </a:rPr>
              <a:t>f</a:t>
            </a:r>
            <a:r>
              <a:rPr sz="1200" spc="-7" baseline="-20833" dirty="0">
                <a:latin typeface="Arial"/>
                <a:cs typeface="Arial"/>
              </a:rPr>
              <a:t>2</a:t>
            </a:r>
            <a:r>
              <a:rPr sz="1200" spc="-5" dirty="0">
                <a:latin typeface="Arial"/>
                <a:cs typeface="Arial"/>
              </a:rPr>
              <a:t>)=filter(</a:t>
            </a:r>
            <a:r>
              <a:rPr sz="1200" i="1" spc="-5" dirty="0">
                <a:latin typeface="Arial"/>
                <a:cs typeface="Arial"/>
              </a:rPr>
              <a:t>f</a:t>
            </a:r>
            <a:r>
              <a:rPr sz="1200" spc="-7" baseline="-20833" dirty="0">
                <a:latin typeface="Arial"/>
                <a:cs typeface="Arial"/>
              </a:rPr>
              <a:t>1</a:t>
            </a:r>
            <a:r>
              <a:rPr sz="1200" spc="-5" dirty="0">
                <a:latin typeface="Arial"/>
                <a:cs typeface="Arial"/>
              </a:rPr>
              <a:t>)+filter(</a:t>
            </a:r>
            <a:r>
              <a:rPr sz="1200" i="1" spc="-5" dirty="0">
                <a:latin typeface="Arial"/>
                <a:cs typeface="Arial"/>
              </a:rPr>
              <a:t>f</a:t>
            </a:r>
            <a:r>
              <a:rPr sz="1200" spc="-7" baseline="-20833" dirty="0">
                <a:latin typeface="Arial"/>
                <a:cs typeface="Arial"/>
              </a:rPr>
              <a:t>2</a:t>
            </a:r>
            <a:r>
              <a:rPr sz="1200" spc="-5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3525" y="1917852"/>
            <a:ext cx="2773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1200" b="1" spc="5" dirty="0">
                <a:latin typeface="黑体"/>
                <a:cs typeface="黑体"/>
              </a:rPr>
              <a:t>平移不变性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filter(shift(</a:t>
            </a:r>
            <a:r>
              <a:rPr sz="1200" i="1" spc="-5" dirty="0">
                <a:latin typeface="Arial"/>
                <a:cs typeface="Arial"/>
              </a:rPr>
              <a:t>f</a:t>
            </a:r>
            <a:r>
              <a:rPr sz="1200" spc="-5" dirty="0">
                <a:latin typeface="Arial"/>
                <a:cs typeface="Arial"/>
              </a:rPr>
              <a:t>))=shift(filter(</a:t>
            </a:r>
            <a:r>
              <a:rPr sz="1200" i="1" spc="-5" dirty="0">
                <a:latin typeface="Arial"/>
                <a:cs typeface="Arial"/>
              </a:rPr>
              <a:t>f</a:t>
            </a:r>
            <a:r>
              <a:rPr sz="1200" spc="-5" dirty="0">
                <a:latin typeface="Arial"/>
                <a:cs typeface="Arial"/>
              </a:rPr>
              <a:t>))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12385" y="32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更多性质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4494" y="973893"/>
            <a:ext cx="2692400" cy="1525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黑体"/>
                <a:cs typeface="黑体"/>
              </a:rPr>
              <a:t>交换律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sz="1200" spc="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𝑏</a:t>
            </a:r>
            <a:r>
              <a:rPr sz="1200" spc="9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1200" spc="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𝑏</a:t>
            </a:r>
            <a:r>
              <a:rPr sz="1200" spc="3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sz="1200" spc="-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黑体"/>
                <a:cs typeface="黑体"/>
              </a:rPr>
              <a:t>结合律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(𝑏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sz="1200" spc="15" dirty="0">
                <a:solidFill>
                  <a:srgbClr val="0000FF"/>
                </a:solidFill>
                <a:latin typeface="Cambria Math"/>
                <a:cs typeface="Cambria Math"/>
              </a:rPr>
              <a:t>𝑐)</a:t>
            </a:r>
            <a:r>
              <a:rPr sz="1200" spc="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1200" spc="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(𝑎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sz="1200" spc="10" dirty="0">
                <a:solidFill>
                  <a:srgbClr val="0000FF"/>
                </a:solidFill>
                <a:latin typeface="Cambria Math"/>
                <a:cs typeface="Cambria Math"/>
              </a:rPr>
              <a:t>𝑏)</a:t>
            </a:r>
            <a:r>
              <a:rPr sz="1200" spc="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𝑐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黑体"/>
                <a:cs typeface="黑体"/>
              </a:rPr>
              <a:t>分配律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(𝑏</a:t>
            </a:r>
            <a:r>
              <a:rPr sz="1200" spc="1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+</a:t>
            </a:r>
            <a:r>
              <a:rPr sz="1200" spc="-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spc="15" dirty="0">
                <a:solidFill>
                  <a:srgbClr val="0000FF"/>
                </a:solidFill>
                <a:latin typeface="Cambria Math"/>
                <a:cs typeface="Cambria Math"/>
              </a:rPr>
              <a:t>𝑐)</a:t>
            </a:r>
            <a:r>
              <a:rPr sz="1200" spc="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1200" spc="5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(𝑎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sz="1200" spc="15" dirty="0">
                <a:solidFill>
                  <a:srgbClr val="0000FF"/>
                </a:solidFill>
                <a:latin typeface="Cambria Math"/>
                <a:cs typeface="Cambria Math"/>
              </a:rPr>
              <a:t>𝑏)</a:t>
            </a:r>
            <a:r>
              <a:rPr sz="1200" spc="-1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+</a:t>
            </a:r>
            <a:r>
              <a:rPr sz="1200" spc="-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(𝑎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sz="1200" spc="15" dirty="0">
                <a:solidFill>
                  <a:srgbClr val="0000FF"/>
                </a:solidFill>
                <a:latin typeface="Cambria Math"/>
                <a:cs typeface="Cambria Math"/>
              </a:rPr>
              <a:t>𝑐)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黑体"/>
                <a:cs typeface="黑体"/>
              </a:rPr>
              <a:t>标量</a:t>
            </a:r>
            <a:r>
              <a:rPr sz="1200" dirty="0">
                <a:latin typeface="Cambria Math"/>
                <a:cs typeface="Cambria Math"/>
              </a:rPr>
              <a:t>:</a:t>
            </a:r>
            <a:r>
              <a:rPr sz="1200" spc="190" dirty="0">
                <a:latin typeface="Cambria Math"/>
                <a:cs typeface="Cambria Math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ambria Math"/>
                <a:cs typeface="Cambria Math"/>
              </a:rPr>
              <a:t>𝑘𝑎</a:t>
            </a:r>
            <a:r>
              <a:rPr sz="1200" spc="2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𝑏</a:t>
            </a:r>
            <a:r>
              <a:rPr sz="1200" spc="9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1200" spc="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𝑎</a:t>
            </a:r>
            <a:r>
              <a:rPr sz="1200" spc="3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sz="1200" spc="-1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ambria Math"/>
                <a:cs typeface="Cambria Math"/>
              </a:rPr>
              <a:t>𝑘𝑏</a:t>
            </a:r>
            <a:r>
              <a:rPr sz="1200" spc="10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1200" spc="5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spc="10" dirty="0">
                <a:solidFill>
                  <a:srgbClr val="0000FF"/>
                </a:solidFill>
                <a:latin typeface="Cambria Math"/>
                <a:cs typeface="Cambria Math"/>
              </a:rPr>
              <a:t>𝑘(𝑎</a:t>
            </a:r>
            <a:r>
              <a:rPr sz="1200" spc="2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sz="1200" spc="10" dirty="0">
                <a:solidFill>
                  <a:srgbClr val="0000FF"/>
                </a:solidFill>
                <a:latin typeface="Cambria Math"/>
                <a:cs typeface="Cambria Math"/>
              </a:rPr>
              <a:t>𝑏)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0984" y="423316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小结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7002" y="1155166"/>
            <a:ext cx="368300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黑体"/>
                <a:cs typeface="黑体"/>
              </a:rPr>
              <a:t>在这一节中，我们学习了一种基础的图像操作，卷</a:t>
            </a:r>
            <a:endParaRPr sz="1200">
              <a:latin typeface="黑体"/>
              <a:cs typeface="黑体"/>
            </a:endParaRPr>
          </a:p>
          <a:p>
            <a:pPr marL="12700" marR="5080" algn="just">
              <a:lnSpc>
                <a:spcPct val="200000"/>
              </a:lnSpc>
              <a:spcBef>
                <a:spcPts val="5"/>
              </a:spcBef>
            </a:pPr>
            <a:r>
              <a:rPr sz="1200" dirty="0">
                <a:latin typeface="黑体"/>
                <a:cs typeface="黑体"/>
              </a:rPr>
              <a:t>积操作。希望大能够理解什么是卷积，能够掌握卷积的 关键性质，同时也知道如何利用卷积核来对图像进行卷 积。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896706" y="1684045"/>
          <a:ext cx="611504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6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594988" y="254247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0210" y="1838331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4120" y="1538027"/>
            <a:ext cx="938783" cy="928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4595" y="1528502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6"/>
                </a:moveTo>
                <a:lnTo>
                  <a:pt x="957833" y="947166"/>
                </a:lnTo>
                <a:lnTo>
                  <a:pt x="957833" y="0"/>
                </a:lnTo>
                <a:lnTo>
                  <a:pt x="0" y="0"/>
                </a:lnTo>
                <a:lnTo>
                  <a:pt x="0" y="94716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76037" y="2499798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单位脉冲核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896706" y="1684045"/>
          <a:ext cx="611504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6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594988" y="254247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0210" y="1838331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4120" y="1538027"/>
            <a:ext cx="938783" cy="928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4595" y="1528502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6"/>
                </a:moveTo>
                <a:lnTo>
                  <a:pt x="957833" y="947166"/>
                </a:lnTo>
                <a:lnTo>
                  <a:pt x="957833" y="0"/>
                </a:lnTo>
                <a:lnTo>
                  <a:pt x="0" y="0"/>
                </a:lnTo>
                <a:lnTo>
                  <a:pt x="0" y="94716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896706" y="1778120"/>
          <a:ext cx="611504" cy="647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5"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594987" y="263718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54119" y="1632102"/>
            <a:ext cx="938783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4594" y="1622577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5"/>
                </a:moveTo>
                <a:lnTo>
                  <a:pt x="957833" y="947165"/>
                </a:lnTo>
                <a:lnTo>
                  <a:pt x="957833" y="0"/>
                </a:lnTo>
                <a:lnTo>
                  <a:pt x="0" y="0"/>
                </a:lnTo>
                <a:lnTo>
                  <a:pt x="0" y="94716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80784" y="1632102"/>
            <a:ext cx="914400" cy="928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81546" y="1632864"/>
            <a:ext cx="974090" cy="928369"/>
          </a:xfrm>
          <a:custGeom>
            <a:avLst/>
            <a:gdLst/>
            <a:ahLst/>
            <a:cxnLst/>
            <a:rect l="l" t="t" r="r" b="b"/>
            <a:pathLst>
              <a:path w="974089" h="928369">
                <a:moveTo>
                  <a:pt x="0" y="928115"/>
                </a:moveTo>
                <a:lnTo>
                  <a:pt x="973836" y="928115"/>
                </a:lnTo>
                <a:lnTo>
                  <a:pt x="973836" y="0"/>
                </a:lnTo>
                <a:lnTo>
                  <a:pt x="0" y="0"/>
                </a:lnTo>
                <a:lnTo>
                  <a:pt x="0" y="928115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99453" y="2637180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向左平移一个像素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64019" y="890327"/>
            <a:ext cx="914400" cy="928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878418" y="1036345"/>
          <a:ext cx="613409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6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594988" y="254247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4120" y="1538027"/>
            <a:ext cx="938783" cy="9281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4595" y="1528502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6"/>
                </a:moveTo>
                <a:lnTo>
                  <a:pt x="957833" y="947166"/>
                </a:lnTo>
                <a:lnTo>
                  <a:pt x="957833" y="0"/>
                </a:lnTo>
                <a:lnTo>
                  <a:pt x="0" y="0"/>
                </a:lnTo>
                <a:lnTo>
                  <a:pt x="0" y="94716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64781" y="891089"/>
            <a:ext cx="974090" cy="928369"/>
          </a:xfrm>
          <a:custGeom>
            <a:avLst/>
            <a:gdLst/>
            <a:ahLst/>
            <a:cxnLst/>
            <a:rect l="l" t="t" r="r" b="b"/>
            <a:pathLst>
              <a:path w="974089" h="928369">
                <a:moveTo>
                  <a:pt x="0" y="928116"/>
                </a:moveTo>
                <a:lnTo>
                  <a:pt x="973836" y="928116"/>
                </a:lnTo>
                <a:lnTo>
                  <a:pt x="973836" y="0"/>
                </a:lnTo>
                <a:lnTo>
                  <a:pt x="0" y="0"/>
                </a:lnTo>
                <a:lnTo>
                  <a:pt x="0" y="92811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82054" y="1894770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向左平移一个像素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23456" y="2248211"/>
            <a:ext cx="914400" cy="929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878418" y="2385085"/>
          <a:ext cx="613409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412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4264781" y="2239829"/>
            <a:ext cx="974090" cy="928369"/>
          </a:xfrm>
          <a:custGeom>
            <a:avLst/>
            <a:gdLst/>
            <a:ahLst/>
            <a:cxnLst/>
            <a:rect l="l" t="t" r="r" b="b"/>
            <a:pathLst>
              <a:path w="974089" h="928369">
                <a:moveTo>
                  <a:pt x="0" y="928115"/>
                </a:moveTo>
                <a:lnTo>
                  <a:pt x="973836" y="928115"/>
                </a:lnTo>
                <a:lnTo>
                  <a:pt x="973836" y="0"/>
                </a:lnTo>
                <a:lnTo>
                  <a:pt x="0" y="0"/>
                </a:lnTo>
                <a:lnTo>
                  <a:pt x="0" y="92811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82054" y="3242875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向右平移一个像素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896706" y="1778120"/>
          <a:ext cx="611504" cy="647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5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594987" y="263718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0210" y="193360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4119" y="1632102"/>
            <a:ext cx="938783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4594" y="1622577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5"/>
                </a:moveTo>
                <a:lnTo>
                  <a:pt x="957833" y="947165"/>
                </a:lnTo>
                <a:lnTo>
                  <a:pt x="957833" y="0"/>
                </a:lnTo>
                <a:lnTo>
                  <a:pt x="0" y="0"/>
                </a:lnTo>
                <a:lnTo>
                  <a:pt x="0" y="94716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89928" y="1534979"/>
            <a:ext cx="929639" cy="934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80403" y="1525454"/>
            <a:ext cx="948690" cy="953769"/>
          </a:xfrm>
          <a:custGeom>
            <a:avLst/>
            <a:gdLst/>
            <a:ahLst/>
            <a:cxnLst/>
            <a:rect l="l" t="t" r="r" b="b"/>
            <a:pathLst>
              <a:path w="948689" h="953769">
                <a:moveTo>
                  <a:pt x="0" y="953262"/>
                </a:moveTo>
                <a:lnTo>
                  <a:pt x="948689" y="953262"/>
                </a:lnTo>
                <a:lnTo>
                  <a:pt x="948689" y="0"/>
                </a:lnTo>
                <a:lnTo>
                  <a:pt x="0" y="0"/>
                </a:lnTo>
                <a:lnTo>
                  <a:pt x="0" y="95326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896706" y="1684045"/>
          <a:ext cx="611504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6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594988" y="254247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54120" y="1538027"/>
            <a:ext cx="938783" cy="9281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44595" y="1528502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6"/>
                </a:moveTo>
                <a:lnTo>
                  <a:pt x="957833" y="947166"/>
                </a:lnTo>
                <a:lnTo>
                  <a:pt x="957833" y="0"/>
                </a:lnTo>
                <a:lnTo>
                  <a:pt x="0" y="0"/>
                </a:lnTo>
                <a:lnTo>
                  <a:pt x="0" y="94716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35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99626" y="1778120"/>
          <a:ext cx="611504" cy="647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5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594987" y="263718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5010" y="193360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4119" y="1632102"/>
            <a:ext cx="938783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4594" y="1622577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5"/>
                </a:moveTo>
                <a:lnTo>
                  <a:pt x="957833" y="947165"/>
                </a:lnTo>
                <a:lnTo>
                  <a:pt x="957833" y="0"/>
                </a:lnTo>
                <a:lnTo>
                  <a:pt x="0" y="0"/>
                </a:lnTo>
                <a:lnTo>
                  <a:pt x="0" y="94716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523326" y="1778120"/>
          <a:ext cx="611504" cy="647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204331" y="1896135"/>
            <a:ext cx="110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77736" y="1551743"/>
            <a:ext cx="938784" cy="938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70624" y="1544568"/>
            <a:ext cx="953135" cy="953135"/>
          </a:xfrm>
          <a:custGeom>
            <a:avLst/>
            <a:gdLst/>
            <a:ahLst/>
            <a:cxnLst/>
            <a:rect l="l" t="t" r="r" b="b"/>
            <a:pathLst>
              <a:path w="953135" h="953135">
                <a:moveTo>
                  <a:pt x="0" y="953071"/>
                </a:moveTo>
                <a:lnTo>
                  <a:pt x="953071" y="953071"/>
                </a:lnTo>
                <a:lnTo>
                  <a:pt x="953071" y="0"/>
                </a:lnTo>
                <a:lnTo>
                  <a:pt x="0" y="0"/>
                </a:lnTo>
                <a:lnTo>
                  <a:pt x="0" y="953071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399626" y="1684045"/>
          <a:ext cx="611504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6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1/9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594988" y="2542470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原图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54120" y="1538027"/>
            <a:ext cx="938783" cy="9281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44595" y="1528502"/>
            <a:ext cx="958215" cy="947419"/>
          </a:xfrm>
          <a:custGeom>
            <a:avLst/>
            <a:gdLst/>
            <a:ahLst/>
            <a:cxnLst/>
            <a:rect l="l" t="t" r="r" b="b"/>
            <a:pathLst>
              <a:path w="958214" h="947419">
                <a:moveTo>
                  <a:pt x="0" y="947166"/>
                </a:moveTo>
                <a:lnTo>
                  <a:pt x="957833" y="947166"/>
                </a:lnTo>
                <a:lnTo>
                  <a:pt x="957833" y="0"/>
                </a:lnTo>
                <a:lnTo>
                  <a:pt x="0" y="0"/>
                </a:lnTo>
                <a:lnTo>
                  <a:pt x="0" y="94716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spc="20" dirty="0">
                <a:latin typeface="黑体"/>
                <a:cs typeface="黑体"/>
              </a:rPr>
              <a:t>示</a:t>
            </a:r>
            <a:r>
              <a:rPr sz="180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523326" y="1684045"/>
          <a:ext cx="611504" cy="647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56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4545706" y="2614352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锐化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4332" y="1801425"/>
            <a:ext cx="110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6" y="423316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锐化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3619" y="832002"/>
            <a:ext cx="1066800" cy="1068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64735" y="1762658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87619" y="832002"/>
            <a:ext cx="1066800" cy="1066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54928" y="1746529"/>
            <a:ext cx="4946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20" dirty="0">
                <a:solidFill>
                  <a:srgbClr val="FFFFFF"/>
                </a:solidFill>
                <a:latin typeface="黑体"/>
                <a:cs typeface="黑体"/>
              </a:rPr>
              <a:t>平</a:t>
            </a: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滑</a:t>
            </a:r>
            <a:r>
              <a:rPr sz="800" b="1" spc="-260" dirty="0">
                <a:solidFill>
                  <a:srgbClr val="FFFFFF"/>
                </a:solidFill>
                <a:latin typeface="黑体"/>
                <a:cs typeface="黑体"/>
              </a:rPr>
              <a:t> 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(5x5)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6474" y="1277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–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75043" y="832002"/>
            <a:ext cx="1066800" cy="1066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74381" y="1735226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细节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12153" y="1296060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75043" y="2316378"/>
            <a:ext cx="1066800" cy="1066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93812" y="3242716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锐化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2628" y="2781960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63619" y="2317902"/>
            <a:ext cx="1066800" cy="1066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87619" y="2317902"/>
            <a:ext cx="1066800" cy="1066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89371" y="3239668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细节</a:t>
            </a:r>
            <a:endParaRPr sz="8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9997" y="2781960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1753" y="3230016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7" y="328733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锐化</a:t>
            </a:r>
            <a:endParaRPr sz="1800">
              <a:latin typeface="黑体"/>
              <a:cs typeface="黑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04354" y="897661"/>
          <a:ext cx="496570" cy="525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4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70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74498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ts val="127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5259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ts val="12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6022"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ts val="128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42588" y="975417"/>
            <a:ext cx="1485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5020" y="849179"/>
            <a:ext cx="600456" cy="601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86810" y="1294949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129878" y="893089"/>
          <a:ext cx="497204" cy="525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7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74498"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ts val="127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5259"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ts val="12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6022">
                <a:tc>
                  <a:txBody>
                    <a:bodyPr/>
                    <a:lstStyle/>
                    <a:p>
                      <a:pPr marL="1905" algn="ctr">
                        <a:lnSpc>
                          <a:spcPts val="128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ts val="128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969635" y="971480"/>
            <a:ext cx="1485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2068" y="844607"/>
            <a:ext cx="600456" cy="601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14239" y="1290631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75798" y="870229"/>
          <a:ext cx="512445" cy="486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08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62305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1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1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1544">
                <a:tc>
                  <a:txBody>
                    <a:bodyPr/>
                    <a:lstStyle/>
                    <a:p>
                      <a:pPr marL="635" algn="ctr">
                        <a:lnSpc>
                          <a:spcPts val="117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17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17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2305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1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18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4645528" y="1148010"/>
            <a:ext cx="83820" cy="10795"/>
          </a:xfrm>
          <a:custGeom>
            <a:avLst/>
            <a:gdLst/>
            <a:ahLst/>
            <a:cxnLst/>
            <a:rect l="l" t="t" r="r" b="b"/>
            <a:pathLst>
              <a:path w="83820" h="10794">
                <a:moveTo>
                  <a:pt x="0" y="0"/>
                </a:moveTo>
                <a:lnTo>
                  <a:pt x="83820" y="0"/>
                </a:lnTo>
                <a:lnTo>
                  <a:pt x="83820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33843" y="916362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76618" y="946207"/>
            <a:ext cx="267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∗</a:t>
            </a:r>
            <a:r>
              <a:rPr sz="2000" spc="-245" dirty="0">
                <a:latin typeface="Cambria Math"/>
                <a:cs typeface="Cambria Math"/>
              </a:rPr>
              <a:t> </a:t>
            </a:r>
            <a:r>
              <a:rPr sz="1800" baseline="-32407" dirty="0">
                <a:latin typeface="Cambria Math"/>
                <a:cs typeface="Cambria Math"/>
              </a:rPr>
              <a:t>9</a:t>
            </a:r>
            <a:endParaRPr sz="1800" baseline="-32407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67780" y="820223"/>
            <a:ext cx="600455" cy="600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220840" y="1265358"/>
            <a:ext cx="23050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32071" y="968178"/>
            <a:ext cx="215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+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57213" y="988625"/>
            <a:ext cx="215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−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477350" y="2158009"/>
          <a:ext cx="551815" cy="53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54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77546">
                <a:tc>
                  <a:txBody>
                    <a:bodyPr/>
                    <a:lstStyle/>
                    <a:p>
                      <a:pPr marL="635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307">
                <a:tc>
                  <a:txBody>
                    <a:bodyPr/>
                    <a:lstStyle/>
                    <a:p>
                      <a:pPr marL="635" algn="ctr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marL="635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2352638" y="2158009"/>
          <a:ext cx="574675" cy="53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1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3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77546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307"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3078729" y="2123319"/>
            <a:ext cx="15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-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23077" y="2435028"/>
            <a:ext cx="83820" cy="10795"/>
          </a:xfrm>
          <a:custGeom>
            <a:avLst/>
            <a:gdLst/>
            <a:ahLst/>
            <a:cxnLst/>
            <a:rect l="l" t="t" r="r" b="b"/>
            <a:pathLst>
              <a:path w="83820" h="10794">
                <a:moveTo>
                  <a:pt x="0" y="0"/>
                </a:moveTo>
                <a:lnTo>
                  <a:pt x="83820" y="0"/>
                </a:lnTo>
                <a:lnTo>
                  <a:pt x="83820" y="10667"/>
                </a:lnTo>
                <a:lnTo>
                  <a:pt x="0" y="106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11266" y="2168454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latin typeface="Cambria Math"/>
                <a:cs typeface="Cambria Math"/>
              </a:rPr>
              <a:t>9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69307" y="2242496"/>
            <a:ext cx="1485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45279" y="2245798"/>
            <a:ext cx="2118360" cy="388620"/>
          </a:xfrm>
          <a:custGeom>
            <a:avLst/>
            <a:gdLst/>
            <a:ahLst/>
            <a:cxnLst/>
            <a:rect l="l" t="t" r="r" b="b"/>
            <a:pathLst>
              <a:path w="2118360" h="388619">
                <a:moveTo>
                  <a:pt x="1994154" y="0"/>
                </a:moveTo>
                <a:lnTo>
                  <a:pt x="1988693" y="15747"/>
                </a:lnTo>
                <a:lnTo>
                  <a:pt x="2011144" y="25513"/>
                </a:lnTo>
                <a:lnTo>
                  <a:pt x="2030476" y="39004"/>
                </a:lnTo>
                <a:lnTo>
                  <a:pt x="2059685" y="77215"/>
                </a:lnTo>
                <a:lnTo>
                  <a:pt x="2076894" y="128825"/>
                </a:lnTo>
                <a:lnTo>
                  <a:pt x="2082672" y="192150"/>
                </a:lnTo>
                <a:lnTo>
                  <a:pt x="2081222" y="226393"/>
                </a:lnTo>
                <a:lnTo>
                  <a:pt x="2069653" y="285448"/>
                </a:lnTo>
                <a:lnTo>
                  <a:pt x="2046531" y="331575"/>
                </a:lnTo>
                <a:lnTo>
                  <a:pt x="2011427" y="362678"/>
                </a:lnTo>
                <a:lnTo>
                  <a:pt x="1989328" y="372490"/>
                </a:lnTo>
                <a:lnTo>
                  <a:pt x="1994154" y="388238"/>
                </a:lnTo>
                <a:lnTo>
                  <a:pt x="2047128" y="363378"/>
                </a:lnTo>
                <a:lnTo>
                  <a:pt x="2086101" y="320420"/>
                </a:lnTo>
                <a:lnTo>
                  <a:pt x="2109993" y="262778"/>
                </a:lnTo>
                <a:lnTo>
                  <a:pt x="2117979" y="194182"/>
                </a:lnTo>
                <a:lnTo>
                  <a:pt x="2115978" y="158583"/>
                </a:lnTo>
                <a:lnTo>
                  <a:pt x="2099976" y="95527"/>
                </a:lnTo>
                <a:lnTo>
                  <a:pt x="2068234" y="44184"/>
                </a:lnTo>
                <a:lnTo>
                  <a:pt x="2022324" y="10171"/>
                </a:lnTo>
                <a:lnTo>
                  <a:pt x="1994154" y="0"/>
                </a:lnTo>
                <a:close/>
              </a:path>
              <a:path w="2118360" h="388619">
                <a:moveTo>
                  <a:pt x="123825" y="0"/>
                </a:moveTo>
                <a:lnTo>
                  <a:pt x="70961" y="24891"/>
                </a:lnTo>
                <a:lnTo>
                  <a:pt x="32003" y="68071"/>
                </a:lnTo>
                <a:lnTo>
                  <a:pt x="8000" y="125698"/>
                </a:lnTo>
                <a:lnTo>
                  <a:pt x="0" y="194182"/>
                </a:lnTo>
                <a:lnTo>
                  <a:pt x="1998" y="229856"/>
                </a:lnTo>
                <a:lnTo>
                  <a:pt x="17948" y="292963"/>
                </a:lnTo>
                <a:lnTo>
                  <a:pt x="49619" y="344162"/>
                </a:lnTo>
                <a:lnTo>
                  <a:pt x="95581" y="378071"/>
                </a:lnTo>
                <a:lnTo>
                  <a:pt x="123825" y="388238"/>
                </a:lnTo>
                <a:lnTo>
                  <a:pt x="128650" y="372490"/>
                </a:lnTo>
                <a:lnTo>
                  <a:pt x="106551" y="362678"/>
                </a:lnTo>
                <a:lnTo>
                  <a:pt x="87487" y="349043"/>
                </a:lnTo>
                <a:lnTo>
                  <a:pt x="58419" y="310260"/>
                </a:lnTo>
                <a:lnTo>
                  <a:pt x="41100" y="257492"/>
                </a:lnTo>
                <a:lnTo>
                  <a:pt x="35306" y="192150"/>
                </a:lnTo>
                <a:lnTo>
                  <a:pt x="36756" y="159029"/>
                </a:lnTo>
                <a:lnTo>
                  <a:pt x="48325" y="101550"/>
                </a:lnTo>
                <a:lnTo>
                  <a:pt x="71493" y="56235"/>
                </a:lnTo>
                <a:lnTo>
                  <a:pt x="106926" y="25513"/>
                </a:lnTo>
                <a:lnTo>
                  <a:pt x="129285" y="15747"/>
                </a:lnTo>
                <a:lnTo>
                  <a:pt x="123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33724" y="2133911"/>
            <a:ext cx="600456" cy="600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485895" y="2579046"/>
            <a:ext cx="23050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8482" y="2258371"/>
            <a:ext cx="215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54952" y="2204396"/>
            <a:ext cx="215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672452" y="2098859"/>
            <a:ext cx="591312" cy="5913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573392" y="1995227"/>
            <a:ext cx="909955" cy="896619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 marL="451484">
              <a:lnSpc>
                <a:spcPct val="100000"/>
              </a:lnSpc>
              <a:spcBef>
                <a:spcPts val="665"/>
              </a:spcBef>
            </a:pPr>
            <a:r>
              <a:rPr sz="800" b="1" dirty="0">
                <a:solidFill>
                  <a:srgbClr val="FFFFFF"/>
                </a:solidFill>
                <a:latin typeface="黑体"/>
                <a:cs typeface="黑体"/>
              </a:rPr>
              <a:t>锐化</a:t>
            </a:r>
            <a:endParaRPr sz="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6" y="423316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小结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7893" y="1287754"/>
            <a:ext cx="3647440" cy="139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积是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像处</a:t>
            </a:r>
            <a:r>
              <a:rPr sz="1000" spc="5" dirty="0">
                <a:latin typeface="黑体"/>
                <a:cs typeface="黑体"/>
              </a:rPr>
              <a:t>理</a:t>
            </a:r>
            <a:r>
              <a:rPr sz="1000" spc="-5" dirty="0">
                <a:latin typeface="黑体"/>
                <a:cs typeface="黑体"/>
              </a:rPr>
              <a:t>中的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个基</a:t>
            </a:r>
            <a:r>
              <a:rPr sz="1000" spc="5" dirty="0">
                <a:latin typeface="黑体"/>
                <a:cs typeface="黑体"/>
              </a:rPr>
              <a:t>础</a:t>
            </a:r>
            <a:r>
              <a:rPr sz="1000" spc="-5" dirty="0">
                <a:latin typeface="黑体"/>
                <a:cs typeface="黑体"/>
              </a:rPr>
              <a:t>而又</a:t>
            </a:r>
            <a:r>
              <a:rPr sz="1000" spc="5" dirty="0">
                <a:latin typeface="黑体"/>
                <a:cs typeface="黑体"/>
              </a:rPr>
              <a:t>重</a:t>
            </a:r>
            <a:r>
              <a:rPr sz="1000" spc="-5" dirty="0">
                <a:latin typeface="黑体"/>
                <a:cs typeface="黑体"/>
              </a:rPr>
              <a:t>要的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像操</a:t>
            </a:r>
            <a:r>
              <a:rPr sz="1000" spc="-3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，</a:t>
            </a:r>
            <a:r>
              <a:rPr sz="1000" spc="-10" dirty="0">
                <a:latin typeface="黑体"/>
                <a:cs typeface="黑体"/>
              </a:rPr>
              <a:t>它</a:t>
            </a:r>
            <a:r>
              <a:rPr sz="1000" dirty="0">
                <a:latin typeface="黑体"/>
                <a:cs typeface="黑体"/>
              </a:rPr>
              <a:t>可</a:t>
            </a:r>
            <a:r>
              <a:rPr sz="1000" spc="-5" dirty="0">
                <a:latin typeface="黑体"/>
                <a:cs typeface="黑体"/>
              </a:rPr>
              <a:t>以</a:t>
            </a:r>
            <a:r>
              <a:rPr sz="1000" spc="-10" dirty="0">
                <a:latin typeface="黑体"/>
                <a:cs typeface="黑体"/>
              </a:rPr>
              <a:t>实</a:t>
            </a:r>
            <a:r>
              <a:rPr sz="1000" spc="5" dirty="0">
                <a:latin typeface="黑体"/>
                <a:cs typeface="黑体"/>
              </a:rPr>
              <a:t>现</a:t>
            </a:r>
            <a:r>
              <a:rPr sz="1000" spc="-5" dirty="0">
                <a:latin typeface="黑体"/>
                <a:cs typeface="黑体"/>
              </a:rPr>
              <a:t>: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平移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10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平滑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10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锐化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10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-5" dirty="0">
                <a:latin typeface="黑体"/>
                <a:cs typeface="黑体"/>
              </a:rPr>
              <a:t>…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4740" y="1304347"/>
            <a:ext cx="169608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图像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去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噪与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卷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积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高斯</a:t>
            </a:r>
            <a:r>
              <a:rPr sz="1200" spc="-10" dirty="0">
                <a:latin typeface="黑体"/>
                <a:cs typeface="黑体"/>
              </a:rPr>
              <a:t>卷</a:t>
            </a:r>
            <a:r>
              <a:rPr sz="1200" dirty="0">
                <a:latin typeface="黑体"/>
                <a:cs typeface="黑体"/>
              </a:rPr>
              <a:t>积核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图像噪声与中值滤波器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820" y="282378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补</a:t>
            </a:r>
            <a:r>
              <a:rPr sz="1800" spc="-5" dirty="0">
                <a:latin typeface="黑体"/>
                <a:cs typeface="黑体"/>
              </a:rPr>
              <a:t>充</a:t>
            </a:r>
            <a:r>
              <a:rPr sz="1800" dirty="0">
                <a:latin typeface="黑体"/>
                <a:cs typeface="黑体"/>
              </a:rPr>
              <a:t>1：卷积与图像去噪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14138" y="423316"/>
            <a:ext cx="233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平均</a:t>
            </a:r>
            <a:r>
              <a:rPr sz="1800" b="0" spc="25" dirty="0">
                <a:latin typeface="黑体"/>
                <a:cs typeface="黑体"/>
              </a:rPr>
              <a:t>卷</a:t>
            </a:r>
            <a:r>
              <a:rPr sz="1800" b="0" spc="10" dirty="0">
                <a:latin typeface="黑体"/>
                <a:cs typeface="黑体"/>
              </a:rPr>
              <a:t>积</a:t>
            </a:r>
            <a:r>
              <a:rPr sz="1800" b="0" spc="25" dirty="0">
                <a:latin typeface="黑体"/>
                <a:cs typeface="黑体"/>
              </a:rPr>
              <a:t>核存</a:t>
            </a:r>
            <a:r>
              <a:rPr sz="1800" b="0" spc="10" dirty="0">
                <a:latin typeface="黑体"/>
                <a:cs typeface="黑体"/>
              </a:rPr>
              <a:t>在的</a:t>
            </a:r>
            <a:r>
              <a:rPr sz="1800" b="0" spc="25" dirty="0">
                <a:latin typeface="黑体"/>
                <a:cs typeface="黑体"/>
              </a:rPr>
              <a:t>问</a:t>
            </a:r>
            <a:r>
              <a:rPr sz="1800" b="0" dirty="0">
                <a:latin typeface="黑体"/>
                <a:cs typeface="黑体"/>
              </a:rPr>
              <a:t>题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0123" y="3248558"/>
            <a:ext cx="275882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积后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图像</a:t>
            </a:r>
            <a:r>
              <a:rPr sz="1000" spc="5" dirty="0">
                <a:latin typeface="黑体"/>
                <a:cs typeface="黑体"/>
              </a:rPr>
              <a:t>产</a:t>
            </a:r>
            <a:r>
              <a:rPr sz="1000" spc="-5" dirty="0">
                <a:latin typeface="黑体"/>
                <a:cs typeface="黑体"/>
              </a:rPr>
              <a:t>生了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些水</a:t>
            </a:r>
            <a:r>
              <a:rPr sz="1000" spc="5" dirty="0">
                <a:latin typeface="黑体"/>
                <a:cs typeface="黑体"/>
              </a:rPr>
              <a:t>平</a:t>
            </a:r>
            <a:r>
              <a:rPr sz="1000" spc="-5" dirty="0">
                <a:latin typeface="黑体"/>
                <a:cs typeface="黑体"/>
              </a:rPr>
              <a:t>和竖</a:t>
            </a:r>
            <a:r>
              <a:rPr sz="1000" spc="5" dirty="0">
                <a:latin typeface="黑体"/>
                <a:cs typeface="黑体"/>
              </a:rPr>
              <a:t>直</a:t>
            </a:r>
            <a:r>
              <a:rPr sz="1000" spc="-5" dirty="0">
                <a:latin typeface="黑体"/>
                <a:cs typeface="黑体"/>
              </a:rPr>
              <a:t>方向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条状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2347" y="1289202"/>
            <a:ext cx="16764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840318" y="1808600"/>
          <a:ext cx="593725" cy="624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4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93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0802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726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1/9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606411" y="3190011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黑体"/>
                <a:cs typeface="黑体"/>
              </a:rPr>
              <a:t>振铃!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4221" y="961923"/>
            <a:ext cx="370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解决方法：根据邻域像素与中心的远近程度分配权重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17487" y="1289202"/>
            <a:ext cx="1676400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4139" y="328733"/>
            <a:ext cx="233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平均</a:t>
            </a:r>
            <a:r>
              <a:rPr sz="1800" spc="25" dirty="0">
                <a:latin typeface="黑体"/>
                <a:cs typeface="黑体"/>
              </a:rPr>
              <a:t>卷</a:t>
            </a:r>
            <a:r>
              <a:rPr sz="1800" spc="10" dirty="0">
                <a:latin typeface="黑体"/>
                <a:cs typeface="黑体"/>
              </a:rPr>
              <a:t>积</a:t>
            </a:r>
            <a:r>
              <a:rPr sz="1800" spc="25" dirty="0">
                <a:latin typeface="黑体"/>
                <a:cs typeface="黑体"/>
              </a:rPr>
              <a:t>核存</a:t>
            </a:r>
            <a:r>
              <a:rPr sz="1800" spc="10" dirty="0">
                <a:latin typeface="黑体"/>
                <a:cs typeface="黑体"/>
              </a:rPr>
              <a:t>在的</a:t>
            </a:r>
            <a:r>
              <a:rPr sz="1800" spc="25" dirty="0">
                <a:latin typeface="黑体"/>
                <a:cs typeface="黑体"/>
              </a:rPr>
              <a:t>问</a:t>
            </a:r>
            <a:r>
              <a:rPr sz="1800" dirty="0">
                <a:latin typeface="黑体"/>
                <a:cs typeface="黑体"/>
              </a:rPr>
              <a:t>题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4222" y="867213"/>
            <a:ext cx="370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解决方法：根据邻域像素与中心的远近程度分配权重</a:t>
            </a:r>
            <a:endParaRPr sz="1200">
              <a:latin typeface="黑体"/>
              <a:cs typeface="黑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238338" y="1493545"/>
          <a:ext cx="1828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256912" y="1512119"/>
            <a:ext cx="1816608" cy="1816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12610" y="1934394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权重 大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59882" y="2006022"/>
            <a:ext cx="1221740" cy="422909"/>
          </a:xfrm>
          <a:custGeom>
            <a:avLst/>
            <a:gdLst/>
            <a:ahLst/>
            <a:cxnLst/>
            <a:rect l="l" t="t" r="r" b="b"/>
            <a:pathLst>
              <a:path w="1221739" h="422910">
                <a:moveTo>
                  <a:pt x="33781" y="382142"/>
                </a:moveTo>
                <a:lnTo>
                  <a:pt x="0" y="416051"/>
                </a:lnTo>
                <a:lnTo>
                  <a:pt x="47497" y="422655"/>
                </a:lnTo>
                <a:lnTo>
                  <a:pt x="43714" y="411479"/>
                </a:lnTo>
                <a:lnTo>
                  <a:pt x="36194" y="411479"/>
                </a:lnTo>
                <a:lnTo>
                  <a:pt x="31622" y="397890"/>
                </a:lnTo>
                <a:lnTo>
                  <a:pt x="38349" y="395633"/>
                </a:lnTo>
                <a:lnTo>
                  <a:pt x="33781" y="382142"/>
                </a:lnTo>
                <a:close/>
              </a:path>
              <a:path w="1221739" h="422910">
                <a:moveTo>
                  <a:pt x="38349" y="395633"/>
                </a:moveTo>
                <a:lnTo>
                  <a:pt x="31622" y="397890"/>
                </a:lnTo>
                <a:lnTo>
                  <a:pt x="36194" y="411479"/>
                </a:lnTo>
                <a:lnTo>
                  <a:pt x="42946" y="409212"/>
                </a:lnTo>
                <a:lnTo>
                  <a:pt x="38349" y="395633"/>
                </a:lnTo>
                <a:close/>
              </a:path>
              <a:path w="1221739" h="422910">
                <a:moveTo>
                  <a:pt x="42946" y="409212"/>
                </a:moveTo>
                <a:lnTo>
                  <a:pt x="36194" y="411479"/>
                </a:lnTo>
                <a:lnTo>
                  <a:pt x="43714" y="411479"/>
                </a:lnTo>
                <a:lnTo>
                  <a:pt x="42946" y="409212"/>
                </a:lnTo>
                <a:close/>
              </a:path>
              <a:path w="1221739" h="422910">
                <a:moveTo>
                  <a:pt x="1216914" y="0"/>
                </a:moveTo>
                <a:lnTo>
                  <a:pt x="38349" y="395633"/>
                </a:lnTo>
                <a:lnTo>
                  <a:pt x="42946" y="409212"/>
                </a:lnTo>
                <a:lnTo>
                  <a:pt x="1221485" y="13461"/>
                </a:lnTo>
                <a:lnTo>
                  <a:pt x="12169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05631" y="2630608"/>
            <a:ext cx="1068705" cy="278765"/>
          </a:xfrm>
          <a:custGeom>
            <a:avLst/>
            <a:gdLst/>
            <a:ahLst/>
            <a:cxnLst/>
            <a:rect l="l" t="t" r="r" b="b"/>
            <a:pathLst>
              <a:path w="1068705" h="278764">
                <a:moveTo>
                  <a:pt x="1025100" y="264631"/>
                </a:moveTo>
                <a:lnTo>
                  <a:pt x="1021714" y="278511"/>
                </a:lnTo>
                <a:lnTo>
                  <a:pt x="1068451" y="267842"/>
                </a:lnTo>
                <a:lnTo>
                  <a:pt x="1066652" y="266318"/>
                </a:lnTo>
                <a:lnTo>
                  <a:pt x="1032001" y="266318"/>
                </a:lnTo>
                <a:lnTo>
                  <a:pt x="1025100" y="264631"/>
                </a:lnTo>
                <a:close/>
              </a:path>
              <a:path w="1068705" h="278764">
                <a:moveTo>
                  <a:pt x="1028479" y="250775"/>
                </a:moveTo>
                <a:lnTo>
                  <a:pt x="1025100" y="264631"/>
                </a:lnTo>
                <a:lnTo>
                  <a:pt x="1032001" y="266318"/>
                </a:lnTo>
                <a:lnTo>
                  <a:pt x="1035431" y="252475"/>
                </a:lnTo>
                <a:lnTo>
                  <a:pt x="1028479" y="250775"/>
                </a:lnTo>
                <a:close/>
              </a:path>
              <a:path w="1068705" h="278764">
                <a:moveTo>
                  <a:pt x="1031875" y="236854"/>
                </a:moveTo>
                <a:lnTo>
                  <a:pt x="1028479" y="250775"/>
                </a:lnTo>
                <a:lnTo>
                  <a:pt x="1035431" y="252475"/>
                </a:lnTo>
                <a:lnTo>
                  <a:pt x="1032001" y="266318"/>
                </a:lnTo>
                <a:lnTo>
                  <a:pt x="1066652" y="266318"/>
                </a:lnTo>
                <a:lnTo>
                  <a:pt x="1031875" y="236854"/>
                </a:lnTo>
                <a:close/>
              </a:path>
              <a:path w="1068705" h="278764">
                <a:moveTo>
                  <a:pt x="3301" y="0"/>
                </a:moveTo>
                <a:lnTo>
                  <a:pt x="0" y="13970"/>
                </a:lnTo>
                <a:lnTo>
                  <a:pt x="1025100" y="264631"/>
                </a:lnTo>
                <a:lnTo>
                  <a:pt x="1028479" y="250775"/>
                </a:lnTo>
                <a:lnTo>
                  <a:pt x="330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7872" y="2541835"/>
            <a:ext cx="330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权重 小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988" y="423316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高斯</a:t>
            </a:r>
            <a:r>
              <a:rPr sz="1800" spc="20" dirty="0">
                <a:latin typeface="黑体"/>
                <a:cs typeface="黑体"/>
              </a:rPr>
              <a:t>卷</a:t>
            </a:r>
            <a:r>
              <a:rPr sz="1800" spc="10" dirty="0">
                <a:latin typeface="黑体"/>
                <a:cs typeface="黑体"/>
              </a:rPr>
              <a:t>积</a:t>
            </a:r>
            <a:r>
              <a:rPr sz="180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1296" y="1485798"/>
            <a:ext cx="1048511" cy="1046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1561" y="1589430"/>
            <a:ext cx="1552826" cy="1005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89552" y="2903499"/>
            <a:ext cx="1168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高斯卷积核权重可视化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11262" y="1384071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高斯卷积核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3585" y="2476525"/>
            <a:ext cx="174409" cy="1559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008" y="183212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权 重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01058" y="2477033"/>
            <a:ext cx="171450" cy="1391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9709" y="1407312"/>
            <a:ext cx="3629025" cy="144526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R="332740" algn="r">
              <a:lnSpc>
                <a:spcPct val="100000"/>
              </a:lnSpc>
            </a:pPr>
            <a:r>
              <a:rPr sz="900" spc="5" dirty="0">
                <a:latin typeface="黑体"/>
                <a:cs typeface="黑体"/>
              </a:rPr>
              <a:t>y</a:t>
            </a:r>
            <a:r>
              <a:rPr sz="900" dirty="0">
                <a:latin typeface="黑体"/>
                <a:cs typeface="黑体"/>
              </a:rPr>
              <a:t>轴</a:t>
            </a:r>
            <a:endParaRPr sz="9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R="927735" algn="r">
              <a:lnSpc>
                <a:spcPct val="100000"/>
              </a:lnSpc>
              <a:spcBef>
                <a:spcPts val="570"/>
              </a:spcBef>
            </a:pPr>
            <a:r>
              <a:rPr sz="900" spc="5" dirty="0">
                <a:latin typeface="黑体"/>
                <a:cs typeface="黑体"/>
              </a:rPr>
              <a:t>x</a:t>
            </a:r>
            <a:r>
              <a:rPr sz="900" dirty="0">
                <a:latin typeface="黑体"/>
                <a:cs typeface="黑体"/>
              </a:rPr>
              <a:t>轴</a:t>
            </a:r>
            <a:endParaRPr sz="900">
              <a:latin typeface="黑体"/>
              <a:cs typeface="黑体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146576" y="1635912"/>
          <a:ext cx="1753235" cy="109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3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17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ts val="855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0.003 0.013 0.022 0.013</a:t>
                      </a:r>
                      <a:r>
                        <a:rPr sz="800" spc="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0.003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2583">
                <a:tc>
                  <a:txBody>
                    <a:bodyPr/>
                    <a:lstStyle/>
                    <a:p>
                      <a:pPr marL="12065" algn="ctr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0.059 0.097</a:t>
                      </a:r>
                      <a:r>
                        <a:rPr sz="8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0.059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1919">
                <a:tc>
                  <a:txBody>
                    <a:bodyPr/>
                    <a:lstStyle/>
                    <a:p>
                      <a:pPr marL="12065" algn="ctr">
                        <a:lnSpc>
                          <a:spcPts val="86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0.022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0.097 0.159</a:t>
                      </a:r>
                      <a:r>
                        <a:rPr sz="8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0.097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86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0.022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12065" algn="ctr">
                        <a:lnSpc>
                          <a:spcPts val="86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0.059 0.097</a:t>
                      </a:r>
                      <a:r>
                        <a:rPr sz="8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0.059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86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624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0.003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0.013 0.022</a:t>
                      </a:r>
                      <a:r>
                        <a:rPr sz="8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0.003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812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15"/>
                        </a:spcBef>
                      </a:pPr>
                      <a:r>
                        <a:rPr sz="1000" spc="5" dirty="0">
                          <a:latin typeface="黑体"/>
                          <a:cs typeface="黑体"/>
                        </a:rPr>
                        <a:t>标准差</a:t>
                      </a:r>
                      <a:r>
                        <a:rPr sz="1000" spc="-5" dirty="0">
                          <a:latin typeface="黑体"/>
                          <a:cs typeface="黑体"/>
                        </a:rPr>
                        <a:t>：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σ=1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2539232" y="976020"/>
            <a:ext cx="9842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25" dirty="0">
                <a:latin typeface="Cambria Math"/>
                <a:cs typeface="Cambria Math"/>
              </a:rPr>
              <a:t>𝜎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52364" y="904392"/>
            <a:ext cx="351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𝐺</a:t>
            </a:r>
            <a:r>
              <a:rPr sz="1200" spc="2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31840" y="1025042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51093" y="788568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20030" y="1006500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mbria Math"/>
                <a:cs typeface="Cambria Math"/>
              </a:rPr>
              <a:t>2</a:t>
            </a:r>
            <a:r>
              <a:rPr sz="1200" spc="30" dirty="0">
                <a:latin typeface="Cambria Math"/>
                <a:cs typeface="Cambria Math"/>
              </a:rPr>
              <a:t>𝜋</a:t>
            </a:r>
            <a:r>
              <a:rPr sz="1200" spc="65" dirty="0">
                <a:latin typeface="Cambria Math"/>
                <a:cs typeface="Cambria Math"/>
              </a:rPr>
              <a:t>𝜎</a:t>
            </a:r>
            <a:r>
              <a:rPr sz="1275" spc="52" baseline="22875" dirty="0">
                <a:latin typeface="Cambria Math"/>
                <a:cs typeface="Cambria Math"/>
              </a:rPr>
              <a:t>2</a:t>
            </a:r>
            <a:endParaRPr sz="1275" baseline="22875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91885" y="817524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9" baseline="-32407" dirty="0">
                <a:latin typeface="Cambria Math"/>
                <a:cs typeface="Cambria Math"/>
              </a:rPr>
              <a:t>𝑒</a:t>
            </a:r>
            <a:r>
              <a:rPr sz="850" dirty="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68288" y="948842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008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78073" y="801776"/>
            <a:ext cx="426720" cy="134620"/>
          </a:xfrm>
          <a:custGeom>
            <a:avLst/>
            <a:gdLst/>
            <a:ahLst/>
            <a:cxnLst/>
            <a:rect l="l" t="t" r="r" b="b"/>
            <a:pathLst>
              <a:path w="426720" h="134619">
                <a:moveTo>
                  <a:pt x="391281" y="0"/>
                </a:moveTo>
                <a:lnTo>
                  <a:pt x="389884" y="4444"/>
                </a:lnTo>
                <a:lnTo>
                  <a:pt x="396071" y="7657"/>
                </a:lnTo>
                <a:lnTo>
                  <a:pt x="401472" y="12334"/>
                </a:lnTo>
                <a:lnTo>
                  <a:pt x="416145" y="55502"/>
                </a:lnTo>
                <a:lnTo>
                  <a:pt x="416554" y="67310"/>
                </a:lnTo>
                <a:lnTo>
                  <a:pt x="416145" y="79097"/>
                </a:lnTo>
                <a:lnTo>
                  <a:pt x="406064" y="116008"/>
                </a:lnTo>
                <a:lnTo>
                  <a:pt x="389884" y="129920"/>
                </a:lnTo>
                <a:lnTo>
                  <a:pt x="391281" y="134365"/>
                </a:lnTo>
                <a:lnTo>
                  <a:pt x="421443" y="101615"/>
                </a:lnTo>
                <a:lnTo>
                  <a:pt x="426587" y="67182"/>
                </a:lnTo>
                <a:lnTo>
                  <a:pt x="426015" y="54921"/>
                </a:lnTo>
                <a:lnTo>
                  <a:pt x="412373" y="14680"/>
                </a:lnTo>
                <a:lnTo>
                  <a:pt x="399280" y="3147"/>
                </a:lnTo>
                <a:lnTo>
                  <a:pt x="391281" y="0"/>
                </a:lnTo>
                <a:close/>
              </a:path>
              <a:path w="426720" h="134619">
                <a:moveTo>
                  <a:pt x="35300" y="0"/>
                </a:moveTo>
                <a:lnTo>
                  <a:pt x="5137" y="32875"/>
                </a:lnTo>
                <a:lnTo>
                  <a:pt x="0" y="67310"/>
                </a:lnTo>
                <a:lnTo>
                  <a:pt x="565" y="79517"/>
                </a:lnTo>
                <a:lnTo>
                  <a:pt x="14208" y="119757"/>
                </a:lnTo>
                <a:lnTo>
                  <a:pt x="35300" y="134365"/>
                </a:lnTo>
                <a:lnTo>
                  <a:pt x="36570" y="129920"/>
                </a:lnTo>
                <a:lnTo>
                  <a:pt x="30402" y="126728"/>
                </a:lnTo>
                <a:lnTo>
                  <a:pt x="25044" y="122094"/>
                </a:lnTo>
                <a:lnTo>
                  <a:pt x="10328" y="79097"/>
                </a:lnTo>
                <a:lnTo>
                  <a:pt x="9904" y="67182"/>
                </a:lnTo>
                <a:lnTo>
                  <a:pt x="10328" y="55502"/>
                </a:lnTo>
                <a:lnTo>
                  <a:pt x="20496" y="18464"/>
                </a:lnTo>
                <a:lnTo>
                  <a:pt x="36570" y="4444"/>
                </a:lnTo>
                <a:lnTo>
                  <a:pt x="3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06769" y="766622"/>
            <a:ext cx="366395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2900"/>
              </a:lnSpc>
              <a:spcBef>
                <a:spcPts val="95"/>
              </a:spcBef>
            </a:pPr>
            <a:r>
              <a:rPr sz="850" spc="150" dirty="0">
                <a:latin typeface="Cambria Math"/>
                <a:cs typeface="Cambria Math"/>
              </a:rPr>
              <a:t>𝑥</a:t>
            </a:r>
            <a:r>
              <a:rPr sz="1050" spc="135" baseline="23809" dirty="0">
                <a:latin typeface="Cambria Math"/>
                <a:cs typeface="Cambria Math"/>
              </a:rPr>
              <a:t>2</a:t>
            </a:r>
            <a:r>
              <a:rPr sz="850" spc="-5" dirty="0">
                <a:latin typeface="Cambria Math"/>
                <a:cs typeface="Cambria Math"/>
              </a:rPr>
              <a:t>+</a:t>
            </a:r>
            <a:r>
              <a:rPr sz="850" spc="170" dirty="0">
                <a:latin typeface="Cambria Math"/>
                <a:cs typeface="Cambria Math"/>
              </a:rPr>
              <a:t>𝑦</a:t>
            </a:r>
            <a:r>
              <a:rPr sz="1050" spc="30" baseline="23809" dirty="0">
                <a:latin typeface="Cambria Math"/>
                <a:cs typeface="Cambria Math"/>
              </a:rPr>
              <a:t>2  </a:t>
            </a:r>
            <a:r>
              <a:rPr sz="850" spc="60" dirty="0">
                <a:latin typeface="Cambria Math"/>
                <a:cs typeface="Cambria Math"/>
              </a:rPr>
              <a:t>2𝜎</a:t>
            </a:r>
            <a:r>
              <a:rPr sz="1050" spc="89" baseline="19841" dirty="0">
                <a:latin typeface="Cambria Math"/>
                <a:cs typeface="Cambria Math"/>
              </a:rPr>
              <a:t>2</a:t>
            </a:r>
            <a:endParaRPr sz="1050" baseline="19841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394" y="917251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生</a:t>
            </a:r>
            <a:r>
              <a:rPr sz="1000" spc="-5" dirty="0">
                <a:latin typeface="黑体"/>
                <a:cs typeface="黑体"/>
              </a:rPr>
              <a:t>成步</a:t>
            </a:r>
            <a:r>
              <a:rPr sz="1000" spc="5" dirty="0">
                <a:latin typeface="黑体"/>
                <a:cs typeface="黑体"/>
              </a:rPr>
              <a:t>骤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1989" y="328733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高斯</a:t>
            </a:r>
            <a:r>
              <a:rPr sz="1800" spc="20" dirty="0">
                <a:latin typeface="黑体"/>
                <a:cs typeface="黑体"/>
              </a:rPr>
              <a:t>卷</a:t>
            </a:r>
            <a:r>
              <a:rPr sz="1800" spc="10" dirty="0">
                <a:latin typeface="黑体"/>
                <a:cs typeface="黑体"/>
              </a:rPr>
              <a:t>积</a:t>
            </a:r>
            <a:r>
              <a:rPr sz="180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393" y="1011961"/>
            <a:ext cx="1995170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生</a:t>
            </a:r>
            <a:r>
              <a:rPr sz="1000" spc="-5" dirty="0">
                <a:latin typeface="黑体"/>
                <a:cs typeface="黑体"/>
              </a:rPr>
              <a:t>成步</a:t>
            </a:r>
            <a:r>
              <a:rPr sz="1000" spc="5" dirty="0">
                <a:latin typeface="黑体"/>
                <a:cs typeface="黑体"/>
              </a:rPr>
              <a:t>骤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1.</a:t>
            </a:r>
            <a:r>
              <a:rPr sz="1000" spc="27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确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定卷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核的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寸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,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比如</a:t>
            </a:r>
            <a:r>
              <a:rPr sz="1000" spc="-1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5</a:t>
            </a:r>
            <a:r>
              <a:rPr sz="100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×</a:t>
            </a:r>
            <a:r>
              <a:rPr sz="100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1988" y="423316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高斯</a:t>
            </a:r>
            <a:r>
              <a:rPr sz="1800" spc="20" dirty="0">
                <a:latin typeface="黑体"/>
                <a:cs typeface="黑体"/>
              </a:rPr>
              <a:t>卷</a:t>
            </a:r>
            <a:r>
              <a:rPr sz="1800" spc="10" dirty="0">
                <a:latin typeface="黑体"/>
                <a:cs typeface="黑体"/>
              </a:rPr>
              <a:t>积</a:t>
            </a:r>
            <a:r>
              <a:rPr sz="180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7394" y="917251"/>
            <a:ext cx="2131060" cy="866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生</a:t>
            </a:r>
            <a:r>
              <a:rPr sz="1000" spc="-5" dirty="0">
                <a:latin typeface="黑体"/>
                <a:cs typeface="黑体"/>
              </a:rPr>
              <a:t>成步</a:t>
            </a:r>
            <a:r>
              <a:rPr sz="1000" spc="5" dirty="0">
                <a:latin typeface="黑体"/>
                <a:cs typeface="黑体"/>
              </a:rPr>
              <a:t>骤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935" algn="l"/>
              </a:tabLst>
            </a:pPr>
            <a:r>
              <a:rPr sz="1000" spc="5" dirty="0">
                <a:latin typeface="黑体"/>
                <a:cs typeface="黑体"/>
              </a:rPr>
              <a:t>确</a:t>
            </a:r>
            <a:r>
              <a:rPr sz="1000" spc="-5" dirty="0">
                <a:latin typeface="黑体"/>
                <a:cs typeface="黑体"/>
              </a:rPr>
              <a:t>定卷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dirty="0">
                <a:latin typeface="黑体"/>
                <a:cs typeface="黑体"/>
              </a:rPr>
              <a:t>,</a:t>
            </a:r>
            <a:r>
              <a:rPr sz="1000" spc="-5" dirty="0">
                <a:latin typeface="黑体"/>
                <a:cs typeface="黑体"/>
              </a:rPr>
              <a:t>比如</a:t>
            </a:r>
            <a:r>
              <a:rPr sz="1000" spc="-15" dirty="0">
                <a:latin typeface="黑体"/>
                <a:cs typeface="黑体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5  ×</a:t>
            </a:r>
            <a:r>
              <a:rPr sz="1000" spc="204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5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/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935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设置高斯函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数的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准差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比如</a:t>
            </a:r>
            <a:r>
              <a:rPr sz="1000" spc="-10" dirty="0">
                <a:solidFill>
                  <a:srgbClr val="FF0000"/>
                </a:solidFill>
                <a:latin typeface="Arial"/>
                <a:cs typeface="Arial"/>
              </a:rPr>
              <a:t>σ=1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0383" y="2066601"/>
            <a:ext cx="9842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25" dirty="0">
                <a:solidFill>
                  <a:srgbClr val="FF0000"/>
                </a:solidFill>
                <a:latin typeface="Cambria Math"/>
                <a:cs typeface="Cambria Math"/>
              </a:rPr>
              <a:t>𝜎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3134" y="1994973"/>
            <a:ext cx="351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𝐺</a:t>
            </a:r>
            <a:r>
              <a:rPr sz="1200" spc="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72864" y="2116258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91863" y="1879149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0799" y="2096776"/>
            <a:ext cx="365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200" spc="30" dirty="0">
                <a:solidFill>
                  <a:srgbClr val="FF0000"/>
                </a:solidFill>
                <a:latin typeface="Cambria Math"/>
                <a:cs typeface="Cambria Math"/>
              </a:rPr>
              <a:t>𝜋</a:t>
            </a:r>
            <a:r>
              <a:rPr sz="1200" spc="60" dirty="0">
                <a:solidFill>
                  <a:srgbClr val="FF0000"/>
                </a:solidFill>
                <a:latin typeface="Cambria Math"/>
                <a:cs typeface="Cambria Math"/>
              </a:rPr>
              <a:t>𝜎</a:t>
            </a:r>
            <a:r>
              <a:rPr sz="1275" spc="52" baseline="2287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275" baseline="2287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2655" y="1908105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9" baseline="-32407" dirty="0">
                <a:solidFill>
                  <a:srgbClr val="FF0000"/>
                </a:solidFill>
                <a:latin typeface="Cambria Math"/>
                <a:cs typeface="Cambria Math"/>
              </a:rPr>
              <a:t>𝑒</a:t>
            </a:r>
            <a:r>
              <a:rPr sz="85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09312" y="2040058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008" y="0"/>
                </a:lnTo>
              </a:path>
            </a:pathLst>
          </a:custGeom>
          <a:ln w="761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19096" y="1893119"/>
            <a:ext cx="426720" cy="134620"/>
          </a:xfrm>
          <a:custGeom>
            <a:avLst/>
            <a:gdLst/>
            <a:ahLst/>
            <a:cxnLst/>
            <a:rect l="l" t="t" r="r" b="b"/>
            <a:pathLst>
              <a:path w="426719" h="134619">
                <a:moveTo>
                  <a:pt x="391281" y="0"/>
                </a:moveTo>
                <a:lnTo>
                  <a:pt x="390011" y="4445"/>
                </a:lnTo>
                <a:lnTo>
                  <a:pt x="396180" y="7657"/>
                </a:lnTo>
                <a:lnTo>
                  <a:pt x="401552" y="12334"/>
                </a:lnTo>
                <a:lnTo>
                  <a:pt x="416254" y="55502"/>
                </a:lnTo>
                <a:lnTo>
                  <a:pt x="416681" y="67310"/>
                </a:lnTo>
                <a:lnTo>
                  <a:pt x="416254" y="79097"/>
                </a:lnTo>
                <a:lnTo>
                  <a:pt x="406138" y="116008"/>
                </a:lnTo>
                <a:lnTo>
                  <a:pt x="390011" y="129921"/>
                </a:lnTo>
                <a:lnTo>
                  <a:pt x="391281" y="134366"/>
                </a:lnTo>
                <a:lnTo>
                  <a:pt x="421463" y="101615"/>
                </a:lnTo>
                <a:lnTo>
                  <a:pt x="426714" y="67183"/>
                </a:lnTo>
                <a:lnTo>
                  <a:pt x="426122" y="54921"/>
                </a:lnTo>
                <a:lnTo>
                  <a:pt x="412373" y="14680"/>
                </a:lnTo>
                <a:lnTo>
                  <a:pt x="399280" y="3147"/>
                </a:lnTo>
                <a:lnTo>
                  <a:pt x="391281" y="0"/>
                </a:lnTo>
                <a:close/>
              </a:path>
              <a:path w="426719" h="134619">
                <a:moveTo>
                  <a:pt x="35300" y="0"/>
                </a:moveTo>
                <a:lnTo>
                  <a:pt x="5137" y="32875"/>
                </a:lnTo>
                <a:lnTo>
                  <a:pt x="0" y="67310"/>
                </a:lnTo>
                <a:lnTo>
                  <a:pt x="565" y="79517"/>
                </a:lnTo>
                <a:lnTo>
                  <a:pt x="14208" y="119757"/>
                </a:lnTo>
                <a:lnTo>
                  <a:pt x="35300" y="134366"/>
                </a:lnTo>
                <a:lnTo>
                  <a:pt x="36697" y="129921"/>
                </a:lnTo>
                <a:lnTo>
                  <a:pt x="30509" y="126728"/>
                </a:lnTo>
                <a:lnTo>
                  <a:pt x="25108" y="122094"/>
                </a:lnTo>
                <a:lnTo>
                  <a:pt x="10435" y="79097"/>
                </a:lnTo>
                <a:lnTo>
                  <a:pt x="10031" y="67183"/>
                </a:lnTo>
                <a:lnTo>
                  <a:pt x="10435" y="55502"/>
                </a:lnTo>
                <a:lnTo>
                  <a:pt x="20516" y="18464"/>
                </a:lnTo>
                <a:lnTo>
                  <a:pt x="36697" y="4445"/>
                </a:lnTo>
                <a:lnTo>
                  <a:pt x="35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47539" y="1857203"/>
            <a:ext cx="366395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2900"/>
              </a:lnSpc>
              <a:spcBef>
                <a:spcPts val="95"/>
              </a:spcBef>
            </a:pPr>
            <a:r>
              <a:rPr sz="850" spc="15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050" spc="135" baseline="23809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850" spc="-5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850" spc="170" dirty="0">
                <a:solidFill>
                  <a:srgbClr val="FF0000"/>
                </a:solidFill>
                <a:latin typeface="Cambria Math"/>
                <a:cs typeface="Cambria Math"/>
              </a:rPr>
              <a:t>𝑦</a:t>
            </a:r>
            <a:r>
              <a:rPr sz="1050" spc="30" baseline="23809" dirty="0">
                <a:solidFill>
                  <a:srgbClr val="FF0000"/>
                </a:solidFill>
                <a:latin typeface="Cambria Math"/>
                <a:cs typeface="Cambria Math"/>
              </a:rPr>
              <a:t>2  </a:t>
            </a:r>
            <a:r>
              <a:rPr sz="850" spc="60" dirty="0">
                <a:solidFill>
                  <a:srgbClr val="FF0000"/>
                </a:solidFill>
                <a:latin typeface="Cambria Math"/>
                <a:cs typeface="Cambria Math"/>
              </a:rPr>
              <a:t>2𝜎</a:t>
            </a:r>
            <a:r>
              <a:rPr sz="1050" spc="89" baseline="19841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050" baseline="19841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91989" y="328733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高斯</a:t>
            </a:r>
            <a:r>
              <a:rPr sz="1800" b="0" spc="20" dirty="0">
                <a:latin typeface="黑体"/>
                <a:cs typeface="黑体"/>
              </a:rPr>
              <a:t>卷</a:t>
            </a:r>
            <a:r>
              <a:rPr sz="1800" b="0" spc="10" dirty="0">
                <a:latin typeface="黑体"/>
                <a:cs typeface="黑体"/>
              </a:rPr>
              <a:t>积</a:t>
            </a:r>
            <a:r>
              <a:rPr sz="1800" b="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393" y="1011961"/>
            <a:ext cx="2131060" cy="86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生</a:t>
            </a:r>
            <a:r>
              <a:rPr sz="1000" spc="-5" dirty="0">
                <a:latin typeface="黑体"/>
                <a:cs typeface="黑体"/>
              </a:rPr>
              <a:t>成步</a:t>
            </a:r>
            <a:r>
              <a:rPr sz="1000" spc="5" dirty="0">
                <a:latin typeface="黑体"/>
                <a:cs typeface="黑体"/>
              </a:rPr>
              <a:t>骤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935" algn="l"/>
              </a:tabLst>
            </a:pPr>
            <a:r>
              <a:rPr sz="1000" spc="5" dirty="0">
                <a:latin typeface="黑体"/>
                <a:cs typeface="黑体"/>
              </a:rPr>
              <a:t>确</a:t>
            </a:r>
            <a:r>
              <a:rPr sz="1000" spc="-5" dirty="0">
                <a:latin typeface="黑体"/>
                <a:cs typeface="黑体"/>
              </a:rPr>
              <a:t>定卷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dirty="0">
                <a:latin typeface="黑体"/>
                <a:cs typeface="黑体"/>
              </a:rPr>
              <a:t>,</a:t>
            </a:r>
            <a:r>
              <a:rPr sz="1000" spc="-5" dirty="0">
                <a:latin typeface="黑体"/>
                <a:cs typeface="黑体"/>
              </a:rPr>
              <a:t>比如</a:t>
            </a:r>
            <a:r>
              <a:rPr sz="1000" spc="-15" dirty="0">
                <a:latin typeface="黑体"/>
                <a:cs typeface="黑体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5  ×</a:t>
            </a:r>
            <a:r>
              <a:rPr sz="1000" spc="204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5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"/>
              <a:buAutoNum type="arabicPeriod"/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935" algn="l"/>
              </a:tabLst>
            </a:pPr>
            <a:r>
              <a:rPr sz="1000" spc="5" dirty="0">
                <a:latin typeface="黑体"/>
                <a:cs typeface="黑体"/>
              </a:rPr>
              <a:t>设置高斯函</a:t>
            </a:r>
            <a:r>
              <a:rPr sz="1000" spc="-5" dirty="0">
                <a:latin typeface="黑体"/>
                <a:cs typeface="黑体"/>
              </a:rPr>
              <a:t>数</a:t>
            </a:r>
            <a:r>
              <a:rPr sz="1000" dirty="0">
                <a:latin typeface="黑体"/>
                <a:cs typeface="黑体"/>
              </a:rPr>
              <a:t>的</a:t>
            </a:r>
            <a:r>
              <a:rPr sz="1000" spc="5" dirty="0">
                <a:latin typeface="黑体"/>
                <a:cs typeface="黑体"/>
              </a:rPr>
              <a:t>标</a:t>
            </a:r>
            <a:r>
              <a:rPr sz="1000" spc="-5" dirty="0">
                <a:latin typeface="黑体"/>
                <a:cs typeface="黑体"/>
              </a:rPr>
              <a:t>准差</a:t>
            </a:r>
            <a:r>
              <a:rPr sz="1000" spc="5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比如</a:t>
            </a:r>
            <a:r>
              <a:rPr sz="1000" spc="-10" dirty="0">
                <a:latin typeface="Arial"/>
                <a:cs typeface="Arial"/>
              </a:rPr>
              <a:t>σ=1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7393" y="2463063"/>
            <a:ext cx="1778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3.</a:t>
            </a:r>
            <a:r>
              <a:rPr sz="1000" spc="22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算卷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核各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位置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权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重值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0382" y="2161692"/>
            <a:ext cx="9842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25" dirty="0">
                <a:latin typeface="Cambria Math"/>
                <a:cs typeface="Cambria Math"/>
              </a:rPr>
              <a:t>𝜎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3133" y="2090064"/>
            <a:ext cx="351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𝐺</a:t>
            </a:r>
            <a:r>
              <a:rPr sz="1200" spc="3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72863" y="2210333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91862" y="197424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0799" y="2192172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mbria Math"/>
                <a:cs typeface="Cambria Math"/>
              </a:rPr>
              <a:t>2</a:t>
            </a:r>
            <a:r>
              <a:rPr sz="1200" spc="30" dirty="0">
                <a:latin typeface="Cambria Math"/>
                <a:cs typeface="Cambria Math"/>
              </a:rPr>
              <a:t>𝜋</a:t>
            </a:r>
            <a:r>
              <a:rPr sz="1200" spc="65" dirty="0">
                <a:latin typeface="Cambria Math"/>
                <a:cs typeface="Cambria Math"/>
              </a:rPr>
              <a:t>𝜎</a:t>
            </a:r>
            <a:r>
              <a:rPr sz="1275" spc="52" baseline="22875" dirty="0">
                <a:latin typeface="Cambria Math"/>
                <a:cs typeface="Cambria Math"/>
              </a:rPr>
              <a:t>2</a:t>
            </a:r>
            <a:endParaRPr sz="1275" baseline="2287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32655" y="2003196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9" baseline="-32407" dirty="0">
                <a:latin typeface="Cambria Math"/>
                <a:cs typeface="Cambria Math"/>
              </a:rPr>
              <a:t>𝑒</a:t>
            </a:r>
            <a:r>
              <a:rPr sz="850" dirty="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09311" y="2134133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008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19096" y="1987194"/>
            <a:ext cx="426720" cy="134620"/>
          </a:xfrm>
          <a:custGeom>
            <a:avLst/>
            <a:gdLst/>
            <a:ahLst/>
            <a:cxnLst/>
            <a:rect l="l" t="t" r="r" b="b"/>
            <a:pathLst>
              <a:path w="426719" h="134619">
                <a:moveTo>
                  <a:pt x="391281" y="0"/>
                </a:moveTo>
                <a:lnTo>
                  <a:pt x="390011" y="4445"/>
                </a:lnTo>
                <a:lnTo>
                  <a:pt x="396180" y="7657"/>
                </a:lnTo>
                <a:lnTo>
                  <a:pt x="401552" y="12334"/>
                </a:lnTo>
                <a:lnTo>
                  <a:pt x="416254" y="55502"/>
                </a:lnTo>
                <a:lnTo>
                  <a:pt x="416681" y="67310"/>
                </a:lnTo>
                <a:lnTo>
                  <a:pt x="416254" y="79097"/>
                </a:lnTo>
                <a:lnTo>
                  <a:pt x="406138" y="116008"/>
                </a:lnTo>
                <a:lnTo>
                  <a:pt x="390011" y="129921"/>
                </a:lnTo>
                <a:lnTo>
                  <a:pt x="391281" y="134366"/>
                </a:lnTo>
                <a:lnTo>
                  <a:pt x="421463" y="101615"/>
                </a:lnTo>
                <a:lnTo>
                  <a:pt x="426714" y="67183"/>
                </a:lnTo>
                <a:lnTo>
                  <a:pt x="426122" y="54921"/>
                </a:lnTo>
                <a:lnTo>
                  <a:pt x="412373" y="14680"/>
                </a:lnTo>
                <a:lnTo>
                  <a:pt x="399280" y="3147"/>
                </a:lnTo>
                <a:lnTo>
                  <a:pt x="391281" y="0"/>
                </a:lnTo>
                <a:close/>
              </a:path>
              <a:path w="426719" h="134619">
                <a:moveTo>
                  <a:pt x="35300" y="0"/>
                </a:moveTo>
                <a:lnTo>
                  <a:pt x="5137" y="32875"/>
                </a:lnTo>
                <a:lnTo>
                  <a:pt x="0" y="67310"/>
                </a:lnTo>
                <a:lnTo>
                  <a:pt x="565" y="79517"/>
                </a:lnTo>
                <a:lnTo>
                  <a:pt x="14208" y="119757"/>
                </a:lnTo>
                <a:lnTo>
                  <a:pt x="35300" y="134366"/>
                </a:lnTo>
                <a:lnTo>
                  <a:pt x="36697" y="129921"/>
                </a:lnTo>
                <a:lnTo>
                  <a:pt x="30509" y="126728"/>
                </a:lnTo>
                <a:lnTo>
                  <a:pt x="25108" y="122094"/>
                </a:lnTo>
                <a:lnTo>
                  <a:pt x="10435" y="79097"/>
                </a:lnTo>
                <a:lnTo>
                  <a:pt x="10031" y="67183"/>
                </a:lnTo>
                <a:lnTo>
                  <a:pt x="10435" y="55502"/>
                </a:lnTo>
                <a:lnTo>
                  <a:pt x="20516" y="18464"/>
                </a:lnTo>
                <a:lnTo>
                  <a:pt x="36697" y="4445"/>
                </a:lnTo>
                <a:lnTo>
                  <a:pt x="3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447538" y="1952294"/>
            <a:ext cx="406907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2900"/>
              </a:lnSpc>
              <a:spcBef>
                <a:spcPts val="95"/>
              </a:spcBef>
            </a:pPr>
            <a:r>
              <a:rPr sz="850" spc="150" dirty="0">
                <a:latin typeface="Cambria Math"/>
                <a:cs typeface="Cambria Math"/>
              </a:rPr>
              <a:t>𝑥</a:t>
            </a:r>
            <a:r>
              <a:rPr sz="1050" spc="135" baseline="23809" dirty="0">
                <a:latin typeface="Cambria Math"/>
                <a:cs typeface="Cambria Math"/>
              </a:rPr>
              <a:t>2</a:t>
            </a:r>
            <a:r>
              <a:rPr sz="850" spc="-5" dirty="0">
                <a:latin typeface="Cambria Math"/>
                <a:cs typeface="Cambria Math"/>
              </a:rPr>
              <a:t>+</a:t>
            </a:r>
            <a:r>
              <a:rPr sz="850" spc="170" dirty="0">
                <a:latin typeface="Cambria Math"/>
                <a:cs typeface="Cambria Math"/>
              </a:rPr>
              <a:t>𝑦</a:t>
            </a:r>
            <a:r>
              <a:rPr sz="1050" spc="30" baseline="23809" dirty="0">
                <a:latin typeface="Cambria Math"/>
                <a:cs typeface="Cambria Math"/>
              </a:rPr>
              <a:t>2  </a:t>
            </a:r>
            <a:r>
              <a:rPr sz="850" spc="60" dirty="0">
                <a:latin typeface="Cambria Math"/>
                <a:cs typeface="Cambria Math"/>
              </a:rPr>
              <a:t>2𝜎</a:t>
            </a:r>
            <a:r>
              <a:rPr sz="1050" spc="89" baseline="19841" dirty="0">
                <a:latin typeface="Cambria Math"/>
                <a:cs typeface="Cambria Math"/>
              </a:rPr>
              <a:t>2</a:t>
            </a:r>
            <a:endParaRPr sz="1050" baseline="19841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491988" y="423316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高斯</a:t>
            </a:r>
            <a:r>
              <a:rPr sz="1800" b="0" spc="20" dirty="0">
                <a:latin typeface="黑体"/>
                <a:cs typeface="黑体"/>
              </a:rPr>
              <a:t>卷</a:t>
            </a:r>
            <a:r>
              <a:rPr sz="1800" b="0" spc="10" dirty="0">
                <a:latin typeface="黑体"/>
                <a:cs typeface="黑体"/>
              </a:rPr>
              <a:t>积</a:t>
            </a:r>
            <a:r>
              <a:rPr sz="1800" b="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7394" y="917251"/>
            <a:ext cx="1995170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生</a:t>
            </a:r>
            <a:r>
              <a:rPr sz="1000" spc="-5" dirty="0">
                <a:latin typeface="黑体"/>
                <a:cs typeface="黑体"/>
              </a:rPr>
              <a:t>成步</a:t>
            </a:r>
            <a:r>
              <a:rPr sz="1000" spc="5" dirty="0">
                <a:latin typeface="黑体"/>
                <a:cs typeface="黑体"/>
              </a:rPr>
              <a:t>骤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1.</a:t>
            </a:r>
            <a:r>
              <a:rPr sz="1000" spc="270" dirty="0">
                <a:latin typeface="黑体"/>
                <a:cs typeface="黑体"/>
              </a:rPr>
              <a:t> </a:t>
            </a:r>
            <a:r>
              <a:rPr sz="1000" spc="5" dirty="0">
                <a:latin typeface="黑体"/>
                <a:cs typeface="黑体"/>
              </a:rPr>
              <a:t>确</a:t>
            </a:r>
            <a:r>
              <a:rPr sz="1000" spc="-5" dirty="0">
                <a:latin typeface="黑体"/>
                <a:cs typeface="黑体"/>
              </a:rPr>
              <a:t>定卷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dirty="0">
                <a:latin typeface="黑体"/>
                <a:cs typeface="黑体"/>
              </a:rPr>
              <a:t>,</a:t>
            </a:r>
            <a:r>
              <a:rPr sz="1000" spc="-5" dirty="0">
                <a:latin typeface="黑体"/>
                <a:cs typeface="黑体"/>
              </a:rPr>
              <a:t>比如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5</a:t>
            </a:r>
            <a:r>
              <a:rPr sz="1000" spc="204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×</a:t>
            </a:r>
            <a:r>
              <a:rPr sz="1000" spc="204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7394" y="2368353"/>
            <a:ext cx="1778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3.</a:t>
            </a:r>
            <a:r>
              <a:rPr sz="1000" spc="220" dirty="0">
                <a:latin typeface="黑体"/>
                <a:cs typeface="黑体"/>
              </a:rPr>
              <a:t> </a:t>
            </a: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核各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位置</a:t>
            </a:r>
            <a:r>
              <a:rPr sz="1000" spc="5" dirty="0">
                <a:latin typeface="黑体"/>
                <a:cs typeface="黑体"/>
              </a:rPr>
              <a:t>权</a:t>
            </a:r>
            <a:r>
              <a:rPr sz="1000" spc="-5" dirty="0">
                <a:latin typeface="黑体"/>
                <a:cs typeface="黑体"/>
              </a:rPr>
              <a:t>重值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7394" y="2749353"/>
            <a:ext cx="1397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4.</a:t>
            </a:r>
            <a:r>
              <a:rPr sz="1000" spc="22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权重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值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归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一化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72864" y="2116258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09312" y="2040058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008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9096" y="1893119"/>
            <a:ext cx="426720" cy="134620"/>
          </a:xfrm>
          <a:custGeom>
            <a:avLst/>
            <a:gdLst/>
            <a:ahLst/>
            <a:cxnLst/>
            <a:rect l="l" t="t" r="r" b="b"/>
            <a:pathLst>
              <a:path w="426719" h="134619">
                <a:moveTo>
                  <a:pt x="391281" y="0"/>
                </a:moveTo>
                <a:lnTo>
                  <a:pt x="390011" y="4445"/>
                </a:lnTo>
                <a:lnTo>
                  <a:pt x="396180" y="7657"/>
                </a:lnTo>
                <a:lnTo>
                  <a:pt x="401552" y="12334"/>
                </a:lnTo>
                <a:lnTo>
                  <a:pt x="416254" y="55502"/>
                </a:lnTo>
                <a:lnTo>
                  <a:pt x="416681" y="67310"/>
                </a:lnTo>
                <a:lnTo>
                  <a:pt x="416254" y="79097"/>
                </a:lnTo>
                <a:lnTo>
                  <a:pt x="406138" y="116008"/>
                </a:lnTo>
                <a:lnTo>
                  <a:pt x="390011" y="129921"/>
                </a:lnTo>
                <a:lnTo>
                  <a:pt x="391281" y="134366"/>
                </a:lnTo>
                <a:lnTo>
                  <a:pt x="421463" y="101615"/>
                </a:lnTo>
                <a:lnTo>
                  <a:pt x="426714" y="67183"/>
                </a:lnTo>
                <a:lnTo>
                  <a:pt x="426122" y="54921"/>
                </a:lnTo>
                <a:lnTo>
                  <a:pt x="412373" y="14680"/>
                </a:lnTo>
                <a:lnTo>
                  <a:pt x="399280" y="3147"/>
                </a:lnTo>
                <a:lnTo>
                  <a:pt x="391281" y="0"/>
                </a:lnTo>
                <a:close/>
              </a:path>
              <a:path w="426719" h="134619">
                <a:moveTo>
                  <a:pt x="35300" y="0"/>
                </a:moveTo>
                <a:lnTo>
                  <a:pt x="5137" y="32875"/>
                </a:lnTo>
                <a:lnTo>
                  <a:pt x="0" y="67310"/>
                </a:lnTo>
                <a:lnTo>
                  <a:pt x="565" y="79517"/>
                </a:lnTo>
                <a:lnTo>
                  <a:pt x="14208" y="119757"/>
                </a:lnTo>
                <a:lnTo>
                  <a:pt x="35300" y="134366"/>
                </a:lnTo>
                <a:lnTo>
                  <a:pt x="36697" y="129921"/>
                </a:lnTo>
                <a:lnTo>
                  <a:pt x="30509" y="126728"/>
                </a:lnTo>
                <a:lnTo>
                  <a:pt x="25108" y="122094"/>
                </a:lnTo>
                <a:lnTo>
                  <a:pt x="10435" y="79097"/>
                </a:lnTo>
                <a:lnTo>
                  <a:pt x="10031" y="67183"/>
                </a:lnTo>
                <a:lnTo>
                  <a:pt x="10435" y="55502"/>
                </a:lnTo>
                <a:lnTo>
                  <a:pt x="20516" y="18464"/>
                </a:lnTo>
                <a:lnTo>
                  <a:pt x="36697" y="4445"/>
                </a:lnTo>
                <a:lnTo>
                  <a:pt x="3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91989" y="328733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高斯</a:t>
            </a:r>
            <a:r>
              <a:rPr sz="1800" b="0" spc="20" dirty="0">
                <a:latin typeface="黑体"/>
                <a:cs typeface="黑体"/>
              </a:rPr>
              <a:t>卷</a:t>
            </a:r>
            <a:r>
              <a:rPr sz="1800" b="0" spc="10" dirty="0">
                <a:latin typeface="黑体"/>
                <a:cs typeface="黑体"/>
              </a:rPr>
              <a:t>积</a:t>
            </a:r>
            <a:r>
              <a:rPr sz="1800" b="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0559" y="1265993"/>
            <a:ext cx="138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</a:t>
            </a:r>
            <a:r>
              <a:rPr sz="1000" spc="-5" dirty="0">
                <a:latin typeface="Cambria Math"/>
                <a:cs typeface="Cambria Math"/>
              </a:rPr>
              <a:t>5</a:t>
            </a:r>
            <a:r>
              <a:rPr sz="1000" spc="18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×</a:t>
            </a:r>
            <a:r>
              <a:rPr sz="1000" spc="185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5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76949" y="2401627"/>
            <a:ext cx="758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标准差：</a:t>
            </a:r>
            <a:r>
              <a:rPr sz="1000" spc="-10" dirty="0">
                <a:latin typeface="Arial"/>
                <a:cs typeface="Arial"/>
              </a:rPr>
              <a:t>σ</a:t>
            </a:r>
            <a:r>
              <a:rPr sz="1000" spc="-15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268344" y="1471733"/>
          <a:ext cx="4059554" cy="914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479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31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055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黑体"/>
                          <a:cs typeface="黑体"/>
                        </a:rPr>
                        <a:t>2.</a:t>
                      </a:r>
                      <a:r>
                        <a:rPr sz="1000" spc="270" dirty="0">
                          <a:latin typeface="黑体"/>
                          <a:cs typeface="黑体"/>
                        </a:rPr>
                        <a:t> </a:t>
                      </a:r>
                      <a:r>
                        <a:rPr sz="1000" spc="5" dirty="0">
                          <a:latin typeface="黑体"/>
                          <a:cs typeface="黑体"/>
                        </a:rPr>
                        <a:t>设置高斯函</a:t>
                      </a:r>
                      <a:r>
                        <a:rPr sz="1000" spc="-5" dirty="0">
                          <a:latin typeface="黑体"/>
                          <a:cs typeface="黑体"/>
                        </a:rPr>
                        <a:t>数</a:t>
                      </a:r>
                      <a:r>
                        <a:rPr sz="1000" dirty="0">
                          <a:latin typeface="黑体"/>
                          <a:cs typeface="黑体"/>
                        </a:rPr>
                        <a:t>的</a:t>
                      </a:r>
                      <a:r>
                        <a:rPr sz="1000" spc="5" dirty="0">
                          <a:latin typeface="黑体"/>
                          <a:cs typeface="黑体"/>
                        </a:rPr>
                        <a:t>标</a:t>
                      </a:r>
                      <a:r>
                        <a:rPr sz="1000" spc="-5" dirty="0">
                          <a:latin typeface="黑体"/>
                          <a:cs typeface="黑体"/>
                        </a:rPr>
                        <a:t>准差</a:t>
                      </a:r>
                      <a:r>
                        <a:rPr sz="1000" spc="5" dirty="0">
                          <a:latin typeface="黑体"/>
                          <a:cs typeface="黑体"/>
                        </a:rPr>
                        <a:t>，</a:t>
                      </a:r>
                      <a:r>
                        <a:rPr sz="1000" spc="-5" dirty="0">
                          <a:latin typeface="黑体"/>
                          <a:cs typeface="黑体"/>
                        </a:rPr>
                        <a:t>比如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σ=1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ts val="91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0.003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1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0.013 0.022</a:t>
                      </a:r>
                      <a:r>
                        <a:rPr sz="8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91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0.003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60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0.059 0.097</a:t>
                      </a:r>
                      <a:r>
                        <a:rPr sz="8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0.059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5198">
                <a:tc>
                  <a:txBody>
                    <a:bodyPr/>
                    <a:lstStyle/>
                    <a:p>
                      <a:pPr marL="735965">
                        <a:lnSpc>
                          <a:spcPts val="1065"/>
                        </a:lnSpc>
                        <a:tabLst>
                          <a:tab pos="1191260" algn="l"/>
                        </a:tabLst>
                      </a:pPr>
                      <a:r>
                        <a:rPr sz="1800" baseline="-18518" dirty="0">
                          <a:latin typeface="Cambria Math"/>
                          <a:cs typeface="Cambria Math"/>
                        </a:rPr>
                        <a:t>1	</a:t>
                      </a:r>
                      <a:r>
                        <a:rPr sz="850" spc="65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050" spc="97" baseline="23809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850" spc="65" dirty="0">
                          <a:latin typeface="Cambria Math"/>
                          <a:cs typeface="Cambria Math"/>
                        </a:rPr>
                        <a:t>+𝑦</a:t>
                      </a:r>
                      <a:r>
                        <a:rPr sz="1050" spc="97" baseline="23809" dirty="0">
                          <a:latin typeface="Cambria Math"/>
                          <a:cs typeface="Cambria Math"/>
                        </a:rPr>
                        <a:t>2</a:t>
                      </a:r>
                      <a:endParaRPr sz="1050" baseline="23809">
                        <a:latin typeface="Cambria Math"/>
                        <a:cs typeface="Cambria Math"/>
                      </a:endParaRPr>
                    </a:p>
                    <a:p>
                      <a:pPr marL="236854">
                        <a:lnSpc>
                          <a:spcPts val="1055"/>
                        </a:lnSpc>
                        <a:tabLst>
                          <a:tab pos="976630" algn="l"/>
                        </a:tabLst>
                      </a:pPr>
                      <a:r>
                        <a:rPr sz="1200" dirty="0">
                          <a:latin typeface="Cambria Math"/>
                          <a:cs typeface="Cambria Math"/>
                        </a:rPr>
                        <a:t>𝐺  </a:t>
                      </a:r>
                      <a:r>
                        <a:rPr sz="12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=	</a:t>
                      </a:r>
                      <a:r>
                        <a:rPr sz="1200" spc="30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275" spc="44" baseline="45751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275" spc="157" baseline="45751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75" spc="89" baseline="9803" dirty="0">
                          <a:latin typeface="Cambria Math"/>
                          <a:cs typeface="Cambria Math"/>
                        </a:rPr>
                        <a:t>2𝜎</a:t>
                      </a:r>
                      <a:r>
                        <a:rPr sz="1050" spc="89" baseline="31746" dirty="0">
                          <a:latin typeface="Cambria Math"/>
                          <a:cs typeface="Cambria Math"/>
                        </a:rPr>
                        <a:t>2</a:t>
                      </a:r>
                      <a:endParaRPr sz="1050" baseline="31746">
                        <a:latin typeface="Cambria Math"/>
                        <a:cs typeface="Cambria Math"/>
                      </a:endParaRPr>
                    </a:p>
                    <a:p>
                      <a:pPr marL="324485">
                        <a:lnSpc>
                          <a:spcPts val="1120"/>
                        </a:lnSpc>
                        <a:tabLst>
                          <a:tab pos="604520" algn="l"/>
                        </a:tabLst>
                      </a:pPr>
                      <a:r>
                        <a:rPr sz="1275" spc="104" baseline="35947" dirty="0">
                          <a:latin typeface="Cambria Math"/>
                          <a:cs typeface="Cambria Math"/>
                        </a:rPr>
                        <a:t>𝜎	</a:t>
                      </a:r>
                      <a:r>
                        <a:rPr sz="1200" spc="30" dirty="0">
                          <a:latin typeface="Cambria Math"/>
                          <a:cs typeface="Cambria Math"/>
                        </a:rPr>
                        <a:t>2𝜋𝜎</a:t>
                      </a:r>
                      <a:r>
                        <a:rPr sz="1275" spc="44" baseline="22875" dirty="0">
                          <a:latin typeface="Cambria Math"/>
                          <a:cs typeface="Cambria Math"/>
                        </a:rPr>
                        <a:t>2</a:t>
                      </a:r>
                      <a:endParaRPr sz="1275" baseline="22875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58419">
                        <a:lnSpc>
                          <a:spcPts val="955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0.022   0.097   0.159   0.097 </a:t>
                      </a:r>
                      <a:r>
                        <a:rPr sz="800" spc="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0.022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0.013   0.059   0.097   0.059 </a:t>
                      </a:r>
                      <a:r>
                        <a:rPr sz="800" spc="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0.013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0.003   0.013   0.022   0.013 </a:t>
                      </a:r>
                      <a:r>
                        <a:rPr sz="800" spc="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0.003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393" y="1011961"/>
            <a:ext cx="1271270" cy="86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如</a:t>
            </a:r>
            <a:r>
              <a:rPr sz="1000" spc="-5" dirty="0">
                <a:latin typeface="黑体"/>
                <a:cs typeface="黑体"/>
              </a:rPr>
              <a:t>何设</a:t>
            </a:r>
            <a:r>
              <a:rPr sz="1000" spc="5" dirty="0">
                <a:latin typeface="黑体"/>
                <a:cs typeface="黑体"/>
              </a:rPr>
              <a:t>置</a:t>
            </a:r>
            <a:r>
              <a:rPr sz="1000" spc="-5" dirty="0">
                <a:latin typeface="黑体"/>
                <a:cs typeface="黑体"/>
              </a:rPr>
              <a:t>下述</a:t>
            </a:r>
            <a:r>
              <a:rPr sz="1000" spc="5" dirty="0">
                <a:latin typeface="黑体"/>
                <a:cs typeface="黑体"/>
              </a:rPr>
              <a:t>参</a:t>
            </a:r>
            <a:r>
              <a:rPr sz="1000" spc="-5" dirty="0">
                <a:latin typeface="黑体"/>
                <a:cs typeface="黑体"/>
              </a:rPr>
              <a:t>数：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935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尺寸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"/>
              <a:buAutoNum type="arabicPeriod"/>
            </a:pPr>
            <a:endParaRPr sz="1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241935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斯函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的标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准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差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1988" y="423316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高斯</a:t>
            </a:r>
            <a:r>
              <a:rPr sz="1800" spc="20" dirty="0">
                <a:latin typeface="黑体"/>
                <a:cs typeface="黑体"/>
              </a:rPr>
              <a:t>卷</a:t>
            </a:r>
            <a:r>
              <a:rPr sz="1800" spc="10" dirty="0">
                <a:latin typeface="黑体"/>
                <a:cs typeface="黑体"/>
              </a:rPr>
              <a:t>积</a:t>
            </a:r>
            <a:r>
              <a:rPr sz="180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方差</a:t>
            </a:r>
            <a:r>
              <a:rPr sz="1800" b="0" spc="20" dirty="0">
                <a:latin typeface="黑体"/>
                <a:cs typeface="黑体"/>
              </a:rPr>
              <a:t>变</a:t>
            </a:r>
            <a:r>
              <a:rPr sz="1800" b="0" dirty="0">
                <a:latin typeface="黑体"/>
                <a:cs typeface="黑体"/>
              </a:rPr>
              <a:t>化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3259" y="1059872"/>
            <a:ext cx="9842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25" dirty="0">
                <a:latin typeface="Cambria Math"/>
                <a:cs typeface="Cambria Math"/>
              </a:rPr>
              <a:t>𝜎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6391" y="988244"/>
            <a:ext cx="351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𝐺</a:t>
            </a:r>
            <a:r>
              <a:rPr sz="1200" spc="2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85613" y="1109656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04739" y="87242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73675" y="1090352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mbria Math"/>
                <a:cs typeface="Cambria Math"/>
              </a:rPr>
              <a:t>2</a:t>
            </a:r>
            <a:r>
              <a:rPr sz="1200" spc="30" dirty="0">
                <a:latin typeface="Cambria Math"/>
                <a:cs typeface="Cambria Math"/>
              </a:rPr>
              <a:t>𝜋</a:t>
            </a:r>
            <a:r>
              <a:rPr sz="1200" spc="65" dirty="0">
                <a:latin typeface="Cambria Math"/>
                <a:cs typeface="Cambria Math"/>
              </a:rPr>
              <a:t>𝜎</a:t>
            </a:r>
            <a:r>
              <a:rPr sz="1275" spc="52" baseline="22875" dirty="0">
                <a:latin typeface="Cambria Math"/>
                <a:cs typeface="Cambria Math"/>
              </a:rPr>
              <a:t>2</a:t>
            </a:r>
            <a:endParaRPr sz="1275" baseline="2287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5531" y="901376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7" baseline="-32407" dirty="0">
                <a:latin typeface="Cambria Math"/>
                <a:cs typeface="Cambria Math"/>
              </a:rPr>
              <a:t>𝑒</a:t>
            </a:r>
            <a:r>
              <a:rPr sz="850" dirty="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22187" y="1033456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4881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31840" y="886517"/>
            <a:ext cx="426720" cy="134620"/>
          </a:xfrm>
          <a:custGeom>
            <a:avLst/>
            <a:gdLst/>
            <a:ahLst/>
            <a:cxnLst/>
            <a:rect l="l" t="t" r="r" b="b"/>
            <a:pathLst>
              <a:path w="426720" h="134619">
                <a:moveTo>
                  <a:pt x="391413" y="0"/>
                </a:moveTo>
                <a:lnTo>
                  <a:pt x="390017" y="4445"/>
                </a:lnTo>
                <a:lnTo>
                  <a:pt x="396204" y="7639"/>
                </a:lnTo>
                <a:lnTo>
                  <a:pt x="401605" y="12287"/>
                </a:lnTo>
                <a:lnTo>
                  <a:pt x="416278" y="55395"/>
                </a:lnTo>
                <a:lnTo>
                  <a:pt x="416687" y="67183"/>
                </a:lnTo>
                <a:lnTo>
                  <a:pt x="416278" y="78970"/>
                </a:lnTo>
                <a:lnTo>
                  <a:pt x="406197" y="115901"/>
                </a:lnTo>
                <a:lnTo>
                  <a:pt x="390017" y="129921"/>
                </a:lnTo>
                <a:lnTo>
                  <a:pt x="391413" y="134366"/>
                </a:lnTo>
                <a:lnTo>
                  <a:pt x="421576" y="101508"/>
                </a:lnTo>
                <a:lnTo>
                  <a:pt x="426720" y="67183"/>
                </a:lnTo>
                <a:lnTo>
                  <a:pt x="426148" y="54850"/>
                </a:lnTo>
                <a:lnTo>
                  <a:pt x="412505" y="14662"/>
                </a:lnTo>
                <a:lnTo>
                  <a:pt x="399413" y="3093"/>
                </a:lnTo>
                <a:lnTo>
                  <a:pt x="391413" y="0"/>
                </a:lnTo>
                <a:close/>
              </a:path>
              <a:path w="426720" h="134619">
                <a:moveTo>
                  <a:pt x="35433" y="0"/>
                </a:moveTo>
                <a:lnTo>
                  <a:pt x="5250" y="32803"/>
                </a:lnTo>
                <a:lnTo>
                  <a:pt x="0" y="67183"/>
                </a:lnTo>
                <a:lnTo>
                  <a:pt x="591" y="79498"/>
                </a:lnTo>
                <a:lnTo>
                  <a:pt x="14341" y="119703"/>
                </a:lnTo>
                <a:lnTo>
                  <a:pt x="35433" y="134366"/>
                </a:lnTo>
                <a:lnTo>
                  <a:pt x="36702" y="129921"/>
                </a:lnTo>
                <a:lnTo>
                  <a:pt x="30533" y="126708"/>
                </a:lnTo>
                <a:lnTo>
                  <a:pt x="25161" y="122031"/>
                </a:lnTo>
                <a:lnTo>
                  <a:pt x="10459" y="78970"/>
                </a:lnTo>
                <a:lnTo>
                  <a:pt x="10033" y="67183"/>
                </a:lnTo>
                <a:lnTo>
                  <a:pt x="10459" y="55395"/>
                </a:lnTo>
                <a:lnTo>
                  <a:pt x="20575" y="18411"/>
                </a:lnTo>
                <a:lnTo>
                  <a:pt x="36702" y="4445"/>
                </a:lnTo>
                <a:lnTo>
                  <a:pt x="35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60668" y="850474"/>
            <a:ext cx="366395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2900"/>
              </a:lnSpc>
              <a:spcBef>
                <a:spcPts val="95"/>
              </a:spcBef>
            </a:pPr>
            <a:r>
              <a:rPr sz="850" spc="150" dirty="0">
                <a:latin typeface="Cambria Math"/>
                <a:cs typeface="Cambria Math"/>
              </a:rPr>
              <a:t>𝑥</a:t>
            </a:r>
            <a:r>
              <a:rPr sz="1050" spc="135" baseline="23809" dirty="0">
                <a:latin typeface="Cambria Math"/>
                <a:cs typeface="Cambria Math"/>
              </a:rPr>
              <a:t>2</a:t>
            </a:r>
            <a:r>
              <a:rPr sz="850" spc="-5" dirty="0">
                <a:latin typeface="Cambria Math"/>
                <a:cs typeface="Cambria Math"/>
              </a:rPr>
              <a:t>+</a:t>
            </a:r>
            <a:r>
              <a:rPr sz="850" spc="170" dirty="0">
                <a:latin typeface="Cambria Math"/>
                <a:cs typeface="Cambria Math"/>
              </a:rPr>
              <a:t>𝑦</a:t>
            </a:r>
            <a:r>
              <a:rPr sz="1050" spc="30" baseline="23809" dirty="0">
                <a:latin typeface="Cambria Math"/>
                <a:cs typeface="Cambria Math"/>
              </a:rPr>
              <a:t>2  </a:t>
            </a:r>
            <a:r>
              <a:rPr sz="850" spc="60" dirty="0">
                <a:latin typeface="Cambria Math"/>
                <a:cs typeface="Cambria Math"/>
              </a:rPr>
              <a:t>2𝜎</a:t>
            </a:r>
            <a:r>
              <a:rPr sz="1050" spc="89" baseline="19841" dirty="0">
                <a:latin typeface="Cambria Math"/>
                <a:cs typeface="Cambria Math"/>
              </a:rPr>
              <a:t>2</a:t>
            </a:r>
            <a:endParaRPr sz="1050" baseline="19841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80724" y="1539739"/>
            <a:ext cx="1688406" cy="10634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688841" y="2596445"/>
            <a:ext cx="962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30 </a:t>
            </a:r>
            <a:r>
              <a:rPr sz="1200" dirty="0">
                <a:latin typeface="Arial"/>
                <a:cs typeface="Arial"/>
              </a:rPr>
              <a:t>x </a:t>
            </a:r>
            <a:r>
              <a:rPr sz="1200" spc="-5" dirty="0">
                <a:latin typeface="Arial"/>
                <a:cs typeface="Arial"/>
              </a:rPr>
              <a:t>30 </a:t>
            </a:r>
            <a:r>
              <a:rPr sz="1200" dirty="0">
                <a:latin typeface="Arial"/>
                <a:cs typeface="Arial"/>
              </a:rPr>
              <a:t>σ =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46344" y="1484687"/>
            <a:ext cx="1921764" cy="1187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14896" y="1461827"/>
            <a:ext cx="457200" cy="461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02304" y="1467923"/>
            <a:ext cx="457200" cy="4556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14338" y="2588825"/>
            <a:ext cx="962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30 </a:t>
            </a:r>
            <a:r>
              <a:rPr sz="1200" dirty="0">
                <a:latin typeface="Arial"/>
                <a:cs typeface="Arial"/>
              </a:rPr>
              <a:t>x </a:t>
            </a:r>
            <a:r>
              <a:rPr sz="1200" spc="-5" dirty="0">
                <a:latin typeface="Arial"/>
                <a:cs typeface="Arial"/>
              </a:rPr>
              <a:t>30 </a:t>
            </a:r>
            <a:r>
              <a:rPr sz="1200" dirty="0">
                <a:latin typeface="Arial"/>
                <a:cs typeface="Arial"/>
              </a:rPr>
              <a:t>σ =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56099" y="3101143"/>
            <a:ext cx="170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方差越大，平滑效果明显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窗宽</a:t>
            </a:r>
            <a:r>
              <a:rPr sz="1800" b="0" spc="20" dirty="0">
                <a:latin typeface="黑体"/>
                <a:cs typeface="黑体"/>
              </a:rPr>
              <a:t>变</a:t>
            </a:r>
            <a:r>
              <a:rPr sz="1800" b="0" dirty="0">
                <a:latin typeface="黑体"/>
                <a:cs typeface="黑体"/>
              </a:rPr>
              <a:t>化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0353" y="1504086"/>
            <a:ext cx="3851006" cy="1478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81779" y="2714142"/>
            <a:ext cx="1262380" cy="570230"/>
          </a:xfrm>
          <a:custGeom>
            <a:avLst/>
            <a:gdLst/>
            <a:ahLst/>
            <a:cxnLst/>
            <a:rect l="l" t="t" r="r" b="b"/>
            <a:pathLst>
              <a:path w="1262380" h="570229">
                <a:moveTo>
                  <a:pt x="0" y="569976"/>
                </a:moveTo>
                <a:lnTo>
                  <a:pt x="1261871" y="569976"/>
                </a:lnTo>
                <a:lnTo>
                  <a:pt x="1261871" y="0"/>
                </a:lnTo>
                <a:lnTo>
                  <a:pt x="0" y="0"/>
                </a:lnTo>
                <a:lnTo>
                  <a:pt x="0" y="5699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93742" y="2699638"/>
            <a:ext cx="838835" cy="3911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580"/>
              </a:spcBef>
            </a:pPr>
            <a:r>
              <a:rPr sz="800" dirty="0">
                <a:latin typeface="黑体"/>
                <a:cs typeface="黑体"/>
              </a:rPr>
              <a:t>高斯方差</a:t>
            </a:r>
            <a:r>
              <a:rPr sz="800" spc="-30" dirty="0">
                <a:latin typeface="黑体"/>
                <a:cs typeface="黑体"/>
              </a:rPr>
              <a:t> </a:t>
            </a:r>
            <a:r>
              <a:rPr sz="800" dirty="0">
                <a:latin typeface="黑体"/>
                <a:cs typeface="黑体"/>
              </a:rPr>
              <a:t>σ=</a:t>
            </a:r>
            <a:r>
              <a:rPr sz="800" spc="-35" dirty="0">
                <a:latin typeface="黑体"/>
                <a:cs typeface="黑体"/>
              </a:rPr>
              <a:t> </a:t>
            </a:r>
            <a:r>
              <a:rPr sz="800" dirty="0">
                <a:latin typeface="黑体"/>
                <a:cs typeface="黑体"/>
              </a:rPr>
              <a:t>5</a:t>
            </a:r>
            <a:endParaRPr sz="8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模板尺寸</a:t>
            </a:r>
            <a:r>
              <a:rPr sz="800" spc="-3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800" spc="-5" dirty="0">
                <a:solidFill>
                  <a:srgbClr val="FF0000"/>
                </a:solidFill>
                <a:latin typeface="黑体"/>
                <a:cs typeface="黑体"/>
              </a:rPr>
              <a:t>10</a:t>
            </a:r>
            <a:r>
              <a:rPr sz="800" spc="-3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x</a:t>
            </a:r>
            <a:r>
              <a:rPr sz="800" spc="-25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800" spc="-5" dirty="0">
                <a:solidFill>
                  <a:srgbClr val="FF0000"/>
                </a:solidFill>
                <a:latin typeface="黑体"/>
                <a:cs typeface="黑体"/>
              </a:rPr>
              <a:t>10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70955" y="2714142"/>
            <a:ext cx="1077595" cy="386080"/>
          </a:xfrm>
          <a:custGeom>
            <a:avLst/>
            <a:gdLst/>
            <a:ahLst/>
            <a:cxnLst/>
            <a:rect l="l" t="t" r="r" b="b"/>
            <a:pathLst>
              <a:path w="1077595" h="386080">
                <a:moveTo>
                  <a:pt x="0" y="385572"/>
                </a:moveTo>
                <a:lnTo>
                  <a:pt x="1077468" y="385572"/>
                </a:lnTo>
                <a:lnTo>
                  <a:pt x="1077468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90590" y="2699638"/>
            <a:ext cx="838835" cy="3911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sz="800" dirty="0">
                <a:latin typeface="黑体"/>
                <a:cs typeface="黑体"/>
              </a:rPr>
              <a:t>高斯方差</a:t>
            </a:r>
            <a:r>
              <a:rPr sz="800" spc="-35" dirty="0">
                <a:latin typeface="黑体"/>
                <a:cs typeface="黑体"/>
              </a:rPr>
              <a:t> </a:t>
            </a:r>
            <a:r>
              <a:rPr sz="800" dirty="0">
                <a:latin typeface="黑体"/>
                <a:cs typeface="黑体"/>
              </a:rPr>
              <a:t>σ</a:t>
            </a:r>
            <a:r>
              <a:rPr sz="800" spc="-30" dirty="0">
                <a:latin typeface="黑体"/>
                <a:cs typeface="黑体"/>
              </a:rPr>
              <a:t> </a:t>
            </a:r>
            <a:r>
              <a:rPr sz="800" dirty="0">
                <a:latin typeface="黑体"/>
                <a:cs typeface="黑体"/>
              </a:rPr>
              <a:t>=</a:t>
            </a:r>
            <a:r>
              <a:rPr sz="800" spc="-35" dirty="0">
                <a:latin typeface="黑体"/>
                <a:cs typeface="黑体"/>
              </a:rPr>
              <a:t> </a:t>
            </a:r>
            <a:r>
              <a:rPr sz="800" dirty="0">
                <a:latin typeface="黑体"/>
                <a:cs typeface="黑体"/>
              </a:rPr>
              <a:t>5</a:t>
            </a:r>
            <a:endParaRPr sz="8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模板尺寸</a:t>
            </a:r>
            <a:r>
              <a:rPr sz="800" spc="-3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800" spc="-5" dirty="0">
                <a:solidFill>
                  <a:srgbClr val="FF0000"/>
                </a:solidFill>
                <a:latin typeface="黑体"/>
                <a:cs typeface="黑体"/>
              </a:rPr>
              <a:t>30</a:t>
            </a:r>
            <a:r>
              <a:rPr sz="800" spc="-35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x</a:t>
            </a:r>
            <a:r>
              <a:rPr sz="800" spc="-25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800" spc="-5" dirty="0">
                <a:solidFill>
                  <a:srgbClr val="FF0000"/>
                </a:solidFill>
                <a:latin typeface="黑体"/>
                <a:cs typeface="黑体"/>
              </a:rPr>
              <a:t>30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59019" y="3252114"/>
            <a:ext cx="1758950" cy="200025"/>
          </a:xfrm>
          <a:custGeom>
            <a:avLst/>
            <a:gdLst/>
            <a:ahLst/>
            <a:cxnLst/>
            <a:rect l="l" t="t" r="r" b="b"/>
            <a:pathLst>
              <a:path w="1758950" h="200025">
                <a:moveTo>
                  <a:pt x="0" y="199644"/>
                </a:moveTo>
                <a:lnTo>
                  <a:pt x="1758695" y="199644"/>
                </a:lnTo>
                <a:lnTo>
                  <a:pt x="1758695" y="0"/>
                </a:lnTo>
                <a:lnTo>
                  <a:pt x="0" y="0"/>
                </a:lnTo>
                <a:lnTo>
                  <a:pt x="0" y="199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92674" y="3267735"/>
            <a:ext cx="1675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模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板尺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寸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越大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平滑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效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果越强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93258" y="1154836"/>
            <a:ext cx="9842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25" dirty="0">
                <a:latin typeface="Cambria Math"/>
                <a:cs typeface="Cambria Math"/>
              </a:rPr>
              <a:t>𝜎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6390" y="1083208"/>
            <a:ext cx="351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𝐺</a:t>
            </a:r>
            <a:r>
              <a:rPr sz="1200" spc="2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85612" y="1203731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04738" y="966825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3674" y="1185316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mbria Math"/>
                <a:cs typeface="Cambria Math"/>
              </a:rPr>
              <a:t>2</a:t>
            </a:r>
            <a:r>
              <a:rPr sz="1200" spc="30" dirty="0">
                <a:latin typeface="Cambria Math"/>
                <a:cs typeface="Cambria Math"/>
              </a:rPr>
              <a:t>𝜋</a:t>
            </a:r>
            <a:r>
              <a:rPr sz="1200" spc="65" dirty="0">
                <a:latin typeface="Cambria Math"/>
                <a:cs typeface="Cambria Math"/>
              </a:rPr>
              <a:t>𝜎</a:t>
            </a:r>
            <a:r>
              <a:rPr sz="1275" spc="52" baseline="22875" dirty="0">
                <a:latin typeface="Cambria Math"/>
                <a:cs typeface="Cambria Math"/>
              </a:rPr>
              <a:t>2</a:t>
            </a:r>
            <a:endParaRPr sz="1275" baseline="22875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45530" y="996340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7" baseline="-32407" dirty="0">
                <a:latin typeface="Cambria Math"/>
                <a:cs typeface="Cambria Math"/>
              </a:rPr>
              <a:t>𝑒</a:t>
            </a:r>
            <a:r>
              <a:rPr sz="850" dirty="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2187" y="1127531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4881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31840" y="980592"/>
            <a:ext cx="426720" cy="134620"/>
          </a:xfrm>
          <a:custGeom>
            <a:avLst/>
            <a:gdLst/>
            <a:ahLst/>
            <a:cxnLst/>
            <a:rect l="l" t="t" r="r" b="b"/>
            <a:pathLst>
              <a:path w="426720" h="134619">
                <a:moveTo>
                  <a:pt x="391413" y="0"/>
                </a:moveTo>
                <a:lnTo>
                  <a:pt x="390017" y="4445"/>
                </a:lnTo>
                <a:lnTo>
                  <a:pt x="396204" y="7639"/>
                </a:lnTo>
                <a:lnTo>
                  <a:pt x="401605" y="12287"/>
                </a:lnTo>
                <a:lnTo>
                  <a:pt x="416278" y="55395"/>
                </a:lnTo>
                <a:lnTo>
                  <a:pt x="416687" y="67183"/>
                </a:lnTo>
                <a:lnTo>
                  <a:pt x="416278" y="78970"/>
                </a:lnTo>
                <a:lnTo>
                  <a:pt x="406197" y="115901"/>
                </a:lnTo>
                <a:lnTo>
                  <a:pt x="390017" y="129921"/>
                </a:lnTo>
                <a:lnTo>
                  <a:pt x="391413" y="134365"/>
                </a:lnTo>
                <a:lnTo>
                  <a:pt x="421576" y="101508"/>
                </a:lnTo>
                <a:lnTo>
                  <a:pt x="426720" y="67183"/>
                </a:lnTo>
                <a:lnTo>
                  <a:pt x="426148" y="54850"/>
                </a:lnTo>
                <a:lnTo>
                  <a:pt x="412505" y="14662"/>
                </a:lnTo>
                <a:lnTo>
                  <a:pt x="399413" y="3093"/>
                </a:lnTo>
                <a:lnTo>
                  <a:pt x="391413" y="0"/>
                </a:lnTo>
                <a:close/>
              </a:path>
              <a:path w="426720" h="134619">
                <a:moveTo>
                  <a:pt x="35433" y="0"/>
                </a:moveTo>
                <a:lnTo>
                  <a:pt x="5250" y="32803"/>
                </a:lnTo>
                <a:lnTo>
                  <a:pt x="0" y="67183"/>
                </a:lnTo>
                <a:lnTo>
                  <a:pt x="591" y="79498"/>
                </a:lnTo>
                <a:lnTo>
                  <a:pt x="14341" y="119703"/>
                </a:lnTo>
                <a:lnTo>
                  <a:pt x="35433" y="134365"/>
                </a:lnTo>
                <a:lnTo>
                  <a:pt x="36702" y="129921"/>
                </a:lnTo>
                <a:lnTo>
                  <a:pt x="30533" y="126708"/>
                </a:lnTo>
                <a:lnTo>
                  <a:pt x="25161" y="122031"/>
                </a:lnTo>
                <a:lnTo>
                  <a:pt x="10459" y="78970"/>
                </a:lnTo>
                <a:lnTo>
                  <a:pt x="10033" y="67183"/>
                </a:lnTo>
                <a:lnTo>
                  <a:pt x="10459" y="55395"/>
                </a:lnTo>
                <a:lnTo>
                  <a:pt x="20575" y="18411"/>
                </a:lnTo>
                <a:lnTo>
                  <a:pt x="36702" y="4445"/>
                </a:lnTo>
                <a:lnTo>
                  <a:pt x="35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360668" y="944931"/>
            <a:ext cx="366395" cy="31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3100"/>
              </a:lnSpc>
              <a:spcBef>
                <a:spcPts val="95"/>
              </a:spcBef>
            </a:pPr>
            <a:r>
              <a:rPr sz="850" spc="150" dirty="0">
                <a:latin typeface="Cambria Math"/>
                <a:cs typeface="Cambria Math"/>
              </a:rPr>
              <a:t>𝑥</a:t>
            </a:r>
            <a:r>
              <a:rPr sz="1050" spc="135" baseline="23809" dirty="0">
                <a:latin typeface="Cambria Math"/>
                <a:cs typeface="Cambria Math"/>
              </a:rPr>
              <a:t>2</a:t>
            </a:r>
            <a:r>
              <a:rPr sz="850" spc="-5" dirty="0">
                <a:latin typeface="Cambria Math"/>
                <a:cs typeface="Cambria Math"/>
              </a:rPr>
              <a:t>+</a:t>
            </a:r>
            <a:r>
              <a:rPr sz="850" spc="170" dirty="0">
                <a:latin typeface="Cambria Math"/>
                <a:cs typeface="Cambria Math"/>
              </a:rPr>
              <a:t>𝑦</a:t>
            </a:r>
            <a:r>
              <a:rPr sz="1050" spc="30" baseline="23809" dirty="0">
                <a:latin typeface="Cambria Math"/>
                <a:cs typeface="Cambria Math"/>
              </a:rPr>
              <a:t>2  </a:t>
            </a:r>
            <a:r>
              <a:rPr sz="850" spc="60" dirty="0">
                <a:latin typeface="Cambria Math"/>
                <a:cs typeface="Cambria Math"/>
              </a:rPr>
              <a:t>2𝜎</a:t>
            </a:r>
            <a:r>
              <a:rPr sz="1050" spc="89" baseline="19841" dirty="0">
                <a:latin typeface="Cambria Math"/>
                <a:cs typeface="Cambria Math"/>
              </a:rPr>
              <a:t>2</a:t>
            </a:r>
            <a:endParaRPr sz="1050" baseline="19841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91989" y="328733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卷积</a:t>
            </a:r>
            <a:r>
              <a:rPr sz="1800" b="0" spc="20" dirty="0">
                <a:latin typeface="黑体"/>
                <a:cs typeface="黑体"/>
              </a:rPr>
              <a:t>核</a:t>
            </a:r>
            <a:r>
              <a:rPr sz="1800" b="0" spc="10" dirty="0">
                <a:latin typeface="黑体"/>
                <a:cs typeface="黑体"/>
              </a:rPr>
              <a:t>参</a:t>
            </a:r>
            <a:r>
              <a:rPr sz="1800" b="0" dirty="0">
                <a:latin typeface="黑体"/>
                <a:cs typeface="黑体"/>
              </a:rPr>
              <a:t>数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594" y="1053141"/>
            <a:ext cx="4303395" cy="206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 indent="-1720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81330" algn="l"/>
              </a:tabLst>
            </a:pPr>
            <a:r>
              <a:rPr sz="1200" dirty="0">
                <a:latin typeface="黑体"/>
                <a:cs typeface="黑体"/>
              </a:rPr>
              <a:t>大方差或者大尺寸卷积核平滑能力强；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"/>
            </a:pPr>
            <a:endParaRPr sz="1850">
              <a:latin typeface="Times New Roman"/>
              <a:cs typeface="Times New Roman"/>
            </a:endParaRPr>
          </a:p>
          <a:p>
            <a:pPr marL="480695" indent="-172085">
              <a:lnSpc>
                <a:spcPct val="100000"/>
              </a:lnSpc>
              <a:buFont typeface="Wingdings"/>
              <a:buChar char=""/>
              <a:tabLst>
                <a:tab pos="481330" algn="l"/>
              </a:tabLst>
            </a:pPr>
            <a:r>
              <a:rPr sz="1200" dirty="0">
                <a:latin typeface="黑体"/>
                <a:cs typeface="黑体"/>
              </a:rPr>
              <a:t>小方差或者小尺寸卷积核平滑能力弱；</a:t>
            </a:r>
            <a:endParaRPr sz="1200">
              <a:latin typeface="黑体"/>
              <a:cs typeface="黑体"/>
            </a:endParaRPr>
          </a:p>
          <a:p>
            <a:pPr marL="480695" marR="5080" indent="-172085">
              <a:lnSpc>
                <a:spcPct val="250000"/>
              </a:lnSpc>
              <a:spcBef>
                <a:spcPts val="5"/>
              </a:spcBef>
              <a:buFont typeface="Wingdings"/>
              <a:buChar char=""/>
              <a:tabLst>
                <a:tab pos="481330" algn="l"/>
              </a:tabLst>
            </a:pPr>
            <a:r>
              <a:rPr sz="1200" dirty="0">
                <a:latin typeface="黑体"/>
                <a:cs typeface="黑体"/>
              </a:rPr>
              <a:t>经验法则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黑体"/>
                <a:cs typeface="黑体"/>
              </a:rPr>
              <a:t>将卷积核的半窗宽度设置为</a:t>
            </a:r>
            <a:r>
              <a:rPr sz="1200" spc="-305" dirty="0">
                <a:latin typeface="黑体"/>
                <a:cs typeface="黑体"/>
              </a:rPr>
              <a:t> </a:t>
            </a:r>
            <a:r>
              <a:rPr sz="1200" spc="5" dirty="0">
                <a:latin typeface="Cambria Math"/>
                <a:cs typeface="Cambria Math"/>
              </a:rPr>
              <a:t>3𝜎</a:t>
            </a:r>
            <a:r>
              <a:rPr sz="1200" spc="5" dirty="0">
                <a:latin typeface="黑体"/>
                <a:cs typeface="黑体"/>
              </a:rPr>
              <a:t>，</a:t>
            </a:r>
            <a:r>
              <a:rPr sz="1200" dirty="0">
                <a:latin typeface="黑体"/>
                <a:cs typeface="黑体"/>
              </a:rPr>
              <a:t>最终卷积模板 尺寸为</a:t>
            </a:r>
            <a:r>
              <a:rPr sz="1200" dirty="0">
                <a:latin typeface="Cambria Math"/>
                <a:cs typeface="Cambria Math"/>
              </a:rPr>
              <a:t>2</a:t>
            </a:r>
            <a:r>
              <a:rPr sz="1200" spc="-1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×</a:t>
            </a:r>
            <a:r>
              <a:rPr sz="1200" spc="5" dirty="0">
                <a:latin typeface="Cambria Math"/>
                <a:cs typeface="Cambria Math"/>
              </a:rPr>
              <a:t> </a:t>
            </a:r>
            <a:r>
              <a:rPr sz="1200" spc="-5" dirty="0">
                <a:latin typeface="Cambria Math"/>
                <a:cs typeface="Cambria Math"/>
              </a:rPr>
              <a:t>3𝜎</a:t>
            </a:r>
            <a:r>
              <a:rPr sz="1200" spc="3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+</a:t>
            </a:r>
            <a:r>
              <a:rPr sz="1200" spc="-10" dirty="0">
                <a:latin typeface="Cambria Math"/>
                <a:cs typeface="Cambria Math"/>
              </a:rPr>
              <a:t> </a:t>
            </a:r>
            <a:r>
              <a:rPr sz="1200" spc="5" dirty="0">
                <a:latin typeface="Cambria Math"/>
                <a:cs typeface="Cambria Math"/>
              </a:rPr>
              <a:t>1</a:t>
            </a:r>
            <a:r>
              <a:rPr sz="1200" dirty="0">
                <a:latin typeface="黑体"/>
                <a:cs typeface="黑体"/>
              </a:rPr>
              <a:t>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dirty="0">
                <a:latin typeface="黑体"/>
                <a:cs typeface="黑体"/>
              </a:rPr>
              <a:t>例子：标准差设置成</a:t>
            </a:r>
            <a:r>
              <a:rPr sz="1200" spc="-5" dirty="0">
                <a:latin typeface="Arial"/>
                <a:cs typeface="Arial"/>
              </a:rPr>
              <a:t>1</a:t>
            </a:r>
            <a:r>
              <a:rPr sz="1200" spc="-5" dirty="0">
                <a:latin typeface="黑体"/>
                <a:cs typeface="黑体"/>
              </a:rPr>
              <a:t>，</a:t>
            </a:r>
            <a:r>
              <a:rPr sz="1200" spc="-285" dirty="0">
                <a:latin typeface="黑体"/>
                <a:cs typeface="黑体"/>
              </a:rPr>
              <a:t> </a:t>
            </a:r>
            <a:r>
              <a:rPr sz="1200" dirty="0">
                <a:latin typeface="黑体"/>
                <a:cs typeface="黑体"/>
              </a:rPr>
              <a:t>卷积模板宽度</a:t>
            </a:r>
            <a:r>
              <a:rPr sz="1200" spc="-5" dirty="0">
                <a:latin typeface="Arial"/>
                <a:cs typeface="Arial"/>
              </a:rPr>
              <a:t>=2*3*1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+</a:t>
            </a:r>
            <a:r>
              <a:rPr sz="1200" spc="-5" dirty="0">
                <a:latin typeface="Arial"/>
                <a:cs typeface="Arial"/>
              </a:rPr>
              <a:t> 1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0966" y="423316"/>
            <a:ext cx="2798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高斯</a:t>
            </a:r>
            <a:r>
              <a:rPr sz="1800" spc="20" dirty="0">
                <a:latin typeface="黑体"/>
                <a:cs typeface="黑体"/>
              </a:rPr>
              <a:t>卷</a:t>
            </a:r>
            <a:r>
              <a:rPr sz="1800" spc="10" dirty="0">
                <a:latin typeface="黑体"/>
                <a:cs typeface="黑体"/>
              </a:rPr>
              <a:t>积</a:t>
            </a:r>
            <a:r>
              <a:rPr sz="1800" dirty="0">
                <a:latin typeface="黑体"/>
                <a:cs typeface="黑体"/>
              </a:rPr>
              <a:t>核</a:t>
            </a:r>
            <a:r>
              <a:rPr sz="1800" spc="-45" dirty="0">
                <a:latin typeface="黑体"/>
                <a:cs typeface="黑体"/>
              </a:rPr>
              <a:t> </a:t>
            </a:r>
            <a:r>
              <a:rPr sz="1800" spc="15" dirty="0">
                <a:latin typeface="黑体"/>
                <a:cs typeface="黑体"/>
              </a:rPr>
              <a:t>vs.</a:t>
            </a:r>
            <a:r>
              <a:rPr sz="1800" spc="10" dirty="0">
                <a:latin typeface="黑体"/>
                <a:cs typeface="黑体"/>
              </a:rPr>
              <a:t>平</a:t>
            </a:r>
            <a:r>
              <a:rPr sz="1800" spc="25" dirty="0">
                <a:latin typeface="黑体"/>
                <a:cs typeface="黑体"/>
              </a:rPr>
              <a:t>均</a:t>
            </a:r>
            <a:r>
              <a:rPr sz="1800" spc="10" dirty="0">
                <a:latin typeface="黑体"/>
                <a:cs typeface="黑体"/>
              </a:rPr>
              <a:t>卷</a:t>
            </a:r>
            <a:r>
              <a:rPr sz="1800" spc="25" dirty="0">
                <a:latin typeface="黑体"/>
                <a:cs typeface="黑体"/>
              </a:rPr>
              <a:t>积</a:t>
            </a:r>
            <a:r>
              <a:rPr sz="180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46895" y="999589"/>
            <a:ext cx="2249514" cy="23979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16119" y="3156102"/>
            <a:ext cx="1028700" cy="353695"/>
          </a:xfrm>
          <a:custGeom>
            <a:avLst/>
            <a:gdLst/>
            <a:ahLst/>
            <a:cxnLst/>
            <a:rect l="l" t="t" r="r" b="b"/>
            <a:pathLst>
              <a:path w="1028700" h="353695">
                <a:moveTo>
                  <a:pt x="0" y="353567"/>
                </a:moveTo>
                <a:lnTo>
                  <a:pt x="1028700" y="353567"/>
                </a:lnTo>
                <a:lnTo>
                  <a:pt x="1028700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2919" y="3156102"/>
            <a:ext cx="1028700" cy="353695"/>
          </a:xfrm>
          <a:custGeom>
            <a:avLst/>
            <a:gdLst/>
            <a:ahLst/>
            <a:cxnLst/>
            <a:rect l="l" t="t" r="r" b="b"/>
            <a:pathLst>
              <a:path w="1028700" h="353695">
                <a:moveTo>
                  <a:pt x="0" y="353567"/>
                </a:moveTo>
                <a:lnTo>
                  <a:pt x="1028700" y="353567"/>
                </a:lnTo>
                <a:lnTo>
                  <a:pt x="1028700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49774" y="3171799"/>
            <a:ext cx="2082800" cy="389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79500" algn="l"/>
              </a:tabLst>
            </a:pPr>
            <a:r>
              <a:rPr sz="1000" dirty="0">
                <a:latin typeface="黑体"/>
                <a:cs typeface="黑体"/>
              </a:rPr>
              <a:t>平</a:t>
            </a:r>
            <a:r>
              <a:rPr sz="1000" spc="-5" dirty="0">
                <a:latin typeface="黑体"/>
                <a:cs typeface="黑体"/>
              </a:rPr>
              <a:t>均</a:t>
            </a:r>
            <a:r>
              <a:rPr sz="1000" spc="-10" dirty="0">
                <a:latin typeface="黑体"/>
                <a:cs typeface="黑体"/>
              </a:rPr>
              <a:t>核</a:t>
            </a:r>
            <a:r>
              <a:rPr sz="1000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</a:t>
            </a:r>
            <a:r>
              <a:rPr sz="1000" spc="-10" dirty="0">
                <a:latin typeface="黑体"/>
                <a:cs typeface="黑体"/>
              </a:rPr>
              <a:t>结</a:t>
            </a:r>
            <a:r>
              <a:rPr sz="1000" spc="-5" dirty="0">
                <a:latin typeface="黑体"/>
                <a:cs typeface="黑体"/>
              </a:rPr>
              <a:t>果	</a:t>
            </a:r>
            <a:r>
              <a:rPr sz="1000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</a:t>
            </a:r>
            <a:r>
              <a:rPr sz="1000" spc="-10" dirty="0">
                <a:latin typeface="黑体"/>
                <a:cs typeface="黑体"/>
              </a:rPr>
              <a:t>核</a:t>
            </a:r>
            <a:r>
              <a:rPr sz="1000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</a:t>
            </a:r>
            <a:r>
              <a:rPr sz="1000" spc="-10" dirty="0">
                <a:latin typeface="黑体"/>
                <a:cs typeface="黑体"/>
              </a:rPr>
              <a:t>结</a:t>
            </a:r>
            <a:r>
              <a:rPr sz="1000" spc="-5" dirty="0">
                <a:latin typeface="黑体"/>
                <a:cs typeface="黑体"/>
              </a:rPr>
              <a:t>果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91989" y="328733"/>
            <a:ext cx="1175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高斯</a:t>
            </a:r>
            <a:r>
              <a:rPr sz="1800" b="0" spc="20" dirty="0">
                <a:latin typeface="黑体"/>
                <a:cs typeface="黑体"/>
              </a:rPr>
              <a:t>卷</a:t>
            </a:r>
            <a:r>
              <a:rPr sz="1800" b="0" spc="10" dirty="0">
                <a:latin typeface="黑体"/>
                <a:cs typeface="黑体"/>
              </a:rPr>
              <a:t>积</a:t>
            </a:r>
            <a:r>
              <a:rPr sz="1800" b="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2627" y="2037264"/>
            <a:ext cx="151764" cy="121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27150" y="1108099"/>
            <a:ext cx="3952240" cy="1858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΢"/>
              <a:buChar char="•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去</a:t>
            </a:r>
            <a:r>
              <a:rPr sz="1000" spc="-5" dirty="0">
                <a:latin typeface="黑体"/>
                <a:cs typeface="黑体"/>
              </a:rPr>
              <a:t>除图</a:t>
            </a:r>
            <a:r>
              <a:rPr sz="1000" spc="5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中的</a:t>
            </a:r>
            <a:r>
              <a:rPr sz="1000" spc="5" dirty="0">
                <a:latin typeface="黑体"/>
                <a:cs typeface="黑体"/>
              </a:rPr>
              <a:t>“</a:t>
            </a:r>
            <a:r>
              <a:rPr sz="1000" spc="-5" dirty="0">
                <a:latin typeface="黑体"/>
                <a:cs typeface="黑体"/>
              </a:rPr>
              <a:t>高频</a:t>
            </a:r>
            <a:r>
              <a:rPr sz="1000" spc="5" dirty="0">
                <a:latin typeface="黑体"/>
                <a:cs typeface="黑体"/>
              </a:rPr>
              <a:t>”</a:t>
            </a:r>
            <a:r>
              <a:rPr sz="1000" spc="-5" dirty="0">
                <a:latin typeface="黑体"/>
                <a:cs typeface="黑体"/>
              </a:rPr>
              <a:t>成分</a:t>
            </a:r>
            <a:r>
              <a:rPr sz="1000" spc="5" dirty="0">
                <a:latin typeface="黑体"/>
                <a:cs typeface="黑体"/>
              </a:rPr>
              <a:t>（</a:t>
            </a:r>
            <a:r>
              <a:rPr sz="1000" spc="-5" dirty="0">
                <a:latin typeface="黑体"/>
                <a:cs typeface="黑体"/>
              </a:rPr>
              <a:t>低通</a:t>
            </a:r>
            <a:r>
              <a:rPr sz="1000" spc="5" dirty="0">
                <a:latin typeface="黑体"/>
                <a:cs typeface="黑体"/>
              </a:rPr>
              <a:t>滤</a:t>
            </a:r>
            <a:r>
              <a:rPr sz="1000" spc="-5" dirty="0">
                <a:latin typeface="黑体"/>
                <a:cs typeface="黑体"/>
              </a:rPr>
              <a:t>波器）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840"/>
              </a:spcBef>
              <a:buFont typeface="΢"/>
              <a:buChar char="•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两</a:t>
            </a:r>
            <a:r>
              <a:rPr sz="1000" spc="-5" dirty="0">
                <a:latin typeface="黑体"/>
                <a:cs typeface="黑体"/>
              </a:rPr>
              <a:t>个高</a:t>
            </a:r>
            <a:r>
              <a:rPr sz="1000" spc="5" dirty="0">
                <a:latin typeface="黑体"/>
                <a:cs typeface="黑体"/>
              </a:rPr>
              <a:t>斯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后</a:t>
            </a:r>
            <a:r>
              <a:rPr sz="1000" spc="-5" dirty="0">
                <a:latin typeface="黑体"/>
                <a:cs typeface="黑体"/>
              </a:rPr>
              <a:t>得到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还是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  <a:p>
            <a:pPr marL="384810" lvl="1" indent="-14351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385445" algn="l"/>
              </a:tabLst>
            </a:pP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用多</a:t>
            </a:r>
            <a:r>
              <a:rPr sz="1000" spc="5" dirty="0">
                <a:latin typeface="黑体"/>
                <a:cs typeface="黑体"/>
              </a:rPr>
              <a:t>次</a:t>
            </a:r>
            <a:r>
              <a:rPr sz="1000" spc="-5" dirty="0">
                <a:latin typeface="黑体"/>
                <a:cs typeface="黑体"/>
              </a:rPr>
              <a:t>小方</a:t>
            </a:r>
            <a:r>
              <a:rPr sz="1000" spc="5" dirty="0">
                <a:latin typeface="黑体"/>
                <a:cs typeface="黑体"/>
              </a:rPr>
              <a:t>差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连续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</a:t>
            </a:r>
            <a:r>
              <a:rPr sz="1000" spc="-5">
                <a:latin typeface="黑体"/>
                <a:cs typeface="黑体"/>
              </a:rPr>
              <a:t>，</a:t>
            </a:r>
            <a:r>
              <a:rPr sz="1000" spc="5" smtClean="0">
                <a:latin typeface="黑体"/>
                <a:cs typeface="黑体"/>
              </a:rPr>
              <a:t>可</a:t>
            </a:r>
            <a:r>
              <a:rPr sz="1000" spc="-5" smtClean="0">
                <a:latin typeface="黑体"/>
                <a:cs typeface="黑体"/>
              </a:rPr>
              <a:t>以得</a:t>
            </a:r>
            <a:r>
              <a:rPr sz="1000" spc="5" smtClean="0">
                <a:latin typeface="黑体"/>
                <a:cs typeface="黑体"/>
              </a:rPr>
              <a:t>到</a:t>
            </a:r>
            <a:r>
              <a:rPr sz="1000" spc="-5" smtClean="0">
                <a:latin typeface="黑体"/>
                <a:cs typeface="黑体"/>
              </a:rPr>
              <a:t>与大</a:t>
            </a:r>
            <a:r>
              <a:rPr sz="1000" spc="5" smtClean="0">
                <a:latin typeface="黑体"/>
                <a:cs typeface="黑体"/>
              </a:rPr>
              <a:t>方</a:t>
            </a:r>
            <a:r>
              <a:rPr sz="1000" spc="-5" smtClean="0">
                <a:latin typeface="黑体"/>
                <a:cs typeface="黑体"/>
              </a:rPr>
              <a:t>差卷</a:t>
            </a:r>
            <a:r>
              <a:rPr sz="1000" spc="5" smtClean="0">
                <a:latin typeface="黑体"/>
                <a:cs typeface="黑体"/>
              </a:rPr>
              <a:t>积</a:t>
            </a:r>
            <a:r>
              <a:rPr sz="1000" spc="-5" smtClean="0">
                <a:latin typeface="黑体"/>
                <a:cs typeface="黑体"/>
              </a:rPr>
              <a:t>核相同</a:t>
            </a:r>
            <a:r>
              <a:rPr sz="1000" smtClean="0">
                <a:latin typeface="黑体"/>
                <a:cs typeface="黑体"/>
              </a:rPr>
              <a:t>的</a:t>
            </a:r>
            <a:r>
              <a:rPr sz="1000" spc="-5" smtClean="0">
                <a:latin typeface="黑体"/>
                <a:cs typeface="黑体"/>
              </a:rPr>
              <a:t>结果</a:t>
            </a:r>
            <a:endParaRPr lang="en-US" sz="1000" spc="-5" smtClean="0">
              <a:latin typeface="黑体"/>
              <a:cs typeface="黑体"/>
            </a:endParaRPr>
          </a:p>
          <a:p>
            <a:pPr marL="384810" marR="86995" lvl="1" indent="-143510">
              <a:lnSpc>
                <a:spcPct val="154000"/>
              </a:lnSpc>
              <a:spcBef>
                <a:spcPts val="340"/>
              </a:spcBef>
              <a:buFont typeface="Wingdings"/>
              <a:buChar char=""/>
              <a:tabLst>
                <a:tab pos="385445" algn="l"/>
              </a:tabLst>
            </a:pPr>
            <a:r>
              <a:rPr sz="1000" spc="5" smtClean="0">
                <a:latin typeface="黑体"/>
                <a:cs typeface="黑体"/>
              </a:rPr>
              <a:t>使</a:t>
            </a:r>
            <a:r>
              <a:rPr sz="1000" spc="-5" smtClean="0">
                <a:latin typeface="黑体"/>
                <a:cs typeface="黑体"/>
              </a:rPr>
              <a:t>用标</a:t>
            </a:r>
            <a:r>
              <a:rPr sz="1000" spc="5" smtClean="0">
                <a:latin typeface="黑体"/>
                <a:cs typeface="黑体"/>
              </a:rPr>
              <a:t>准</a:t>
            </a:r>
            <a:r>
              <a:rPr sz="1000" spc="-5" smtClean="0">
                <a:latin typeface="黑体"/>
                <a:cs typeface="黑体"/>
              </a:rPr>
              <a:t>差为</a:t>
            </a:r>
            <a:r>
              <a:rPr sz="1000" spc="-10" smtClean="0">
                <a:latin typeface="黑体"/>
                <a:cs typeface="黑体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σ</a:t>
            </a:r>
            <a:r>
              <a:rPr sz="1000" spc="45" dirty="0">
                <a:latin typeface="Cambria Math"/>
                <a:cs typeface="Cambria Math"/>
              </a:rPr>
              <a:t> </a:t>
            </a:r>
            <a:r>
              <a:rPr sz="1000" spc="-5">
                <a:latin typeface="黑体"/>
                <a:cs typeface="黑体"/>
              </a:rPr>
              <a:t>的高</a:t>
            </a:r>
            <a:r>
              <a:rPr sz="1000" spc="5">
                <a:latin typeface="黑体"/>
                <a:cs typeface="黑体"/>
              </a:rPr>
              <a:t>斯</a:t>
            </a:r>
            <a:r>
              <a:rPr sz="1000" spc="-5">
                <a:latin typeface="黑体"/>
                <a:cs typeface="黑体"/>
              </a:rPr>
              <a:t>核进</a:t>
            </a:r>
            <a:r>
              <a:rPr sz="1000" spc="5">
                <a:latin typeface="黑体"/>
                <a:cs typeface="黑体"/>
              </a:rPr>
              <a:t>行</a:t>
            </a:r>
            <a:r>
              <a:rPr sz="1000" spc="-5">
                <a:latin typeface="黑体"/>
                <a:cs typeface="黑体"/>
              </a:rPr>
              <a:t>两次</a:t>
            </a:r>
            <a:r>
              <a:rPr sz="1000" spc="5">
                <a:latin typeface="黑体"/>
                <a:cs typeface="黑体"/>
              </a:rPr>
              <a:t>卷</a:t>
            </a:r>
            <a:r>
              <a:rPr sz="1000" spc="-5">
                <a:latin typeface="黑体"/>
                <a:cs typeface="黑体"/>
              </a:rPr>
              <a:t>积与</a:t>
            </a:r>
            <a:r>
              <a:rPr sz="1000" spc="5">
                <a:latin typeface="黑体"/>
                <a:cs typeface="黑体"/>
              </a:rPr>
              <a:t>使</a:t>
            </a:r>
            <a:r>
              <a:rPr sz="1000" spc="-5">
                <a:latin typeface="黑体"/>
                <a:cs typeface="黑体"/>
              </a:rPr>
              <a:t>用标</a:t>
            </a:r>
            <a:r>
              <a:rPr sz="1000" spc="5">
                <a:latin typeface="黑体"/>
                <a:cs typeface="黑体"/>
              </a:rPr>
              <a:t>准</a:t>
            </a:r>
            <a:r>
              <a:rPr sz="1000" spc="-5">
                <a:latin typeface="黑体"/>
                <a:cs typeface="黑体"/>
              </a:rPr>
              <a:t>差</a:t>
            </a:r>
            <a:r>
              <a:rPr sz="1000" spc="-10">
                <a:latin typeface="黑体"/>
                <a:cs typeface="黑体"/>
              </a:rPr>
              <a:t> </a:t>
            </a:r>
            <a:r>
              <a:rPr sz="1000" spc="-5" smtClean="0">
                <a:latin typeface="Cambria Math"/>
                <a:cs typeface="Cambria Math"/>
              </a:rPr>
              <a:t>σ</a:t>
            </a:r>
            <a:r>
              <a:rPr lang="en-US" sz="1000" spc="-5" smtClean="0">
                <a:latin typeface="Cambria Math"/>
                <a:cs typeface="Cambria Math"/>
              </a:rPr>
              <a:t> </a:t>
            </a:r>
            <a:r>
              <a:rPr sz="1000" spc="-5" smtClean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2</a:t>
            </a:r>
            <a:r>
              <a:rPr sz="1000" spc="45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黑体"/>
                <a:cs typeface="黑体"/>
              </a:rPr>
              <a:t>的 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斯核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行一</a:t>
            </a:r>
            <a:r>
              <a:rPr sz="1000" spc="5" dirty="0">
                <a:latin typeface="黑体"/>
                <a:cs typeface="黑体"/>
              </a:rPr>
              <a:t>次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相</a:t>
            </a:r>
            <a:r>
              <a:rPr sz="1000" spc="-5" dirty="0">
                <a:latin typeface="黑体"/>
                <a:cs typeface="黑体"/>
              </a:rPr>
              <a:t>同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840"/>
              </a:spcBef>
              <a:buFont typeface="΢"/>
              <a:buChar char="•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可</a:t>
            </a:r>
            <a:r>
              <a:rPr sz="1000" spc="-5" dirty="0">
                <a:latin typeface="黑体"/>
                <a:cs typeface="黑体"/>
              </a:rPr>
              <a:t>分离</a:t>
            </a:r>
            <a:endParaRPr sz="1000">
              <a:latin typeface="黑体"/>
              <a:cs typeface="黑体"/>
            </a:endParaRPr>
          </a:p>
          <a:p>
            <a:pPr marL="384810" lvl="1" indent="-14351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385445" algn="l"/>
              </a:tabLst>
            </a:pPr>
            <a:r>
              <a:rPr sz="1000" spc="5" dirty="0">
                <a:latin typeface="黑体"/>
                <a:cs typeface="黑体"/>
              </a:rPr>
              <a:t>可</a:t>
            </a:r>
            <a:r>
              <a:rPr sz="1000" spc="-5" dirty="0">
                <a:latin typeface="黑体"/>
                <a:cs typeface="黑体"/>
              </a:rPr>
              <a:t>分解</a:t>
            </a:r>
            <a:r>
              <a:rPr sz="1000" spc="5" dirty="0">
                <a:latin typeface="黑体"/>
                <a:cs typeface="黑体"/>
              </a:rPr>
              <a:t>为</a:t>
            </a:r>
            <a:r>
              <a:rPr sz="1000" spc="-5" dirty="0">
                <a:latin typeface="黑体"/>
                <a:cs typeface="黑体"/>
              </a:rPr>
              <a:t>两个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维高</a:t>
            </a:r>
            <a:r>
              <a:rPr sz="1000" spc="5" dirty="0">
                <a:latin typeface="黑体"/>
                <a:cs typeface="黑体"/>
              </a:rPr>
              <a:t>斯</a:t>
            </a:r>
            <a:r>
              <a:rPr sz="1000" spc="-5" dirty="0">
                <a:latin typeface="黑体"/>
                <a:cs typeface="黑体"/>
              </a:rPr>
              <a:t>的乘积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76164" y="423316"/>
            <a:ext cx="140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可分</a:t>
            </a:r>
            <a:r>
              <a:rPr sz="1800" b="0" spc="20" dirty="0">
                <a:latin typeface="黑体"/>
                <a:cs typeface="黑体"/>
              </a:rPr>
              <a:t>离</a:t>
            </a:r>
            <a:r>
              <a:rPr sz="1800" b="0" spc="10" dirty="0">
                <a:latin typeface="黑体"/>
                <a:cs typeface="黑体"/>
              </a:rPr>
              <a:t>性</a:t>
            </a:r>
            <a:r>
              <a:rPr sz="1800" b="0" spc="20" dirty="0">
                <a:latin typeface="黑体"/>
                <a:cs typeface="黑体"/>
              </a:rPr>
              <a:t>示</a:t>
            </a:r>
            <a:r>
              <a:rPr sz="1800" b="0" dirty="0">
                <a:latin typeface="黑体"/>
                <a:cs typeface="黑体"/>
              </a:rPr>
              <a:t>例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261" y="999769"/>
            <a:ext cx="10464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黑体"/>
                <a:cs typeface="黑体"/>
              </a:rPr>
              <a:t>高斯卷</a:t>
            </a:r>
            <a:r>
              <a:rPr sz="800" spc="-10" dirty="0">
                <a:latin typeface="黑体"/>
                <a:cs typeface="黑体"/>
              </a:rPr>
              <a:t>积</a:t>
            </a:r>
            <a:r>
              <a:rPr sz="800" dirty="0">
                <a:latin typeface="黑体"/>
                <a:cs typeface="黑体"/>
              </a:rPr>
              <a:t>核与</a:t>
            </a:r>
            <a:r>
              <a:rPr sz="800" spc="-10" dirty="0">
                <a:latin typeface="黑体"/>
                <a:cs typeface="黑体"/>
              </a:rPr>
              <a:t>图</a:t>
            </a:r>
            <a:r>
              <a:rPr sz="800" dirty="0">
                <a:latin typeface="黑体"/>
                <a:cs typeface="黑体"/>
              </a:rPr>
              <a:t>像卷积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6690" y="1000912"/>
            <a:ext cx="27241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mbria Math"/>
                <a:cs typeface="Cambria Math"/>
              </a:rPr>
              <a:t>=</a:t>
            </a:r>
            <a:r>
              <a:rPr sz="800" spc="25" dirty="0">
                <a:latin typeface="Cambria Math"/>
                <a:cs typeface="Cambria Math"/>
              </a:rPr>
              <a:t> </a:t>
            </a:r>
            <a:r>
              <a:rPr sz="800" spc="-5" dirty="0">
                <a:latin typeface="Arial"/>
                <a:cs typeface="Arial"/>
              </a:rPr>
              <a:t>65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1773" y="893343"/>
            <a:ext cx="7696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mbria Math"/>
                <a:cs typeface="Cambria Math"/>
              </a:rPr>
              <a:t>= 2 + 6 + 3</a:t>
            </a:r>
            <a:r>
              <a:rPr sz="800" spc="-5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+</a:t>
            </a:r>
            <a:endParaRPr sz="800">
              <a:latin typeface="Cambria Math"/>
              <a:cs typeface="Cambria Math"/>
            </a:endParaRPr>
          </a:p>
          <a:p>
            <a:pPr marL="132715">
              <a:lnSpc>
                <a:spcPct val="100000"/>
              </a:lnSpc>
            </a:pPr>
            <a:r>
              <a:rPr sz="800" dirty="0">
                <a:latin typeface="Cambria Math"/>
                <a:cs typeface="Cambria Math"/>
              </a:rPr>
              <a:t>6 + </a:t>
            </a:r>
            <a:r>
              <a:rPr sz="800" spc="-5" dirty="0">
                <a:latin typeface="Cambria Math"/>
                <a:cs typeface="Cambria Math"/>
              </a:rPr>
              <a:t>20 </a:t>
            </a:r>
            <a:r>
              <a:rPr sz="800" dirty="0">
                <a:latin typeface="Cambria Math"/>
                <a:cs typeface="Cambria Math"/>
              </a:rPr>
              <a:t>+ </a:t>
            </a:r>
            <a:r>
              <a:rPr sz="800" spc="-5" dirty="0">
                <a:latin typeface="Cambria Math"/>
                <a:cs typeface="Cambria Math"/>
              </a:rPr>
              <a:t>10</a:t>
            </a:r>
            <a:r>
              <a:rPr sz="800" spc="-70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+</a:t>
            </a:r>
            <a:endParaRPr sz="800">
              <a:latin typeface="Cambria Math"/>
              <a:cs typeface="Cambria Math"/>
            </a:endParaRPr>
          </a:p>
          <a:p>
            <a:pPr marL="132715">
              <a:lnSpc>
                <a:spcPct val="100000"/>
              </a:lnSpc>
            </a:pPr>
            <a:r>
              <a:rPr sz="800" dirty="0">
                <a:latin typeface="Cambria Math"/>
                <a:cs typeface="Cambria Math"/>
              </a:rPr>
              <a:t>4 + 8 +</a:t>
            </a:r>
            <a:r>
              <a:rPr sz="800" spc="-35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6</a:t>
            </a:r>
            <a:endParaRPr sz="800">
              <a:latin typeface="Cambria Math"/>
              <a:cs typeface="Cambria Math"/>
            </a:endParaRPr>
          </a:p>
          <a:p>
            <a:pPr marL="47625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=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5" dirty="0">
                <a:solidFill>
                  <a:srgbClr val="FF0000"/>
                </a:solidFill>
                <a:latin typeface="Arial"/>
                <a:cs typeface="Arial"/>
              </a:rPr>
              <a:t>65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3974" y="1693824"/>
            <a:ext cx="8394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分解为</a:t>
            </a:r>
            <a:r>
              <a:rPr sz="800" spc="-15" dirty="0">
                <a:latin typeface="黑体"/>
                <a:cs typeface="黑体"/>
              </a:rPr>
              <a:t>两</a:t>
            </a:r>
            <a:r>
              <a:rPr sz="800" dirty="0">
                <a:latin typeface="黑体"/>
                <a:cs typeface="黑体"/>
              </a:rPr>
              <a:t>个一</a:t>
            </a:r>
            <a:r>
              <a:rPr sz="800" spc="-15" dirty="0">
                <a:latin typeface="黑体"/>
                <a:cs typeface="黑体"/>
              </a:rPr>
              <a:t>维</a:t>
            </a:r>
            <a:r>
              <a:rPr sz="800" dirty="0">
                <a:latin typeface="黑体"/>
                <a:cs typeface="黑体"/>
              </a:rPr>
              <a:t>的 高斯卷</a:t>
            </a:r>
            <a:r>
              <a:rPr sz="800" spc="-15" dirty="0">
                <a:latin typeface="黑体"/>
                <a:cs typeface="黑体"/>
              </a:rPr>
              <a:t>积</a:t>
            </a:r>
            <a:r>
              <a:rPr sz="800" dirty="0">
                <a:latin typeface="黑体"/>
                <a:cs typeface="黑体"/>
              </a:rPr>
              <a:t>核</a:t>
            </a:r>
            <a:endParaRPr sz="800">
              <a:latin typeface="黑体"/>
              <a:cs typeface="黑体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525135" y="786282"/>
          <a:ext cx="621030" cy="575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1897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897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298819" y="786282"/>
          <a:ext cx="621030" cy="575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1897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897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173216" y="951890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519674" y="1511960"/>
          <a:ext cx="621030" cy="575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189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189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3183630" y="1672996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19012" y="1511960"/>
            <a:ext cx="0" cy="575945"/>
          </a:xfrm>
          <a:custGeom>
            <a:avLst/>
            <a:gdLst/>
            <a:ahLst/>
            <a:cxnLst/>
            <a:rect l="l" t="t" r="r" b="b"/>
            <a:pathLst>
              <a:path h="575944">
                <a:moveTo>
                  <a:pt x="0" y="0"/>
                </a:moveTo>
                <a:lnTo>
                  <a:pt x="0" y="575691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14973" y="1511960"/>
            <a:ext cx="0" cy="575945"/>
          </a:xfrm>
          <a:custGeom>
            <a:avLst/>
            <a:gdLst/>
            <a:ahLst/>
            <a:cxnLst/>
            <a:rect l="l" t="t" r="r" b="b"/>
            <a:pathLst>
              <a:path h="575944">
                <a:moveTo>
                  <a:pt x="0" y="0"/>
                </a:moveTo>
                <a:lnTo>
                  <a:pt x="0" y="575691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19012" y="1515135"/>
            <a:ext cx="196215" cy="18986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900" spc="-5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19012" y="1704873"/>
            <a:ext cx="196215" cy="18986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900" spc="-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19012" y="1894611"/>
            <a:ext cx="196215" cy="18986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900" spc="-5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654547" y="1697761"/>
          <a:ext cx="626744" cy="18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9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89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3539357" y="1705000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315837" y="2211349"/>
          <a:ext cx="621030" cy="5758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1897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896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2509768" y="2407818"/>
          <a:ext cx="626744" cy="18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9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89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3186932" y="2399436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73952" y="2417419"/>
            <a:ext cx="1149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931408" y="2888767"/>
          <a:ext cx="195580" cy="569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8986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9738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973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152005" y="2211349"/>
          <a:ext cx="621030" cy="5758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1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65" dirty="0">
                          <a:latin typeface="Arial"/>
                          <a:cs typeface="Arial"/>
                        </a:rPr>
                        <a:t>11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3325235" y="2888767"/>
          <a:ext cx="621030" cy="5758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65" dirty="0">
                          <a:latin typeface="Arial"/>
                          <a:cs typeface="Arial"/>
                        </a:rPr>
                        <a:t>11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1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3200394" y="308485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84366" y="3068091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4152894" y="2901594"/>
          <a:ext cx="621030" cy="575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1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65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1389501" y="2446680"/>
            <a:ext cx="7391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一维卷</a:t>
            </a:r>
            <a:r>
              <a:rPr sz="800" spc="-15" dirty="0">
                <a:latin typeface="黑体"/>
                <a:cs typeface="黑体"/>
              </a:rPr>
              <a:t>积</a:t>
            </a:r>
            <a:r>
              <a:rPr sz="800" dirty="0">
                <a:latin typeface="黑体"/>
                <a:cs typeface="黑体"/>
              </a:rPr>
              <a:t>核卷积</a:t>
            </a:r>
            <a:endParaRPr sz="800">
              <a:latin typeface="黑体"/>
              <a:cs typeface="黑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86453" y="2959252"/>
            <a:ext cx="7404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一维卷</a:t>
            </a:r>
            <a:r>
              <a:rPr sz="800" spc="-10" dirty="0">
                <a:latin typeface="黑体"/>
                <a:cs typeface="黑体"/>
              </a:rPr>
              <a:t>积</a:t>
            </a:r>
            <a:r>
              <a:rPr sz="800" dirty="0">
                <a:latin typeface="黑体"/>
                <a:cs typeface="黑体"/>
              </a:rPr>
              <a:t>核卷积</a:t>
            </a:r>
            <a:endParaRPr sz="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61865" y="328733"/>
            <a:ext cx="163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卷积</a:t>
            </a:r>
            <a:r>
              <a:rPr sz="1800" b="0" spc="20" dirty="0">
                <a:latin typeface="黑体"/>
                <a:cs typeface="黑体"/>
              </a:rPr>
              <a:t>操</a:t>
            </a:r>
            <a:r>
              <a:rPr sz="1800" b="0" spc="10" dirty="0">
                <a:latin typeface="黑体"/>
                <a:cs typeface="黑体"/>
              </a:rPr>
              <a:t>作</a:t>
            </a:r>
            <a:r>
              <a:rPr sz="1800" b="0" spc="20" dirty="0">
                <a:latin typeface="黑体"/>
                <a:cs typeface="黑体"/>
              </a:rPr>
              <a:t>运算</a:t>
            </a:r>
            <a:r>
              <a:rPr sz="1800" b="0" dirty="0">
                <a:latin typeface="黑体"/>
                <a:cs typeface="黑体"/>
              </a:rPr>
              <a:t>量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4994" y="1098861"/>
            <a:ext cx="3845560" cy="190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sz="1200" dirty="0">
                <a:latin typeface="黑体"/>
                <a:cs typeface="黑体"/>
              </a:rPr>
              <a:t>用尺寸为</a:t>
            </a:r>
            <a:r>
              <a:rPr sz="1200" spc="-280" dirty="0">
                <a:latin typeface="黑体"/>
                <a:cs typeface="黑体"/>
              </a:rPr>
              <a:t> </a:t>
            </a:r>
            <a:r>
              <a:rPr sz="1200" dirty="0">
                <a:latin typeface="Cambria Math"/>
                <a:cs typeface="Cambria Math"/>
              </a:rPr>
              <a:t>𝑚 ×</a:t>
            </a:r>
            <a:r>
              <a:rPr sz="1200" spc="-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𝑚</a:t>
            </a:r>
            <a:r>
              <a:rPr sz="1200" spc="70" dirty="0">
                <a:latin typeface="Cambria Math"/>
                <a:cs typeface="Cambria Math"/>
              </a:rPr>
              <a:t> </a:t>
            </a:r>
            <a:r>
              <a:rPr sz="1200" dirty="0">
                <a:latin typeface="黑体"/>
                <a:cs typeface="黑体"/>
              </a:rPr>
              <a:t>的卷积核卷积一个尺寸为</a:t>
            </a:r>
            <a:r>
              <a:rPr sz="1200" spc="-275" dirty="0">
                <a:latin typeface="黑体"/>
                <a:cs typeface="黑体"/>
              </a:rPr>
              <a:t> </a:t>
            </a:r>
            <a:r>
              <a:rPr sz="1200" dirty="0">
                <a:latin typeface="Cambria Math"/>
                <a:cs typeface="Cambria Math"/>
              </a:rPr>
              <a:t>𝑛</a:t>
            </a:r>
            <a:r>
              <a:rPr sz="1200" spc="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×</a:t>
            </a:r>
            <a:r>
              <a:rPr sz="1200" spc="-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𝑛</a:t>
            </a:r>
            <a:r>
              <a:rPr sz="1200" spc="65" dirty="0">
                <a:latin typeface="Cambria Math"/>
                <a:cs typeface="Cambria Math"/>
              </a:rPr>
              <a:t> </a:t>
            </a:r>
            <a:r>
              <a:rPr sz="1200" dirty="0">
                <a:latin typeface="黑体"/>
                <a:cs typeface="黑体"/>
              </a:rPr>
              <a:t>的图</a:t>
            </a:r>
            <a:endParaRPr sz="1200">
              <a:latin typeface="黑体"/>
              <a:cs typeface="黑体"/>
            </a:endParaRPr>
          </a:p>
          <a:p>
            <a:pPr marL="279400" marR="1796414">
              <a:lnSpc>
                <a:spcPts val="317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像，其计算复杂度是多</a:t>
            </a:r>
            <a:r>
              <a:rPr sz="1200" spc="5" dirty="0">
                <a:latin typeface="黑体"/>
                <a:cs typeface="黑体"/>
              </a:rPr>
              <a:t>少</a:t>
            </a:r>
            <a:r>
              <a:rPr sz="1200" spc="-5" dirty="0">
                <a:latin typeface="Arial"/>
                <a:cs typeface="Arial"/>
              </a:rPr>
              <a:t>? 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答</a:t>
            </a:r>
            <a:r>
              <a:rPr sz="1200" spc="5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r>
              <a:rPr sz="1200" spc="5" dirty="0">
                <a:solidFill>
                  <a:srgbClr val="FF0000"/>
                </a:solidFill>
                <a:latin typeface="Cambria Math"/>
                <a:cs typeface="Cambria Math"/>
              </a:rPr>
              <a:t>𝑂(𝑛</a:t>
            </a:r>
            <a:r>
              <a:rPr sz="1200" spc="7" baseline="2430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200" spc="-7" baseline="24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mbria Math"/>
                <a:cs typeface="Cambria Math"/>
              </a:rPr>
              <a:t>𝑚</a:t>
            </a:r>
            <a:r>
              <a:rPr sz="1200" spc="-7" baseline="2430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200" spc="-5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  <a:p>
            <a:pPr marL="241300" marR="2419985" indent="-228600">
              <a:lnSpc>
                <a:spcPct val="200000"/>
              </a:lnSpc>
              <a:spcBef>
                <a:spcPts val="1120"/>
              </a:spcBef>
              <a:buFont typeface="Arial"/>
              <a:buAutoNum type="arabicPeriod" startAt="2"/>
              <a:tabLst>
                <a:tab pos="266065" algn="l"/>
              </a:tabLst>
            </a:pPr>
            <a:r>
              <a:rPr sz="1200" dirty="0">
                <a:latin typeface="黑体"/>
                <a:cs typeface="黑体"/>
              </a:rPr>
              <a:t>如果核可分离呢</a:t>
            </a:r>
            <a:r>
              <a:rPr sz="1200" spc="-5" dirty="0">
                <a:latin typeface="Arial"/>
                <a:cs typeface="Arial"/>
              </a:rPr>
              <a:t>? 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答：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O(n</a:t>
            </a:r>
            <a:r>
              <a:rPr sz="1200" spc="-7" baseline="2430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200" spc="-30" baseline="24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FF0000"/>
                </a:solidFill>
                <a:latin typeface="Arial"/>
                <a:cs typeface="Arial"/>
              </a:rPr>
              <a:t>m)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6" y="423316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小结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3093" y="1193266"/>
            <a:ext cx="384302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在这一节中，我们学习了一种新的卷积核，高斯卷积</a:t>
            </a:r>
            <a:endParaRPr sz="1200">
              <a:latin typeface="黑体"/>
              <a:cs typeface="黑体"/>
            </a:endParaRPr>
          </a:p>
          <a:p>
            <a:pPr marL="12700" marR="12065" algn="just">
              <a:lnSpc>
                <a:spcPct val="200000"/>
              </a:lnSpc>
              <a:spcBef>
                <a:spcPts val="5"/>
              </a:spcBef>
            </a:pPr>
            <a:r>
              <a:rPr sz="1200" dirty="0">
                <a:latin typeface="黑体"/>
                <a:cs typeface="黑体"/>
              </a:rPr>
              <a:t>核，它能够有效地抑制噪声、实现图像平滑。同时，我们 也介绍了高斯卷积核的堆叠以及分解，它们都可以用于减 少卷积计算的复杂度。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4740" y="1304347"/>
            <a:ext cx="169608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图像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去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噪与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卷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积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高斯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卷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积核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图像噪声与中值滤波器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820" y="282378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补</a:t>
            </a:r>
            <a:r>
              <a:rPr sz="1800" spc="-5" dirty="0">
                <a:latin typeface="黑体"/>
                <a:cs typeface="黑体"/>
              </a:rPr>
              <a:t>充</a:t>
            </a:r>
            <a:r>
              <a:rPr sz="1800" dirty="0">
                <a:latin typeface="黑体"/>
                <a:cs typeface="黑体"/>
              </a:rPr>
              <a:t>1：卷积与图像去噪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6" y="423316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噪声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3619" y="836602"/>
            <a:ext cx="1886812" cy="25347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1771" y="1949094"/>
            <a:ext cx="10795" cy="170815"/>
          </a:xfrm>
          <a:custGeom>
            <a:avLst/>
            <a:gdLst/>
            <a:ahLst/>
            <a:cxnLst/>
            <a:rect l="l" t="t" r="r" b="b"/>
            <a:pathLst>
              <a:path w="10794" h="170814">
                <a:moveTo>
                  <a:pt x="0" y="170687"/>
                </a:moveTo>
                <a:lnTo>
                  <a:pt x="10667" y="170687"/>
                </a:lnTo>
                <a:lnTo>
                  <a:pt x="10667" y="0"/>
                </a:lnTo>
                <a:lnTo>
                  <a:pt x="0" y="0"/>
                </a:lnTo>
                <a:lnTo>
                  <a:pt x="0" y="1706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5539" y="1949094"/>
            <a:ext cx="858519" cy="170815"/>
          </a:xfrm>
          <a:custGeom>
            <a:avLst/>
            <a:gdLst/>
            <a:ahLst/>
            <a:cxnLst/>
            <a:rect l="l" t="t" r="r" b="b"/>
            <a:pathLst>
              <a:path w="858519" h="170814">
                <a:moveTo>
                  <a:pt x="0" y="170687"/>
                </a:moveTo>
                <a:lnTo>
                  <a:pt x="858012" y="170687"/>
                </a:lnTo>
                <a:lnTo>
                  <a:pt x="858012" y="0"/>
                </a:lnTo>
                <a:lnTo>
                  <a:pt x="0" y="0"/>
                </a:lnTo>
                <a:lnTo>
                  <a:pt x="0" y="1706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18305" y="1964080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95367" y="1991139"/>
            <a:ext cx="40703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5"/>
              </a:lnSpc>
            </a:pPr>
            <a:r>
              <a:rPr sz="800" dirty="0">
                <a:latin typeface="黑体"/>
                <a:cs typeface="黑体"/>
              </a:rPr>
              <a:t>椒盐</a:t>
            </a:r>
            <a:r>
              <a:rPr sz="800" spc="-15" dirty="0">
                <a:latin typeface="黑体"/>
                <a:cs typeface="黑体"/>
              </a:rPr>
              <a:t>噪</a:t>
            </a:r>
            <a:r>
              <a:rPr sz="800" dirty="0">
                <a:latin typeface="黑体"/>
                <a:cs typeface="黑体"/>
              </a:rPr>
              <a:t>声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70399" y="3279546"/>
            <a:ext cx="58419" cy="169545"/>
          </a:xfrm>
          <a:custGeom>
            <a:avLst/>
            <a:gdLst/>
            <a:ahLst/>
            <a:cxnLst/>
            <a:rect l="l" t="t" r="r" b="b"/>
            <a:pathLst>
              <a:path w="58419" h="169545">
                <a:moveTo>
                  <a:pt x="0" y="169163"/>
                </a:moveTo>
                <a:lnTo>
                  <a:pt x="57912" y="169163"/>
                </a:lnTo>
                <a:lnTo>
                  <a:pt x="57912" y="0"/>
                </a:lnTo>
                <a:lnTo>
                  <a:pt x="0" y="0"/>
                </a:lnTo>
                <a:lnTo>
                  <a:pt x="0" y="1691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39768" y="3321337"/>
            <a:ext cx="4089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5"/>
              </a:lnSpc>
            </a:pPr>
            <a:r>
              <a:rPr sz="800" dirty="0">
                <a:latin typeface="黑体"/>
                <a:cs typeface="黑体"/>
              </a:rPr>
              <a:t>脉冲噪声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6949" y="3321337"/>
            <a:ext cx="4089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5"/>
              </a:lnSpc>
            </a:pPr>
            <a:r>
              <a:rPr sz="800" dirty="0">
                <a:latin typeface="黑体"/>
                <a:cs typeface="黑体"/>
              </a:rPr>
              <a:t>高斯噪声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6228" y="1058137"/>
            <a:ext cx="1828164" cy="5334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r>
              <a:rPr sz="1000" spc="-5" dirty="0">
                <a:latin typeface="微软雅黑"/>
                <a:cs typeface="微软雅黑"/>
              </a:rPr>
              <a:t>•</a:t>
            </a:r>
            <a:r>
              <a:rPr sz="1000" spc="5" dirty="0">
                <a:latin typeface="微软雅黑"/>
                <a:cs typeface="微软雅黑"/>
              </a:rPr>
              <a:t> </a:t>
            </a:r>
            <a:r>
              <a:rPr sz="1000" b="1" spc="-5" dirty="0">
                <a:latin typeface="黑体"/>
                <a:cs typeface="黑体"/>
              </a:rPr>
              <a:t>椒盐噪声</a:t>
            </a:r>
            <a:r>
              <a:rPr sz="1000" spc="-5" dirty="0">
                <a:latin typeface="黑体"/>
                <a:cs typeface="黑体"/>
              </a:rPr>
              <a:t>:</a:t>
            </a:r>
            <a:r>
              <a:rPr sz="1000" spc="-2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黑</a:t>
            </a:r>
            <a:r>
              <a:rPr sz="1000" spc="5" dirty="0">
                <a:latin typeface="黑体"/>
                <a:cs typeface="黑体"/>
              </a:rPr>
              <a:t>色</a:t>
            </a:r>
            <a:r>
              <a:rPr sz="1000" spc="-5" dirty="0">
                <a:latin typeface="黑体"/>
                <a:cs typeface="黑体"/>
              </a:rPr>
              <a:t>像素</a:t>
            </a:r>
            <a:r>
              <a:rPr sz="1000" spc="5" dirty="0">
                <a:latin typeface="黑体"/>
                <a:cs typeface="黑体"/>
              </a:rPr>
              <a:t>和</a:t>
            </a:r>
            <a:r>
              <a:rPr sz="1000" spc="-5" dirty="0">
                <a:latin typeface="黑体"/>
                <a:cs typeface="黑体"/>
              </a:rPr>
              <a:t>白色像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172085">
              <a:lnSpc>
                <a:spcPts val="1140"/>
              </a:lnSpc>
            </a:pPr>
            <a:r>
              <a:rPr sz="1000" spc="5" dirty="0">
                <a:latin typeface="黑体"/>
                <a:cs typeface="黑体"/>
              </a:rPr>
              <a:t>素</a:t>
            </a:r>
            <a:r>
              <a:rPr sz="1000" spc="-5" dirty="0">
                <a:latin typeface="黑体"/>
                <a:cs typeface="黑体"/>
              </a:rPr>
              <a:t>随机</a:t>
            </a:r>
            <a:r>
              <a:rPr sz="1000" spc="5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现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96228" y="1851193"/>
            <a:ext cx="1827530" cy="1670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微软雅黑"/>
                <a:cs typeface="微软雅黑"/>
              </a:rPr>
              <a:t>•</a:t>
            </a:r>
            <a:r>
              <a:rPr sz="1000" spc="280" dirty="0">
                <a:latin typeface="微软雅黑"/>
                <a:cs typeface="微软雅黑"/>
              </a:rPr>
              <a:t> </a:t>
            </a:r>
            <a:r>
              <a:rPr sz="1000" b="1" dirty="0">
                <a:latin typeface="黑体"/>
                <a:cs typeface="黑体"/>
              </a:rPr>
              <a:t>脉冲噪声</a:t>
            </a:r>
            <a:r>
              <a:rPr sz="1000" spc="-5" dirty="0">
                <a:latin typeface="黑体"/>
                <a:cs typeface="黑体"/>
              </a:rPr>
              <a:t>:</a:t>
            </a:r>
            <a:r>
              <a:rPr sz="1000" spc="-3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白</a:t>
            </a:r>
            <a:r>
              <a:rPr sz="1000" spc="10" dirty="0">
                <a:latin typeface="黑体"/>
                <a:cs typeface="黑体"/>
              </a:rPr>
              <a:t>色</a:t>
            </a:r>
            <a:r>
              <a:rPr sz="1000" spc="-5" dirty="0">
                <a:latin typeface="黑体"/>
                <a:cs typeface="黑体"/>
              </a:rPr>
              <a:t>像素</a:t>
            </a:r>
            <a:r>
              <a:rPr sz="1000" spc="5" dirty="0">
                <a:latin typeface="黑体"/>
                <a:cs typeface="黑体"/>
              </a:rPr>
              <a:t>随</a:t>
            </a:r>
            <a:r>
              <a:rPr sz="1000" spc="-5" dirty="0">
                <a:latin typeface="黑体"/>
                <a:cs typeface="黑体"/>
              </a:rPr>
              <a:t>机出现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6228" y="2262673"/>
            <a:ext cx="1827530" cy="5327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微软雅黑"/>
                <a:cs typeface="微软雅黑"/>
              </a:rPr>
              <a:t>•</a:t>
            </a:r>
            <a:r>
              <a:rPr sz="1000" spc="280" dirty="0">
                <a:latin typeface="微软雅黑"/>
                <a:cs typeface="微软雅黑"/>
              </a:rPr>
              <a:t> </a:t>
            </a:r>
            <a:r>
              <a:rPr sz="1000" b="1" dirty="0">
                <a:latin typeface="黑体"/>
                <a:cs typeface="黑体"/>
              </a:rPr>
              <a:t>高斯噪声</a:t>
            </a:r>
            <a:r>
              <a:rPr sz="1000" spc="-5" dirty="0">
                <a:latin typeface="黑体"/>
                <a:cs typeface="黑体"/>
              </a:rPr>
              <a:t>:</a:t>
            </a:r>
            <a:r>
              <a:rPr sz="1000" spc="-3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噪</a:t>
            </a:r>
            <a:r>
              <a:rPr sz="1000" spc="10" dirty="0">
                <a:latin typeface="黑体"/>
                <a:cs typeface="黑体"/>
              </a:rPr>
              <a:t>声</a:t>
            </a:r>
            <a:r>
              <a:rPr sz="1000" spc="-5" dirty="0">
                <a:latin typeface="黑体"/>
                <a:cs typeface="黑体"/>
              </a:rPr>
              <a:t>强度</a:t>
            </a:r>
            <a:r>
              <a:rPr sz="1000" spc="5" dirty="0">
                <a:latin typeface="黑体"/>
                <a:cs typeface="黑体"/>
              </a:rPr>
              <a:t>变</a:t>
            </a:r>
            <a:r>
              <a:rPr sz="1000" spc="-5" dirty="0">
                <a:latin typeface="黑体"/>
                <a:cs typeface="黑体"/>
              </a:rPr>
              <a:t>化服从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172085">
              <a:lnSpc>
                <a:spcPts val="1140"/>
              </a:lnSpc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斯分</a:t>
            </a:r>
            <a:r>
              <a:rPr sz="1000" spc="5" dirty="0">
                <a:latin typeface="黑体"/>
                <a:cs typeface="黑体"/>
              </a:rPr>
              <a:t>布</a:t>
            </a:r>
            <a:r>
              <a:rPr sz="1000" spc="-5" dirty="0">
                <a:latin typeface="黑体"/>
                <a:cs typeface="黑体"/>
              </a:rPr>
              <a:t>（正</a:t>
            </a:r>
            <a:r>
              <a:rPr sz="1000" spc="5" dirty="0">
                <a:latin typeface="黑体"/>
                <a:cs typeface="黑体"/>
              </a:rPr>
              <a:t>态</a:t>
            </a:r>
            <a:r>
              <a:rPr sz="1000" spc="-5" dirty="0">
                <a:latin typeface="黑体"/>
                <a:cs typeface="黑体"/>
              </a:rPr>
              <a:t>分布）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43552" y="764946"/>
            <a:ext cx="998219" cy="1363980"/>
          </a:xfrm>
          <a:custGeom>
            <a:avLst/>
            <a:gdLst/>
            <a:ahLst/>
            <a:cxnLst/>
            <a:rect l="l" t="t" r="r" b="b"/>
            <a:pathLst>
              <a:path w="998219" h="1363980">
                <a:moveTo>
                  <a:pt x="0" y="1363979"/>
                </a:moveTo>
                <a:lnTo>
                  <a:pt x="998220" y="1363979"/>
                </a:lnTo>
                <a:lnTo>
                  <a:pt x="998220" y="0"/>
                </a:lnTo>
                <a:lnTo>
                  <a:pt x="0" y="0"/>
                </a:lnTo>
                <a:lnTo>
                  <a:pt x="0" y="1363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32855" y="778662"/>
            <a:ext cx="1965960" cy="1004569"/>
          </a:xfrm>
          <a:custGeom>
            <a:avLst/>
            <a:gdLst/>
            <a:ahLst/>
            <a:cxnLst/>
            <a:rect l="l" t="t" r="r" b="b"/>
            <a:pathLst>
              <a:path w="1965960" h="1004569">
                <a:moveTo>
                  <a:pt x="0" y="1004315"/>
                </a:moveTo>
                <a:lnTo>
                  <a:pt x="1965960" y="1004315"/>
                </a:lnTo>
                <a:lnTo>
                  <a:pt x="1965960" y="0"/>
                </a:lnTo>
                <a:lnTo>
                  <a:pt x="0" y="0"/>
                </a:lnTo>
                <a:lnTo>
                  <a:pt x="0" y="100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32855" y="1782978"/>
            <a:ext cx="1965960" cy="457200"/>
          </a:xfrm>
          <a:custGeom>
            <a:avLst/>
            <a:gdLst/>
            <a:ahLst/>
            <a:cxnLst/>
            <a:rect l="l" t="t" r="r" b="b"/>
            <a:pathLst>
              <a:path w="1965960" h="457200">
                <a:moveTo>
                  <a:pt x="0" y="457200"/>
                </a:moveTo>
                <a:lnTo>
                  <a:pt x="1965960" y="457200"/>
                </a:lnTo>
                <a:lnTo>
                  <a:pt x="19659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73703" y="2128926"/>
            <a:ext cx="996950" cy="1320165"/>
          </a:xfrm>
          <a:custGeom>
            <a:avLst/>
            <a:gdLst/>
            <a:ahLst/>
            <a:cxnLst/>
            <a:rect l="l" t="t" r="r" b="b"/>
            <a:pathLst>
              <a:path w="996950" h="1320164">
                <a:moveTo>
                  <a:pt x="0" y="1319783"/>
                </a:moveTo>
                <a:lnTo>
                  <a:pt x="996696" y="1319783"/>
                </a:lnTo>
                <a:lnTo>
                  <a:pt x="996696" y="0"/>
                </a:lnTo>
                <a:lnTo>
                  <a:pt x="0" y="0"/>
                </a:lnTo>
                <a:lnTo>
                  <a:pt x="0" y="1319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28311" y="2127402"/>
            <a:ext cx="996950" cy="1320165"/>
          </a:xfrm>
          <a:custGeom>
            <a:avLst/>
            <a:gdLst/>
            <a:ahLst/>
            <a:cxnLst/>
            <a:rect l="l" t="t" r="r" b="b"/>
            <a:pathLst>
              <a:path w="996950" h="1320164">
                <a:moveTo>
                  <a:pt x="0" y="1319783"/>
                </a:moveTo>
                <a:lnTo>
                  <a:pt x="996696" y="1319783"/>
                </a:lnTo>
                <a:lnTo>
                  <a:pt x="996696" y="0"/>
                </a:lnTo>
                <a:lnTo>
                  <a:pt x="0" y="0"/>
                </a:lnTo>
                <a:lnTo>
                  <a:pt x="0" y="1319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8952" y="2240178"/>
            <a:ext cx="1967864" cy="599440"/>
          </a:xfrm>
          <a:custGeom>
            <a:avLst/>
            <a:gdLst/>
            <a:ahLst/>
            <a:cxnLst/>
            <a:rect l="l" t="t" r="r" b="b"/>
            <a:pathLst>
              <a:path w="1967864" h="599439">
                <a:moveTo>
                  <a:pt x="0" y="598932"/>
                </a:moveTo>
                <a:lnTo>
                  <a:pt x="1967483" y="598932"/>
                </a:lnTo>
                <a:lnTo>
                  <a:pt x="1967483" y="0"/>
                </a:lnTo>
                <a:lnTo>
                  <a:pt x="0" y="0"/>
                </a:lnTo>
                <a:lnTo>
                  <a:pt x="0" y="598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高斯</a:t>
            </a:r>
            <a:r>
              <a:rPr sz="1800" b="0" spc="20" dirty="0">
                <a:latin typeface="黑体"/>
                <a:cs typeface="黑体"/>
              </a:rPr>
              <a:t>噪</a:t>
            </a:r>
            <a:r>
              <a:rPr sz="1800" b="0" dirty="0">
                <a:latin typeface="黑体"/>
                <a:cs typeface="黑体"/>
              </a:rPr>
              <a:t>声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92320" y="840054"/>
            <a:ext cx="1090946" cy="1092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99912" y="840042"/>
            <a:ext cx="1090884" cy="10877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2980" y="3173152"/>
            <a:ext cx="330835" cy="141605"/>
          </a:xfrm>
          <a:custGeom>
            <a:avLst/>
            <a:gdLst/>
            <a:ahLst/>
            <a:cxnLst/>
            <a:rect l="l" t="t" r="r" b="b"/>
            <a:pathLst>
              <a:path w="330834" h="141604">
                <a:moveTo>
                  <a:pt x="285495" y="0"/>
                </a:moveTo>
                <a:lnTo>
                  <a:pt x="283463" y="5715"/>
                </a:lnTo>
                <a:lnTo>
                  <a:pt x="291655" y="9261"/>
                </a:lnTo>
                <a:lnTo>
                  <a:pt x="298703" y="14176"/>
                </a:lnTo>
                <a:lnTo>
                  <a:pt x="317105" y="57802"/>
                </a:lnTo>
                <a:lnTo>
                  <a:pt x="317626" y="69850"/>
                </a:lnTo>
                <a:lnTo>
                  <a:pt x="317103" y="82307"/>
                </a:lnTo>
                <a:lnTo>
                  <a:pt x="304506" y="120540"/>
                </a:lnTo>
                <a:lnTo>
                  <a:pt x="283718" y="135382"/>
                </a:lnTo>
                <a:lnTo>
                  <a:pt x="285495" y="141097"/>
                </a:lnTo>
                <a:lnTo>
                  <a:pt x="318896" y="116459"/>
                </a:lnTo>
                <a:lnTo>
                  <a:pt x="330581" y="70612"/>
                </a:lnTo>
                <a:lnTo>
                  <a:pt x="329844" y="57661"/>
                </a:lnTo>
                <a:lnTo>
                  <a:pt x="312445" y="16073"/>
                </a:lnTo>
                <a:lnTo>
                  <a:pt x="295733" y="3690"/>
                </a:lnTo>
                <a:lnTo>
                  <a:pt x="285495" y="0"/>
                </a:lnTo>
                <a:close/>
              </a:path>
              <a:path w="330834" h="141604">
                <a:moveTo>
                  <a:pt x="44957" y="0"/>
                </a:moveTo>
                <a:lnTo>
                  <a:pt x="11556" y="24765"/>
                </a:lnTo>
                <a:lnTo>
                  <a:pt x="0" y="70612"/>
                </a:lnTo>
                <a:lnTo>
                  <a:pt x="716" y="83562"/>
                </a:lnTo>
                <a:lnTo>
                  <a:pt x="18008" y="125077"/>
                </a:lnTo>
                <a:lnTo>
                  <a:pt x="44957" y="141097"/>
                </a:lnTo>
                <a:lnTo>
                  <a:pt x="46735" y="135382"/>
                </a:lnTo>
                <a:lnTo>
                  <a:pt x="38711" y="131831"/>
                </a:lnTo>
                <a:lnTo>
                  <a:pt x="31781" y="126888"/>
                </a:lnTo>
                <a:lnTo>
                  <a:pt x="13350" y="82307"/>
                </a:lnTo>
                <a:lnTo>
                  <a:pt x="12826" y="69850"/>
                </a:lnTo>
                <a:lnTo>
                  <a:pt x="13350" y="57802"/>
                </a:lnTo>
                <a:lnTo>
                  <a:pt x="25969" y="20448"/>
                </a:lnTo>
                <a:lnTo>
                  <a:pt x="46989" y="5715"/>
                </a:lnTo>
                <a:lnTo>
                  <a:pt x="4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66107" y="3173152"/>
            <a:ext cx="330835" cy="141605"/>
          </a:xfrm>
          <a:custGeom>
            <a:avLst/>
            <a:gdLst/>
            <a:ahLst/>
            <a:cxnLst/>
            <a:rect l="l" t="t" r="r" b="b"/>
            <a:pathLst>
              <a:path w="330835" h="141604">
                <a:moveTo>
                  <a:pt x="285496" y="0"/>
                </a:moveTo>
                <a:lnTo>
                  <a:pt x="283464" y="5715"/>
                </a:lnTo>
                <a:lnTo>
                  <a:pt x="291655" y="9261"/>
                </a:lnTo>
                <a:lnTo>
                  <a:pt x="298704" y="14176"/>
                </a:lnTo>
                <a:lnTo>
                  <a:pt x="317105" y="57802"/>
                </a:lnTo>
                <a:lnTo>
                  <a:pt x="317627" y="69850"/>
                </a:lnTo>
                <a:lnTo>
                  <a:pt x="317103" y="82307"/>
                </a:lnTo>
                <a:lnTo>
                  <a:pt x="304506" y="120540"/>
                </a:lnTo>
                <a:lnTo>
                  <a:pt x="283718" y="135382"/>
                </a:lnTo>
                <a:lnTo>
                  <a:pt x="285496" y="141097"/>
                </a:lnTo>
                <a:lnTo>
                  <a:pt x="318897" y="116459"/>
                </a:lnTo>
                <a:lnTo>
                  <a:pt x="330581" y="70612"/>
                </a:lnTo>
                <a:lnTo>
                  <a:pt x="329844" y="57661"/>
                </a:lnTo>
                <a:lnTo>
                  <a:pt x="312445" y="16073"/>
                </a:lnTo>
                <a:lnTo>
                  <a:pt x="295733" y="3690"/>
                </a:lnTo>
                <a:lnTo>
                  <a:pt x="285496" y="0"/>
                </a:lnTo>
                <a:close/>
              </a:path>
              <a:path w="330835" h="141604">
                <a:moveTo>
                  <a:pt x="44958" y="0"/>
                </a:moveTo>
                <a:lnTo>
                  <a:pt x="11556" y="24765"/>
                </a:lnTo>
                <a:lnTo>
                  <a:pt x="0" y="70612"/>
                </a:lnTo>
                <a:lnTo>
                  <a:pt x="716" y="83562"/>
                </a:lnTo>
                <a:lnTo>
                  <a:pt x="18008" y="125077"/>
                </a:lnTo>
                <a:lnTo>
                  <a:pt x="44958" y="141097"/>
                </a:lnTo>
                <a:lnTo>
                  <a:pt x="46736" y="135382"/>
                </a:lnTo>
                <a:lnTo>
                  <a:pt x="38711" y="131831"/>
                </a:lnTo>
                <a:lnTo>
                  <a:pt x="31781" y="126888"/>
                </a:lnTo>
                <a:lnTo>
                  <a:pt x="13350" y="82307"/>
                </a:lnTo>
                <a:lnTo>
                  <a:pt x="12827" y="69850"/>
                </a:lnTo>
                <a:lnTo>
                  <a:pt x="13350" y="57802"/>
                </a:lnTo>
                <a:lnTo>
                  <a:pt x="25969" y="20448"/>
                </a:lnTo>
                <a:lnTo>
                  <a:pt x="46990" y="5715"/>
                </a:lnTo>
                <a:lnTo>
                  <a:pt x="44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8934" y="2940548"/>
            <a:ext cx="1795145" cy="3905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92455">
              <a:lnSpc>
                <a:spcPct val="100000"/>
              </a:lnSpc>
              <a:spcBef>
                <a:spcPts val="200"/>
              </a:spcBef>
              <a:tabLst>
                <a:tab pos="1274445" algn="l"/>
              </a:tabLst>
            </a:pPr>
            <a:r>
              <a:rPr sz="1000" spc="5" dirty="0">
                <a:latin typeface="黑体"/>
                <a:cs typeface="黑体"/>
              </a:rPr>
              <a:t>理</a:t>
            </a:r>
            <a:r>
              <a:rPr sz="1000" spc="-5" dirty="0">
                <a:latin typeface="黑体"/>
                <a:cs typeface="黑体"/>
              </a:rPr>
              <a:t>想图像</a:t>
            </a:r>
            <a:r>
              <a:rPr sz="1000" dirty="0">
                <a:latin typeface="黑体"/>
                <a:cs typeface="黑体"/>
              </a:rPr>
              <a:t>	</a:t>
            </a:r>
            <a:r>
              <a:rPr sz="1000" spc="5" dirty="0">
                <a:latin typeface="黑体"/>
                <a:cs typeface="黑体"/>
              </a:rPr>
              <a:t>随</a:t>
            </a:r>
            <a:r>
              <a:rPr sz="1000" spc="-5" dirty="0">
                <a:latin typeface="黑体"/>
                <a:cs typeface="黑体"/>
              </a:rPr>
              <a:t>机噪声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-505" dirty="0">
                <a:latin typeface="Cambria Math"/>
                <a:cs typeface="Cambria Math"/>
              </a:rPr>
              <a:t>𝑓</a:t>
            </a:r>
            <a:r>
              <a:rPr sz="1800" spc="-757" baseline="11574" dirty="0">
                <a:latin typeface="Cambria Math"/>
                <a:cs typeface="Cambria Math"/>
              </a:rPr>
              <a:t>መ</a:t>
            </a:r>
            <a:r>
              <a:rPr sz="1800" spc="367" baseline="11574" dirty="0">
                <a:latin typeface="Cambria Math"/>
                <a:cs typeface="Cambria Math"/>
              </a:rPr>
              <a:t> </a:t>
            </a:r>
            <a:r>
              <a:rPr sz="1200" spc="15" dirty="0">
                <a:latin typeface="Cambria Math"/>
                <a:cs typeface="Cambria Math"/>
              </a:rPr>
              <a:t>𝑥, </a:t>
            </a:r>
            <a:r>
              <a:rPr sz="1200">
                <a:latin typeface="Cambria Math"/>
                <a:cs typeface="Cambria Math"/>
              </a:rPr>
              <a:t>𝑦 </a:t>
            </a:r>
            <a:r>
              <a:rPr sz="1200" smtClean="0">
                <a:latin typeface="Cambria Math"/>
                <a:cs typeface="Cambria Math"/>
              </a:rPr>
              <a:t>=</a:t>
            </a:r>
            <a:r>
              <a:rPr lang="en-US" sz="1200" smtClean="0">
                <a:latin typeface="Cambria Math"/>
                <a:cs typeface="Cambria Math"/>
              </a:rPr>
              <a:t>  </a:t>
            </a:r>
            <a:r>
              <a:rPr sz="1200" smtClean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𝑓 </a:t>
            </a:r>
            <a:r>
              <a:rPr sz="1200" spc="15" dirty="0">
                <a:latin typeface="Cambria Math"/>
                <a:cs typeface="Cambria Math"/>
              </a:rPr>
              <a:t>𝑥, </a:t>
            </a:r>
            <a:r>
              <a:rPr sz="1200" dirty="0">
                <a:latin typeface="Cambria Math"/>
                <a:cs typeface="Cambria Math"/>
              </a:rPr>
              <a:t>𝑦 + </a:t>
            </a:r>
            <a:r>
              <a:rPr sz="1200" spc="15" dirty="0">
                <a:latin typeface="Cambria Math"/>
                <a:cs typeface="Cambria Math"/>
              </a:rPr>
              <a:t>𝜂(𝑥,</a:t>
            </a:r>
            <a:r>
              <a:rPr sz="1200" spc="-190" dirty="0">
                <a:latin typeface="Cambria Math"/>
                <a:cs typeface="Cambria Math"/>
              </a:rPr>
              <a:t> </a:t>
            </a:r>
            <a:r>
              <a:rPr sz="1200" spc="5" dirty="0">
                <a:latin typeface="Cambria Math"/>
                <a:cs typeface="Cambria Math"/>
              </a:rPr>
              <a:t>𝑦)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95823" y="2944578"/>
            <a:ext cx="967105" cy="3663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240"/>
              </a:spcBef>
            </a:pPr>
            <a:r>
              <a:rPr sz="1000" spc="5" dirty="0">
                <a:latin typeface="黑体"/>
                <a:cs typeface="黑体"/>
              </a:rPr>
              <a:t>噪</a:t>
            </a:r>
            <a:r>
              <a:rPr sz="1000" spc="-5" dirty="0">
                <a:latin typeface="黑体"/>
                <a:cs typeface="黑体"/>
              </a:rPr>
              <a:t>声分布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000" spc="5" dirty="0">
                <a:latin typeface="Cambria Math"/>
                <a:cs typeface="Cambria Math"/>
              </a:rPr>
              <a:t>𝜂(𝑥, 𝑦)~𝒩(𝜇,</a:t>
            </a:r>
            <a:r>
              <a:rPr sz="1000" spc="-140" dirty="0">
                <a:latin typeface="Cambria Math"/>
                <a:cs typeface="Cambria Math"/>
              </a:rPr>
              <a:t> </a:t>
            </a:r>
            <a:r>
              <a:rPr sz="1000" dirty="0">
                <a:latin typeface="Cambria Math"/>
                <a:cs typeface="Cambria Math"/>
              </a:rPr>
              <a:t>𝜎))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7385" y="3132512"/>
            <a:ext cx="1174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通</a:t>
            </a:r>
            <a:r>
              <a:rPr sz="1000" spc="-5" dirty="0">
                <a:latin typeface="黑体"/>
                <a:cs typeface="黑体"/>
              </a:rPr>
              <a:t>常</a:t>
            </a:r>
            <a:r>
              <a:rPr sz="1000" spc="-45" dirty="0">
                <a:latin typeface="黑体"/>
                <a:cs typeface="黑体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𝜇</a:t>
            </a:r>
            <a:r>
              <a:rPr sz="1000" spc="75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=</a:t>
            </a:r>
            <a:r>
              <a:rPr sz="1000" spc="35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0</a:t>
            </a:r>
            <a:r>
              <a:rPr sz="1000" spc="5" dirty="0">
                <a:latin typeface="黑体"/>
                <a:cs typeface="黑体"/>
              </a:rPr>
              <a:t>,</a:t>
            </a:r>
            <a:r>
              <a:rPr sz="1000" spc="5" dirty="0">
                <a:latin typeface="Cambria Math"/>
                <a:cs typeface="Cambria Math"/>
              </a:rPr>
              <a:t>𝜎</a:t>
            </a:r>
            <a:r>
              <a:rPr sz="1000" spc="5" dirty="0">
                <a:latin typeface="黑体"/>
                <a:cs typeface="黑体"/>
              </a:rPr>
              <a:t>很</a:t>
            </a:r>
            <a:r>
              <a:rPr sz="1000" spc="-5" dirty="0">
                <a:latin typeface="黑体"/>
                <a:cs typeface="黑体"/>
              </a:rPr>
              <a:t>小。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93082" y="1310189"/>
            <a:ext cx="1092835" cy="0"/>
          </a:xfrm>
          <a:custGeom>
            <a:avLst/>
            <a:gdLst/>
            <a:ahLst/>
            <a:cxnLst/>
            <a:rect l="l" t="t" r="r" b="b"/>
            <a:pathLst>
              <a:path w="1092835">
                <a:moveTo>
                  <a:pt x="0" y="0"/>
                </a:moveTo>
                <a:lnTo>
                  <a:pt x="1092454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00674" y="1310189"/>
            <a:ext cx="1092835" cy="0"/>
          </a:xfrm>
          <a:custGeom>
            <a:avLst/>
            <a:gdLst/>
            <a:ahLst/>
            <a:cxnLst/>
            <a:rect l="l" t="t" r="r" b="b"/>
            <a:pathLst>
              <a:path w="1092835">
                <a:moveTo>
                  <a:pt x="0" y="0"/>
                </a:moveTo>
                <a:lnTo>
                  <a:pt x="1092453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92320" y="2079069"/>
            <a:ext cx="1110994" cy="7482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90768" y="2071446"/>
            <a:ext cx="1110994" cy="7497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6164" y="423316"/>
            <a:ext cx="140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减少</a:t>
            </a:r>
            <a:r>
              <a:rPr sz="1800" spc="20" dirty="0">
                <a:latin typeface="黑体"/>
                <a:cs typeface="黑体"/>
              </a:rPr>
              <a:t>高</a:t>
            </a:r>
            <a:r>
              <a:rPr sz="1800" spc="10" dirty="0">
                <a:latin typeface="黑体"/>
                <a:cs typeface="黑体"/>
              </a:rPr>
              <a:t>斯</a:t>
            </a:r>
            <a:r>
              <a:rPr sz="1800" spc="20" dirty="0">
                <a:latin typeface="黑体"/>
                <a:cs typeface="黑体"/>
              </a:rPr>
              <a:t>噪</a:t>
            </a:r>
            <a:r>
              <a:rPr sz="1800" dirty="0">
                <a:latin typeface="黑体"/>
                <a:cs typeface="黑体"/>
              </a:rPr>
              <a:t>声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7202" y="1041400"/>
            <a:ext cx="2308465" cy="1997218"/>
          </a:xfrm>
          <a:prstGeom prst="rect">
            <a:avLst/>
          </a:prstGeom>
          <a:blipFill>
            <a:blip r:embed="rId2" cstate="print"/>
            <a:srcRect/>
            <a:stretch>
              <a:fillRect t="-4373" b="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0306" y="945478"/>
            <a:ext cx="478220" cy="2007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0119" y="914298"/>
            <a:ext cx="571500" cy="2164080"/>
          </a:xfrm>
          <a:custGeom>
            <a:avLst/>
            <a:gdLst/>
            <a:ahLst/>
            <a:cxnLst/>
            <a:rect l="l" t="t" r="r" b="b"/>
            <a:pathLst>
              <a:path w="571500" h="2164080">
                <a:moveTo>
                  <a:pt x="0" y="2164079"/>
                </a:moveTo>
                <a:lnTo>
                  <a:pt x="571500" y="2164079"/>
                </a:lnTo>
                <a:lnTo>
                  <a:pt x="571500" y="0"/>
                </a:lnTo>
                <a:lnTo>
                  <a:pt x="0" y="0"/>
                </a:lnTo>
                <a:lnTo>
                  <a:pt x="0" y="21640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04366" y="872711"/>
            <a:ext cx="4362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/>
                <a:cs typeface="Cambria Math"/>
              </a:rPr>
              <a:t>𝜎 =</a:t>
            </a:r>
            <a:r>
              <a:rPr sz="900" dirty="0">
                <a:latin typeface="Arial"/>
                <a:cs typeface="Arial"/>
              </a:rPr>
              <a:t>0.05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5783" y="844194"/>
            <a:ext cx="500380" cy="139065"/>
          </a:xfrm>
          <a:custGeom>
            <a:avLst/>
            <a:gdLst/>
            <a:ahLst/>
            <a:cxnLst/>
            <a:rect l="l" t="t" r="r" b="b"/>
            <a:pathLst>
              <a:path w="500380" h="139065">
                <a:moveTo>
                  <a:pt x="0" y="138684"/>
                </a:moveTo>
                <a:lnTo>
                  <a:pt x="499871" y="138684"/>
                </a:lnTo>
                <a:lnTo>
                  <a:pt x="499871" y="0"/>
                </a:lnTo>
                <a:lnTo>
                  <a:pt x="0" y="0"/>
                </a:lnTo>
                <a:lnTo>
                  <a:pt x="0" y="138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52606" y="844194"/>
            <a:ext cx="372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/>
                <a:cs typeface="Cambria Math"/>
              </a:rPr>
              <a:t>𝜎 =</a:t>
            </a:r>
            <a:r>
              <a:rPr sz="900" dirty="0">
                <a:latin typeface="Arial"/>
                <a:cs typeface="Arial"/>
              </a:rPr>
              <a:t>0.1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7345" y="1981860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/>
                <a:cs typeface="Cambria Math"/>
              </a:rPr>
              <a:t>𝜎 =</a:t>
            </a:r>
            <a:r>
              <a:rPr sz="90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1503" y="2608224"/>
            <a:ext cx="3073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/>
                <a:cs typeface="Cambria Math"/>
              </a:rPr>
              <a:t>𝜎 =</a:t>
            </a:r>
            <a:r>
              <a:rPr sz="900" i="1" spc="30" dirty="0">
                <a:latin typeface="Cambria Math"/>
                <a:cs typeface="Cambria Math"/>
              </a:rPr>
              <a:t> </a:t>
            </a:r>
            <a:r>
              <a:rPr sz="900" i="1" dirty="0"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1092" y="857415"/>
            <a:ext cx="372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/>
                <a:cs typeface="Cambria Math"/>
              </a:rPr>
              <a:t>𝜎 =</a:t>
            </a:r>
            <a:r>
              <a:rPr sz="900" dirty="0">
                <a:latin typeface="Arial"/>
                <a:cs typeface="Arial"/>
              </a:rPr>
              <a:t>0.2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7" y="328733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噪声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3620" y="742527"/>
            <a:ext cx="1886812" cy="25347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5540" y="1855019"/>
            <a:ext cx="1866900" cy="170815"/>
          </a:xfrm>
          <a:custGeom>
            <a:avLst/>
            <a:gdLst/>
            <a:ahLst/>
            <a:cxnLst/>
            <a:rect l="l" t="t" r="r" b="b"/>
            <a:pathLst>
              <a:path w="1866900" h="170814">
                <a:moveTo>
                  <a:pt x="0" y="170688"/>
                </a:moveTo>
                <a:lnTo>
                  <a:pt x="1866900" y="170688"/>
                </a:lnTo>
                <a:lnTo>
                  <a:pt x="1866900" y="0"/>
                </a:lnTo>
                <a:lnTo>
                  <a:pt x="0" y="0"/>
                </a:lnTo>
                <a:lnTo>
                  <a:pt x="0" y="1706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18306" y="1869497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5360" y="1869497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椒盐噪声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42868" y="3185471"/>
            <a:ext cx="1866900" cy="169545"/>
          </a:xfrm>
          <a:custGeom>
            <a:avLst/>
            <a:gdLst/>
            <a:ahLst/>
            <a:cxnLst/>
            <a:rect l="l" t="t" r="r" b="b"/>
            <a:pathLst>
              <a:path w="1866900" h="169545">
                <a:moveTo>
                  <a:pt x="0" y="169163"/>
                </a:moveTo>
                <a:lnTo>
                  <a:pt x="1866900" y="169163"/>
                </a:lnTo>
                <a:lnTo>
                  <a:pt x="1866900" y="0"/>
                </a:lnTo>
                <a:lnTo>
                  <a:pt x="0" y="0"/>
                </a:lnTo>
                <a:lnTo>
                  <a:pt x="0" y="1691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27069" y="3199314"/>
            <a:ext cx="4343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脉冲噪声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4250" y="3199314"/>
            <a:ext cx="4343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黑体"/>
                <a:cs typeface="黑体"/>
              </a:rPr>
              <a:t>高斯噪声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83529" y="958399"/>
            <a:ext cx="1852930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΢"/>
              <a:buChar char="•"/>
              <a:tabLst>
                <a:tab pos="185420" algn="l"/>
              </a:tabLst>
            </a:pPr>
            <a:r>
              <a:rPr sz="1000" b="1" dirty="0">
                <a:solidFill>
                  <a:srgbClr val="FF0000"/>
                </a:solidFill>
                <a:latin typeface="黑体"/>
                <a:cs typeface="黑体"/>
              </a:rPr>
              <a:t>椒盐噪声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:</a:t>
            </a:r>
            <a:r>
              <a:rPr sz="1000" spc="-7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黑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色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像素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和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白色像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0000"/>
              </a:buClr>
              <a:buFont typeface="΢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随机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现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894"/>
              </a:spcBef>
              <a:buFont typeface="΢"/>
              <a:buChar char="•"/>
              <a:tabLst>
                <a:tab pos="185420" algn="l"/>
              </a:tabLst>
            </a:pPr>
            <a:r>
              <a:rPr sz="1000" b="1" dirty="0">
                <a:solidFill>
                  <a:srgbClr val="FF0000"/>
                </a:solidFill>
                <a:latin typeface="黑体"/>
                <a:cs typeface="黑体"/>
              </a:rPr>
              <a:t>脉冲噪声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:</a:t>
            </a:r>
            <a:r>
              <a:rPr sz="1000" spc="-7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白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色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像素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随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机出现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3529" y="2162613"/>
            <a:ext cx="185293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΢"/>
              <a:buChar char="•"/>
              <a:tabLst>
                <a:tab pos="185420" algn="l"/>
              </a:tabLst>
            </a:pPr>
            <a:r>
              <a:rPr sz="1000" b="1" dirty="0">
                <a:latin typeface="黑体"/>
                <a:cs typeface="黑体"/>
              </a:rPr>
              <a:t>高斯噪声</a:t>
            </a:r>
            <a:r>
              <a:rPr sz="1000" spc="-5" dirty="0">
                <a:latin typeface="黑体"/>
                <a:cs typeface="黑体"/>
              </a:rPr>
              <a:t>:</a:t>
            </a:r>
            <a:r>
              <a:rPr sz="1000" spc="-7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噪</a:t>
            </a:r>
            <a:r>
              <a:rPr sz="1000" spc="10" dirty="0">
                <a:latin typeface="黑体"/>
                <a:cs typeface="黑体"/>
              </a:rPr>
              <a:t>声</a:t>
            </a:r>
            <a:r>
              <a:rPr sz="1000" spc="-5" dirty="0">
                <a:latin typeface="黑体"/>
                <a:cs typeface="黑体"/>
              </a:rPr>
              <a:t>强度</a:t>
            </a:r>
            <a:r>
              <a:rPr sz="1000" spc="5" dirty="0">
                <a:latin typeface="黑体"/>
                <a:cs typeface="黑体"/>
              </a:rPr>
              <a:t>变</a:t>
            </a:r>
            <a:r>
              <a:rPr sz="1000" spc="-5" dirty="0">
                <a:latin typeface="黑体"/>
                <a:cs typeface="黑体"/>
              </a:rPr>
              <a:t>化服从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斯分</a:t>
            </a:r>
            <a:r>
              <a:rPr sz="1000" spc="5" dirty="0">
                <a:latin typeface="黑体"/>
                <a:cs typeface="黑体"/>
              </a:rPr>
              <a:t>布</a:t>
            </a:r>
            <a:r>
              <a:rPr sz="1000" spc="-5" dirty="0">
                <a:latin typeface="黑体"/>
                <a:cs typeface="黑体"/>
              </a:rPr>
              <a:t>（正</a:t>
            </a:r>
            <a:r>
              <a:rPr sz="1000" spc="5" dirty="0">
                <a:latin typeface="黑体"/>
                <a:cs typeface="黑体"/>
              </a:rPr>
              <a:t>态</a:t>
            </a:r>
            <a:r>
              <a:rPr sz="1000" spc="-5" dirty="0">
                <a:latin typeface="黑体"/>
                <a:cs typeface="黑体"/>
              </a:rPr>
              <a:t>分布）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椒盐</a:t>
            </a:r>
            <a:r>
              <a:rPr sz="1800" spc="20" dirty="0">
                <a:latin typeface="黑体"/>
                <a:cs typeface="黑体"/>
              </a:rPr>
              <a:t>噪</a:t>
            </a:r>
            <a:r>
              <a:rPr sz="1800" dirty="0">
                <a:latin typeface="黑体"/>
                <a:cs typeface="黑体"/>
              </a:rPr>
              <a:t>声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6974" y="2894355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高斯卷积核去噪结果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32983" y="1025550"/>
            <a:ext cx="3884365" cy="1673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30674" y="920775"/>
            <a:ext cx="270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3</a:t>
            </a:r>
            <a:r>
              <a:rPr sz="1200" spc="-15" dirty="0">
                <a:latin typeface="Arial"/>
                <a:cs typeface="Arial"/>
              </a:rPr>
              <a:t>x</a:t>
            </a:r>
            <a:r>
              <a:rPr sz="1200" spc="-5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6328" y="920775"/>
            <a:ext cx="270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5</a:t>
            </a:r>
            <a:r>
              <a:rPr sz="1200" spc="-15" dirty="0">
                <a:latin typeface="Arial"/>
                <a:cs typeface="Arial"/>
              </a:rPr>
              <a:t>x</a:t>
            </a:r>
            <a:r>
              <a:rPr sz="1200" spc="-5" dirty="0"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6681" y="920775"/>
            <a:ext cx="270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7</a:t>
            </a:r>
            <a:r>
              <a:rPr sz="1200" spc="-15" dirty="0">
                <a:latin typeface="Arial"/>
                <a:cs typeface="Arial"/>
              </a:rPr>
              <a:t>x</a:t>
            </a:r>
            <a:r>
              <a:rPr sz="1200" spc="-5" dirty="0"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中值</a:t>
            </a:r>
            <a:r>
              <a:rPr sz="1800" spc="20" dirty="0">
                <a:latin typeface="黑体"/>
                <a:cs typeface="黑体"/>
              </a:rPr>
              <a:t>滤</a:t>
            </a:r>
            <a:r>
              <a:rPr sz="1800" dirty="0">
                <a:latin typeface="黑体"/>
                <a:cs typeface="黑体"/>
              </a:rPr>
              <a:t>波</a:t>
            </a:r>
            <a:endParaRPr sz="1800">
              <a:latin typeface="黑体"/>
              <a:cs typeface="黑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14763" y="1317682"/>
          <a:ext cx="723900" cy="693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10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1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1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51912" y="931475"/>
            <a:ext cx="1257300" cy="1304925"/>
          </a:xfrm>
          <a:custGeom>
            <a:avLst/>
            <a:gdLst/>
            <a:ahLst/>
            <a:cxnLst/>
            <a:rect l="l" t="t" r="r" b="b"/>
            <a:pathLst>
              <a:path w="1257300" h="1304925">
                <a:moveTo>
                  <a:pt x="0" y="1304544"/>
                </a:moveTo>
                <a:lnTo>
                  <a:pt x="1257300" y="1304544"/>
                </a:lnTo>
                <a:lnTo>
                  <a:pt x="1257300" y="0"/>
                </a:lnTo>
                <a:lnTo>
                  <a:pt x="0" y="0"/>
                </a:lnTo>
                <a:lnTo>
                  <a:pt x="0" y="130454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42764" y="772852"/>
          <a:ext cx="1270000" cy="1102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20472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26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0471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90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32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58947" y="985728"/>
            <a:ext cx="1583055" cy="439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中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值滤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波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器</a:t>
            </a:r>
            <a:endParaRPr sz="1000">
              <a:latin typeface="黑体"/>
              <a:cs typeface="黑体"/>
            </a:endParaRPr>
          </a:p>
          <a:p>
            <a:pPr marR="5080" algn="r">
              <a:lnSpc>
                <a:spcPct val="100000"/>
              </a:lnSpc>
              <a:spcBef>
                <a:spcPts val="430"/>
              </a:spcBef>
            </a:pPr>
            <a:r>
              <a:rPr sz="1000" spc="5" dirty="0">
                <a:latin typeface="黑体"/>
                <a:cs typeface="黑体"/>
              </a:rPr>
              <a:t>图像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中值</a:t>
            </a:r>
            <a:r>
              <a:rPr sz="1800" spc="20" dirty="0">
                <a:latin typeface="黑体"/>
                <a:cs typeface="黑体"/>
              </a:rPr>
              <a:t>滤</a:t>
            </a:r>
            <a:r>
              <a:rPr sz="1800" dirty="0">
                <a:latin typeface="黑体"/>
                <a:cs typeface="黑体"/>
              </a:rPr>
              <a:t>波</a:t>
            </a:r>
            <a:endParaRPr sz="1800">
              <a:latin typeface="黑体"/>
              <a:cs typeface="黑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342763" y="866927"/>
          <a:ext cx="1270000" cy="1102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20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26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0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90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32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0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960493" y="1342923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7066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10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0466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15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7666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20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4866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23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2066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27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9267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6467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31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667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33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90867" y="207266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90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21881" y="1360068"/>
            <a:ext cx="76200" cy="474345"/>
          </a:xfrm>
          <a:custGeom>
            <a:avLst/>
            <a:gdLst/>
            <a:ahLst/>
            <a:cxnLst/>
            <a:rect l="l" t="t" r="r" b="b"/>
            <a:pathLst>
              <a:path w="76200" h="474344">
                <a:moveTo>
                  <a:pt x="25400" y="398144"/>
                </a:moveTo>
                <a:lnTo>
                  <a:pt x="0" y="398144"/>
                </a:lnTo>
                <a:lnTo>
                  <a:pt x="38100" y="474344"/>
                </a:lnTo>
                <a:lnTo>
                  <a:pt x="69850" y="410844"/>
                </a:lnTo>
                <a:lnTo>
                  <a:pt x="25400" y="410844"/>
                </a:lnTo>
                <a:lnTo>
                  <a:pt x="25400" y="398144"/>
                </a:lnTo>
                <a:close/>
              </a:path>
              <a:path w="76200" h="474344">
                <a:moveTo>
                  <a:pt x="50800" y="0"/>
                </a:moveTo>
                <a:lnTo>
                  <a:pt x="25400" y="0"/>
                </a:lnTo>
                <a:lnTo>
                  <a:pt x="25400" y="410844"/>
                </a:lnTo>
                <a:lnTo>
                  <a:pt x="50800" y="410844"/>
                </a:lnTo>
                <a:lnTo>
                  <a:pt x="50800" y="0"/>
                </a:lnTo>
                <a:close/>
              </a:path>
              <a:path w="76200" h="474344">
                <a:moveTo>
                  <a:pt x="76200" y="398144"/>
                </a:moveTo>
                <a:lnTo>
                  <a:pt x="50800" y="398144"/>
                </a:lnTo>
                <a:lnTo>
                  <a:pt x="50800" y="410844"/>
                </a:lnTo>
                <a:lnTo>
                  <a:pt x="69850" y="410844"/>
                </a:lnTo>
                <a:lnTo>
                  <a:pt x="76200" y="398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037960" y="1487068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排序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60415" y="1315110"/>
            <a:ext cx="228600" cy="212090"/>
          </a:xfrm>
          <a:custGeom>
            <a:avLst/>
            <a:gdLst/>
            <a:ahLst/>
            <a:cxnLst/>
            <a:rect l="l" t="t" r="r" b="b"/>
            <a:pathLst>
              <a:path w="228600" h="212090">
                <a:moveTo>
                  <a:pt x="0" y="211836"/>
                </a:moveTo>
                <a:lnTo>
                  <a:pt x="228600" y="211836"/>
                </a:lnTo>
                <a:lnTo>
                  <a:pt x="228600" y="0"/>
                </a:lnTo>
                <a:lnTo>
                  <a:pt x="0" y="0"/>
                </a:lnTo>
                <a:lnTo>
                  <a:pt x="0" y="21183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7813" y="32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中值</a:t>
            </a:r>
            <a:r>
              <a:rPr sz="1800" spc="20" dirty="0">
                <a:latin typeface="黑体"/>
                <a:cs typeface="黑体"/>
              </a:rPr>
              <a:t>滤</a:t>
            </a:r>
            <a:r>
              <a:rPr sz="1800" dirty="0">
                <a:latin typeface="黑体"/>
                <a:cs typeface="黑体"/>
              </a:rPr>
              <a:t>波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0494" y="1247959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067" y="197795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10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0467" y="197795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15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6467" y="197795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31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3667" y="197795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33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90867" y="197795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90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21881" y="1265993"/>
            <a:ext cx="76200" cy="474345"/>
          </a:xfrm>
          <a:custGeom>
            <a:avLst/>
            <a:gdLst/>
            <a:ahLst/>
            <a:cxnLst/>
            <a:rect l="l" t="t" r="r" b="b"/>
            <a:pathLst>
              <a:path w="76200" h="474344">
                <a:moveTo>
                  <a:pt x="25400" y="398145"/>
                </a:moveTo>
                <a:lnTo>
                  <a:pt x="0" y="398145"/>
                </a:lnTo>
                <a:lnTo>
                  <a:pt x="38100" y="474345"/>
                </a:lnTo>
                <a:lnTo>
                  <a:pt x="69850" y="410845"/>
                </a:lnTo>
                <a:lnTo>
                  <a:pt x="25400" y="410845"/>
                </a:lnTo>
                <a:lnTo>
                  <a:pt x="25400" y="398145"/>
                </a:lnTo>
                <a:close/>
              </a:path>
              <a:path w="76200" h="474344">
                <a:moveTo>
                  <a:pt x="50800" y="0"/>
                </a:moveTo>
                <a:lnTo>
                  <a:pt x="25400" y="0"/>
                </a:lnTo>
                <a:lnTo>
                  <a:pt x="25400" y="410845"/>
                </a:lnTo>
                <a:lnTo>
                  <a:pt x="50800" y="410845"/>
                </a:lnTo>
                <a:lnTo>
                  <a:pt x="50800" y="0"/>
                </a:lnTo>
                <a:close/>
              </a:path>
              <a:path w="76200" h="474344">
                <a:moveTo>
                  <a:pt x="76200" y="398145"/>
                </a:moveTo>
                <a:lnTo>
                  <a:pt x="50800" y="398145"/>
                </a:lnTo>
                <a:lnTo>
                  <a:pt x="50800" y="410845"/>
                </a:lnTo>
                <a:lnTo>
                  <a:pt x="69850" y="410845"/>
                </a:lnTo>
                <a:lnTo>
                  <a:pt x="76200" y="398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37960" y="1392485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排序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15786" y="2256593"/>
            <a:ext cx="76200" cy="474345"/>
          </a:xfrm>
          <a:custGeom>
            <a:avLst/>
            <a:gdLst/>
            <a:ahLst/>
            <a:cxnLst/>
            <a:rect l="l" t="t" r="r" b="b"/>
            <a:pathLst>
              <a:path w="76200" h="474344">
                <a:moveTo>
                  <a:pt x="25400" y="398145"/>
                </a:moveTo>
                <a:lnTo>
                  <a:pt x="0" y="398145"/>
                </a:lnTo>
                <a:lnTo>
                  <a:pt x="38100" y="474345"/>
                </a:lnTo>
                <a:lnTo>
                  <a:pt x="69850" y="410845"/>
                </a:lnTo>
                <a:lnTo>
                  <a:pt x="25400" y="410845"/>
                </a:lnTo>
                <a:lnTo>
                  <a:pt x="25400" y="398145"/>
                </a:lnTo>
                <a:close/>
              </a:path>
              <a:path w="76200" h="474344">
                <a:moveTo>
                  <a:pt x="50800" y="0"/>
                </a:moveTo>
                <a:lnTo>
                  <a:pt x="25400" y="0"/>
                </a:lnTo>
                <a:lnTo>
                  <a:pt x="25400" y="410845"/>
                </a:lnTo>
                <a:lnTo>
                  <a:pt x="50800" y="410845"/>
                </a:lnTo>
                <a:lnTo>
                  <a:pt x="50800" y="0"/>
                </a:lnTo>
                <a:close/>
              </a:path>
              <a:path w="76200" h="474344">
                <a:moveTo>
                  <a:pt x="76200" y="398145"/>
                </a:moveTo>
                <a:lnTo>
                  <a:pt x="50800" y="398145"/>
                </a:lnTo>
                <a:lnTo>
                  <a:pt x="50800" y="410845"/>
                </a:lnTo>
                <a:lnTo>
                  <a:pt x="69850" y="410845"/>
                </a:lnTo>
                <a:lnTo>
                  <a:pt x="76200" y="398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31229" y="2383085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替换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342764" y="772852"/>
          <a:ext cx="1271902" cy="2585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9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26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0471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90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32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E9">
                        <a:alpha val="7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0873"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200" dirty="0">
                          <a:latin typeface="黑体"/>
                          <a:cs typeface="黑体"/>
                        </a:rPr>
                        <a:t>23</a:t>
                      </a:r>
                      <a:endParaRPr sz="1200">
                        <a:latin typeface="黑体"/>
                        <a:cs typeface="黑体"/>
                      </a:endParaRPr>
                    </a:p>
                  </a:txBody>
                  <a:tcPr marL="0" marR="0" marT="111760" marB="0">
                    <a:lnR w="12700">
                      <a:solidFill>
                        <a:srgbClr val="FF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200" dirty="0">
                          <a:latin typeface="黑体"/>
                          <a:cs typeface="黑体"/>
                        </a:rPr>
                        <a:t>27</a:t>
                      </a:r>
                      <a:endParaRPr sz="1200">
                        <a:latin typeface="黑体"/>
                        <a:cs typeface="黑体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200" dirty="0">
                          <a:latin typeface="黑体"/>
                          <a:cs typeface="黑体"/>
                        </a:rPr>
                        <a:t>30</a:t>
                      </a:r>
                      <a:endParaRPr sz="1200">
                        <a:latin typeface="黑体"/>
                        <a:cs typeface="黑体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26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20471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32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19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33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30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0472"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28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29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27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25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50" spc="5" dirty="0">
                          <a:latin typeface="黑体"/>
                          <a:cs typeface="黑体"/>
                        </a:rPr>
                        <a:t>31</a:t>
                      </a:r>
                      <a:endParaRPr sz="850">
                        <a:latin typeface="黑体"/>
                        <a:cs typeface="黑体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741546" y="1784843"/>
            <a:ext cx="384175" cy="4019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spc="5" dirty="0">
                <a:latin typeface="黑体"/>
                <a:cs typeface="黑体"/>
              </a:rPr>
              <a:t>中值</a:t>
            </a:r>
            <a:endParaRPr sz="1000">
              <a:latin typeface="黑体"/>
              <a:cs typeface="黑体"/>
            </a:endParaRPr>
          </a:p>
          <a:p>
            <a:pPr marL="218440">
              <a:lnSpc>
                <a:spcPct val="100000"/>
              </a:lnSpc>
              <a:spcBef>
                <a:spcPts val="180"/>
              </a:spcBef>
            </a:pPr>
            <a:r>
              <a:rPr sz="1200" dirty="0">
                <a:latin typeface="黑体"/>
                <a:cs typeface="黑体"/>
              </a:rPr>
              <a:t>20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33773" y="1917376"/>
            <a:ext cx="783590" cy="174625"/>
          </a:xfrm>
          <a:custGeom>
            <a:avLst/>
            <a:gdLst/>
            <a:ahLst/>
            <a:cxnLst/>
            <a:rect l="l" t="t" r="r" b="b"/>
            <a:pathLst>
              <a:path w="783589" h="174625">
                <a:moveTo>
                  <a:pt x="739637" y="160538"/>
                </a:moveTo>
                <a:lnTo>
                  <a:pt x="736853" y="174498"/>
                </a:lnTo>
                <a:lnTo>
                  <a:pt x="782619" y="161925"/>
                </a:lnTo>
                <a:lnTo>
                  <a:pt x="746632" y="161925"/>
                </a:lnTo>
                <a:lnTo>
                  <a:pt x="739637" y="160538"/>
                </a:lnTo>
                <a:close/>
              </a:path>
              <a:path w="783589" h="174625">
                <a:moveTo>
                  <a:pt x="742423" y="146567"/>
                </a:moveTo>
                <a:lnTo>
                  <a:pt x="739637" y="160538"/>
                </a:lnTo>
                <a:lnTo>
                  <a:pt x="746632" y="161925"/>
                </a:lnTo>
                <a:lnTo>
                  <a:pt x="749426" y="147954"/>
                </a:lnTo>
                <a:lnTo>
                  <a:pt x="742423" y="146567"/>
                </a:lnTo>
                <a:close/>
              </a:path>
              <a:path w="783589" h="174625">
                <a:moveTo>
                  <a:pt x="745235" y="132460"/>
                </a:moveTo>
                <a:lnTo>
                  <a:pt x="742423" y="146567"/>
                </a:lnTo>
                <a:lnTo>
                  <a:pt x="749426" y="147954"/>
                </a:lnTo>
                <a:lnTo>
                  <a:pt x="746632" y="161925"/>
                </a:lnTo>
                <a:lnTo>
                  <a:pt x="782619" y="161925"/>
                </a:lnTo>
                <a:lnTo>
                  <a:pt x="783081" y="161798"/>
                </a:lnTo>
                <a:lnTo>
                  <a:pt x="745235" y="132460"/>
                </a:lnTo>
                <a:close/>
              </a:path>
              <a:path w="783589" h="174625">
                <a:moveTo>
                  <a:pt x="2793" y="0"/>
                </a:moveTo>
                <a:lnTo>
                  <a:pt x="0" y="13969"/>
                </a:lnTo>
                <a:lnTo>
                  <a:pt x="739637" y="160538"/>
                </a:lnTo>
                <a:lnTo>
                  <a:pt x="742423" y="146567"/>
                </a:lnTo>
                <a:lnTo>
                  <a:pt x="27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60416" y="1221035"/>
            <a:ext cx="228600" cy="212090"/>
          </a:xfrm>
          <a:custGeom>
            <a:avLst/>
            <a:gdLst/>
            <a:ahLst/>
            <a:cxnLst/>
            <a:rect l="l" t="t" r="r" b="b"/>
            <a:pathLst>
              <a:path w="228600" h="212090">
                <a:moveTo>
                  <a:pt x="0" y="211835"/>
                </a:moveTo>
                <a:lnTo>
                  <a:pt x="228600" y="211835"/>
                </a:lnTo>
                <a:lnTo>
                  <a:pt x="228600" y="0"/>
                </a:lnTo>
                <a:lnTo>
                  <a:pt x="0" y="0"/>
                </a:lnTo>
                <a:lnTo>
                  <a:pt x="0" y="21183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81752" y="2729795"/>
            <a:ext cx="196850" cy="180340"/>
          </a:xfrm>
          <a:custGeom>
            <a:avLst/>
            <a:gdLst/>
            <a:ahLst/>
            <a:cxnLst/>
            <a:rect l="l" t="t" r="r" b="b"/>
            <a:pathLst>
              <a:path w="196850" h="180339">
                <a:moveTo>
                  <a:pt x="0" y="179832"/>
                </a:moveTo>
                <a:lnTo>
                  <a:pt x="196596" y="179832"/>
                </a:lnTo>
                <a:lnTo>
                  <a:pt x="196596" y="0"/>
                </a:lnTo>
                <a:lnTo>
                  <a:pt x="0" y="0"/>
                </a:lnTo>
                <a:lnTo>
                  <a:pt x="0" y="17983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7812" y="423316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中值</a:t>
            </a:r>
            <a:r>
              <a:rPr sz="1800" spc="20" dirty="0">
                <a:latin typeface="黑体"/>
                <a:cs typeface="黑体"/>
              </a:rPr>
              <a:t>滤</a:t>
            </a:r>
            <a:r>
              <a:rPr sz="1800" dirty="0">
                <a:latin typeface="黑体"/>
                <a:cs typeface="黑体"/>
              </a:rPr>
              <a:t>波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13497" y="1010310"/>
            <a:ext cx="2969622" cy="2374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89602" y="81536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椒盐噪声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06769" y="815365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中值滤波后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937" y="328733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小结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5426" y="1136961"/>
            <a:ext cx="39890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在这一节中我们认识了三种类型的噪声，椒盐噪声</a:t>
            </a:r>
            <a:r>
              <a:rPr sz="1200" spc="-50" dirty="0">
                <a:latin typeface="黑体"/>
                <a:cs typeface="黑体"/>
              </a:rPr>
              <a:t>、</a:t>
            </a:r>
            <a:r>
              <a:rPr sz="1200" dirty="0">
                <a:latin typeface="黑体"/>
                <a:cs typeface="黑体"/>
              </a:rPr>
              <a:t>脉</a:t>
            </a:r>
            <a:endParaRPr sz="1200">
              <a:latin typeface="黑体"/>
              <a:cs typeface="黑体"/>
            </a:endParaRPr>
          </a:p>
          <a:p>
            <a:pPr marL="12700" marR="5715">
              <a:lnSpc>
                <a:spcPts val="2880"/>
              </a:lnSpc>
              <a:spcBef>
                <a:spcPts val="335"/>
              </a:spcBef>
            </a:pPr>
            <a:r>
              <a:rPr sz="1200" dirty="0">
                <a:latin typeface="黑体"/>
                <a:cs typeface="黑体"/>
              </a:rPr>
              <a:t>冲噪声及高斯噪声。对于前两者建议使用中值滤波器，对于 高斯噪声可以使用高斯卷积核来进行去噪。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820" y="377088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卷积与图像去噪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4739" y="1399057"/>
            <a:ext cx="2153920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图像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去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噪与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卷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积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高斯</a:t>
            </a:r>
            <a:r>
              <a:rPr sz="1200" spc="-10" dirty="0">
                <a:solidFill>
                  <a:srgbClr val="D9D9D9"/>
                </a:solidFill>
                <a:latin typeface="黑体"/>
                <a:cs typeface="黑体"/>
              </a:rPr>
              <a:t>卷</a:t>
            </a:r>
            <a:r>
              <a:rPr sz="1200" dirty="0">
                <a:solidFill>
                  <a:srgbClr val="D9D9D9"/>
                </a:solidFill>
                <a:latin typeface="黑体"/>
                <a:cs typeface="黑体"/>
              </a:rPr>
              <a:t>积核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55575" indent="-142875">
              <a:lnSpc>
                <a:spcPct val="100000"/>
              </a:lnSpc>
              <a:buFont typeface="΢"/>
              <a:buChar char="•"/>
              <a:tabLst>
                <a:tab pos="156210" algn="l"/>
              </a:tabLst>
            </a:pPr>
            <a:r>
              <a:rPr sz="1200" dirty="0">
                <a:latin typeface="黑体"/>
                <a:cs typeface="黑体"/>
              </a:rPr>
              <a:t>图像噪声与中值滤波器（完）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053" y="1457382"/>
            <a:ext cx="3208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微软雅黑"/>
                <a:cs typeface="微软雅黑"/>
              </a:rPr>
              <a:t>补充材料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dirty="0">
                <a:latin typeface="微软雅黑"/>
                <a:cs typeface="微软雅黑"/>
              </a:rPr>
              <a:t>：卷积与</a:t>
            </a:r>
            <a:r>
              <a:rPr sz="2000" spc="-15" dirty="0">
                <a:latin typeface="微软雅黑"/>
                <a:cs typeface="微软雅黑"/>
              </a:rPr>
              <a:t>边</a:t>
            </a:r>
            <a:r>
              <a:rPr sz="2000" dirty="0">
                <a:latin typeface="微软雅黑"/>
                <a:cs typeface="微软雅黑"/>
              </a:rPr>
              <a:t>缘提取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86353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边缘提取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4993" y="1190218"/>
            <a:ext cx="27165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85420" algn="l"/>
              </a:tabLst>
            </a:pPr>
            <a:r>
              <a:rPr sz="1200" b="1" dirty="0">
                <a:latin typeface="黑体"/>
                <a:cs typeface="黑体"/>
              </a:rPr>
              <a:t>边</a:t>
            </a:r>
            <a:r>
              <a:rPr sz="1200" b="1" spc="5" dirty="0">
                <a:latin typeface="黑体"/>
                <a:cs typeface="黑体"/>
              </a:rPr>
              <a:t>缘:</a:t>
            </a:r>
            <a:r>
              <a:rPr sz="1200" spc="-5" dirty="0">
                <a:latin typeface="黑体"/>
                <a:cs typeface="黑体"/>
              </a:rPr>
              <a:t>图像中</a:t>
            </a:r>
            <a:r>
              <a:rPr sz="1200" dirty="0">
                <a:latin typeface="黑体"/>
                <a:cs typeface="黑体"/>
              </a:rPr>
              <a:t>亮</a:t>
            </a:r>
            <a:r>
              <a:rPr sz="1200" spc="-5" dirty="0">
                <a:latin typeface="黑体"/>
                <a:cs typeface="黑体"/>
              </a:rPr>
              <a:t>度</a:t>
            </a:r>
            <a:r>
              <a:rPr sz="1200" dirty="0">
                <a:latin typeface="黑体"/>
                <a:cs typeface="黑体"/>
              </a:rPr>
              <a:t>明</a:t>
            </a:r>
            <a:r>
              <a:rPr sz="1200" spc="-20" dirty="0">
                <a:latin typeface="黑体"/>
                <a:cs typeface="黑体"/>
              </a:rPr>
              <a:t>显</a:t>
            </a:r>
            <a:r>
              <a:rPr sz="1200" dirty="0">
                <a:latin typeface="黑体"/>
                <a:cs typeface="黑体"/>
              </a:rPr>
              <a:t>而</a:t>
            </a:r>
            <a:r>
              <a:rPr sz="1200" spc="-5" dirty="0">
                <a:latin typeface="黑体"/>
                <a:cs typeface="黑体"/>
              </a:rPr>
              <a:t>急</a:t>
            </a:r>
            <a:r>
              <a:rPr sz="1200" dirty="0">
                <a:latin typeface="黑体"/>
                <a:cs typeface="黑体"/>
              </a:rPr>
              <a:t>剧</a:t>
            </a:r>
            <a:r>
              <a:rPr sz="1200" spc="-5" dirty="0">
                <a:latin typeface="黑体"/>
                <a:cs typeface="黑体"/>
              </a:rPr>
              <a:t>变</a:t>
            </a:r>
            <a:r>
              <a:rPr sz="1200" dirty="0">
                <a:latin typeface="黑体"/>
                <a:cs typeface="黑体"/>
              </a:rPr>
              <a:t>化</a:t>
            </a:r>
            <a:r>
              <a:rPr sz="1200" spc="-5" dirty="0">
                <a:latin typeface="黑体"/>
                <a:cs typeface="黑体"/>
              </a:rPr>
              <a:t>的</a:t>
            </a:r>
            <a:r>
              <a:rPr sz="1200" dirty="0">
                <a:latin typeface="黑体"/>
                <a:cs typeface="黑体"/>
              </a:rPr>
              <a:t>点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7820" y="1879752"/>
            <a:ext cx="3140710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85420" algn="l"/>
              </a:tabLst>
            </a:pPr>
            <a:r>
              <a:rPr sz="1200" b="1" spc="5" dirty="0">
                <a:solidFill>
                  <a:srgbClr val="FF0000"/>
                </a:solidFill>
                <a:latin typeface="黑体"/>
                <a:cs typeface="黑体"/>
              </a:rPr>
              <a:t>为什</a:t>
            </a:r>
            <a:r>
              <a:rPr sz="1200" b="1" spc="-5" dirty="0">
                <a:solidFill>
                  <a:srgbClr val="FF0000"/>
                </a:solidFill>
                <a:latin typeface="黑体"/>
                <a:cs typeface="黑体"/>
              </a:rPr>
              <a:t>么</a:t>
            </a:r>
            <a:r>
              <a:rPr sz="1200" b="1" spc="5" dirty="0">
                <a:solidFill>
                  <a:srgbClr val="FF0000"/>
                </a:solidFill>
                <a:latin typeface="黑体"/>
                <a:cs typeface="黑体"/>
              </a:rPr>
              <a:t>要</a:t>
            </a:r>
            <a:r>
              <a:rPr sz="1200" b="1" spc="-5" dirty="0">
                <a:solidFill>
                  <a:srgbClr val="FF0000"/>
                </a:solidFill>
                <a:latin typeface="黑体"/>
                <a:cs typeface="黑体"/>
              </a:rPr>
              <a:t>研</a:t>
            </a:r>
            <a:r>
              <a:rPr sz="1200" b="1" spc="5" dirty="0">
                <a:solidFill>
                  <a:srgbClr val="FF0000"/>
                </a:solidFill>
                <a:latin typeface="黑体"/>
                <a:cs typeface="黑体"/>
              </a:rPr>
              <a:t>究</a:t>
            </a:r>
            <a:r>
              <a:rPr sz="1200" b="1" spc="-5" dirty="0">
                <a:solidFill>
                  <a:srgbClr val="FF0000"/>
                </a:solidFill>
                <a:latin typeface="黑体"/>
                <a:cs typeface="黑体"/>
              </a:rPr>
              <a:t>边</a:t>
            </a:r>
            <a:r>
              <a:rPr sz="1200" b="1" spc="5" dirty="0">
                <a:solidFill>
                  <a:srgbClr val="FF0000"/>
                </a:solidFill>
                <a:latin typeface="黑体"/>
                <a:cs typeface="黑体"/>
              </a:rPr>
              <a:t>缘</a:t>
            </a:r>
            <a:r>
              <a:rPr sz="1200" b="1" spc="-5" dirty="0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΢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384175" lvl="1" indent="-172085">
              <a:lnSpc>
                <a:spcPct val="100000"/>
              </a:lnSpc>
              <a:buFont typeface="Wingdings"/>
              <a:buChar char=""/>
              <a:tabLst>
                <a:tab pos="384810" algn="l"/>
              </a:tabLst>
            </a:pPr>
            <a:r>
              <a:rPr sz="1200" dirty="0">
                <a:latin typeface="黑体"/>
                <a:cs typeface="黑体"/>
              </a:rPr>
              <a:t>编码图像中的语义与形状信息</a:t>
            </a:r>
            <a:endParaRPr sz="1200">
              <a:latin typeface="黑体"/>
              <a:cs typeface="黑体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84175" lvl="1" indent="-172085">
              <a:lnSpc>
                <a:spcPct val="100000"/>
              </a:lnSpc>
              <a:buFont typeface="Wingdings"/>
              <a:buChar char=""/>
              <a:tabLst>
                <a:tab pos="384810" algn="l"/>
              </a:tabLst>
            </a:pPr>
            <a:r>
              <a:rPr sz="1200" dirty="0">
                <a:latin typeface="黑体"/>
                <a:cs typeface="黑体"/>
              </a:rPr>
              <a:t>相对于像素表示，边缘表示显然更加紧凑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83388" y="1423114"/>
            <a:ext cx="1558911" cy="17025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8085" y="32873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边缘的种类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2745" y="1548238"/>
            <a:ext cx="1371250" cy="1170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07329" y="1534217"/>
            <a:ext cx="109220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表面法向不连续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深度不连续</a:t>
            </a:r>
            <a:endParaRPr sz="1200">
              <a:latin typeface="黑体"/>
              <a:cs typeface="黑体"/>
            </a:endParaRPr>
          </a:p>
          <a:p>
            <a:pPr marL="12700" marR="5080">
              <a:lnSpc>
                <a:spcPts val="2580"/>
              </a:lnSpc>
              <a:spcBef>
                <a:spcPts val="220"/>
              </a:spcBef>
            </a:pPr>
            <a:r>
              <a:rPr sz="1200" dirty="0">
                <a:latin typeface="黑体"/>
                <a:cs typeface="黑体"/>
              </a:rPr>
              <a:t>表面颜色不连续 光照不连续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9012" y="1746402"/>
            <a:ext cx="1093807" cy="1040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806" y="1744052"/>
            <a:ext cx="1376680" cy="1045844"/>
          </a:xfrm>
          <a:custGeom>
            <a:avLst/>
            <a:gdLst/>
            <a:ahLst/>
            <a:cxnLst/>
            <a:rect l="l" t="t" r="r" b="b"/>
            <a:pathLst>
              <a:path w="1376680" h="1045844">
                <a:moveTo>
                  <a:pt x="0" y="1045654"/>
                </a:moveTo>
                <a:lnTo>
                  <a:pt x="1376299" y="1045654"/>
                </a:lnTo>
                <a:lnTo>
                  <a:pt x="1376299" y="0"/>
                </a:lnTo>
                <a:lnTo>
                  <a:pt x="0" y="0"/>
                </a:lnTo>
                <a:lnTo>
                  <a:pt x="0" y="1045654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1981" y="2280564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46524" y="1533804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97881" y="1747164"/>
            <a:ext cx="1370330" cy="1042669"/>
          </a:xfrm>
          <a:custGeom>
            <a:avLst/>
            <a:gdLst/>
            <a:ahLst/>
            <a:cxnLst/>
            <a:rect l="l" t="t" r="r" b="b"/>
            <a:pathLst>
              <a:path w="1370329" h="1042669">
                <a:moveTo>
                  <a:pt x="0" y="1042415"/>
                </a:moveTo>
                <a:lnTo>
                  <a:pt x="1370075" y="1042415"/>
                </a:lnTo>
                <a:lnTo>
                  <a:pt x="1370075" y="0"/>
                </a:lnTo>
                <a:lnTo>
                  <a:pt x="0" y="0"/>
                </a:lnTo>
                <a:lnTo>
                  <a:pt x="0" y="1042415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7881" y="1899564"/>
            <a:ext cx="723900" cy="805815"/>
          </a:xfrm>
          <a:custGeom>
            <a:avLst/>
            <a:gdLst/>
            <a:ahLst/>
            <a:cxnLst/>
            <a:rect l="l" t="t" r="r" b="b"/>
            <a:pathLst>
              <a:path w="723900" h="805814">
                <a:moveTo>
                  <a:pt x="0" y="0"/>
                </a:moveTo>
                <a:lnTo>
                  <a:pt x="32047" y="0"/>
                </a:lnTo>
                <a:lnTo>
                  <a:pt x="106362" y="0"/>
                </a:lnTo>
                <a:lnTo>
                  <a:pt x="190202" y="0"/>
                </a:lnTo>
                <a:lnTo>
                  <a:pt x="250825" y="0"/>
                </a:lnTo>
                <a:lnTo>
                  <a:pt x="283662" y="4726"/>
                </a:lnTo>
                <a:lnTo>
                  <a:pt x="327620" y="52613"/>
                </a:lnTo>
                <a:lnTo>
                  <a:pt x="345313" y="102488"/>
                </a:lnTo>
                <a:lnTo>
                  <a:pt x="354795" y="141893"/>
                </a:lnTo>
                <a:lnTo>
                  <a:pt x="362995" y="189634"/>
                </a:lnTo>
                <a:lnTo>
                  <a:pt x="370079" y="243041"/>
                </a:lnTo>
                <a:lnTo>
                  <a:pt x="376209" y="299440"/>
                </a:lnTo>
                <a:lnTo>
                  <a:pt x="381550" y="356159"/>
                </a:lnTo>
                <a:lnTo>
                  <a:pt x="386267" y="410525"/>
                </a:lnTo>
                <a:lnTo>
                  <a:pt x="390525" y="459866"/>
                </a:lnTo>
                <a:lnTo>
                  <a:pt x="395637" y="513649"/>
                </a:lnTo>
                <a:lnTo>
                  <a:pt x="401541" y="566655"/>
                </a:lnTo>
                <a:lnTo>
                  <a:pt x="408368" y="617156"/>
                </a:lnTo>
                <a:lnTo>
                  <a:pt x="416254" y="663424"/>
                </a:lnTo>
                <a:lnTo>
                  <a:pt x="425332" y="703730"/>
                </a:lnTo>
                <a:lnTo>
                  <a:pt x="452401" y="769389"/>
                </a:lnTo>
                <a:lnTo>
                  <a:pt x="493779" y="796139"/>
                </a:lnTo>
                <a:lnTo>
                  <a:pt x="568719" y="803594"/>
                </a:lnTo>
                <a:lnTo>
                  <a:pt x="625649" y="804783"/>
                </a:lnTo>
                <a:lnTo>
                  <a:pt x="681698" y="805090"/>
                </a:lnTo>
                <a:lnTo>
                  <a:pt x="723900" y="80543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5581" y="1899564"/>
            <a:ext cx="723900" cy="805815"/>
          </a:xfrm>
          <a:custGeom>
            <a:avLst/>
            <a:gdLst/>
            <a:ahLst/>
            <a:cxnLst/>
            <a:rect l="l" t="t" r="r" b="b"/>
            <a:pathLst>
              <a:path w="723900" h="805814">
                <a:moveTo>
                  <a:pt x="723900" y="0"/>
                </a:moveTo>
                <a:lnTo>
                  <a:pt x="691852" y="0"/>
                </a:lnTo>
                <a:lnTo>
                  <a:pt x="617537" y="0"/>
                </a:lnTo>
                <a:lnTo>
                  <a:pt x="533697" y="0"/>
                </a:lnTo>
                <a:lnTo>
                  <a:pt x="473075" y="0"/>
                </a:lnTo>
                <a:lnTo>
                  <a:pt x="440237" y="4726"/>
                </a:lnTo>
                <a:lnTo>
                  <a:pt x="396279" y="52613"/>
                </a:lnTo>
                <a:lnTo>
                  <a:pt x="378587" y="102488"/>
                </a:lnTo>
                <a:lnTo>
                  <a:pt x="369104" y="141893"/>
                </a:lnTo>
                <a:lnTo>
                  <a:pt x="360904" y="189634"/>
                </a:lnTo>
                <a:lnTo>
                  <a:pt x="353820" y="243041"/>
                </a:lnTo>
                <a:lnTo>
                  <a:pt x="347690" y="299440"/>
                </a:lnTo>
                <a:lnTo>
                  <a:pt x="342349" y="356159"/>
                </a:lnTo>
                <a:lnTo>
                  <a:pt x="337632" y="410525"/>
                </a:lnTo>
                <a:lnTo>
                  <a:pt x="333375" y="459866"/>
                </a:lnTo>
                <a:lnTo>
                  <a:pt x="328262" y="513649"/>
                </a:lnTo>
                <a:lnTo>
                  <a:pt x="322358" y="566655"/>
                </a:lnTo>
                <a:lnTo>
                  <a:pt x="315531" y="617156"/>
                </a:lnTo>
                <a:lnTo>
                  <a:pt x="307645" y="663424"/>
                </a:lnTo>
                <a:lnTo>
                  <a:pt x="298567" y="703730"/>
                </a:lnTo>
                <a:lnTo>
                  <a:pt x="271480" y="769389"/>
                </a:lnTo>
                <a:lnTo>
                  <a:pt x="230066" y="796139"/>
                </a:lnTo>
                <a:lnTo>
                  <a:pt x="155126" y="803594"/>
                </a:lnTo>
                <a:lnTo>
                  <a:pt x="98202" y="804783"/>
                </a:lnTo>
                <a:lnTo>
                  <a:pt x="42183" y="805090"/>
                </a:lnTo>
                <a:lnTo>
                  <a:pt x="0" y="80543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61838" y="1370101"/>
            <a:ext cx="1042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灰</a:t>
            </a:r>
            <a:r>
              <a:rPr sz="1000" spc="-5" dirty="0">
                <a:latin typeface="黑体"/>
                <a:cs typeface="黑体"/>
              </a:rPr>
              <a:t>度函数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</a:pPr>
            <a:r>
              <a:rPr sz="1000" spc="5" dirty="0">
                <a:latin typeface="黑体"/>
                <a:cs typeface="黑体"/>
              </a:rPr>
              <a:t>（</a:t>
            </a:r>
            <a:r>
              <a:rPr sz="1000" spc="-5" dirty="0">
                <a:latin typeface="黑体"/>
                <a:cs typeface="黑体"/>
              </a:rPr>
              <a:t>沿水</a:t>
            </a:r>
            <a:r>
              <a:rPr sz="1000" spc="5" dirty="0">
                <a:latin typeface="黑体"/>
                <a:cs typeface="黑体"/>
              </a:rPr>
              <a:t>平</a:t>
            </a:r>
            <a:r>
              <a:rPr sz="1000" spc="-5" dirty="0">
                <a:latin typeface="黑体"/>
                <a:cs typeface="黑体"/>
              </a:rPr>
              <a:t>扫描</a:t>
            </a:r>
            <a:r>
              <a:rPr sz="1000" spc="5" dirty="0">
                <a:latin typeface="黑体"/>
                <a:cs typeface="黑体"/>
              </a:rPr>
              <a:t>线</a:t>
            </a:r>
            <a:r>
              <a:rPr sz="1000" spc="-5" dirty="0">
                <a:latin typeface="黑体"/>
                <a:cs typeface="黑体"/>
              </a:rPr>
              <a:t>）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83781" y="1747164"/>
            <a:ext cx="1370330" cy="1042669"/>
          </a:xfrm>
          <a:custGeom>
            <a:avLst/>
            <a:gdLst/>
            <a:ahLst/>
            <a:cxnLst/>
            <a:rect l="l" t="t" r="r" b="b"/>
            <a:pathLst>
              <a:path w="1370329" h="1042669">
                <a:moveTo>
                  <a:pt x="0" y="1042415"/>
                </a:moveTo>
                <a:lnTo>
                  <a:pt x="1370076" y="1042415"/>
                </a:lnTo>
                <a:lnTo>
                  <a:pt x="1370076" y="0"/>
                </a:lnTo>
                <a:lnTo>
                  <a:pt x="0" y="0"/>
                </a:lnTo>
                <a:lnTo>
                  <a:pt x="0" y="1042415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83781" y="2266848"/>
            <a:ext cx="721360" cy="495300"/>
          </a:xfrm>
          <a:custGeom>
            <a:avLst/>
            <a:gdLst/>
            <a:ahLst/>
            <a:cxnLst/>
            <a:rect l="l" t="t" r="r" b="b"/>
            <a:pathLst>
              <a:path w="721360" h="495300">
                <a:moveTo>
                  <a:pt x="0" y="0"/>
                </a:moveTo>
                <a:lnTo>
                  <a:pt x="45394" y="394"/>
                </a:lnTo>
                <a:lnTo>
                  <a:pt x="111505" y="873"/>
                </a:lnTo>
                <a:lnTo>
                  <a:pt x="178950" y="2089"/>
                </a:lnTo>
                <a:lnTo>
                  <a:pt x="228345" y="4699"/>
                </a:lnTo>
                <a:lnTo>
                  <a:pt x="270605" y="29178"/>
                </a:lnTo>
                <a:lnTo>
                  <a:pt x="280669" y="66039"/>
                </a:lnTo>
                <a:lnTo>
                  <a:pt x="284015" y="95520"/>
                </a:lnTo>
                <a:lnTo>
                  <a:pt x="290397" y="150061"/>
                </a:lnTo>
                <a:lnTo>
                  <a:pt x="298674" y="216989"/>
                </a:lnTo>
                <a:lnTo>
                  <a:pt x="307707" y="283630"/>
                </a:lnTo>
                <a:lnTo>
                  <a:pt x="316356" y="337312"/>
                </a:lnTo>
                <a:lnTo>
                  <a:pt x="327191" y="392162"/>
                </a:lnTo>
                <a:lnTo>
                  <a:pt x="339026" y="443118"/>
                </a:lnTo>
                <a:lnTo>
                  <a:pt x="351432" y="480669"/>
                </a:lnTo>
                <a:lnTo>
                  <a:pt x="363981" y="495300"/>
                </a:lnTo>
                <a:lnTo>
                  <a:pt x="377892" y="482473"/>
                </a:lnTo>
                <a:lnTo>
                  <a:pt x="404808" y="398430"/>
                </a:lnTo>
                <a:lnTo>
                  <a:pt x="418718" y="339598"/>
                </a:lnTo>
                <a:lnTo>
                  <a:pt x="425701" y="290460"/>
                </a:lnTo>
                <a:lnTo>
                  <a:pt x="430569" y="232001"/>
                </a:lnTo>
                <a:lnTo>
                  <a:pt x="434803" y="171695"/>
                </a:lnTo>
                <a:lnTo>
                  <a:pt x="439884" y="117016"/>
                </a:lnTo>
                <a:lnTo>
                  <a:pt x="447293" y="75437"/>
                </a:lnTo>
                <a:lnTo>
                  <a:pt x="466312" y="26241"/>
                </a:lnTo>
                <a:lnTo>
                  <a:pt x="509142" y="11811"/>
                </a:lnTo>
                <a:lnTo>
                  <a:pt x="555170" y="6217"/>
                </a:lnTo>
                <a:lnTo>
                  <a:pt x="615616" y="3825"/>
                </a:lnTo>
                <a:lnTo>
                  <a:pt x="675753" y="3077"/>
                </a:lnTo>
                <a:lnTo>
                  <a:pt x="720851" y="2412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34529" y="1771548"/>
            <a:ext cx="721360" cy="495300"/>
          </a:xfrm>
          <a:custGeom>
            <a:avLst/>
            <a:gdLst/>
            <a:ahLst/>
            <a:cxnLst/>
            <a:rect l="l" t="t" r="r" b="b"/>
            <a:pathLst>
              <a:path w="721360" h="495300">
                <a:moveTo>
                  <a:pt x="0" y="495300"/>
                </a:moveTo>
                <a:lnTo>
                  <a:pt x="45394" y="494905"/>
                </a:lnTo>
                <a:lnTo>
                  <a:pt x="111505" y="494426"/>
                </a:lnTo>
                <a:lnTo>
                  <a:pt x="178950" y="493210"/>
                </a:lnTo>
                <a:lnTo>
                  <a:pt x="228346" y="490600"/>
                </a:lnTo>
                <a:lnTo>
                  <a:pt x="270605" y="466121"/>
                </a:lnTo>
                <a:lnTo>
                  <a:pt x="280670" y="429260"/>
                </a:lnTo>
                <a:lnTo>
                  <a:pt x="284015" y="399779"/>
                </a:lnTo>
                <a:lnTo>
                  <a:pt x="290397" y="345238"/>
                </a:lnTo>
                <a:lnTo>
                  <a:pt x="298674" y="278310"/>
                </a:lnTo>
                <a:lnTo>
                  <a:pt x="307707" y="211669"/>
                </a:lnTo>
                <a:lnTo>
                  <a:pt x="316357" y="157987"/>
                </a:lnTo>
                <a:lnTo>
                  <a:pt x="327191" y="103137"/>
                </a:lnTo>
                <a:lnTo>
                  <a:pt x="339026" y="52181"/>
                </a:lnTo>
                <a:lnTo>
                  <a:pt x="351432" y="14630"/>
                </a:lnTo>
                <a:lnTo>
                  <a:pt x="363982" y="0"/>
                </a:lnTo>
                <a:lnTo>
                  <a:pt x="377892" y="12826"/>
                </a:lnTo>
                <a:lnTo>
                  <a:pt x="404808" y="96869"/>
                </a:lnTo>
                <a:lnTo>
                  <a:pt x="418719" y="155701"/>
                </a:lnTo>
                <a:lnTo>
                  <a:pt x="425701" y="204839"/>
                </a:lnTo>
                <a:lnTo>
                  <a:pt x="430569" y="263298"/>
                </a:lnTo>
                <a:lnTo>
                  <a:pt x="434803" y="323604"/>
                </a:lnTo>
                <a:lnTo>
                  <a:pt x="439884" y="378283"/>
                </a:lnTo>
                <a:lnTo>
                  <a:pt x="447294" y="419862"/>
                </a:lnTo>
                <a:lnTo>
                  <a:pt x="466312" y="469058"/>
                </a:lnTo>
                <a:lnTo>
                  <a:pt x="509143" y="483488"/>
                </a:lnTo>
                <a:lnTo>
                  <a:pt x="555170" y="489082"/>
                </a:lnTo>
                <a:lnTo>
                  <a:pt x="615616" y="491474"/>
                </a:lnTo>
                <a:lnTo>
                  <a:pt x="675753" y="492222"/>
                </a:lnTo>
                <a:lnTo>
                  <a:pt x="720852" y="49288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75957" y="1533804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阶导数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56399" y="2813964"/>
            <a:ext cx="125730" cy="420370"/>
          </a:xfrm>
          <a:custGeom>
            <a:avLst/>
            <a:gdLst/>
            <a:ahLst/>
            <a:cxnLst/>
            <a:rect l="l" t="t" r="r" b="b"/>
            <a:pathLst>
              <a:path w="125729" h="420369">
                <a:moveTo>
                  <a:pt x="21472" y="35933"/>
                </a:moveTo>
                <a:lnTo>
                  <a:pt x="15378" y="37593"/>
                </a:lnTo>
                <a:lnTo>
                  <a:pt x="119634" y="419988"/>
                </a:lnTo>
                <a:lnTo>
                  <a:pt x="125729" y="418210"/>
                </a:lnTo>
                <a:lnTo>
                  <a:pt x="21472" y="35933"/>
                </a:lnTo>
                <a:close/>
              </a:path>
              <a:path w="125729" h="420369">
                <a:moveTo>
                  <a:pt x="8382" y="0"/>
                </a:moveTo>
                <a:lnTo>
                  <a:pt x="0" y="41782"/>
                </a:lnTo>
                <a:lnTo>
                  <a:pt x="15378" y="37593"/>
                </a:lnTo>
                <a:lnTo>
                  <a:pt x="13715" y="31495"/>
                </a:lnTo>
                <a:lnTo>
                  <a:pt x="19812" y="29844"/>
                </a:lnTo>
                <a:lnTo>
                  <a:pt x="35123" y="29844"/>
                </a:lnTo>
                <a:lnTo>
                  <a:pt x="8382" y="0"/>
                </a:lnTo>
                <a:close/>
              </a:path>
              <a:path w="125729" h="420369">
                <a:moveTo>
                  <a:pt x="19812" y="29844"/>
                </a:moveTo>
                <a:lnTo>
                  <a:pt x="13715" y="31495"/>
                </a:lnTo>
                <a:lnTo>
                  <a:pt x="15378" y="37593"/>
                </a:lnTo>
                <a:lnTo>
                  <a:pt x="21472" y="35933"/>
                </a:lnTo>
                <a:lnTo>
                  <a:pt x="19812" y="29844"/>
                </a:lnTo>
                <a:close/>
              </a:path>
              <a:path w="125729" h="420369">
                <a:moveTo>
                  <a:pt x="35123" y="29844"/>
                </a:moveTo>
                <a:lnTo>
                  <a:pt x="19812" y="29844"/>
                </a:lnTo>
                <a:lnTo>
                  <a:pt x="21472" y="35933"/>
                </a:lnTo>
                <a:lnTo>
                  <a:pt x="36829" y="31750"/>
                </a:lnTo>
                <a:lnTo>
                  <a:pt x="35123" y="298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95006" y="1937664"/>
            <a:ext cx="133350" cy="1296035"/>
          </a:xfrm>
          <a:custGeom>
            <a:avLst/>
            <a:gdLst/>
            <a:ahLst/>
            <a:cxnLst/>
            <a:rect l="l" t="t" r="r" b="b"/>
            <a:pathLst>
              <a:path w="133350" h="1296035">
                <a:moveTo>
                  <a:pt x="110947" y="37698"/>
                </a:moveTo>
                <a:lnTo>
                  <a:pt x="0" y="1295145"/>
                </a:lnTo>
                <a:lnTo>
                  <a:pt x="6350" y="1295653"/>
                </a:lnTo>
                <a:lnTo>
                  <a:pt x="117293" y="38249"/>
                </a:lnTo>
                <a:lnTo>
                  <a:pt x="110947" y="37698"/>
                </a:lnTo>
                <a:close/>
              </a:path>
              <a:path w="133350" h="1296035">
                <a:moveTo>
                  <a:pt x="129841" y="31368"/>
                </a:moveTo>
                <a:lnTo>
                  <a:pt x="111505" y="31368"/>
                </a:lnTo>
                <a:lnTo>
                  <a:pt x="117855" y="31876"/>
                </a:lnTo>
                <a:lnTo>
                  <a:pt x="117293" y="38249"/>
                </a:lnTo>
                <a:lnTo>
                  <a:pt x="133095" y="39623"/>
                </a:lnTo>
                <a:lnTo>
                  <a:pt x="129841" y="31368"/>
                </a:lnTo>
                <a:close/>
              </a:path>
              <a:path w="133350" h="1296035">
                <a:moveTo>
                  <a:pt x="111505" y="31368"/>
                </a:moveTo>
                <a:lnTo>
                  <a:pt x="110947" y="37698"/>
                </a:lnTo>
                <a:lnTo>
                  <a:pt x="117293" y="38249"/>
                </a:lnTo>
                <a:lnTo>
                  <a:pt x="117855" y="31876"/>
                </a:lnTo>
                <a:lnTo>
                  <a:pt x="111505" y="31368"/>
                </a:lnTo>
                <a:close/>
              </a:path>
              <a:path w="133350" h="1296035">
                <a:moveTo>
                  <a:pt x="117475" y="0"/>
                </a:moveTo>
                <a:lnTo>
                  <a:pt x="95122" y="36321"/>
                </a:lnTo>
                <a:lnTo>
                  <a:pt x="110947" y="37698"/>
                </a:lnTo>
                <a:lnTo>
                  <a:pt x="111505" y="31368"/>
                </a:lnTo>
                <a:lnTo>
                  <a:pt x="129841" y="31368"/>
                </a:lnTo>
                <a:lnTo>
                  <a:pt x="117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52260" y="3232429"/>
            <a:ext cx="939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边缘处的导数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3093" y="885723"/>
            <a:ext cx="2312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图像中亮度明显而急剧变化的地方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663819" y="1860702"/>
            <a:ext cx="208915" cy="844550"/>
          </a:xfrm>
          <a:custGeom>
            <a:avLst/>
            <a:gdLst/>
            <a:ahLst/>
            <a:cxnLst/>
            <a:rect l="l" t="t" r="r" b="b"/>
            <a:pathLst>
              <a:path w="208914" h="844550">
                <a:moveTo>
                  <a:pt x="0" y="844295"/>
                </a:moveTo>
                <a:lnTo>
                  <a:pt x="208788" y="844295"/>
                </a:lnTo>
                <a:lnTo>
                  <a:pt x="208788" y="0"/>
                </a:lnTo>
                <a:lnTo>
                  <a:pt x="0" y="0"/>
                </a:lnTo>
                <a:lnTo>
                  <a:pt x="0" y="844295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02375" y="1860702"/>
            <a:ext cx="208915" cy="844550"/>
          </a:xfrm>
          <a:custGeom>
            <a:avLst/>
            <a:gdLst/>
            <a:ahLst/>
            <a:cxnLst/>
            <a:rect l="l" t="t" r="r" b="b"/>
            <a:pathLst>
              <a:path w="208914" h="844550">
                <a:moveTo>
                  <a:pt x="0" y="844295"/>
                </a:moveTo>
                <a:lnTo>
                  <a:pt x="208787" y="844295"/>
                </a:lnTo>
                <a:lnTo>
                  <a:pt x="208787" y="0"/>
                </a:lnTo>
                <a:lnTo>
                  <a:pt x="0" y="0"/>
                </a:lnTo>
                <a:lnTo>
                  <a:pt x="0" y="844295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边缘检测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12385" y="32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图像求导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90110" y="1369879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60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7919" y="1170870"/>
            <a:ext cx="4673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Cambria Math"/>
                <a:cs typeface="Cambria Math"/>
              </a:rPr>
              <a:t>𝜕𝑓(𝑥,</a:t>
            </a:r>
            <a:r>
              <a:rPr sz="1000" spc="-100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𝑦)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7271" y="1352226"/>
            <a:ext cx="1631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𝜕𝑥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5185" y="1266882"/>
            <a:ext cx="337185" cy="247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05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=</a:t>
            </a:r>
            <a:r>
              <a:rPr sz="1000" spc="-15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lim</a:t>
            </a:r>
            <a:endParaRPr sz="1000">
              <a:latin typeface="Cambria Math"/>
              <a:cs typeface="Cambria Math"/>
            </a:endParaRPr>
          </a:p>
          <a:p>
            <a:pPr marL="141605">
              <a:lnSpc>
                <a:spcPts val="690"/>
              </a:lnSpc>
            </a:pPr>
            <a:r>
              <a:rPr sz="700" spc="135" dirty="0">
                <a:latin typeface="Cambria Math"/>
                <a:cs typeface="Cambria Math"/>
              </a:rPr>
              <a:t>𝜀</a:t>
            </a:r>
            <a:r>
              <a:rPr sz="700" spc="20" dirty="0">
                <a:latin typeface="Cambria Math"/>
                <a:cs typeface="Cambria Math"/>
              </a:rPr>
              <a:t>→</a:t>
            </a:r>
            <a:r>
              <a:rPr sz="700" spc="35" dirty="0">
                <a:latin typeface="Cambria Math"/>
                <a:cs typeface="Cambria Math"/>
              </a:rPr>
              <a:t>0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99355" y="1369879"/>
            <a:ext cx="1106805" cy="0"/>
          </a:xfrm>
          <a:custGeom>
            <a:avLst/>
            <a:gdLst/>
            <a:ahLst/>
            <a:cxnLst/>
            <a:rect l="l" t="t" r="r" b="b"/>
            <a:pathLst>
              <a:path w="1106804">
                <a:moveTo>
                  <a:pt x="0" y="0"/>
                </a:moveTo>
                <a:lnTo>
                  <a:pt x="1106423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87417" y="1170870"/>
            <a:ext cx="11334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Cambria Math"/>
                <a:cs typeface="Cambria Math"/>
              </a:rPr>
              <a:t>𝑓(𝑥 </a:t>
            </a:r>
            <a:r>
              <a:rPr sz="1000" spc="-5" dirty="0">
                <a:latin typeface="Cambria Math"/>
                <a:cs typeface="Cambria Math"/>
              </a:rPr>
              <a:t>+ </a:t>
            </a:r>
            <a:r>
              <a:rPr sz="1000" spc="15" dirty="0">
                <a:latin typeface="Cambria Math"/>
                <a:cs typeface="Cambria Math"/>
              </a:rPr>
              <a:t>𝜀, </a:t>
            </a:r>
            <a:r>
              <a:rPr sz="1000" spc="5" dirty="0">
                <a:latin typeface="Cambria Math"/>
                <a:cs typeface="Cambria Math"/>
              </a:rPr>
              <a:t>𝑦) </a:t>
            </a:r>
            <a:r>
              <a:rPr sz="1000" spc="-5" dirty="0">
                <a:latin typeface="Cambria Math"/>
                <a:cs typeface="Cambria Math"/>
              </a:rPr>
              <a:t>− </a:t>
            </a:r>
            <a:r>
              <a:rPr sz="1000" spc="10" dirty="0">
                <a:latin typeface="Cambria Math"/>
                <a:cs typeface="Cambria Math"/>
              </a:rPr>
              <a:t>𝑓(𝑥,</a:t>
            </a:r>
            <a:r>
              <a:rPr sz="1000" spc="-150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𝑦)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8625" y="1352226"/>
            <a:ext cx="83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𝜀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0110" y="2150675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60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77919" y="1951793"/>
            <a:ext cx="4673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Cambria Math"/>
                <a:cs typeface="Cambria Math"/>
              </a:rPr>
              <a:t>𝜕𝑓(𝑥,</a:t>
            </a:r>
            <a:r>
              <a:rPr sz="1000" spc="-100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𝑦)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7271" y="2133149"/>
            <a:ext cx="1631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𝜕𝑥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5185" y="2047805"/>
            <a:ext cx="118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≈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95139" y="2150675"/>
            <a:ext cx="1115695" cy="0"/>
          </a:xfrm>
          <a:custGeom>
            <a:avLst/>
            <a:gdLst/>
            <a:ahLst/>
            <a:cxnLst/>
            <a:rect l="l" t="t" r="r" b="b"/>
            <a:pathLst>
              <a:path w="1115695">
                <a:moveTo>
                  <a:pt x="0" y="0"/>
                </a:moveTo>
                <a:lnTo>
                  <a:pt x="1115568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83201" y="1951793"/>
            <a:ext cx="1141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Cambria Math"/>
                <a:cs typeface="Cambria Math"/>
              </a:rPr>
              <a:t>𝑓(𝑥 </a:t>
            </a:r>
            <a:r>
              <a:rPr sz="1000" spc="-5" dirty="0">
                <a:latin typeface="Cambria Math"/>
                <a:cs typeface="Cambria Math"/>
              </a:rPr>
              <a:t>+ </a:t>
            </a:r>
            <a:r>
              <a:rPr sz="1000" dirty="0">
                <a:latin typeface="Cambria Math"/>
                <a:cs typeface="Cambria Math"/>
              </a:rPr>
              <a:t>1, </a:t>
            </a:r>
            <a:r>
              <a:rPr sz="1000" spc="5" dirty="0">
                <a:latin typeface="Cambria Math"/>
                <a:cs typeface="Cambria Math"/>
              </a:rPr>
              <a:t>𝑦) </a:t>
            </a:r>
            <a:r>
              <a:rPr sz="1000" spc="-5" dirty="0">
                <a:latin typeface="Cambria Math"/>
                <a:cs typeface="Cambria Math"/>
              </a:rPr>
              <a:t>− </a:t>
            </a:r>
            <a:r>
              <a:rPr sz="1000" spc="10" dirty="0">
                <a:latin typeface="Cambria Math"/>
                <a:cs typeface="Cambria Math"/>
              </a:rPr>
              <a:t>𝑓(𝑥,</a:t>
            </a:r>
            <a:r>
              <a:rPr sz="1000" spc="-140" dirty="0">
                <a:latin typeface="Cambria Math"/>
                <a:cs typeface="Cambria Math"/>
              </a:rPr>
              <a:t> </a:t>
            </a:r>
            <a:r>
              <a:rPr sz="1000" spc="10" dirty="0">
                <a:latin typeface="Cambria Math"/>
                <a:cs typeface="Cambria Math"/>
              </a:rPr>
              <a:t>𝑦)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5932" y="2133149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96130" y="2741225"/>
            <a:ext cx="416559" cy="207645"/>
          </a:xfrm>
          <a:custGeom>
            <a:avLst/>
            <a:gdLst/>
            <a:ahLst/>
            <a:cxnLst/>
            <a:rect l="l" t="t" r="r" b="b"/>
            <a:pathLst>
              <a:path w="416560" h="207644">
                <a:moveTo>
                  <a:pt x="0" y="207264"/>
                </a:moveTo>
                <a:lnTo>
                  <a:pt x="416051" y="207264"/>
                </a:lnTo>
                <a:lnTo>
                  <a:pt x="416051" y="0"/>
                </a:lnTo>
                <a:lnTo>
                  <a:pt x="0" y="0"/>
                </a:lnTo>
                <a:lnTo>
                  <a:pt x="0" y="207264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6130" y="2741225"/>
            <a:ext cx="416559" cy="207645"/>
          </a:xfrm>
          <a:custGeom>
            <a:avLst/>
            <a:gdLst/>
            <a:ahLst/>
            <a:cxnLst/>
            <a:rect l="l" t="t" r="r" b="b"/>
            <a:pathLst>
              <a:path w="416560" h="207644">
                <a:moveTo>
                  <a:pt x="0" y="207264"/>
                </a:moveTo>
                <a:lnTo>
                  <a:pt x="416051" y="207264"/>
                </a:lnTo>
                <a:lnTo>
                  <a:pt x="416051" y="0"/>
                </a:lnTo>
                <a:lnTo>
                  <a:pt x="0" y="0"/>
                </a:lnTo>
                <a:lnTo>
                  <a:pt x="0" y="207264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41342" y="2748845"/>
            <a:ext cx="3365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000" b="1" spc="-5" dirty="0">
                <a:latin typeface="Arial"/>
                <a:cs typeface="Arial"/>
              </a:rPr>
              <a:t>-1	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03394" y="2741225"/>
            <a:ext cx="0" cy="207010"/>
          </a:xfrm>
          <a:custGeom>
            <a:avLst/>
            <a:gdLst/>
            <a:ahLst/>
            <a:cxnLst/>
            <a:rect l="l" t="t" r="r" b="b"/>
            <a:pathLst>
              <a:path h="207010">
                <a:moveTo>
                  <a:pt x="0" y="0"/>
                </a:moveTo>
                <a:lnTo>
                  <a:pt x="0" y="2066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64407" y="2861367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60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264788" y="2632919"/>
            <a:ext cx="454025" cy="3886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25"/>
              </a:spcBef>
            </a:pPr>
            <a:r>
              <a:rPr sz="1000" spc="5" dirty="0">
                <a:latin typeface="Cambria Math"/>
                <a:cs typeface="Cambria Math"/>
              </a:rPr>
              <a:t>𝜕𝑓(𝑥,</a:t>
            </a:r>
            <a:r>
              <a:rPr sz="1000" spc="-130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𝑦)</a:t>
            </a:r>
            <a:endParaRPr sz="1000">
              <a:latin typeface="Cambria Math"/>
              <a:cs typeface="Cambria Math"/>
            </a:endParaRPr>
          </a:p>
          <a:p>
            <a:pPr marR="10160" algn="ctr">
              <a:lnSpc>
                <a:spcPct val="100000"/>
              </a:lnSpc>
              <a:spcBef>
                <a:spcPts val="229"/>
              </a:spcBef>
            </a:pPr>
            <a:r>
              <a:rPr sz="1000" spc="-10" dirty="0">
                <a:latin typeface="Cambria Math"/>
                <a:cs typeface="Cambria Math"/>
              </a:rPr>
              <a:t>𝜕𝑥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96940" y="2854382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6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97702" y="2626310"/>
            <a:ext cx="454659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25"/>
              </a:spcBef>
            </a:pPr>
            <a:r>
              <a:rPr sz="1000" spc="5" dirty="0">
                <a:latin typeface="Cambria Math"/>
                <a:cs typeface="Cambria Math"/>
              </a:rPr>
              <a:t>𝜕𝑓(𝑥,</a:t>
            </a:r>
            <a:r>
              <a:rPr sz="1000" spc="-125" dirty="0">
                <a:latin typeface="Cambria Math"/>
                <a:cs typeface="Cambria Math"/>
              </a:rPr>
              <a:t> </a:t>
            </a:r>
            <a:r>
              <a:rPr sz="1000" spc="5" dirty="0">
                <a:latin typeface="Cambria Math"/>
                <a:cs typeface="Cambria Math"/>
              </a:rPr>
              <a:t>𝑦)</a:t>
            </a:r>
            <a:endParaRPr sz="1000">
              <a:latin typeface="Cambria Math"/>
              <a:cs typeface="Cambria Math"/>
            </a:endParaRPr>
          </a:p>
          <a:p>
            <a:pPr marR="7620" algn="ctr">
              <a:lnSpc>
                <a:spcPct val="100000"/>
              </a:lnSpc>
              <a:spcBef>
                <a:spcPts val="225"/>
              </a:spcBef>
            </a:pPr>
            <a:r>
              <a:rPr sz="1000" spc="-5" dirty="0">
                <a:latin typeface="Cambria Math"/>
                <a:cs typeface="Cambria Math"/>
              </a:rPr>
              <a:t>𝜕y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356222" y="2626925"/>
            <a:ext cx="213360" cy="353695"/>
          </a:xfrm>
          <a:custGeom>
            <a:avLst/>
            <a:gdLst/>
            <a:ahLst/>
            <a:cxnLst/>
            <a:rect l="l" t="t" r="r" b="b"/>
            <a:pathLst>
              <a:path w="213360" h="353694">
                <a:moveTo>
                  <a:pt x="0" y="353567"/>
                </a:moveTo>
                <a:lnTo>
                  <a:pt x="213360" y="353567"/>
                </a:lnTo>
                <a:lnTo>
                  <a:pt x="213360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56222" y="2626925"/>
            <a:ext cx="213360" cy="353695"/>
          </a:xfrm>
          <a:custGeom>
            <a:avLst/>
            <a:gdLst/>
            <a:ahLst/>
            <a:cxnLst/>
            <a:rect l="l" t="t" r="r" b="b"/>
            <a:pathLst>
              <a:path w="213360" h="353694">
                <a:moveTo>
                  <a:pt x="0" y="353567"/>
                </a:moveTo>
                <a:lnTo>
                  <a:pt x="213360" y="353567"/>
                </a:lnTo>
                <a:lnTo>
                  <a:pt x="213360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406387" y="2633275"/>
            <a:ext cx="1257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-1</a:t>
            </a:r>
            <a:endParaRPr sz="10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356222" y="2803709"/>
            <a:ext cx="214629" cy="0"/>
          </a:xfrm>
          <a:custGeom>
            <a:avLst/>
            <a:gdLst/>
            <a:ahLst/>
            <a:cxnLst/>
            <a:rect l="l" t="t" r="r" b="b"/>
            <a:pathLst>
              <a:path w="214629">
                <a:moveTo>
                  <a:pt x="0" y="0"/>
                </a:moveTo>
                <a:lnTo>
                  <a:pt x="214122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01720" y="2528627"/>
            <a:ext cx="3733800" cy="556260"/>
          </a:xfrm>
          <a:custGeom>
            <a:avLst/>
            <a:gdLst/>
            <a:ahLst/>
            <a:cxnLst/>
            <a:rect l="l" t="t" r="r" b="b"/>
            <a:pathLst>
              <a:path w="3733800" h="556260">
                <a:moveTo>
                  <a:pt x="0" y="556259"/>
                </a:moveTo>
                <a:lnTo>
                  <a:pt x="3733800" y="556259"/>
                </a:lnTo>
                <a:lnTo>
                  <a:pt x="3733800" y="0"/>
                </a:lnTo>
                <a:lnTo>
                  <a:pt x="0" y="0"/>
                </a:lnTo>
                <a:lnTo>
                  <a:pt x="0" y="556259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44570" y="852989"/>
            <a:ext cx="1360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2D</a:t>
            </a:r>
            <a:r>
              <a:rPr sz="1000" spc="5" dirty="0">
                <a:latin typeface="黑体"/>
                <a:cs typeface="黑体"/>
              </a:rPr>
              <a:t>函数</a:t>
            </a:r>
            <a:r>
              <a:rPr sz="1000" spc="10" dirty="0">
                <a:latin typeface="Cambria Math"/>
                <a:cs typeface="Cambria Math"/>
              </a:rPr>
              <a:t>𝑓(𝑥,</a:t>
            </a:r>
            <a:r>
              <a:rPr sz="1000" spc="-95" dirty="0">
                <a:latin typeface="Cambria Math"/>
                <a:cs typeface="Cambria Math"/>
              </a:rPr>
              <a:t> </a:t>
            </a:r>
            <a:r>
              <a:rPr sz="1000" dirty="0">
                <a:latin typeface="Cambria Math"/>
                <a:cs typeface="Cambria Math"/>
              </a:rPr>
              <a:t>𝑦)</a:t>
            </a:r>
            <a:r>
              <a:rPr sz="1000" spc="5" dirty="0">
                <a:latin typeface="黑体"/>
                <a:cs typeface="黑体"/>
              </a:rPr>
              <a:t>的偏导为</a:t>
            </a:r>
            <a:r>
              <a:rPr sz="1000" spc="-5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2190" y="1633785"/>
            <a:ext cx="913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像求</a:t>
            </a:r>
            <a:r>
              <a:rPr sz="1000" spc="5" dirty="0">
                <a:latin typeface="黑体"/>
                <a:cs typeface="黑体"/>
              </a:rPr>
              <a:t>导</a:t>
            </a:r>
            <a:r>
              <a:rPr sz="1000" spc="-5" dirty="0">
                <a:latin typeface="黑体"/>
                <a:cs typeface="黑体"/>
              </a:rPr>
              <a:t>公式：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图像求导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56555" y="789330"/>
            <a:ext cx="1234440" cy="1187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12385" y="32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图像偏导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7122" y="3240462"/>
            <a:ext cx="84581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" dirty="0">
                <a:latin typeface="Calibri"/>
                <a:cs typeface="Calibri"/>
              </a:rPr>
              <a:t>Source: </a:t>
            </a:r>
            <a:r>
              <a:rPr sz="800" dirty="0">
                <a:latin typeface="Calibri"/>
                <a:cs typeface="Calibri"/>
              </a:rPr>
              <a:t>K.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Grauman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80858" y="1919027"/>
            <a:ext cx="2607101" cy="119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56556" y="695255"/>
            <a:ext cx="1234440" cy="1187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26325" y="2543105"/>
            <a:ext cx="273050" cy="255270"/>
          </a:xfrm>
          <a:prstGeom prst="rect">
            <a:avLst/>
          </a:prstGeom>
          <a:solidFill>
            <a:srgbClr val="FFCC66"/>
          </a:solidFill>
          <a:ln w="4762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45"/>
              </a:spcBef>
            </a:pPr>
            <a:r>
              <a:rPr sz="1500" b="1" spc="-5" dirty="0">
                <a:latin typeface="Arial"/>
                <a:cs typeface="Arial"/>
              </a:rPr>
              <a:t>-1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6325" y="2797994"/>
            <a:ext cx="273050" cy="254635"/>
          </a:xfrm>
          <a:prstGeom prst="rect">
            <a:avLst/>
          </a:prstGeom>
          <a:solidFill>
            <a:srgbClr val="FFCC66"/>
          </a:solidFill>
          <a:ln w="476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014">
              <a:lnSpc>
                <a:spcPts val="1739"/>
              </a:lnSpc>
            </a:pPr>
            <a:r>
              <a:rPr sz="1500" b="1" spc="-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0874" y="2543105"/>
            <a:ext cx="274320" cy="255270"/>
          </a:xfrm>
          <a:prstGeom prst="rect">
            <a:avLst/>
          </a:prstGeom>
          <a:solidFill>
            <a:srgbClr val="FFCC66"/>
          </a:solidFill>
          <a:ln w="4762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145"/>
              </a:spcBef>
            </a:pPr>
            <a:r>
              <a:rPr sz="1500" b="1" spc="-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0874" y="2797994"/>
            <a:ext cx="274320" cy="254635"/>
          </a:xfrm>
          <a:prstGeom prst="rect">
            <a:avLst/>
          </a:prstGeom>
          <a:solidFill>
            <a:srgbClr val="FFCC66"/>
          </a:solidFill>
          <a:ln w="476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739"/>
              </a:lnSpc>
            </a:pPr>
            <a:r>
              <a:rPr sz="1500" b="1" spc="-5" dirty="0">
                <a:latin typeface="Arial"/>
                <a:cs typeface="Arial"/>
              </a:rPr>
              <a:t>-1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7735" y="269664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322" y="2704649"/>
            <a:ext cx="293370" cy="277495"/>
          </a:xfrm>
          <a:prstGeom prst="rect">
            <a:avLst/>
          </a:prstGeom>
          <a:solidFill>
            <a:srgbClr val="FFCC66"/>
          </a:solidFill>
          <a:ln w="5524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sz="1500" b="1" spc="-5" dirty="0">
                <a:latin typeface="Arial"/>
                <a:cs typeface="Arial"/>
              </a:rPr>
              <a:t>-1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311" y="2704649"/>
            <a:ext cx="292735" cy="277495"/>
          </a:xfrm>
          <a:prstGeom prst="rect">
            <a:avLst/>
          </a:prstGeom>
          <a:solidFill>
            <a:srgbClr val="FFCC66"/>
          </a:solidFill>
          <a:ln w="4762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45"/>
              </a:spcBef>
            </a:pPr>
            <a:r>
              <a:rPr sz="1500" b="1" spc="-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92627" y="1828730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>
                <a:moveTo>
                  <a:pt x="0" y="0"/>
                </a:moveTo>
                <a:lnTo>
                  <a:pt x="53035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80181" y="1591748"/>
            <a:ext cx="555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latin typeface="Cambria Math"/>
                <a:cs typeface="Cambria Math"/>
              </a:rPr>
              <a:t>𝜕𝑓(𝑥,</a:t>
            </a:r>
            <a:r>
              <a:rPr sz="1200" spc="-120" dirty="0">
                <a:latin typeface="Cambria Math"/>
                <a:cs typeface="Cambria Math"/>
              </a:rPr>
              <a:t> </a:t>
            </a:r>
            <a:r>
              <a:rPr sz="1200" spc="5" dirty="0">
                <a:latin typeface="Cambria Math"/>
                <a:cs typeface="Cambria Math"/>
              </a:rPr>
              <a:t>𝑦)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0013" y="1809680"/>
            <a:ext cx="193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𝜕𝑥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16115" y="1833429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>
                <a:moveTo>
                  <a:pt x="0" y="0"/>
                </a:moveTo>
                <a:lnTo>
                  <a:pt x="530351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04557" y="1596320"/>
            <a:ext cx="554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latin typeface="Cambria Math"/>
                <a:cs typeface="Cambria Math"/>
              </a:rPr>
              <a:t>𝜕𝑓(𝑥,</a:t>
            </a:r>
            <a:r>
              <a:rPr sz="1200" spc="-125" dirty="0">
                <a:latin typeface="Cambria Math"/>
                <a:cs typeface="Cambria Math"/>
              </a:rPr>
              <a:t> </a:t>
            </a:r>
            <a:r>
              <a:rPr sz="1200" spc="5" dirty="0">
                <a:latin typeface="Cambria Math"/>
                <a:cs typeface="Cambria Math"/>
              </a:rPr>
              <a:t>𝑦)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2866" y="1814252"/>
            <a:ext cx="19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𝜕𝑦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12384" y="4233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图像梯度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68719" y="1287678"/>
            <a:ext cx="4953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97319" y="1364640"/>
            <a:ext cx="191262" cy="189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8943" y="1287678"/>
            <a:ext cx="1524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5905" y="1533677"/>
            <a:ext cx="266700" cy="43180"/>
          </a:xfrm>
          <a:custGeom>
            <a:avLst/>
            <a:gdLst/>
            <a:ahLst/>
            <a:cxnLst/>
            <a:rect l="l" t="t" r="r" b="b"/>
            <a:pathLst>
              <a:path w="266700" h="43180">
                <a:moveTo>
                  <a:pt x="223774" y="0"/>
                </a:moveTo>
                <a:lnTo>
                  <a:pt x="223774" y="42925"/>
                </a:lnTo>
                <a:lnTo>
                  <a:pt x="252475" y="28575"/>
                </a:lnTo>
                <a:lnTo>
                  <a:pt x="231012" y="28575"/>
                </a:lnTo>
                <a:lnTo>
                  <a:pt x="231012" y="14350"/>
                </a:lnTo>
                <a:lnTo>
                  <a:pt x="252475" y="14350"/>
                </a:lnTo>
                <a:lnTo>
                  <a:pt x="223774" y="0"/>
                </a:lnTo>
                <a:close/>
              </a:path>
              <a:path w="266700" h="43180">
                <a:moveTo>
                  <a:pt x="223774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223774" y="28575"/>
                </a:lnTo>
                <a:lnTo>
                  <a:pt x="223774" y="14350"/>
                </a:lnTo>
                <a:close/>
              </a:path>
              <a:path w="266700" h="43180">
                <a:moveTo>
                  <a:pt x="252475" y="14350"/>
                </a:moveTo>
                <a:lnTo>
                  <a:pt x="231012" y="14350"/>
                </a:lnTo>
                <a:lnTo>
                  <a:pt x="231012" y="28575"/>
                </a:lnTo>
                <a:lnTo>
                  <a:pt x="252475" y="28575"/>
                </a:lnTo>
                <a:lnTo>
                  <a:pt x="266700" y="21462"/>
                </a:lnTo>
                <a:lnTo>
                  <a:pt x="252475" y="143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6187" y="153456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1626" y="1494"/>
                </a:lnTo>
                <a:lnTo>
                  <a:pt x="5572" y="5572"/>
                </a:lnTo>
                <a:lnTo>
                  <a:pt x="1494" y="11626"/>
                </a:lnTo>
                <a:lnTo>
                  <a:pt x="0" y="19050"/>
                </a:lnTo>
                <a:lnTo>
                  <a:pt x="1494" y="26473"/>
                </a:lnTo>
                <a:lnTo>
                  <a:pt x="5572" y="32527"/>
                </a:lnTo>
                <a:lnTo>
                  <a:pt x="11626" y="36605"/>
                </a:lnTo>
                <a:lnTo>
                  <a:pt x="19050" y="38100"/>
                </a:lnTo>
                <a:lnTo>
                  <a:pt x="26473" y="36605"/>
                </a:lnTo>
                <a:lnTo>
                  <a:pt x="32527" y="32527"/>
                </a:lnTo>
                <a:lnTo>
                  <a:pt x="36605" y="26473"/>
                </a:lnTo>
                <a:lnTo>
                  <a:pt x="38100" y="19050"/>
                </a:lnTo>
                <a:lnTo>
                  <a:pt x="36605" y="11626"/>
                </a:lnTo>
                <a:lnTo>
                  <a:pt x="32527" y="5572"/>
                </a:lnTo>
                <a:lnTo>
                  <a:pt x="26473" y="1494"/>
                </a:lnTo>
                <a:lnTo>
                  <a:pt x="190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69687" y="1287678"/>
            <a:ext cx="537972" cy="152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18734" y="1364640"/>
            <a:ext cx="43180" cy="266700"/>
          </a:xfrm>
          <a:custGeom>
            <a:avLst/>
            <a:gdLst/>
            <a:ahLst/>
            <a:cxnLst/>
            <a:rect l="l" t="t" r="r" b="b"/>
            <a:pathLst>
              <a:path w="43180" h="266700">
                <a:moveTo>
                  <a:pt x="14350" y="223774"/>
                </a:moveTo>
                <a:lnTo>
                  <a:pt x="0" y="223774"/>
                </a:lnTo>
                <a:lnTo>
                  <a:pt x="21462" y="266700"/>
                </a:lnTo>
                <a:lnTo>
                  <a:pt x="39306" y="231012"/>
                </a:lnTo>
                <a:lnTo>
                  <a:pt x="14350" y="231012"/>
                </a:lnTo>
                <a:lnTo>
                  <a:pt x="14350" y="223774"/>
                </a:lnTo>
                <a:close/>
              </a:path>
              <a:path w="43180" h="266700">
                <a:moveTo>
                  <a:pt x="28575" y="0"/>
                </a:moveTo>
                <a:lnTo>
                  <a:pt x="14350" y="0"/>
                </a:lnTo>
                <a:lnTo>
                  <a:pt x="14350" y="231012"/>
                </a:lnTo>
                <a:lnTo>
                  <a:pt x="28575" y="231012"/>
                </a:lnTo>
                <a:lnTo>
                  <a:pt x="28575" y="0"/>
                </a:lnTo>
                <a:close/>
              </a:path>
              <a:path w="43180" h="266700">
                <a:moveTo>
                  <a:pt x="42925" y="223774"/>
                </a:moveTo>
                <a:lnTo>
                  <a:pt x="28575" y="223774"/>
                </a:lnTo>
                <a:lnTo>
                  <a:pt x="28575" y="231012"/>
                </a:lnTo>
                <a:lnTo>
                  <a:pt x="39306" y="231012"/>
                </a:lnTo>
                <a:lnTo>
                  <a:pt x="42925" y="2237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21147" y="134406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1626" y="1494"/>
                </a:lnTo>
                <a:lnTo>
                  <a:pt x="5572" y="5572"/>
                </a:lnTo>
                <a:lnTo>
                  <a:pt x="1494" y="11626"/>
                </a:lnTo>
                <a:lnTo>
                  <a:pt x="0" y="19050"/>
                </a:lnTo>
                <a:lnTo>
                  <a:pt x="1494" y="26473"/>
                </a:lnTo>
                <a:lnTo>
                  <a:pt x="5572" y="32527"/>
                </a:lnTo>
                <a:lnTo>
                  <a:pt x="11626" y="36605"/>
                </a:lnTo>
                <a:lnTo>
                  <a:pt x="19050" y="38100"/>
                </a:lnTo>
                <a:lnTo>
                  <a:pt x="26473" y="36605"/>
                </a:lnTo>
                <a:lnTo>
                  <a:pt x="32527" y="32527"/>
                </a:lnTo>
                <a:lnTo>
                  <a:pt x="36605" y="26473"/>
                </a:lnTo>
                <a:lnTo>
                  <a:pt x="38100" y="19050"/>
                </a:lnTo>
                <a:lnTo>
                  <a:pt x="36605" y="11626"/>
                </a:lnTo>
                <a:lnTo>
                  <a:pt x="32527" y="5572"/>
                </a:lnTo>
                <a:lnTo>
                  <a:pt x="26473" y="1494"/>
                </a:lnTo>
                <a:lnTo>
                  <a:pt x="190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14846" y="1522374"/>
            <a:ext cx="241300" cy="38100"/>
          </a:xfrm>
          <a:custGeom>
            <a:avLst/>
            <a:gdLst/>
            <a:ahLst/>
            <a:cxnLst/>
            <a:rect l="l" t="t" r="r" b="b"/>
            <a:pathLst>
              <a:path w="241300" h="38100">
                <a:moveTo>
                  <a:pt x="202691" y="0"/>
                </a:moveTo>
                <a:lnTo>
                  <a:pt x="202691" y="38100"/>
                </a:lnTo>
                <a:lnTo>
                  <a:pt x="234441" y="22225"/>
                </a:lnTo>
                <a:lnTo>
                  <a:pt x="209041" y="22225"/>
                </a:lnTo>
                <a:lnTo>
                  <a:pt x="209041" y="15875"/>
                </a:lnTo>
                <a:lnTo>
                  <a:pt x="234441" y="15875"/>
                </a:lnTo>
                <a:lnTo>
                  <a:pt x="202691" y="0"/>
                </a:lnTo>
                <a:close/>
              </a:path>
              <a:path w="241300" h="38100">
                <a:moveTo>
                  <a:pt x="202691" y="15875"/>
                </a:moveTo>
                <a:lnTo>
                  <a:pt x="0" y="15875"/>
                </a:lnTo>
                <a:lnTo>
                  <a:pt x="0" y="22225"/>
                </a:lnTo>
                <a:lnTo>
                  <a:pt x="202691" y="22225"/>
                </a:lnTo>
                <a:lnTo>
                  <a:pt x="202691" y="15875"/>
                </a:lnTo>
                <a:close/>
              </a:path>
              <a:path w="241300" h="38100">
                <a:moveTo>
                  <a:pt x="234441" y="15875"/>
                </a:moveTo>
                <a:lnTo>
                  <a:pt x="209041" y="15875"/>
                </a:lnTo>
                <a:lnTo>
                  <a:pt x="209041" y="22225"/>
                </a:lnTo>
                <a:lnTo>
                  <a:pt x="234441" y="22225"/>
                </a:lnTo>
                <a:lnTo>
                  <a:pt x="240791" y="19050"/>
                </a:lnTo>
                <a:lnTo>
                  <a:pt x="234441" y="15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92747" y="1294536"/>
            <a:ext cx="38100" cy="254635"/>
          </a:xfrm>
          <a:custGeom>
            <a:avLst/>
            <a:gdLst/>
            <a:ahLst/>
            <a:cxnLst/>
            <a:rect l="l" t="t" r="r" b="b"/>
            <a:pathLst>
              <a:path w="38100" h="254634">
                <a:moveTo>
                  <a:pt x="22225" y="31750"/>
                </a:moveTo>
                <a:lnTo>
                  <a:pt x="15875" y="31750"/>
                </a:lnTo>
                <a:lnTo>
                  <a:pt x="15875" y="254507"/>
                </a:lnTo>
                <a:lnTo>
                  <a:pt x="22225" y="254507"/>
                </a:lnTo>
                <a:lnTo>
                  <a:pt x="22225" y="31750"/>
                </a:lnTo>
                <a:close/>
              </a:path>
              <a:path w="38100" h="254634">
                <a:moveTo>
                  <a:pt x="19050" y="0"/>
                </a:moveTo>
                <a:lnTo>
                  <a:pt x="0" y="38100"/>
                </a:lnTo>
                <a:lnTo>
                  <a:pt x="15875" y="38100"/>
                </a:lnTo>
                <a:lnTo>
                  <a:pt x="15875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254634">
                <a:moveTo>
                  <a:pt x="34925" y="31750"/>
                </a:moveTo>
                <a:lnTo>
                  <a:pt x="22225" y="31750"/>
                </a:lnTo>
                <a:lnTo>
                  <a:pt x="22225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62852" y="1496466"/>
            <a:ext cx="19685" cy="40005"/>
          </a:xfrm>
          <a:custGeom>
            <a:avLst/>
            <a:gdLst/>
            <a:ahLst/>
            <a:cxnLst/>
            <a:rect l="l" t="t" r="r" b="b"/>
            <a:pathLst>
              <a:path w="19685" h="40005">
                <a:moveTo>
                  <a:pt x="14224" y="39624"/>
                </a:moveTo>
                <a:lnTo>
                  <a:pt x="16637" y="32579"/>
                </a:lnTo>
                <a:lnTo>
                  <a:pt x="18669" y="25653"/>
                </a:lnTo>
                <a:lnTo>
                  <a:pt x="19653" y="19300"/>
                </a:lnTo>
                <a:lnTo>
                  <a:pt x="18923" y="13970"/>
                </a:lnTo>
                <a:lnTo>
                  <a:pt x="16637" y="7747"/>
                </a:lnTo>
                <a:lnTo>
                  <a:pt x="7874" y="3937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28384" y="1446175"/>
            <a:ext cx="54862" cy="975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75557" y="2155215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梯</a:t>
            </a:r>
            <a:r>
              <a:rPr sz="1000" spc="-5" dirty="0">
                <a:latin typeface="黑体"/>
                <a:cs typeface="黑体"/>
              </a:rPr>
              <a:t>度方</a:t>
            </a:r>
            <a:r>
              <a:rPr sz="1000" spc="5" dirty="0">
                <a:latin typeface="黑体"/>
                <a:cs typeface="黑体"/>
              </a:rPr>
              <a:t>向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0952" y="2904134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梯</a:t>
            </a:r>
            <a:r>
              <a:rPr sz="1000" spc="-5" dirty="0">
                <a:latin typeface="黑体"/>
                <a:cs typeface="黑体"/>
              </a:rPr>
              <a:t>度的</a:t>
            </a:r>
            <a:r>
              <a:rPr sz="1000" spc="5" dirty="0">
                <a:latin typeface="黑体"/>
                <a:cs typeface="黑体"/>
              </a:rPr>
              <a:t>模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35928" y="2327427"/>
            <a:ext cx="1675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梯</a:t>
            </a:r>
            <a:r>
              <a:rPr sz="1000" spc="-5" dirty="0">
                <a:latin typeface="黑体"/>
                <a:cs typeface="黑体"/>
              </a:rPr>
              <a:t>度方</a:t>
            </a:r>
            <a:r>
              <a:rPr sz="1000" spc="5" dirty="0">
                <a:latin typeface="黑体"/>
                <a:cs typeface="黑体"/>
              </a:rPr>
              <a:t>向</a:t>
            </a:r>
            <a:r>
              <a:rPr sz="1000" spc="-5" dirty="0">
                <a:latin typeface="黑体"/>
                <a:cs typeface="黑体"/>
              </a:rPr>
              <a:t>与边</a:t>
            </a:r>
            <a:r>
              <a:rPr sz="1000" spc="5" dirty="0">
                <a:latin typeface="黑体"/>
                <a:cs typeface="黑体"/>
              </a:rPr>
              <a:t>缘</a:t>
            </a:r>
            <a:r>
              <a:rPr sz="1000" spc="-5" dirty="0">
                <a:latin typeface="黑体"/>
                <a:cs typeface="黑体"/>
              </a:rPr>
              <a:t>方向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关系？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35474" y="840638"/>
            <a:ext cx="572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图像梯度</a:t>
            </a:r>
            <a:r>
              <a:rPr sz="1000" spc="-5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40960" y="169255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66678" y="138521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0"/>
                </a:moveTo>
                <a:lnTo>
                  <a:pt x="0" y="307339"/>
                </a:lnTo>
              </a:path>
            </a:pathLst>
          </a:custGeom>
          <a:ln w="120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40960" y="137886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21555" y="169255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27588" y="138521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0"/>
                </a:moveTo>
                <a:lnTo>
                  <a:pt x="0" y="307339"/>
                </a:lnTo>
              </a:path>
            </a:pathLst>
          </a:custGeom>
          <a:ln w="12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555" y="137886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56227" y="1539138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78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45558" y="1522120"/>
            <a:ext cx="1631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𝜕𝑥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79798" y="1340764"/>
            <a:ext cx="671830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6555">
              <a:lnSpc>
                <a:spcPts val="98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980"/>
              </a:lnSpc>
              <a:tabLst>
                <a:tab pos="541020" algn="l"/>
              </a:tabLst>
            </a:pPr>
            <a:r>
              <a:rPr sz="1000" dirty="0">
                <a:latin typeface="Cambria Math"/>
                <a:cs typeface="Cambria Math"/>
              </a:rPr>
              <a:t>∇𝑓</a:t>
            </a:r>
            <a:r>
              <a:rPr sz="1000" spc="8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=	,</a:t>
            </a:r>
            <a:r>
              <a:rPr sz="1000" spc="-114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533261" y="171287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58979" y="140553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0"/>
                </a:moveTo>
                <a:lnTo>
                  <a:pt x="0" y="307340"/>
                </a:lnTo>
              </a:path>
            </a:pathLst>
          </a:custGeom>
          <a:ln w="12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33261" y="139918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33541" y="171287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239574" y="140553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0"/>
                </a:moveTo>
                <a:lnTo>
                  <a:pt x="0" y="307340"/>
                </a:lnTo>
              </a:path>
            </a:pathLst>
          </a:custGeom>
          <a:ln w="120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233541" y="139918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85687" y="1559331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892165" y="1360957"/>
            <a:ext cx="646430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98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980"/>
              </a:lnSpc>
            </a:pPr>
            <a:r>
              <a:rPr sz="1000" dirty="0">
                <a:latin typeface="Cambria Math"/>
                <a:cs typeface="Cambria Math"/>
              </a:rPr>
              <a:t>∇</a:t>
            </a:r>
            <a:r>
              <a:rPr sz="1000">
                <a:latin typeface="Cambria Math"/>
                <a:cs typeface="Cambria Math"/>
              </a:rPr>
              <a:t>𝑓 </a:t>
            </a:r>
            <a:r>
              <a:rPr sz="1000" spc="-5" smtClean="0">
                <a:latin typeface="Cambria Math"/>
                <a:cs typeface="Cambria Math"/>
              </a:rPr>
              <a:t>=</a:t>
            </a:r>
            <a:r>
              <a:rPr lang="en-US" sz="1000" spc="-5" smtClean="0">
                <a:latin typeface="Cambria Math"/>
                <a:cs typeface="Cambria Math"/>
              </a:rPr>
              <a:t>  </a:t>
            </a:r>
            <a:r>
              <a:rPr sz="1000" spc="55" smtClean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0,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73749" y="1542313"/>
            <a:ext cx="166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𝜕𝑦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66100" y="171287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191818" y="140553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0"/>
                </a:moveTo>
                <a:lnTo>
                  <a:pt x="0" y="307340"/>
                </a:lnTo>
              </a:path>
            </a:pathLst>
          </a:custGeom>
          <a:ln w="12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66100" y="139918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71892" y="171287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777925" y="140553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0"/>
                </a:moveTo>
                <a:lnTo>
                  <a:pt x="0" y="307340"/>
                </a:lnTo>
              </a:path>
            </a:pathLst>
          </a:custGeom>
          <a:ln w="120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71892" y="139918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806691" y="1559331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18527" y="1559331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430897" y="1360957"/>
            <a:ext cx="74104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6555">
              <a:lnSpc>
                <a:spcPts val="98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𝜕𝑓</a:t>
            </a:r>
            <a:r>
              <a:rPr sz="1000" spc="50" dirty="0">
                <a:latin typeface="Cambria Math"/>
                <a:cs typeface="Cambria Math"/>
              </a:rPr>
              <a:t> </a:t>
            </a:r>
            <a:r>
              <a:rPr sz="1000" spc="-10" dirty="0"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980"/>
              </a:lnSpc>
              <a:tabLst>
                <a:tab pos="541020" algn="l"/>
              </a:tabLst>
            </a:pPr>
            <a:r>
              <a:rPr sz="1000" dirty="0">
                <a:latin typeface="Cambria Math"/>
                <a:cs typeface="Cambria Math"/>
              </a:rPr>
              <a:t>∇𝑓</a:t>
            </a:r>
            <a:r>
              <a:rPr sz="1000" spc="8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=	,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96657" y="1542313"/>
            <a:ext cx="376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𝜕𝑥</a:t>
            </a:r>
            <a:r>
              <a:rPr sz="1000" spc="55" dirty="0">
                <a:latin typeface="Cambria Math"/>
                <a:cs typeface="Cambria Math"/>
              </a:rPr>
              <a:t> </a:t>
            </a:r>
            <a:r>
              <a:rPr sz="1000" spc="-10" dirty="0">
                <a:latin typeface="Cambria Math"/>
                <a:cs typeface="Cambria Math"/>
              </a:rPr>
              <a:t>𝜕𝑦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608446" y="109946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34163" y="79212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40">
                <a:moveTo>
                  <a:pt x="0" y="0"/>
                </a:moveTo>
                <a:lnTo>
                  <a:pt x="0" y="307340"/>
                </a:lnTo>
              </a:path>
            </a:pathLst>
          </a:custGeom>
          <a:ln w="120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08446" y="787044"/>
            <a:ext cx="31750" cy="5080"/>
          </a:xfrm>
          <a:custGeom>
            <a:avLst/>
            <a:gdLst/>
            <a:ahLst/>
            <a:cxnLst/>
            <a:rect l="l" t="t" r="r" b="b"/>
            <a:pathLst>
              <a:path w="31750" h="5079">
                <a:moveTo>
                  <a:pt x="0" y="5079"/>
                </a:moveTo>
                <a:lnTo>
                  <a:pt x="31750" y="5079"/>
                </a:lnTo>
                <a:lnTo>
                  <a:pt x="31750" y="0"/>
                </a:lnTo>
                <a:lnTo>
                  <a:pt x="0" y="0"/>
                </a:lnTo>
                <a:lnTo>
                  <a:pt x="0" y="5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214237" y="1099464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350"/>
                </a:moveTo>
                <a:lnTo>
                  <a:pt x="31750" y="6350"/>
                </a:lnTo>
                <a:lnTo>
                  <a:pt x="31750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20270" y="792124"/>
            <a:ext cx="0" cy="307340"/>
          </a:xfrm>
          <a:custGeom>
            <a:avLst/>
            <a:gdLst/>
            <a:ahLst/>
            <a:cxnLst/>
            <a:rect l="l" t="t" r="r" b="b"/>
            <a:pathLst>
              <a:path h="307340">
                <a:moveTo>
                  <a:pt x="0" y="0"/>
                </a:moveTo>
                <a:lnTo>
                  <a:pt x="0" y="307340"/>
                </a:lnTo>
              </a:path>
            </a:pathLst>
          </a:custGeom>
          <a:ln w="12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214237" y="787044"/>
            <a:ext cx="31750" cy="5080"/>
          </a:xfrm>
          <a:custGeom>
            <a:avLst/>
            <a:gdLst/>
            <a:ahLst/>
            <a:cxnLst/>
            <a:rect l="l" t="t" r="r" b="b"/>
            <a:pathLst>
              <a:path w="31750" h="5079">
                <a:moveTo>
                  <a:pt x="0" y="5079"/>
                </a:moveTo>
                <a:lnTo>
                  <a:pt x="31750" y="5079"/>
                </a:lnTo>
                <a:lnTo>
                  <a:pt x="31750" y="0"/>
                </a:lnTo>
                <a:lnTo>
                  <a:pt x="0" y="0"/>
                </a:lnTo>
                <a:lnTo>
                  <a:pt x="0" y="5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49035" y="946429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460872" y="946429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2872988" y="747928"/>
            <a:ext cx="74104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6555">
              <a:lnSpc>
                <a:spcPts val="98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𝜕𝑓</a:t>
            </a:r>
            <a:r>
              <a:rPr sz="1000" spc="50" dirty="0">
                <a:latin typeface="Cambria Math"/>
                <a:cs typeface="Cambria Math"/>
              </a:rPr>
              <a:t> </a:t>
            </a:r>
            <a:r>
              <a:rPr sz="1000" spc="-10" dirty="0"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980"/>
              </a:lnSpc>
              <a:tabLst>
                <a:tab pos="541020" algn="l"/>
              </a:tabLst>
            </a:pPr>
            <a:r>
              <a:rPr sz="1000" dirty="0">
                <a:latin typeface="Cambria Math"/>
                <a:cs typeface="Cambria Math"/>
              </a:rPr>
              <a:t>∇𝑓</a:t>
            </a:r>
            <a:r>
              <a:rPr sz="1000" spc="80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Cambria Math"/>
                <a:cs typeface="Cambria Math"/>
              </a:rPr>
              <a:t>=	,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38749" y="929284"/>
            <a:ext cx="376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𝜕𝑥</a:t>
            </a:r>
            <a:r>
              <a:rPr sz="1000" spc="55" dirty="0">
                <a:latin typeface="Cambria Math"/>
                <a:cs typeface="Cambria Math"/>
              </a:rPr>
              <a:t> </a:t>
            </a:r>
            <a:r>
              <a:rPr sz="1000" spc="-10" dirty="0">
                <a:latin typeface="Cambria Math"/>
                <a:cs typeface="Cambria Math"/>
              </a:rPr>
              <a:t>𝜕𝑦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821172" y="2420264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>
                <a:moveTo>
                  <a:pt x="0" y="0"/>
                </a:moveTo>
                <a:lnTo>
                  <a:pt x="118872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008624" y="2420264"/>
            <a:ext cx="116205" cy="0"/>
          </a:xfrm>
          <a:custGeom>
            <a:avLst/>
            <a:gdLst/>
            <a:ahLst/>
            <a:cxnLst/>
            <a:rect l="l" t="t" r="r" b="b"/>
            <a:pathLst>
              <a:path w="116205">
                <a:moveTo>
                  <a:pt x="0" y="0"/>
                </a:moveTo>
                <a:lnTo>
                  <a:pt x="115824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809361" y="2415565"/>
            <a:ext cx="3263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65" dirty="0">
                <a:latin typeface="Cambria Math"/>
                <a:cs typeface="Cambria Math"/>
              </a:rPr>
              <a:t>𝜕𝑦</a:t>
            </a:r>
            <a:r>
              <a:rPr sz="700" spc="100" dirty="0">
                <a:latin typeface="Cambria Math"/>
                <a:cs typeface="Cambria Math"/>
              </a:rPr>
              <a:t> </a:t>
            </a:r>
            <a:r>
              <a:rPr sz="700" spc="60" dirty="0">
                <a:latin typeface="Cambria Math"/>
                <a:cs typeface="Cambria Math"/>
              </a:rPr>
              <a:t>𝜕𝑥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213096" y="2318029"/>
            <a:ext cx="9671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𝜃 = </a:t>
            </a:r>
            <a:r>
              <a:rPr sz="1000" spc="20" dirty="0">
                <a:latin typeface="Cambria Math"/>
                <a:cs typeface="Cambria Math"/>
              </a:rPr>
              <a:t>tan</a:t>
            </a:r>
            <a:r>
              <a:rPr sz="1050" spc="30" baseline="27777" dirty="0">
                <a:latin typeface="Cambria Math"/>
                <a:cs typeface="Cambria Math"/>
              </a:rPr>
              <a:t>−1</a:t>
            </a:r>
            <a:r>
              <a:rPr sz="1000" spc="20" dirty="0">
                <a:latin typeface="Cambria Math"/>
                <a:cs typeface="Cambria Math"/>
              </a:rPr>
              <a:t>(</a:t>
            </a:r>
            <a:r>
              <a:rPr sz="1050" spc="30" baseline="47619" dirty="0">
                <a:latin typeface="Cambria Math"/>
                <a:cs typeface="Cambria Math"/>
              </a:rPr>
              <a:t>𝜕𝑓</a:t>
            </a:r>
            <a:r>
              <a:rPr sz="1000" spc="20" dirty="0">
                <a:latin typeface="Arial"/>
                <a:cs typeface="Arial"/>
              </a:rPr>
              <a:t>/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50" spc="60" baseline="47619" dirty="0">
                <a:latin typeface="Cambria Math"/>
                <a:cs typeface="Cambria Math"/>
              </a:rPr>
              <a:t>𝜕𝑓</a:t>
            </a:r>
            <a:r>
              <a:rPr sz="1000" spc="4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442141" y="3119018"/>
            <a:ext cx="0" cy="153035"/>
          </a:xfrm>
          <a:custGeom>
            <a:avLst/>
            <a:gdLst/>
            <a:ahLst/>
            <a:cxnLst/>
            <a:rect l="l" t="t" r="r" b="b"/>
            <a:pathLst>
              <a:path h="153035">
                <a:moveTo>
                  <a:pt x="0" y="0"/>
                </a:moveTo>
                <a:lnTo>
                  <a:pt x="0" y="1529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172393" y="3119018"/>
            <a:ext cx="0" cy="153035"/>
          </a:xfrm>
          <a:custGeom>
            <a:avLst/>
            <a:gdLst/>
            <a:ahLst/>
            <a:cxnLst/>
            <a:rect l="l" t="t" r="r" b="b"/>
            <a:pathLst>
              <a:path h="153035">
                <a:moveTo>
                  <a:pt x="0" y="0"/>
                </a:moveTo>
                <a:lnTo>
                  <a:pt x="0" y="1529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400993" y="3138576"/>
            <a:ext cx="0" cy="115570"/>
          </a:xfrm>
          <a:custGeom>
            <a:avLst/>
            <a:gdLst/>
            <a:ahLst/>
            <a:cxnLst/>
            <a:rect l="l" t="t" r="r" b="b"/>
            <a:pathLst>
              <a:path h="115570">
                <a:moveTo>
                  <a:pt x="0" y="0"/>
                </a:moveTo>
                <a:lnTo>
                  <a:pt x="0" y="1150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12017" y="3138576"/>
            <a:ext cx="0" cy="115570"/>
          </a:xfrm>
          <a:custGeom>
            <a:avLst/>
            <a:gdLst/>
            <a:ahLst/>
            <a:cxnLst/>
            <a:rect l="l" t="t" r="r" b="b"/>
            <a:pathLst>
              <a:path h="115570">
                <a:moveTo>
                  <a:pt x="0" y="0"/>
                </a:moveTo>
                <a:lnTo>
                  <a:pt x="0" y="1150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2221097" y="3093745"/>
            <a:ext cx="3841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∇</a:t>
            </a:r>
            <a:r>
              <a:rPr sz="1000" spc="-10">
                <a:latin typeface="Cambria Math"/>
                <a:cs typeface="Cambria Math"/>
              </a:rPr>
              <a:t>𝑓</a:t>
            </a:r>
            <a:r>
              <a:rPr sz="1000">
                <a:latin typeface="Cambria Math"/>
                <a:cs typeface="Cambria Math"/>
              </a:rPr>
              <a:t> </a:t>
            </a:r>
            <a:r>
              <a:rPr lang="en-US" sz="1000" smtClean="0">
                <a:latin typeface="Cambria Math"/>
                <a:cs typeface="Cambria Math"/>
              </a:rPr>
              <a:t>  </a:t>
            </a:r>
            <a:r>
              <a:rPr sz="1000" spc="-5" smtClean="0"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630037" y="2961157"/>
            <a:ext cx="944244" cy="421640"/>
          </a:xfrm>
          <a:custGeom>
            <a:avLst/>
            <a:gdLst/>
            <a:ahLst/>
            <a:cxnLst/>
            <a:rect l="l" t="t" r="r" b="b"/>
            <a:pathLst>
              <a:path w="944245" h="421639">
                <a:moveTo>
                  <a:pt x="27577" y="349123"/>
                </a:moveTo>
                <a:lnTo>
                  <a:pt x="14097" y="349123"/>
                </a:lnTo>
                <a:lnTo>
                  <a:pt x="53467" y="421640"/>
                </a:lnTo>
                <a:lnTo>
                  <a:pt x="59309" y="421640"/>
                </a:lnTo>
                <a:lnTo>
                  <a:pt x="60917" y="397510"/>
                </a:lnTo>
                <a:lnTo>
                  <a:pt x="53720" y="397510"/>
                </a:lnTo>
                <a:lnTo>
                  <a:pt x="27577" y="349123"/>
                </a:lnTo>
                <a:close/>
              </a:path>
              <a:path w="944245" h="421639">
                <a:moveTo>
                  <a:pt x="99187" y="0"/>
                </a:moveTo>
                <a:lnTo>
                  <a:pt x="80010" y="0"/>
                </a:lnTo>
                <a:lnTo>
                  <a:pt x="53720" y="397510"/>
                </a:lnTo>
                <a:lnTo>
                  <a:pt x="60917" y="397510"/>
                </a:lnTo>
                <a:lnTo>
                  <a:pt x="86868" y="8128"/>
                </a:lnTo>
                <a:lnTo>
                  <a:pt x="944245" y="8128"/>
                </a:lnTo>
                <a:lnTo>
                  <a:pt x="944245" y="635"/>
                </a:lnTo>
                <a:lnTo>
                  <a:pt x="99187" y="635"/>
                </a:lnTo>
                <a:lnTo>
                  <a:pt x="99187" y="0"/>
                </a:lnTo>
                <a:close/>
              </a:path>
              <a:path w="944245" h="421639">
                <a:moveTo>
                  <a:pt x="22225" y="339217"/>
                </a:moveTo>
                <a:lnTo>
                  <a:pt x="0" y="351028"/>
                </a:lnTo>
                <a:lnTo>
                  <a:pt x="2412" y="355346"/>
                </a:lnTo>
                <a:lnTo>
                  <a:pt x="14097" y="349123"/>
                </a:lnTo>
                <a:lnTo>
                  <a:pt x="27577" y="349123"/>
                </a:lnTo>
                <a:lnTo>
                  <a:pt x="22225" y="339217"/>
                </a:lnTo>
                <a:close/>
              </a:path>
              <a:path w="944245" h="421639">
                <a:moveTo>
                  <a:pt x="944245" y="8128"/>
                </a:moveTo>
                <a:lnTo>
                  <a:pt x="93853" y="8128"/>
                </a:lnTo>
                <a:lnTo>
                  <a:pt x="944245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735828" y="3034182"/>
            <a:ext cx="269875" cy="322580"/>
          </a:xfrm>
          <a:custGeom>
            <a:avLst/>
            <a:gdLst/>
            <a:ahLst/>
            <a:cxnLst/>
            <a:rect l="l" t="t" r="r" b="b"/>
            <a:pathLst>
              <a:path w="269875" h="322579">
                <a:moveTo>
                  <a:pt x="214503" y="0"/>
                </a:moveTo>
                <a:lnTo>
                  <a:pt x="211581" y="4572"/>
                </a:lnTo>
                <a:lnTo>
                  <a:pt x="221896" y="16926"/>
                </a:lnTo>
                <a:lnTo>
                  <a:pt x="230949" y="31686"/>
                </a:lnTo>
                <a:lnTo>
                  <a:pt x="245363" y="68326"/>
                </a:lnTo>
                <a:lnTo>
                  <a:pt x="254285" y="112299"/>
                </a:lnTo>
                <a:lnTo>
                  <a:pt x="257301" y="161036"/>
                </a:lnTo>
                <a:lnTo>
                  <a:pt x="256561" y="185588"/>
                </a:lnTo>
                <a:lnTo>
                  <a:pt x="250604" y="231741"/>
                </a:lnTo>
                <a:lnTo>
                  <a:pt x="238817" y="273250"/>
                </a:lnTo>
                <a:lnTo>
                  <a:pt x="211581" y="317881"/>
                </a:lnTo>
                <a:lnTo>
                  <a:pt x="214503" y="322453"/>
                </a:lnTo>
                <a:lnTo>
                  <a:pt x="246667" y="277572"/>
                </a:lnTo>
                <a:lnTo>
                  <a:pt x="261336" y="234688"/>
                </a:lnTo>
                <a:lnTo>
                  <a:pt x="268817" y="186682"/>
                </a:lnTo>
                <a:lnTo>
                  <a:pt x="269747" y="161036"/>
                </a:lnTo>
                <a:lnTo>
                  <a:pt x="268817" y="135100"/>
                </a:lnTo>
                <a:lnTo>
                  <a:pt x="261336" y="86991"/>
                </a:lnTo>
                <a:lnTo>
                  <a:pt x="246667" y="44577"/>
                </a:lnTo>
                <a:lnTo>
                  <a:pt x="226526" y="12192"/>
                </a:lnTo>
                <a:lnTo>
                  <a:pt x="214503" y="0"/>
                </a:lnTo>
                <a:close/>
              </a:path>
              <a:path w="269875" h="322579">
                <a:moveTo>
                  <a:pt x="55244" y="0"/>
                </a:moveTo>
                <a:lnTo>
                  <a:pt x="23008" y="44577"/>
                </a:lnTo>
                <a:lnTo>
                  <a:pt x="8358" y="86991"/>
                </a:lnTo>
                <a:lnTo>
                  <a:pt x="928" y="135100"/>
                </a:lnTo>
                <a:lnTo>
                  <a:pt x="0" y="161036"/>
                </a:lnTo>
                <a:lnTo>
                  <a:pt x="928" y="186682"/>
                </a:lnTo>
                <a:lnTo>
                  <a:pt x="8358" y="234688"/>
                </a:lnTo>
                <a:lnTo>
                  <a:pt x="23008" y="277572"/>
                </a:lnTo>
                <a:lnTo>
                  <a:pt x="43166" y="310286"/>
                </a:lnTo>
                <a:lnTo>
                  <a:pt x="55244" y="322453"/>
                </a:lnTo>
                <a:lnTo>
                  <a:pt x="58166" y="317881"/>
                </a:lnTo>
                <a:lnTo>
                  <a:pt x="47779" y="305496"/>
                </a:lnTo>
                <a:lnTo>
                  <a:pt x="38703" y="290623"/>
                </a:lnTo>
                <a:lnTo>
                  <a:pt x="24383" y="253365"/>
                </a:lnTo>
                <a:lnTo>
                  <a:pt x="15414" y="209153"/>
                </a:lnTo>
                <a:lnTo>
                  <a:pt x="12445" y="161036"/>
                </a:lnTo>
                <a:lnTo>
                  <a:pt x="13186" y="136084"/>
                </a:lnTo>
                <a:lnTo>
                  <a:pt x="19143" y="89705"/>
                </a:lnTo>
                <a:lnTo>
                  <a:pt x="30930" y="48827"/>
                </a:lnTo>
                <a:lnTo>
                  <a:pt x="58166" y="4572"/>
                </a:lnTo>
                <a:lnTo>
                  <a:pt x="552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798566" y="3195726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2786755" y="2968167"/>
            <a:ext cx="165100" cy="3886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  <a:p>
            <a:pPr marL="13970">
              <a:lnSpc>
                <a:spcPct val="100000"/>
              </a:lnSpc>
              <a:spcBef>
                <a:spcPts val="229"/>
              </a:spcBef>
            </a:pPr>
            <a:r>
              <a:rPr sz="1000" spc="-10" dirty="0">
                <a:latin typeface="Cambria Math"/>
                <a:cs typeface="Cambria Math"/>
              </a:rPr>
              <a:t>𝜕𝑥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04687" y="2958109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latin typeface="Cambria Math"/>
                <a:cs typeface="Cambria Math"/>
              </a:rPr>
              <a:t>2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090031" y="3093745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 Math"/>
                <a:cs typeface="Cambria Math"/>
              </a:rPr>
              <a:t>+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235700" y="3034182"/>
            <a:ext cx="269875" cy="322580"/>
          </a:xfrm>
          <a:custGeom>
            <a:avLst/>
            <a:gdLst/>
            <a:ahLst/>
            <a:cxnLst/>
            <a:rect l="l" t="t" r="r" b="b"/>
            <a:pathLst>
              <a:path w="269875" h="322579">
                <a:moveTo>
                  <a:pt x="214502" y="0"/>
                </a:moveTo>
                <a:lnTo>
                  <a:pt x="211582" y="4572"/>
                </a:lnTo>
                <a:lnTo>
                  <a:pt x="221896" y="16926"/>
                </a:lnTo>
                <a:lnTo>
                  <a:pt x="230949" y="31686"/>
                </a:lnTo>
                <a:lnTo>
                  <a:pt x="245363" y="68326"/>
                </a:lnTo>
                <a:lnTo>
                  <a:pt x="254285" y="112299"/>
                </a:lnTo>
                <a:lnTo>
                  <a:pt x="257301" y="161036"/>
                </a:lnTo>
                <a:lnTo>
                  <a:pt x="256561" y="185588"/>
                </a:lnTo>
                <a:lnTo>
                  <a:pt x="250604" y="231741"/>
                </a:lnTo>
                <a:lnTo>
                  <a:pt x="238817" y="273250"/>
                </a:lnTo>
                <a:lnTo>
                  <a:pt x="211582" y="317881"/>
                </a:lnTo>
                <a:lnTo>
                  <a:pt x="214502" y="322453"/>
                </a:lnTo>
                <a:lnTo>
                  <a:pt x="246667" y="277572"/>
                </a:lnTo>
                <a:lnTo>
                  <a:pt x="261336" y="234688"/>
                </a:lnTo>
                <a:lnTo>
                  <a:pt x="268817" y="186682"/>
                </a:lnTo>
                <a:lnTo>
                  <a:pt x="269748" y="161036"/>
                </a:lnTo>
                <a:lnTo>
                  <a:pt x="268817" y="135100"/>
                </a:lnTo>
                <a:lnTo>
                  <a:pt x="261336" y="86991"/>
                </a:lnTo>
                <a:lnTo>
                  <a:pt x="246667" y="44577"/>
                </a:lnTo>
                <a:lnTo>
                  <a:pt x="226526" y="12192"/>
                </a:lnTo>
                <a:lnTo>
                  <a:pt x="214502" y="0"/>
                </a:lnTo>
                <a:close/>
              </a:path>
              <a:path w="269875" h="322579">
                <a:moveTo>
                  <a:pt x="55245" y="0"/>
                </a:moveTo>
                <a:lnTo>
                  <a:pt x="23008" y="44577"/>
                </a:lnTo>
                <a:lnTo>
                  <a:pt x="8358" y="86991"/>
                </a:lnTo>
                <a:lnTo>
                  <a:pt x="928" y="135100"/>
                </a:lnTo>
                <a:lnTo>
                  <a:pt x="0" y="161036"/>
                </a:lnTo>
                <a:lnTo>
                  <a:pt x="928" y="186682"/>
                </a:lnTo>
                <a:lnTo>
                  <a:pt x="8358" y="234688"/>
                </a:lnTo>
                <a:lnTo>
                  <a:pt x="23008" y="277572"/>
                </a:lnTo>
                <a:lnTo>
                  <a:pt x="43166" y="310286"/>
                </a:lnTo>
                <a:lnTo>
                  <a:pt x="55245" y="322453"/>
                </a:lnTo>
                <a:lnTo>
                  <a:pt x="58165" y="317881"/>
                </a:lnTo>
                <a:lnTo>
                  <a:pt x="47779" y="305496"/>
                </a:lnTo>
                <a:lnTo>
                  <a:pt x="38703" y="290623"/>
                </a:lnTo>
                <a:lnTo>
                  <a:pt x="24384" y="253365"/>
                </a:lnTo>
                <a:lnTo>
                  <a:pt x="15414" y="209153"/>
                </a:lnTo>
                <a:lnTo>
                  <a:pt x="12446" y="161036"/>
                </a:lnTo>
                <a:lnTo>
                  <a:pt x="13186" y="136084"/>
                </a:lnTo>
                <a:lnTo>
                  <a:pt x="19143" y="89705"/>
                </a:lnTo>
                <a:lnTo>
                  <a:pt x="30930" y="48827"/>
                </a:lnTo>
                <a:lnTo>
                  <a:pt x="58165" y="4572"/>
                </a:lnTo>
                <a:lnTo>
                  <a:pt x="55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298438" y="3195726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286628" y="2968167"/>
            <a:ext cx="166370" cy="3886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10" dirty="0">
                <a:latin typeface="Cambria Math"/>
                <a:cs typeface="Cambria Math"/>
              </a:rPr>
              <a:t>𝜕𝑦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504560" y="2958109"/>
            <a:ext cx="793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35" dirty="0">
                <a:latin typeface="Cambria Math"/>
                <a:cs typeface="Cambria Math"/>
              </a:rPr>
              <a:t>2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016878" y="870864"/>
            <a:ext cx="1675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梯</a:t>
            </a:r>
            <a:r>
              <a:rPr sz="1000" spc="-5" dirty="0">
                <a:latin typeface="黑体"/>
                <a:cs typeface="黑体"/>
              </a:rPr>
              <a:t>度指</a:t>
            </a:r>
            <a:r>
              <a:rPr sz="1000" spc="5" dirty="0">
                <a:latin typeface="黑体"/>
                <a:cs typeface="黑体"/>
              </a:rPr>
              <a:t>向</a:t>
            </a:r>
            <a:r>
              <a:rPr sz="1000" spc="-5" dirty="0">
                <a:latin typeface="黑体"/>
                <a:cs typeface="黑体"/>
              </a:rPr>
              <a:t>灰度</a:t>
            </a:r>
            <a:r>
              <a:rPr sz="1000" spc="5" dirty="0">
                <a:latin typeface="黑体"/>
                <a:cs typeface="黑体"/>
              </a:rPr>
              <a:t>变</a:t>
            </a:r>
            <a:r>
              <a:rPr sz="1000" spc="-5" dirty="0">
                <a:latin typeface="黑体"/>
                <a:cs typeface="黑体"/>
              </a:rPr>
              <a:t>换最</a:t>
            </a:r>
            <a:r>
              <a:rPr sz="1000" spc="5" dirty="0">
                <a:latin typeface="黑体"/>
                <a:cs typeface="黑体"/>
              </a:rPr>
              <a:t>快</a:t>
            </a:r>
            <a:r>
              <a:rPr sz="1000" spc="-5" dirty="0">
                <a:latin typeface="黑体"/>
                <a:cs typeface="黑体"/>
              </a:rPr>
              <a:t>的方向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8208" y="3448577"/>
            <a:ext cx="5551170" cy="1511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  <a:tabLst>
                <a:tab pos="2276475" algn="l"/>
                <a:tab pos="5434965" algn="l"/>
              </a:tabLst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	</a:t>
            </a: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北京邮电大学计算机学院 </a:t>
            </a:r>
            <a:r>
              <a:rPr sz="900" spc="1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鲁鹏	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2758" y="1178363"/>
            <a:ext cx="2607101" cy="119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02119" y="1173791"/>
            <a:ext cx="1278636" cy="1187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620" y="1160075"/>
            <a:ext cx="1371600" cy="11856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5444" y="287204"/>
            <a:ext cx="1903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Calibri"/>
                <a:cs typeface="Calibri"/>
              </a:rPr>
              <a:t>Gradient</a:t>
            </a:r>
            <a:r>
              <a:rPr sz="17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Magnitude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6407" y="2584507"/>
            <a:ext cx="398145" cy="0"/>
          </a:xfrm>
          <a:custGeom>
            <a:avLst/>
            <a:gdLst/>
            <a:ahLst/>
            <a:cxnLst/>
            <a:rect l="l" t="t" r="r" b="b"/>
            <a:pathLst>
              <a:path w="398144">
                <a:moveTo>
                  <a:pt x="0" y="0"/>
                </a:moveTo>
                <a:lnTo>
                  <a:pt x="397763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14342" y="2404040"/>
            <a:ext cx="423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/>
                <a:cs typeface="Cambria Math"/>
              </a:rPr>
              <a:t>𝜕𝑓(𝑥,</a:t>
            </a:r>
            <a:r>
              <a:rPr sz="900" spc="-95" dirty="0">
                <a:latin typeface="Cambria Math"/>
                <a:cs typeface="Cambria Math"/>
              </a:rPr>
              <a:t> </a:t>
            </a:r>
            <a:r>
              <a:rPr sz="900" spc="5" dirty="0">
                <a:latin typeface="Cambria Math"/>
                <a:cs typeface="Cambria Math"/>
              </a:rPr>
              <a:t>𝑦)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48454" y="2567108"/>
            <a:ext cx="151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𝜕𝑥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02249" y="2612066"/>
            <a:ext cx="398145" cy="0"/>
          </a:xfrm>
          <a:custGeom>
            <a:avLst/>
            <a:gdLst/>
            <a:ahLst/>
            <a:cxnLst/>
            <a:rect l="l" t="t" r="r" b="b"/>
            <a:pathLst>
              <a:path w="398145">
                <a:moveTo>
                  <a:pt x="0" y="0"/>
                </a:moveTo>
                <a:lnTo>
                  <a:pt x="397763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90311" y="2431472"/>
            <a:ext cx="424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latin typeface="Cambria Math"/>
                <a:cs typeface="Cambria Math"/>
              </a:rPr>
              <a:t>𝜕𝑓(𝑥,</a:t>
            </a:r>
            <a:r>
              <a:rPr sz="900" spc="-105" dirty="0">
                <a:latin typeface="Cambria Math"/>
                <a:cs typeface="Cambria Math"/>
              </a:rPr>
              <a:t> </a:t>
            </a:r>
            <a:r>
              <a:rPr sz="900" spc="5" dirty="0">
                <a:latin typeface="Cambria Math"/>
                <a:cs typeface="Cambria Math"/>
              </a:rPr>
              <a:t>𝑦)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7724" y="2594540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𝜕y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54596" y="2554027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8049"/>
                </a:lnTo>
              </a:path>
            </a:pathLst>
          </a:custGeom>
          <a:ln w="8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10756" y="2554027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8049"/>
                </a:lnTo>
              </a:path>
            </a:pathLst>
          </a:custGeom>
          <a:ln w="8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18019" y="2569775"/>
            <a:ext cx="0" cy="104139"/>
          </a:xfrm>
          <a:custGeom>
            <a:avLst/>
            <a:gdLst/>
            <a:ahLst/>
            <a:cxnLst/>
            <a:rect l="l" t="t" r="r" b="b"/>
            <a:pathLst>
              <a:path h="104139">
                <a:moveTo>
                  <a:pt x="0" y="0"/>
                </a:moveTo>
                <a:lnTo>
                  <a:pt x="0" y="103758"/>
                </a:lnTo>
              </a:path>
            </a:pathLst>
          </a:custGeom>
          <a:ln w="8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47331" y="2569775"/>
            <a:ext cx="0" cy="104139"/>
          </a:xfrm>
          <a:custGeom>
            <a:avLst/>
            <a:gdLst/>
            <a:ahLst/>
            <a:cxnLst/>
            <a:rect l="l" t="t" r="r" b="b"/>
            <a:pathLst>
              <a:path h="104139">
                <a:moveTo>
                  <a:pt x="0" y="0"/>
                </a:moveTo>
                <a:lnTo>
                  <a:pt x="0" y="103758"/>
                </a:lnTo>
              </a:path>
            </a:pathLst>
          </a:custGeom>
          <a:ln w="8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54317" y="2529389"/>
            <a:ext cx="348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∇𝑓</a:t>
            </a:r>
            <a:r>
              <a:rPr sz="900" spc="14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=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22871" y="2410390"/>
            <a:ext cx="850265" cy="382270"/>
          </a:xfrm>
          <a:custGeom>
            <a:avLst/>
            <a:gdLst/>
            <a:ahLst/>
            <a:cxnLst/>
            <a:rect l="l" t="t" r="r" b="b"/>
            <a:pathLst>
              <a:path w="850264" h="382269">
                <a:moveTo>
                  <a:pt x="24864" y="316102"/>
                </a:moveTo>
                <a:lnTo>
                  <a:pt x="12700" y="316102"/>
                </a:lnTo>
                <a:lnTo>
                  <a:pt x="48387" y="381762"/>
                </a:lnTo>
                <a:lnTo>
                  <a:pt x="53593" y="381762"/>
                </a:lnTo>
                <a:lnTo>
                  <a:pt x="55049" y="359918"/>
                </a:lnTo>
                <a:lnTo>
                  <a:pt x="48513" y="359918"/>
                </a:lnTo>
                <a:lnTo>
                  <a:pt x="24864" y="316102"/>
                </a:lnTo>
                <a:close/>
              </a:path>
              <a:path w="850264" h="382269">
                <a:moveTo>
                  <a:pt x="850011" y="0"/>
                </a:moveTo>
                <a:lnTo>
                  <a:pt x="84962" y="0"/>
                </a:lnTo>
                <a:lnTo>
                  <a:pt x="84962" y="635"/>
                </a:lnTo>
                <a:lnTo>
                  <a:pt x="72262" y="635"/>
                </a:lnTo>
                <a:lnTo>
                  <a:pt x="48513" y="359918"/>
                </a:lnTo>
                <a:lnTo>
                  <a:pt x="55049" y="359918"/>
                </a:lnTo>
                <a:lnTo>
                  <a:pt x="78486" y="8127"/>
                </a:lnTo>
                <a:lnTo>
                  <a:pt x="89662" y="8127"/>
                </a:lnTo>
                <a:lnTo>
                  <a:pt x="89662" y="7493"/>
                </a:lnTo>
                <a:lnTo>
                  <a:pt x="850011" y="7493"/>
                </a:lnTo>
                <a:lnTo>
                  <a:pt x="850011" y="0"/>
                </a:lnTo>
                <a:close/>
              </a:path>
              <a:path w="850264" h="382269">
                <a:moveTo>
                  <a:pt x="20065" y="307213"/>
                </a:moveTo>
                <a:lnTo>
                  <a:pt x="0" y="317880"/>
                </a:lnTo>
                <a:lnTo>
                  <a:pt x="2158" y="321818"/>
                </a:lnTo>
                <a:lnTo>
                  <a:pt x="12700" y="316102"/>
                </a:lnTo>
                <a:lnTo>
                  <a:pt x="24864" y="316102"/>
                </a:lnTo>
                <a:lnTo>
                  <a:pt x="20065" y="3072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18756" y="2477319"/>
            <a:ext cx="241935" cy="291465"/>
          </a:xfrm>
          <a:custGeom>
            <a:avLst/>
            <a:gdLst/>
            <a:ahLst/>
            <a:cxnLst/>
            <a:rect l="l" t="t" r="r" b="b"/>
            <a:pathLst>
              <a:path w="241935" h="291464">
                <a:moveTo>
                  <a:pt x="191897" y="0"/>
                </a:moveTo>
                <a:lnTo>
                  <a:pt x="189357" y="4191"/>
                </a:lnTo>
                <a:lnTo>
                  <a:pt x="198620" y="15305"/>
                </a:lnTo>
                <a:lnTo>
                  <a:pt x="206787" y="28622"/>
                </a:lnTo>
                <a:lnTo>
                  <a:pt x="224524" y="81033"/>
                </a:lnTo>
                <a:lnTo>
                  <a:pt x="229945" y="122943"/>
                </a:lnTo>
                <a:lnTo>
                  <a:pt x="230632" y="145542"/>
                </a:lnTo>
                <a:lnTo>
                  <a:pt x="229945" y="167687"/>
                </a:lnTo>
                <a:lnTo>
                  <a:pt x="224524" y="209407"/>
                </a:lnTo>
                <a:lnTo>
                  <a:pt x="213931" y="246911"/>
                </a:lnTo>
                <a:lnTo>
                  <a:pt x="189357" y="287274"/>
                </a:lnTo>
                <a:lnTo>
                  <a:pt x="191897" y="291338"/>
                </a:lnTo>
                <a:lnTo>
                  <a:pt x="221007" y="250832"/>
                </a:lnTo>
                <a:lnTo>
                  <a:pt x="234253" y="212068"/>
                </a:lnTo>
                <a:lnTo>
                  <a:pt x="240972" y="168685"/>
                </a:lnTo>
                <a:lnTo>
                  <a:pt x="241808" y="145542"/>
                </a:lnTo>
                <a:lnTo>
                  <a:pt x="240972" y="122090"/>
                </a:lnTo>
                <a:lnTo>
                  <a:pt x="234253" y="78569"/>
                </a:lnTo>
                <a:lnTo>
                  <a:pt x="221007" y="40255"/>
                </a:lnTo>
                <a:lnTo>
                  <a:pt x="202807" y="11005"/>
                </a:lnTo>
                <a:lnTo>
                  <a:pt x="191897" y="0"/>
                </a:lnTo>
                <a:close/>
              </a:path>
              <a:path w="241935" h="291464">
                <a:moveTo>
                  <a:pt x="49784" y="0"/>
                </a:moveTo>
                <a:lnTo>
                  <a:pt x="20744" y="40255"/>
                </a:lnTo>
                <a:lnTo>
                  <a:pt x="7554" y="78569"/>
                </a:lnTo>
                <a:lnTo>
                  <a:pt x="835" y="122090"/>
                </a:lnTo>
                <a:lnTo>
                  <a:pt x="0" y="145542"/>
                </a:lnTo>
                <a:lnTo>
                  <a:pt x="835" y="168685"/>
                </a:lnTo>
                <a:lnTo>
                  <a:pt x="7554" y="212068"/>
                </a:lnTo>
                <a:lnTo>
                  <a:pt x="20744" y="250832"/>
                </a:lnTo>
                <a:lnTo>
                  <a:pt x="49784" y="291338"/>
                </a:lnTo>
                <a:lnTo>
                  <a:pt x="52451" y="287274"/>
                </a:lnTo>
                <a:lnTo>
                  <a:pt x="43116" y="276058"/>
                </a:lnTo>
                <a:lnTo>
                  <a:pt x="34925" y="262604"/>
                </a:lnTo>
                <a:lnTo>
                  <a:pt x="17230" y="209407"/>
                </a:lnTo>
                <a:lnTo>
                  <a:pt x="11844" y="167687"/>
                </a:lnTo>
                <a:lnTo>
                  <a:pt x="11176" y="145542"/>
                </a:lnTo>
                <a:lnTo>
                  <a:pt x="11862" y="122943"/>
                </a:lnTo>
                <a:lnTo>
                  <a:pt x="17283" y="81033"/>
                </a:lnTo>
                <a:lnTo>
                  <a:pt x="27876" y="44106"/>
                </a:lnTo>
                <a:lnTo>
                  <a:pt x="52451" y="4191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4890" y="2622861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63332" y="2416613"/>
            <a:ext cx="269240" cy="3517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dirty="0">
                <a:latin typeface="Cambria Math"/>
                <a:cs typeface="Cambria Math"/>
              </a:rPr>
              <a:t>𝜕𝑓</a:t>
            </a:r>
            <a:r>
              <a:rPr sz="900" spc="55" dirty="0">
                <a:latin typeface="Cambria Math"/>
                <a:cs typeface="Cambria Math"/>
              </a:rPr>
              <a:t> </a:t>
            </a:r>
            <a:r>
              <a:rPr sz="975" spc="30" baseline="42735" dirty="0">
                <a:latin typeface="Cambria Math"/>
                <a:cs typeface="Cambria Math"/>
              </a:rPr>
              <a:t>2</a:t>
            </a:r>
            <a:endParaRPr sz="975" baseline="4273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900" dirty="0">
                <a:latin typeface="Cambria Math"/>
                <a:cs typeface="Cambria Math"/>
              </a:rPr>
              <a:t>𝜕𝑥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36129" y="2529389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+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68336" y="2477319"/>
            <a:ext cx="241935" cy="291465"/>
          </a:xfrm>
          <a:custGeom>
            <a:avLst/>
            <a:gdLst/>
            <a:ahLst/>
            <a:cxnLst/>
            <a:rect l="l" t="t" r="r" b="b"/>
            <a:pathLst>
              <a:path w="241935" h="291464">
                <a:moveTo>
                  <a:pt x="191897" y="0"/>
                </a:moveTo>
                <a:lnTo>
                  <a:pt x="189356" y="4191"/>
                </a:lnTo>
                <a:lnTo>
                  <a:pt x="198620" y="15305"/>
                </a:lnTo>
                <a:lnTo>
                  <a:pt x="206787" y="28622"/>
                </a:lnTo>
                <a:lnTo>
                  <a:pt x="224524" y="81033"/>
                </a:lnTo>
                <a:lnTo>
                  <a:pt x="229945" y="122943"/>
                </a:lnTo>
                <a:lnTo>
                  <a:pt x="230631" y="145542"/>
                </a:lnTo>
                <a:lnTo>
                  <a:pt x="229945" y="167687"/>
                </a:lnTo>
                <a:lnTo>
                  <a:pt x="224524" y="209407"/>
                </a:lnTo>
                <a:lnTo>
                  <a:pt x="213931" y="246911"/>
                </a:lnTo>
                <a:lnTo>
                  <a:pt x="189356" y="287274"/>
                </a:lnTo>
                <a:lnTo>
                  <a:pt x="191897" y="291338"/>
                </a:lnTo>
                <a:lnTo>
                  <a:pt x="221007" y="250832"/>
                </a:lnTo>
                <a:lnTo>
                  <a:pt x="234253" y="212068"/>
                </a:lnTo>
                <a:lnTo>
                  <a:pt x="240972" y="168685"/>
                </a:lnTo>
                <a:lnTo>
                  <a:pt x="241808" y="145542"/>
                </a:lnTo>
                <a:lnTo>
                  <a:pt x="240972" y="122090"/>
                </a:lnTo>
                <a:lnTo>
                  <a:pt x="234253" y="78569"/>
                </a:lnTo>
                <a:lnTo>
                  <a:pt x="221007" y="40255"/>
                </a:lnTo>
                <a:lnTo>
                  <a:pt x="202807" y="11005"/>
                </a:lnTo>
                <a:lnTo>
                  <a:pt x="191897" y="0"/>
                </a:lnTo>
                <a:close/>
              </a:path>
              <a:path w="241935" h="291464">
                <a:moveTo>
                  <a:pt x="49784" y="0"/>
                </a:moveTo>
                <a:lnTo>
                  <a:pt x="20744" y="40255"/>
                </a:lnTo>
                <a:lnTo>
                  <a:pt x="7554" y="78569"/>
                </a:lnTo>
                <a:lnTo>
                  <a:pt x="835" y="122090"/>
                </a:lnTo>
                <a:lnTo>
                  <a:pt x="0" y="145542"/>
                </a:lnTo>
                <a:lnTo>
                  <a:pt x="835" y="168685"/>
                </a:lnTo>
                <a:lnTo>
                  <a:pt x="7554" y="212068"/>
                </a:lnTo>
                <a:lnTo>
                  <a:pt x="20744" y="250832"/>
                </a:lnTo>
                <a:lnTo>
                  <a:pt x="49784" y="291338"/>
                </a:lnTo>
                <a:lnTo>
                  <a:pt x="52450" y="287274"/>
                </a:lnTo>
                <a:lnTo>
                  <a:pt x="43116" y="276058"/>
                </a:lnTo>
                <a:lnTo>
                  <a:pt x="34925" y="262604"/>
                </a:lnTo>
                <a:lnTo>
                  <a:pt x="17230" y="209407"/>
                </a:lnTo>
                <a:lnTo>
                  <a:pt x="11844" y="167687"/>
                </a:lnTo>
                <a:lnTo>
                  <a:pt x="11175" y="145542"/>
                </a:lnTo>
                <a:lnTo>
                  <a:pt x="11862" y="122943"/>
                </a:lnTo>
                <a:lnTo>
                  <a:pt x="17283" y="81033"/>
                </a:lnTo>
                <a:lnTo>
                  <a:pt x="27876" y="44106"/>
                </a:lnTo>
                <a:lnTo>
                  <a:pt x="52450" y="4191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24469" y="2622861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12912" y="2416613"/>
            <a:ext cx="269875" cy="3517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dirty="0">
                <a:latin typeface="Cambria Math"/>
                <a:cs typeface="Cambria Math"/>
              </a:rPr>
              <a:t>𝜕𝑓</a:t>
            </a:r>
            <a:r>
              <a:rPr sz="900" spc="55" dirty="0">
                <a:latin typeface="Cambria Math"/>
                <a:cs typeface="Cambria Math"/>
              </a:rPr>
              <a:t> </a:t>
            </a:r>
            <a:r>
              <a:rPr sz="975" spc="30" baseline="42735" dirty="0">
                <a:latin typeface="Cambria Math"/>
                <a:cs typeface="Cambria Math"/>
              </a:rPr>
              <a:t>2</a:t>
            </a:r>
            <a:endParaRPr sz="975" baseline="4273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900" dirty="0">
                <a:latin typeface="Cambria Math"/>
                <a:cs typeface="Cambria Math"/>
              </a:rPr>
              <a:t>𝜕𝑦</a:t>
            </a:r>
            <a:endParaRPr sz="9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98084" y="423316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噪声的影响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26277" y="1330311"/>
            <a:ext cx="2481597" cy="812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43171" y="1562760"/>
            <a:ext cx="326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ambria Math"/>
                <a:cs typeface="Cambria Math"/>
              </a:rPr>
              <a:t>𝑓</a:t>
            </a:r>
            <a:r>
              <a:rPr sz="1200" spc="5" dirty="0">
                <a:latin typeface="Cambria Math"/>
                <a:cs typeface="Cambria Math"/>
              </a:rPr>
              <a:t>(</a:t>
            </a:r>
            <a:r>
              <a:rPr sz="1200" spc="30" dirty="0">
                <a:latin typeface="Cambria Math"/>
                <a:cs typeface="Cambria Math"/>
              </a:rPr>
              <a:t>𝑥</a:t>
            </a:r>
            <a:r>
              <a:rPr sz="1200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2593" y="907694"/>
            <a:ext cx="3378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噪声图像的某一行或列的灰度值随位置变换的情况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83085" y="2358470"/>
            <a:ext cx="2474548" cy="7991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37527" y="2594127"/>
            <a:ext cx="1247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边缘在什么位置？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76928" y="2716174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64609" y="2479827"/>
            <a:ext cx="526415" cy="42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ts val="1175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𝑑</a:t>
            </a:r>
            <a:endParaRPr sz="1200">
              <a:latin typeface="Cambria Math"/>
              <a:cs typeface="Cambria Math"/>
            </a:endParaRPr>
          </a:p>
          <a:p>
            <a:pPr marL="212090">
              <a:lnSpc>
                <a:spcPts val="860"/>
              </a:lnSpc>
            </a:pPr>
            <a:r>
              <a:rPr sz="1200" spc="35" dirty="0">
                <a:latin typeface="Cambria Math"/>
                <a:cs typeface="Cambria Math"/>
              </a:rPr>
              <a:t>𝑓</a:t>
            </a:r>
            <a:r>
              <a:rPr sz="1200" spc="5" dirty="0">
                <a:latin typeface="Cambria Math"/>
                <a:cs typeface="Cambria Math"/>
              </a:rPr>
              <a:t>(</a:t>
            </a:r>
            <a:r>
              <a:rPr sz="1200" spc="35" dirty="0">
                <a:latin typeface="Cambria Math"/>
                <a:cs typeface="Cambria Math"/>
              </a:rPr>
              <a:t>𝑥</a:t>
            </a:r>
            <a:r>
              <a:rPr sz="1200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  <a:p>
            <a:pPr marL="12700">
              <a:lnSpc>
                <a:spcPts val="1120"/>
              </a:lnSpc>
            </a:pPr>
            <a:r>
              <a:rPr sz="1200" dirty="0">
                <a:latin typeface="Cambria Math"/>
                <a:cs typeface="Cambria Math"/>
              </a:rPr>
              <a:t>𝑑𝑥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7123" y="2618511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求导结果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5185" y="328733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解决方法：先平滑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3484" y="969321"/>
            <a:ext cx="57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Times New Roman"/>
                <a:cs typeface="Times New Roman"/>
              </a:rPr>
              <a:t>f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3484" y="154729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Times New Roman"/>
                <a:cs typeface="Times New Roman"/>
              </a:rPr>
              <a:t>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9919" y="1554918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高斯核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9919" y="97694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噪声信号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0383" y="2072697"/>
            <a:ext cx="229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FF0000"/>
                </a:solidFill>
                <a:latin typeface="Times New Roman"/>
                <a:cs typeface="Times New Roman"/>
              </a:rPr>
              <a:t>f </a:t>
            </a:r>
            <a:r>
              <a:rPr sz="900" i="1" dirty="0">
                <a:latin typeface="Times New Roman"/>
                <a:cs typeface="Times New Roman"/>
              </a:rPr>
              <a:t>*</a:t>
            </a:r>
            <a:r>
              <a:rPr sz="900" i="1" spc="-8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3894" y="2118163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去噪后的信号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3720" y="699827"/>
            <a:ext cx="2656332" cy="2400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99840" y="2765101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4">
                <a:moveTo>
                  <a:pt x="0" y="0"/>
                </a:moveTo>
                <a:lnTo>
                  <a:pt x="131064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72002" y="2607113"/>
            <a:ext cx="798830" cy="361315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8445">
              <a:lnSpc>
                <a:spcPts val="805"/>
              </a:lnSpc>
            </a:pPr>
            <a:r>
              <a:rPr sz="900" dirty="0">
                <a:latin typeface="Cambria Math"/>
                <a:cs typeface="Cambria Math"/>
              </a:rPr>
              <a:t>𝑑</a:t>
            </a:r>
            <a:endParaRPr sz="900">
              <a:latin typeface="Cambria Math"/>
              <a:cs typeface="Cambria Math"/>
            </a:endParaRPr>
          </a:p>
          <a:p>
            <a:pPr marL="227965">
              <a:lnSpc>
                <a:spcPts val="880"/>
              </a:lnSpc>
            </a:pPr>
            <a:r>
              <a:rPr sz="1350" spc="-7" baseline="-37037" dirty="0">
                <a:latin typeface="Cambria Math"/>
                <a:cs typeface="Cambria Math"/>
              </a:rPr>
              <a:t>𝑑𝑥 </a:t>
            </a:r>
            <a:r>
              <a:rPr sz="900" spc="-5" dirty="0">
                <a:latin typeface="Cambria Math"/>
                <a:cs typeface="Cambria Math"/>
              </a:rPr>
              <a:t>(</a:t>
            </a:r>
            <a:r>
              <a:rPr sz="900" spc="-5" dirty="0">
                <a:solidFill>
                  <a:srgbClr val="FF0000"/>
                </a:solidFill>
                <a:latin typeface="Cambria Math"/>
                <a:cs typeface="Cambria Math"/>
              </a:rPr>
              <a:t>𝑓 </a:t>
            </a:r>
            <a:r>
              <a:rPr sz="900" dirty="0">
                <a:latin typeface="Cambria Math"/>
                <a:cs typeface="Cambria Math"/>
              </a:rPr>
              <a:t>∗</a:t>
            </a:r>
            <a:r>
              <a:rPr sz="900" spc="-20" dirty="0">
                <a:latin typeface="Cambria Math"/>
                <a:cs typeface="Cambria Math"/>
              </a:rPr>
              <a:t> </a:t>
            </a:r>
            <a:r>
              <a:rPr sz="900" spc="10" dirty="0">
                <a:latin typeface="Cambria Math"/>
                <a:cs typeface="Cambria Math"/>
              </a:rPr>
              <a:t>𝑔)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4596" y="2681408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对去噪后的 信号求导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76164" y="423316"/>
            <a:ext cx="140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10" dirty="0">
                <a:latin typeface="黑体"/>
                <a:cs typeface="黑体"/>
              </a:rPr>
              <a:t>高斯</a:t>
            </a:r>
            <a:r>
              <a:rPr sz="1800" b="0" spc="20" dirty="0">
                <a:latin typeface="黑体"/>
                <a:cs typeface="黑体"/>
              </a:rPr>
              <a:t>一</a:t>
            </a:r>
            <a:r>
              <a:rPr sz="1800" b="0" spc="10" dirty="0">
                <a:latin typeface="黑体"/>
                <a:cs typeface="黑体"/>
              </a:rPr>
              <a:t>阶</a:t>
            </a:r>
            <a:r>
              <a:rPr sz="1800" b="0" spc="20" dirty="0">
                <a:latin typeface="黑体"/>
                <a:cs typeface="黑体"/>
              </a:rPr>
              <a:t>偏</a:t>
            </a:r>
            <a:r>
              <a:rPr sz="1800" b="0" dirty="0">
                <a:latin typeface="黑体"/>
                <a:cs typeface="黑体"/>
              </a:rPr>
              <a:t>导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3093" y="769899"/>
            <a:ext cx="1857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΢"/>
              <a:buChar char="•"/>
              <a:tabLst>
                <a:tab pos="185420" algn="l"/>
              </a:tabLst>
            </a:pPr>
            <a:r>
              <a:rPr sz="900" dirty="0">
                <a:latin typeface="黑体"/>
                <a:cs typeface="黑体"/>
              </a:rPr>
              <a:t>微分是卷积，而卷积具有结合</a:t>
            </a:r>
            <a:r>
              <a:rPr sz="900" spc="15" dirty="0">
                <a:latin typeface="黑体"/>
                <a:cs typeface="黑体"/>
              </a:rPr>
              <a:t>性</a:t>
            </a:r>
            <a:r>
              <a:rPr sz="900" dirty="0">
                <a:latin typeface="黑体"/>
                <a:cs typeface="黑体"/>
              </a:rPr>
              <a:t>: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61889" y="1119276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4">
                <a:moveTo>
                  <a:pt x="0" y="0"/>
                </a:moveTo>
                <a:lnTo>
                  <a:pt x="131063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72657" y="1119276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5">
                <a:moveTo>
                  <a:pt x="0" y="0"/>
                </a:moveTo>
                <a:lnTo>
                  <a:pt x="131063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49952" y="939063"/>
            <a:ext cx="1056005" cy="24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ts val="880"/>
              </a:lnSpc>
              <a:spcBef>
                <a:spcPts val="100"/>
              </a:spcBef>
              <a:tabLst>
                <a:tab pos="853440" algn="l"/>
              </a:tabLst>
            </a:pPr>
            <a:r>
              <a:rPr sz="900" dirty="0">
                <a:latin typeface="Cambria Math"/>
                <a:cs typeface="Cambria Math"/>
              </a:rPr>
              <a:t>𝑑	𝑑</a:t>
            </a:r>
            <a:endParaRPr sz="900">
              <a:latin typeface="Cambria Math"/>
              <a:cs typeface="Cambria Math"/>
            </a:endParaRPr>
          </a:p>
          <a:p>
            <a:pPr marL="12700">
              <a:lnSpc>
                <a:spcPts val="880"/>
              </a:lnSpc>
            </a:pPr>
            <a:r>
              <a:rPr sz="1350" spc="-7" baseline="-37037" dirty="0">
                <a:latin typeface="Cambria Math"/>
                <a:cs typeface="Cambria Math"/>
              </a:rPr>
              <a:t>𝑑𝑥 </a:t>
            </a:r>
            <a:r>
              <a:rPr sz="900" spc="-5" dirty="0">
                <a:latin typeface="Cambria Math"/>
                <a:cs typeface="Cambria Math"/>
              </a:rPr>
              <a:t>(𝑓 </a:t>
            </a:r>
            <a:r>
              <a:rPr sz="900" dirty="0">
                <a:latin typeface="Cambria Math"/>
                <a:cs typeface="Cambria Math"/>
              </a:rPr>
              <a:t>∗ </a:t>
            </a:r>
            <a:r>
              <a:rPr sz="900" spc="10" dirty="0">
                <a:latin typeface="Cambria Math"/>
                <a:cs typeface="Cambria Math"/>
              </a:rPr>
              <a:t>𝑔) </a:t>
            </a:r>
            <a:r>
              <a:rPr sz="900" dirty="0">
                <a:latin typeface="Cambria Math"/>
                <a:cs typeface="Cambria Math"/>
              </a:rPr>
              <a:t>= 𝑓 ∗ </a:t>
            </a:r>
            <a:r>
              <a:rPr sz="1350" spc="-7" baseline="-37037" dirty="0">
                <a:latin typeface="Cambria Math"/>
                <a:cs typeface="Cambria Math"/>
              </a:rPr>
              <a:t>𝑑𝑥</a:t>
            </a:r>
            <a:r>
              <a:rPr sz="1350" spc="67" baseline="-37037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𝑔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56072" y="1374142"/>
            <a:ext cx="2393732" cy="1841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90593" y="2752505"/>
            <a:ext cx="392430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010" algn="ctr">
              <a:lnSpc>
                <a:spcPts val="685"/>
              </a:lnSpc>
            </a:pPr>
            <a:r>
              <a:rPr sz="900" dirty="0">
                <a:latin typeface="Cambria Math"/>
                <a:cs typeface="Cambria Math"/>
              </a:rPr>
              <a:t>𝑑</a:t>
            </a:r>
            <a:endParaRPr sz="900">
              <a:latin typeface="Cambria Math"/>
              <a:cs typeface="Cambria Math"/>
            </a:endParaRPr>
          </a:p>
          <a:p>
            <a:pPr algn="ctr">
              <a:lnSpc>
                <a:spcPts val="880"/>
              </a:lnSpc>
            </a:pP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𝑓 </a:t>
            </a:r>
            <a:r>
              <a:rPr sz="900" dirty="0">
                <a:latin typeface="Cambria Math"/>
                <a:cs typeface="Cambria Math"/>
              </a:rPr>
              <a:t>∗ </a:t>
            </a:r>
            <a:r>
              <a:rPr sz="1350" spc="-7" baseline="-37037" dirty="0">
                <a:latin typeface="Cambria Math"/>
                <a:cs typeface="Cambria Math"/>
              </a:rPr>
              <a:t>𝑑𝑥</a:t>
            </a:r>
            <a:r>
              <a:rPr sz="1350" spc="-135" baseline="-37037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𝑔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2749" y="1595907"/>
            <a:ext cx="57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Times New Roman"/>
                <a:cs typeface="Times New Roman"/>
              </a:rPr>
              <a:t>f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44619" y="2721762"/>
            <a:ext cx="490855" cy="358140"/>
          </a:xfrm>
          <a:custGeom>
            <a:avLst/>
            <a:gdLst/>
            <a:ahLst/>
            <a:cxnLst/>
            <a:rect l="l" t="t" r="r" b="b"/>
            <a:pathLst>
              <a:path w="490855" h="358139">
                <a:moveTo>
                  <a:pt x="0" y="358139"/>
                </a:moveTo>
                <a:lnTo>
                  <a:pt x="490728" y="358139"/>
                </a:lnTo>
                <a:lnTo>
                  <a:pt x="490728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2347" y="2683662"/>
            <a:ext cx="4081779" cy="739140"/>
          </a:xfrm>
          <a:custGeom>
            <a:avLst/>
            <a:gdLst/>
            <a:ahLst/>
            <a:cxnLst/>
            <a:rect l="l" t="t" r="r" b="b"/>
            <a:pathLst>
              <a:path w="4081779" h="739139">
                <a:moveTo>
                  <a:pt x="0" y="739140"/>
                </a:moveTo>
                <a:lnTo>
                  <a:pt x="4081272" y="739140"/>
                </a:lnTo>
                <a:lnTo>
                  <a:pt x="4081272" y="0"/>
                </a:lnTo>
                <a:lnTo>
                  <a:pt x="0" y="0"/>
                </a:lnTo>
                <a:lnTo>
                  <a:pt x="0" y="739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22548" y="2154843"/>
            <a:ext cx="1176655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14935" algn="r">
              <a:lnSpc>
                <a:spcPts val="745"/>
              </a:lnSpc>
            </a:pP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𝑑</a:t>
            </a:r>
            <a:endParaRPr sz="900">
              <a:latin typeface="Cambria Math"/>
              <a:cs typeface="Cambria Math"/>
            </a:endParaRPr>
          </a:p>
          <a:p>
            <a:pPr>
              <a:lnSpc>
                <a:spcPts val="940"/>
              </a:lnSpc>
              <a:tabLst>
                <a:tab pos="956944" algn="l"/>
              </a:tabLst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高斯一阶偏导核	</a:t>
            </a:r>
            <a:r>
              <a:rPr sz="1350" spc="-7" baseline="-30864" dirty="0">
                <a:solidFill>
                  <a:srgbClr val="FF0000"/>
                </a:solidFill>
                <a:latin typeface="Cambria Math"/>
                <a:cs typeface="Cambria Math"/>
              </a:rPr>
              <a:t>𝑑𝑥</a:t>
            </a:r>
            <a:r>
              <a:rPr sz="1350" spc="-172" baseline="-3086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350" baseline="6172" dirty="0">
                <a:solidFill>
                  <a:srgbClr val="FF0000"/>
                </a:solidFill>
                <a:latin typeface="Cambria Math"/>
                <a:cs typeface="Cambria Math"/>
              </a:rPr>
              <a:t>𝑔</a:t>
            </a:r>
            <a:endParaRPr sz="1350" baseline="6172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76523" y="2031390"/>
            <a:ext cx="4697095" cy="652780"/>
          </a:xfrm>
          <a:custGeom>
            <a:avLst/>
            <a:gdLst/>
            <a:ahLst/>
            <a:cxnLst/>
            <a:rect l="l" t="t" r="r" b="b"/>
            <a:pathLst>
              <a:path w="4697095" h="652780">
                <a:moveTo>
                  <a:pt x="0" y="652271"/>
                </a:moveTo>
                <a:lnTo>
                  <a:pt x="4696968" y="652271"/>
                </a:lnTo>
                <a:lnTo>
                  <a:pt x="4696968" y="0"/>
                </a:lnTo>
                <a:lnTo>
                  <a:pt x="0" y="0"/>
                </a:lnTo>
                <a:lnTo>
                  <a:pt x="0" y="6522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39535" y="1020724"/>
            <a:ext cx="1854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节省了一次图像卷积操作！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68648" y="699827"/>
            <a:ext cx="1623059" cy="1350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53607" y="692207"/>
            <a:ext cx="1682495" cy="1379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87875" y="2001704"/>
            <a:ext cx="2800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黑体"/>
                <a:cs typeface="黑体"/>
              </a:rPr>
              <a:t>x</a:t>
            </a:r>
            <a:r>
              <a:rPr sz="800" dirty="0">
                <a:latin typeface="黑体"/>
                <a:cs typeface="黑体"/>
              </a:rPr>
              <a:t>方向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4529" y="2001704"/>
            <a:ext cx="2800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黑体"/>
                <a:cs typeface="黑体"/>
              </a:rPr>
              <a:t>y</a:t>
            </a:r>
            <a:r>
              <a:rPr sz="800" dirty="0">
                <a:latin typeface="黑体"/>
                <a:cs typeface="黑体"/>
              </a:rPr>
              <a:t>方向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7530" y="3186233"/>
            <a:ext cx="2599690" cy="27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68475" algn="l"/>
              </a:tabLst>
            </a:pPr>
            <a:r>
              <a:rPr sz="800" spc="10" dirty="0">
                <a:latin typeface="黑体"/>
                <a:cs typeface="黑体"/>
              </a:rPr>
              <a:t>关注</a:t>
            </a:r>
            <a:r>
              <a:rPr sz="800" dirty="0">
                <a:latin typeface="黑体"/>
                <a:cs typeface="黑体"/>
              </a:rPr>
              <a:t>垂直</a:t>
            </a:r>
            <a:r>
              <a:rPr sz="800" spc="-15" dirty="0">
                <a:latin typeface="黑体"/>
                <a:cs typeface="黑体"/>
              </a:rPr>
              <a:t>方</a:t>
            </a:r>
            <a:r>
              <a:rPr sz="800" dirty="0">
                <a:latin typeface="黑体"/>
                <a:cs typeface="黑体"/>
              </a:rPr>
              <a:t>向边缘	</a:t>
            </a:r>
            <a:r>
              <a:rPr sz="800" spc="10" dirty="0">
                <a:latin typeface="黑体"/>
                <a:cs typeface="黑体"/>
              </a:rPr>
              <a:t>关注</a:t>
            </a:r>
            <a:r>
              <a:rPr sz="800" dirty="0">
                <a:latin typeface="黑体"/>
                <a:cs typeface="黑体"/>
              </a:rPr>
              <a:t>水平</a:t>
            </a:r>
            <a:r>
              <a:rPr sz="800" spc="-15" dirty="0">
                <a:latin typeface="黑体"/>
                <a:cs typeface="黑体"/>
              </a:rPr>
              <a:t>方</a:t>
            </a:r>
            <a:r>
              <a:rPr sz="800" dirty="0">
                <a:latin typeface="黑体"/>
                <a:cs typeface="黑体"/>
              </a:rPr>
              <a:t>向边缘</a:t>
            </a:r>
            <a:endParaRPr sz="8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25620" y="2261927"/>
            <a:ext cx="876300" cy="876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40119" y="2261927"/>
            <a:ext cx="8763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29963" y="328733"/>
            <a:ext cx="2100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高斯</a:t>
            </a:r>
            <a:r>
              <a:rPr sz="1800" spc="25" dirty="0">
                <a:latin typeface="黑体"/>
                <a:cs typeface="黑体"/>
              </a:rPr>
              <a:t>一</a:t>
            </a:r>
            <a:r>
              <a:rPr sz="1800" spc="10" dirty="0">
                <a:latin typeface="黑体"/>
                <a:cs typeface="黑体"/>
              </a:rPr>
              <a:t>阶</a:t>
            </a:r>
            <a:r>
              <a:rPr sz="1800" spc="25" dirty="0">
                <a:latin typeface="黑体"/>
                <a:cs typeface="黑体"/>
              </a:rPr>
              <a:t>偏导</a:t>
            </a:r>
            <a:r>
              <a:rPr sz="1800" spc="10" dirty="0">
                <a:latin typeface="黑体"/>
                <a:cs typeface="黑体"/>
              </a:rPr>
              <a:t>卷积</a:t>
            </a:r>
            <a:r>
              <a:rPr sz="1800" dirty="0">
                <a:latin typeface="黑体"/>
                <a:cs typeface="黑体"/>
              </a:rPr>
              <a:t>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8779" y="2700966"/>
            <a:ext cx="750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marR="5080" indent="-259079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黑体"/>
                <a:cs typeface="黑体"/>
              </a:rPr>
              <a:t>高斯</a:t>
            </a:r>
            <a:r>
              <a:rPr sz="800" spc="20" dirty="0">
                <a:latin typeface="黑体"/>
                <a:cs typeface="黑体"/>
              </a:rPr>
              <a:t>一</a:t>
            </a:r>
            <a:r>
              <a:rPr sz="800" spc="10" dirty="0">
                <a:latin typeface="黑体"/>
                <a:cs typeface="黑体"/>
              </a:rPr>
              <a:t>阶偏导</a:t>
            </a:r>
            <a:r>
              <a:rPr sz="800" dirty="0">
                <a:latin typeface="黑体"/>
                <a:cs typeface="黑体"/>
              </a:rPr>
              <a:t>卷 </a:t>
            </a:r>
            <a:r>
              <a:rPr sz="800" spc="10" dirty="0">
                <a:latin typeface="黑体"/>
                <a:cs typeface="黑体"/>
              </a:rPr>
              <a:t>积核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2579" y="1261421"/>
            <a:ext cx="7505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黑体"/>
                <a:cs typeface="黑体"/>
              </a:rPr>
              <a:t>高斯</a:t>
            </a:r>
            <a:r>
              <a:rPr sz="800" spc="20" dirty="0">
                <a:latin typeface="黑体"/>
                <a:cs typeface="黑体"/>
              </a:rPr>
              <a:t>一</a:t>
            </a:r>
            <a:r>
              <a:rPr sz="800" spc="10" dirty="0">
                <a:latin typeface="黑体"/>
                <a:cs typeface="黑体"/>
              </a:rPr>
              <a:t>阶偏导</a:t>
            </a:r>
            <a:r>
              <a:rPr sz="800" dirty="0">
                <a:latin typeface="黑体"/>
                <a:cs typeface="黑体"/>
              </a:rPr>
              <a:t>卷 </a:t>
            </a:r>
            <a:r>
              <a:rPr sz="800" spc="10" dirty="0">
                <a:latin typeface="黑体"/>
                <a:cs typeface="黑体"/>
              </a:rPr>
              <a:t>积核</a:t>
            </a:r>
            <a:r>
              <a:rPr sz="800" spc="20" dirty="0">
                <a:latin typeface="黑体"/>
                <a:cs typeface="黑体"/>
              </a:rPr>
              <a:t>的</a:t>
            </a:r>
            <a:r>
              <a:rPr sz="800" spc="10" dirty="0">
                <a:latin typeface="黑体"/>
                <a:cs typeface="黑体"/>
              </a:rPr>
              <a:t>权值可</a:t>
            </a:r>
            <a:r>
              <a:rPr sz="800" dirty="0">
                <a:latin typeface="黑体"/>
                <a:cs typeface="黑体"/>
              </a:rPr>
              <a:t>视 化</a:t>
            </a:r>
            <a:endParaRPr sz="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4643" y="793902"/>
            <a:ext cx="4456176" cy="163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63593" y="2475636"/>
            <a:ext cx="4641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1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pixel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6638" y="2475636"/>
            <a:ext cx="540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3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pixels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2792" y="2475636"/>
            <a:ext cx="540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7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pixels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9130" y="423316"/>
            <a:ext cx="322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高斯一阶偏导卷积核的方差变化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45074" y="2897784"/>
            <a:ext cx="11658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FF0000"/>
                </a:solidFill>
                <a:latin typeface="黑体"/>
                <a:cs typeface="黑体"/>
              </a:rPr>
              <a:t>方差由小变大</a:t>
            </a:r>
            <a:r>
              <a:rPr sz="1200" spc="-9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lang="zh-CN" altLang="en-US" sz="1200" spc="25" smtClean="0">
                <a:solidFill>
                  <a:srgbClr val="FF0000"/>
                </a:solidFill>
                <a:latin typeface="Wingdings"/>
                <a:cs typeface="Wingdings"/>
                <a:sym typeface="Wingdings" panose="05000000000000000000" pitchFamily="2" charset="2"/>
              </a:rPr>
              <a:t></a:t>
            </a:r>
            <a:endParaRPr sz="1200">
              <a:latin typeface="Wingdings"/>
              <a:cs typeface="Wingding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97731" y="328733"/>
            <a:ext cx="276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高斯核</a:t>
            </a:r>
            <a:r>
              <a:rPr sz="1800" b="0" spc="-90" dirty="0">
                <a:latin typeface="黑体"/>
                <a:cs typeface="黑体"/>
              </a:rPr>
              <a:t> </a:t>
            </a:r>
            <a:r>
              <a:rPr sz="1800" b="0" dirty="0">
                <a:latin typeface="黑体"/>
                <a:cs typeface="黑体"/>
              </a:rPr>
              <a:t>vs.高斯一阶偏导核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4552" y="984561"/>
            <a:ext cx="578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4552" y="1243641"/>
            <a:ext cx="2631440" cy="95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175" indent="-14287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4810" algn="l"/>
              </a:tabLst>
            </a:pPr>
            <a:r>
              <a:rPr sz="1000" spc="5" dirty="0">
                <a:latin typeface="黑体"/>
                <a:cs typeface="黑体"/>
              </a:rPr>
              <a:t>消</a:t>
            </a:r>
            <a:r>
              <a:rPr sz="1000" spc="-5" dirty="0">
                <a:latin typeface="黑体"/>
                <a:cs typeface="黑体"/>
              </a:rPr>
              <a:t>除高</a:t>
            </a:r>
            <a:r>
              <a:rPr sz="1000" spc="5" dirty="0">
                <a:latin typeface="黑体"/>
                <a:cs typeface="黑体"/>
              </a:rPr>
              <a:t>频</a:t>
            </a:r>
            <a:r>
              <a:rPr sz="1000" spc="-5" dirty="0">
                <a:latin typeface="黑体"/>
                <a:cs typeface="黑体"/>
              </a:rPr>
              <a:t>成分</a:t>
            </a:r>
            <a:r>
              <a:rPr sz="1000" spc="5" dirty="0">
                <a:latin typeface="黑体"/>
                <a:cs typeface="黑体"/>
              </a:rPr>
              <a:t>（</a:t>
            </a:r>
            <a:r>
              <a:rPr sz="1000" spc="-5" dirty="0">
                <a:latin typeface="黑体"/>
                <a:cs typeface="黑体"/>
              </a:rPr>
              <a:t>低通</a:t>
            </a:r>
            <a:r>
              <a:rPr sz="1000" spc="5" dirty="0">
                <a:latin typeface="黑体"/>
                <a:cs typeface="黑体"/>
              </a:rPr>
              <a:t>滤</a:t>
            </a:r>
            <a:r>
              <a:rPr sz="1000" spc="-5" dirty="0">
                <a:latin typeface="黑体"/>
                <a:cs typeface="黑体"/>
              </a:rPr>
              <a:t>波器）</a:t>
            </a:r>
            <a:endParaRPr sz="10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38481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中</a:t>
            </a:r>
            <a:r>
              <a:rPr sz="1000" spc="-5" dirty="0">
                <a:latin typeface="黑体"/>
                <a:cs typeface="黑体"/>
              </a:rPr>
              <a:t>的权</a:t>
            </a:r>
            <a:r>
              <a:rPr sz="1000" spc="5" dirty="0">
                <a:latin typeface="黑体"/>
                <a:cs typeface="黑体"/>
              </a:rPr>
              <a:t>值</a:t>
            </a:r>
            <a:r>
              <a:rPr sz="1000" spc="-5" dirty="0">
                <a:latin typeface="黑体"/>
                <a:cs typeface="黑体"/>
              </a:rPr>
              <a:t>不可</a:t>
            </a:r>
            <a:r>
              <a:rPr sz="1000" spc="5" dirty="0">
                <a:latin typeface="黑体"/>
                <a:cs typeface="黑体"/>
              </a:rPr>
              <a:t>为</a:t>
            </a:r>
            <a:r>
              <a:rPr sz="1000" spc="-5" dirty="0">
                <a:latin typeface="黑体"/>
                <a:cs typeface="黑体"/>
              </a:rPr>
              <a:t>负数</a:t>
            </a:r>
            <a:endParaRPr sz="10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845"/>
              </a:spcBef>
              <a:buFont typeface="Wingdings"/>
              <a:buChar char=""/>
              <a:tabLst>
                <a:tab pos="384810" algn="l"/>
              </a:tabLst>
            </a:pPr>
            <a:r>
              <a:rPr sz="1000" spc="5" dirty="0">
                <a:latin typeface="黑体"/>
                <a:cs typeface="黑体"/>
              </a:rPr>
              <a:t>权值总和为</a:t>
            </a:r>
            <a:r>
              <a:rPr sz="1000" spc="-10" dirty="0">
                <a:latin typeface="Arial"/>
                <a:cs typeface="Arial"/>
              </a:rPr>
              <a:t>1</a:t>
            </a:r>
            <a:r>
              <a:rPr sz="1000" spc="-10" dirty="0">
                <a:latin typeface="黑体"/>
                <a:cs typeface="黑体"/>
              </a:rPr>
              <a:t>（</a:t>
            </a:r>
            <a:r>
              <a:rPr sz="1000" spc="5" dirty="0">
                <a:latin typeface="黑体"/>
                <a:cs typeface="黑体"/>
              </a:rPr>
              <a:t>恒</a:t>
            </a:r>
            <a:r>
              <a:rPr sz="1000" spc="-5" dirty="0">
                <a:latin typeface="黑体"/>
                <a:cs typeface="黑体"/>
              </a:rPr>
              <a:t>定区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不受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积影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）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斯一</a:t>
            </a:r>
            <a:r>
              <a:rPr sz="1000" spc="5" dirty="0">
                <a:latin typeface="黑体"/>
                <a:cs typeface="黑体"/>
              </a:rPr>
              <a:t>阶</a:t>
            </a:r>
            <a:r>
              <a:rPr sz="1000" spc="-5" dirty="0">
                <a:latin typeface="黑体"/>
                <a:cs typeface="黑体"/>
              </a:rPr>
              <a:t>偏导核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3152" y="2280342"/>
            <a:ext cx="202183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斯的</a:t>
            </a:r>
            <a:r>
              <a:rPr sz="1000" spc="5" dirty="0">
                <a:latin typeface="黑体"/>
                <a:cs typeface="黑体"/>
              </a:rPr>
              <a:t>导</a:t>
            </a:r>
            <a:r>
              <a:rPr sz="1000" spc="-5" dirty="0">
                <a:latin typeface="黑体"/>
                <a:cs typeface="黑体"/>
              </a:rPr>
              <a:t>数</a:t>
            </a:r>
            <a:endParaRPr sz="1000">
              <a:latin typeface="黑体"/>
              <a:cs typeface="黑体"/>
            </a:endParaRPr>
          </a:p>
          <a:p>
            <a:pPr marL="155575" indent="-142875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中</a:t>
            </a:r>
            <a:r>
              <a:rPr sz="1000" spc="-5" dirty="0">
                <a:latin typeface="黑体"/>
                <a:cs typeface="黑体"/>
              </a:rPr>
              <a:t>的权</a:t>
            </a:r>
            <a:r>
              <a:rPr sz="1000" spc="5" dirty="0">
                <a:latin typeface="黑体"/>
                <a:cs typeface="黑体"/>
              </a:rPr>
              <a:t>值</a:t>
            </a:r>
            <a:r>
              <a:rPr sz="1000" spc="-5" dirty="0">
                <a:latin typeface="黑体"/>
                <a:cs typeface="黑体"/>
              </a:rPr>
              <a:t>可以</a:t>
            </a:r>
            <a:r>
              <a:rPr sz="1000" spc="5" dirty="0">
                <a:latin typeface="黑体"/>
                <a:cs typeface="黑体"/>
              </a:rPr>
              <a:t>为</a:t>
            </a:r>
            <a:r>
              <a:rPr sz="1000" spc="-5" dirty="0">
                <a:latin typeface="黑体"/>
                <a:cs typeface="黑体"/>
              </a:rPr>
              <a:t>负</a:t>
            </a:r>
            <a:endParaRPr sz="1000">
              <a:latin typeface="黑体"/>
              <a:cs typeface="黑体"/>
            </a:endParaRPr>
          </a:p>
          <a:p>
            <a:pPr marL="155575" indent="-142875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权值总和是</a:t>
            </a:r>
            <a:r>
              <a:rPr sz="1000" spc="-10" dirty="0">
                <a:latin typeface="Arial"/>
                <a:cs typeface="Arial"/>
              </a:rPr>
              <a:t>0</a:t>
            </a:r>
            <a:r>
              <a:rPr sz="1000" spc="-10" dirty="0">
                <a:latin typeface="黑体"/>
                <a:cs typeface="黑体"/>
              </a:rPr>
              <a:t>（</a:t>
            </a:r>
            <a:r>
              <a:rPr sz="1000" spc="5" dirty="0">
                <a:latin typeface="黑体"/>
                <a:cs typeface="黑体"/>
              </a:rPr>
              <a:t>恒</a:t>
            </a:r>
            <a:r>
              <a:rPr sz="1000" spc="-5" dirty="0">
                <a:latin typeface="黑体"/>
                <a:cs typeface="黑体"/>
              </a:rPr>
              <a:t>定区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无响</a:t>
            </a:r>
            <a:r>
              <a:rPr sz="1000" spc="5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）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3152" y="3057582"/>
            <a:ext cx="1438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对比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点的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应值大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819" y="1080827"/>
            <a:ext cx="533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18299" y="2429567"/>
            <a:ext cx="5334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04099" y="2429567"/>
            <a:ext cx="5334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12610" y="3061265"/>
            <a:ext cx="913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斯一</a:t>
            </a:r>
            <a:r>
              <a:rPr sz="1000" spc="5" dirty="0">
                <a:latin typeface="黑体"/>
                <a:cs typeface="黑体"/>
              </a:rPr>
              <a:t>阶</a:t>
            </a:r>
            <a:r>
              <a:rPr sz="1000" spc="-5" dirty="0">
                <a:latin typeface="黑体"/>
                <a:cs typeface="黑体"/>
              </a:rPr>
              <a:t>偏导核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1652" y="169360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斯核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9119" y="1251102"/>
            <a:ext cx="1668779" cy="1668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83784" y="41112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边缘检测目标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4768" y="3012084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原图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3949" y="3012084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边缘图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5013" y="961923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目标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05351" y="1251102"/>
            <a:ext cx="1668779" cy="1668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182" y="316541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181" y="411124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005" y="2687091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1075" y="1772310"/>
            <a:ext cx="900684" cy="899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182" y="316541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006" y="2592381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5244" y="1024439"/>
            <a:ext cx="669290" cy="2173605"/>
          </a:xfrm>
          <a:custGeom>
            <a:avLst/>
            <a:gdLst/>
            <a:ahLst/>
            <a:cxnLst/>
            <a:rect l="l" t="t" r="r" b="b"/>
            <a:pathLst>
              <a:path w="669289" h="2173605">
                <a:moveTo>
                  <a:pt x="0" y="2173224"/>
                </a:moveTo>
                <a:lnTo>
                  <a:pt x="669036" y="2173224"/>
                </a:lnTo>
                <a:lnTo>
                  <a:pt x="669036" y="0"/>
                </a:lnTo>
                <a:lnTo>
                  <a:pt x="0" y="0"/>
                </a:lnTo>
                <a:lnTo>
                  <a:pt x="0" y="217322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1076" y="1678235"/>
            <a:ext cx="900684" cy="899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03928" y="1118927"/>
            <a:ext cx="359663" cy="3611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03928" y="2252783"/>
            <a:ext cx="359663" cy="359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09567" y="2670461"/>
            <a:ext cx="534670" cy="379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45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800" spc="10" dirty="0">
                <a:solidFill>
                  <a:srgbClr val="FF0000"/>
                </a:solidFill>
                <a:latin typeface="黑体"/>
                <a:cs typeface="黑体"/>
              </a:rPr>
              <a:t>方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向高斯 一阶偏</a:t>
            </a:r>
            <a:r>
              <a:rPr sz="800" spc="-15" dirty="0">
                <a:solidFill>
                  <a:srgbClr val="FF0000"/>
                </a:solidFill>
                <a:latin typeface="黑体"/>
                <a:cs typeface="黑体"/>
              </a:rPr>
              <a:t>导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核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16220" y="2047043"/>
            <a:ext cx="900684" cy="900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20792" y="840035"/>
            <a:ext cx="899160" cy="9006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26585" y="1502188"/>
            <a:ext cx="534670" cy="379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45000"/>
              </a:lnSpc>
              <a:spcBef>
                <a:spcPts val="100"/>
              </a:spcBef>
            </a:pPr>
            <a:r>
              <a:rPr sz="800" spc="-2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800" spc="10" dirty="0">
                <a:solidFill>
                  <a:srgbClr val="FF0000"/>
                </a:solidFill>
                <a:latin typeface="黑体"/>
                <a:cs typeface="黑体"/>
              </a:rPr>
              <a:t>方向高斯 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一阶偏</a:t>
            </a:r>
            <a:r>
              <a:rPr sz="800" spc="-15" dirty="0">
                <a:solidFill>
                  <a:srgbClr val="FF0000"/>
                </a:solidFill>
                <a:latin typeface="黑体"/>
                <a:cs typeface="黑体"/>
              </a:rPr>
              <a:t>导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核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2138" y="1794821"/>
            <a:ext cx="6927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x</a:t>
            </a:r>
            <a:r>
              <a:rPr sz="800" spc="10" dirty="0">
                <a:latin typeface="黑体"/>
                <a:cs typeface="黑体"/>
              </a:rPr>
              <a:t>方向梯</a:t>
            </a:r>
            <a:r>
              <a:rPr sz="800" dirty="0">
                <a:latin typeface="黑体"/>
                <a:cs typeface="黑体"/>
              </a:rPr>
              <a:t>度响应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22138" y="2979477"/>
            <a:ext cx="69278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rial"/>
                <a:cs typeface="Arial"/>
              </a:rPr>
              <a:t>y</a:t>
            </a:r>
            <a:r>
              <a:rPr sz="800" spc="10" dirty="0">
                <a:latin typeface="黑体"/>
                <a:cs typeface="黑体"/>
              </a:rPr>
              <a:t>方向</a:t>
            </a:r>
            <a:r>
              <a:rPr sz="800" dirty="0">
                <a:latin typeface="黑体"/>
                <a:cs typeface="黑体"/>
              </a:rPr>
              <a:t>梯度响应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82720" y="2005895"/>
            <a:ext cx="349250" cy="190500"/>
          </a:xfrm>
          <a:custGeom>
            <a:avLst/>
            <a:gdLst/>
            <a:ahLst/>
            <a:cxnLst/>
            <a:rect l="l" t="t" r="r" b="b"/>
            <a:pathLst>
              <a:path w="349250" h="190500">
                <a:moveTo>
                  <a:pt x="0" y="47625"/>
                </a:moveTo>
                <a:lnTo>
                  <a:pt x="253746" y="47625"/>
                </a:lnTo>
                <a:lnTo>
                  <a:pt x="253746" y="0"/>
                </a:lnTo>
                <a:lnTo>
                  <a:pt x="348996" y="95250"/>
                </a:lnTo>
                <a:lnTo>
                  <a:pt x="253746" y="190500"/>
                </a:lnTo>
                <a:lnTo>
                  <a:pt x="253746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45888" y="1228655"/>
            <a:ext cx="347980" cy="190500"/>
          </a:xfrm>
          <a:custGeom>
            <a:avLst/>
            <a:gdLst/>
            <a:ahLst/>
            <a:cxnLst/>
            <a:rect l="l" t="t" r="r" b="b"/>
            <a:pathLst>
              <a:path w="347980" h="190500">
                <a:moveTo>
                  <a:pt x="0" y="47625"/>
                </a:moveTo>
                <a:lnTo>
                  <a:pt x="252222" y="47625"/>
                </a:lnTo>
                <a:lnTo>
                  <a:pt x="252222" y="0"/>
                </a:lnTo>
                <a:lnTo>
                  <a:pt x="347472" y="95250"/>
                </a:lnTo>
                <a:lnTo>
                  <a:pt x="252222" y="190500"/>
                </a:lnTo>
                <a:lnTo>
                  <a:pt x="252222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29124" y="2371655"/>
            <a:ext cx="347980" cy="190500"/>
          </a:xfrm>
          <a:custGeom>
            <a:avLst/>
            <a:gdLst/>
            <a:ahLst/>
            <a:cxnLst/>
            <a:rect l="l" t="t" r="r" b="b"/>
            <a:pathLst>
              <a:path w="347980" h="190500">
                <a:moveTo>
                  <a:pt x="0" y="47625"/>
                </a:moveTo>
                <a:lnTo>
                  <a:pt x="252221" y="47625"/>
                </a:lnTo>
                <a:lnTo>
                  <a:pt x="252221" y="0"/>
                </a:lnTo>
                <a:lnTo>
                  <a:pt x="347471" y="95250"/>
                </a:lnTo>
                <a:lnTo>
                  <a:pt x="252221" y="190500"/>
                </a:lnTo>
                <a:lnTo>
                  <a:pt x="252221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0181" y="411124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b="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b="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b="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b="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b="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b="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b="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005" y="2687091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原图</a:t>
            </a:r>
            <a:endParaRPr sz="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62880" y="850290"/>
            <a:ext cx="1039494" cy="2458720"/>
          </a:xfrm>
          <a:custGeom>
            <a:avLst/>
            <a:gdLst/>
            <a:ahLst/>
            <a:cxnLst/>
            <a:rect l="l" t="t" r="r" b="b"/>
            <a:pathLst>
              <a:path w="1039495" h="2458720">
                <a:moveTo>
                  <a:pt x="0" y="2458212"/>
                </a:moveTo>
                <a:lnTo>
                  <a:pt x="1039368" y="2458212"/>
                </a:lnTo>
                <a:lnTo>
                  <a:pt x="1039368" y="0"/>
                </a:lnTo>
                <a:lnTo>
                  <a:pt x="0" y="0"/>
                </a:lnTo>
                <a:lnTo>
                  <a:pt x="0" y="245821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41743" y="1747926"/>
            <a:ext cx="900684" cy="9006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32218" y="1738401"/>
            <a:ext cx="920115" cy="920115"/>
          </a:xfrm>
          <a:custGeom>
            <a:avLst/>
            <a:gdLst/>
            <a:ahLst/>
            <a:cxnLst/>
            <a:rect l="l" t="t" r="r" b="b"/>
            <a:pathLst>
              <a:path w="920114" h="920114">
                <a:moveTo>
                  <a:pt x="0" y="919733"/>
                </a:moveTo>
                <a:lnTo>
                  <a:pt x="919734" y="919733"/>
                </a:lnTo>
                <a:lnTo>
                  <a:pt x="919734" y="0"/>
                </a:lnTo>
                <a:lnTo>
                  <a:pt x="0" y="0"/>
                </a:lnTo>
                <a:lnTo>
                  <a:pt x="0" y="91973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075" y="1772310"/>
            <a:ext cx="900684" cy="899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03927" y="1213002"/>
            <a:ext cx="359663" cy="3611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03927" y="2346858"/>
            <a:ext cx="359663" cy="359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09566" y="2765424"/>
            <a:ext cx="534670" cy="379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45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Y</a:t>
            </a:r>
            <a:r>
              <a:rPr sz="800" spc="10" dirty="0">
                <a:latin typeface="黑体"/>
                <a:cs typeface="黑体"/>
              </a:rPr>
              <a:t>方</a:t>
            </a:r>
            <a:r>
              <a:rPr sz="800" dirty="0">
                <a:latin typeface="黑体"/>
                <a:cs typeface="黑体"/>
              </a:rPr>
              <a:t>向高斯 一阶偏</a:t>
            </a:r>
            <a:r>
              <a:rPr sz="800" spc="-15" dirty="0">
                <a:latin typeface="黑体"/>
                <a:cs typeface="黑体"/>
              </a:rPr>
              <a:t>导</a:t>
            </a:r>
            <a:r>
              <a:rPr sz="800" dirty="0">
                <a:latin typeface="黑体"/>
                <a:cs typeface="黑体"/>
              </a:rPr>
              <a:t>核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16219" y="2141118"/>
            <a:ext cx="900684" cy="9006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20791" y="934110"/>
            <a:ext cx="899160" cy="9006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26584" y="1596898"/>
            <a:ext cx="534670" cy="379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450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x</a:t>
            </a:r>
            <a:r>
              <a:rPr sz="800" spc="10" dirty="0">
                <a:latin typeface="黑体"/>
                <a:cs typeface="黑体"/>
              </a:rPr>
              <a:t>方向高斯 </a:t>
            </a:r>
            <a:r>
              <a:rPr sz="800" dirty="0">
                <a:latin typeface="黑体"/>
                <a:cs typeface="黑体"/>
              </a:rPr>
              <a:t>一阶偏</a:t>
            </a:r>
            <a:r>
              <a:rPr sz="800" spc="-15" dirty="0">
                <a:latin typeface="黑体"/>
                <a:cs typeface="黑体"/>
              </a:rPr>
              <a:t>导</a:t>
            </a:r>
            <a:r>
              <a:rPr sz="800" dirty="0">
                <a:latin typeface="黑体"/>
                <a:cs typeface="黑体"/>
              </a:rPr>
              <a:t>核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22137" y="1889785"/>
            <a:ext cx="6927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x</a:t>
            </a:r>
            <a:r>
              <a:rPr sz="800" spc="10" dirty="0">
                <a:latin typeface="黑体"/>
                <a:cs typeface="黑体"/>
              </a:rPr>
              <a:t>方向梯</a:t>
            </a:r>
            <a:r>
              <a:rPr sz="800" dirty="0">
                <a:latin typeface="黑体"/>
                <a:cs typeface="黑体"/>
              </a:rPr>
              <a:t>度响应</a:t>
            </a:r>
            <a:endParaRPr sz="800">
              <a:latin typeface="黑体"/>
              <a:cs typeface="黑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22137" y="3074568"/>
            <a:ext cx="6927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y</a:t>
            </a:r>
            <a:r>
              <a:rPr sz="800" spc="10" dirty="0">
                <a:latin typeface="黑体"/>
                <a:cs typeface="黑体"/>
              </a:rPr>
              <a:t>方向</a:t>
            </a:r>
            <a:r>
              <a:rPr sz="800" dirty="0">
                <a:latin typeface="黑体"/>
                <a:cs typeface="黑体"/>
              </a:rPr>
              <a:t>梯度响应</a:t>
            </a:r>
            <a:endParaRPr sz="800">
              <a:latin typeface="黑体"/>
              <a:cs typeface="黑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2719" y="2099970"/>
            <a:ext cx="349250" cy="190500"/>
          </a:xfrm>
          <a:custGeom>
            <a:avLst/>
            <a:gdLst/>
            <a:ahLst/>
            <a:cxnLst/>
            <a:rect l="l" t="t" r="r" b="b"/>
            <a:pathLst>
              <a:path w="349250" h="190500">
                <a:moveTo>
                  <a:pt x="0" y="47625"/>
                </a:moveTo>
                <a:lnTo>
                  <a:pt x="253746" y="47625"/>
                </a:lnTo>
                <a:lnTo>
                  <a:pt x="253746" y="0"/>
                </a:lnTo>
                <a:lnTo>
                  <a:pt x="348996" y="95250"/>
                </a:lnTo>
                <a:lnTo>
                  <a:pt x="253746" y="190500"/>
                </a:lnTo>
                <a:lnTo>
                  <a:pt x="253746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45887" y="1322730"/>
            <a:ext cx="347980" cy="190500"/>
          </a:xfrm>
          <a:custGeom>
            <a:avLst/>
            <a:gdLst/>
            <a:ahLst/>
            <a:cxnLst/>
            <a:rect l="l" t="t" r="r" b="b"/>
            <a:pathLst>
              <a:path w="347980" h="190500">
                <a:moveTo>
                  <a:pt x="252222" y="0"/>
                </a:moveTo>
                <a:lnTo>
                  <a:pt x="252222" y="47625"/>
                </a:lnTo>
                <a:lnTo>
                  <a:pt x="0" y="47625"/>
                </a:lnTo>
                <a:lnTo>
                  <a:pt x="0" y="142875"/>
                </a:lnTo>
                <a:lnTo>
                  <a:pt x="252222" y="142875"/>
                </a:lnTo>
                <a:lnTo>
                  <a:pt x="252222" y="190500"/>
                </a:lnTo>
                <a:lnTo>
                  <a:pt x="347472" y="95250"/>
                </a:lnTo>
                <a:lnTo>
                  <a:pt x="252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45887" y="1322730"/>
            <a:ext cx="347980" cy="190500"/>
          </a:xfrm>
          <a:custGeom>
            <a:avLst/>
            <a:gdLst/>
            <a:ahLst/>
            <a:cxnLst/>
            <a:rect l="l" t="t" r="r" b="b"/>
            <a:pathLst>
              <a:path w="347980" h="190500">
                <a:moveTo>
                  <a:pt x="0" y="47625"/>
                </a:moveTo>
                <a:lnTo>
                  <a:pt x="252222" y="47625"/>
                </a:lnTo>
                <a:lnTo>
                  <a:pt x="252222" y="0"/>
                </a:lnTo>
                <a:lnTo>
                  <a:pt x="347472" y="95250"/>
                </a:lnTo>
                <a:lnTo>
                  <a:pt x="252222" y="190500"/>
                </a:lnTo>
                <a:lnTo>
                  <a:pt x="252222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79972" y="2099970"/>
            <a:ext cx="349250" cy="190500"/>
          </a:xfrm>
          <a:custGeom>
            <a:avLst/>
            <a:gdLst/>
            <a:ahLst/>
            <a:cxnLst/>
            <a:rect l="l" t="t" r="r" b="b"/>
            <a:pathLst>
              <a:path w="349250" h="190500">
                <a:moveTo>
                  <a:pt x="0" y="47625"/>
                </a:moveTo>
                <a:lnTo>
                  <a:pt x="253745" y="47625"/>
                </a:lnTo>
                <a:lnTo>
                  <a:pt x="253745" y="0"/>
                </a:lnTo>
                <a:lnTo>
                  <a:pt x="348995" y="95250"/>
                </a:lnTo>
                <a:lnTo>
                  <a:pt x="253745" y="190500"/>
                </a:lnTo>
                <a:lnTo>
                  <a:pt x="253745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27037" y="851052"/>
            <a:ext cx="1629410" cy="472440"/>
          </a:xfrm>
          <a:custGeom>
            <a:avLst/>
            <a:gdLst/>
            <a:ahLst/>
            <a:cxnLst/>
            <a:rect l="l" t="t" r="r" b="b"/>
            <a:pathLst>
              <a:path w="1629410" h="472440">
                <a:moveTo>
                  <a:pt x="0" y="472439"/>
                </a:moveTo>
                <a:lnTo>
                  <a:pt x="1629156" y="472439"/>
                </a:lnTo>
                <a:lnTo>
                  <a:pt x="1629156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93699" y="1023518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316"/>
                </a:lnTo>
              </a:path>
            </a:pathLst>
          </a:custGeom>
          <a:ln w="7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77291" y="1023518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316"/>
                </a:lnTo>
              </a:path>
            </a:pathLst>
          </a:custGeom>
          <a:ln w="7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61695" y="1038377"/>
            <a:ext cx="0" cy="93345"/>
          </a:xfrm>
          <a:custGeom>
            <a:avLst/>
            <a:gdLst/>
            <a:ahLst/>
            <a:cxnLst/>
            <a:rect l="l" t="t" r="r" b="b"/>
            <a:pathLst>
              <a:path h="93344">
                <a:moveTo>
                  <a:pt x="0" y="0"/>
                </a:moveTo>
                <a:lnTo>
                  <a:pt x="0" y="92837"/>
                </a:lnTo>
              </a:path>
            </a:pathLst>
          </a:custGeom>
          <a:ln w="7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09295" y="1038377"/>
            <a:ext cx="0" cy="93345"/>
          </a:xfrm>
          <a:custGeom>
            <a:avLst/>
            <a:gdLst/>
            <a:ahLst/>
            <a:cxnLst/>
            <a:rect l="l" t="t" r="r" b="b"/>
            <a:pathLst>
              <a:path h="93344">
                <a:moveTo>
                  <a:pt x="0" y="0"/>
                </a:moveTo>
                <a:lnTo>
                  <a:pt x="0" y="92837"/>
                </a:lnTo>
              </a:path>
            </a:pathLst>
          </a:custGeom>
          <a:ln w="7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26249" y="999134"/>
            <a:ext cx="30099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mbria Math"/>
                <a:cs typeface="Cambria Math"/>
              </a:rPr>
              <a:t>∇𝑓</a:t>
            </a:r>
            <a:r>
              <a:rPr sz="800" spc="135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=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42353" y="894867"/>
            <a:ext cx="754380" cy="341630"/>
          </a:xfrm>
          <a:custGeom>
            <a:avLst/>
            <a:gdLst/>
            <a:ahLst/>
            <a:cxnLst/>
            <a:rect l="l" t="t" r="r" b="b"/>
            <a:pathLst>
              <a:path w="754379" h="341630">
                <a:moveTo>
                  <a:pt x="22347" y="282448"/>
                </a:moveTo>
                <a:lnTo>
                  <a:pt x="11430" y="282448"/>
                </a:lnTo>
                <a:lnTo>
                  <a:pt x="43180" y="341122"/>
                </a:lnTo>
                <a:lnTo>
                  <a:pt x="47879" y="341122"/>
                </a:lnTo>
                <a:lnTo>
                  <a:pt x="49180" y="321563"/>
                </a:lnTo>
                <a:lnTo>
                  <a:pt x="43434" y="321563"/>
                </a:lnTo>
                <a:lnTo>
                  <a:pt x="22347" y="282448"/>
                </a:lnTo>
                <a:close/>
              </a:path>
              <a:path w="754379" h="341630">
                <a:moveTo>
                  <a:pt x="754126" y="0"/>
                </a:moveTo>
                <a:lnTo>
                  <a:pt x="75946" y="0"/>
                </a:lnTo>
                <a:lnTo>
                  <a:pt x="75946" y="635"/>
                </a:lnTo>
                <a:lnTo>
                  <a:pt x="64516" y="635"/>
                </a:lnTo>
                <a:lnTo>
                  <a:pt x="43434" y="321563"/>
                </a:lnTo>
                <a:lnTo>
                  <a:pt x="49180" y="321563"/>
                </a:lnTo>
                <a:lnTo>
                  <a:pt x="70104" y="7238"/>
                </a:lnTo>
                <a:lnTo>
                  <a:pt x="80137" y="7238"/>
                </a:lnTo>
                <a:lnTo>
                  <a:pt x="80137" y="6096"/>
                </a:lnTo>
                <a:lnTo>
                  <a:pt x="754126" y="6096"/>
                </a:lnTo>
                <a:lnTo>
                  <a:pt x="754126" y="0"/>
                </a:lnTo>
                <a:close/>
              </a:path>
              <a:path w="754379" h="341630">
                <a:moveTo>
                  <a:pt x="18034" y="274447"/>
                </a:moveTo>
                <a:lnTo>
                  <a:pt x="0" y="283972"/>
                </a:lnTo>
                <a:lnTo>
                  <a:pt x="2032" y="287527"/>
                </a:lnTo>
                <a:lnTo>
                  <a:pt x="11430" y="282448"/>
                </a:lnTo>
                <a:lnTo>
                  <a:pt x="22347" y="282448"/>
                </a:lnTo>
                <a:lnTo>
                  <a:pt x="18034" y="274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26680" y="954938"/>
            <a:ext cx="217170" cy="260350"/>
          </a:xfrm>
          <a:custGeom>
            <a:avLst/>
            <a:gdLst/>
            <a:ahLst/>
            <a:cxnLst/>
            <a:rect l="l" t="t" r="r" b="b"/>
            <a:pathLst>
              <a:path w="217170" h="260350">
                <a:moveTo>
                  <a:pt x="172593" y="0"/>
                </a:moveTo>
                <a:lnTo>
                  <a:pt x="170180" y="3682"/>
                </a:lnTo>
                <a:lnTo>
                  <a:pt x="178518" y="13686"/>
                </a:lnTo>
                <a:lnTo>
                  <a:pt x="185832" y="25606"/>
                </a:lnTo>
                <a:lnTo>
                  <a:pt x="201672" y="72487"/>
                </a:lnTo>
                <a:lnTo>
                  <a:pt x="207137" y="130048"/>
                </a:lnTo>
                <a:lnTo>
                  <a:pt x="206521" y="149858"/>
                </a:lnTo>
                <a:lnTo>
                  <a:pt x="197485" y="204596"/>
                </a:lnTo>
                <a:lnTo>
                  <a:pt x="178536" y="246637"/>
                </a:lnTo>
                <a:lnTo>
                  <a:pt x="170180" y="256666"/>
                </a:lnTo>
                <a:lnTo>
                  <a:pt x="172593" y="260350"/>
                </a:lnTo>
                <a:lnTo>
                  <a:pt x="198560" y="224095"/>
                </a:lnTo>
                <a:lnTo>
                  <a:pt x="214137" y="170497"/>
                </a:lnTo>
                <a:lnTo>
                  <a:pt x="217170" y="130048"/>
                </a:lnTo>
                <a:lnTo>
                  <a:pt x="216409" y="109116"/>
                </a:lnTo>
                <a:lnTo>
                  <a:pt x="210365" y="70254"/>
                </a:lnTo>
                <a:lnTo>
                  <a:pt x="190944" y="21828"/>
                </a:lnTo>
                <a:lnTo>
                  <a:pt x="182280" y="9836"/>
                </a:lnTo>
                <a:lnTo>
                  <a:pt x="172593" y="0"/>
                </a:lnTo>
                <a:close/>
              </a:path>
              <a:path w="217170" h="260350">
                <a:moveTo>
                  <a:pt x="44577" y="0"/>
                </a:moveTo>
                <a:lnTo>
                  <a:pt x="18609" y="35986"/>
                </a:lnTo>
                <a:lnTo>
                  <a:pt x="3032" y="89185"/>
                </a:lnTo>
                <a:lnTo>
                  <a:pt x="0" y="130048"/>
                </a:lnTo>
                <a:lnTo>
                  <a:pt x="760" y="150689"/>
                </a:lnTo>
                <a:lnTo>
                  <a:pt x="6804" y="189448"/>
                </a:lnTo>
                <a:lnTo>
                  <a:pt x="26225" y="238410"/>
                </a:lnTo>
                <a:lnTo>
                  <a:pt x="44577" y="260350"/>
                </a:lnTo>
                <a:lnTo>
                  <a:pt x="46990" y="256666"/>
                </a:lnTo>
                <a:lnTo>
                  <a:pt x="38633" y="246637"/>
                </a:lnTo>
                <a:lnTo>
                  <a:pt x="31289" y="234632"/>
                </a:lnTo>
                <a:lnTo>
                  <a:pt x="15517" y="187144"/>
                </a:lnTo>
                <a:lnTo>
                  <a:pt x="10160" y="130048"/>
                </a:lnTo>
                <a:lnTo>
                  <a:pt x="10755" y="109876"/>
                </a:lnTo>
                <a:lnTo>
                  <a:pt x="19685" y="55244"/>
                </a:lnTo>
                <a:lnTo>
                  <a:pt x="38651" y="13686"/>
                </a:lnTo>
                <a:lnTo>
                  <a:pt x="46990" y="3682"/>
                </a:lnTo>
                <a:lnTo>
                  <a:pt x="44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77735" y="108384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021447" y="999134"/>
            <a:ext cx="895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mbria Math"/>
                <a:cs typeface="Cambria Math"/>
              </a:rPr>
              <a:t>+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127492" y="954938"/>
            <a:ext cx="215900" cy="260350"/>
          </a:xfrm>
          <a:custGeom>
            <a:avLst/>
            <a:gdLst/>
            <a:ahLst/>
            <a:cxnLst/>
            <a:rect l="l" t="t" r="r" b="b"/>
            <a:pathLst>
              <a:path w="215900" h="260350">
                <a:moveTo>
                  <a:pt x="171069" y="0"/>
                </a:moveTo>
                <a:lnTo>
                  <a:pt x="168656" y="3682"/>
                </a:lnTo>
                <a:lnTo>
                  <a:pt x="176994" y="13686"/>
                </a:lnTo>
                <a:lnTo>
                  <a:pt x="184308" y="25606"/>
                </a:lnTo>
                <a:lnTo>
                  <a:pt x="200148" y="72487"/>
                </a:lnTo>
                <a:lnTo>
                  <a:pt x="205612" y="130048"/>
                </a:lnTo>
                <a:lnTo>
                  <a:pt x="204997" y="149858"/>
                </a:lnTo>
                <a:lnTo>
                  <a:pt x="195961" y="204596"/>
                </a:lnTo>
                <a:lnTo>
                  <a:pt x="177012" y="246637"/>
                </a:lnTo>
                <a:lnTo>
                  <a:pt x="168656" y="256666"/>
                </a:lnTo>
                <a:lnTo>
                  <a:pt x="171069" y="260350"/>
                </a:lnTo>
                <a:lnTo>
                  <a:pt x="197036" y="224095"/>
                </a:lnTo>
                <a:lnTo>
                  <a:pt x="212613" y="170497"/>
                </a:lnTo>
                <a:lnTo>
                  <a:pt x="215646" y="130048"/>
                </a:lnTo>
                <a:lnTo>
                  <a:pt x="214885" y="109116"/>
                </a:lnTo>
                <a:lnTo>
                  <a:pt x="208841" y="70254"/>
                </a:lnTo>
                <a:lnTo>
                  <a:pt x="189420" y="21828"/>
                </a:lnTo>
                <a:lnTo>
                  <a:pt x="180756" y="9836"/>
                </a:lnTo>
                <a:lnTo>
                  <a:pt x="171069" y="0"/>
                </a:lnTo>
                <a:close/>
              </a:path>
              <a:path w="215900" h="260350">
                <a:moveTo>
                  <a:pt x="44577" y="0"/>
                </a:moveTo>
                <a:lnTo>
                  <a:pt x="18609" y="35986"/>
                </a:lnTo>
                <a:lnTo>
                  <a:pt x="3032" y="89185"/>
                </a:lnTo>
                <a:lnTo>
                  <a:pt x="0" y="130048"/>
                </a:lnTo>
                <a:lnTo>
                  <a:pt x="760" y="150689"/>
                </a:lnTo>
                <a:lnTo>
                  <a:pt x="6804" y="189448"/>
                </a:lnTo>
                <a:lnTo>
                  <a:pt x="26225" y="238410"/>
                </a:lnTo>
                <a:lnTo>
                  <a:pt x="44577" y="260350"/>
                </a:lnTo>
                <a:lnTo>
                  <a:pt x="46990" y="256666"/>
                </a:lnTo>
                <a:lnTo>
                  <a:pt x="38633" y="246637"/>
                </a:lnTo>
                <a:lnTo>
                  <a:pt x="31289" y="234632"/>
                </a:lnTo>
                <a:lnTo>
                  <a:pt x="15517" y="187144"/>
                </a:lnTo>
                <a:lnTo>
                  <a:pt x="10160" y="130048"/>
                </a:lnTo>
                <a:lnTo>
                  <a:pt x="10755" y="109876"/>
                </a:lnTo>
                <a:lnTo>
                  <a:pt x="19685" y="55244"/>
                </a:lnTo>
                <a:lnTo>
                  <a:pt x="38651" y="13686"/>
                </a:lnTo>
                <a:lnTo>
                  <a:pt x="46990" y="3682"/>
                </a:lnTo>
                <a:lnTo>
                  <a:pt x="44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77022" y="1083843"/>
            <a:ext cx="116205" cy="0"/>
          </a:xfrm>
          <a:custGeom>
            <a:avLst/>
            <a:gdLst/>
            <a:ahLst/>
            <a:cxnLst/>
            <a:rect l="l" t="t" r="r" b="b"/>
            <a:pathLst>
              <a:path w="116204">
                <a:moveTo>
                  <a:pt x="0" y="0"/>
                </a:moveTo>
                <a:lnTo>
                  <a:pt x="115824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79131" y="1067714"/>
            <a:ext cx="52514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98780" algn="l"/>
              </a:tabLst>
            </a:pPr>
            <a:r>
              <a:rPr sz="800" spc="-5" dirty="0">
                <a:latin typeface="Cambria Math"/>
                <a:cs typeface="Cambria Math"/>
              </a:rPr>
              <a:t>𝜕</a:t>
            </a:r>
            <a:r>
              <a:rPr sz="800" dirty="0">
                <a:latin typeface="Cambria Math"/>
                <a:cs typeface="Cambria Math"/>
              </a:rPr>
              <a:t>𝑥	</a:t>
            </a:r>
            <a:r>
              <a:rPr sz="800" spc="-5" dirty="0">
                <a:latin typeface="Cambria Math"/>
                <a:cs typeface="Cambria Math"/>
              </a:rPr>
              <a:t>𝜕𝑦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79131" y="921410"/>
            <a:ext cx="62928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98780" algn="l"/>
              </a:tabLst>
            </a:pPr>
            <a:r>
              <a:rPr sz="800" spc="-5" dirty="0">
                <a:latin typeface="Cambria Math"/>
                <a:cs typeface="Cambria Math"/>
              </a:rPr>
              <a:t>𝜕𝑓 </a:t>
            </a:r>
            <a:r>
              <a:rPr sz="800" spc="140" dirty="0">
                <a:latin typeface="Cambria Math"/>
                <a:cs typeface="Cambria Math"/>
              </a:rPr>
              <a:t> </a:t>
            </a:r>
            <a:r>
              <a:rPr sz="825" spc="52" baseline="45454" dirty="0">
                <a:latin typeface="Cambria Math"/>
                <a:cs typeface="Cambria Math"/>
              </a:rPr>
              <a:t>2	</a:t>
            </a:r>
            <a:r>
              <a:rPr sz="800" spc="-5" dirty="0">
                <a:latin typeface="Cambria Math"/>
                <a:cs typeface="Cambria Math"/>
              </a:rPr>
              <a:t>𝜕𝑓</a:t>
            </a:r>
            <a:r>
              <a:rPr sz="800" spc="60" dirty="0">
                <a:latin typeface="Cambria Math"/>
                <a:cs typeface="Cambria Math"/>
              </a:rPr>
              <a:t> </a:t>
            </a:r>
            <a:r>
              <a:rPr sz="825" spc="52" baseline="45454" dirty="0">
                <a:latin typeface="Cambria Math"/>
                <a:cs typeface="Cambria Math"/>
              </a:rPr>
              <a:t>2</a:t>
            </a:r>
            <a:endParaRPr sz="825" baseline="45454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25588" y="2809011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梯度强度</a:t>
            </a:r>
            <a:endParaRPr sz="800">
              <a:latin typeface="黑体"/>
              <a:cs typeface="黑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429124" y="2465730"/>
            <a:ext cx="347980" cy="190500"/>
          </a:xfrm>
          <a:custGeom>
            <a:avLst/>
            <a:gdLst/>
            <a:ahLst/>
            <a:cxnLst/>
            <a:rect l="l" t="t" r="r" b="b"/>
            <a:pathLst>
              <a:path w="347980" h="190500">
                <a:moveTo>
                  <a:pt x="0" y="47625"/>
                </a:moveTo>
                <a:lnTo>
                  <a:pt x="252221" y="47625"/>
                </a:lnTo>
                <a:lnTo>
                  <a:pt x="252221" y="0"/>
                </a:lnTo>
                <a:lnTo>
                  <a:pt x="347471" y="95250"/>
                </a:lnTo>
                <a:lnTo>
                  <a:pt x="252221" y="190500"/>
                </a:lnTo>
                <a:lnTo>
                  <a:pt x="252221" y="142875"/>
                </a:lnTo>
                <a:lnTo>
                  <a:pt x="0" y="142875"/>
                </a:lnTo>
                <a:lnTo>
                  <a:pt x="0" y="476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87520" y="966527"/>
            <a:ext cx="2180844" cy="2180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44235" y="2272595"/>
            <a:ext cx="474345" cy="693420"/>
          </a:xfrm>
          <a:custGeom>
            <a:avLst/>
            <a:gdLst/>
            <a:ahLst/>
            <a:cxnLst/>
            <a:rect l="l" t="t" r="r" b="b"/>
            <a:pathLst>
              <a:path w="474345" h="693419">
                <a:moveTo>
                  <a:pt x="0" y="693420"/>
                </a:moveTo>
                <a:lnTo>
                  <a:pt x="473963" y="693420"/>
                </a:lnTo>
                <a:lnTo>
                  <a:pt x="473963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16522" y="1372317"/>
            <a:ext cx="1294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b="0" spc="5" dirty="0">
                <a:solidFill>
                  <a:srgbClr val="FF0000"/>
                </a:solidFill>
                <a:latin typeface="黑体"/>
                <a:cs typeface="黑体"/>
              </a:rPr>
              <a:t>如</a:t>
            </a:r>
            <a:r>
              <a:rPr sz="1000" b="0" spc="-5" dirty="0">
                <a:solidFill>
                  <a:srgbClr val="FF0000"/>
                </a:solidFill>
                <a:latin typeface="黑体"/>
                <a:cs typeface="黑体"/>
              </a:rPr>
              <a:t>何得</a:t>
            </a:r>
            <a:r>
              <a:rPr sz="1000" b="0" spc="5" dirty="0">
                <a:solidFill>
                  <a:srgbClr val="FF0000"/>
                </a:solidFill>
                <a:latin typeface="黑体"/>
                <a:cs typeface="黑体"/>
              </a:rPr>
              <a:t>到</a:t>
            </a:r>
            <a:r>
              <a:rPr sz="1000" b="0" spc="-5" dirty="0">
                <a:solidFill>
                  <a:srgbClr val="FF0000"/>
                </a:solidFill>
                <a:latin typeface="黑体"/>
                <a:cs typeface="黑体"/>
              </a:rPr>
              <a:t>更为</a:t>
            </a:r>
            <a:r>
              <a:rPr sz="1000" b="0" spc="5" dirty="0">
                <a:solidFill>
                  <a:srgbClr val="FF0000"/>
                </a:solidFill>
                <a:latin typeface="黑体"/>
                <a:cs typeface="黑体"/>
              </a:rPr>
              <a:t>准</a:t>
            </a:r>
            <a:r>
              <a:rPr sz="1000" b="0" spc="-5" dirty="0">
                <a:solidFill>
                  <a:srgbClr val="FF0000"/>
                </a:solidFill>
                <a:latin typeface="黑体"/>
                <a:cs typeface="黑体"/>
              </a:rPr>
              <a:t>确的边 </a:t>
            </a:r>
            <a:r>
              <a:rPr sz="1000" b="0" spc="5" dirty="0">
                <a:solidFill>
                  <a:srgbClr val="FF0000"/>
                </a:solidFill>
                <a:latin typeface="黑体"/>
                <a:cs typeface="黑体"/>
              </a:rPr>
              <a:t>缘？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06" y="1609020"/>
            <a:ext cx="864869" cy="1054100"/>
          </a:xfrm>
          <a:custGeom>
            <a:avLst/>
            <a:gdLst/>
            <a:ahLst/>
            <a:cxnLst/>
            <a:rect l="l" t="t" r="r" b="b"/>
            <a:pathLst>
              <a:path w="864870" h="1054100">
                <a:moveTo>
                  <a:pt x="18669" y="963549"/>
                </a:moveTo>
                <a:lnTo>
                  <a:pt x="13716" y="967105"/>
                </a:lnTo>
                <a:lnTo>
                  <a:pt x="12954" y="972312"/>
                </a:lnTo>
                <a:lnTo>
                  <a:pt x="0" y="1053719"/>
                </a:lnTo>
                <a:lnTo>
                  <a:pt x="22790" y="1045210"/>
                </a:lnTo>
                <a:lnTo>
                  <a:pt x="19304" y="1045210"/>
                </a:lnTo>
                <a:lnTo>
                  <a:pt x="4572" y="1033145"/>
                </a:lnTo>
                <a:lnTo>
                  <a:pt x="26867" y="1005894"/>
                </a:lnTo>
                <a:lnTo>
                  <a:pt x="31750" y="975233"/>
                </a:lnTo>
                <a:lnTo>
                  <a:pt x="32512" y="970026"/>
                </a:lnTo>
                <a:lnTo>
                  <a:pt x="29083" y="965200"/>
                </a:lnTo>
                <a:lnTo>
                  <a:pt x="23876" y="964311"/>
                </a:lnTo>
                <a:lnTo>
                  <a:pt x="18669" y="963549"/>
                </a:lnTo>
                <a:close/>
              </a:path>
              <a:path w="864870" h="1054100">
                <a:moveTo>
                  <a:pt x="26867" y="1005894"/>
                </a:moveTo>
                <a:lnTo>
                  <a:pt x="4572" y="1033145"/>
                </a:lnTo>
                <a:lnTo>
                  <a:pt x="19304" y="1045210"/>
                </a:lnTo>
                <a:lnTo>
                  <a:pt x="23044" y="1040638"/>
                </a:lnTo>
                <a:lnTo>
                  <a:pt x="21336" y="1040638"/>
                </a:lnTo>
                <a:lnTo>
                  <a:pt x="8636" y="1030224"/>
                </a:lnTo>
                <a:lnTo>
                  <a:pt x="23900" y="1024531"/>
                </a:lnTo>
                <a:lnTo>
                  <a:pt x="26867" y="1005894"/>
                </a:lnTo>
                <a:close/>
              </a:path>
              <a:path w="864870" h="1054100">
                <a:moveTo>
                  <a:pt x="75565" y="1005205"/>
                </a:moveTo>
                <a:lnTo>
                  <a:pt x="70612" y="1007110"/>
                </a:lnTo>
                <a:lnTo>
                  <a:pt x="41630" y="1017918"/>
                </a:lnTo>
                <a:lnTo>
                  <a:pt x="19304" y="1045210"/>
                </a:lnTo>
                <a:lnTo>
                  <a:pt x="22790" y="1045210"/>
                </a:lnTo>
                <a:lnTo>
                  <a:pt x="77216" y="1024890"/>
                </a:lnTo>
                <a:lnTo>
                  <a:pt x="82169" y="1023112"/>
                </a:lnTo>
                <a:lnTo>
                  <a:pt x="84709" y="1017651"/>
                </a:lnTo>
                <a:lnTo>
                  <a:pt x="82804" y="1012698"/>
                </a:lnTo>
                <a:lnTo>
                  <a:pt x="81026" y="1007745"/>
                </a:lnTo>
                <a:lnTo>
                  <a:pt x="75565" y="1005205"/>
                </a:lnTo>
                <a:close/>
              </a:path>
              <a:path w="864870" h="1054100">
                <a:moveTo>
                  <a:pt x="23900" y="1024531"/>
                </a:moveTo>
                <a:lnTo>
                  <a:pt x="8636" y="1030224"/>
                </a:lnTo>
                <a:lnTo>
                  <a:pt x="21336" y="1040638"/>
                </a:lnTo>
                <a:lnTo>
                  <a:pt x="23900" y="1024531"/>
                </a:lnTo>
                <a:close/>
              </a:path>
              <a:path w="864870" h="1054100">
                <a:moveTo>
                  <a:pt x="41630" y="1017918"/>
                </a:moveTo>
                <a:lnTo>
                  <a:pt x="23900" y="1024531"/>
                </a:lnTo>
                <a:lnTo>
                  <a:pt x="21336" y="1040638"/>
                </a:lnTo>
                <a:lnTo>
                  <a:pt x="23044" y="1040638"/>
                </a:lnTo>
                <a:lnTo>
                  <a:pt x="41630" y="1017918"/>
                </a:lnTo>
                <a:close/>
              </a:path>
              <a:path w="864870" h="1054100">
                <a:moveTo>
                  <a:pt x="849884" y="0"/>
                </a:moveTo>
                <a:lnTo>
                  <a:pt x="26867" y="1005894"/>
                </a:lnTo>
                <a:lnTo>
                  <a:pt x="23900" y="1024531"/>
                </a:lnTo>
                <a:lnTo>
                  <a:pt x="41630" y="1017918"/>
                </a:lnTo>
                <a:lnTo>
                  <a:pt x="864616" y="11938"/>
                </a:lnTo>
                <a:lnTo>
                  <a:pt x="8498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02682" y="324287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梯度强度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6652" y="1310951"/>
            <a:ext cx="1152144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83785" y="316541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6652" y="2130863"/>
            <a:ext cx="1267968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831" y="201284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梯度强度</a:t>
            </a:r>
            <a:endParaRPr sz="9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3784" y="41112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88687" y="1165758"/>
            <a:ext cx="609600" cy="6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33289" y="1261008"/>
            <a:ext cx="274320" cy="269875"/>
          </a:xfrm>
          <a:custGeom>
            <a:avLst/>
            <a:gdLst/>
            <a:ahLst/>
            <a:cxnLst/>
            <a:rect l="l" t="t" r="r" b="b"/>
            <a:pathLst>
              <a:path w="274319" h="269875">
                <a:moveTo>
                  <a:pt x="20701" y="209169"/>
                </a:moveTo>
                <a:lnTo>
                  <a:pt x="0" y="269621"/>
                </a:lnTo>
                <a:lnTo>
                  <a:pt x="60833" y="249936"/>
                </a:lnTo>
                <a:lnTo>
                  <a:pt x="54081" y="243078"/>
                </a:lnTo>
                <a:lnTo>
                  <a:pt x="40640" y="243078"/>
                </a:lnTo>
                <a:lnTo>
                  <a:pt x="27305" y="229488"/>
                </a:lnTo>
                <a:lnTo>
                  <a:pt x="34113" y="222793"/>
                </a:lnTo>
                <a:lnTo>
                  <a:pt x="20701" y="209169"/>
                </a:lnTo>
                <a:close/>
              </a:path>
              <a:path w="274319" h="269875">
                <a:moveTo>
                  <a:pt x="34113" y="222793"/>
                </a:moveTo>
                <a:lnTo>
                  <a:pt x="27305" y="229488"/>
                </a:lnTo>
                <a:lnTo>
                  <a:pt x="40640" y="243078"/>
                </a:lnTo>
                <a:lnTo>
                  <a:pt x="47469" y="236361"/>
                </a:lnTo>
                <a:lnTo>
                  <a:pt x="34113" y="222793"/>
                </a:lnTo>
                <a:close/>
              </a:path>
              <a:path w="274319" h="269875">
                <a:moveTo>
                  <a:pt x="47469" y="236361"/>
                </a:moveTo>
                <a:lnTo>
                  <a:pt x="40640" y="243078"/>
                </a:lnTo>
                <a:lnTo>
                  <a:pt x="54081" y="243078"/>
                </a:lnTo>
                <a:lnTo>
                  <a:pt x="47469" y="236361"/>
                </a:lnTo>
                <a:close/>
              </a:path>
              <a:path w="274319" h="269875">
                <a:moveTo>
                  <a:pt x="226850" y="33259"/>
                </a:moveTo>
                <a:lnTo>
                  <a:pt x="34113" y="222793"/>
                </a:lnTo>
                <a:lnTo>
                  <a:pt x="47469" y="236361"/>
                </a:lnTo>
                <a:lnTo>
                  <a:pt x="240206" y="46827"/>
                </a:lnTo>
                <a:lnTo>
                  <a:pt x="226850" y="33259"/>
                </a:lnTo>
                <a:close/>
              </a:path>
              <a:path w="274319" h="269875">
                <a:moveTo>
                  <a:pt x="265230" y="26543"/>
                </a:moveTo>
                <a:lnTo>
                  <a:pt x="233680" y="26543"/>
                </a:lnTo>
                <a:lnTo>
                  <a:pt x="247015" y="40132"/>
                </a:lnTo>
                <a:lnTo>
                  <a:pt x="240206" y="46827"/>
                </a:lnTo>
                <a:lnTo>
                  <a:pt x="253619" y="60451"/>
                </a:lnTo>
                <a:lnTo>
                  <a:pt x="265230" y="26543"/>
                </a:lnTo>
                <a:close/>
              </a:path>
              <a:path w="274319" h="269875">
                <a:moveTo>
                  <a:pt x="233680" y="26543"/>
                </a:moveTo>
                <a:lnTo>
                  <a:pt x="226850" y="33259"/>
                </a:lnTo>
                <a:lnTo>
                  <a:pt x="240206" y="46827"/>
                </a:lnTo>
                <a:lnTo>
                  <a:pt x="247015" y="40132"/>
                </a:lnTo>
                <a:lnTo>
                  <a:pt x="233680" y="26543"/>
                </a:lnTo>
                <a:close/>
              </a:path>
              <a:path w="274319" h="269875">
                <a:moveTo>
                  <a:pt x="274320" y="0"/>
                </a:moveTo>
                <a:lnTo>
                  <a:pt x="213487" y="19685"/>
                </a:lnTo>
                <a:lnTo>
                  <a:pt x="226850" y="33259"/>
                </a:lnTo>
                <a:lnTo>
                  <a:pt x="233680" y="26543"/>
                </a:lnTo>
                <a:lnTo>
                  <a:pt x="265230" y="26543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59019" y="137454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59019" y="137454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7431" y="13716"/>
                </a:moveTo>
                <a:lnTo>
                  <a:pt x="27431" y="21336"/>
                </a:lnTo>
                <a:lnTo>
                  <a:pt x="21336" y="27432"/>
                </a:lnTo>
                <a:lnTo>
                  <a:pt x="13716" y="27432"/>
                </a:lnTo>
                <a:lnTo>
                  <a:pt x="6096" y="27432"/>
                </a:lnTo>
                <a:lnTo>
                  <a:pt x="0" y="21336"/>
                </a:lnTo>
                <a:lnTo>
                  <a:pt x="0" y="13716"/>
                </a:lnTo>
                <a:lnTo>
                  <a:pt x="0" y="6096"/>
                </a:lnTo>
                <a:lnTo>
                  <a:pt x="6096" y="0"/>
                </a:lnTo>
                <a:lnTo>
                  <a:pt x="13716" y="0"/>
                </a:lnTo>
                <a:lnTo>
                  <a:pt x="21336" y="0"/>
                </a:lnTo>
                <a:lnTo>
                  <a:pt x="27431" y="6096"/>
                </a:lnTo>
                <a:lnTo>
                  <a:pt x="27431" y="137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5919" y="758850"/>
            <a:ext cx="1178052" cy="1178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65727" y="1658010"/>
            <a:ext cx="91440" cy="90170"/>
          </a:xfrm>
          <a:custGeom>
            <a:avLst/>
            <a:gdLst/>
            <a:ahLst/>
            <a:cxnLst/>
            <a:rect l="l" t="t" r="r" b="b"/>
            <a:pathLst>
              <a:path w="91440" h="90169">
                <a:moveTo>
                  <a:pt x="0" y="89916"/>
                </a:moveTo>
                <a:lnTo>
                  <a:pt x="91439" y="89916"/>
                </a:lnTo>
                <a:lnTo>
                  <a:pt x="9143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75785" y="1431950"/>
            <a:ext cx="544195" cy="233679"/>
          </a:xfrm>
          <a:custGeom>
            <a:avLst/>
            <a:gdLst/>
            <a:ahLst/>
            <a:cxnLst/>
            <a:rect l="l" t="t" r="r" b="b"/>
            <a:pathLst>
              <a:path w="544194" h="233680">
                <a:moveTo>
                  <a:pt x="0" y="154050"/>
                </a:moveTo>
                <a:lnTo>
                  <a:pt x="454787" y="39750"/>
                </a:lnTo>
                <a:lnTo>
                  <a:pt x="444753" y="0"/>
                </a:lnTo>
                <a:lnTo>
                  <a:pt x="544194" y="59562"/>
                </a:lnTo>
                <a:lnTo>
                  <a:pt x="484631" y="159003"/>
                </a:lnTo>
                <a:lnTo>
                  <a:pt x="474725" y="119252"/>
                </a:lnTo>
                <a:lnTo>
                  <a:pt x="19938" y="233425"/>
                </a:lnTo>
                <a:lnTo>
                  <a:pt x="0" y="15405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3785" y="316541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59120" y="792791"/>
            <a:ext cx="1066800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49595" y="783266"/>
            <a:ext cx="1085850" cy="108585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R="123189" algn="r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Arial"/>
                <a:cs typeface="Arial"/>
              </a:rPr>
              <a:t>q</a:t>
            </a:r>
            <a:endParaRPr sz="1200">
              <a:latin typeface="Arial"/>
              <a:cs typeface="Arial"/>
            </a:endParaRPr>
          </a:p>
          <a:p>
            <a:pPr marR="240665" algn="r">
              <a:lnSpc>
                <a:spcPct val="100000"/>
              </a:lnSpc>
              <a:spcBef>
                <a:spcPts val="495"/>
              </a:spcBef>
            </a:pPr>
            <a:r>
              <a:rPr sz="1200" spc="-5" dirty="0"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  <a:p>
            <a:pPr marL="198120" algn="ctr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67525" y="821493"/>
            <a:ext cx="212344" cy="210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13602" y="1082097"/>
            <a:ext cx="210820" cy="212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7110" y="1342701"/>
            <a:ext cx="210819" cy="212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88688" y="1071683"/>
            <a:ext cx="609600" cy="609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33290" y="1166933"/>
            <a:ext cx="274320" cy="269875"/>
          </a:xfrm>
          <a:custGeom>
            <a:avLst/>
            <a:gdLst/>
            <a:ahLst/>
            <a:cxnLst/>
            <a:rect l="l" t="t" r="r" b="b"/>
            <a:pathLst>
              <a:path w="274319" h="269875">
                <a:moveTo>
                  <a:pt x="20701" y="209169"/>
                </a:moveTo>
                <a:lnTo>
                  <a:pt x="0" y="269621"/>
                </a:lnTo>
                <a:lnTo>
                  <a:pt x="60833" y="249935"/>
                </a:lnTo>
                <a:lnTo>
                  <a:pt x="54081" y="243077"/>
                </a:lnTo>
                <a:lnTo>
                  <a:pt x="40640" y="243077"/>
                </a:lnTo>
                <a:lnTo>
                  <a:pt x="27305" y="229489"/>
                </a:lnTo>
                <a:lnTo>
                  <a:pt x="34113" y="222793"/>
                </a:lnTo>
                <a:lnTo>
                  <a:pt x="20701" y="209169"/>
                </a:lnTo>
                <a:close/>
              </a:path>
              <a:path w="274319" h="269875">
                <a:moveTo>
                  <a:pt x="34113" y="222793"/>
                </a:moveTo>
                <a:lnTo>
                  <a:pt x="27305" y="229489"/>
                </a:lnTo>
                <a:lnTo>
                  <a:pt x="40640" y="243077"/>
                </a:lnTo>
                <a:lnTo>
                  <a:pt x="47469" y="236361"/>
                </a:lnTo>
                <a:lnTo>
                  <a:pt x="34113" y="222793"/>
                </a:lnTo>
                <a:close/>
              </a:path>
              <a:path w="274319" h="269875">
                <a:moveTo>
                  <a:pt x="47469" y="236361"/>
                </a:moveTo>
                <a:lnTo>
                  <a:pt x="40640" y="243077"/>
                </a:lnTo>
                <a:lnTo>
                  <a:pt x="54081" y="243077"/>
                </a:lnTo>
                <a:lnTo>
                  <a:pt x="47469" y="236361"/>
                </a:lnTo>
                <a:close/>
              </a:path>
              <a:path w="274319" h="269875">
                <a:moveTo>
                  <a:pt x="226850" y="33259"/>
                </a:moveTo>
                <a:lnTo>
                  <a:pt x="34113" y="222793"/>
                </a:lnTo>
                <a:lnTo>
                  <a:pt x="47469" y="236361"/>
                </a:lnTo>
                <a:lnTo>
                  <a:pt x="240206" y="46827"/>
                </a:lnTo>
                <a:lnTo>
                  <a:pt x="226850" y="33259"/>
                </a:lnTo>
                <a:close/>
              </a:path>
              <a:path w="274319" h="269875">
                <a:moveTo>
                  <a:pt x="265230" y="26543"/>
                </a:moveTo>
                <a:lnTo>
                  <a:pt x="233680" y="26543"/>
                </a:lnTo>
                <a:lnTo>
                  <a:pt x="247015" y="40131"/>
                </a:lnTo>
                <a:lnTo>
                  <a:pt x="240206" y="46827"/>
                </a:lnTo>
                <a:lnTo>
                  <a:pt x="253619" y="60451"/>
                </a:lnTo>
                <a:lnTo>
                  <a:pt x="265230" y="26543"/>
                </a:lnTo>
                <a:close/>
              </a:path>
              <a:path w="274319" h="269875">
                <a:moveTo>
                  <a:pt x="233680" y="26543"/>
                </a:moveTo>
                <a:lnTo>
                  <a:pt x="226850" y="33259"/>
                </a:lnTo>
                <a:lnTo>
                  <a:pt x="240206" y="46827"/>
                </a:lnTo>
                <a:lnTo>
                  <a:pt x="247015" y="40131"/>
                </a:lnTo>
                <a:lnTo>
                  <a:pt x="233680" y="26543"/>
                </a:lnTo>
                <a:close/>
              </a:path>
              <a:path w="274319" h="269875">
                <a:moveTo>
                  <a:pt x="274320" y="0"/>
                </a:moveTo>
                <a:lnTo>
                  <a:pt x="213487" y="19684"/>
                </a:lnTo>
                <a:lnTo>
                  <a:pt x="226850" y="33259"/>
                </a:lnTo>
                <a:lnTo>
                  <a:pt x="233680" y="26543"/>
                </a:lnTo>
                <a:lnTo>
                  <a:pt x="265230" y="26543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59020" y="1280471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9020" y="1280471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7431" y="13716"/>
                </a:moveTo>
                <a:lnTo>
                  <a:pt x="27431" y="21336"/>
                </a:lnTo>
                <a:lnTo>
                  <a:pt x="21336" y="27432"/>
                </a:lnTo>
                <a:lnTo>
                  <a:pt x="13716" y="27432"/>
                </a:lnTo>
                <a:lnTo>
                  <a:pt x="6096" y="27432"/>
                </a:lnTo>
                <a:lnTo>
                  <a:pt x="0" y="21336"/>
                </a:lnTo>
                <a:lnTo>
                  <a:pt x="0" y="13716"/>
                </a:lnTo>
                <a:lnTo>
                  <a:pt x="0" y="6096"/>
                </a:lnTo>
                <a:lnTo>
                  <a:pt x="6096" y="0"/>
                </a:lnTo>
                <a:lnTo>
                  <a:pt x="13716" y="0"/>
                </a:lnTo>
                <a:lnTo>
                  <a:pt x="21336" y="0"/>
                </a:lnTo>
                <a:lnTo>
                  <a:pt x="27431" y="6096"/>
                </a:lnTo>
                <a:lnTo>
                  <a:pt x="27431" y="13716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5920" y="664775"/>
            <a:ext cx="1178052" cy="11780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65728" y="1563935"/>
            <a:ext cx="91440" cy="90170"/>
          </a:xfrm>
          <a:custGeom>
            <a:avLst/>
            <a:gdLst/>
            <a:ahLst/>
            <a:cxnLst/>
            <a:rect l="l" t="t" r="r" b="b"/>
            <a:pathLst>
              <a:path w="91440" h="90169">
                <a:moveTo>
                  <a:pt x="0" y="89916"/>
                </a:moveTo>
                <a:lnTo>
                  <a:pt x="91439" y="89916"/>
                </a:lnTo>
                <a:lnTo>
                  <a:pt x="9143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75786" y="1337875"/>
            <a:ext cx="544195" cy="233679"/>
          </a:xfrm>
          <a:custGeom>
            <a:avLst/>
            <a:gdLst/>
            <a:ahLst/>
            <a:cxnLst/>
            <a:rect l="l" t="t" r="r" b="b"/>
            <a:pathLst>
              <a:path w="544194" h="233680">
                <a:moveTo>
                  <a:pt x="0" y="154050"/>
                </a:moveTo>
                <a:lnTo>
                  <a:pt x="454787" y="39750"/>
                </a:lnTo>
                <a:lnTo>
                  <a:pt x="444753" y="0"/>
                </a:lnTo>
                <a:lnTo>
                  <a:pt x="544194" y="59562"/>
                </a:lnTo>
                <a:lnTo>
                  <a:pt x="484631" y="159003"/>
                </a:lnTo>
                <a:lnTo>
                  <a:pt x="474725" y="119252"/>
                </a:lnTo>
                <a:lnTo>
                  <a:pt x="19938" y="233425"/>
                </a:lnTo>
                <a:lnTo>
                  <a:pt x="0" y="15405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7832" y="1917884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梯度强度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83784" y="41112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59119" y="886866"/>
            <a:ext cx="1066800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72935" y="1059078"/>
            <a:ext cx="97790" cy="123825"/>
          </a:xfrm>
          <a:custGeom>
            <a:avLst/>
            <a:gdLst/>
            <a:ahLst/>
            <a:cxnLst/>
            <a:rect l="l" t="t" r="r" b="b"/>
            <a:pathLst>
              <a:path w="97789" h="123825">
                <a:moveTo>
                  <a:pt x="0" y="123444"/>
                </a:moveTo>
                <a:lnTo>
                  <a:pt x="97536" y="123444"/>
                </a:lnTo>
                <a:lnTo>
                  <a:pt x="97536" y="0"/>
                </a:lnTo>
                <a:lnTo>
                  <a:pt x="0" y="0"/>
                </a:lnTo>
                <a:lnTo>
                  <a:pt x="0" y="1234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49594" y="877341"/>
            <a:ext cx="1085850" cy="108585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R="123189" algn="r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q</a:t>
            </a:r>
            <a:endParaRPr sz="1200">
              <a:latin typeface="Arial"/>
              <a:cs typeface="Arial"/>
            </a:endParaRPr>
          </a:p>
          <a:p>
            <a:pPr marR="240665" algn="r">
              <a:lnSpc>
                <a:spcPct val="100000"/>
              </a:lnSpc>
              <a:spcBef>
                <a:spcPts val="495"/>
              </a:spcBef>
            </a:pPr>
            <a:r>
              <a:rPr sz="1200" spc="-5" dirty="0"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  <a:p>
            <a:pPr marL="198120" algn="ctr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73875" y="921918"/>
            <a:ext cx="200025" cy="198120"/>
          </a:xfrm>
          <a:custGeom>
            <a:avLst/>
            <a:gdLst/>
            <a:ahLst/>
            <a:cxnLst/>
            <a:rect l="l" t="t" r="r" b="b"/>
            <a:pathLst>
              <a:path w="200025" h="198119">
                <a:moveTo>
                  <a:pt x="0" y="99060"/>
                </a:moveTo>
                <a:lnTo>
                  <a:pt x="7846" y="60489"/>
                </a:lnTo>
                <a:lnTo>
                  <a:pt x="29241" y="29003"/>
                </a:lnTo>
                <a:lnTo>
                  <a:pt x="60971" y="7780"/>
                </a:lnTo>
                <a:lnTo>
                  <a:pt x="99822" y="0"/>
                </a:lnTo>
                <a:lnTo>
                  <a:pt x="138672" y="7780"/>
                </a:lnTo>
                <a:lnTo>
                  <a:pt x="170402" y="29003"/>
                </a:lnTo>
                <a:lnTo>
                  <a:pt x="191797" y="60489"/>
                </a:lnTo>
                <a:lnTo>
                  <a:pt x="199644" y="99060"/>
                </a:lnTo>
                <a:lnTo>
                  <a:pt x="191797" y="137630"/>
                </a:lnTo>
                <a:lnTo>
                  <a:pt x="170402" y="169116"/>
                </a:lnTo>
                <a:lnTo>
                  <a:pt x="138672" y="190339"/>
                </a:lnTo>
                <a:lnTo>
                  <a:pt x="99822" y="198120"/>
                </a:lnTo>
                <a:lnTo>
                  <a:pt x="60971" y="190339"/>
                </a:lnTo>
                <a:lnTo>
                  <a:pt x="29241" y="169116"/>
                </a:lnTo>
                <a:lnTo>
                  <a:pt x="7846" y="137630"/>
                </a:lnTo>
                <a:lnTo>
                  <a:pt x="0" y="99060"/>
                </a:lnTo>
                <a:close/>
              </a:path>
            </a:pathLst>
          </a:custGeom>
          <a:ln w="12700">
            <a:solidFill>
              <a:srgbClr val="21218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19952" y="1182522"/>
            <a:ext cx="198120" cy="200025"/>
          </a:xfrm>
          <a:custGeom>
            <a:avLst/>
            <a:gdLst/>
            <a:ahLst/>
            <a:cxnLst/>
            <a:rect l="l" t="t" r="r" b="b"/>
            <a:pathLst>
              <a:path w="198120" h="200025">
                <a:moveTo>
                  <a:pt x="0" y="99822"/>
                </a:moveTo>
                <a:lnTo>
                  <a:pt x="7780" y="60971"/>
                </a:lnTo>
                <a:lnTo>
                  <a:pt x="29003" y="29241"/>
                </a:lnTo>
                <a:lnTo>
                  <a:pt x="60489" y="7846"/>
                </a:lnTo>
                <a:lnTo>
                  <a:pt x="99060" y="0"/>
                </a:lnTo>
                <a:lnTo>
                  <a:pt x="137630" y="7846"/>
                </a:lnTo>
                <a:lnTo>
                  <a:pt x="169116" y="29241"/>
                </a:lnTo>
                <a:lnTo>
                  <a:pt x="190339" y="60971"/>
                </a:lnTo>
                <a:lnTo>
                  <a:pt x="198120" y="99822"/>
                </a:lnTo>
                <a:lnTo>
                  <a:pt x="190339" y="138672"/>
                </a:lnTo>
                <a:lnTo>
                  <a:pt x="169116" y="170402"/>
                </a:lnTo>
                <a:lnTo>
                  <a:pt x="137630" y="191797"/>
                </a:lnTo>
                <a:lnTo>
                  <a:pt x="99060" y="199644"/>
                </a:lnTo>
                <a:lnTo>
                  <a:pt x="60489" y="191797"/>
                </a:lnTo>
                <a:lnTo>
                  <a:pt x="29003" y="170402"/>
                </a:lnTo>
                <a:lnTo>
                  <a:pt x="7780" y="138672"/>
                </a:lnTo>
                <a:lnTo>
                  <a:pt x="0" y="99822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87110" y="1436776"/>
            <a:ext cx="210819" cy="212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3861" y="2347620"/>
            <a:ext cx="5321935" cy="434340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9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如果（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𝑝</a:t>
            </a:r>
            <a:r>
              <a:rPr sz="900" spc="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点的梯度强度</a:t>
            </a:r>
            <a:r>
              <a:rPr sz="900" spc="44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9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𝑞</a:t>
            </a:r>
            <a:r>
              <a:rPr sz="900" spc="8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点的梯度强度 </a:t>
            </a:r>
            <a:r>
              <a:rPr sz="900" spc="-5" dirty="0">
                <a:solidFill>
                  <a:srgbClr val="FF0000"/>
                </a:solidFill>
                <a:latin typeface="黑体"/>
                <a:cs typeface="黑体"/>
              </a:rPr>
              <a:t>&amp;&amp; 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𝑝</a:t>
            </a:r>
            <a:r>
              <a:rPr sz="9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点的梯度强度</a:t>
            </a:r>
            <a:r>
              <a:rPr sz="900" spc="44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9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900" spc="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点的梯度强度）</a:t>
            </a:r>
            <a:endParaRPr sz="900">
              <a:latin typeface="黑体"/>
              <a:cs typeface="黑体"/>
            </a:endParaRPr>
          </a:p>
          <a:p>
            <a:pPr marL="27432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𝑝</a:t>
            </a:r>
            <a:r>
              <a:rPr sz="900" spc="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点保留；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88687" y="1165758"/>
            <a:ext cx="609600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33289" y="1261008"/>
            <a:ext cx="274320" cy="269875"/>
          </a:xfrm>
          <a:custGeom>
            <a:avLst/>
            <a:gdLst/>
            <a:ahLst/>
            <a:cxnLst/>
            <a:rect l="l" t="t" r="r" b="b"/>
            <a:pathLst>
              <a:path w="274319" h="269875">
                <a:moveTo>
                  <a:pt x="20701" y="209169"/>
                </a:moveTo>
                <a:lnTo>
                  <a:pt x="0" y="269621"/>
                </a:lnTo>
                <a:lnTo>
                  <a:pt x="60833" y="249936"/>
                </a:lnTo>
                <a:lnTo>
                  <a:pt x="54081" y="243078"/>
                </a:lnTo>
                <a:lnTo>
                  <a:pt x="40640" y="243078"/>
                </a:lnTo>
                <a:lnTo>
                  <a:pt x="27305" y="229488"/>
                </a:lnTo>
                <a:lnTo>
                  <a:pt x="34113" y="222793"/>
                </a:lnTo>
                <a:lnTo>
                  <a:pt x="20701" y="209169"/>
                </a:lnTo>
                <a:close/>
              </a:path>
              <a:path w="274319" h="269875">
                <a:moveTo>
                  <a:pt x="34113" y="222793"/>
                </a:moveTo>
                <a:lnTo>
                  <a:pt x="27305" y="229488"/>
                </a:lnTo>
                <a:lnTo>
                  <a:pt x="40640" y="243078"/>
                </a:lnTo>
                <a:lnTo>
                  <a:pt x="47469" y="236361"/>
                </a:lnTo>
                <a:lnTo>
                  <a:pt x="34113" y="222793"/>
                </a:lnTo>
                <a:close/>
              </a:path>
              <a:path w="274319" h="269875">
                <a:moveTo>
                  <a:pt x="47469" y="236361"/>
                </a:moveTo>
                <a:lnTo>
                  <a:pt x="40640" y="243078"/>
                </a:lnTo>
                <a:lnTo>
                  <a:pt x="54081" y="243078"/>
                </a:lnTo>
                <a:lnTo>
                  <a:pt x="47469" y="236361"/>
                </a:lnTo>
                <a:close/>
              </a:path>
              <a:path w="274319" h="269875">
                <a:moveTo>
                  <a:pt x="226850" y="33259"/>
                </a:moveTo>
                <a:lnTo>
                  <a:pt x="34113" y="222793"/>
                </a:lnTo>
                <a:lnTo>
                  <a:pt x="47469" y="236361"/>
                </a:lnTo>
                <a:lnTo>
                  <a:pt x="240206" y="46827"/>
                </a:lnTo>
                <a:lnTo>
                  <a:pt x="226850" y="33259"/>
                </a:lnTo>
                <a:close/>
              </a:path>
              <a:path w="274319" h="269875">
                <a:moveTo>
                  <a:pt x="265230" y="26543"/>
                </a:moveTo>
                <a:lnTo>
                  <a:pt x="233680" y="26543"/>
                </a:lnTo>
                <a:lnTo>
                  <a:pt x="247015" y="40132"/>
                </a:lnTo>
                <a:lnTo>
                  <a:pt x="240206" y="46827"/>
                </a:lnTo>
                <a:lnTo>
                  <a:pt x="253619" y="60451"/>
                </a:lnTo>
                <a:lnTo>
                  <a:pt x="265230" y="26543"/>
                </a:lnTo>
                <a:close/>
              </a:path>
              <a:path w="274319" h="269875">
                <a:moveTo>
                  <a:pt x="233680" y="26543"/>
                </a:moveTo>
                <a:lnTo>
                  <a:pt x="226850" y="33259"/>
                </a:lnTo>
                <a:lnTo>
                  <a:pt x="240206" y="46827"/>
                </a:lnTo>
                <a:lnTo>
                  <a:pt x="247015" y="40132"/>
                </a:lnTo>
                <a:lnTo>
                  <a:pt x="233680" y="26543"/>
                </a:lnTo>
                <a:close/>
              </a:path>
              <a:path w="274319" h="269875">
                <a:moveTo>
                  <a:pt x="274320" y="0"/>
                </a:moveTo>
                <a:lnTo>
                  <a:pt x="213487" y="19685"/>
                </a:lnTo>
                <a:lnTo>
                  <a:pt x="226850" y="33259"/>
                </a:lnTo>
                <a:lnTo>
                  <a:pt x="233680" y="26543"/>
                </a:lnTo>
                <a:lnTo>
                  <a:pt x="265230" y="26543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59019" y="137454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9019" y="137454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7431" y="13716"/>
                </a:moveTo>
                <a:lnTo>
                  <a:pt x="27431" y="21336"/>
                </a:lnTo>
                <a:lnTo>
                  <a:pt x="21336" y="27432"/>
                </a:lnTo>
                <a:lnTo>
                  <a:pt x="13716" y="27432"/>
                </a:lnTo>
                <a:lnTo>
                  <a:pt x="6096" y="27432"/>
                </a:lnTo>
                <a:lnTo>
                  <a:pt x="0" y="21336"/>
                </a:lnTo>
                <a:lnTo>
                  <a:pt x="0" y="13716"/>
                </a:lnTo>
                <a:lnTo>
                  <a:pt x="0" y="6096"/>
                </a:lnTo>
                <a:lnTo>
                  <a:pt x="6096" y="0"/>
                </a:lnTo>
                <a:lnTo>
                  <a:pt x="13716" y="0"/>
                </a:lnTo>
                <a:lnTo>
                  <a:pt x="21336" y="0"/>
                </a:lnTo>
                <a:lnTo>
                  <a:pt x="27431" y="6096"/>
                </a:lnTo>
                <a:lnTo>
                  <a:pt x="27431" y="137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5919" y="758850"/>
            <a:ext cx="1178052" cy="11780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5727" y="1658010"/>
            <a:ext cx="91440" cy="90170"/>
          </a:xfrm>
          <a:custGeom>
            <a:avLst/>
            <a:gdLst/>
            <a:ahLst/>
            <a:cxnLst/>
            <a:rect l="l" t="t" r="r" b="b"/>
            <a:pathLst>
              <a:path w="91440" h="90169">
                <a:moveTo>
                  <a:pt x="0" y="89916"/>
                </a:moveTo>
                <a:lnTo>
                  <a:pt x="91439" y="89916"/>
                </a:lnTo>
                <a:lnTo>
                  <a:pt x="9143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75785" y="1431950"/>
            <a:ext cx="544195" cy="233679"/>
          </a:xfrm>
          <a:custGeom>
            <a:avLst/>
            <a:gdLst/>
            <a:ahLst/>
            <a:cxnLst/>
            <a:rect l="l" t="t" r="r" b="b"/>
            <a:pathLst>
              <a:path w="544194" h="233680">
                <a:moveTo>
                  <a:pt x="0" y="154050"/>
                </a:moveTo>
                <a:lnTo>
                  <a:pt x="454787" y="39750"/>
                </a:lnTo>
                <a:lnTo>
                  <a:pt x="444753" y="0"/>
                </a:lnTo>
                <a:lnTo>
                  <a:pt x="544194" y="59562"/>
                </a:lnTo>
                <a:lnTo>
                  <a:pt x="484631" y="159003"/>
                </a:lnTo>
                <a:lnTo>
                  <a:pt x="474725" y="119252"/>
                </a:lnTo>
                <a:lnTo>
                  <a:pt x="19938" y="233425"/>
                </a:lnTo>
                <a:lnTo>
                  <a:pt x="0" y="15405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7831" y="201284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梯度强度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83785" y="316541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862" y="2253545"/>
            <a:ext cx="5321935" cy="848994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latin typeface="黑体"/>
                <a:cs typeface="黑体"/>
              </a:rPr>
              <a:t>如果（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</a:t>
            </a:r>
            <a:r>
              <a:rPr sz="900" spc="4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&gt;</a:t>
            </a:r>
            <a:r>
              <a:rPr sz="900" spc="9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𝑞</a:t>
            </a:r>
            <a:r>
              <a:rPr sz="900" spc="8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 </a:t>
            </a:r>
            <a:r>
              <a:rPr sz="900" spc="-5" dirty="0">
                <a:latin typeface="黑体"/>
                <a:cs typeface="黑体"/>
              </a:rPr>
              <a:t>&amp;&amp; 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</a:t>
            </a:r>
            <a:r>
              <a:rPr sz="900" spc="4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&gt;</a:t>
            </a:r>
            <a:r>
              <a:rPr sz="900" spc="9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𝑟</a:t>
            </a:r>
            <a:r>
              <a:rPr sz="900" spc="7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点的梯度强度）</a:t>
            </a:r>
            <a:endParaRPr sz="900">
              <a:latin typeface="黑体"/>
              <a:cs typeface="黑体"/>
            </a:endParaRPr>
          </a:p>
          <a:p>
            <a:pPr marL="45720" marR="4458335" indent="228600">
              <a:lnSpc>
                <a:spcPct val="150000"/>
              </a:lnSpc>
            </a:pP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17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点保留； 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否则：</a:t>
            </a:r>
            <a:endParaRPr sz="900">
              <a:latin typeface="黑体"/>
              <a:cs typeface="黑体"/>
            </a:endParaRPr>
          </a:p>
          <a:p>
            <a:pPr marL="27432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删除 </a:t>
            </a:r>
            <a:r>
              <a:rPr sz="900" dirty="0">
                <a:solidFill>
                  <a:srgbClr val="FF0000"/>
                </a:solidFill>
                <a:latin typeface="Cambria Math"/>
                <a:cs typeface="Cambria Math"/>
              </a:rPr>
              <a:t>𝑝</a:t>
            </a:r>
            <a:r>
              <a:rPr sz="9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点；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9120" y="792791"/>
            <a:ext cx="1066800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9595" y="783266"/>
            <a:ext cx="1085850" cy="108585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R="123189" algn="r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Arial"/>
                <a:cs typeface="Arial"/>
              </a:rPr>
              <a:t>q</a:t>
            </a:r>
            <a:endParaRPr sz="1200">
              <a:latin typeface="Arial"/>
              <a:cs typeface="Arial"/>
            </a:endParaRPr>
          </a:p>
          <a:p>
            <a:pPr marR="240665" algn="r">
              <a:lnSpc>
                <a:spcPct val="100000"/>
              </a:lnSpc>
              <a:spcBef>
                <a:spcPts val="495"/>
              </a:spcBef>
            </a:pPr>
            <a:r>
              <a:rPr sz="1200" spc="-5" dirty="0"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  <a:p>
            <a:pPr marL="198120" algn="ctr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7525" y="821493"/>
            <a:ext cx="212344" cy="210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13602" y="1082097"/>
            <a:ext cx="210820" cy="212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7110" y="1342701"/>
            <a:ext cx="210819" cy="212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8688" y="1071683"/>
            <a:ext cx="609600" cy="609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33290" y="1166933"/>
            <a:ext cx="274320" cy="269875"/>
          </a:xfrm>
          <a:custGeom>
            <a:avLst/>
            <a:gdLst/>
            <a:ahLst/>
            <a:cxnLst/>
            <a:rect l="l" t="t" r="r" b="b"/>
            <a:pathLst>
              <a:path w="274319" h="269875">
                <a:moveTo>
                  <a:pt x="20701" y="209169"/>
                </a:moveTo>
                <a:lnTo>
                  <a:pt x="0" y="269621"/>
                </a:lnTo>
                <a:lnTo>
                  <a:pt x="60833" y="249935"/>
                </a:lnTo>
                <a:lnTo>
                  <a:pt x="54081" y="243077"/>
                </a:lnTo>
                <a:lnTo>
                  <a:pt x="40640" y="243077"/>
                </a:lnTo>
                <a:lnTo>
                  <a:pt x="27305" y="229489"/>
                </a:lnTo>
                <a:lnTo>
                  <a:pt x="34113" y="222793"/>
                </a:lnTo>
                <a:lnTo>
                  <a:pt x="20701" y="209169"/>
                </a:lnTo>
                <a:close/>
              </a:path>
              <a:path w="274319" h="269875">
                <a:moveTo>
                  <a:pt x="34113" y="222793"/>
                </a:moveTo>
                <a:lnTo>
                  <a:pt x="27305" y="229489"/>
                </a:lnTo>
                <a:lnTo>
                  <a:pt x="40640" y="243077"/>
                </a:lnTo>
                <a:lnTo>
                  <a:pt x="47469" y="236361"/>
                </a:lnTo>
                <a:lnTo>
                  <a:pt x="34113" y="222793"/>
                </a:lnTo>
                <a:close/>
              </a:path>
              <a:path w="274319" h="269875">
                <a:moveTo>
                  <a:pt x="47469" y="236361"/>
                </a:moveTo>
                <a:lnTo>
                  <a:pt x="40640" y="243077"/>
                </a:lnTo>
                <a:lnTo>
                  <a:pt x="54081" y="243077"/>
                </a:lnTo>
                <a:lnTo>
                  <a:pt x="47469" y="236361"/>
                </a:lnTo>
                <a:close/>
              </a:path>
              <a:path w="274319" h="269875">
                <a:moveTo>
                  <a:pt x="226850" y="33259"/>
                </a:moveTo>
                <a:lnTo>
                  <a:pt x="34113" y="222793"/>
                </a:lnTo>
                <a:lnTo>
                  <a:pt x="47469" y="236361"/>
                </a:lnTo>
                <a:lnTo>
                  <a:pt x="240206" y="46827"/>
                </a:lnTo>
                <a:lnTo>
                  <a:pt x="226850" y="33259"/>
                </a:lnTo>
                <a:close/>
              </a:path>
              <a:path w="274319" h="269875">
                <a:moveTo>
                  <a:pt x="265230" y="26543"/>
                </a:moveTo>
                <a:lnTo>
                  <a:pt x="233680" y="26543"/>
                </a:lnTo>
                <a:lnTo>
                  <a:pt x="247015" y="40131"/>
                </a:lnTo>
                <a:lnTo>
                  <a:pt x="240206" y="46827"/>
                </a:lnTo>
                <a:lnTo>
                  <a:pt x="253619" y="60451"/>
                </a:lnTo>
                <a:lnTo>
                  <a:pt x="265230" y="26543"/>
                </a:lnTo>
                <a:close/>
              </a:path>
              <a:path w="274319" h="269875">
                <a:moveTo>
                  <a:pt x="233680" y="26543"/>
                </a:moveTo>
                <a:lnTo>
                  <a:pt x="226850" y="33259"/>
                </a:lnTo>
                <a:lnTo>
                  <a:pt x="240206" y="46827"/>
                </a:lnTo>
                <a:lnTo>
                  <a:pt x="247015" y="40131"/>
                </a:lnTo>
                <a:lnTo>
                  <a:pt x="233680" y="26543"/>
                </a:lnTo>
                <a:close/>
              </a:path>
              <a:path w="274319" h="269875">
                <a:moveTo>
                  <a:pt x="274320" y="0"/>
                </a:moveTo>
                <a:lnTo>
                  <a:pt x="213487" y="19684"/>
                </a:lnTo>
                <a:lnTo>
                  <a:pt x="226850" y="33259"/>
                </a:lnTo>
                <a:lnTo>
                  <a:pt x="233680" y="26543"/>
                </a:lnTo>
                <a:lnTo>
                  <a:pt x="265230" y="26543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9020" y="1280471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59020" y="1280471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7431" y="13716"/>
                </a:moveTo>
                <a:lnTo>
                  <a:pt x="27431" y="21336"/>
                </a:lnTo>
                <a:lnTo>
                  <a:pt x="21336" y="27432"/>
                </a:lnTo>
                <a:lnTo>
                  <a:pt x="13716" y="27432"/>
                </a:lnTo>
                <a:lnTo>
                  <a:pt x="6096" y="27432"/>
                </a:lnTo>
                <a:lnTo>
                  <a:pt x="0" y="21336"/>
                </a:lnTo>
                <a:lnTo>
                  <a:pt x="0" y="13716"/>
                </a:lnTo>
                <a:lnTo>
                  <a:pt x="0" y="6096"/>
                </a:lnTo>
                <a:lnTo>
                  <a:pt x="6096" y="0"/>
                </a:lnTo>
                <a:lnTo>
                  <a:pt x="13716" y="0"/>
                </a:lnTo>
                <a:lnTo>
                  <a:pt x="21336" y="0"/>
                </a:lnTo>
                <a:lnTo>
                  <a:pt x="27431" y="6096"/>
                </a:lnTo>
                <a:lnTo>
                  <a:pt x="27431" y="13716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5920" y="664775"/>
            <a:ext cx="1178052" cy="11780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65728" y="1563935"/>
            <a:ext cx="91440" cy="90170"/>
          </a:xfrm>
          <a:custGeom>
            <a:avLst/>
            <a:gdLst/>
            <a:ahLst/>
            <a:cxnLst/>
            <a:rect l="l" t="t" r="r" b="b"/>
            <a:pathLst>
              <a:path w="91440" h="90169">
                <a:moveTo>
                  <a:pt x="0" y="89916"/>
                </a:moveTo>
                <a:lnTo>
                  <a:pt x="91439" y="89916"/>
                </a:lnTo>
                <a:lnTo>
                  <a:pt x="9143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75786" y="1337875"/>
            <a:ext cx="544195" cy="233679"/>
          </a:xfrm>
          <a:custGeom>
            <a:avLst/>
            <a:gdLst/>
            <a:ahLst/>
            <a:cxnLst/>
            <a:rect l="l" t="t" r="r" b="b"/>
            <a:pathLst>
              <a:path w="544194" h="233680">
                <a:moveTo>
                  <a:pt x="0" y="154050"/>
                </a:moveTo>
                <a:lnTo>
                  <a:pt x="454787" y="39750"/>
                </a:lnTo>
                <a:lnTo>
                  <a:pt x="444753" y="0"/>
                </a:lnTo>
                <a:lnTo>
                  <a:pt x="544194" y="59562"/>
                </a:lnTo>
                <a:lnTo>
                  <a:pt x="484631" y="159003"/>
                </a:lnTo>
                <a:lnTo>
                  <a:pt x="474725" y="119252"/>
                </a:lnTo>
                <a:lnTo>
                  <a:pt x="19938" y="233425"/>
                </a:lnTo>
                <a:lnTo>
                  <a:pt x="0" y="15405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7832" y="1917884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梯度强度</a:t>
            </a:r>
            <a:endParaRPr sz="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83784" y="41112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861" y="2347620"/>
            <a:ext cx="5321935" cy="848994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90"/>
              </a:spcBef>
            </a:pPr>
            <a:r>
              <a:rPr sz="900" dirty="0">
                <a:latin typeface="黑体"/>
                <a:cs typeface="黑体"/>
              </a:rPr>
              <a:t>如果（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</a:t>
            </a:r>
            <a:r>
              <a:rPr sz="900" spc="4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&gt;</a:t>
            </a:r>
            <a:r>
              <a:rPr sz="900" spc="9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𝑞</a:t>
            </a:r>
            <a:r>
              <a:rPr sz="900" spc="8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 </a:t>
            </a:r>
            <a:r>
              <a:rPr sz="900" spc="-5" dirty="0">
                <a:latin typeface="黑体"/>
                <a:cs typeface="黑体"/>
              </a:rPr>
              <a:t>&amp;&amp; 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</a:t>
            </a:r>
            <a:r>
              <a:rPr sz="900" spc="4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&gt;</a:t>
            </a:r>
            <a:r>
              <a:rPr sz="900" spc="9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𝑟</a:t>
            </a:r>
            <a:r>
              <a:rPr sz="900" spc="7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点的梯度强度）</a:t>
            </a:r>
            <a:endParaRPr sz="900">
              <a:latin typeface="黑体"/>
              <a:cs typeface="黑体"/>
            </a:endParaRPr>
          </a:p>
          <a:p>
            <a:pPr marL="45720" marR="4458335" indent="228600">
              <a:lnSpc>
                <a:spcPct val="150000"/>
              </a:lnSpc>
            </a:pP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17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点保留；  否则：</a:t>
            </a:r>
            <a:endParaRPr sz="900">
              <a:latin typeface="黑体"/>
              <a:cs typeface="黑体"/>
            </a:endParaRPr>
          </a:p>
          <a:p>
            <a:pPr marL="27432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删除 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59119" y="886866"/>
            <a:ext cx="1066800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2935" y="1059078"/>
            <a:ext cx="97790" cy="123825"/>
          </a:xfrm>
          <a:custGeom>
            <a:avLst/>
            <a:gdLst/>
            <a:ahLst/>
            <a:cxnLst/>
            <a:rect l="l" t="t" r="r" b="b"/>
            <a:pathLst>
              <a:path w="97789" h="123825">
                <a:moveTo>
                  <a:pt x="0" y="123444"/>
                </a:moveTo>
                <a:lnTo>
                  <a:pt x="97536" y="123444"/>
                </a:lnTo>
                <a:lnTo>
                  <a:pt x="97536" y="0"/>
                </a:lnTo>
                <a:lnTo>
                  <a:pt x="0" y="0"/>
                </a:lnTo>
                <a:lnTo>
                  <a:pt x="0" y="1234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8687" y="1165758"/>
            <a:ext cx="609600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33289" y="1261008"/>
            <a:ext cx="274320" cy="269875"/>
          </a:xfrm>
          <a:custGeom>
            <a:avLst/>
            <a:gdLst/>
            <a:ahLst/>
            <a:cxnLst/>
            <a:rect l="l" t="t" r="r" b="b"/>
            <a:pathLst>
              <a:path w="274319" h="269875">
                <a:moveTo>
                  <a:pt x="20701" y="209169"/>
                </a:moveTo>
                <a:lnTo>
                  <a:pt x="0" y="269621"/>
                </a:lnTo>
                <a:lnTo>
                  <a:pt x="60833" y="249936"/>
                </a:lnTo>
                <a:lnTo>
                  <a:pt x="54081" y="243078"/>
                </a:lnTo>
                <a:lnTo>
                  <a:pt x="40640" y="243078"/>
                </a:lnTo>
                <a:lnTo>
                  <a:pt x="27305" y="229488"/>
                </a:lnTo>
                <a:lnTo>
                  <a:pt x="34113" y="222793"/>
                </a:lnTo>
                <a:lnTo>
                  <a:pt x="20701" y="209169"/>
                </a:lnTo>
                <a:close/>
              </a:path>
              <a:path w="274319" h="269875">
                <a:moveTo>
                  <a:pt x="34113" y="222793"/>
                </a:moveTo>
                <a:lnTo>
                  <a:pt x="27305" y="229488"/>
                </a:lnTo>
                <a:lnTo>
                  <a:pt x="40640" y="243078"/>
                </a:lnTo>
                <a:lnTo>
                  <a:pt x="47469" y="236361"/>
                </a:lnTo>
                <a:lnTo>
                  <a:pt x="34113" y="222793"/>
                </a:lnTo>
                <a:close/>
              </a:path>
              <a:path w="274319" h="269875">
                <a:moveTo>
                  <a:pt x="47469" y="236361"/>
                </a:moveTo>
                <a:lnTo>
                  <a:pt x="40640" y="243078"/>
                </a:lnTo>
                <a:lnTo>
                  <a:pt x="54081" y="243078"/>
                </a:lnTo>
                <a:lnTo>
                  <a:pt x="47469" y="236361"/>
                </a:lnTo>
                <a:close/>
              </a:path>
              <a:path w="274319" h="269875">
                <a:moveTo>
                  <a:pt x="226850" y="33259"/>
                </a:moveTo>
                <a:lnTo>
                  <a:pt x="34113" y="222793"/>
                </a:lnTo>
                <a:lnTo>
                  <a:pt x="47469" y="236361"/>
                </a:lnTo>
                <a:lnTo>
                  <a:pt x="240206" y="46827"/>
                </a:lnTo>
                <a:lnTo>
                  <a:pt x="226850" y="33259"/>
                </a:lnTo>
                <a:close/>
              </a:path>
              <a:path w="274319" h="269875">
                <a:moveTo>
                  <a:pt x="265230" y="26543"/>
                </a:moveTo>
                <a:lnTo>
                  <a:pt x="233680" y="26543"/>
                </a:lnTo>
                <a:lnTo>
                  <a:pt x="247015" y="40132"/>
                </a:lnTo>
                <a:lnTo>
                  <a:pt x="240206" y="46827"/>
                </a:lnTo>
                <a:lnTo>
                  <a:pt x="253619" y="60451"/>
                </a:lnTo>
                <a:lnTo>
                  <a:pt x="265230" y="26543"/>
                </a:lnTo>
                <a:close/>
              </a:path>
              <a:path w="274319" h="269875">
                <a:moveTo>
                  <a:pt x="233680" y="26543"/>
                </a:moveTo>
                <a:lnTo>
                  <a:pt x="226850" y="33259"/>
                </a:lnTo>
                <a:lnTo>
                  <a:pt x="240206" y="46827"/>
                </a:lnTo>
                <a:lnTo>
                  <a:pt x="247015" y="40132"/>
                </a:lnTo>
                <a:lnTo>
                  <a:pt x="233680" y="26543"/>
                </a:lnTo>
                <a:close/>
              </a:path>
              <a:path w="274319" h="269875">
                <a:moveTo>
                  <a:pt x="274320" y="0"/>
                </a:moveTo>
                <a:lnTo>
                  <a:pt x="213487" y="19685"/>
                </a:lnTo>
                <a:lnTo>
                  <a:pt x="226850" y="33259"/>
                </a:lnTo>
                <a:lnTo>
                  <a:pt x="233680" y="26543"/>
                </a:lnTo>
                <a:lnTo>
                  <a:pt x="265230" y="26543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9019" y="137454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59019" y="137454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7431" y="13716"/>
                </a:moveTo>
                <a:lnTo>
                  <a:pt x="27431" y="21336"/>
                </a:lnTo>
                <a:lnTo>
                  <a:pt x="21336" y="27432"/>
                </a:lnTo>
                <a:lnTo>
                  <a:pt x="13716" y="27432"/>
                </a:lnTo>
                <a:lnTo>
                  <a:pt x="6096" y="27432"/>
                </a:lnTo>
                <a:lnTo>
                  <a:pt x="0" y="21336"/>
                </a:lnTo>
                <a:lnTo>
                  <a:pt x="0" y="13716"/>
                </a:lnTo>
                <a:lnTo>
                  <a:pt x="0" y="6096"/>
                </a:lnTo>
                <a:lnTo>
                  <a:pt x="6096" y="0"/>
                </a:lnTo>
                <a:lnTo>
                  <a:pt x="13716" y="0"/>
                </a:lnTo>
                <a:lnTo>
                  <a:pt x="21336" y="0"/>
                </a:lnTo>
                <a:lnTo>
                  <a:pt x="27431" y="6096"/>
                </a:lnTo>
                <a:lnTo>
                  <a:pt x="27431" y="137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5919" y="758850"/>
            <a:ext cx="1178052" cy="1178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65727" y="1658010"/>
            <a:ext cx="91440" cy="90170"/>
          </a:xfrm>
          <a:custGeom>
            <a:avLst/>
            <a:gdLst/>
            <a:ahLst/>
            <a:cxnLst/>
            <a:rect l="l" t="t" r="r" b="b"/>
            <a:pathLst>
              <a:path w="91440" h="90169">
                <a:moveTo>
                  <a:pt x="0" y="89916"/>
                </a:moveTo>
                <a:lnTo>
                  <a:pt x="91439" y="89916"/>
                </a:lnTo>
                <a:lnTo>
                  <a:pt x="9143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75785" y="1431950"/>
            <a:ext cx="544195" cy="233679"/>
          </a:xfrm>
          <a:custGeom>
            <a:avLst/>
            <a:gdLst/>
            <a:ahLst/>
            <a:cxnLst/>
            <a:rect l="l" t="t" r="r" b="b"/>
            <a:pathLst>
              <a:path w="544194" h="233680">
                <a:moveTo>
                  <a:pt x="0" y="154050"/>
                </a:moveTo>
                <a:lnTo>
                  <a:pt x="454787" y="39750"/>
                </a:lnTo>
                <a:lnTo>
                  <a:pt x="444753" y="0"/>
                </a:lnTo>
                <a:lnTo>
                  <a:pt x="544194" y="59562"/>
                </a:lnTo>
                <a:lnTo>
                  <a:pt x="484631" y="159003"/>
                </a:lnTo>
                <a:lnTo>
                  <a:pt x="474725" y="119252"/>
                </a:lnTo>
                <a:lnTo>
                  <a:pt x="19938" y="233425"/>
                </a:lnTo>
                <a:lnTo>
                  <a:pt x="0" y="15405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7831" y="1003198"/>
            <a:ext cx="5021580" cy="117221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291204">
              <a:lnSpc>
                <a:spcPct val="100000"/>
              </a:lnSpc>
              <a:spcBef>
                <a:spcPts val="590"/>
              </a:spcBef>
            </a:pPr>
            <a:r>
              <a:rPr sz="1200" spc="-5" dirty="0">
                <a:latin typeface="Arial"/>
                <a:cs typeface="Arial"/>
              </a:rPr>
              <a:t>q</a:t>
            </a:r>
            <a:endParaRPr sz="1200">
              <a:latin typeface="Arial"/>
              <a:cs typeface="Arial"/>
            </a:endParaRPr>
          </a:p>
          <a:p>
            <a:pPr marL="1411605" algn="ctr">
              <a:lnSpc>
                <a:spcPct val="100000"/>
              </a:lnSpc>
              <a:spcBef>
                <a:spcPts val="495"/>
              </a:spcBef>
            </a:pPr>
            <a:r>
              <a:rPr sz="1200" spc="-5" dirty="0"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  <a:p>
            <a:pPr marL="1106170" algn="ctr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208145" algn="l"/>
              </a:tabLst>
            </a:pPr>
            <a:r>
              <a:rPr sz="900" dirty="0">
                <a:latin typeface="黑体"/>
                <a:cs typeface="黑体"/>
              </a:rPr>
              <a:t>梯度强度	非最大化抑制后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59319" y="757326"/>
            <a:ext cx="1178052" cy="11795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49794" y="747801"/>
            <a:ext cx="1197610" cy="1198880"/>
          </a:xfrm>
          <a:custGeom>
            <a:avLst/>
            <a:gdLst/>
            <a:ahLst/>
            <a:cxnLst/>
            <a:rect l="l" t="t" r="r" b="b"/>
            <a:pathLst>
              <a:path w="1197610" h="1198880">
                <a:moveTo>
                  <a:pt x="0" y="1198626"/>
                </a:moveTo>
                <a:lnTo>
                  <a:pt x="1197102" y="1198626"/>
                </a:lnTo>
                <a:lnTo>
                  <a:pt x="1197102" y="0"/>
                </a:lnTo>
                <a:lnTo>
                  <a:pt x="0" y="0"/>
                </a:lnTo>
                <a:lnTo>
                  <a:pt x="0" y="1198626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83785" y="316541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/>
                <a:cs typeface="黑体"/>
              </a:rPr>
              <a:t>非极大值抑制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862" y="2253545"/>
            <a:ext cx="5321935" cy="848994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latin typeface="黑体"/>
                <a:cs typeface="黑体"/>
              </a:rPr>
              <a:t>如果（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</a:t>
            </a:r>
            <a:r>
              <a:rPr sz="900" spc="4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&gt;</a:t>
            </a:r>
            <a:r>
              <a:rPr sz="900" spc="9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𝑞</a:t>
            </a:r>
            <a:r>
              <a:rPr sz="900" spc="8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 </a:t>
            </a:r>
            <a:r>
              <a:rPr sz="900" spc="-5" dirty="0">
                <a:latin typeface="黑体"/>
                <a:cs typeface="黑体"/>
              </a:rPr>
              <a:t>&amp;&amp; 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</a:t>
            </a:r>
            <a:r>
              <a:rPr sz="900" spc="4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&gt;</a:t>
            </a:r>
            <a:r>
              <a:rPr sz="900" spc="9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𝑟</a:t>
            </a:r>
            <a:r>
              <a:rPr sz="900" spc="7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点的梯度强度）</a:t>
            </a:r>
            <a:endParaRPr sz="900">
              <a:latin typeface="黑体"/>
              <a:cs typeface="黑体"/>
            </a:endParaRPr>
          </a:p>
          <a:p>
            <a:pPr marL="45720" marR="4458335" indent="228600">
              <a:lnSpc>
                <a:spcPct val="150000"/>
              </a:lnSpc>
            </a:pP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17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点保留；  否则：</a:t>
            </a:r>
            <a:endParaRPr sz="900">
              <a:latin typeface="黑体"/>
              <a:cs typeface="黑体"/>
            </a:endParaRPr>
          </a:p>
          <a:p>
            <a:pPr marL="27432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删除 </a:t>
            </a:r>
            <a:r>
              <a:rPr sz="900" dirty="0">
                <a:latin typeface="Cambria Math"/>
                <a:cs typeface="Cambria Math"/>
              </a:rPr>
              <a:t>𝑝</a:t>
            </a:r>
            <a:r>
              <a:rPr sz="900" spc="6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点；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9120" y="792791"/>
            <a:ext cx="1066800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88688" y="1071683"/>
            <a:ext cx="609600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33290" y="1166933"/>
            <a:ext cx="274320" cy="269875"/>
          </a:xfrm>
          <a:custGeom>
            <a:avLst/>
            <a:gdLst/>
            <a:ahLst/>
            <a:cxnLst/>
            <a:rect l="l" t="t" r="r" b="b"/>
            <a:pathLst>
              <a:path w="274319" h="269875">
                <a:moveTo>
                  <a:pt x="20701" y="209169"/>
                </a:moveTo>
                <a:lnTo>
                  <a:pt x="0" y="269621"/>
                </a:lnTo>
                <a:lnTo>
                  <a:pt x="60833" y="249935"/>
                </a:lnTo>
                <a:lnTo>
                  <a:pt x="54081" y="243077"/>
                </a:lnTo>
                <a:lnTo>
                  <a:pt x="40640" y="243077"/>
                </a:lnTo>
                <a:lnTo>
                  <a:pt x="27305" y="229489"/>
                </a:lnTo>
                <a:lnTo>
                  <a:pt x="34113" y="222793"/>
                </a:lnTo>
                <a:lnTo>
                  <a:pt x="20701" y="209169"/>
                </a:lnTo>
                <a:close/>
              </a:path>
              <a:path w="274319" h="269875">
                <a:moveTo>
                  <a:pt x="34113" y="222793"/>
                </a:moveTo>
                <a:lnTo>
                  <a:pt x="27305" y="229489"/>
                </a:lnTo>
                <a:lnTo>
                  <a:pt x="40640" y="243077"/>
                </a:lnTo>
                <a:lnTo>
                  <a:pt x="47469" y="236361"/>
                </a:lnTo>
                <a:lnTo>
                  <a:pt x="34113" y="222793"/>
                </a:lnTo>
                <a:close/>
              </a:path>
              <a:path w="274319" h="269875">
                <a:moveTo>
                  <a:pt x="47469" y="236361"/>
                </a:moveTo>
                <a:lnTo>
                  <a:pt x="40640" y="243077"/>
                </a:lnTo>
                <a:lnTo>
                  <a:pt x="54081" y="243077"/>
                </a:lnTo>
                <a:lnTo>
                  <a:pt x="47469" y="236361"/>
                </a:lnTo>
                <a:close/>
              </a:path>
              <a:path w="274319" h="269875">
                <a:moveTo>
                  <a:pt x="226850" y="33259"/>
                </a:moveTo>
                <a:lnTo>
                  <a:pt x="34113" y="222793"/>
                </a:lnTo>
                <a:lnTo>
                  <a:pt x="47469" y="236361"/>
                </a:lnTo>
                <a:lnTo>
                  <a:pt x="240206" y="46827"/>
                </a:lnTo>
                <a:lnTo>
                  <a:pt x="226850" y="33259"/>
                </a:lnTo>
                <a:close/>
              </a:path>
              <a:path w="274319" h="269875">
                <a:moveTo>
                  <a:pt x="265230" y="26543"/>
                </a:moveTo>
                <a:lnTo>
                  <a:pt x="233680" y="26543"/>
                </a:lnTo>
                <a:lnTo>
                  <a:pt x="247015" y="40131"/>
                </a:lnTo>
                <a:lnTo>
                  <a:pt x="240206" y="46827"/>
                </a:lnTo>
                <a:lnTo>
                  <a:pt x="253619" y="60451"/>
                </a:lnTo>
                <a:lnTo>
                  <a:pt x="265230" y="26543"/>
                </a:lnTo>
                <a:close/>
              </a:path>
              <a:path w="274319" h="269875">
                <a:moveTo>
                  <a:pt x="233680" y="26543"/>
                </a:moveTo>
                <a:lnTo>
                  <a:pt x="226850" y="33259"/>
                </a:lnTo>
                <a:lnTo>
                  <a:pt x="240206" y="46827"/>
                </a:lnTo>
                <a:lnTo>
                  <a:pt x="247015" y="40131"/>
                </a:lnTo>
                <a:lnTo>
                  <a:pt x="233680" y="26543"/>
                </a:lnTo>
                <a:close/>
              </a:path>
              <a:path w="274319" h="269875">
                <a:moveTo>
                  <a:pt x="274320" y="0"/>
                </a:moveTo>
                <a:lnTo>
                  <a:pt x="213487" y="19684"/>
                </a:lnTo>
                <a:lnTo>
                  <a:pt x="226850" y="33259"/>
                </a:lnTo>
                <a:lnTo>
                  <a:pt x="233680" y="26543"/>
                </a:lnTo>
                <a:lnTo>
                  <a:pt x="265230" y="26543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59020" y="1280471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9020" y="1280471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27431" y="13716"/>
                </a:moveTo>
                <a:lnTo>
                  <a:pt x="27431" y="21336"/>
                </a:lnTo>
                <a:lnTo>
                  <a:pt x="21336" y="27432"/>
                </a:lnTo>
                <a:lnTo>
                  <a:pt x="13716" y="27432"/>
                </a:lnTo>
                <a:lnTo>
                  <a:pt x="6096" y="27432"/>
                </a:lnTo>
                <a:lnTo>
                  <a:pt x="0" y="21336"/>
                </a:lnTo>
                <a:lnTo>
                  <a:pt x="0" y="13716"/>
                </a:lnTo>
                <a:lnTo>
                  <a:pt x="0" y="6096"/>
                </a:lnTo>
                <a:lnTo>
                  <a:pt x="6096" y="0"/>
                </a:lnTo>
                <a:lnTo>
                  <a:pt x="13716" y="0"/>
                </a:lnTo>
                <a:lnTo>
                  <a:pt x="21336" y="0"/>
                </a:lnTo>
                <a:lnTo>
                  <a:pt x="27431" y="6096"/>
                </a:lnTo>
                <a:lnTo>
                  <a:pt x="27431" y="13716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920" y="664775"/>
            <a:ext cx="1178052" cy="1178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728" y="1563935"/>
            <a:ext cx="91440" cy="90170"/>
          </a:xfrm>
          <a:custGeom>
            <a:avLst/>
            <a:gdLst/>
            <a:ahLst/>
            <a:cxnLst/>
            <a:rect l="l" t="t" r="r" b="b"/>
            <a:pathLst>
              <a:path w="91440" h="90169">
                <a:moveTo>
                  <a:pt x="0" y="89916"/>
                </a:moveTo>
                <a:lnTo>
                  <a:pt x="91439" y="89916"/>
                </a:lnTo>
                <a:lnTo>
                  <a:pt x="9143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75786" y="1337875"/>
            <a:ext cx="544195" cy="233679"/>
          </a:xfrm>
          <a:custGeom>
            <a:avLst/>
            <a:gdLst/>
            <a:ahLst/>
            <a:cxnLst/>
            <a:rect l="l" t="t" r="r" b="b"/>
            <a:pathLst>
              <a:path w="544194" h="233680">
                <a:moveTo>
                  <a:pt x="0" y="154050"/>
                </a:moveTo>
                <a:lnTo>
                  <a:pt x="454787" y="39750"/>
                </a:lnTo>
                <a:lnTo>
                  <a:pt x="444753" y="0"/>
                </a:lnTo>
                <a:lnTo>
                  <a:pt x="544194" y="59562"/>
                </a:lnTo>
                <a:lnTo>
                  <a:pt x="484631" y="159003"/>
                </a:lnTo>
                <a:lnTo>
                  <a:pt x="474725" y="119252"/>
                </a:lnTo>
                <a:lnTo>
                  <a:pt x="19938" y="233425"/>
                </a:lnTo>
                <a:lnTo>
                  <a:pt x="0" y="15405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7832" y="907726"/>
            <a:ext cx="5021580" cy="11728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291204">
              <a:lnSpc>
                <a:spcPct val="100000"/>
              </a:lnSpc>
              <a:spcBef>
                <a:spcPts val="595"/>
              </a:spcBef>
            </a:pPr>
            <a:r>
              <a:rPr sz="1200" spc="-5" dirty="0">
                <a:latin typeface="Arial"/>
                <a:cs typeface="Arial"/>
              </a:rPr>
              <a:t>q</a:t>
            </a:r>
            <a:endParaRPr sz="1200">
              <a:latin typeface="Arial"/>
              <a:cs typeface="Arial"/>
            </a:endParaRPr>
          </a:p>
          <a:p>
            <a:pPr marL="1411605" algn="ctr">
              <a:lnSpc>
                <a:spcPct val="100000"/>
              </a:lnSpc>
              <a:spcBef>
                <a:spcPts val="495"/>
              </a:spcBef>
            </a:pPr>
            <a:r>
              <a:rPr sz="1200" spc="-5" dirty="0"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  <a:p>
            <a:pPr marL="1106170" algn="ctr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208145" algn="l"/>
              </a:tabLst>
            </a:pPr>
            <a:r>
              <a:rPr sz="900" dirty="0">
                <a:latin typeface="黑体"/>
                <a:cs typeface="黑体"/>
              </a:rPr>
              <a:t>梯度强度	非最大化抑制后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59319" y="663251"/>
            <a:ext cx="1178052" cy="11795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49794" y="653726"/>
            <a:ext cx="1197610" cy="1198880"/>
          </a:xfrm>
          <a:custGeom>
            <a:avLst/>
            <a:gdLst/>
            <a:ahLst/>
            <a:cxnLst/>
            <a:rect l="l" t="t" r="r" b="b"/>
            <a:pathLst>
              <a:path w="1197610" h="1198880">
                <a:moveTo>
                  <a:pt x="0" y="1198626"/>
                </a:moveTo>
                <a:lnTo>
                  <a:pt x="1197102" y="1198626"/>
                </a:lnTo>
                <a:lnTo>
                  <a:pt x="1197102" y="0"/>
                </a:lnTo>
                <a:lnTo>
                  <a:pt x="0" y="0"/>
                </a:lnTo>
                <a:lnTo>
                  <a:pt x="0" y="1198626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66414" y="3213284"/>
            <a:ext cx="4159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示：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𝑞</a:t>
            </a:r>
            <a:r>
              <a:rPr sz="1000" spc="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点、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000" spc="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点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标通常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是整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，其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度需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要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插值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获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得！！！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181" y="411124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896" y="3190646"/>
            <a:ext cx="1042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非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最大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抑制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结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果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6419" y="1174902"/>
            <a:ext cx="1943100" cy="194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894" y="1165377"/>
            <a:ext cx="1962150" cy="1962150"/>
          </a:xfrm>
          <a:custGeom>
            <a:avLst/>
            <a:gdLst/>
            <a:ahLst/>
            <a:cxnLst/>
            <a:rect l="l" t="t" r="r" b="b"/>
            <a:pathLst>
              <a:path w="1962150" h="1962150">
                <a:moveTo>
                  <a:pt x="0" y="1962150"/>
                </a:moveTo>
                <a:lnTo>
                  <a:pt x="1962150" y="1962150"/>
                </a:lnTo>
                <a:lnTo>
                  <a:pt x="1962150" y="0"/>
                </a:lnTo>
                <a:lnTo>
                  <a:pt x="0" y="0"/>
                </a:lnTo>
                <a:lnTo>
                  <a:pt x="0" y="196215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43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182" y="316541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897" y="3095936"/>
            <a:ext cx="1042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非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最大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抑制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结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果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6420" y="1080827"/>
            <a:ext cx="1943100" cy="194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895" y="1071302"/>
            <a:ext cx="1962150" cy="1962150"/>
          </a:xfrm>
          <a:custGeom>
            <a:avLst/>
            <a:gdLst/>
            <a:ahLst/>
            <a:cxnLst/>
            <a:rect l="l" t="t" r="r" b="b"/>
            <a:pathLst>
              <a:path w="1962150" h="1962150">
                <a:moveTo>
                  <a:pt x="0" y="1962150"/>
                </a:moveTo>
                <a:lnTo>
                  <a:pt x="1962150" y="1962150"/>
                </a:lnTo>
                <a:lnTo>
                  <a:pt x="1962150" y="0"/>
                </a:lnTo>
                <a:lnTo>
                  <a:pt x="0" y="0"/>
                </a:lnTo>
                <a:lnTo>
                  <a:pt x="0" y="196215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40680" y="1961826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门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限过滤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0677" y="353415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43396" y="870102"/>
            <a:ext cx="1203960" cy="1205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3871" y="860577"/>
            <a:ext cx="1223010" cy="1224915"/>
          </a:xfrm>
          <a:custGeom>
            <a:avLst/>
            <a:gdLst/>
            <a:ahLst/>
            <a:cxnLst/>
            <a:rect l="l" t="t" r="r" b="b"/>
            <a:pathLst>
              <a:path w="1223010" h="1224914">
                <a:moveTo>
                  <a:pt x="0" y="1224533"/>
                </a:moveTo>
                <a:lnTo>
                  <a:pt x="1223010" y="1224533"/>
                </a:lnTo>
                <a:lnTo>
                  <a:pt x="1223010" y="0"/>
                </a:lnTo>
                <a:lnTo>
                  <a:pt x="0" y="0"/>
                </a:lnTo>
                <a:lnTo>
                  <a:pt x="0" y="122453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0181" y="411124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896" y="3190646"/>
            <a:ext cx="1042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非</a:t>
            </a:r>
            <a:r>
              <a:rPr sz="1000" spc="-5" dirty="0">
                <a:latin typeface="黑体"/>
                <a:cs typeface="黑体"/>
              </a:rPr>
              <a:t>最大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抑制</a:t>
            </a:r>
            <a:r>
              <a:rPr sz="1000" spc="5" dirty="0">
                <a:latin typeface="黑体"/>
                <a:cs typeface="黑体"/>
              </a:rPr>
              <a:t>结</a:t>
            </a:r>
            <a:r>
              <a:rPr sz="1000" spc="-5" dirty="0">
                <a:latin typeface="黑体"/>
                <a:cs typeface="黑体"/>
              </a:rPr>
              <a:t>果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419" y="1174902"/>
            <a:ext cx="1943100" cy="1943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20584" y="1363624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门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限过高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0680" y="2056790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门</a:t>
            </a:r>
            <a:r>
              <a:rPr sz="1000" spc="-5" dirty="0">
                <a:latin typeface="黑体"/>
                <a:cs typeface="黑体"/>
              </a:rPr>
              <a:t>限过滤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47968" y="2185727"/>
            <a:ext cx="1205484" cy="1205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43396" y="776027"/>
            <a:ext cx="1203960" cy="12054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0182" y="316541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897" y="3095936"/>
            <a:ext cx="1042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非</a:t>
            </a:r>
            <a:r>
              <a:rPr sz="1000" spc="-5" dirty="0">
                <a:latin typeface="黑体"/>
                <a:cs typeface="黑体"/>
              </a:rPr>
              <a:t>最大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抑制</a:t>
            </a:r>
            <a:r>
              <a:rPr sz="1000" spc="5" dirty="0">
                <a:latin typeface="黑体"/>
                <a:cs typeface="黑体"/>
              </a:rPr>
              <a:t>结</a:t>
            </a:r>
            <a:r>
              <a:rPr sz="1000" spc="-5" dirty="0">
                <a:latin typeface="黑体"/>
                <a:cs typeface="黑体"/>
              </a:rPr>
              <a:t>果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420" y="1080827"/>
            <a:ext cx="1943100" cy="1943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20584" y="1269041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门</a:t>
            </a:r>
            <a:r>
              <a:rPr sz="1000" spc="-5" dirty="0">
                <a:latin typeface="黑体"/>
                <a:cs typeface="黑体"/>
              </a:rPr>
              <a:t>限过高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20584" y="2824664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门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限过低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0680" y="1961826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门</a:t>
            </a:r>
            <a:r>
              <a:rPr sz="1000" spc="-5" dirty="0">
                <a:latin typeface="黑体"/>
                <a:cs typeface="黑体"/>
              </a:rPr>
              <a:t>限过滤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6684" y="411124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双阈值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6467" y="2301785"/>
            <a:ext cx="1338580" cy="353060"/>
          </a:xfrm>
          <a:custGeom>
            <a:avLst/>
            <a:gdLst/>
            <a:ahLst/>
            <a:cxnLst/>
            <a:rect l="l" t="t" r="r" b="b"/>
            <a:pathLst>
              <a:path w="1338580" h="353060">
                <a:moveTo>
                  <a:pt x="42862" y="346825"/>
                </a:moveTo>
                <a:lnTo>
                  <a:pt x="16073" y="352925"/>
                </a:lnTo>
                <a:lnTo>
                  <a:pt x="0" y="352762"/>
                </a:lnTo>
                <a:lnTo>
                  <a:pt x="5357" y="340074"/>
                </a:lnTo>
                <a:lnTo>
                  <a:pt x="42862" y="308598"/>
                </a:lnTo>
                <a:lnTo>
                  <a:pt x="67394" y="289109"/>
                </a:lnTo>
                <a:lnTo>
                  <a:pt x="98681" y="263046"/>
                </a:lnTo>
                <a:lnTo>
                  <a:pt x="135607" y="232045"/>
                </a:lnTo>
                <a:lnTo>
                  <a:pt x="177056" y="197745"/>
                </a:lnTo>
                <a:lnTo>
                  <a:pt x="221912" y="161782"/>
                </a:lnTo>
                <a:lnTo>
                  <a:pt x="269057" y="125793"/>
                </a:lnTo>
                <a:lnTo>
                  <a:pt x="317377" y="91417"/>
                </a:lnTo>
                <a:lnTo>
                  <a:pt x="365753" y="60291"/>
                </a:lnTo>
                <a:lnTo>
                  <a:pt x="413070" y="34051"/>
                </a:lnTo>
                <a:lnTo>
                  <a:pt x="458212" y="14336"/>
                </a:lnTo>
                <a:lnTo>
                  <a:pt x="500062" y="2782"/>
                </a:lnTo>
                <a:lnTo>
                  <a:pt x="543515" y="0"/>
                </a:lnTo>
                <a:lnTo>
                  <a:pt x="586320" y="5822"/>
                </a:lnTo>
                <a:lnTo>
                  <a:pt x="628592" y="18528"/>
                </a:lnTo>
                <a:lnTo>
                  <a:pt x="670445" y="36397"/>
                </a:lnTo>
                <a:lnTo>
                  <a:pt x="711993" y="57709"/>
                </a:lnTo>
                <a:lnTo>
                  <a:pt x="753351" y="80744"/>
                </a:lnTo>
                <a:lnTo>
                  <a:pt x="794632" y="103779"/>
                </a:lnTo>
                <a:lnTo>
                  <a:pt x="835952" y="125096"/>
                </a:lnTo>
                <a:lnTo>
                  <a:pt x="877423" y="142973"/>
                </a:lnTo>
                <a:lnTo>
                  <a:pt x="919162" y="155690"/>
                </a:lnTo>
                <a:lnTo>
                  <a:pt x="971550" y="166313"/>
                </a:lnTo>
                <a:lnTo>
                  <a:pt x="1023937" y="174593"/>
                </a:lnTo>
                <a:lnTo>
                  <a:pt x="1076325" y="180867"/>
                </a:lnTo>
                <a:lnTo>
                  <a:pt x="1128712" y="185471"/>
                </a:lnTo>
                <a:lnTo>
                  <a:pt x="1181100" y="188742"/>
                </a:lnTo>
                <a:lnTo>
                  <a:pt x="1233487" y="191016"/>
                </a:lnTo>
                <a:lnTo>
                  <a:pt x="1285875" y="192628"/>
                </a:lnTo>
                <a:lnTo>
                  <a:pt x="1338262" y="19391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6630" y="2305202"/>
            <a:ext cx="1295400" cy="342900"/>
          </a:xfrm>
          <a:custGeom>
            <a:avLst/>
            <a:gdLst/>
            <a:ahLst/>
            <a:cxnLst/>
            <a:rect l="l" t="t" r="r" b="b"/>
            <a:pathLst>
              <a:path w="1295400" h="342900">
                <a:moveTo>
                  <a:pt x="0" y="190372"/>
                </a:moveTo>
                <a:lnTo>
                  <a:pt x="34747" y="199516"/>
                </a:lnTo>
                <a:lnTo>
                  <a:pt x="72237" y="206374"/>
                </a:lnTo>
                <a:lnTo>
                  <a:pt x="115214" y="208660"/>
                </a:lnTo>
                <a:lnTo>
                  <a:pt x="166420" y="204088"/>
                </a:lnTo>
                <a:lnTo>
                  <a:pt x="228600" y="190372"/>
                </a:lnTo>
                <a:lnTo>
                  <a:pt x="264890" y="177155"/>
                </a:lnTo>
                <a:lnTo>
                  <a:pt x="304799" y="157772"/>
                </a:lnTo>
                <a:lnTo>
                  <a:pt x="347757" y="134050"/>
                </a:lnTo>
                <a:lnTo>
                  <a:pt x="393191" y="107816"/>
                </a:lnTo>
                <a:lnTo>
                  <a:pt x="440531" y="80899"/>
                </a:lnTo>
                <a:lnTo>
                  <a:pt x="489203" y="55124"/>
                </a:lnTo>
                <a:lnTo>
                  <a:pt x="538638" y="32319"/>
                </a:lnTo>
                <a:lnTo>
                  <a:pt x="588263" y="14312"/>
                </a:lnTo>
                <a:lnTo>
                  <a:pt x="637508" y="2930"/>
                </a:lnTo>
                <a:lnTo>
                  <a:pt x="685799" y="0"/>
                </a:lnTo>
                <a:lnTo>
                  <a:pt x="730827" y="5464"/>
                </a:lnTo>
                <a:lnTo>
                  <a:pt x="778688" y="17593"/>
                </a:lnTo>
                <a:lnTo>
                  <a:pt x="828438" y="35185"/>
                </a:lnTo>
                <a:lnTo>
                  <a:pt x="879133" y="57040"/>
                </a:lnTo>
                <a:lnTo>
                  <a:pt x="929828" y="81956"/>
                </a:lnTo>
                <a:lnTo>
                  <a:pt x="979579" y="108731"/>
                </a:lnTo>
                <a:lnTo>
                  <a:pt x="1027440" y="136166"/>
                </a:lnTo>
                <a:lnTo>
                  <a:pt x="1072467" y="163059"/>
                </a:lnTo>
                <a:lnTo>
                  <a:pt x="1113716" y="188208"/>
                </a:lnTo>
                <a:lnTo>
                  <a:pt x="1150242" y="210413"/>
                </a:lnTo>
                <a:lnTo>
                  <a:pt x="1181099" y="228472"/>
                </a:lnTo>
                <a:lnTo>
                  <a:pt x="1240928" y="266350"/>
                </a:lnTo>
                <a:lnTo>
                  <a:pt x="1273968" y="296227"/>
                </a:lnTo>
                <a:lnTo>
                  <a:pt x="1289149" y="320770"/>
                </a:lnTo>
                <a:lnTo>
                  <a:pt x="1295399" y="342645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53931" y="2647848"/>
            <a:ext cx="333375" cy="304800"/>
          </a:xfrm>
          <a:custGeom>
            <a:avLst/>
            <a:gdLst/>
            <a:ahLst/>
            <a:cxnLst/>
            <a:rect l="l" t="t" r="r" b="b"/>
            <a:pathLst>
              <a:path w="333375" h="304800">
                <a:moveTo>
                  <a:pt x="28479" y="0"/>
                </a:moveTo>
                <a:lnTo>
                  <a:pt x="10691" y="52089"/>
                </a:lnTo>
                <a:lnTo>
                  <a:pt x="0" y="102393"/>
                </a:lnTo>
                <a:lnTo>
                  <a:pt x="3548" y="149125"/>
                </a:lnTo>
                <a:lnTo>
                  <a:pt x="28479" y="190500"/>
                </a:lnTo>
                <a:lnTo>
                  <a:pt x="88853" y="229821"/>
                </a:lnTo>
                <a:lnTo>
                  <a:pt x="129673" y="246816"/>
                </a:lnTo>
                <a:lnTo>
                  <a:pt x="175814" y="262479"/>
                </a:lnTo>
                <a:lnTo>
                  <a:pt x="225949" y="277141"/>
                </a:lnTo>
                <a:lnTo>
                  <a:pt x="278753" y="291137"/>
                </a:lnTo>
                <a:lnTo>
                  <a:pt x="332898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6067" y="2570886"/>
            <a:ext cx="1143000" cy="464820"/>
          </a:xfrm>
          <a:custGeom>
            <a:avLst/>
            <a:gdLst/>
            <a:ahLst/>
            <a:cxnLst/>
            <a:rect l="l" t="t" r="r" b="b"/>
            <a:pathLst>
              <a:path w="1143000" h="464819">
                <a:moveTo>
                  <a:pt x="0" y="381381"/>
                </a:moveTo>
                <a:lnTo>
                  <a:pt x="15180" y="390906"/>
                </a:lnTo>
                <a:lnTo>
                  <a:pt x="35718" y="400431"/>
                </a:lnTo>
                <a:lnTo>
                  <a:pt x="66972" y="409956"/>
                </a:lnTo>
                <a:lnTo>
                  <a:pt x="114300" y="419481"/>
                </a:lnTo>
                <a:lnTo>
                  <a:pt x="150289" y="426970"/>
                </a:lnTo>
                <a:lnTo>
                  <a:pt x="192277" y="437112"/>
                </a:lnTo>
                <a:lnTo>
                  <a:pt x="239263" y="447909"/>
                </a:lnTo>
                <a:lnTo>
                  <a:pt x="290248" y="457364"/>
                </a:lnTo>
                <a:lnTo>
                  <a:pt x="344232" y="463481"/>
                </a:lnTo>
                <a:lnTo>
                  <a:pt x="400216" y="464261"/>
                </a:lnTo>
                <a:lnTo>
                  <a:pt x="457200" y="457707"/>
                </a:lnTo>
                <a:lnTo>
                  <a:pt x="499319" y="448255"/>
                </a:lnTo>
                <a:lnTo>
                  <a:pt x="544982" y="435443"/>
                </a:lnTo>
                <a:lnTo>
                  <a:pt x="593159" y="419729"/>
                </a:lnTo>
                <a:lnTo>
                  <a:pt x="642823" y="401571"/>
                </a:lnTo>
                <a:lnTo>
                  <a:pt x="692943" y="381428"/>
                </a:lnTo>
                <a:lnTo>
                  <a:pt x="742492" y="359757"/>
                </a:lnTo>
                <a:lnTo>
                  <a:pt x="790441" y="337016"/>
                </a:lnTo>
                <a:lnTo>
                  <a:pt x="835761" y="313663"/>
                </a:lnTo>
                <a:lnTo>
                  <a:pt x="877423" y="290156"/>
                </a:lnTo>
                <a:lnTo>
                  <a:pt x="914400" y="266954"/>
                </a:lnTo>
                <a:lnTo>
                  <a:pt x="960053" y="233178"/>
                </a:lnTo>
                <a:lnTo>
                  <a:pt x="999708" y="197390"/>
                </a:lnTo>
                <a:lnTo>
                  <a:pt x="1034365" y="159925"/>
                </a:lnTo>
                <a:lnTo>
                  <a:pt x="1065022" y="121118"/>
                </a:lnTo>
                <a:lnTo>
                  <a:pt x="1092681" y="81304"/>
                </a:lnTo>
                <a:lnTo>
                  <a:pt x="1118340" y="40819"/>
                </a:lnTo>
                <a:lnTo>
                  <a:pt x="11430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36364" y="1820316"/>
            <a:ext cx="170815" cy="459740"/>
          </a:xfrm>
          <a:custGeom>
            <a:avLst/>
            <a:gdLst/>
            <a:ahLst/>
            <a:cxnLst/>
            <a:rect l="l" t="t" r="r" b="b"/>
            <a:pathLst>
              <a:path w="170815" h="459739">
                <a:moveTo>
                  <a:pt x="0" y="396239"/>
                </a:moveTo>
                <a:lnTo>
                  <a:pt x="9017" y="459486"/>
                </a:lnTo>
                <a:lnTo>
                  <a:pt x="51181" y="417321"/>
                </a:lnTo>
                <a:lnTo>
                  <a:pt x="33147" y="417321"/>
                </a:lnTo>
                <a:lnTo>
                  <a:pt x="15112" y="411225"/>
                </a:lnTo>
                <a:lnTo>
                  <a:pt x="18105" y="402261"/>
                </a:lnTo>
                <a:lnTo>
                  <a:pt x="0" y="396239"/>
                </a:lnTo>
                <a:close/>
              </a:path>
              <a:path w="170815" h="459739">
                <a:moveTo>
                  <a:pt x="18105" y="402261"/>
                </a:moveTo>
                <a:lnTo>
                  <a:pt x="15112" y="411225"/>
                </a:lnTo>
                <a:lnTo>
                  <a:pt x="33147" y="417321"/>
                </a:lnTo>
                <a:lnTo>
                  <a:pt x="36169" y="408268"/>
                </a:lnTo>
                <a:lnTo>
                  <a:pt x="18105" y="402261"/>
                </a:lnTo>
                <a:close/>
              </a:path>
              <a:path w="170815" h="459739">
                <a:moveTo>
                  <a:pt x="36169" y="408268"/>
                </a:moveTo>
                <a:lnTo>
                  <a:pt x="33147" y="417321"/>
                </a:lnTo>
                <a:lnTo>
                  <a:pt x="51181" y="417321"/>
                </a:lnTo>
                <a:lnTo>
                  <a:pt x="54229" y="414274"/>
                </a:lnTo>
                <a:lnTo>
                  <a:pt x="36169" y="408268"/>
                </a:lnTo>
                <a:close/>
              </a:path>
              <a:path w="170815" h="459739">
                <a:moveTo>
                  <a:pt x="152400" y="0"/>
                </a:moveTo>
                <a:lnTo>
                  <a:pt x="18105" y="402261"/>
                </a:lnTo>
                <a:lnTo>
                  <a:pt x="36169" y="408268"/>
                </a:lnTo>
                <a:lnTo>
                  <a:pt x="170434" y="6095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3093" y="150141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阈值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缘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34429" y="2414422"/>
            <a:ext cx="394335" cy="446405"/>
          </a:xfrm>
          <a:custGeom>
            <a:avLst/>
            <a:gdLst/>
            <a:ahLst/>
            <a:cxnLst/>
            <a:rect l="l" t="t" r="r" b="b"/>
            <a:pathLst>
              <a:path w="394335" h="446405">
                <a:moveTo>
                  <a:pt x="16383" y="384175"/>
                </a:moveTo>
                <a:lnTo>
                  <a:pt x="0" y="445896"/>
                </a:lnTo>
                <a:lnTo>
                  <a:pt x="59182" y="421894"/>
                </a:lnTo>
                <a:lnTo>
                  <a:pt x="52985" y="416432"/>
                </a:lnTo>
                <a:lnTo>
                  <a:pt x="38608" y="416432"/>
                </a:lnTo>
                <a:lnTo>
                  <a:pt x="24384" y="403859"/>
                </a:lnTo>
                <a:lnTo>
                  <a:pt x="30647" y="396746"/>
                </a:lnTo>
                <a:lnTo>
                  <a:pt x="16383" y="384175"/>
                </a:lnTo>
                <a:close/>
              </a:path>
              <a:path w="394335" h="446405">
                <a:moveTo>
                  <a:pt x="30647" y="396746"/>
                </a:moveTo>
                <a:lnTo>
                  <a:pt x="24384" y="403859"/>
                </a:lnTo>
                <a:lnTo>
                  <a:pt x="38608" y="416432"/>
                </a:lnTo>
                <a:lnTo>
                  <a:pt x="44891" y="409299"/>
                </a:lnTo>
                <a:lnTo>
                  <a:pt x="30647" y="396746"/>
                </a:lnTo>
                <a:close/>
              </a:path>
              <a:path w="394335" h="446405">
                <a:moveTo>
                  <a:pt x="44891" y="409299"/>
                </a:moveTo>
                <a:lnTo>
                  <a:pt x="38608" y="416432"/>
                </a:lnTo>
                <a:lnTo>
                  <a:pt x="52985" y="416432"/>
                </a:lnTo>
                <a:lnTo>
                  <a:pt x="44891" y="409299"/>
                </a:lnTo>
                <a:close/>
              </a:path>
              <a:path w="394335" h="446405">
                <a:moveTo>
                  <a:pt x="379984" y="0"/>
                </a:moveTo>
                <a:lnTo>
                  <a:pt x="30647" y="396746"/>
                </a:lnTo>
                <a:lnTo>
                  <a:pt x="44891" y="409299"/>
                </a:lnTo>
                <a:lnTo>
                  <a:pt x="394208" y="12700"/>
                </a:lnTo>
                <a:lnTo>
                  <a:pt x="3799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84086" y="211533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阈值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缘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6685" y="316541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/>
                <a:cs typeface="黑体"/>
              </a:rPr>
              <a:t>双阈值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6467" y="2207710"/>
            <a:ext cx="1338580" cy="353060"/>
          </a:xfrm>
          <a:custGeom>
            <a:avLst/>
            <a:gdLst/>
            <a:ahLst/>
            <a:cxnLst/>
            <a:rect l="l" t="t" r="r" b="b"/>
            <a:pathLst>
              <a:path w="1338580" h="353060">
                <a:moveTo>
                  <a:pt x="42862" y="346825"/>
                </a:moveTo>
                <a:lnTo>
                  <a:pt x="16073" y="352925"/>
                </a:lnTo>
                <a:lnTo>
                  <a:pt x="0" y="352762"/>
                </a:lnTo>
                <a:lnTo>
                  <a:pt x="5357" y="340074"/>
                </a:lnTo>
                <a:lnTo>
                  <a:pt x="42862" y="308598"/>
                </a:lnTo>
                <a:lnTo>
                  <a:pt x="67394" y="289109"/>
                </a:lnTo>
                <a:lnTo>
                  <a:pt x="98681" y="263046"/>
                </a:lnTo>
                <a:lnTo>
                  <a:pt x="135607" y="232045"/>
                </a:lnTo>
                <a:lnTo>
                  <a:pt x="177056" y="197745"/>
                </a:lnTo>
                <a:lnTo>
                  <a:pt x="221912" y="161782"/>
                </a:lnTo>
                <a:lnTo>
                  <a:pt x="269057" y="125793"/>
                </a:lnTo>
                <a:lnTo>
                  <a:pt x="317377" y="91417"/>
                </a:lnTo>
                <a:lnTo>
                  <a:pt x="365753" y="60291"/>
                </a:lnTo>
                <a:lnTo>
                  <a:pt x="413070" y="34051"/>
                </a:lnTo>
                <a:lnTo>
                  <a:pt x="458212" y="14336"/>
                </a:lnTo>
                <a:lnTo>
                  <a:pt x="500062" y="2782"/>
                </a:lnTo>
                <a:lnTo>
                  <a:pt x="543515" y="0"/>
                </a:lnTo>
                <a:lnTo>
                  <a:pt x="586320" y="5822"/>
                </a:lnTo>
                <a:lnTo>
                  <a:pt x="628592" y="18528"/>
                </a:lnTo>
                <a:lnTo>
                  <a:pt x="670445" y="36397"/>
                </a:lnTo>
                <a:lnTo>
                  <a:pt x="711993" y="57709"/>
                </a:lnTo>
                <a:lnTo>
                  <a:pt x="753351" y="80744"/>
                </a:lnTo>
                <a:lnTo>
                  <a:pt x="794632" y="103779"/>
                </a:lnTo>
                <a:lnTo>
                  <a:pt x="835952" y="125096"/>
                </a:lnTo>
                <a:lnTo>
                  <a:pt x="877423" y="142973"/>
                </a:lnTo>
                <a:lnTo>
                  <a:pt x="919162" y="155690"/>
                </a:lnTo>
                <a:lnTo>
                  <a:pt x="971550" y="166313"/>
                </a:lnTo>
                <a:lnTo>
                  <a:pt x="1023937" y="174593"/>
                </a:lnTo>
                <a:lnTo>
                  <a:pt x="1076325" y="180867"/>
                </a:lnTo>
                <a:lnTo>
                  <a:pt x="1128712" y="185471"/>
                </a:lnTo>
                <a:lnTo>
                  <a:pt x="1181100" y="188742"/>
                </a:lnTo>
                <a:lnTo>
                  <a:pt x="1233487" y="191016"/>
                </a:lnTo>
                <a:lnTo>
                  <a:pt x="1285875" y="192628"/>
                </a:lnTo>
                <a:lnTo>
                  <a:pt x="1338262" y="19391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6630" y="2211127"/>
            <a:ext cx="1295400" cy="342900"/>
          </a:xfrm>
          <a:custGeom>
            <a:avLst/>
            <a:gdLst/>
            <a:ahLst/>
            <a:cxnLst/>
            <a:rect l="l" t="t" r="r" b="b"/>
            <a:pathLst>
              <a:path w="1295400" h="342900">
                <a:moveTo>
                  <a:pt x="0" y="190373"/>
                </a:moveTo>
                <a:lnTo>
                  <a:pt x="34747" y="199517"/>
                </a:lnTo>
                <a:lnTo>
                  <a:pt x="72237" y="206375"/>
                </a:lnTo>
                <a:lnTo>
                  <a:pt x="115214" y="208660"/>
                </a:lnTo>
                <a:lnTo>
                  <a:pt x="166420" y="204088"/>
                </a:lnTo>
                <a:lnTo>
                  <a:pt x="228600" y="190373"/>
                </a:lnTo>
                <a:lnTo>
                  <a:pt x="264890" y="177155"/>
                </a:lnTo>
                <a:lnTo>
                  <a:pt x="304799" y="157772"/>
                </a:lnTo>
                <a:lnTo>
                  <a:pt x="347757" y="134050"/>
                </a:lnTo>
                <a:lnTo>
                  <a:pt x="393191" y="107816"/>
                </a:lnTo>
                <a:lnTo>
                  <a:pt x="440531" y="80899"/>
                </a:lnTo>
                <a:lnTo>
                  <a:pt x="489203" y="55124"/>
                </a:lnTo>
                <a:lnTo>
                  <a:pt x="538638" y="32319"/>
                </a:lnTo>
                <a:lnTo>
                  <a:pt x="588263" y="14312"/>
                </a:lnTo>
                <a:lnTo>
                  <a:pt x="637508" y="2930"/>
                </a:lnTo>
                <a:lnTo>
                  <a:pt x="685799" y="0"/>
                </a:lnTo>
                <a:lnTo>
                  <a:pt x="730827" y="5464"/>
                </a:lnTo>
                <a:lnTo>
                  <a:pt x="778688" y="17593"/>
                </a:lnTo>
                <a:lnTo>
                  <a:pt x="828438" y="35185"/>
                </a:lnTo>
                <a:lnTo>
                  <a:pt x="879133" y="57040"/>
                </a:lnTo>
                <a:lnTo>
                  <a:pt x="929828" y="81956"/>
                </a:lnTo>
                <a:lnTo>
                  <a:pt x="979579" y="108731"/>
                </a:lnTo>
                <a:lnTo>
                  <a:pt x="1027440" y="136166"/>
                </a:lnTo>
                <a:lnTo>
                  <a:pt x="1072467" y="163059"/>
                </a:lnTo>
                <a:lnTo>
                  <a:pt x="1113716" y="188208"/>
                </a:lnTo>
                <a:lnTo>
                  <a:pt x="1150242" y="210413"/>
                </a:lnTo>
                <a:lnTo>
                  <a:pt x="1181099" y="228473"/>
                </a:lnTo>
                <a:lnTo>
                  <a:pt x="1240928" y="266350"/>
                </a:lnTo>
                <a:lnTo>
                  <a:pt x="1273968" y="296227"/>
                </a:lnTo>
                <a:lnTo>
                  <a:pt x="1289149" y="320770"/>
                </a:lnTo>
                <a:lnTo>
                  <a:pt x="1295399" y="342646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53931" y="2553773"/>
            <a:ext cx="333375" cy="304800"/>
          </a:xfrm>
          <a:custGeom>
            <a:avLst/>
            <a:gdLst/>
            <a:ahLst/>
            <a:cxnLst/>
            <a:rect l="l" t="t" r="r" b="b"/>
            <a:pathLst>
              <a:path w="333375" h="304800">
                <a:moveTo>
                  <a:pt x="28479" y="0"/>
                </a:moveTo>
                <a:lnTo>
                  <a:pt x="10691" y="52089"/>
                </a:lnTo>
                <a:lnTo>
                  <a:pt x="0" y="102393"/>
                </a:lnTo>
                <a:lnTo>
                  <a:pt x="3548" y="149125"/>
                </a:lnTo>
                <a:lnTo>
                  <a:pt x="28479" y="190500"/>
                </a:lnTo>
                <a:lnTo>
                  <a:pt x="88853" y="229821"/>
                </a:lnTo>
                <a:lnTo>
                  <a:pt x="129673" y="246816"/>
                </a:lnTo>
                <a:lnTo>
                  <a:pt x="175814" y="262479"/>
                </a:lnTo>
                <a:lnTo>
                  <a:pt x="225949" y="277141"/>
                </a:lnTo>
                <a:lnTo>
                  <a:pt x="278753" y="291137"/>
                </a:lnTo>
                <a:lnTo>
                  <a:pt x="332898" y="304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6068" y="2476811"/>
            <a:ext cx="1143000" cy="464820"/>
          </a:xfrm>
          <a:custGeom>
            <a:avLst/>
            <a:gdLst/>
            <a:ahLst/>
            <a:cxnLst/>
            <a:rect l="l" t="t" r="r" b="b"/>
            <a:pathLst>
              <a:path w="1143000" h="464819">
                <a:moveTo>
                  <a:pt x="0" y="381381"/>
                </a:moveTo>
                <a:lnTo>
                  <a:pt x="15180" y="390906"/>
                </a:lnTo>
                <a:lnTo>
                  <a:pt x="35718" y="400431"/>
                </a:lnTo>
                <a:lnTo>
                  <a:pt x="66972" y="409956"/>
                </a:lnTo>
                <a:lnTo>
                  <a:pt x="114300" y="419481"/>
                </a:lnTo>
                <a:lnTo>
                  <a:pt x="150289" y="426970"/>
                </a:lnTo>
                <a:lnTo>
                  <a:pt x="192277" y="437112"/>
                </a:lnTo>
                <a:lnTo>
                  <a:pt x="239263" y="447909"/>
                </a:lnTo>
                <a:lnTo>
                  <a:pt x="290248" y="457364"/>
                </a:lnTo>
                <a:lnTo>
                  <a:pt x="344232" y="463481"/>
                </a:lnTo>
                <a:lnTo>
                  <a:pt x="400216" y="464261"/>
                </a:lnTo>
                <a:lnTo>
                  <a:pt x="457200" y="457708"/>
                </a:lnTo>
                <a:lnTo>
                  <a:pt x="499319" y="448255"/>
                </a:lnTo>
                <a:lnTo>
                  <a:pt x="544982" y="435443"/>
                </a:lnTo>
                <a:lnTo>
                  <a:pt x="593159" y="419729"/>
                </a:lnTo>
                <a:lnTo>
                  <a:pt x="642823" y="401571"/>
                </a:lnTo>
                <a:lnTo>
                  <a:pt x="692943" y="381428"/>
                </a:lnTo>
                <a:lnTo>
                  <a:pt x="742492" y="359757"/>
                </a:lnTo>
                <a:lnTo>
                  <a:pt x="790441" y="337016"/>
                </a:lnTo>
                <a:lnTo>
                  <a:pt x="835761" y="313663"/>
                </a:lnTo>
                <a:lnTo>
                  <a:pt x="877423" y="290156"/>
                </a:lnTo>
                <a:lnTo>
                  <a:pt x="914400" y="266953"/>
                </a:lnTo>
                <a:lnTo>
                  <a:pt x="960053" y="233178"/>
                </a:lnTo>
                <a:lnTo>
                  <a:pt x="999708" y="197390"/>
                </a:lnTo>
                <a:lnTo>
                  <a:pt x="1034365" y="159925"/>
                </a:lnTo>
                <a:lnTo>
                  <a:pt x="1065022" y="121118"/>
                </a:lnTo>
                <a:lnTo>
                  <a:pt x="1092681" y="81304"/>
                </a:lnTo>
                <a:lnTo>
                  <a:pt x="1118340" y="40819"/>
                </a:lnTo>
                <a:lnTo>
                  <a:pt x="11430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36365" y="1726241"/>
            <a:ext cx="170815" cy="459740"/>
          </a:xfrm>
          <a:custGeom>
            <a:avLst/>
            <a:gdLst/>
            <a:ahLst/>
            <a:cxnLst/>
            <a:rect l="l" t="t" r="r" b="b"/>
            <a:pathLst>
              <a:path w="170815" h="459739">
                <a:moveTo>
                  <a:pt x="0" y="396240"/>
                </a:moveTo>
                <a:lnTo>
                  <a:pt x="9017" y="459486"/>
                </a:lnTo>
                <a:lnTo>
                  <a:pt x="51181" y="417322"/>
                </a:lnTo>
                <a:lnTo>
                  <a:pt x="33147" y="417322"/>
                </a:lnTo>
                <a:lnTo>
                  <a:pt x="15112" y="411225"/>
                </a:lnTo>
                <a:lnTo>
                  <a:pt x="18105" y="402261"/>
                </a:lnTo>
                <a:lnTo>
                  <a:pt x="0" y="396240"/>
                </a:lnTo>
                <a:close/>
              </a:path>
              <a:path w="170815" h="459739">
                <a:moveTo>
                  <a:pt x="18105" y="402261"/>
                </a:moveTo>
                <a:lnTo>
                  <a:pt x="15112" y="411225"/>
                </a:lnTo>
                <a:lnTo>
                  <a:pt x="33147" y="417322"/>
                </a:lnTo>
                <a:lnTo>
                  <a:pt x="36169" y="408268"/>
                </a:lnTo>
                <a:lnTo>
                  <a:pt x="18105" y="402261"/>
                </a:lnTo>
                <a:close/>
              </a:path>
              <a:path w="170815" h="459739">
                <a:moveTo>
                  <a:pt x="36169" y="408268"/>
                </a:moveTo>
                <a:lnTo>
                  <a:pt x="33147" y="417322"/>
                </a:lnTo>
                <a:lnTo>
                  <a:pt x="51181" y="417322"/>
                </a:lnTo>
                <a:lnTo>
                  <a:pt x="54229" y="414274"/>
                </a:lnTo>
                <a:lnTo>
                  <a:pt x="36169" y="408268"/>
                </a:lnTo>
                <a:close/>
              </a:path>
              <a:path w="170815" h="459739">
                <a:moveTo>
                  <a:pt x="152400" y="0"/>
                </a:moveTo>
                <a:lnTo>
                  <a:pt x="18105" y="402261"/>
                </a:lnTo>
                <a:lnTo>
                  <a:pt x="36169" y="408268"/>
                </a:lnTo>
                <a:lnTo>
                  <a:pt x="170434" y="6096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3094" y="140670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阈值</a:t>
            </a:r>
            <a:r>
              <a:rPr sz="1000" spc="5" dirty="0">
                <a:latin typeface="黑体"/>
                <a:cs typeface="黑体"/>
              </a:rPr>
              <a:t>边</a:t>
            </a:r>
            <a:r>
              <a:rPr sz="1000" spc="-5" dirty="0">
                <a:latin typeface="黑体"/>
                <a:cs typeface="黑体"/>
              </a:rPr>
              <a:t>缘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34430" y="2320347"/>
            <a:ext cx="394335" cy="446405"/>
          </a:xfrm>
          <a:custGeom>
            <a:avLst/>
            <a:gdLst/>
            <a:ahLst/>
            <a:cxnLst/>
            <a:rect l="l" t="t" r="r" b="b"/>
            <a:pathLst>
              <a:path w="394335" h="446405">
                <a:moveTo>
                  <a:pt x="16383" y="384175"/>
                </a:moveTo>
                <a:lnTo>
                  <a:pt x="0" y="445896"/>
                </a:lnTo>
                <a:lnTo>
                  <a:pt x="59182" y="421893"/>
                </a:lnTo>
                <a:lnTo>
                  <a:pt x="52985" y="416432"/>
                </a:lnTo>
                <a:lnTo>
                  <a:pt x="38608" y="416432"/>
                </a:lnTo>
                <a:lnTo>
                  <a:pt x="24384" y="403859"/>
                </a:lnTo>
                <a:lnTo>
                  <a:pt x="30647" y="396746"/>
                </a:lnTo>
                <a:lnTo>
                  <a:pt x="16383" y="384175"/>
                </a:lnTo>
                <a:close/>
              </a:path>
              <a:path w="394335" h="446405">
                <a:moveTo>
                  <a:pt x="30647" y="396746"/>
                </a:moveTo>
                <a:lnTo>
                  <a:pt x="24384" y="403859"/>
                </a:lnTo>
                <a:lnTo>
                  <a:pt x="38608" y="416432"/>
                </a:lnTo>
                <a:lnTo>
                  <a:pt x="44891" y="409299"/>
                </a:lnTo>
                <a:lnTo>
                  <a:pt x="30647" y="396746"/>
                </a:lnTo>
                <a:close/>
              </a:path>
              <a:path w="394335" h="446405">
                <a:moveTo>
                  <a:pt x="44891" y="409299"/>
                </a:moveTo>
                <a:lnTo>
                  <a:pt x="38608" y="416432"/>
                </a:lnTo>
                <a:lnTo>
                  <a:pt x="52985" y="416432"/>
                </a:lnTo>
                <a:lnTo>
                  <a:pt x="44891" y="409299"/>
                </a:lnTo>
                <a:close/>
              </a:path>
              <a:path w="394335" h="446405">
                <a:moveTo>
                  <a:pt x="379984" y="0"/>
                </a:moveTo>
                <a:lnTo>
                  <a:pt x="30647" y="396746"/>
                </a:lnTo>
                <a:lnTo>
                  <a:pt x="44891" y="409299"/>
                </a:lnTo>
                <a:lnTo>
                  <a:pt x="394208" y="12700"/>
                </a:lnTo>
                <a:lnTo>
                  <a:pt x="37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86502" y="1914328"/>
            <a:ext cx="245110" cy="347345"/>
          </a:xfrm>
          <a:custGeom>
            <a:avLst/>
            <a:gdLst/>
            <a:ahLst/>
            <a:cxnLst/>
            <a:rect l="l" t="t" r="r" b="b"/>
            <a:pathLst>
              <a:path w="245110" h="347344">
                <a:moveTo>
                  <a:pt x="9144" y="283590"/>
                </a:moveTo>
                <a:lnTo>
                  <a:pt x="0" y="346836"/>
                </a:lnTo>
                <a:lnTo>
                  <a:pt x="56007" y="316102"/>
                </a:lnTo>
                <a:lnTo>
                  <a:pt x="51613" y="313054"/>
                </a:lnTo>
                <a:lnTo>
                  <a:pt x="34925" y="313054"/>
                </a:lnTo>
                <a:lnTo>
                  <a:pt x="19303" y="302259"/>
                </a:lnTo>
                <a:lnTo>
                  <a:pt x="24750" y="294418"/>
                </a:lnTo>
                <a:lnTo>
                  <a:pt x="9144" y="283590"/>
                </a:lnTo>
                <a:close/>
              </a:path>
              <a:path w="245110" h="347344">
                <a:moveTo>
                  <a:pt x="24750" y="294418"/>
                </a:moveTo>
                <a:lnTo>
                  <a:pt x="19303" y="302259"/>
                </a:lnTo>
                <a:lnTo>
                  <a:pt x="34925" y="313054"/>
                </a:lnTo>
                <a:lnTo>
                  <a:pt x="40353" y="305242"/>
                </a:lnTo>
                <a:lnTo>
                  <a:pt x="24750" y="294418"/>
                </a:lnTo>
                <a:close/>
              </a:path>
              <a:path w="245110" h="347344">
                <a:moveTo>
                  <a:pt x="40353" y="305242"/>
                </a:moveTo>
                <a:lnTo>
                  <a:pt x="34925" y="313054"/>
                </a:lnTo>
                <a:lnTo>
                  <a:pt x="51613" y="313054"/>
                </a:lnTo>
                <a:lnTo>
                  <a:pt x="40353" y="305242"/>
                </a:lnTo>
                <a:close/>
              </a:path>
              <a:path w="245110" h="347344">
                <a:moveTo>
                  <a:pt x="229235" y="0"/>
                </a:moveTo>
                <a:lnTo>
                  <a:pt x="24750" y="294418"/>
                </a:lnTo>
                <a:lnTo>
                  <a:pt x="40353" y="305242"/>
                </a:lnTo>
                <a:lnTo>
                  <a:pt x="244856" y="10922"/>
                </a:lnTo>
                <a:lnTo>
                  <a:pt x="2292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22110" y="320299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低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阈值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缘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89774" y="2936297"/>
            <a:ext cx="57150" cy="252729"/>
          </a:xfrm>
          <a:custGeom>
            <a:avLst/>
            <a:gdLst/>
            <a:ahLst/>
            <a:cxnLst/>
            <a:rect l="l" t="t" r="r" b="b"/>
            <a:pathLst>
              <a:path w="57150" h="252730">
                <a:moveTo>
                  <a:pt x="38100" y="47625"/>
                </a:moveTo>
                <a:lnTo>
                  <a:pt x="19050" y="47625"/>
                </a:lnTo>
                <a:lnTo>
                  <a:pt x="19050" y="252602"/>
                </a:lnTo>
                <a:lnTo>
                  <a:pt x="38100" y="252602"/>
                </a:lnTo>
                <a:lnTo>
                  <a:pt x="38100" y="47625"/>
                </a:lnTo>
                <a:close/>
              </a:path>
              <a:path w="57150" h="25273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25273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13857" y="1604575"/>
            <a:ext cx="173101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低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阈值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缘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082675">
              <a:lnSpc>
                <a:spcPct val="100000"/>
              </a:lnSpc>
            </a:pP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阈值</a:t>
            </a:r>
            <a:r>
              <a:rPr sz="1000" spc="5" dirty="0">
                <a:latin typeface="黑体"/>
                <a:cs typeface="黑体"/>
              </a:rPr>
              <a:t>边</a:t>
            </a:r>
            <a:r>
              <a:rPr sz="1000" spc="-5" dirty="0">
                <a:latin typeface="黑体"/>
                <a:cs typeface="黑体"/>
              </a:rPr>
              <a:t>缘</a:t>
            </a:r>
            <a:endParaRPr sz="1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0181" y="411124"/>
            <a:ext cx="520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2435" algn="l"/>
                <a:tab pos="5193665" algn="l"/>
              </a:tabLst>
            </a:pPr>
            <a:r>
              <a:rPr sz="1800" b="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b="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b="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b="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b="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b="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800" b="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边缘检测器	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2806" y="945794"/>
            <a:ext cx="3988435" cy="208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0035" algn="l"/>
              </a:tabLst>
            </a:pPr>
            <a:r>
              <a:rPr sz="1200" dirty="0">
                <a:latin typeface="黑体"/>
                <a:cs typeface="黑体"/>
              </a:rPr>
              <a:t>用高斯一阶偏导核卷积图像</a:t>
            </a:r>
            <a:endParaRPr sz="1200">
              <a:latin typeface="黑体"/>
              <a:cs typeface="黑体"/>
            </a:endParaRPr>
          </a:p>
          <a:p>
            <a:pPr marL="279400" indent="-266700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280035" algn="l"/>
              </a:tabLst>
            </a:pPr>
            <a:r>
              <a:rPr sz="1200" dirty="0">
                <a:latin typeface="黑体"/>
                <a:cs typeface="黑体"/>
              </a:rPr>
              <a:t>计算每个点的梯度幅值和方向</a:t>
            </a:r>
            <a:endParaRPr sz="1200">
              <a:latin typeface="黑体"/>
              <a:cs typeface="黑体"/>
            </a:endParaRPr>
          </a:p>
          <a:p>
            <a:pPr marL="279400" indent="-266700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280035" algn="l"/>
              </a:tabLst>
            </a:pPr>
            <a:r>
              <a:rPr sz="1200" b="1" spc="5" dirty="0">
                <a:latin typeface="黑体"/>
                <a:cs typeface="黑体"/>
              </a:rPr>
              <a:t>非极</a:t>
            </a:r>
            <a:r>
              <a:rPr sz="1200" b="1" spc="-5" dirty="0">
                <a:latin typeface="黑体"/>
                <a:cs typeface="黑体"/>
              </a:rPr>
              <a:t>大</a:t>
            </a:r>
            <a:r>
              <a:rPr sz="1200" b="1" spc="5" dirty="0">
                <a:latin typeface="黑体"/>
                <a:cs typeface="黑体"/>
              </a:rPr>
              <a:t>值</a:t>
            </a:r>
            <a:r>
              <a:rPr sz="1200" b="1" spc="-5" dirty="0">
                <a:latin typeface="黑体"/>
                <a:cs typeface="黑体"/>
              </a:rPr>
              <a:t>抑</a:t>
            </a:r>
            <a:r>
              <a:rPr sz="1200" b="1" spc="5" dirty="0">
                <a:latin typeface="黑体"/>
                <a:cs typeface="黑体"/>
              </a:rPr>
              <a:t>制</a:t>
            </a:r>
            <a:r>
              <a:rPr sz="1200" b="1" spc="-5" dirty="0">
                <a:latin typeface="黑体"/>
                <a:cs typeface="黑体"/>
              </a:rPr>
              <a:t>：</a:t>
            </a:r>
            <a:endParaRPr sz="12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1020"/>
              </a:spcBef>
              <a:buFont typeface="΢"/>
              <a:buChar char="•"/>
              <a:tabLst>
                <a:tab pos="469900" algn="l"/>
                <a:tab pos="470534" algn="l"/>
              </a:tabLst>
            </a:pPr>
            <a:r>
              <a:rPr sz="1200" dirty="0">
                <a:latin typeface="黑体"/>
                <a:cs typeface="黑体"/>
              </a:rPr>
              <a:t>将宽的“边缘”细化至单个像素宽度</a:t>
            </a:r>
            <a:endParaRPr sz="1200">
              <a:latin typeface="黑体"/>
              <a:cs typeface="黑体"/>
            </a:endParaRPr>
          </a:p>
          <a:p>
            <a:pPr marL="279400" indent="-266700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280035" algn="l"/>
              </a:tabLst>
            </a:pPr>
            <a:r>
              <a:rPr sz="1200" b="1" spc="5" dirty="0">
                <a:latin typeface="黑体"/>
                <a:cs typeface="黑体"/>
              </a:rPr>
              <a:t>连接</a:t>
            </a:r>
            <a:r>
              <a:rPr sz="1200" b="1" spc="-5" dirty="0">
                <a:latin typeface="黑体"/>
                <a:cs typeface="黑体"/>
              </a:rPr>
              <a:t>与</a:t>
            </a:r>
            <a:r>
              <a:rPr sz="1200" b="1" spc="5" dirty="0">
                <a:latin typeface="黑体"/>
                <a:cs typeface="黑体"/>
              </a:rPr>
              <a:t>阈</a:t>
            </a:r>
            <a:r>
              <a:rPr sz="1200" b="1" spc="-5" dirty="0">
                <a:latin typeface="黑体"/>
                <a:cs typeface="黑体"/>
              </a:rPr>
              <a:t>值</a:t>
            </a:r>
            <a:r>
              <a:rPr sz="1200" b="1" spc="5" dirty="0">
                <a:latin typeface="黑体"/>
                <a:cs typeface="黑体"/>
              </a:rPr>
              <a:t>（</a:t>
            </a:r>
            <a:r>
              <a:rPr sz="1200" b="1" spc="-5" dirty="0">
                <a:latin typeface="黑体"/>
                <a:cs typeface="黑体"/>
              </a:rPr>
              <a:t>滞</a:t>
            </a:r>
            <a:r>
              <a:rPr sz="1200" b="1" spc="5" dirty="0">
                <a:latin typeface="黑体"/>
                <a:cs typeface="黑体"/>
              </a:rPr>
              <a:t>后</a:t>
            </a:r>
            <a:r>
              <a:rPr sz="1200" b="1" spc="-5" dirty="0">
                <a:latin typeface="黑体"/>
                <a:cs typeface="黑体"/>
              </a:rPr>
              <a:t>）：</a:t>
            </a:r>
            <a:endParaRPr sz="12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1019"/>
              </a:spcBef>
              <a:buFont typeface="΢"/>
              <a:buChar char="•"/>
              <a:tabLst>
                <a:tab pos="469900" algn="l"/>
                <a:tab pos="470534" algn="l"/>
              </a:tabLst>
            </a:pPr>
            <a:r>
              <a:rPr sz="1200" dirty="0">
                <a:latin typeface="黑体"/>
                <a:cs typeface="黑体"/>
              </a:rPr>
              <a:t>定义两个阈值：低和高</a:t>
            </a:r>
            <a:endParaRPr sz="12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1019"/>
              </a:spcBef>
              <a:buFont typeface="΢"/>
              <a:buChar char="•"/>
              <a:tabLst>
                <a:tab pos="469900" algn="l"/>
                <a:tab pos="470534" algn="l"/>
              </a:tabLst>
            </a:pPr>
            <a:r>
              <a:rPr sz="1200" dirty="0">
                <a:latin typeface="黑体"/>
                <a:cs typeface="黑体"/>
              </a:rPr>
              <a:t>使用高阈值开始边缘曲线，使用低阈值继续边缘曲线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1053" y="1457382"/>
            <a:ext cx="2446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微软雅黑"/>
                <a:cs typeface="微软雅黑"/>
              </a:rPr>
              <a:t>补充材料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dirty="0">
                <a:latin typeface="微软雅黑"/>
                <a:cs typeface="微软雅黑"/>
              </a:rPr>
              <a:t>：纹理表示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62167" y="2246274"/>
            <a:ext cx="1901952" cy="13121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2167" y="870102"/>
            <a:ext cx="1901952" cy="1312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77919" y="2263038"/>
            <a:ext cx="1918716" cy="1295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77919" y="870102"/>
            <a:ext cx="1901952" cy="13121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5082" y="316160"/>
            <a:ext cx="4584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黑体"/>
                <a:cs typeface="黑体"/>
              </a:rPr>
              <a:t>纹理</a:t>
            </a:r>
            <a:endParaRPr sz="17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4984" y="1996751"/>
            <a:ext cx="905691" cy="996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81424" y="2045521"/>
            <a:ext cx="898553" cy="899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66184" y="1006151"/>
            <a:ext cx="1815083" cy="9083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78171" y="1011421"/>
            <a:ext cx="905510" cy="905510"/>
          </a:xfrm>
          <a:custGeom>
            <a:avLst/>
            <a:gdLst/>
            <a:ahLst/>
            <a:cxnLst/>
            <a:rect l="l" t="t" r="r" b="b"/>
            <a:pathLst>
              <a:path w="905510" h="905510">
                <a:moveTo>
                  <a:pt x="0" y="905446"/>
                </a:moveTo>
                <a:lnTo>
                  <a:pt x="905446" y="905446"/>
                </a:lnTo>
                <a:lnTo>
                  <a:pt x="905446" y="0"/>
                </a:lnTo>
                <a:lnTo>
                  <a:pt x="0" y="0"/>
                </a:lnTo>
                <a:lnTo>
                  <a:pt x="0" y="905446"/>
                </a:lnTo>
                <a:close/>
              </a:path>
            </a:pathLst>
          </a:custGeom>
          <a:ln w="476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4984" y="1013771"/>
            <a:ext cx="900684" cy="9006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95824" y="2059257"/>
            <a:ext cx="884763" cy="8847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66184" y="1906835"/>
            <a:ext cx="2893060" cy="181610"/>
          </a:xfrm>
          <a:custGeom>
            <a:avLst/>
            <a:gdLst/>
            <a:ahLst/>
            <a:cxnLst/>
            <a:rect l="l" t="t" r="r" b="b"/>
            <a:pathLst>
              <a:path w="2893060" h="181610">
                <a:moveTo>
                  <a:pt x="0" y="181355"/>
                </a:moveTo>
                <a:lnTo>
                  <a:pt x="2892551" y="181355"/>
                </a:lnTo>
                <a:lnTo>
                  <a:pt x="2892551" y="0"/>
                </a:lnTo>
                <a:lnTo>
                  <a:pt x="0" y="0"/>
                </a:lnTo>
                <a:lnTo>
                  <a:pt x="0" y="181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8253" y="1356163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规则纹理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8253" y="2394642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随机纹理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305" y="1435633"/>
            <a:ext cx="41605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思路：</a:t>
            </a:r>
            <a:endParaRPr sz="1200">
              <a:latin typeface="黑体"/>
              <a:cs typeface="黑体"/>
            </a:endParaRPr>
          </a:p>
          <a:p>
            <a:pPr marL="184785" marR="5080" indent="-172085">
              <a:lnSpc>
                <a:spcPct val="25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200" dirty="0">
                <a:latin typeface="黑体"/>
                <a:cs typeface="黑体"/>
              </a:rPr>
              <a:t>利用卷积核组提取图像中的纹理基；利用基元的统计信息来 表示图像中的纹理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112" y="366420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基于</a:t>
            </a:r>
            <a:r>
              <a:rPr sz="1800" b="1" spc="-10" dirty="0">
                <a:latin typeface="黑体"/>
                <a:cs typeface="黑体"/>
              </a:rPr>
              <a:t>卷</a:t>
            </a:r>
            <a:r>
              <a:rPr sz="1800" b="1" dirty="0">
                <a:latin typeface="黑体"/>
                <a:cs typeface="黑体"/>
              </a:rPr>
              <a:t>积</a:t>
            </a:r>
            <a:r>
              <a:rPr sz="1800" b="1" spc="-10" dirty="0">
                <a:latin typeface="黑体"/>
                <a:cs typeface="黑体"/>
              </a:rPr>
              <a:t>核组</a:t>
            </a:r>
            <a:r>
              <a:rPr sz="1800" b="1" dirty="0">
                <a:latin typeface="黑体"/>
                <a:cs typeface="黑体"/>
              </a:rPr>
              <a:t>的纹</a:t>
            </a:r>
            <a:r>
              <a:rPr sz="1800" b="1" spc="-10" dirty="0">
                <a:latin typeface="黑体"/>
                <a:cs typeface="黑体"/>
              </a:rPr>
              <a:t>理</a:t>
            </a:r>
            <a:r>
              <a:rPr sz="1800" b="1" dirty="0">
                <a:latin typeface="黑体"/>
                <a:cs typeface="黑体"/>
              </a:rPr>
              <a:t>表</a:t>
            </a:r>
            <a:r>
              <a:rPr sz="1800" b="1" spc="-10" dirty="0">
                <a:latin typeface="黑体"/>
                <a:cs typeface="黑体"/>
              </a:rPr>
              <a:t>示方法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27150" y="1810282"/>
            <a:ext cx="632460" cy="251460"/>
          </a:xfrm>
          <a:custGeom>
            <a:avLst/>
            <a:gdLst/>
            <a:ahLst/>
            <a:cxnLst/>
            <a:rect l="l" t="t" r="r" b="b"/>
            <a:pathLst>
              <a:path w="632460" h="251460">
                <a:moveTo>
                  <a:pt x="0" y="251460"/>
                </a:moveTo>
                <a:lnTo>
                  <a:pt x="632459" y="251460"/>
                </a:lnTo>
                <a:lnTo>
                  <a:pt x="632459" y="0"/>
                </a:lnTo>
                <a:lnTo>
                  <a:pt x="0" y="0"/>
                </a:lnTo>
                <a:lnTo>
                  <a:pt x="0" y="25146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643" y="1312475"/>
            <a:ext cx="5517930" cy="767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53052" y="1324667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7424" y="1335335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59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57724" y="1275899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60872" y="1230179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11363" y="1291139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12385" y="284537"/>
            <a:ext cx="94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卷积</a:t>
            </a:r>
            <a:r>
              <a:rPr sz="1800" b="1" spc="-10" dirty="0">
                <a:latin typeface="黑体"/>
                <a:cs typeface="黑体"/>
              </a:rPr>
              <a:t>核组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643" y="1406550"/>
            <a:ext cx="5517930" cy="767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53052" y="1418742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7423" y="1429410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59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57724" y="1369974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3"/>
                </a:moveTo>
                <a:lnTo>
                  <a:pt x="149351" y="809243"/>
                </a:lnTo>
                <a:lnTo>
                  <a:pt x="149351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60872" y="1324254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11363" y="1385214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60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2861" y="1419504"/>
            <a:ext cx="4869180" cy="792480"/>
          </a:xfrm>
          <a:custGeom>
            <a:avLst/>
            <a:gdLst/>
            <a:ahLst/>
            <a:cxnLst/>
            <a:rect l="l" t="t" r="r" b="b"/>
            <a:pathLst>
              <a:path w="4869180" h="792480">
                <a:moveTo>
                  <a:pt x="0" y="792480"/>
                </a:moveTo>
                <a:lnTo>
                  <a:pt x="4869180" y="792480"/>
                </a:lnTo>
                <a:lnTo>
                  <a:pt x="4869180" y="0"/>
                </a:lnTo>
                <a:lnTo>
                  <a:pt x="0" y="0"/>
                </a:lnTo>
                <a:lnTo>
                  <a:pt x="0" y="79248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2384" y="379120"/>
            <a:ext cx="94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卷积</a:t>
            </a:r>
            <a:r>
              <a:rPr sz="1800" b="1" spc="-10" dirty="0">
                <a:latin typeface="黑体"/>
                <a:cs typeface="黑体"/>
              </a:rPr>
              <a:t>核组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643" y="1312475"/>
            <a:ext cx="5517930" cy="767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424" y="1335335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59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2862" y="1325429"/>
            <a:ext cx="798830" cy="792480"/>
          </a:xfrm>
          <a:custGeom>
            <a:avLst/>
            <a:gdLst/>
            <a:ahLst/>
            <a:cxnLst/>
            <a:rect l="l" t="t" r="r" b="b"/>
            <a:pathLst>
              <a:path w="798830" h="792480">
                <a:moveTo>
                  <a:pt x="0" y="792479"/>
                </a:moveTo>
                <a:lnTo>
                  <a:pt x="798576" y="792479"/>
                </a:lnTo>
                <a:lnTo>
                  <a:pt x="798576" y="0"/>
                </a:lnTo>
                <a:lnTo>
                  <a:pt x="0" y="0"/>
                </a:lnTo>
                <a:lnTo>
                  <a:pt x="0" y="79247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7064" y="1004627"/>
            <a:ext cx="4913630" cy="1828800"/>
          </a:xfrm>
          <a:custGeom>
            <a:avLst/>
            <a:gdLst/>
            <a:ahLst/>
            <a:cxnLst/>
            <a:rect l="l" t="t" r="r" b="b"/>
            <a:pathLst>
              <a:path w="4913630" h="1828800">
                <a:moveTo>
                  <a:pt x="0" y="1828800"/>
                </a:moveTo>
                <a:lnTo>
                  <a:pt x="4913376" y="1828800"/>
                </a:lnTo>
                <a:lnTo>
                  <a:pt x="4913376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44592" y="920807"/>
            <a:ext cx="2712720" cy="2034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3616" y="1086923"/>
            <a:ext cx="1354835" cy="1642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89984" y="882707"/>
            <a:ext cx="4308475" cy="215265"/>
          </a:xfrm>
          <a:custGeom>
            <a:avLst/>
            <a:gdLst/>
            <a:ahLst/>
            <a:cxnLst/>
            <a:rect l="l" t="t" r="r" b="b"/>
            <a:pathLst>
              <a:path w="4308475" h="215265">
                <a:moveTo>
                  <a:pt x="0" y="214883"/>
                </a:moveTo>
                <a:lnTo>
                  <a:pt x="4308348" y="214883"/>
                </a:lnTo>
                <a:lnTo>
                  <a:pt x="4308348" y="0"/>
                </a:lnTo>
                <a:lnTo>
                  <a:pt x="0" y="0"/>
                </a:lnTo>
                <a:lnTo>
                  <a:pt x="0" y="214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60800" y="2705411"/>
            <a:ext cx="4307205" cy="215265"/>
          </a:xfrm>
          <a:custGeom>
            <a:avLst/>
            <a:gdLst/>
            <a:ahLst/>
            <a:cxnLst/>
            <a:rect l="l" t="t" r="r" b="b"/>
            <a:pathLst>
              <a:path w="4307205" h="215264">
                <a:moveTo>
                  <a:pt x="0" y="214884"/>
                </a:moveTo>
                <a:lnTo>
                  <a:pt x="4306824" y="214884"/>
                </a:lnTo>
                <a:lnTo>
                  <a:pt x="4306824" y="0"/>
                </a:lnTo>
                <a:lnTo>
                  <a:pt x="0" y="0"/>
                </a:lnTo>
                <a:lnTo>
                  <a:pt x="0" y="2148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12385" y="284537"/>
            <a:ext cx="94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卷积</a:t>
            </a:r>
            <a:r>
              <a:rPr sz="1800" b="1" spc="-10" dirty="0">
                <a:latin typeface="黑体"/>
                <a:cs typeface="黑体"/>
              </a:rPr>
              <a:t>核组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643" y="1406550"/>
            <a:ext cx="5517930" cy="767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423" y="1429410"/>
            <a:ext cx="149860" cy="809625"/>
          </a:xfrm>
          <a:custGeom>
            <a:avLst/>
            <a:gdLst/>
            <a:ahLst/>
            <a:cxnLst/>
            <a:rect l="l" t="t" r="r" b="b"/>
            <a:pathLst>
              <a:path w="149859" h="809625">
                <a:moveTo>
                  <a:pt x="0" y="809244"/>
                </a:moveTo>
                <a:lnTo>
                  <a:pt x="149351" y="809244"/>
                </a:lnTo>
                <a:lnTo>
                  <a:pt x="149351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22031" y="1385214"/>
            <a:ext cx="139065" cy="809625"/>
          </a:xfrm>
          <a:custGeom>
            <a:avLst/>
            <a:gdLst/>
            <a:ahLst/>
            <a:cxnLst/>
            <a:rect l="l" t="t" r="r" b="b"/>
            <a:pathLst>
              <a:path w="139064" h="809625">
                <a:moveTo>
                  <a:pt x="0" y="809244"/>
                </a:moveTo>
                <a:lnTo>
                  <a:pt x="138684" y="809244"/>
                </a:lnTo>
                <a:lnTo>
                  <a:pt x="138684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2041" y="1419504"/>
            <a:ext cx="779145" cy="792480"/>
          </a:xfrm>
          <a:custGeom>
            <a:avLst/>
            <a:gdLst/>
            <a:ahLst/>
            <a:cxnLst/>
            <a:rect l="l" t="t" r="r" b="b"/>
            <a:pathLst>
              <a:path w="779145" h="792480">
                <a:moveTo>
                  <a:pt x="0" y="792480"/>
                </a:moveTo>
                <a:lnTo>
                  <a:pt x="778763" y="792480"/>
                </a:lnTo>
                <a:lnTo>
                  <a:pt x="778763" y="0"/>
                </a:lnTo>
                <a:lnTo>
                  <a:pt x="0" y="0"/>
                </a:lnTo>
                <a:lnTo>
                  <a:pt x="0" y="79248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9775" y="1049934"/>
            <a:ext cx="3572510" cy="1961514"/>
          </a:xfrm>
          <a:custGeom>
            <a:avLst/>
            <a:gdLst/>
            <a:ahLst/>
            <a:cxnLst/>
            <a:rect l="l" t="t" r="r" b="b"/>
            <a:pathLst>
              <a:path w="3572510" h="1961514">
                <a:moveTo>
                  <a:pt x="0" y="1961388"/>
                </a:moveTo>
                <a:lnTo>
                  <a:pt x="3572255" y="1961388"/>
                </a:lnTo>
                <a:lnTo>
                  <a:pt x="3572255" y="0"/>
                </a:lnTo>
                <a:lnTo>
                  <a:pt x="0" y="0"/>
                </a:lnTo>
                <a:lnTo>
                  <a:pt x="0" y="1961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45759" y="1034694"/>
            <a:ext cx="1769364" cy="2017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80255" y="1191666"/>
            <a:ext cx="1353312" cy="1642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95267" y="2834538"/>
            <a:ext cx="3537585" cy="391795"/>
          </a:xfrm>
          <a:custGeom>
            <a:avLst/>
            <a:gdLst/>
            <a:ahLst/>
            <a:cxnLst/>
            <a:rect l="l" t="t" r="r" b="b"/>
            <a:pathLst>
              <a:path w="3537585" h="391794">
                <a:moveTo>
                  <a:pt x="0" y="391668"/>
                </a:moveTo>
                <a:lnTo>
                  <a:pt x="3537204" y="391668"/>
                </a:lnTo>
                <a:lnTo>
                  <a:pt x="3537204" y="0"/>
                </a:lnTo>
                <a:lnTo>
                  <a:pt x="0" y="0"/>
                </a:lnTo>
                <a:lnTo>
                  <a:pt x="0" y="391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12384" y="379120"/>
            <a:ext cx="94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卷积</a:t>
            </a:r>
            <a:r>
              <a:rPr sz="1800" b="1" spc="-10" dirty="0">
                <a:latin typeface="黑体"/>
                <a:cs typeface="黑体"/>
              </a:rPr>
              <a:t>核组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93574" y="960431"/>
            <a:ext cx="2571174" cy="362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4336" y="951287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7010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3906" y="966527"/>
            <a:ext cx="0" cy="382905"/>
          </a:xfrm>
          <a:custGeom>
            <a:avLst/>
            <a:gdLst/>
            <a:ahLst/>
            <a:cxnLst/>
            <a:rect l="l" t="t" r="r" b="b"/>
            <a:pathLst>
              <a:path h="382905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6857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62952" y="920807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7010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61478" y="951287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6857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86960" y="278441"/>
            <a:ext cx="24085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基</a:t>
            </a:r>
            <a:r>
              <a:rPr spc="5" dirty="0"/>
              <a:t>于</a:t>
            </a:r>
            <a:r>
              <a:rPr spc="-5" dirty="0"/>
              <a:t>卷积核组的图</a:t>
            </a:r>
            <a:r>
              <a:rPr spc="5" dirty="0"/>
              <a:t>像</a:t>
            </a:r>
            <a:r>
              <a:rPr spc="-5" dirty="0"/>
              <a:t>表示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7344" y="1249229"/>
            <a:ext cx="203200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设</a:t>
            </a:r>
            <a:r>
              <a:rPr sz="1000" spc="-5" dirty="0">
                <a:latin typeface="黑体"/>
                <a:cs typeface="黑体"/>
              </a:rPr>
              <a:t>计卷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核组；</a:t>
            </a:r>
            <a:endParaRPr sz="1000">
              <a:latin typeface="黑体"/>
              <a:cs typeface="黑体"/>
            </a:endParaRPr>
          </a:p>
          <a:p>
            <a:pPr marL="241300" marR="5080" indent="-228600">
              <a:lnSpc>
                <a:spcPct val="2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sz="1000" spc="5" smtClean="0">
                <a:latin typeface="黑体"/>
                <a:cs typeface="黑体"/>
              </a:rPr>
              <a:t>利</a:t>
            </a:r>
            <a:r>
              <a:rPr sz="1000" spc="-5" smtClean="0">
                <a:latin typeface="黑体"/>
                <a:cs typeface="黑体"/>
              </a:rPr>
              <a:t>用卷</a:t>
            </a:r>
            <a:r>
              <a:rPr sz="1000" spc="5" smtClean="0">
                <a:latin typeface="黑体"/>
                <a:cs typeface="黑体"/>
              </a:rPr>
              <a:t>积</a:t>
            </a:r>
            <a:r>
              <a:rPr sz="1000" spc="-5" smtClean="0">
                <a:latin typeface="黑体"/>
                <a:cs typeface="黑体"/>
              </a:rPr>
              <a:t>核组</a:t>
            </a:r>
            <a:r>
              <a:rPr sz="1000" spc="5" smtClean="0">
                <a:latin typeface="黑体"/>
                <a:cs typeface="黑体"/>
              </a:rPr>
              <a:t>对</a:t>
            </a:r>
            <a:r>
              <a:rPr sz="1000" spc="-5" smtClean="0">
                <a:latin typeface="黑体"/>
                <a:cs typeface="黑体"/>
              </a:rPr>
              <a:t>图像</a:t>
            </a:r>
            <a:r>
              <a:rPr sz="1000" spc="5" smtClean="0">
                <a:latin typeface="黑体"/>
                <a:cs typeface="黑体"/>
              </a:rPr>
              <a:t>进</a:t>
            </a:r>
            <a:r>
              <a:rPr sz="1000" spc="-5" smtClean="0">
                <a:latin typeface="黑体"/>
                <a:cs typeface="黑体"/>
              </a:rPr>
              <a:t>行卷</a:t>
            </a:r>
            <a:r>
              <a:rPr sz="1000" spc="5" smtClean="0">
                <a:latin typeface="黑体"/>
                <a:cs typeface="黑体"/>
              </a:rPr>
              <a:t>积</a:t>
            </a:r>
            <a:r>
              <a:rPr sz="1000" spc="-5" smtClean="0">
                <a:latin typeface="黑体"/>
                <a:cs typeface="黑体"/>
              </a:rPr>
              <a:t>操</a:t>
            </a:r>
            <a:r>
              <a:rPr sz="1000" spc="5" smtClean="0">
                <a:latin typeface="黑体"/>
                <a:cs typeface="黑体"/>
              </a:rPr>
              <a:t>作</a:t>
            </a:r>
            <a:r>
              <a:rPr sz="1000" spc="-5" smtClean="0">
                <a:latin typeface="黑体"/>
                <a:cs typeface="黑体"/>
              </a:rPr>
              <a:t>获得</a:t>
            </a:r>
            <a:r>
              <a:rPr sz="1000" spc="5" smtClean="0">
                <a:latin typeface="黑体"/>
                <a:cs typeface="黑体"/>
              </a:rPr>
              <a:t>对</a:t>
            </a:r>
            <a:r>
              <a:rPr sz="1000" spc="-5" smtClean="0">
                <a:latin typeface="黑体"/>
                <a:cs typeface="黑体"/>
              </a:rPr>
              <a:t>应的</a:t>
            </a:r>
            <a:r>
              <a:rPr sz="1000" spc="5" smtClean="0">
                <a:latin typeface="黑体"/>
                <a:cs typeface="黑体"/>
              </a:rPr>
              <a:t>特</a:t>
            </a:r>
            <a:r>
              <a:rPr sz="1000" spc="-5" smtClean="0">
                <a:latin typeface="黑体"/>
                <a:cs typeface="黑体"/>
              </a:rPr>
              <a:t>征响</a:t>
            </a:r>
            <a:r>
              <a:rPr sz="1000" spc="5" smtClean="0">
                <a:latin typeface="黑体"/>
                <a:cs typeface="黑体"/>
              </a:rPr>
              <a:t>应</a:t>
            </a:r>
            <a:r>
              <a:rPr sz="1000" spc="-5" smtClean="0">
                <a:latin typeface="黑体"/>
                <a:cs typeface="黑体"/>
              </a:rPr>
              <a:t>图</a:t>
            </a:r>
            <a:r>
              <a:rPr sz="1000" smtClean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4" y="2224284"/>
            <a:ext cx="2032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/>
                <a:cs typeface="黑体"/>
              </a:rPr>
              <a:t>3.</a:t>
            </a:r>
            <a:r>
              <a:rPr sz="1000" spc="254" dirty="0">
                <a:latin typeface="黑体"/>
                <a:cs typeface="黑体"/>
              </a:rPr>
              <a:t> </a:t>
            </a:r>
            <a:r>
              <a:rPr sz="1000" dirty="0">
                <a:latin typeface="黑体"/>
                <a:cs typeface="黑体"/>
              </a:rPr>
              <a:t>利</a:t>
            </a:r>
            <a:r>
              <a:rPr sz="1000" spc="-5" dirty="0">
                <a:latin typeface="黑体"/>
                <a:cs typeface="黑体"/>
              </a:rPr>
              <a:t>用</a:t>
            </a:r>
            <a:r>
              <a:rPr sz="1000" spc="-10" dirty="0">
                <a:latin typeface="黑体"/>
                <a:cs typeface="黑体"/>
              </a:rPr>
              <a:t>特</a:t>
            </a:r>
            <a:r>
              <a:rPr sz="100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</a:t>
            </a:r>
            <a:r>
              <a:rPr sz="1000" spc="-10" dirty="0">
                <a:latin typeface="黑体"/>
                <a:cs typeface="黑体"/>
              </a:rPr>
              <a:t>应</a:t>
            </a:r>
            <a:r>
              <a:rPr sz="1000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-10" dirty="0">
                <a:latin typeface="黑体"/>
                <a:cs typeface="黑体"/>
              </a:rPr>
              <a:t>某</a:t>
            </a:r>
            <a:r>
              <a:rPr sz="1000" dirty="0">
                <a:latin typeface="黑体"/>
                <a:cs typeface="黑体"/>
              </a:rPr>
              <a:t>种</a:t>
            </a:r>
            <a:r>
              <a:rPr sz="1000" spc="-5" dirty="0">
                <a:latin typeface="黑体"/>
                <a:cs typeface="黑体"/>
              </a:rPr>
              <a:t>统</a:t>
            </a:r>
            <a:r>
              <a:rPr sz="1000" spc="-10" dirty="0">
                <a:latin typeface="黑体"/>
                <a:cs typeface="黑体"/>
              </a:rPr>
              <a:t>计</a:t>
            </a:r>
            <a:r>
              <a:rPr sz="1000" dirty="0">
                <a:latin typeface="黑体"/>
                <a:cs typeface="黑体"/>
              </a:rPr>
              <a:t>信</a:t>
            </a:r>
            <a:r>
              <a:rPr sz="1000" spc="-5" dirty="0">
                <a:latin typeface="黑体"/>
                <a:cs typeface="黑体"/>
              </a:rPr>
              <a:t>息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5944" y="2529643"/>
            <a:ext cx="1295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来</a:t>
            </a:r>
            <a:r>
              <a:rPr sz="1000" spc="-5" dirty="0">
                <a:latin typeface="黑体"/>
                <a:cs typeface="黑体"/>
              </a:rPr>
              <a:t>表示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像中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纹</a:t>
            </a:r>
            <a:r>
              <a:rPr sz="1000" dirty="0">
                <a:latin typeface="黑体"/>
                <a:cs typeface="黑体"/>
              </a:rPr>
              <a:t>理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26888" y="1483163"/>
            <a:ext cx="368808" cy="4480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1098" y="1327461"/>
            <a:ext cx="119379" cy="1468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64123" y="1939601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95162" y="2092001"/>
            <a:ext cx="1657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1500" spc="7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1400" spc="-15" dirty="0">
                <a:solidFill>
                  <a:srgbClr val="FF0000"/>
                </a:solidFill>
                <a:latin typeface="Cambria Math"/>
                <a:cs typeface="Cambria Math"/>
              </a:rPr>
              <a:t>[𝑟</a:t>
            </a:r>
            <a:r>
              <a:rPr sz="1500" spc="-22" baseline="-16666" dirty="0">
                <a:solidFill>
                  <a:srgbClr val="FF0000"/>
                </a:solidFill>
                <a:latin typeface="Cambria Math"/>
                <a:cs typeface="Cambria Math"/>
              </a:rPr>
              <a:t>11</a:t>
            </a:r>
            <a:r>
              <a:rPr sz="1400" spc="-15" dirty="0">
                <a:solidFill>
                  <a:srgbClr val="FF0000"/>
                </a:solidFill>
                <a:latin typeface="Cambria Math"/>
                <a:cs typeface="Cambria Math"/>
              </a:rPr>
              <a:t>, 𝑟</a:t>
            </a:r>
            <a:r>
              <a:rPr sz="1500" spc="-22" baseline="-16666" dirty="0">
                <a:solidFill>
                  <a:srgbClr val="FF0000"/>
                </a:solidFill>
                <a:latin typeface="Cambria Math"/>
                <a:cs typeface="Cambria Math"/>
              </a:rPr>
              <a:t>12</a:t>
            </a:r>
            <a:r>
              <a:rPr sz="1400" spc="-15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⋯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500" spc="7" baseline="-16666" dirty="0">
                <a:solidFill>
                  <a:srgbClr val="FF0000"/>
                </a:solidFill>
                <a:latin typeface="Cambria Math"/>
                <a:cs typeface="Cambria Math"/>
              </a:rPr>
              <a:t>1×𝑛</a:t>
            </a:r>
            <a:r>
              <a:rPr sz="1400" spc="5" dirty="0">
                <a:solidFill>
                  <a:srgbClr val="FF0000"/>
                </a:solidFill>
                <a:latin typeface="Cambria Math"/>
                <a:cs typeface="Cambria Math"/>
              </a:rPr>
              <a:t>]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9559" y="2501296"/>
            <a:ext cx="1990089" cy="3911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268605" algn="l"/>
              </a:tabLst>
            </a:pPr>
            <a:r>
              <a:rPr sz="800" spc="10" dirty="0">
                <a:latin typeface="Cambria Math"/>
                <a:cs typeface="Cambria Math"/>
              </a:rPr>
              <a:t>𝒓</a:t>
            </a:r>
            <a:r>
              <a:rPr sz="825" spc="15" baseline="-15151" dirty="0">
                <a:latin typeface="Cambria Math"/>
                <a:cs typeface="Cambria Math"/>
              </a:rPr>
              <a:t>𝟏	</a:t>
            </a:r>
            <a:r>
              <a:rPr sz="800" dirty="0">
                <a:latin typeface="黑体"/>
                <a:cs typeface="黑体"/>
              </a:rPr>
              <a:t>表示第</a:t>
            </a:r>
            <a:r>
              <a:rPr sz="800" spc="-15" dirty="0">
                <a:latin typeface="黑体"/>
                <a:cs typeface="黑体"/>
              </a:rPr>
              <a:t>一</a:t>
            </a:r>
            <a:r>
              <a:rPr sz="800" dirty="0">
                <a:latin typeface="黑体"/>
                <a:cs typeface="黑体"/>
              </a:rPr>
              <a:t>个特</a:t>
            </a:r>
            <a:r>
              <a:rPr sz="800" spc="-15" dirty="0">
                <a:latin typeface="黑体"/>
                <a:cs typeface="黑体"/>
              </a:rPr>
              <a:t>征</a:t>
            </a:r>
            <a:r>
              <a:rPr sz="800" dirty="0">
                <a:latin typeface="黑体"/>
                <a:cs typeface="黑体"/>
              </a:rPr>
              <a:t>图展</a:t>
            </a:r>
            <a:r>
              <a:rPr sz="800" spc="-15" dirty="0">
                <a:latin typeface="黑体"/>
                <a:cs typeface="黑体"/>
              </a:rPr>
              <a:t>开</a:t>
            </a:r>
            <a:r>
              <a:rPr sz="800" dirty="0">
                <a:latin typeface="黑体"/>
                <a:cs typeface="黑体"/>
              </a:rPr>
              <a:t>的向量</a:t>
            </a:r>
            <a:endParaRPr sz="8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dirty="0">
                <a:latin typeface="Cambria Math"/>
                <a:cs typeface="Cambria Math"/>
              </a:rPr>
              <a:t>𝑟</a:t>
            </a:r>
            <a:r>
              <a:rPr sz="825" baseline="-15151" dirty="0">
                <a:latin typeface="Cambria Math"/>
                <a:cs typeface="Cambria Math"/>
              </a:rPr>
              <a:t>1×𝑛</a:t>
            </a:r>
            <a:r>
              <a:rPr sz="825" spc="75" baseline="-15151" dirty="0">
                <a:latin typeface="Cambria Math"/>
                <a:cs typeface="Cambria Math"/>
              </a:rPr>
              <a:t> </a:t>
            </a:r>
            <a:r>
              <a:rPr sz="800" dirty="0">
                <a:latin typeface="黑体"/>
                <a:cs typeface="黑体"/>
              </a:rPr>
              <a:t>表示第</a:t>
            </a:r>
            <a:r>
              <a:rPr sz="800" spc="-10" dirty="0">
                <a:latin typeface="黑体"/>
                <a:cs typeface="黑体"/>
              </a:rPr>
              <a:t>1</a:t>
            </a:r>
            <a:r>
              <a:rPr sz="800" dirty="0">
                <a:latin typeface="黑体"/>
                <a:cs typeface="黑体"/>
              </a:rPr>
              <a:t>个特</a:t>
            </a:r>
            <a:r>
              <a:rPr sz="800" spc="-15" dirty="0">
                <a:latin typeface="黑体"/>
                <a:cs typeface="黑体"/>
              </a:rPr>
              <a:t>征</a:t>
            </a:r>
            <a:r>
              <a:rPr sz="800" dirty="0">
                <a:latin typeface="黑体"/>
                <a:cs typeface="黑体"/>
              </a:rPr>
              <a:t>图上第</a:t>
            </a:r>
            <a:r>
              <a:rPr sz="800" spc="-10" dirty="0">
                <a:latin typeface="黑体"/>
                <a:cs typeface="黑体"/>
              </a:rPr>
              <a:t>n</a:t>
            </a:r>
            <a:r>
              <a:rPr sz="800" spc="-15" dirty="0">
                <a:latin typeface="黑体"/>
                <a:cs typeface="黑体"/>
              </a:rPr>
              <a:t>个</a:t>
            </a:r>
            <a:r>
              <a:rPr sz="800" dirty="0">
                <a:latin typeface="黑体"/>
                <a:cs typeface="黑体"/>
              </a:rPr>
              <a:t>位置</a:t>
            </a:r>
            <a:r>
              <a:rPr sz="800" spc="-15" dirty="0">
                <a:latin typeface="黑体"/>
                <a:cs typeface="黑体"/>
              </a:rPr>
              <a:t>的</a:t>
            </a:r>
            <a:r>
              <a:rPr sz="800" dirty="0">
                <a:latin typeface="黑体"/>
                <a:cs typeface="黑体"/>
              </a:rPr>
              <a:t>响应值</a:t>
            </a:r>
            <a:endParaRPr sz="800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07531" y="1483163"/>
            <a:ext cx="2595372" cy="443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3574" y="1054506"/>
            <a:ext cx="2571174" cy="362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4335" y="1045362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7010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3905" y="1060602"/>
            <a:ext cx="0" cy="382905"/>
          </a:xfrm>
          <a:custGeom>
            <a:avLst/>
            <a:gdLst/>
            <a:ahLst/>
            <a:cxnLst/>
            <a:rect l="l" t="t" r="r" b="b"/>
            <a:pathLst>
              <a:path h="382905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6857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2952" y="1014882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7010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61478" y="1045362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6857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7344" y="1343812"/>
            <a:ext cx="203200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设</a:t>
            </a:r>
            <a:r>
              <a:rPr sz="1000" spc="-5" dirty="0">
                <a:latin typeface="黑体"/>
                <a:cs typeface="黑体"/>
              </a:rPr>
              <a:t>计卷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核组；</a:t>
            </a:r>
            <a:endParaRPr sz="1000">
              <a:latin typeface="黑体"/>
              <a:cs typeface="黑体"/>
            </a:endParaRPr>
          </a:p>
          <a:p>
            <a:pPr marL="241300" marR="5080" indent="-228600">
              <a:lnSpc>
                <a:spcPct val="200199"/>
              </a:lnSpc>
              <a:spcBef>
                <a:spcPts val="23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利</a:t>
            </a:r>
            <a:r>
              <a:rPr sz="1000" spc="-5" dirty="0">
                <a:latin typeface="黑体"/>
                <a:cs typeface="黑体"/>
              </a:rPr>
              <a:t>用卷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核组</a:t>
            </a: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图像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操 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获得</a:t>
            </a: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应的</a:t>
            </a:r>
            <a:r>
              <a:rPr sz="1000" spc="5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征响</a:t>
            </a:r>
            <a:r>
              <a:rPr sz="1000" spc="5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</a:t>
            </a:r>
            <a:r>
              <a:rPr sz="1000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4" y="2319553"/>
            <a:ext cx="2032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3.</a:t>
            </a:r>
            <a:r>
              <a:rPr sz="1000" spc="220" dirty="0">
                <a:latin typeface="黑体"/>
                <a:cs typeface="黑体"/>
              </a:rPr>
              <a:t> </a:t>
            </a:r>
            <a:r>
              <a:rPr sz="1000" spc="5" dirty="0">
                <a:latin typeface="黑体"/>
                <a:cs typeface="黑体"/>
              </a:rPr>
              <a:t>利</a:t>
            </a:r>
            <a:r>
              <a:rPr sz="1000" spc="-5" dirty="0">
                <a:latin typeface="黑体"/>
                <a:cs typeface="黑体"/>
              </a:rPr>
              <a:t>用特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的某</a:t>
            </a:r>
            <a:r>
              <a:rPr sz="1000" spc="5" dirty="0">
                <a:latin typeface="黑体"/>
                <a:cs typeface="黑体"/>
              </a:rPr>
              <a:t>种</a:t>
            </a:r>
            <a:r>
              <a:rPr sz="1000" spc="-5" dirty="0">
                <a:latin typeface="黑体"/>
                <a:cs typeface="黑体"/>
              </a:rPr>
              <a:t>统计</a:t>
            </a:r>
            <a:r>
              <a:rPr sz="1000" spc="5" dirty="0">
                <a:latin typeface="黑体"/>
                <a:cs typeface="黑体"/>
              </a:rPr>
              <a:t>信</a:t>
            </a:r>
            <a:r>
              <a:rPr sz="1000" spc="-5" dirty="0">
                <a:latin typeface="黑体"/>
                <a:cs typeface="黑体"/>
              </a:rPr>
              <a:t>息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5944" y="2624353"/>
            <a:ext cx="1295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来</a:t>
            </a:r>
            <a:r>
              <a:rPr sz="1000" spc="-5" dirty="0">
                <a:latin typeface="黑体"/>
                <a:cs typeface="黑体"/>
              </a:rPr>
              <a:t>表示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像中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纹</a:t>
            </a:r>
            <a:r>
              <a:rPr sz="1000" dirty="0">
                <a:latin typeface="黑体"/>
                <a:cs typeface="黑体"/>
              </a:rPr>
              <a:t>理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26887" y="1577238"/>
            <a:ext cx="368808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91097" y="1421536"/>
            <a:ext cx="119379" cy="1468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07531" y="1577238"/>
            <a:ext cx="2595372" cy="443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74887" y="2379624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0" y="6350"/>
                </a:moveTo>
                <a:lnTo>
                  <a:pt x="38735" y="6350"/>
                </a:lnTo>
                <a:lnTo>
                  <a:pt x="38735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06384" y="222722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74887" y="2220874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0" y="6350"/>
                </a:moveTo>
                <a:lnTo>
                  <a:pt x="38735" y="6350"/>
                </a:lnTo>
                <a:lnTo>
                  <a:pt x="38735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07353" y="2379624"/>
            <a:ext cx="39370" cy="6350"/>
          </a:xfrm>
          <a:custGeom>
            <a:avLst/>
            <a:gdLst/>
            <a:ahLst/>
            <a:cxnLst/>
            <a:rect l="l" t="t" r="r" b="b"/>
            <a:pathLst>
              <a:path w="39370" h="6350">
                <a:moveTo>
                  <a:pt x="0" y="6350"/>
                </a:moveTo>
                <a:lnTo>
                  <a:pt x="38862" y="6350"/>
                </a:lnTo>
                <a:lnTo>
                  <a:pt x="38862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14592" y="222722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4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07353" y="2220874"/>
            <a:ext cx="39370" cy="6350"/>
          </a:xfrm>
          <a:custGeom>
            <a:avLst/>
            <a:gdLst/>
            <a:ahLst/>
            <a:cxnLst/>
            <a:rect l="l" t="t" r="r" b="b"/>
            <a:pathLst>
              <a:path w="39370" h="6350">
                <a:moveTo>
                  <a:pt x="0" y="6350"/>
                </a:moveTo>
                <a:lnTo>
                  <a:pt x="38862" y="6350"/>
                </a:lnTo>
                <a:lnTo>
                  <a:pt x="38862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38341" y="2156739"/>
            <a:ext cx="12712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728345" algn="l"/>
                <a:tab pos="1086485" algn="l"/>
              </a:tabLst>
            </a:pPr>
            <a:r>
              <a:rPr sz="1400" dirty="0">
                <a:latin typeface="Cambria Math"/>
                <a:cs typeface="Cambria Math"/>
              </a:rPr>
              <a:t>𝒓</a:t>
            </a:r>
            <a:r>
              <a:rPr sz="1500" spc="30" baseline="-16666" dirty="0">
                <a:latin typeface="Cambria Math"/>
                <a:cs typeface="Cambria Math"/>
              </a:rPr>
              <a:t>𝟏	</a:t>
            </a:r>
            <a:r>
              <a:rPr sz="1400" dirty="0">
                <a:latin typeface="Cambria Math"/>
                <a:cs typeface="Cambria Math"/>
              </a:rPr>
              <a:t>𝒓</a:t>
            </a:r>
            <a:r>
              <a:rPr sz="1500" spc="30" baseline="-16666" dirty="0">
                <a:latin typeface="Cambria Math"/>
                <a:cs typeface="Cambria Math"/>
              </a:rPr>
              <a:t>𝟐	</a:t>
            </a:r>
            <a:r>
              <a:rPr sz="2100" baseline="3968" dirty="0">
                <a:latin typeface="Cambria Math"/>
                <a:cs typeface="Cambria Math"/>
              </a:rPr>
              <a:t>𝒓</a:t>
            </a:r>
            <a:r>
              <a:rPr sz="1500" spc="30" baseline="-11111" dirty="0">
                <a:latin typeface="Cambria Math"/>
                <a:cs typeface="Cambria Math"/>
              </a:rPr>
              <a:t>𝟑	</a:t>
            </a:r>
            <a:r>
              <a:rPr sz="2100" baseline="3968" dirty="0">
                <a:latin typeface="Cambria Math"/>
                <a:cs typeface="Cambria Math"/>
              </a:rPr>
              <a:t>𝒓</a:t>
            </a:r>
            <a:r>
              <a:rPr sz="1500" spc="52" baseline="-11111" dirty="0">
                <a:latin typeface="Cambria Math"/>
                <a:cs typeface="Cambria Math"/>
              </a:rPr>
              <a:t>4</a:t>
            </a:r>
            <a:endParaRPr sz="1500" baseline="-11111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69759" y="2118639"/>
            <a:ext cx="9086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  <a:tab pos="723900" algn="l"/>
              </a:tabLst>
            </a:pPr>
            <a:r>
              <a:rPr sz="1400" dirty="0">
                <a:latin typeface="Cambria Math"/>
                <a:cs typeface="Cambria Math"/>
              </a:rPr>
              <a:t>𝒓</a:t>
            </a:r>
            <a:r>
              <a:rPr sz="1500" spc="52" baseline="-16666" dirty="0">
                <a:latin typeface="Cambria Math"/>
                <a:cs typeface="Cambria Math"/>
              </a:rPr>
              <a:t>5	</a:t>
            </a:r>
            <a:r>
              <a:rPr sz="1400" dirty="0">
                <a:latin typeface="Cambria Math"/>
                <a:cs typeface="Cambria Math"/>
              </a:rPr>
              <a:t>𝒓</a:t>
            </a:r>
            <a:r>
              <a:rPr sz="1500" spc="52" baseline="-16666" dirty="0">
                <a:latin typeface="Cambria Math"/>
                <a:cs typeface="Cambria Math"/>
              </a:rPr>
              <a:t>6	</a:t>
            </a:r>
            <a:r>
              <a:rPr sz="1400" dirty="0">
                <a:latin typeface="Cambria Math"/>
                <a:cs typeface="Cambria Math"/>
              </a:rPr>
              <a:t>𝒓</a:t>
            </a:r>
            <a:r>
              <a:rPr sz="1500" spc="52" baseline="-16666" dirty="0">
                <a:latin typeface="Cambria Math"/>
                <a:cs typeface="Cambria Math"/>
              </a:rPr>
              <a:t>7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39738" y="2032152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14642" y="2032152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80403" y="2032152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56830" y="2033676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36306" y="2032152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86827" y="2044344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52586" y="2032152"/>
            <a:ext cx="57150" cy="155575"/>
          </a:xfrm>
          <a:custGeom>
            <a:avLst/>
            <a:gdLst/>
            <a:ahLst/>
            <a:cxnLst/>
            <a:rect l="l" t="t" r="r" b="b"/>
            <a:pathLst>
              <a:path w="57150" h="155575">
                <a:moveTo>
                  <a:pt x="19050" y="98043"/>
                </a:moveTo>
                <a:lnTo>
                  <a:pt x="0" y="98043"/>
                </a:lnTo>
                <a:lnTo>
                  <a:pt x="28575" y="155194"/>
                </a:lnTo>
                <a:lnTo>
                  <a:pt x="52387" y="107568"/>
                </a:lnTo>
                <a:lnTo>
                  <a:pt x="19050" y="107568"/>
                </a:lnTo>
                <a:lnTo>
                  <a:pt x="19050" y="98043"/>
                </a:lnTo>
                <a:close/>
              </a:path>
              <a:path w="57150" h="155575">
                <a:moveTo>
                  <a:pt x="38100" y="0"/>
                </a:moveTo>
                <a:lnTo>
                  <a:pt x="19050" y="0"/>
                </a:lnTo>
                <a:lnTo>
                  <a:pt x="19050" y="107568"/>
                </a:lnTo>
                <a:lnTo>
                  <a:pt x="38100" y="107568"/>
                </a:lnTo>
                <a:lnTo>
                  <a:pt x="38100" y="0"/>
                </a:lnTo>
                <a:close/>
              </a:path>
              <a:path w="57150" h="155575">
                <a:moveTo>
                  <a:pt x="57150" y="98043"/>
                </a:moveTo>
                <a:lnTo>
                  <a:pt x="38100" y="98043"/>
                </a:lnTo>
                <a:lnTo>
                  <a:pt x="38100" y="107568"/>
                </a:lnTo>
                <a:lnTo>
                  <a:pt x="52387" y="107568"/>
                </a:lnTo>
                <a:lnTo>
                  <a:pt x="57150" y="98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875782" y="2100097"/>
            <a:ext cx="281940" cy="3238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图像 表示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02528" y="2616073"/>
            <a:ext cx="2982595" cy="4127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800" spc="20" dirty="0">
                <a:latin typeface="Cambria Math"/>
                <a:cs typeface="Cambria Math"/>
              </a:rPr>
              <a:t>𝒓</a:t>
            </a:r>
            <a:r>
              <a:rPr sz="825" spc="30" baseline="-15151" dirty="0">
                <a:latin typeface="Cambria Math"/>
                <a:cs typeface="Cambria Math"/>
              </a:rPr>
              <a:t>i</a:t>
            </a:r>
            <a:r>
              <a:rPr sz="825" spc="195" baseline="-15151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=</a:t>
            </a:r>
            <a:r>
              <a:rPr sz="800" spc="45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[𝑟</a:t>
            </a:r>
            <a:r>
              <a:rPr sz="825" baseline="-15151" dirty="0">
                <a:latin typeface="Cambria Math"/>
                <a:cs typeface="Cambria Math"/>
              </a:rPr>
              <a:t>𝑖1</a:t>
            </a:r>
            <a:r>
              <a:rPr sz="800" dirty="0">
                <a:latin typeface="Cambria Math"/>
                <a:cs typeface="Cambria Math"/>
              </a:rPr>
              <a:t>,</a:t>
            </a:r>
            <a:r>
              <a:rPr sz="800" spc="-55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𝑟</a:t>
            </a:r>
            <a:r>
              <a:rPr sz="825" baseline="-15151" dirty="0">
                <a:latin typeface="Cambria Math"/>
                <a:cs typeface="Cambria Math"/>
              </a:rPr>
              <a:t>𝑖2</a:t>
            </a:r>
            <a:r>
              <a:rPr sz="800" dirty="0">
                <a:latin typeface="Cambria Math"/>
                <a:cs typeface="Cambria Math"/>
              </a:rPr>
              <a:t>,</a:t>
            </a:r>
            <a:r>
              <a:rPr sz="800" spc="-55" dirty="0">
                <a:latin typeface="Cambria Math"/>
                <a:cs typeface="Cambria Math"/>
              </a:rPr>
              <a:t> </a:t>
            </a:r>
            <a:r>
              <a:rPr sz="800" dirty="0">
                <a:latin typeface="Cambria Math"/>
                <a:cs typeface="Cambria Math"/>
              </a:rPr>
              <a:t>⋯</a:t>
            </a:r>
            <a:r>
              <a:rPr sz="800" spc="55" dirty="0">
                <a:latin typeface="Cambria Math"/>
                <a:cs typeface="Cambria Math"/>
              </a:rPr>
              <a:t> </a:t>
            </a:r>
            <a:r>
              <a:rPr sz="800" spc="20" dirty="0">
                <a:latin typeface="Cambria Math"/>
                <a:cs typeface="Cambria Math"/>
              </a:rPr>
              <a:t>𝑟</a:t>
            </a:r>
            <a:r>
              <a:rPr sz="825" spc="30" baseline="-15151" dirty="0">
                <a:latin typeface="Cambria Math"/>
                <a:cs typeface="Cambria Math"/>
              </a:rPr>
              <a:t>𝑖×𝑛</a:t>
            </a:r>
            <a:r>
              <a:rPr sz="800" spc="20" dirty="0">
                <a:latin typeface="Cambria Math"/>
                <a:cs typeface="Cambria Math"/>
              </a:rPr>
              <a:t>]</a:t>
            </a:r>
            <a:r>
              <a:rPr sz="800" spc="200" dirty="0">
                <a:latin typeface="Cambria Math"/>
                <a:cs typeface="Cambria Math"/>
              </a:rPr>
              <a:t> </a:t>
            </a:r>
            <a:r>
              <a:rPr sz="800" spc="10" dirty="0">
                <a:latin typeface="黑体"/>
                <a:cs typeface="黑体"/>
              </a:rPr>
              <a:t>第</a:t>
            </a:r>
            <a:r>
              <a:rPr sz="800" dirty="0">
                <a:latin typeface="Cambria Math"/>
                <a:cs typeface="Cambria Math"/>
              </a:rPr>
              <a:t>i</a:t>
            </a:r>
            <a:r>
              <a:rPr sz="800" spc="10" dirty="0">
                <a:latin typeface="黑体"/>
                <a:cs typeface="黑体"/>
              </a:rPr>
              <a:t>个</a:t>
            </a:r>
            <a:r>
              <a:rPr sz="800" dirty="0">
                <a:latin typeface="黑体"/>
                <a:cs typeface="黑体"/>
              </a:rPr>
              <a:t>特征</a:t>
            </a:r>
            <a:r>
              <a:rPr sz="800" spc="-15" dirty="0">
                <a:latin typeface="黑体"/>
                <a:cs typeface="黑体"/>
              </a:rPr>
              <a:t>响</a:t>
            </a:r>
            <a:r>
              <a:rPr sz="800" dirty="0">
                <a:latin typeface="黑体"/>
                <a:cs typeface="黑体"/>
              </a:rPr>
              <a:t>应图</a:t>
            </a:r>
            <a:r>
              <a:rPr sz="800" spc="-15" dirty="0">
                <a:latin typeface="黑体"/>
                <a:cs typeface="黑体"/>
              </a:rPr>
              <a:t>展</a:t>
            </a:r>
            <a:r>
              <a:rPr sz="800" dirty="0">
                <a:latin typeface="黑体"/>
                <a:cs typeface="黑体"/>
              </a:rPr>
              <a:t>开的</a:t>
            </a:r>
            <a:r>
              <a:rPr sz="800" spc="-15" dirty="0">
                <a:latin typeface="黑体"/>
                <a:cs typeface="黑体"/>
              </a:rPr>
              <a:t>向</a:t>
            </a:r>
            <a:r>
              <a:rPr sz="800" dirty="0">
                <a:latin typeface="黑体"/>
                <a:cs typeface="黑体"/>
              </a:rPr>
              <a:t>量</a:t>
            </a:r>
            <a:endParaRPr sz="8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800" spc="10" dirty="0">
                <a:latin typeface="Cambria Math"/>
                <a:cs typeface="Cambria Math"/>
              </a:rPr>
              <a:t>𝑟</a:t>
            </a:r>
            <a:r>
              <a:rPr sz="825" spc="15" baseline="-15151" dirty="0">
                <a:latin typeface="Cambria Math"/>
                <a:cs typeface="Cambria Math"/>
              </a:rPr>
              <a:t>𝑖×𝑗</a:t>
            </a:r>
            <a:r>
              <a:rPr sz="825" spc="135" baseline="-15151" dirty="0">
                <a:latin typeface="Cambria Math"/>
                <a:cs typeface="Cambria Math"/>
              </a:rPr>
              <a:t> </a:t>
            </a:r>
            <a:r>
              <a:rPr sz="800" dirty="0">
                <a:latin typeface="黑体"/>
                <a:cs typeface="黑体"/>
              </a:rPr>
              <a:t>反应了图</a:t>
            </a:r>
            <a:r>
              <a:rPr sz="800" spc="-15" dirty="0">
                <a:latin typeface="黑体"/>
                <a:cs typeface="黑体"/>
              </a:rPr>
              <a:t>像</a:t>
            </a:r>
            <a:r>
              <a:rPr sz="800" dirty="0">
                <a:latin typeface="黑体"/>
                <a:cs typeface="黑体"/>
              </a:rPr>
              <a:t>第</a:t>
            </a:r>
            <a:r>
              <a:rPr sz="800" spc="-10" dirty="0">
                <a:latin typeface="黑体"/>
                <a:cs typeface="黑体"/>
              </a:rPr>
              <a:t>j</a:t>
            </a:r>
            <a:r>
              <a:rPr sz="800" dirty="0">
                <a:latin typeface="黑体"/>
                <a:cs typeface="黑体"/>
              </a:rPr>
              <a:t>个位</a:t>
            </a:r>
            <a:r>
              <a:rPr sz="800" spc="-15" dirty="0">
                <a:latin typeface="黑体"/>
                <a:cs typeface="黑体"/>
              </a:rPr>
              <a:t>置</a:t>
            </a:r>
            <a:r>
              <a:rPr sz="800" dirty="0">
                <a:latin typeface="黑体"/>
                <a:cs typeface="黑体"/>
              </a:rPr>
              <a:t>，是</a:t>
            </a:r>
            <a:r>
              <a:rPr sz="800" spc="-15" dirty="0">
                <a:latin typeface="黑体"/>
                <a:cs typeface="黑体"/>
              </a:rPr>
              <a:t>否</a:t>
            </a:r>
            <a:r>
              <a:rPr sz="800" dirty="0">
                <a:latin typeface="黑体"/>
                <a:cs typeface="黑体"/>
              </a:rPr>
              <a:t>存</a:t>
            </a:r>
            <a:r>
              <a:rPr sz="800" spc="-15" dirty="0">
                <a:latin typeface="黑体"/>
                <a:cs typeface="黑体"/>
              </a:rPr>
              <a:t>在</a:t>
            </a:r>
            <a:r>
              <a:rPr sz="800" dirty="0">
                <a:latin typeface="黑体"/>
                <a:cs typeface="黑体"/>
              </a:rPr>
              <a:t>第</a:t>
            </a:r>
            <a:r>
              <a:rPr sz="800" spc="-10" dirty="0">
                <a:latin typeface="黑体"/>
                <a:cs typeface="黑体"/>
              </a:rPr>
              <a:t>i</a:t>
            </a:r>
            <a:r>
              <a:rPr sz="800" dirty="0">
                <a:latin typeface="黑体"/>
                <a:cs typeface="黑体"/>
              </a:rPr>
              <a:t>个卷积</a:t>
            </a:r>
            <a:r>
              <a:rPr sz="800" spc="-15" dirty="0">
                <a:latin typeface="黑体"/>
                <a:cs typeface="黑体"/>
              </a:rPr>
              <a:t>核</a:t>
            </a:r>
            <a:r>
              <a:rPr sz="800" dirty="0">
                <a:latin typeface="黑体"/>
                <a:cs typeface="黑体"/>
              </a:rPr>
              <a:t>记录</a:t>
            </a:r>
            <a:r>
              <a:rPr sz="800" spc="-15" dirty="0">
                <a:latin typeface="黑体"/>
                <a:cs typeface="黑体"/>
              </a:rPr>
              <a:t>的</a:t>
            </a:r>
            <a:r>
              <a:rPr sz="800" dirty="0">
                <a:latin typeface="黑体"/>
                <a:cs typeface="黑体"/>
              </a:rPr>
              <a:t>纹理</a:t>
            </a:r>
            <a:r>
              <a:rPr sz="800" spc="-15" dirty="0">
                <a:latin typeface="黑体"/>
                <a:cs typeface="黑体"/>
              </a:rPr>
              <a:t>结</a:t>
            </a:r>
            <a:r>
              <a:rPr sz="800" dirty="0">
                <a:latin typeface="黑体"/>
                <a:cs typeface="黑体"/>
              </a:rPr>
              <a:t>构</a:t>
            </a:r>
            <a:endParaRPr sz="800">
              <a:latin typeface="黑体"/>
              <a:cs typeface="黑体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基</a:t>
            </a:r>
            <a:r>
              <a:rPr spc="5" dirty="0"/>
              <a:t>于</a:t>
            </a:r>
            <a:r>
              <a:rPr spc="-5" dirty="0"/>
              <a:t>卷积核组的图</a:t>
            </a:r>
            <a:r>
              <a:rPr spc="5" dirty="0"/>
              <a:t>像</a:t>
            </a:r>
            <a:r>
              <a:rPr spc="-5" dirty="0"/>
              <a:t>表示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0360" y="316160"/>
            <a:ext cx="13252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黑体"/>
                <a:cs typeface="黑体"/>
              </a:rPr>
              <a:t>纹</a:t>
            </a:r>
            <a:r>
              <a:rPr sz="1700" b="1" spc="5" dirty="0">
                <a:latin typeface="黑体"/>
                <a:cs typeface="黑体"/>
              </a:rPr>
              <a:t>理</a:t>
            </a:r>
            <a:r>
              <a:rPr sz="1700" b="1" spc="-5" dirty="0">
                <a:latin typeface="黑体"/>
                <a:cs typeface="黑体"/>
              </a:rPr>
              <a:t>分类任务</a:t>
            </a:r>
            <a:endParaRPr sz="17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11975" y="2205539"/>
            <a:ext cx="898553" cy="900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1975" y="1006151"/>
            <a:ext cx="1815084" cy="9083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23962" y="1011421"/>
            <a:ext cx="905510" cy="905510"/>
          </a:xfrm>
          <a:custGeom>
            <a:avLst/>
            <a:gdLst/>
            <a:ahLst/>
            <a:cxnLst/>
            <a:rect l="l" t="t" r="r" b="b"/>
            <a:pathLst>
              <a:path w="905510" h="905510">
                <a:moveTo>
                  <a:pt x="0" y="905446"/>
                </a:moveTo>
                <a:lnTo>
                  <a:pt x="905446" y="905446"/>
                </a:lnTo>
                <a:lnTo>
                  <a:pt x="905446" y="0"/>
                </a:lnTo>
                <a:lnTo>
                  <a:pt x="0" y="0"/>
                </a:lnTo>
                <a:lnTo>
                  <a:pt x="0" y="905446"/>
                </a:lnTo>
                <a:close/>
              </a:path>
            </a:pathLst>
          </a:custGeom>
          <a:ln w="476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26375" y="2220801"/>
            <a:ext cx="884763" cy="884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12812" y="1923091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规则纹理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2112" y="3235509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随机纹理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8657" y="1350067"/>
            <a:ext cx="1112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忽略基元位置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0360" y="411124"/>
            <a:ext cx="13252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5" dirty="0">
                <a:latin typeface="黑体"/>
                <a:cs typeface="黑体"/>
              </a:rPr>
              <a:t>纹</a:t>
            </a:r>
            <a:r>
              <a:rPr sz="1700" b="1" spc="5" dirty="0">
                <a:latin typeface="黑体"/>
                <a:cs typeface="黑体"/>
              </a:rPr>
              <a:t>理</a:t>
            </a:r>
            <a:r>
              <a:rPr sz="1700" b="1" spc="-5" dirty="0">
                <a:latin typeface="黑体"/>
                <a:cs typeface="黑体"/>
              </a:rPr>
              <a:t>分类任务</a:t>
            </a:r>
            <a:endParaRPr sz="17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11975" y="2299614"/>
            <a:ext cx="898553" cy="9006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1975" y="1100226"/>
            <a:ext cx="1815084" cy="9083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23962" y="1105496"/>
            <a:ext cx="905510" cy="905510"/>
          </a:xfrm>
          <a:custGeom>
            <a:avLst/>
            <a:gdLst/>
            <a:ahLst/>
            <a:cxnLst/>
            <a:rect l="l" t="t" r="r" b="b"/>
            <a:pathLst>
              <a:path w="905510" h="905510">
                <a:moveTo>
                  <a:pt x="0" y="905446"/>
                </a:moveTo>
                <a:lnTo>
                  <a:pt x="905446" y="905446"/>
                </a:lnTo>
                <a:lnTo>
                  <a:pt x="905446" y="0"/>
                </a:lnTo>
                <a:lnTo>
                  <a:pt x="0" y="0"/>
                </a:lnTo>
                <a:lnTo>
                  <a:pt x="0" y="905446"/>
                </a:lnTo>
                <a:close/>
              </a:path>
            </a:pathLst>
          </a:custGeom>
          <a:ln w="476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26375" y="2314876"/>
            <a:ext cx="884763" cy="884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12812" y="2017801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规则纹理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3028" y="3274179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随机纹理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8656" y="1445031"/>
            <a:ext cx="1112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忽略基元位置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8656" y="1902231"/>
            <a:ext cx="2026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关注出现了哪种基元对应的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0868" y="2359431"/>
            <a:ext cx="170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纹理以及基元出现的频率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5586" y="1061015"/>
            <a:ext cx="2845870" cy="396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53096" y="1051871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7344" y="1255325"/>
            <a:ext cx="2083435" cy="201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设计卷积核组；</a:t>
            </a:r>
            <a:endParaRPr sz="1200">
              <a:latin typeface="黑体"/>
              <a:cs typeface="黑体"/>
            </a:endParaRPr>
          </a:p>
          <a:p>
            <a:pPr marL="241300" marR="5080" indent="-228600" algn="just">
              <a:lnSpc>
                <a:spcPct val="190100"/>
              </a:lnSpc>
              <a:spcBef>
                <a:spcPts val="285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利用卷积核组对图像进行卷 积操作获得对应的特征响应 图</a:t>
            </a:r>
            <a:r>
              <a:rPr sz="1200" spc="-5" dirty="0">
                <a:latin typeface="黑体"/>
                <a:cs typeface="黑体"/>
              </a:rPr>
              <a:t>组</a:t>
            </a:r>
            <a:r>
              <a:rPr sz="1200" dirty="0">
                <a:latin typeface="黑体"/>
                <a:cs typeface="黑体"/>
              </a:rPr>
              <a:t>;</a:t>
            </a:r>
            <a:endParaRPr sz="1200">
              <a:latin typeface="黑体"/>
              <a:cs typeface="黑体"/>
            </a:endParaRPr>
          </a:p>
          <a:p>
            <a:pPr marL="241300" marR="5080" indent="-228600" algn="just">
              <a:lnSpc>
                <a:spcPct val="190000"/>
              </a:lnSpc>
              <a:spcBef>
                <a:spcPts val="29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利用特征响应图的某种统计 信息来表示图像中的纹理。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5156" y="1509071"/>
            <a:ext cx="405383" cy="489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78806" y="1502721"/>
            <a:ext cx="418465" cy="502284"/>
          </a:xfrm>
          <a:custGeom>
            <a:avLst/>
            <a:gdLst/>
            <a:ahLst/>
            <a:cxnLst/>
            <a:rect l="l" t="t" r="r" b="b"/>
            <a:pathLst>
              <a:path w="418464" h="502285">
                <a:moveTo>
                  <a:pt x="0" y="501903"/>
                </a:moveTo>
                <a:lnTo>
                  <a:pt x="418083" y="501903"/>
                </a:lnTo>
                <a:lnTo>
                  <a:pt x="418083" y="0"/>
                </a:lnTo>
                <a:lnTo>
                  <a:pt x="0" y="0"/>
                </a:lnTo>
                <a:lnTo>
                  <a:pt x="0" y="501903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05146" y="926141"/>
            <a:ext cx="3469004" cy="2453640"/>
          </a:xfrm>
          <a:custGeom>
            <a:avLst/>
            <a:gdLst/>
            <a:ahLst/>
            <a:cxnLst/>
            <a:rect l="l" t="t" r="r" b="b"/>
            <a:pathLst>
              <a:path w="3469004" h="2453640">
                <a:moveTo>
                  <a:pt x="0" y="2453639"/>
                </a:moveTo>
                <a:lnTo>
                  <a:pt x="3468624" y="2453639"/>
                </a:lnTo>
                <a:lnTo>
                  <a:pt x="3468624" y="0"/>
                </a:lnTo>
                <a:lnTo>
                  <a:pt x="0" y="0"/>
                </a:lnTo>
                <a:lnTo>
                  <a:pt x="0" y="245363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86960" y="278441"/>
            <a:ext cx="24085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基</a:t>
            </a:r>
            <a:r>
              <a:rPr spc="5" dirty="0"/>
              <a:t>于</a:t>
            </a:r>
            <a:r>
              <a:rPr spc="-5" dirty="0"/>
              <a:t>卷积核组的图</a:t>
            </a:r>
            <a:r>
              <a:rPr spc="5" dirty="0"/>
              <a:t>像</a:t>
            </a:r>
            <a:r>
              <a:rPr spc="-5" dirty="0"/>
              <a:t>表示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85586" y="1155090"/>
            <a:ext cx="2845870" cy="396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53096" y="1145946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7344" y="1349908"/>
            <a:ext cx="2083435" cy="201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设计卷积核组；</a:t>
            </a:r>
            <a:endParaRPr sz="1200">
              <a:latin typeface="黑体"/>
              <a:cs typeface="黑体"/>
            </a:endParaRPr>
          </a:p>
          <a:p>
            <a:pPr marL="241300" marR="5080" indent="-228600" algn="just">
              <a:lnSpc>
                <a:spcPct val="190100"/>
              </a:lnSpc>
              <a:spcBef>
                <a:spcPts val="285"/>
              </a:spcBef>
              <a:buAutoNum type="arabicPeriod"/>
              <a:tabLst>
                <a:tab pos="241300" algn="l"/>
              </a:tabLst>
            </a:pPr>
            <a:r>
              <a:rPr sz="1200" spc="-5" dirty="0">
                <a:latin typeface="黑体"/>
                <a:cs typeface="黑体"/>
              </a:rPr>
              <a:t>利用卷积核组对图像进行卷 </a:t>
            </a:r>
            <a:r>
              <a:rPr sz="1200" dirty="0">
                <a:latin typeface="黑体"/>
                <a:cs typeface="黑体"/>
              </a:rPr>
              <a:t>积操作获得对应的特征响应 图</a:t>
            </a:r>
            <a:r>
              <a:rPr sz="1200" spc="-5" dirty="0">
                <a:latin typeface="黑体"/>
                <a:cs typeface="黑体"/>
              </a:rPr>
              <a:t>组</a:t>
            </a:r>
            <a:r>
              <a:rPr sz="1200" dirty="0">
                <a:latin typeface="黑体"/>
                <a:cs typeface="黑体"/>
              </a:rPr>
              <a:t>;</a:t>
            </a:r>
            <a:endParaRPr sz="1200">
              <a:latin typeface="黑体"/>
              <a:cs typeface="黑体"/>
            </a:endParaRPr>
          </a:p>
          <a:p>
            <a:pPr marL="241300" marR="5080" indent="-228600" algn="just">
              <a:lnSpc>
                <a:spcPct val="190000"/>
              </a:lnSpc>
              <a:spcBef>
                <a:spcPts val="29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利用特征响应图的某种统计 信息来表示图像中的纹理。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88075" y="1590954"/>
            <a:ext cx="2854452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85155" y="1603146"/>
            <a:ext cx="405383" cy="4892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78805" y="1596796"/>
            <a:ext cx="418465" cy="502284"/>
          </a:xfrm>
          <a:custGeom>
            <a:avLst/>
            <a:gdLst/>
            <a:ahLst/>
            <a:cxnLst/>
            <a:rect l="l" t="t" r="r" b="b"/>
            <a:pathLst>
              <a:path w="418464" h="502285">
                <a:moveTo>
                  <a:pt x="0" y="501904"/>
                </a:moveTo>
                <a:lnTo>
                  <a:pt x="418083" y="501904"/>
                </a:lnTo>
                <a:lnTo>
                  <a:pt x="418083" y="0"/>
                </a:lnTo>
                <a:lnTo>
                  <a:pt x="0" y="0"/>
                </a:lnTo>
                <a:lnTo>
                  <a:pt x="0" y="50190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05146" y="1020216"/>
            <a:ext cx="3469004" cy="2453640"/>
          </a:xfrm>
          <a:custGeom>
            <a:avLst/>
            <a:gdLst/>
            <a:ahLst/>
            <a:cxnLst/>
            <a:rect l="l" t="t" r="r" b="b"/>
            <a:pathLst>
              <a:path w="3469004" h="2453640">
                <a:moveTo>
                  <a:pt x="0" y="2453640"/>
                </a:moveTo>
                <a:lnTo>
                  <a:pt x="3468624" y="2453640"/>
                </a:lnTo>
                <a:lnTo>
                  <a:pt x="3468624" y="0"/>
                </a:lnTo>
                <a:lnTo>
                  <a:pt x="0" y="0"/>
                </a:lnTo>
                <a:lnTo>
                  <a:pt x="0" y="24536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基</a:t>
            </a:r>
            <a:r>
              <a:rPr spc="5" dirty="0"/>
              <a:t>于</a:t>
            </a:r>
            <a:r>
              <a:rPr spc="-5" dirty="0"/>
              <a:t>卷积核组的图</a:t>
            </a:r>
            <a:r>
              <a:rPr spc="5" dirty="0"/>
              <a:t>像</a:t>
            </a:r>
            <a:r>
              <a:rPr spc="-5" dirty="0"/>
              <a:t>表示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5586" y="1061015"/>
            <a:ext cx="2845870" cy="396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53096" y="1051871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7344" y="1255325"/>
            <a:ext cx="20828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设计卷积核组；</a:t>
            </a:r>
            <a:endParaRPr sz="1200">
              <a:latin typeface="黑体"/>
              <a:cs typeface="黑体"/>
            </a:endParaRPr>
          </a:p>
          <a:p>
            <a:pPr marL="241300" marR="5080" indent="-228600">
              <a:lnSpc>
                <a:spcPct val="190000"/>
              </a:lnSpc>
              <a:spcBef>
                <a:spcPts val="285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利用卷积核组对图像进行卷 积操作获得对应的特征响应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5944" y="2334571"/>
            <a:ext cx="40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图</a:t>
            </a:r>
            <a:r>
              <a:rPr sz="1200" spc="-5" dirty="0">
                <a:latin typeface="黑体"/>
                <a:cs typeface="黑体"/>
              </a:rPr>
              <a:t>组</a:t>
            </a:r>
            <a:r>
              <a:rPr sz="1200" dirty="0">
                <a:latin typeface="黑体"/>
                <a:cs typeface="黑体"/>
              </a:rPr>
              <a:t>;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4" y="2718619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3.</a:t>
            </a:r>
            <a:r>
              <a:rPr sz="1200" spc="-90" dirty="0">
                <a:latin typeface="黑体"/>
                <a:cs typeface="黑体"/>
              </a:rPr>
              <a:t> </a:t>
            </a:r>
            <a:r>
              <a:rPr sz="1200" dirty="0">
                <a:latin typeface="黑体"/>
                <a:cs typeface="黑体"/>
              </a:rPr>
              <a:t>利用特征响应图的某种统计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5944" y="3066091"/>
            <a:ext cx="1854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信息来表示图像中的纹理。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88076" y="1496879"/>
            <a:ext cx="2854452" cy="487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85156" y="1509071"/>
            <a:ext cx="405383" cy="4892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78806" y="1502721"/>
            <a:ext cx="418465" cy="502284"/>
          </a:xfrm>
          <a:custGeom>
            <a:avLst/>
            <a:gdLst/>
            <a:ahLst/>
            <a:cxnLst/>
            <a:rect l="l" t="t" r="r" b="b"/>
            <a:pathLst>
              <a:path w="418464" h="502285">
                <a:moveTo>
                  <a:pt x="0" y="501903"/>
                </a:moveTo>
                <a:lnTo>
                  <a:pt x="418083" y="501903"/>
                </a:lnTo>
                <a:lnTo>
                  <a:pt x="418083" y="0"/>
                </a:lnTo>
                <a:lnTo>
                  <a:pt x="0" y="0"/>
                </a:lnTo>
                <a:lnTo>
                  <a:pt x="0" y="501903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64479" y="1985321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77482" y="1985321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79818" y="1985321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94347" y="1986845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11923" y="1985321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99018" y="1999037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01355" y="1985321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05146" y="926141"/>
            <a:ext cx="3469004" cy="2453640"/>
          </a:xfrm>
          <a:custGeom>
            <a:avLst/>
            <a:gdLst/>
            <a:ahLst/>
            <a:cxnLst/>
            <a:rect l="l" t="t" r="r" b="b"/>
            <a:pathLst>
              <a:path w="3469004" h="2453640">
                <a:moveTo>
                  <a:pt x="0" y="2453639"/>
                </a:moveTo>
                <a:lnTo>
                  <a:pt x="3468624" y="2453639"/>
                </a:lnTo>
                <a:lnTo>
                  <a:pt x="3468624" y="0"/>
                </a:lnTo>
                <a:lnTo>
                  <a:pt x="0" y="0"/>
                </a:lnTo>
                <a:lnTo>
                  <a:pt x="0" y="245363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886960" y="278441"/>
            <a:ext cx="24085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基</a:t>
            </a:r>
            <a:r>
              <a:rPr spc="5" dirty="0"/>
              <a:t>于</a:t>
            </a:r>
            <a:r>
              <a:rPr spc="-5" dirty="0"/>
              <a:t>卷积核组的图</a:t>
            </a:r>
            <a:r>
              <a:rPr spc="5" dirty="0"/>
              <a:t>像</a:t>
            </a:r>
            <a:r>
              <a:rPr spc="-5" dirty="0"/>
              <a:t>表示</a:t>
            </a:r>
          </a:p>
        </p:txBody>
      </p:sp>
      <p:sp>
        <p:nvSpPr>
          <p:cNvPr id="27" name="矩形 26"/>
          <p:cNvSpPr/>
          <p:nvPr/>
        </p:nvSpPr>
        <p:spPr>
          <a:xfrm>
            <a:off x="3533125" y="2971522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smtClean="0">
                <a:latin typeface="黑体"/>
                <a:cs typeface="黑体"/>
              </a:rPr>
              <a:t>Ri</a:t>
            </a:r>
            <a:r>
              <a:rPr lang="zh-CN" altLang="en-US" sz="1200" b="1" smtClean="0">
                <a:latin typeface="黑体"/>
                <a:cs typeface="黑体"/>
              </a:rPr>
              <a:t>第</a:t>
            </a:r>
            <a:r>
              <a:rPr lang="en-US" altLang="zh-CN" sz="1200" b="1">
                <a:latin typeface="黑体"/>
                <a:cs typeface="黑体"/>
              </a:rPr>
              <a:t>i</a:t>
            </a:r>
            <a:r>
              <a:rPr lang="zh-CN" altLang="en-US" sz="1200" b="1">
                <a:latin typeface="黑体"/>
                <a:cs typeface="黑体"/>
              </a:rPr>
              <a:t>个特征响应图的均值</a:t>
            </a:r>
          </a:p>
        </p:txBody>
      </p:sp>
      <p:sp>
        <p:nvSpPr>
          <p:cNvPr id="28" name="矩形 27"/>
          <p:cNvSpPr/>
          <p:nvPr/>
        </p:nvSpPr>
        <p:spPr>
          <a:xfrm>
            <a:off x="3202627" y="2208643"/>
            <a:ext cx="28777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smtClean="0">
                <a:latin typeface="黑体"/>
                <a:cs typeface="黑体"/>
              </a:rPr>
              <a:t>R1    R2   R3    R4    R5   R6   R7</a:t>
            </a:r>
            <a:endParaRPr lang="zh-CN" altLang="en-US"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85586" y="1155090"/>
            <a:ext cx="2845870" cy="396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53096" y="1145946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7344" y="1349908"/>
            <a:ext cx="2082800" cy="59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黑体"/>
                <a:cs typeface="黑体"/>
              </a:rPr>
              <a:t>设计卷积核组；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"/>
              <a:buAutoNum type="arabicPeriod"/>
            </a:pPr>
            <a:endParaRPr sz="13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200" spc="-5" dirty="0">
                <a:latin typeface="黑体"/>
                <a:cs typeface="黑体"/>
              </a:rPr>
              <a:t>利用卷积核组对图像进行卷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5944" y="2081809"/>
            <a:ext cx="1854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积操作获得对应的特征响应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5944" y="2429281"/>
            <a:ext cx="40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图</a:t>
            </a:r>
            <a:r>
              <a:rPr sz="1200" spc="-5" dirty="0">
                <a:latin typeface="黑体"/>
                <a:cs typeface="黑体"/>
              </a:rPr>
              <a:t>组</a:t>
            </a:r>
            <a:r>
              <a:rPr sz="1200" dirty="0">
                <a:latin typeface="黑体"/>
                <a:cs typeface="黑体"/>
              </a:rPr>
              <a:t>;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4" y="2813329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3.</a:t>
            </a:r>
            <a:r>
              <a:rPr sz="1200" spc="-90" dirty="0">
                <a:latin typeface="黑体"/>
                <a:cs typeface="黑体"/>
              </a:rPr>
              <a:t> </a:t>
            </a:r>
            <a:r>
              <a:rPr sz="1200" dirty="0">
                <a:latin typeface="黑体"/>
                <a:cs typeface="黑体"/>
              </a:rPr>
              <a:t>利用特征响应图的某种统计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944" y="3160801"/>
            <a:ext cx="1854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信息来表示图像中的纹理。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88075" y="1590954"/>
            <a:ext cx="2854452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85155" y="1603146"/>
            <a:ext cx="405383" cy="4892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78805" y="1596796"/>
            <a:ext cx="418465" cy="502284"/>
          </a:xfrm>
          <a:custGeom>
            <a:avLst/>
            <a:gdLst/>
            <a:ahLst/>
            <a:cxnLst/>
            <a:rect l="l" t="t" r="r" b="b"/>
            <a:pathLst>
              <a:path w="418464" h="502285">
                <a:moveTo>
                  <a:pt x="0" y="501904"/>
                </a:moveTo>
                <a:lnTo>
                  <a:pt x="418083" y="501904"/>
                </a:lnTo>
                <a:lnTo>
                  <a:pt x="418083" y="0"/>
                </a:lnTo>
                <a:lnTo>
                  <a:pt x="0" y="0"/>
                </a:lnTo>
                <a:lnTo>
                  <a:pt x="0" y="50190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4478" y="2079396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77482" y="2079396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79818" y="2079396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94347" y="2080920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11922" y="2079396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99018" y="2093112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01354" y="2079396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45480" y="2191486"/>
            <a:ext cx="369570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1650"/>
              </a:lnSpc>
              <a:spcBef>
                <a:spcPts val="105"/>
              </a:spcBef>
            </a:pPr>
            <a:r>
              <a:rPr sz="1400" dirty="0">
                <a:solidFill>
                  <a:srgbClr val="FF0000"/>
                </a:solidFill>
                <a:latin typeface="黑体"/>
                <a:cs typeface="黑体"/>
              </a:rPr>
              <a:t>图像</a:t>
            </a:r>
            <a:endParaRPr sz="1400">
              <a:latin typeface="黑体"/>
              <a:cs typeface="黑体"/>
            </a:endParaRPr>
          </a:p>
          <a:p>
            <a:pPr>
              <a:lnSpc>
                <a:spcPts val="1650"/>
              </a:lnSpc>
            </a:pPr>
            <a:r>
              <a:rPr sz="1400" dirty="0">
                <a:solidFill>
                  <a:srgbClr val="FF0000"/>
                </a:solidFill>
                <a:latin typeface="黑体"/>
                <a:cs typeface="黑体"/>
              </a:rPr>
              <a:t>表示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605146" y="1020216"/>
            <a:ext cx="3469004" cy="2453640"/>
          </a:xfrm>
          <a:custGeom>
            <a:avLst/>
            <a:gdLst/>
            <a:ahLst/>
            <a:cxnLst/>
            <a:rect l="l" t="t" r="r" b="b"/>
            <a:pathLst>
              <a:path w="3469004" h="2453640">
                <a:moveTo>
                  <a:pt x="0" y="2453640"/>
                </a:moveTo>
                <a:lnTo>
                  <a:pt x="3468624" y="2453640"/>
                </a:lnTo>
                <a:lnTo>
                  <a:pt x="3468624" y="0"/>
                </a:lnTo>
                <a:lnTo>
                  <a:pt x="0" y="0"/>
                </a:lnTo>
                <a:lnTo>
                  <a:pt x="0" y="24536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基</a:t>
            </a:r>
            <a:r>
              <a:rPr spc="5" dirty="0"/>
              <a:t>于</a:t>
            </a:r>
            <a:r>
              <a:rPr spc="-5" dirty="0"/>
              <a:t>卷积核组的图</a:t>
            </a:r>
            <a:r>
              <a:rPr spc="5" dirty="0"/>
              <a:t>像</a:t>
            </a:r>
            <a:r>
              <a:rPr spc="-5" dirty="0"/>
              <a:t>表示</a:t>
            </a:r>
          </a:p>
        </p:txBody>
      </p:sp>
      <p:sp>
        <p:nvSpPr>
          <p:cNvPr id="39" name="矩形 38"/>
          <p:cNvSpPr/>
          <p:nvPr/>
        </p:nvSpPr>
        <p:spPr>
          <a:xfrm>
            <a:off x="3202627" y="2208643"/>
            <a:ext cx="28777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smtClean="0">
                <a:solidFill>
                  <a:srgbClr val="FF0000"/>
                </a:solidFill>
                <a:latin typeface="黑体"/>
                <a:cs typeface="黑体"/>
              </a:rPr>
              <a:t>R1    R2   R3    R4    R5   R6   R7</a:t>
            </a:r>
            <a:endParaRPr lang="zh-CN" altLang="en-US" sz="1200">
              <a:solidFill>
                <a:srgbClr val="FF0000"/>
              </a:solidFill>
              <a:latin typeface="黑体"/>
              <a:cs typeface="黑体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33125" y="2971522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smtClean="0">
                <a:latin typeface="黑体"/>
                <a:cs typeface="黑体"/>
              </a:rPr>
              <a:t>Ri</a:t>
            </a:r>
            <a:r>
              <a:rPr lang="zh-CN" altLang="en-US" sz="1200" b="1" smtClean="0">
                <a:latin typeface="黑体"/>
                <a:cs typeface="黑体"/>
              </a:rPr>
              <a:t>第</a:t>
            </a:r>
            <a:r>
              <a:rPr lang="en-US" altLang="zh-CN" sz="1200" b="1">
                <a:latin typeface="黑体"/>
                <a:cs typeface="黑体"/>
              </a:rPr>
              <a:t>i</a:t>
            </a:r>
            <a:r>
              <a:rPr lang="zh-CN" altLang="en-US" sz="1200" b="1">
                <a:latin typeface="黑体"/>
                <a:cs typeface="黑体"/>
              </a:rPr>
              <a:t>个特征响应图的均值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83197" y="1245419"/>
            <a:ext cx="249381" cy="295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83425" y="1251515"/>
            <a:ext cx="249381" cy="2953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0605" y="1243895"/>
            <a:ext cx="249381" cy="2953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15024" y="1251515"/>
            <a:ext cx="612648" cy="3093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66712" y="1251515"/>
            <a:ext cx="304800" cy="307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42556" y="1245419"/>
            <a:ext cx="304800" cy="307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15077" y="319843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小游戏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12388" y="1851971"/>
            <a:ext cx="723900" cy="5425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2388" y="2481383"/>
            <a:ext cx="742188" cy="556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12388" y="1224083"/>
            <a:ext cx="723900" cy="542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94913" y="1438713"/>
            <a:ext cx="343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0892" y="2016944"/>
            <a:ext cx="343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10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2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4913" y="2660072"/>
            <a:ext cx="343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6337" y="1280598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积核组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9793" y="1873688"/>
            <a:ext cx="59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纹</a:t>
            </a:r>
            <a:r>
              <a:rPr sz="1000" spc="-5" dirty="0">
                <a:latin typeface="黑体"/>
                <a:cs typeface="黑体"/>
              </a:rPr>
              <a:t>理表</a:t>
            </a:r>
            <a:r>
              <a:rPr sz="1000" spc="5" dirty="0">
                <a:latin typeface="黑体"/>
                <a:cs typeface="黑体"/>
              </a:rPr>
              <a:t>示</a:t>
            </a:r>
            <a:r>
              <a:rPr sz="1000" spc="-5" dirty="0">
                <a:latin typeface="黑体"/>
                <a:cs typeface="黑体"/>
              </a:rPr>
              <a:t>A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1699" y="2396166"/>
            <a:ext cx="59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纹</a:t>
            </a:r>
            <a:r>
              <a:rPr sz="1000" spc="-5" dirty="0">
                <a:latin typeface="黑体"/>
                <a:cs typeface="黑体"/>
              </a:rPr>
              <a:t>理表</a:t>
            </a:r>
            <a:r>
              <a:rPr sz="1000" spc="5" dirty="0">
                <a:latin typeface="黑体"/>
                <a:cs typeface="黑体"/>
              </a:rPr>
              <a:t>示</a:t>
            </a:r>
            <a:r>
              <a:rPr sz="1000" spc="-5" dirty="0">
                <a:latin typeface="黑体"/>
                <a:cs typeface="黑体"/>
              </a:rPr>
              <a:t>B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79131" y="2874067"/>
            <a:ext cx="59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纹</a:t>
            </a:r>
            <a:r>
              <a:rPr sz="1000" spc="-5" dirty="0">
                <a:latin typeface="黑体"/>
                <a:cs typeface="黑体"/>
              </a:rPr>
              <a:t>理表</a:t>
            </a:r>
            <a:r>
              <a:rPr sz="1000" dirty="0">
                <a:latin typeface="黑体"/>
                <a:cs typeface="黑体"/>
              </a:rPr>
              <a:t>示</a:t>
            </a:r>
            <a:r>
              <a:rPr sz="1000" spc="-5" dirty="0">
                <a:latin typeface="黑体"/>
                <a:cs typeface="黑体"/>
              </a:rPr>
              <a:t>C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53964" y="1754435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solidFill>
            <a:srgbClr val="8585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53964" y="1754435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ln w="12699">
            <a:solidFill>
              <a:srgbClr val="0094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04256" y="1794059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98387" y="1794059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80328" y="1794059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53124" y="180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25919" y="180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00240" y="180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74560" y="180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55488" y="2857811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solidFill>
            <a:srgbClr val="8585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55488" y="2857811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ln w="12699">
            <a:solidFill>
              <a:srgbClr val="0094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05780" y="289591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99912" y="289591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81852" y="289743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954648" y="290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27443" y="290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03287" y="290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77607" y="290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53964" y="2316791"/>
            <a:ext cx="1993900" cy="302260"/>
          </a:xfrm>
          <a:custGeom>
            <a:avLst/>
            <a:gdLst/>
            <a:ahLst/>
            <a:cxnLst/>
            <a:rect l="l" t="t" r="r" b="b"/>
            <a:pathLst>
              <a:path w="1993900" h="302260">
                <a:moveTo>
                  <a:pt x="0" y="301751"/>
                </a:moveTo>
                <a:lnTo>
                  <a:pt x="1993391" y="301751"/>
                </a:lnTo>
                <a:lnTo>
                  <a:pt x="1993391" y="0"/>
                </a:lnTo>
                <a:lnTo>
                  <a:pt x="0" y="0"/>
                </a:lnTo>
                <a:lnTo>
                  <a:pt x="0" y="301751"/>
                </a:lnTo>
                <a:close/>
              </a:path>
            </a:pathLst>
          </a:custGeom>
          <a:solidFill>
            <a:srgbClr val="8585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53964" y="2316791"/>
            <a:ext cx="1993900" cy="302260"/>
          </a:xfrm>
          <a:custGeom>
            <a:avLst/>
            <a:gdLst/>
            <a:ahLst/>
            <a:cxnLst/>
            <a:rect l="l" t="t" r="r" b="b"/>
            <a:pathLst>
              <a:path w="1993900" h="302260">
                <a:moveTo>
                  <a:pt x="0" y="301751"/>
                </a:moveTo>
                <a:lnTo>
                  <a:pt x="1993391" y="301751"/>
                </a:lnTo>
                <a:lnTo>
                  <a:pt x="1993391" y="0"/>
                </a:lnTo>
                <a:lnTo>
                  <a:pt x="0" y="0"/>
                </a:lnTo>
                <a:lnTo>
                  <a:pt x="0" y="301751"/>
                </a:lnTo>
                <a:close/>
              </a:path>
            </a:pathLst>
          </a:custGeom>
          <a:ln w="12700">
            <a:solidFill>
              <a:srgbClr val="0094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04256" y="235489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98387" y="235489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680328" y="235641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953124" y="236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25919" y="236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00240" y="236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774560" y="236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37050" y="1907597"/>
            <a:ext cx="1217930" cy="217804"/>
          </a:xfrm>
          <a:custGeom>
            <a:avLst/>
            <a:gdLst/>
            <a:ahLst/>
            <a:cxnLst/>
            <a:rect l="l" t="t" r="r" b="b"/>
            <a:pathLst>
              <a:path w="1217930" h="217805">
                <a:moveTo>
                  <a:pt x="0" y="217550"/>
                </a:moveTo>
                <a:lnTo>
                  <a:pt x="1217929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37050" y="2482145"/>
            <a:ext cx="1217930" cy="363855"/>
          </a:xfrm>
          <a:custGeom>
            <a:avLst/>
            <a:gdLst/>
            <a:ahLst/>
            <a:cxnLst/>
            <a:rect l="l" t="t" r="r" b="b"/>
            <a:pathLst>
              <a:path w="1217930" h="363855">
                <a:moveTo>
                  <a:pt x="0" y="363728"/>
                </a:moveTo>
                <a:lnTo>
                  <a:pt x="121792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37050" y="1496117"/>
            <a:ext cx="1219835" cy="1514475"/>
          </a:xfrm>
          <a:custGeom>
            <a:avLst/>
            <a:gdLst/>
            <a:ahLst/>
            <a:cxnLst/>
            <a:rect l="l" t="t" r="r" b="b"/>
            <a:pathLst>
              <a:path w="1219835" h="1514475">
                <a:moveTo>
                  <a:pt x="0" y="0"/>
                </a:moveTo>
                <a:lnTo>
                  <a:pt x="1219580" y="15142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0205" y="366928"/>
            <a:ext cx="3099435" cy="2290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429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卷积</a:t>
            </a:r>
            <a:r>
              <a:rPr sz="1800" b="1" spc="-10" dirty="0">
                <a:latin typeface="黑体"/>
                <a:cs typeface="黑体"/>
              </a:rPr>
              <a:t>核</a:t>
            </a:r>
            <a:r>
              <a:rPr sz="1800" b="1" dirty="0">
                <a:latin typeface="黑体"/>
                <a:cs typeface="黑体"/>
              </a:rPr>
              <a:t>组</a:t>
            </a:r>
            <a:r>
              <a:rPr sz="1800" b="1" spc="-10" dirty="0">
                <a:latin typeface="黑体"/>
                <a:cs typeface="黑体"/>
              </a:rPr>
              <a:t>设计</a:t>
            </a:r>
            <a:endParaRPr sz="18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5" dirty="0">
                <a:latin typeface="黑体"/>
                <a:cs typeface="黑体"/>
              </a:rPr>
              <a:t>设</a:t>
            </a:r>
            <a:r>
              <a:rPr sz="1400" dirty="0">
                <a:latin typeface="黑体"/>
                <a:cs typeface="黑体"/>
              </a:rPr>
              <a:t>计</a:t>
            </a:r>
            <a:r>
              <a:rPr sz="1400" spc="5" dirty="0">
                <a:latin typeface="黑体"/>
                <a:cs typeface="黑体"/>
              </a:rPr>
              <a:t>重</a:t>
            </a:r>
            <a:r>
              <a:rPr sz="1400" spc="-15" dirty="0">
                <a:latin typeface="黑体"/>
                <a:cs typeface="黑体"/>
              </a:rPr>
              <a:t>点</a:t>
            </a:r>
            <a:r>
              <a:rPr sz="1400" spc="5" dirty="0">
                <a:latin typeface="黑体"/>
                <a:cs typeface="黑体"/>
              </a:rPr>
              <a:t>：</a:t>
            </a:r>
            <a:endParaRPr sz="1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400" dirty="0">
                <a:latin typeface="黑体"/>
                <a:cs typeface="黑体"/>
              </a:rPr>
              <a:t>卷积核</a:t>
            </a:r>
            <a:r>
              <a:rPr sz="1400" spc="-15" dirty="0">
                <a:latin typeface="黑体"/>
                <a:cs typeface="黑体"/>
              </a:rPr>
              <a:t>类</a:t>
            </a:r>
            <a:r>
              <a:rPr sz="1400" dirty="0">
                <a:latin typeface="黑体"/>
                <a:cs typeface="黑体"/>
              </a:rPr>
              <a:t>型（</a:t>
            </a:r>
            <a:r>
              <a:rPr sz="1400" spc="-15" dirty="0">
                <a:latin typeface="黑体"/>
                <a:cs typeface="黑体"/>
              </a:rPr>
              <a:t>边缘</a:t>
            </a:r>
            <a:r>
              <a:rPr sz="1400" dirty="0">
                <a:latin typeface="黑体"/>
                <a:cs typeface="黑体"/>
              </a:rPr>
              <a:t>、条形</a:t>
            </a:r>
            <a:r>
              <a:rPr sz="1400" spc="-15" dirty="0">
                <a:latin typeface="黑体"/>
                <a:cs typeface="黑体"/>
              </a:rPr>
              <a:t>以</a:t>
            </a:r>
            <a:r>
              <a:rPr sz="1400" dirty="0">
                <a:latin typeface="黑体"/>
                <a:cs typeface="黑体"/>
              </a:rPr>
              <a:t>及点</a:t>
            </a:r>
            <a:r>
              <a:rPr sz="1400" spc="-15" dirty="0">
                <a:latin typeface="黑体"/>
                <a:cs typeface="黑体"/>
              </a:rPr>
              <a:t>状</a:t>
            </a:r>
            <a:r>
              <a:rPr sz="1400" dirty="0">
                <a:latin typeface="黑体"/>
                <a:cs typeface="黑体"/>
              </a:rPr>
              <a:t>）</a:t>
            </a:r>
            <a:endParaRPr sz="1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1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400" dirty="0">
                <a:latin typeface="黑体"/>
                <a:cs typeface="黑体"/>
              </a:rPr>
              <a:t>卷积核</a:t>
            </a:r>
            <a:r>
              <a:rPr sz="1400" spc="-15" dirty="0">
                <a:latin typeface="黑体"/>
                <a:cs typeface="黑体"/>
              </a:rPr>
              <a:t>尺</a:t>
            </a:r>
            <a:r>
              <a:rPr sz="1400" dirty="0">
                <a:latin typeface="黑体"/>
                <a:cs typeface="黑体"/>
              </a:rPr>
              <a:t>度</a:t>
            </a:r>
            <a:r>
              <a:rPr sz="1400" spc="-5" dirty="0">
                <a:latin typeface="黑体"/>
                <a:cs typeface="黑体"/>
              </a:rPr>
              <a:t>（3-6</a:t>
            </a:r>
            <a:r>
              <a:rPr sz="1400" dirty="0">
                <a:latin typeface="黑体"/>
                <a:cs typeface="黑体"/>
              </a:rPr>
              <a:t>个尺度）</a:t>
            </a:r>
            <a:endParaRPr sz="1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1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400" dirty="0">
                <a:latin typeface="黑体"/>
                <a:cs typeface="黑体"/>
              </a:rPr>
              <a:t>卷积核</a:t>
            </a:r>
            <a:r>
              <a:rPr sz="1400" spc="-15" dirty="0">
                <a:latin typeface="黑体"/>
                <a:cs typeface="黑体"/>
              </a:rPr>
              <a:t>方</a:t>
            </a:r>
            <a:r>
              <a:rPr sz="1400" dirty="0">
                <a:latin typeface="黑体"/>
                <a:cs typeface="黑体"/>
              </a:rPr>
              <a:t>向</a:t>
            </a:r>
            <a:r>
              <a:rPr sz="1400" spc="-5" dirty="0">
                <a:latin typeface="黑体"/>
                <a:cs typeface="黑体"/>
              </a:rPr>
              <a:t>（6</a:t>
            </a:r>
            <a:r>
              <a:rPr sz="1400" dirty="0">
                <a:latin typeface="黑体"/>
                <a:cs typeface="黑体"/>
              </a:rPr>
              <a:t>个</a:t>
            </a:r>
            <a:r>
              <a:rPr sz="1400" spc="-15" dirty="0">
                <a:latin typeface="黑体"/>
                <a:cs typeface="黑体"/>
              </a:rPr>
              <a:t>角</a:t>
            </a:r>
            <a:r>
              <a:rPr sz="1400" dirty="0">
                <a:latin typeface="黑体"/>
                <a:cs typeface="黑体"/>
              </a:rPr>
              <a:t>度）</a:t>
            </a:r>
            <a:endParaRPr sz="1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89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66312" y="1202747"/>
            <a:ext cx="4176938" cy="141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6021" y="1635944"/>
            <a:ext cx="6489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黑体"/>
                <a:cs typeface="黑体"/>
              </a:rPr>
              <a:t>3</a:t>
            </a:r>
            <a:r>
              <a:rPr sz="1400" dirty="0">
                <a:solidFill>
                  <a:srgbClr val="FF0000"/>
                </a:solidFill>
                <a:latin typeface="黑体"/>
                <a:cs typeface="黑体"/>
              </a:rPr>
              <a:t>个尺寸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58286" y="1290377"/>
            <a:ext cx="208915" cy="914400"/>
          </a:xfrm>
          <a:custGeom>
            <a:avLst/>
            <a:gdLst/>
            <a:ahLst/>
            <a:cxnLst/>
            <a:rect l="l" t="t" r="r" b="b"/>
            <a:pathLst>
              <a:path w="208915" h="914400">
                <a:moveTo>
                  <a:pt x="208787" y="914400"/>
                </a:moveTo>
                <a:lnTo>
                  <a:pt x="168151" y="913038"/>
                </a:lnTo>
                <a:lnTo>
                  <a:pt x="134969" y="909320"/>
                </a:lnTo>
                <a:lnTo>
                  <a:pt x="112597" y="903791"/>
                </a:lnTo>
                <a:lnTo>
                  <a:pt x="104393" y="897001"/>
                </a:lnTo>
                <a:lnTo>
                  <a:pt x="104393" y="474599"/>
                </a:lnTo>
                <a:lnTo>
                  <a:pt x="96190" y="467808"/>
                </a:lnTo>
                <a:lnTo>
                  <a:pt x="73818" y="462279"/>
                </a:lnTo>
                <a:lnTo>
                  <a:pt x="40636" y="458561"/>
                </a:lnTo>
                <a:lnTo>
                  <a:pt x="0" y="457200"/>
                </a:lnTo>
                <a:lnTo>
                  <a:pt x="40636" y="455838"/>
                </a:lnTo>
                <a:lnTo>
                  <a:pt x="73818" y="452120"/>
                </a:lnTo>
                <a:lnTo>
                  <a:pt x="96190" y="446591"/>
                </a:lnTo>
                <a:lnTo>
                  <a:pt x="104393" y="439800"/>
                </a:lnTo>
                <a:lnTo>
                  <a:pt x="104393" y="17399"/>
                </a:lnTo>
                <a:lnTo>
                  <a:pt x="112597" y="10608"/>
                </a:lnTo>
                <a:lnTo>
                  <a:pt x="134969" y="5079"/>
                </a:lnTo>
                <a:lnTo>
                  <a:pt x="168151" y="1361"/>
                </a:lnTo>
                <a:lnTo>
                  <a:pt x="208787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7074" y="971861"/>
            <a:ext cx="2101850" cy="231775"/>
          </a:xfrm>
          <a:custGeom>
            <a:avLst/>
            <a:gdLst/>
            <a:ahLst/>
            <a:cxnLst/>
            <a:rect l="l" t="t" r="r" b="b"/>
            <a:pathLst>
              <a:path w="2101850" h="231775">
                <a:moveTo>
                  <a:pt x="0" y="231648"/>
                </a:moveTo>
                <a:lnTo>
                  <a:pt x="1516" y="186547"/>
                </a:lnTo>
                <a:lnTo>
                  <a:pt x="5651" y="149733"/>
                </a:lnTo>
                <a:lnTo>
                  <a:pt x="11787" y="124920"/>
                </a:lnTo>
                <a:lnTo>
                  <a:pt x="19303" y="115824"/>
                </a:lnTo>
                <a:lnTo>
                  <a:pt x="1031494" y="115824"/>
                </a:lnTo>
                <a:lnTo>
                  <a:pt x="1039010" y="106727"/>
                </a:lnTo>
                <a:lnTo>
                  <a:pt x="1045146" y="81914"/>
                </a:lnTo>
                <a:lnTo>
                  <a:pt x="1049281" y="45100"/>
                </a:lnTo>
                <a:lnTo>
                  <a:pt x="1050798" y="0"/>
                </a:lnTo>
                <a:lnTo>
                  <a:pt x="1052314" y="45100"/>
                </a:lnTo>
                <a:lnTo>
                  <a:pt x="1056449" y="81914"/>
                </a:lnTo>
                <a:lnTo>
                  <a:pt x="1062585" y="106727"/>
                </a:lnTo>
                <a:lnTo>
                  <a:pt x="1070102" y="115824"/>
                </a:lnTo>
                <a:lnTo>
                  <a:pt x="2082291" y="115824"/>
                </a:lnTo>
                <a:lnTo>
                  <a:pt x="2089808" y="124920"/>
                </a:lnTo>
                <a:lnTo>
                  <a:pt x="2095944" y="149733"/>
                </a:lnTo>
                <a:lnTo>
                  <a:pt x="2100079" y="186547"/>
                </a:lnTo>
                <a:lnTo>
                  <a:pt x="2101596" y="23164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47616" y="693223"/>
            <a:ext cx="6489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黑体"/>
                <a:cs typeface="黑体"/>
              </a:rPr>
              <a:t>6</a:t>
            </a:r>
            <a:r>
              <a:rPr sz="1400" dirty="0">
                <a:solidFill>
                  <a:srgbClr val="FF0000"/>
                </a:solidFill>
                <a:latin typeface="黑体"/>
                <a:cs typeface="黑体"/>
              </a:rPr>
              <a:t>个方向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1382" y="1530153"/>
            <a:ext cx="740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黑体"/>
                <a:cs typeface="黑体"/>
              </a:rPr>
              <a:t>“</a:t>
            </a:r>
            <a:r>
              <a:rPr sz="1400" b="1" spc="5" dirty="0">
                <a:solidFill>
                  <a:srgbClr val="FF0000"/>
                </a:solidFill>
                <a:latin typeface="黑体"/>
                <a:cs typeface="黑体"/>
              </a:rPr>
              <a:t>边</a:t>
            </a:r>
            <a:r>
              <a:rPr sz="1400" b="1" spc="-5" dirty="0">
                <a:solidFill>
                  <a:srgbClr val="FF0000"/>
                </a:solidFill>
                <a:latin typeface="黑体"/>
                <a:cs typeface="黑体"/>
              </a:rPr>
              <a:t>缘”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522" y="1547552"/>
            <a:ext cx="740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黑体"/>
                <a:cs typeface="黑体"/>
              </a:rPr>
              <a:t>“</a:t>
            </a:r>
            <a:r>
              <a:rPr sz="1400" b="1" spc="5" dirty="0">
                <a:solidFill>
                  <a:srgbClr val="FF0000"/>
                </a:solidFill>
                <a:latin typeface="黑体"/>
                <a:cs typeface="黑体"/>
              </a:rPr>
              <a:t>条</a:t>
            </a:r>
            <a:r>
              <a:rPr sz="1400" b="1" spc="-5" dirty="0">
                <a:solidFill>
                  <a:srgbClr val="FF0000"/>
                </a:solidFill>
                <a:latin typeface="黑体"/>
                <a:cs typeface="黑体"/>
              </a:rPr>
              <a:t>状”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95926" y="2302821"/>
            <a:ext cx="1281430" cy="82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黑体"/>
                <a:cs typeface="黑体"/>
              </a:rPr>
              <a:t>“</a:t>
            </a:r>
            <a:r>
              <a:rPr sz="1400" b="1" spc="5" dirty="0">
                <a:solidFill>
                  <a:srgbClr val="FF0000"/>
                </a:solidFill>
                <a:latin typeface="黑体"/>
                <a:cs typeface="黑体"/>
              </a:rPr>
              <a:t>点</a:t>
            </a:r>
            <a:r>
              <a:rPr sz="1400" b="1" spc="-5" dirty="0">
                <a:solidFill>
                  <a:srgbClr val="FF0000"/>
                </a:solidFill>
                <a:latin typeface="黑体"/>
                <a:cs typeface="黑体"/>
              </a:rPr>
              <a:t>状”</a:t>
            </a:r>
            <a:endParaRPr sz="14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455930">
              <a:lnSpc>
                <a:spcPct val="100000"/>
              </a:lnSpc>
              <a:spcBef>
                <a:spcPts val="1080"/>
              </a:spcBef>
            </a:pPr>
            <a:r>
              <a:rPr sz="1600" spc="5" dirty="0">
                <a:latin typeface="黑体"/>
                <a:cs typeface="黑体"/>
              </a:rPr>
              <a:t>卷</a:t>
            </a:r>
            <a:r>
              <a:rPr sz="1600" spc="-5" dirty="0">
                <a:latin typeface="黑体"/>
                <a:cs typeface="黑体"/>
              </a:rPr>
              <a:t>积核组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99149" y="964241"/>
            <a:ext cx="2101850" cy="230504"/>
          </a:xfrm>
          <a:custGeom>
            <a:avLst/>
            <a:gdLst/>
            <a:ahLst/>
            <a:cxnLst/>
            <a:rect l="l" t="t" r="r" b="b"/>
            <a:pathLst>
              <a:path w="2101850" h="230505">
                <a:moveTo>
                  <a:pt x="0" y="230124"/>
                </a:moveTo>
                <a:lnTo>
                  <a:pt x="1514" y="185356"/>
                </a:lnTo>
                <a:lnTo>
                  <a:pt x="5635" y="148780"/>
                </a:lnTo>
                <a:lnTo>
                  <a:pt x="11733" y="124110"/>
                </a:lnTo>
                <a:lnTo>
                  <a:pt x="19176" y="115062"/>
                </a:lnTo>
                <a:lnTo>
                  <a:pt x="1031621" y="115062"/>
                </a:lnTo>
                <a:lnTo>
                  <a:pt x="1039064" y="106013"/>
                </a:lnTo>
                <a:lnTo>
                  <a:pt x="1045162" y="81343"/>
                </a:lnTo>
                <a:lnTo>
                  <a:pt x="1049283" y="44767"/>
                </a:lnTo>
                <a:lnTo>
                  <a:pt x="1050798" y="0"/>
                </a:lnTo>
                <a:lnTo>
                  <a:pt x="1052312" y="44767"/>
                </a:lnTo>
                <a:lnTo>
                  <a:pt x="1056433" y="81343"/>
                </a:lnTo>
                <a:lnTo>
                  <a:pt x="1062531" y="106013"/>
                </a:lnTo>
                <a:lnTo>
                  <a:pt x="1069975" y="115062"/>
                </a:lnTo>
                <a:lnTo>
                  <a:pt x="2082419" y="115062"/>
                </a:lnTo>
                <a:lnTo>
                  <a:pt x="2089862" y="124110"/>
                </a:lnTo>
                <a:lnTo>
                  <a:pt x="2095960" y="148780"/>
                </a:lnTo>
                <a:lnTo>
                  <a:pt x="2100081" y="185356"/>
                </a:lnTo>
                <a:lnTo>
                  <a:pt x="2101596" y="230124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054978" y="707193"/>
            <a:ext cx="6489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黑体"/>
                <a:cs typeface="黑体"/>
              </a:rPr>
              <a:t>6</a:t>
            </a:r>
            <a:r>
              <a:rPr sz="1400" dirty="0">
                <a:solidFill>
                  <a:srgbClr val="FF0000"/>
                </a:solidFill>
                <a:latin typeface="黑体"/>
                <a:cs typeface="黑体"/>
              </a:rPr>
              <a:t>个方向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6477" y="306127"/>
            <a:ext cx="117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实际</a:t>
            </a:r>
            <a:r>
              <a:rPr sz="1800" b="1" spc="-10" dirty="0">
                <a:latin typeface="黑体"/>
                <a:cs typeface="黑体"/>
              </a:rPr>
              <a:t>的</a:t>
            </a:r>
            <a:r>
              <a:rPr sz="1800" b="1" dirty="0">
                <a:latin typeface="黑体"/>
                <a:cs typeface="黑体"/>
              </a:rPr>
              <a:t>例</a:t>
            </a:r>
            <a:r>
              <a:rPr sz="1800" b="1" spc="-10" dirty="0">
                <a:latin typeface="黑体"/>
                <a:cs typeface="黑体"/>
              </a:rPr>
              <a:t>子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1" y="718464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9" y="3509670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534155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78375" y="1022502"/>
            <a:ext cx="2729965" cy="926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68850" y="1012977"/>
            <a:ext cx="2759710" cy="946150"/>
          </a:xfrm>
          <a:custGeom>
            <a:avLst/>
            <a:gdLst/>
            <a:ahLst/>
            <a:cxnLst/>
            <a:rect l="l" t="t" r="r" b="b"/>
            <a:pathLst>
              <a:path w="2759710" h="946150">
                <a:moveTo>
                  <a:pt x="0" y="945641"/>
                </a:moveTo>
                <a:lnTo>
                  <a:pt x="2759202" y="945641"/>
                </a:lnTo>
                <a:lnTo>
                  <a:pt x="2759202" y="0"/>
                </a:lnTo>
                <a:lnTo>
                  <a:pt x="0" y="0"/>
                </a:lnTo>
                <a:lnTo>
                  <a:pt x="0" y="945641"/>
                </a:lnTo>
                <a:close/>
              </a:path>
            </a:pathLst>
          </a:custGeom>
          <a:ln w="19050">
            <a:solidFill>
              <a:srgbClr val="0066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86477" y="400837"/>
            <a:ext cx="117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实际</a:t>
            </a:r>
            <a:r>
              <a:rPr sz="1800" b="1" spc="-10" dirty="0">
                <a:latin typeface="黑体"/>
                <a:cs typeface="黑体"/>
              </a:rPr>
              <a:t>的</a:t>
            </a:r>
            <a:r>
              <a:rPr sz="1800" b="1" dirty="0">
                <a:latin typeface="黑体"/>
                <a:cs typeface="黑体"/>
              </a:rPr>
              <a:t>例</a:t>
            </a:r>
            <a:r>
              <a:rPr sz="1800" b="1" spc="-10" dirty="0">
                <a:latin typeface="黑体"/>
                <a:cs typeface="黑体"/>
              </a:rPr>
              <a:t>子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87157" y="2023008"/>
            <a:ext cx="787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altLang="zh-CN" sz="1000" b="1">
                <a:latin typeface="黑体"/>
                <a:cs typeface="黑体"/>
              </a:rPr>
              <a:t>Ri</a:t>
            </a:r>
            <a:r>
              <a:rPr sz="1000" spc="-5" smtClean="0">
                <a:latin typeface="黑体"/>
                <a:cs typeface="黑体"/>
              </a:rPr>
              <a:t>第</a:t>
            </a:r>
            <a:r>
              <a:rPr sz="1000" spc="-10" dirty="0">
                <a:latin typeface="Cambria Math"/>
                <a:cs typeface="Cambria Math"/>
              </a:rPr>
              <a:t>i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特征 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均值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7915" y="2346858"/>
            <a:ext cx="406907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48452" y="2346858"/>
            <a:ext cx="406908" cy="4876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2243" y="2343810"/>
            <a:ext cx="406907" cy="4876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5893" y="2337460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4" h="500380">
                <a:moveTo>
                  <a:pt x="0" y="500380"/>
                </a:moveTo>
                <a:lnTo>
                  <a:pt x="419607" y="500380"/>
                </a:lnTo>
                <a:lnTo>
                  <a:pt x="419607" y="0"/>
                </a:lnTo>
                <a:lnTo>
                  <a:pt x="0" y="0"/>
                </a:lnTo>
                <a:lnTo>
                  <a:pt x="0" y="50038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10507" y="2468778"/>
            <a:ext cx="394970" cy="198120"/>
          </a:xfrm>
          <a:custGeom>
            <a:avLst/>
            <a:gdLst/>
            <a:ahLst/>
            <a:cxnLst/>
            <a:rect l="l" t="t" r="r" b="b"/>
            <a:pathLst>
              <a:path w="394969" h="198119">
                <a:moveTo>
                  <a:pt x="0" y="49530"/>
                </a:moveTo>
                <a:lnTo>
                  <a:pt x="295656" y="49530"/>
                </a:lnTo>
                <a:lnTo>
                  <a:pt x="295656" y="0"/>
                </a:lnTo>
                <a:lnTo>
                  <a:pt x="394716" y="99059"/>
                </a:lnTo>
                <a:lnTo>
                  <a:pt x="295656" y="198119"/>
                </a:lnTo>
                <a:lnTo>
                  <a:pt x="295656" y="148589"/>
                </a:lnTo>
                <a:lnTo>
                  <a:pt x="0" y="148589"/>
                </a:lnTo>
                <a:lnTo>
                  <a:pt x="0" y="4953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12331" y="2448966"/>
            <a:ext cx="394970" cy="198120"/>
          </a:xfrm>
          <a:custGeom>
            <a:avLst/>
            <a:gdLst/>
            <a:ahLst/>
            <a:cxnLst/>
            <a:rect l="l" t="t" r="r" b="b"/>
            <a:pathLst>
              <a:path w="394970" h="198119">
                <a:moveTo>
                  <a:pt x="0" y="49530"/>
                </a:moveTo>
                <a:lnTo>
                  <a:pt x="295655" y="49530"/>
                </a:lnTo>
                <a:lnTo>
                  <a:pt x="295655" y="0"/>
                </a:lnTo>
                <a:lnTo>
                  <a:pt x="394715" y="99060"/>
                </a:lnTo>
                <a:lnTo>
                  <a:pt x="295655" y="198119"/>
                </a:lnTo>
                <a:lnTo>
                  <a:pt x="295655" y="148589"/>
                </a:lnTo>
                <a:lnTo>
                  <a:pt x="0" y="148589"/>
                </a:lnTo>
                <a:lnTo>
                  <a:pt x="0" y="4953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237227" y="1985833"/>
            <a:ext cx="1092200" cy="1188720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2640"/>
              </a:spcBef>
            </a:pPr>
            <a:r>
              <a:rPr sz="3600" dirty="0">
                <a:solidFill>
                  <a:srgbClr val="FF0000"/>
                </a:solidFill>
                <a:latin typeface="Cambria Math"/>
                <a:cs typeface="Cambria Math"/>
              </a:rPr>
              <a:t>⋯</a:t>
            </a:r>
            <a:endParaRPr sz="3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200" spc="-5" dirty="0">
                <a:latin typeface="黑体"/>
                <a:cs typeface="黑体"/>
              </a:rPr>
              <a:t>48个特征响应图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80655" y="2770026"/>
            <a:ext cx="11201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mtClean="0">
                <a:solidFill>
                  <a:srgbClr val="FF0000"/>
                </a:solidFill>
                <a:latin typeface="黑体"/>
                <a:cs typeface="黑体"/>
              </a:rPr>
              <a:t>48维向量表示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5873" y="1143025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卷积核组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1833" y="2268321"/>
            <a:ext cx="534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积核组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98086" y="2409526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smtClean="0">
                <a:solidFill>
                  <a:srgbClr val="FF0000"/>
                </a:solidFill>
                <a:latin typeface="黑体"/>
                <a:cs typeface="黑体"/>
              </a:rPr>
              <a:t>R1 … R48</a:t>
            </a:r>
            <a:endParaRPr lang="zh-CN" altLang="en-US" sz="1200">
              <a:solidFill>
                <a:srgbClr val="FF0000"/>
              </a:solidFill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82" y="624390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0" y="3415596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20" y="3415596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721" y="343947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6894" y="1269549"/>
            <a:ext cx="3735456" cy="8585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设</a:t>
            </a:r>
            <a:r>
              <a:rPr sz="1000" spc="-5" dirty="0">
                <a:latin typeface="黑体"/>
                <a:cs typeface="黑体"/>
              </a:rPr>
              <a:t>计卷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r>
              <a:rPr sz="1000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buFont typeface=""/>
              <a:buAutoNum type="arabicPeriod"/>
            </a:pPr>
            <a:endParaRPr sz="12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利</a:t>
            </a:r>
            <a:r>
              <a:rPr sz="1000" spc="-5" dirty="0">
                <a:latin typeface="黑体"/>
                <a:cs typeface="黑体"/>
              </a:rPr>
              <a:t>用卷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核组</a:t>
            </a: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图像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操作</a:t>
            </a:r>
            <a:r>
              <a:rPr sz="1000" spc="5" dirty="0">
                <a:latin typeface="黑体"/>
                <a:cs typeface="黑体"/>
              </a:rPr>
              <a:t>获</a:t>
            </a:r>
            <a:r>
              <a:rPr sz="1000" spc="-5" dirty="0">
                <a:latin typeface="黑体"/>
                <a:cs typeface="黑体"/>
              </a:rPr>
              <a:t>得对</a:t>
            </a:r>
            <a:r>
              <a:rPr sz="1000" spc="5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的特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10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"/>
              <a:buAutoNum type="arabicPeriod"/>
            </a:pPr>
            <a:endParaRPr sz="12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利</a:t>
            </a:r>
            <a:r>
              <a:rPr sz="1000" spc="-5" dirty="0">
                <a:latin typeface="黑体"/>
                <a:cs typeface="黑体"/>
              </a:rPr>
              <a:t>用特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的某</a:t>
            </a:r>
            <a:r>
              <a:rPr sz="1000" spc="5" dirty="0">
                <a:latin typeface="黑体"/>
                <a:cs typeface="黑体"/>
              </a:rPr>
              <a:t>种</a:t>
            </a:r>
            <a:r>
              <a:rPr sz="1000" spc="-5" dirty="0">
                <a:latin typeface="黑体"/>
                <a:cs typeface="黑体"/>
              </a:rPr>
              <a:t>统计</a:t>
            </a:r>
            <a:r>
              <a:rPr sz="1000" spc="5" dirty="0">
                <a:latin typeface="黑体"/>
                <a:cs typeface="黑体"/>
              </a:rPr>
              <a:t>信</a:t>
            </a:r>
            <a:r>
              <a:rPr sz="1000" spc="-5" dirty="0">
                <a:latin typeface="黑体"/>
                <a:cs typeface="黑体"/>
              </a:rPr>
              <a:t>息来</a:t>
            </a:r>
            <a:r>
              <a:rPr sz="1000" spc="5" dirty="0">
                <a:latin typeface="黑体"/>
                <a:cs typeface="黑体"/>
              </a:rPr>
              <a:t>表</a:t>
            </a:r>
            <a:r>
              <a:rPr sz="1000" spc="-5" dirty="0">
                <a:latin typeface="黑体"/>
                <a:cs typeface="黑体"/>
              </a:rPr>
              <a:t>示图</a:t>
            </a:r>
            <a:r>
              <a:rPr sz="1000" spc="5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中的</a:t>
            </a:r>
            <a:r>
              <a:rPr sz="1000" spc="5" dirty="0">
                <a:latin typeface="黑体"/>
                <a:cs typeface="黑体"/>
              </a:rPr>
              <a:t>纹</a:t>
            </a:r>
            <a:r>
              <a:rPr sz="1000" spc="10" dirty="0">
                <a:latin typeface="黑体"/>
                <a:cs typeface="黑体"/>
              </a:rPr>
              <a:t>理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8826" y="286570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/>
                <a:cs typeface="黑体"/>
              </a:rPr>
              <a:t>总结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2298</Words>
  <Application>Microsoft Office PowerPoint</Application>
  <PresentationFormat>自定义</PresentationFormat>
  <Paragraphs>1314</Paragraphs>
  <Slides>116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116</vt:i4>
      </vt:variant>
    </vt:vector>
  </HeadingPairs>
  <TitlesOfParts>
    <vt:vector size="117" baseType="lpstr">
      <vt:lpstr>Office Theme</vt:lpstr>
      <vt:lpstr>补充材料1：卷积与图像去噪</vt:lpstr>
      <vt:lpstr>幻灯片 2</vt:lpstr>
      <vt:lpstr>幻灯片 3</vt:lpstr>
      <vt:lpstr>幻灯片 4</vt:lpstr>
      <vt:lpstr>幻灯片 5</vt:lpstr>
      <vt:lpstr>图像去噪</vt:lpstr>
      <vt:lpstr>图像去噪</vt:lpstr>
      <vt:lpstr>图像去噪</vt:lpstr>
      <vt:lpstr>幻灯片 9</vt:lpstr>
      <vt:lpstr>幻灯片 10</vt:lpstr>
      <vt:lpstr>卷积的定义</vt:lpstr>
      <vt:lpstr>卷积的定义</vt:lpstr>
      <vt:lpstr>卷积的定义</vt:lpstr>
      <vt:lpstr>卷积的定义</vt:lpstr>
      <vt:lpstr>幻灯片 15</vt:lpstr>
      <vt:lpstr>卷积性质</vt:lpstr>
      <vt:lpstr>更多性质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平均卷积核存在的问题</vt:lpstr>
      <vt:lpstr>幻灯片 33</vt:lpstr>
      <vt:lpstr>幻灯片 34</vt:lpstr>
      <vt:lpstr>幻灯片 35</vt:lpstr>
      <vt:lpstr>幻灯片 36</vt:lpstr>
      <vt:lpstr>高斯卷积核</vt:lpstr>
      <vt:lpstr>高斯卷积核</vt:lpstr>
      <vt:lpstr>高斯卷积核</vt:lpstr>
      <vt:lpstr>幻灯片 40</vt:lpstr>
      <vt:lpstr>方差变化</vt:lpstr>
      <vt:lpstr>窗宽变化</vt:lpstr>
      <vt:lpstr>卷积核参数</vt:lpstr>
      <vt:lpstr>幻灯片 44</vt:lpstr>
      <vt:lpstr>高斯卷积核</vt:lpstr>
      <vt:lpstr>可分离性示例</vt:lpstr>
      <vt:lpstr>卷积操作运算量</vt:lpstr>
      <vt:lpstr>幻灯片 48</vt:lpstr>
      <vt:lpstr>幻灯片 49</vt:lpstr>
      <vt:lpstr>幻灯片 50</vt:lpstr>
      <vt:lpstr>高斯噪声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补充材料2：卷积与边缘提取</vt:lpstr>
      <vt:lpstr>边缘提取</vt:lpstr>
      <vt:lpstr>幻灯片 63</vt:lpstr>
      <vt:lpstr>幻灯片 64</vt:lpstr>
      <vt:lpstr>图像求导</vt:lpstr>
      <vt:lpstr>幻灯片 66</vt:lpstr>
      <vt:lpstr>图像偏导</vt:lpstr>
      <vt:lpstr>图像梯度</vt:lpstr>
      <vt:lpstr>幻灯片 69</vt:lpstr>
      <vt:lpstr>噪声的影响</vt:lpstr>
      <vt:lpstr>幻灯片 71</vt:lpstr>
      <vt:lpstr>高斯一阶偏导</vt:lpstr>
      <vt:lpstr>幻灯片 73</vt:lpstr>
      <vt:lpstr>幻灯片 74</vt:lpstr>
      <vt:lpstr>高斯核 vs.高斯一阶偏导核</vt:lpstr>
      <vt:lpstr>幻灯片 76</vt:lpstr>
      <vt:lpstr>幻灯片 77</vt:lpstr>
      <vt:lpstr>幻灯片 78</vt:lpstr>
      <vt:lpstr>幻灯片 79</vt:lpstr>
      <vt:lpstr>  Canny边缘检测器 </vt:lpstr>
      <vt:lpstr>如何得到更为准确的边 缘？</vt:lpstr>
      <vt:lpstr>幻灯片 82</vt:lpstr>
      <vt:lpstr>幻灯片 83</vt:lpstr>
      <vt:lpstr>非极大值抑制</vt:lpstr>
      <vt:lpstr>非极大值抑制</vt:lpstr>
      <vt:lpstr>非极大值抑制</vt:lpstr>
      <vt:lpstr>非极大值抑制</vt:lpstr>
      <vt:lpstr>幻灯片 88</vt:lpstr>
      <vt:lpstr>幻灯片 89</vt:lpstr>
      <vt:lpstr>幻灯片 90</vt:lpstr>
      <vt:lpstr>幻灯片 91</vt:lpstr>
      <vt:lpstr>幻灯片 92</vt:lpstr>
      <vt:lpstr>幻灯片 93</vt:lpstr>
      <vt:lpstr>  Canny边缘检测器 </vt:lpstr>
      <vt:lpstr>补充材料3：纹理表示</vt:lpstr>
      <vt:lpstr>幻灯片 96</vt:lpstr>
      <vt:lpstr>幻灯片 97</vt:lpstr>
      <vt:lpstr>幻灯片 98</vt:lpstr>
      <vt:lpstr>幻灯片 99</vt:lpstr>
      <vt:lpstr>幻灯片 100</vt:lpstr>
      <vt:lpstr>幻灯片 101</vt:lpstr>
      <vt:lpstr>幻灯片 102</vt:lpstr>
      <vt:lpstr>基于卷积核组的图像表示</vt:lpstr>
      <vt:lpstr>基于卷积核组的图像表示</vt:lpstr>
      <vt:lpstr>幻灯片 105</vt:lpstr>
      <vt:lpstr>幻灯片 106</vt:lpstr>
      <vt:lpstr>基于卷积核组的图像表示</vt:lpstr>
      <vt:lpstr>基于卷积核组的图像表示</vt:lpstr>
      <vt:lpstr>基于卷积核组的图像表示</vt:lpstr>
      <vt:lpstr>基于卷积核组的图像表示</vt:lpstr>
      <vt:lpstr>幻灯片 111</vt:lpstr>
      <vt:lpstr>幻灯片 112</vt:lpstr>
      <vt:lpstr>幻灯片 113</vt:lpstr>
      <vt:lpstr>幻灯片 114</vt:lpstr>
      <vt:lpstr>幻灯片 115</vt:lpstr>
      <vt:lpstr>幻灯片 116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efros</dc:creator>
  <cp:lastModifiedBy>Windows User</cp:lastModifiedBy>
  <cp:revision>14</cp:revision>
  <dcterms:created xsi:type="dcterms:W3CDTF">2020-12-14T08:23:46Z</dcterms:created>
  <dcterms:modified xsi:type="dcterms:W3CDTF">2024-04-17T14:40:47Z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2020-12-14T00:00:00Z</vt:filetime>
  </property>
</Properties>
</file>