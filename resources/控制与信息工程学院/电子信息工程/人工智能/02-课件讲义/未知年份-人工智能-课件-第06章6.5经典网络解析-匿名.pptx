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29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464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</p:sldIdLst>
  <p:sldSz cx="6159500" cy="3505200"/>
  <p:notesSz cx="6159500" cy="3505200"/>
  <p:custDataLst>
    <p:tags r:id="rId2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206" d="100"/>
          <a:sy n="206" d="100"/>
        </p:scale>
        <p:origin x="81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4" Type="http://schemas.openxmlformats.org/officeDocument/2006/relationships/tags" Target="tags/tag1.xml"/><Relationship Id="rId213" Type="http://schemas.openxmlformats.org/officeDocument/2006/relationships/tableStyles" Target="tableStyles.xml"/><Relationship Id="rId212" Type="http://schemas.openxmlformats.org/officeDocument/2006/relationships/viewProps" Target="viewProps.xml"/><Relationship Id="rId211" Type="http://schemas.openxmlformats.org/officeDocument/2006/relationships/presProps" Target="presProps.xml"/><Relationship Id="rId210" Type="http://schemas.openxmlformats.org/officeDocument/2006/relationships/slide" Target="slides/slide208.xml"/><Relationship Id="rId21" Type="http://schemas.openxmlformats.org/officeDocument/2006/relationships/slide" Target="slides/slide19.xml"/><Relationship Id="rId209" Type="http://schemas.openxmlformats.org/officeDocument/2006/relationships/slide" Target="slides/slide207.xml"/><Relationship Id="rId208" Type="http://schemas.openxmlformats.org/officeDocument/2006/relationships/slide" Target="slides/slide206.xml"/><Relationship Id="rId207" Type="http://schemas.openxmlformats.org/officeDocument/2006/relationships/slide" Target="slides/slide205.xml"/><Relationship Id="rId206" Type="http://schemas.openxmlformats.org/officeDocument/2006/relationships/slide" Target="slides/slide204.xml"/><Relationship Id="rId205" Type="http://schemas.openxmlformats.org/officeDocument/2006/relationships/slide" Target="slides/slide203.xml"/><Relationship Id="rId204" Type="http://schemas.openxmlformats.org/officeDocument/2006/relationships/slide" Target="slides/slide202.xml"/><Relationship Id="rId203" Type="http://schemas.openxmlformats.org/officeDocument/2006/relationships/slide" Target="slides/slide201.xml"/><Relationship Id="rId202" Type="http://schemas.openxmlformats.org/officeDocument/2006/relationships/slide" Target="slides/slide200.xml"/><Relationship Id="rId201" Type="http://schemas.openxmlformats.org/officeDocument/2006/relationships/slide" Target="slides/slide199.xml"/><Relationship Id="rId200" Type="http://schemas.openxmlformats.org/officeDocument/2006/relationships/slide" Target="slides/slide198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9" Type="http://schemas.openxmlformats.org/officeDocument/2006/relationships/slide" Target="slides/slide197.xml"/><Relationship Id="rId198" Type="http://schemas.openxmlformats.org/officeDocument/2006/relationships/slide" Target="slides/slide196.xml"/><Relationship Id="rId197" Type="http://schemas.openxmlformats.org/officeDocument/2006/relationships/slide" Target="slides/slide195.xml"/><Relationship Id="rId196" Type="http://schemas.openxmlformats.org/officeDocument/2006/relationships/slide" Target="slides/slide194.xml"/><Relationship Id="rId195" Type="http://schemas.openxmlformats.org/officeDocument/2006/relationships/slide" Target="slides/slide193.xml"/><Relationship Id="rId194" Type="http://schemas.openxmlformats.org/officeDocument/2006/relationships/slide" Target="slides/slide192.xml"/><Relationship Id="rId193" Type="http://schemas.openxmlformats.org/officeDocument/2006/relationships/slide" Target="slides/slide191.xml"/><Relationship Id="rId192" Type="http://schemas.openxmlformats.org/officeDocument/2006/relationships/slide" Target="slides/slide190.xml"/><Relationship Id="rId191" Type="http://schemas.openxmlformats.org/officeDocument/2006/relationships/slide" Target="slides/slide189.xml"/><Relationship Id="rId190" Type="http://schemas.openxmlformats.org/officeDocument/2006/relationships/slide" Target="slides/slide188.xml"/><Relationship Id="rId19" Type="http://schemas.openxmlformats.org/officeDocument/2006/relationships/slide" Target="slides/slide17.xml"/><Relationship Id="rId189" Type="http://schemas.openxmlformats.org/officeDocument/2006/relationships/slide" Target="slides/slide187.xml"/><Relationship Id="rId188" Type="http://schemas.openxmlformats.org/officeDocument/2006/relationships/slide" Target="slides/slide186.xml"/><Relationship Id="rId187" Type="http://schemas.openxmlformats.org/officeDocument/2006/relationships/slide" Target="slides/slide185.xml"/><Relationship Id="rId186" Type="http://schemas.openxmlformats.org/officeDocument/2006/relationships/slide" Target="slides/slide184.xml"/><Relationship Id="rId185" Type="http://schemas.openxmlformats.org/officeDocument/2006/relationships/slide" Target="slides/slide183.xml"/><Relationship Id="rId184" Type="http://schemas.openxmlformats.org/officeDocument/2006/relationships/slide" Target="slides/slide182.xml"/><Relationship Id="rId183" Type="http://schemas.openxmlformats.org/officeDocument/2006/relationships/slide" Target="slides/slide181.xml"/><Relationship Id="rId182" Type="http://schemas.openxmlformats.org/officeDocument/2006/relationships/slide" Target="slides/slide180.xml"/><Relationship Id="rId181" Type="http://schemas.openxmlformats.org/officeDocument/2006/relationships/slide" Target="slides/slide179.xml"/><Relationship Id="rId180" Type="http://schemas.openxmlformats.org/officeDocument/2006/relationships/slide" Target="slides/slide178.xml"/><Relationship Id="rId18" Type="http://schemas.openxmlformats.org/officeDocument/2006/relationships/slide" Target="slides/slide16.xml"/><Relationship Id="rId179" Type="http://schemas.openxmlformats.org/officeDocument/2006/relationships/slide" Target="slides/slide177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60646" y="1266714"/>
            <a:ext cx="1844557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08806" y="1935751"/>
            <a:ext cx="3348237" cy="46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8292" y="806196"/>
            <a:ext cx="2682144" cy="231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75412" y="806196"/>
            <a:ext cx="2682144" cy="231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8091" y="367554"/>
            <a:ext cx="3249666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89806" y="1170981"/>
            <a:ext cx="319151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96389" y="3259836"/>
            <a:ext cx="1973072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8292" y="3259836"/>
            <a:ext cx="1418145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39412" y="3259836"/>
            <a:ext cx="1418145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23.png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6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image" Target="../media/image39.jpe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6.pn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7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74.png"/><Relationship Id="rId26" Type="http://schemas.openxmlformats.org/officeDocument/2006/relationships/image" Target="../media/image73.png"/><Relationship Id="rId25" Type="http://schemas.openxmlformats.org/officeDocument/2006/relationships/image" Target="../media/image72.png"/><Relationship Id="rId24" Type="http://schemas.openxmlformats.org/officeDocument/2006/relationships/image" Target="../media/image71.png"/><Relationship Id="rId23" Type="http://schemas.openxmlformats.org/officeDocument/2006/relationships/image" Target="../media/image70.png"/><Relationship Id="rId22" Type="http://schemas.openxmlformats.org/officeDocument/2006/relationships/image" Target="../media/image69.png"/><Relationship Id="rId21" Type="http://schemas.openxmlformats.org/officeDocument/2006/relationships/image" Target="../media/image68.png"/><Relationship Id="rId20" Type="http://schemas.openxmlformats.org/officeDocument/2006/relationships/image" Target="../media/image67.png"/><Relationship Id="rId2" Type="http://schemas.openxmlformats.org/officeDocument/2006/relationships/image" Target="../media/image49.png"/><Relationship Id="rId19" Type="http://schemas.openxmlformats.org/officeDocument/2006/relationships/image" Target="../media/image66.png"/><Relationship Id="rId18" Type="http://schemas.openxmlformats.org/officeDocument/2006/relationships/image" Target="../media/image65.png"/><Relationship Id="rId17" Type="http://schemas.openxmlformats.org/officeDocument/2006/relationships/image" Target="../media/image64.png"/><Relationship Id="rId16" Type="http://schemas.openxmlformats.org/officeDocument/2006/relationships/image" Target="../media/image63.png"/><Relationship Id="rId15" Type="http://schemas.openxmlformats.org/officeDocument/2006/relationships/image" Target="../media/image62.png"/><Relationship Id="rId14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" Type="http://schemas.openxmlformats.org/officeDocument/2006/relationships/image" Target="../media/image48.png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52.png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93.png"/><Relationship Id="rId27" Type="http://schemas.openxmlformats.org/officeDocument/2006/relationships/image" Target="../media/image58.png"/><Relationship Id="rId26" Type="http://schemas.openxmlformats.org/officeDocument/2006/relationships/image" Target="../media/image73.png"/><Relationship Id="rId25" Type="http://schemas.openxmlformats.org/officeDocument/2006/relationships/image" Target="../media/image72.png"/><Relationship Id="rId24" Type="http://schemas.openxmlformats.org/officeDocument/2006/relationships/image" Target="../media/image92.png"/><Relationship Id="rId23" Type="http://schemas.openxmlformats.org/officeDocument/2006/relationships/image" Target="../media/image91.png"/><Relationship Id="rId22" Type="http://schemas.openxmlformats.org/officeDocument/2006/relationships/image" Target="../media/image90.png"/><Relationship Id="rId21" Type="http://schemas.openxmlformats.org/officeDocument/2006/relationships/image" Target="../media/image68.png"/><Relationship Id="rId20" Type="http://schemas.openxmlformats.org/officeDocument/2006/relationships/image" Target="../media/image89.png"/><Relationship Id="rId2" Type="http://schemas.openxmlformats.org/officeDocument/2006/relationships/image" Target="../media/image49.png"/><Relationship Id="rId19" Type="http://schemas.openxmlformats.org/officeDocument/2006/relationships/image" Target="../media/image88.png"/><Relationship Id="rId18" Type="http://schemas.openxmlformats.org/officeDocument/2006/relationships/image" Target="../media/image87.png"/><Relationship Id="rId17" Type="http://schemas.openxmlformats.org/officeDocument/2006/relationships/image" Target="../media/image86.png"/><Relationship Id="rId16" Type="http://schemas.openxmlformats.org/officeDocument/2006/relationships/image" Target="../media/image63.png"/><Relationship Id="rId15" Type="http://schemas.openxmlformats.org/officeDocument/2006/relationships/image" Target="../media/image85.png"/><Relationship Id="rId14" Type="http://schemas.openxmlformats.org/officeDocument/2006/relationships/image" Target="../media/image61.png"/><Relationship Id="rId13" Type="http://schemas.openxmlformats.org/officeDocument/2006/relationships/image" Target="../media/image84.png"/><Relationship Id="rId12" Type="http://schemas.openxmlformats.org/officeDocument/2006/relationships/image" Target="../media/image83.png"/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" Type="http://schemas.openxmlformats.org/officeDocument/2006/relationships/image" Target="../media/image50.png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97.png"/><Relationship Id="rId7" Type="http://schemas.openxmlformats.org/officeDocument/2006/relationships/image" Target="../media/image78.png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3" Type="http://schemas.openxmlformats.org/officeDocument/2006/relationships/image" Target="../media/image52.png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107.png"/><Relationship Id="rId27" Type="http://schemas.openxmlformats.org/officeDocument/2006/relationships/image" Target="../media/image58.png"/><Relationship Id="rId26" Type="http://schemas.openxmlformats.org/officeDocument/2006/relationships/image" Target="../media/image73.png"/><Relationship Id="rId25" Type="http://schemas.openxmlformats.org/officeDocument/2006/relationships/image" Target="../media/image72.png"/><Relationship Id="rId24" Type="http://schemas.openxmlformats.org/officeDocument/2006/relationships/image" Target="../media/image92.png"/><Relationship Id="rId23" Type="http://schemas.openxmlformats.org/officeDocument/2006/relationships/image" Target="../media/image106.png"/><Relationship Id="rId22" Type="http://schemas.openxmlformats.org/officeDocument/2006/relationships/image" Target="../media/image105.png"/><Relationship Id="rId21" Type="http://schemas.openxmlformats.org/officeDocument/2006/relationships/image" Target="../media/image68.png"/><Relationship Id="rId20" Type="http://schemas.openxmlformats.org/officeDocument/2006/relationships/image" Target="../media/image104.png"/><Relationship Id="rId2" Type="http://schemas.openxmlformats.org/officeDocument/2006/relationships/image" Target="../media/image49.png"/><Relationship Id="rId19" Type="http://schemas.openxmlformats.org/officeDocument/2006/relationships/image" Target="../media/image103.png"/><Relationship Id="rId18" Type="http://schemas.openxmlformats.org/officeDocument/2006/relationships/image" Target="../media/image87.png"/><Relationship Id="rId17" Type="http://schemas.openxmlformats.org/officeDocument/2006/relationships/image" Target="../media/image102.png"/><Relationship Id="rId16" Type="http://schemas.openxmlformats.org/officeDocument/2006/relationships/image" Target="../media/image63.png"/><Relationship Id="rId15" Type="http://schemas.openxmlformats.org/officeDocument/2006/relationships/image" Target="../media/image101.png"/><Relationship Id="rId14" Type="http://schemas.openxmlformats.org/officeDocument/2006/relationships/image" Target="../media/image61.png"/><Relationship Id="rId13" Type="http://schemas.openxmlformats.org/officeDocument/2006/relationships/image" Target="../media/image100.png"/><Relationship Id="rId12" Type="http://schemas.openxmlformats.org/officeDocument/2006/relationships/image" Target="../media/image83.png"/><Relationship Id="rId11" Type="http://schemas.openxmlformats.org/officeDocument/2006/relationships/image" Target="../media/image99.png"/><Relationship Id="rId10" Type="http://schemas.openxmlformats.org/officeDocument/2006/relationships/image" Target="../media/image98.png"/><Relationship Id="rId1" Type="http://schemas.openxmlformats.org/officeDocument/2006/relationships/image" Target="../media/image50.png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52.png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93.png"/><Relationship Id="rId27" Type="http://schemas.openxmlformats.org/officeDocument/2006/relationships/image" Target="../media/image58.png"/><Relationship Id="rId26" Type="http://schemas.openxmlformats.org/officeDocument/2006/relationships/image" Target="../media/image73.png"/><Relationship Id="rId25" Type="http://schemas.openxmlformats.org/officeDocument/2006/relationships/image" Target="../media/image72.png"/><Relationship Id="rId24" Type="http://schemas.openxmlformats.org/officeDocument/2006/relationships/image" Target="../media/image92.png"/><Relationship Id="rId23" Type="http://schemas.openxmlformats.org/officeDocument/2006/relationships/image" Target="../media/image91.png"/><Relationship Id="rId22" Type="http://schemas.openxmlformats.org/officeDocument/2006/relationships/image" Target="../media/image90.png"/><Relationship Id="rId21" Type="http://schemas.openxmlformats.org/officeDocument/2006/relationships/image" Target="../media/image68.png"/><Relationship Id="rId20" Type="http://schemas.openxmlformats.org/officeDocument/2006/relationships/image" Target="../media/image89.png"/><Relationship Id="rId2" Type="http://schemas.openxmlformats.org/officeDocument/2006/relationships/image" Target="../media/image49.png"/><Relationship Id="rId19" Type="http://schemas.openxmlformats.org/officeDocument/2006/relationships/image" Target="../media/image88.png"/><Relationship Id="rId18" Type="http://schemas.openxmlformats.org/officeDocument/2006/relationships/image" Target="../media/image87.png"/><Relationship Id="rId17" Type="http://schemas.openxmlformats.org/officeDocument/2006/relationships/image" Target="../media/image86.png"/><Relationship Id="rId16" Type="http://schemas.openxmlformats.org/officeDocument/2006/relationships/image" Target="../media/image63.png"/><Relationship Id="rId15" Type="http://schemas.openxmlformats.org/officeDocument/2006/relationships/image" Target="../media/image85.png"/><Relationship Id="rId14" Type="http://schemas.openxmlformats.org/officeDocument/2006/relationships/image" Target="../media/image61.png"/><Relationship Id="rId13" Type="http://schemas.openxmlformats.org/officeDocument/2006/relationships/image" Target="../media/image84.png"/><Relationship Id="rId12" Type="http://schemas.openxmlformats.org/officeDocument/2006/relationships/image" Target="../media/image83.png"/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" Type="http://schemas.openxmlformats.org/officeDocument/2006/relationships/image" Target="../media/image50.png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63.png"/><Relationship Id="rId5" Type="http://schemas.openxmlformats.org/officeDocument/2006/relationships/image" Target="../media/image110.png"/><Relationship Id="rId4" Type="http://schemas.openxmlformats.org/officeDocument/2006/relationships/image" Target="../media/image61.png"/><Relationship Id="rId3" Type="http://schemas.openxmlformats.org/officeDocument/2006/relationships/image" Target="../media/image109.png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18.png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17.png"/><Relationship Id="rId13" Type="http://schemas.openxmlformats.org/officeDocument/2006/relationships/image" Target="../media/image116.png"/><Relationship Id="rId12" Type="http://schemas.openxmlformats.org/officeDocument/2006/relationships/image" Target="../media/image115.png"/><Relationship Id="rId11" Type="http://schemas.openxmlformats.org/officeDocument/2006/relationships/image" Target="../media/image68.png"/><Relationship Id="rId10" Type="http://schemas.openxmlformats.org/officeDocument/2006/relationships/image" Target="../media/image114.png"/><Relationship Id="rId1" Type="http://schemas.openxmlformats.org/officeDocument/2006/relationships/image" Target="../media/image108.png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Relationship Id="rId3" Type="http://schemas.openxmlformats.org/officeDocument/2006/relationships/image" Target="../media/image61.png"/><Relationship Id="rId2" Type="http://schemas.openxmlformats.org/officeDocument/2006/relationships/image" Target="../media/image119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8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117.png"/><Relationship Id="rId12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68.png"/><Relationship Id="rId1" Type="http://schemas.openxmlformats.org/officeDocument/2006/relationships/image" Target="../media/image50.png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Relationship Id="rId3" Type="http://schemas.openxmlformats.org/officeDocument/2006/relationships/image" Target="../media/image61.png"/><Relationship Id="rId2" Type="http://schemas.openxmlformats.org/officeDocument/2006/relationships/image" Target="../media/image109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18.png"/><Relationship Id="rId16" Type="http://schemas.openxmlformats.org/officeDocument/2006/relationships/image" Target="../media/image58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117.png"/><Relationship Id="rId12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68.png"/><Relationship Id="rId1" Type="http://schemas.openxmlformats.org/officeDocument/2006/relationships/image" Target="../media/image50.png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1.png"/><Relationship Id="rId7" Type="http://schemas.openxmlformats.org/officeDocument/2006/relationships/image" Target="../media/image120.png"/><Relationship Id="rId6" Type="http://schemas.openxmlformats.org/officeDocument/2006/relationships/image" Target="../media/image63.png"/><Relationship Id="rId5" Type="http://schemas.openxmlformats.org/officeDocument/2006/relationships/image" Target="../media/image110.png"/><Relationship Id="rId4" Type="http://schemas.openxmlformats.org/officeDocument/2006/relationships/image" Target="../media/image61.png"/><Relationship Id="rId3" Type="http://schemas.openxmlformats.org/officeDocument/2006/relationships/image" Target="../media/image119.png"/><Relationship Id="rId2" Type="http://schemas.openxmlformats.org/officeDocument/2006/relationships/image" Target="../media/image50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17.png"/><Relationship Id="rId13" Type="http://schemas.openxmlformats.org/officeDocument/2006/relationships/image" Target="../media/image124.png"/><Relationship Id="rId12" Type="http://schemas.openxmlformats.org/officeDocument/2006/relationships/image" Target="../media/image123.png"/><Relationship Id="rId11" Type="http://schemas.openxmlformats.org/officeDocument/2006/relationships/image" Target="../media/image68.png"/><Relationship Id="rId10" Type="http://schemas.openxmlformats.org/officeDocument/2006/relationships/image" Target="../media/image114.png"/><Relationship Id="rId1" Type="http://schemas.openxmlformats.org/officeDocument/2006/relationships/image" Target="../media/image108.png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63.png"/><Relationship Id="rId5" Type="http://schemas.openxmlformats.org/officeDocument/2006/relationships/image" Target="../media/image110.png"/><Relationship Id="rId4" Type="http://schemas.openxmlformats.org/officeDocument/2006/relationships/image" Target="../media/image61.png"/><Relationship Id="rId3" Type="http://schemas.openxmlformats.org/officeDocument/2006/relationships/image" Target="../media/image109.png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18.png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17.png"/><Relationship Id="rId13" Type="http://schemas.openxmlformats.org/officeDocument/2006/relationships/image" Target="../media/image116.png"/><Relationship Id="rId12" Type="http://schemas.openxmlformats.org/officeDocument/2006/relationships/image" Target="../media/image115.png"/><Relationship Id="rId11" Type="http://schemas.openxmlformats.org/officeDocument/2006/relationships/image" Target="../media/image68.png"/><Relationship Id="rId10" Type="http://schemas.openxmlformats.org/officeDocument/2006/relationships/image" Target="../media/image114.png"/><Relationship Id="rId1" Type="http://schemas.openxmlformats.org/officeDocument/2006/relationships/image" Target="../media/image108.png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Relationship Id="rId3" Type="http://schemas.openxmlformats.org/officeDocument/2006/relationships/image" Target="../media/image61.png"/><Relationship Id="rId2" Type="http://schemas.openxmlformats.org/officeDocument/2006/relationships/image" Target="../media/image119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8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117.png"/><Relationship Id="rId12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68.png"/><Relationship Id="rId1" Type="http://schemas.openxmlformats.org/officeDocument/2006/relationships/image" Target="../media/image50.png"/></Relationships>
</file>

<file path=ppt/slides/_rels/slide9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Relationship Id="rId3" Type="http://schemas.openxmlformats.org/officeDocument/2006/relationships/image" Target="../media/image61.png"/><Relationship Id="rId2" Type="http://schemas.openxmlformats.org/officeDocument/2006/relationships/image" Target="../media/image109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18.png"/><Relationship Id="rId16" Type="http://schemas.openxmlformats.org/officeDocument/2006/relationships/image" Target="../media/image58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117.png"/><Relationship Id="rId12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68.png"/><Relationship Id="rId1" Type="http://schemas.openxmlformats.org/officeDocument/2006/relationships/image" Target="../media/image50.png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Relationship Id="rId3" Type="http://schemas.openxmlformats.org/officeDocument/2006/relationships/image" Target="../media/image61.png"/><Relationship Id="rId2" Type="http://schemas.openxmlformats.org/officeDocument/2006/relationships/image" Target="../media/image109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18.png"/><Relationship Id="rId16" Type="http://schemas.openxmlformats.org/officeDocument/2006/relationships/image" Target="../media/image58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117.png"/><Relationship Id="rId12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68.png"/><Relationship Id="rId1" Type="http://schemas.openxmlformats.org/officeDocument/2006/relationships/image" Target="../media/image50.png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63.png"/><Relationship Id="rId4" Type="http://schemas.openxmlformats.org/officeDocument/2006/relationships/image" Target="../media/image110.png"/><Relationship Id="rId3" Type="http://schemas.openxmlformats.org/officeDocument/2006/relationships/image" Target="../media/image61.png"/><Relationship Id="rId2" Type="http://schemas.openxmlformats.org/officeDocument/2006/relationships/image" Target="../media/image119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25.png"/><Relationship Id="rId16" Type="http://schemas.openxmlformats.org/officeDocument/2006/relationships/image" Target="../media/image58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117.png"/><Relationship Id="rId12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68.png"/><Relationship Id="rId1" Type="http://schemas.openxmlformats.org/officeDocument/2006/relationships/image" Target="../media/image50.png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63.png"/><Relationship Id="rId5" Type="http://schemas.openxmlformats.org/officeDocument/2006/relationships/image" Target="../media/image110.png"/><Relationship Id="rId4" Type="http://schemas.openxmlformats.org/officeDocument/2006/relationships/image" Target="../media/image61.png"/><Relationship Id="rId3" Type="http://schemas.openxmlformats.org/officeDocument/2006/relationships/image" Target="../media/image109.png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18.png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17.png"/><Relationship Id="rId13" Type="http://schemas.openxmlformats.org/officeDocument/2006/relationships/image" Target="../media/image116.png"/><Relationship Id="rId12" Type="http://schemas.openxmlformats.org/officeDocument/2006/relationships/image" Target="../media/image115.png"/><Relationship Id="rId11" Type="http://schemas.openxmlformats.org/officeDocument/2006/relationships/image" Target="../media/image68.png"/><Relationship Id="rId10" Type="http://schemas.openxmlformats.org/officeDocument/2006/relationships/image" Target="../media/image114.png"/><Relationship Id="rId1" Type="http://schemas.openxmlformats.org/officeDocument/2006/relationships/image" Target="../media/image108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6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7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6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8.jpe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jpe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jpe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jpeg"/></Relationships>
</file>

<file path=ppt/slides/_rels/slide1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png"/><Relationship Id="rId8" Type="http://schemas.openxmlformats.org/officeDocument/2006/relationships/image" Target="../media/image133.png"/><Relationship Id="rId7" Type="http://schemas.openxmlformats.org/officeDocument/2006/relationships/image" Target="../media/image132.png"/><Relationship Id="rId6" Type="http://schemas.openxmlformats.org/officeDocument/2006/relationships/image" Target="../media/image63.png"/><Relationship Id="rId5" Type="http://schemas.openxmlformats.org/officeDocument/2006/relationships/image" Target="../media/image131.png"/><Relationship Id="rId4" Type="http://schemas.openxmlformats.org/officeDocument/2006/relationships/image" Target="../media/image61.png"/><Relationship Id="rId3" Type="http://schemas.openxmlformats.org/officeDocument/2006/relationships/image" Target="../media/image130.png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139.png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38.png"/><Relationship Id="rId13" Type="http://schemas.openxmlformats.org/officeDocument/2006/relationships/image" Target="../media/image137.png"/><Relationship Id="rId12" Type="http://schemas.openxmlformats.org/officeDocument/2006/relationships/image" Target="../media/image136.png"/><Relationship Id="rId11" Type="http://schemas.openxmlformats.org/officeDocument/2006/relationships/image" Target="../media/image68.png"/><Relationship Id="rId10" Type="http://schemas.openxmlformats.org/officeDocument/2006/relationships/image" Target="../media/image135.png"/><Relationship Id="rId1" Type="http://schemas.openxmlformats.org/officeDocument/2006/relationships/image" Target="../media/image129.png"/></Relationships>
</file>

<file path=ppt/slides/_rels/slide1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png"/><Relationship Id="rId8" Type="http://schemas.openxmlformats.org/officeDocument/2006/relationships/image" Target="../media/image143.png"/><Relationship Id="rId7" Type="http://schemas.openxmlformats.org/officeDocument/2006/relationships/image" Target="../media/image142.png"/><Relationship Id="rId6" Type="http://schemas.openxmlformats.org/officeDocument/2006/relationships/image" Target="../media/image63.png"/><Relationship Id="rId5" Type="http://schemas.openxmlformats.org/officeDocument/2006/relationships/image" Target="../media/image141.png"/><Relationship Id="rId4" Type="http://schemas.openxmlformats.org/officeDocument/2006/relationships/image" Target="../media/image61.png"/><Relationship Id="rId3" Type="http://schemas.openxmlformats.org/officeDocument/2006/relationships/image" Target="../media/image140.png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48.png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47.png"/><Relationship Id="rId13" Type="http://schemas.openxmlformats.org/officeDocument/2006/relationships/image" Target="../media/image146.png"/><Relationship Id="rId12" Type="http://schemas.openxmlformats.org/officeDocument/2006/relationships/image" Target="../media/image145.png"/><Relationship Id="rId11" Type="http://schemas.openxmlformats.org/officeDocument/2006/relationships/image" Target="../media/image68.png"/><Relationship Id="rId10" Type="http://schemas.openxmlformats.org/officeDocument/2006/relationships/image" Target="../media/image135.png"/><Relationship Id="rId1" Type="http://schemas.openxmlformats.org/officeDocument/2006/relationships/image" Target="../media/image131.png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png"/><Relationship Id="rId8" Type="http://schemas.openxmlformats.org/officeDocument/2006/relationships/image" Target="../media/image133.png"/><Relationship Id="rId7" Type="http://schemas.openxmlformats.org/officeDocument/2006/relationships/image" Target="../media/image132.png"/><Relationship Id="rId6" Type="http://schemas.openxmlformats.org/officeDocument/2006/relationships/image" Target="../media/image63.png"/><Relationship Id="rId5" Type="http://schemas.openxmlformats.org/officeDocument/2006/relationships/image" Target="../media/image131.png"/><Relationship Id="rId4" Type="http://schemas.openxmlformats.org/officeDocument/2006/relationships/image" Target="../media/image61.png"/><Relationship Id="rId3" Type="http://schemas.openxmlformats.org/officeDocument/2006/relationships/image" Target="../media/image130.png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39.png"/><Relationship Id="rId17" Type="http://schemas.openxmlformats.org/officeDocument/2006/relationships/image" Target="../media/image58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138.png"/><Relationship Id="rId13" Type="http://schemas.openxmlformats.org/officeDocument/2006/relationships/image" Target="../media/image137.png"/><Relationship Id="rId12" Type="http://schemas.openxmlformats.org/officeDocument/2006/relationships/image" Target="../media/image136.png"/><Relationship Id="rId11" Type="http://schemas.openxmlformats.org/officeDocument/2006/relationships/image" Target="../media/image68.png"/><Relationship Id="rId10" Type="http://schemas.openxmlformats.org/officeDocument/2006/relationships/image" Target="../media/image135.png"/><Relationship Id="rId1" Type="http://schemas.openxmlformats.org/officeDocument/2006/relationships/image" Target="../media/image12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8.jpeg"/><Relationship Id="rId1" Type="http://schemas.openxmlformats.org/officeDocument/2006/relationships/image" Target="../media/image14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1" Type="http://schemas.openxmlformats.org/officeDocument/2006/relationships/image" Target="../media/image128.jpeg"/></Relationships>
</file>

<file path=ppt/slides/_rels/slide1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1.png"/></Relationships>
</file>

<file path=ppt/slides/_rels/slide1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image" Target="../media/image128.jpe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0.png"/><Relationship Id="rId1" Type="http://schemas.openxmlformats.org/officeDocument/2006/relationships/image" Target="../media/image152.jpe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2.jpeg"/></Relationships>
</file>

<file path=ppt/slides/_rels/slide1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63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6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63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6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5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png"/><Relationship Id="rId8" Type="http://schemas.openxmlformats.org/officeDocument/2006/relationships/image" Target="../media/image170.png"/><Relationship Id="rId7" Type="http://schemas.openxmlformats.org/officeDocument/2006/relationships/image" Target="../media/image169.png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Relationship Id="rId3" Type="http://schemas.openxmlformats.org/officeDocument/2006/relationships/image" Target="../media/image165.png"/><Relationship Id="rId21" Type="http://schemas.openxmlformats.org/officeDocument/2006/relationships/slideLayout" Target="../slideLayouts/slideLayout5.xml"/><Relationship Id="rId20" Type="http://schemas.openxmlformats.org/officeDocument/2006/relationships/image" Target="../media/image182.png"/><Relationship Id="rId2" Type="http://schemas.openxmlformats.org/officeDocument/2006/relationships/image" Target="../media/image164.png"/><Relationship Id="rId19" Type="http://schemas.openxmlformats.org/officeDocument/2006/relationships/image" Target="../media/image181.png"/><Relationship Id="rId18" Type="http://schemas.openxmlformats.org/officeDocument/2006/relationships/image" Target="../media/image180.png"/><Relationship Id="rId17" Type="http://schemas.openxmlformats.org/officeDocument/2006/relationships/image" Target="../media/image179.png"/><Relationship Id="rId16" Type="http://schemas.openxmlformats.org/officeDocument/2006/relationships/image" Target="../media/image178.png"/><Relationship Id="rId15" Type="http://schemas.openxmlformats.org/officeDocument/2006/relationships/image" Target="../media/image177.png"/><Relationship Id="rId14" Type="http://schemas.openxmlformats.org/officeDocument/2006/relationships/image" Target="../media/image176.png"/><Relationship Id="rId13" Type="http://schemas.openxmlformats.org/officeDocument/2006/relationships/image" Target="../media/image175.png"/><Relationship Id="rId12" Type="http://schemas.openxmlformats.org/officeDocument/2006/relationships/image" Target="../media/image174.png"/><Relationship Id="rId11" Type="http://schemas.openxmlformats.org/officeDocument/2006/relationships/image" Target="../media/image173.png"/><Relationship Id="rId10" Type="http://schemas.openxmlformats.org/officeDocument/2006/relationships/image" Target="../media/image172.png"/><Relationship Id="rId1" Type="http://schemas.openxmlformats.org/officeDocument/2006/relationships/image" Target="../media/image152.jpe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2.jpe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2.jpe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2.jpeg"/></Relationships>
</file>

<file path=ppt/slides/_rels/slide1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63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8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8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63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8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image" Target="../media/image187.png"/></Relationships>
</file>

<file path=ppt/slides/_rels/slide1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0.png"/><Relationship Id="rId2" Type="http://schemas.openxmlformats.org/officeDocument/2006/relationships/image" Target="../media/image188.png"/><Relationship Id="rId1" Type="http://schemas.openxmlformats.org/officeDocument/2006/relationships/image" Target="../media/image187.png"/></Relationships>
</file>

<file path=ppt/slides/_rels/slide1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image" Target="../media/image187.png"/></Relationships>
</file>

<file path=ppt/slides/_rels/slide1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0.png"/><Relationship Id="rId2" Type="http://schemas.openxmlformats.org/officeDocument/2006/relationships/image" Target="../media/image188.png"/><Relationship Id="rId1" Type="http://schemas.openxmlformats.org/officeDocument/2006/relationships/image" Target="../media/image187.png"/></Relationships>
</file>

<file path=ppt/slides/_rels/slide17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2.png"/><Relationship Id="rId1" Type="http://schemas.openxmlformats.org/officeDocument/2006/relationships/image" Target="../media/image19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3.png"/><Relationship Id="rId1" Type="http://schemas.openxmlformats.org/officeDocument/2006/relationships/image" Target="../media/image191.png"/></Relationships>
</file>

<file path=ppt/slides/_rels/slide17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63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8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1.png"/><Relationship Id="rId1" Type="http://schemas.openxmlformats.org/officeDocument/2006/relationships/image" Target="../media/image152.jpeg"/></Relationships>
</file>

<file path=ppt/slides/_rels/slide18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7.png"/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image" Target="../media/image194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9.png"/><Relationship Id="rId1" Type="http://schemas.openxmlformats.org/officeDocument/2006/relationships/image" Target="../media/image198.png"/></Relationships>
</file>

<file path=ppt/slides/_rels/slide1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image" Target="../media/image198.png"/></Relationships>
</file>

<file path=ppt/slides/_rels/slide1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2.png"/><Relationship Id="rId2" Type="http://schemas.openxmlformats.org/officeDocument/2006/relationships/image" Target="../media/image199.png"/><Relationship Id="rId1" Type="http://schemas.openxmlformats.org/officeDocument/2006/relationships/image" Target="../media/image198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6.png"/><Relationship Id="rId1" Type="http://schemas.openxmlformats.org/officeDocument/2006/relationships/image" Target="../media/image205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7.jpeg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7.jpeg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7.jpeg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7.jpeg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8.jpeg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8.jpeg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8.jpeg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8.jpeg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8.jpeg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0646" y="1266714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 panose="020B0503020204020204" charset="-122"/>
                <a:cs typeface="微软雅黑" panose="020B0503020204020204" charset="-122"/>
              </a:rPr>
              <a:t>经典网络解析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9384" y="171322"/>
            <a:ext cx="2313305" cy="2122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225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ZFNet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VGG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  <a:p>
            <a:pPr marL="241300" indent="-228600">
              <a:lnSpc>
                <a:spcPct val="100000"/>
              </a:lnSpc>
              <a:spcBef>
                <a:spcPts val="845"/>
              </a:spcBef>
              <a:buFont typeface="Wingdings" panose="05000000000000000000"/>
              <a:buChar char=""/>
              <a:tabLst>
                <a:tab pos="241300" algn="l"/>
              </a:tabLst>
            </a:pPr>
            <a:r>
              <a:rPr sz="1400" spc="-5" dirty="0">
                <a:latin typeface="黑体" panose="02010609060101010101" charset="-122"/>
                <a:cs typeface="黑体" panose="02010609060101010101" charset="-122"/>
              </a:rPr>
              <a:t>ResNet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1687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4119" y="148733"/>
            <a:ext cx="265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经典网络解析——AlexNet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94328" y="765200"/>
            <a:ext cx="3336007" cy="148741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40372" y="2421779"/>
            <a:ext cx="2232617" cy="771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97422" y="2415429"/>
            <a:ext cx="2309495" cy="80264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R="47625" algn="r">
              <a:lnSpc>
                <a:spcPct val="100000"/>
              </a:lnSpc>
              <a:spcBef>
                <a:spcPts val="210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eNe</a:t>
            </a:r>
            <a:r>
              <a:rPr sz="900" dirty="0">
                <a:latin typeface="Calibri" panose="020F0502020204030204"/>
                <a:cs typeface="Calibri" panose="020F0502020204030204"/>
              </a:rPr>
              <a:t>t5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71687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18" y="171322"/>
            <a:ext cx="265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经典网络解析——AlexNet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94327" y="787282"/>
            <a:ext cx="3336007" cy="148741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4802" y="768603"/>
            <a:ext cx="3387090" cy="1515745"/>
          </a:xfrm>
          <a:custGeom>
            <a:avLst/>
            <a:gdLst/>
            <a:ahLst/>
            <a:cxnLst/>
            <a:rect l="l" t="t" r="r" b="b"/>
            <a:pathLst>
              <a:path w="3387090" h="1515745">
                <a:moveTo>
                  <a:pt x="0" y="1515617"/>
                </a:moveTo>
                <a:lnTo>
                  <a:pt x="3387090" y="1515617"/>
                </a:lnTo>
                <a:lnTo>
                  <a:pt x="3387090" y="0"/>
                </a:lnTo>
                <a:lnTo>
                  <a:pt x="0" y="0"/>
                </a:lnTo>
                <a:lnTo>
                  <a:pt x="0" y="151561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4601" y="2368067"/>
            <a:ext cx="2502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AlexNet——2012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ImageNet大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觉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识别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战赛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冠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军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精度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升超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10个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分点！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71687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40372" y="2443860"/>
            <a:ext cx="2232617" cy="771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97422" y="2437510"/>
            <a:ext cx="2309495" cy="80264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47625" algn="r">
              <a:lnSpc>
                <a:spcPct val="100000"/>
              </a:lnSpc>
              <a:spcBef>
                <a:spcPts val="215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eNe</a:t>
            </a:r>
            <a:r>
              <a:rPr sz="900" dirty="0">
                <a:latin typeface="Calibri" panose="020F0502020204030204"/>
                <a:cs typeface="Calibri" panose="020F0502020204030204"/>
              </a:rPr>
              <a:t>t5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354" y="778653"/>
            <a:ext cx="3731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 panose="020B0604020202020204"/>
                <a:cs typeface="Arial" panose="020B0604020202020204"/>
              </a:rPr>
              <a:t>ImageNet Large Scale Visual Recognition Challenge</a:t>
            </a:r>
            <a:r>
              <a:rPr sz="1000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ILSVRC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9131" y="148733"/>
            <a:ext cx="322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ImageNet大规模视觉识别挑战赛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1687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353" y="801750"/>
            <a:ext cx="3731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 panose="020B0604020202020204"/>
                <a:cs typeface="Arial" panose="020B0604020202020204"/>
              </a:rPr>
              <a:t>ImageNet Large Scale Visual Recognition Challenge</a:t>
            </a:r>
            <a:r>
              <a:rPr sz="1000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ILSVRC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1970" y="1337563"/>
            <a:ext cx="2454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觉领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威的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术竞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赛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之一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9130" y="171322"/>
            <a:ext cx="322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ImageNet大规模视觉识别挑战赛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687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354" y="778653"/>
            <a:ext cx="3731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 panose="020B0604020202020204"/>
                <a:cs typeface="Arial" panose="020B0604020202020204"/>
              </a:rPr>
              <a:t>ImageNet Large Scale Visual Recognition Challenge</a:t>
            </a:r>
            <a:r>
              <a:rPr sz="1000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ILSVRC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1971" y="1314847"/>
            <a:ext cx="347091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觉领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威的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术竞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之一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56210" marR="5080" indent="-143510">
              <a:lnSpc>
                <a:spcPct val="2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Ima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eN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t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斯坦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飞飞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教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授主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导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制作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其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包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含了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过1400万张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9131" y="148733"/>
            <a:ext cx="322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ImageNet大规模视觉识别挑战赛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687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353" y="801750"/>
            <a:ext cx="3731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 panose="020B0604020202020204"/>
                <a:cs typeface="Arial" panose="020B0604020202020204"/>
              </a:rPr>
              <a:t>ImageNet Large Scale Visual Recognition Challenge</a:t>
            </a:r>
            <a:r>
              <a:rPr sz="1000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ILSVRC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1970" y="1337563"/>
            <a:ext cx="347091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觉领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威的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术竞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之一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56210" marR="5080" indent="-143510">
              <a:lnSpc>
                <a:spcPct val="2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Ima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eN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t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斯坦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飞飞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教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授主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制作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其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含了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过1400万张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6210" indent="-143510">
              <a:lnSpc>
                <a:spcPct val="1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ILSVRC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ImageNet数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抽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子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赛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据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9130" y="171322"/>
            <a:ext cx="322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ImageNet大规模视觉识别挑战赛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687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354" y="778653"/>
            <a:ext cx="3731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 panose="020B0604020202020204"/>
                <a:cs typeface="Arial" panose="020B0604020202020204"/>
              </a:rPr>
              <a:t>ImageNet Large Scale Visual Recognition Challenge</a:t>
            </a:r>
            <a:r>
              <a:rPr sz="1000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ILSVRC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1971" y="1314847"/>
            <a:ext cx="347091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觉领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最具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威的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术竞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之一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56210" marR="5080" indent="-143510">
              <a:lnSpc>
                <a:spcPct val="2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Ima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eN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t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斯坦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飞飞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教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授主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制作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其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含了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过1400万张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56210" indent="-143510">
              <a:lnSpc>
                <a:spcPct val="1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ILSVRC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ImageNet数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集中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抽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子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赛数据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9131" y="148733"/>
            <a:ext cx="322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ImageNet大规模视觉识别挑战赛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354" y="2945781"/>
            <a:ext cx="4088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2012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ILSVRC——1281167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，50000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验证集，100000张测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试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71687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6691" y="1063116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12637" y="2019464"/>
            <a:ext cx="405130" cy="158750"/>
          </a:xfrm>
          <a:custGeom>
            <a:avLst/>
            <a:gdLst/>
            <a:ahLst/>
            <a:cxnLst/>
            <a:rect l="l" t="t" r="r" b="b"/>
            <a:pathLst>
              <a:path w="405129" h="158750">
                <a:moveTo>
                  <a:pt x="0" y="158457"/>
                </a:moveTo>
                <a:lnTo>
                  <a:pt x="405028" y="158457"/>
                </a:lnTo>
                <a:lnTo>
                  <a:pt x="405028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13683" y="2968118"/>
            <a:ext cx="225552" cy="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55643" y="2971164"/>
            <a:ext cx="309371" cy="51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64787" y="3064130"/>
            <a:ext cx="291084" cy="487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82363" y="2971166"/>
            <a:ext cx="457200" cy="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72280" y="3061082"/>
            <a:ext cx="277368" cy="640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61483" y="2968118"/>
            <a:ext cx="233171" cy="518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84343" y="3062606"/>
            <a:ext cx="192024" cy="594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80583" y="2969642"/>
            <a:ext cx="361188" cy="624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10480" y="3058032"/>
            <a:ext cx="501395" cy="640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39307" y="2968116"/>
            <a:ext cx="387096" cy="6400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45403" y="3058032"/>
            <a:ext cx="376427" cy="6400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80328" y="2968116"/>
            <a:ext cx="254508" cy="1539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1823" y="2968116"/>
            <a:ext cx="516636" cy="6400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26860" y="2968118"/>
            <a:ext cx="289560" cy="518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02347" y="2966592"/>
            <a:ext cx="222503" cy="15392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9581" y="2465996"/>
            <a:ext cx="848994" cy="158750"/>
          </a:xfrm>
          <a:custGeom>
            <a:avLst/>
            <a:gdLst/>
            <a:ahLst/>
            <a:cxnLst/>
            <a:rect l="l" t="t" r="r" b="b"/>
            <a:pathLst>
              <a:path w="848994" h="158750">
                <a:moveTo>
                  <a:pt x="0" y="158457"/>
                </a:moveTo>
                <a:lnTo>
                  <a:pt x="848626" y="158457"/>
                </a:lnTo>
                <a:lnTo>
                  <a:pt x="848626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61962" y="2468378"/>
            <a:ext cx="854710" cy="154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71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45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6174" y="2465958"/>
            <a:ext cx="405765" cy="11938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ts val="865"/>
              </a:lnSpc>
              <a:spcBef>
                <a:spcPts val="70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81474" y="2465996"/>
            <a:ext cx="403860" cy="158750"/>
          </a:xfrm>
          <a:custGeom>
            <a:avLst/>
            <a:gdLst/>
            <a:ahLst/>
            <a:cxnLst/>
            <a:rect l="l" t="t" r="r" b="b"/>
            <a:pathLst>
              <a:path w="403860" h="158750">
                <a:moveTo>
                  <a:pt x="0" y="158457"/>
                </a:moveTo>
                <a:lnTo>
                  <a:pt x="403504" y="158457"/>
                </a:lnTo>
                <a:lnTo>
                  <a:pt x="403504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173187" y="2468378"/>
            <a:ext cx="409575" cy="154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71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21242" y="2029079"/>
            <a:ext cx="4762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02064" y="2027301"/>
            <a:ext cx="4502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8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489733" y="1210849"/>
          <a:ext cx="1544319" cy="149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525780"/>
                <a:gridCol w="509269"/>
              </a:tblGrid>
              <a:tr h="149351">
                <a:tc>
                  <a:txBody>
                    <a:bodyPr/>
                    <a:lstStyle/>
                    <a:p>
                      <a:pPr marL="15875">
                        <a:lnSpc>
                          <a:spcPts val="895"/>
                        </a:lnSpc>
                        <a:spcBef>
                          <a:spcPts val="180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ts val="895"/>
                        </a:lnSpc>
                        <a:spcBef>
                          <a:spcPts val="180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895"/>
                        </a:lnSpc>
                        <a:spcBef>
                          <a:spcPts val="180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895979" y="2681606"/>
            <a:ext cx="82296" cy="8077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369943" y="2681606"/>
            <a:ext cx="82295" cy="8077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42383" y="2657222"/>
            <a:ext cx="83819" cy="8077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16347" y="2657222"/>
            <a:ext cx="82295" cy="8077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78119" y="2562732"/>
            <a:ext cx="83819" cy="807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73419" y="2544446"/>
            <a:ext cx="82296" cy="8077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01663" y="1468502"/>
            <a:ext cx="82296" cy="8077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157340" y="1468502"/>
            <a:ext cx="82296" cy="8077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45019" y="1468502"/>
            <a:ext cx="82296" cy="8077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59225" y="2723514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431665" y="2699130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6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905630" y="2699130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79593" y="2603118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41365" y="2586354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10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336666" y="1510410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64910" y="1510410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220585" y="15104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23689" y="1713102"/>
            <a:ext cx="542925" cy="1466215"/>
          </a:xfrm>
          <a:custGeom>
            <a:avLst/>
            <a:gdLst/>
            <a:ahLst/>
            <a:cxnLst/>
            <a:rect l="l" t="t" r="r" b="b"/>
            <a:pathLst>
              <a:path w="542925" h="1466214">
                <a:moveTo>
                  <a:pt x="0" y="1465834"/>
                </a:moveTo>
                <a:lnTo>
                  <a:pt x="542353" y="1465834"/>
                </a:lnTo>
                <a:lnTo>
                  <a:pt x="542353" y="0"/>
                </a:lnTo>
                <a:lnTo>
                  <a:pt x="0" y="0"/>
                </a:lnTo>
                <a:lnTo>
                  <a:pt x="0" y="1465834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73219" y="2933064"/>
            <a:ext cx="464820" cy="184785"/>
          </a:xfrm>
          <a:custGeom>
            <a:avLst/>
            <a:gdLst/>
            <a:ahLst/>
            <a:cxnLst/>
            <a:rect l="l" t="t" r="r" b="b"/>
            <a:pathLst>
              <a:path w="464819" h="184785">
                <a:moveTo>
                  <a:pt x="0" y="184403"/>
                </a:moveTo>
                <a:lnTo>
                  <a:pt x="464819" y="184403"/>
                </a:lnTo>
                <a:lnTo>
                  <a:pt x="464819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630833" y="2937128"/>
            <a:ext cx="528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AlexNet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1926330" y="171322"/>
            <a:ext cx="231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ImageNet大赛历年冠军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71687" y="328216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12638" y="1997383"/>
            <a:ext cx="405130" cy="158750"/>
          </a:xfrm>
          <a:custGeom>
            <a:avLst/>
            <a:gdLst/>
            <a:ahLst/>
            <a:cxnLst/>
            <a:rect l="l" t="t" r="r" b="b"/>
            <a:pathLst>
              <a:path w="405129" h="158750">
                <a:moveTo>
                  <a:pt x="0" y="158457"/>
                </a:moveTo>
                <a:lnTo>
                  <a:pt x="405028" y="158457"/>
                </a:lnTo>
                <a:lnTo>
                  <a:pt x="405028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82364" y="2949084"/>
            <a:ext cx="457200" cy="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72280" y="3038999"/>
            <a:ext cx="277368" cy="64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61484" y="2946035"/>
            <a:ext cx="233171" cy="518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84344" y="3040523"/>
            <a:ext cx="192024" cy="594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80584" y="2947559"/>
            <a:ext cx="361188" cy="624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10480" y="3035951"/>
            <a:ext cx="501395" cy="640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39307" y="2946035"/>
            <a:ext cx="387096" cy="6400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45404" y="3035951"/>
            <a:ext cx="376427" cy="6400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80328" y="2946035"/>
            <a:ext cx="254508" cy="1539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1824" y="2946035"/>
            <a:ext cx="516636" cy="6400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26860" y="2946035"/>
            <a:ext cx="289560" cy="518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02348" y="2944511"/>
            <a:ext cx="222503" cy="15392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9582" y="2443915"/>
            <a:ext cx="848994" cy="158750"/>
          </a:xfrm>
          <a:custGeom>
            <a:avLst/>
            <a:gdLst/>
            <a:ahLst/>
            <a:cxnLst/>
            <a:rect l="l" t="t" r="r" b="b"/>
            <a:pathLst>
              <a:path w="848994" h="158750">
                <a:moveTo>
                  <a:pt x="0" y="158457"/>
                </a:moveTo>
                <a:lnTo>
                  <a:pt x="848626" y="158457"/>
                </a:lnTo>
                <a:lnTo>
                  <a:pt x="848626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61963" y="2446296"/>
            <a:ext cx="854710" cy="154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4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6174" y="2443877"/>
            <a:ext cx="405765" cy="11938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0005">
              <a:lnSpc>
                <a:spcPts val="870"/>
              </a:lnSpc>
              <a:spcBef>
                <a:spcPts val="65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81474" y="2443915"/>
            <a:ext cx="403860" cy="158750"/>
          </a:xfrm>
          <a:custGeom>
            <a:avLst/>
            <a:gdLst/>
            <a:ahLst/>
            <a:cxnLst/>
            <a:rect l="l" t="t" r="r" b="b"/>
            <a:pathLst>
              <a:path w="403860" h="158750">
                <a:moveTo>
                  <a:pt x="0" y="158457"/>
                </a:moveTo>
                <a:lnTo>
                  <a:pt x="403504" y="158457"/>
                </a:lnTo>
                <a:lnTo>
                  <a:pt x="403504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173187" y="2446296"/>
            <a:ext cx="409575" cy="154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21243" y="2006489"/>
            <a:ext cx="4762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02065" y="2004330"/>
            <a:ext cx="4502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8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489733" y="1188768"/>
          <a:ext cx="1544319" cy="149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525780"/>
                <a:gridCol w="509269"/>
              </a:tblGrid>
              <a:tr h="149351">
                <a:tc>
                  <a:txBody>
                    <a:bodyPr/>
                    <a:lstStyle/>
                    <a:p>
                      <a:pPr marL="15875">
                        <a:lnSpc>
                          <a:spcPts val="900"/>
                        </a:lnSpc>
                        <a:spcBef>
                          <a:spcPts val="175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ts val="900"/>
                        </a:lnSpc>
                        <a:spcBef>
                          <a:spcPts val="175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00"/>
                        </a:lnSpc>
                        <a:spcBef>
                          <a:spcPts val="175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23690" y="1691021"/>
            <a:ext cx="542925" cy="1466215"/>
          </a:xfrm>
          <a:custGeom>
            <a:avLst/>
            <a:gdLst/>
            <a:ahLst/>
            <a:cxnLst/>
            <a:rect l="l" t="t" r="r" b="b"/>
            <a:pathLst>
              <a:path w="542925" h="1466214">
                <a:moveTo>
                  <a:pt x="0" y="1465833"/>
                </a:moveTo>
                <a:lnTo>
                  <a:pt x="542353" y="1465833"/>
                </a:lnTo>
                <a:lnTo>
                  <a:pt x="542353" y="0"/>
                </a:lnTo>
                <a:lnTo>
                  <a:pt x="0" y="0"/>
                </a:lnTo>
                <a:lnTo>
                  <a:pt x="0" y="1465833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73220" y="2910983"/>
            <a:ext cx="464820" cy="184785"/>
          </a:xfrm>
          <a:custGeom>
            <a:avLst/>
            <a:gdLst/>
            <a:ahLst/>
            <a:cxnLst/>
            <a:rect l="l" t="t" r="r" b="b"/>
            <a:pathLst>
              <a:path w="464819" h="184785">
                <a:moveTo>
                  <a:pt x="0" y="184403"/>
                </a:moveTo>
                <a:lnTo>
                  <a:pt x="464819" y="184403"/>
                </a:lnTo>
                <a:lnTo>
                  <a:pt x="464819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630833" y="2914158"/>
            <a:ext cx="528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AlexNet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517772" y="1300115"/>
            <a:ext cx="336042" cy="56007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541140" y="1311291"/>
            <a:ext cx="248920" cy="473709"/>
          </a:xfrm>
          <a:custGeom>
            <a:avLst/>
            <a:gdLst/>
            <a:ahLst/>
            <a:cxnLst/>
            <a:rect l="l" t="t" r="r" b="b"/>
            <a:pathLst>
              <a:path w="248919" h="473710">
                <a:moveTo>
                  <a:pt x="222914" y="438665"/>
                </a:moveTo>
                <a:lnTo>
                  <a:pt x="210312" y="445135"/>
                </a:lnTo>
                <a:lnTo>
                  <a:pt x="248920" y="473456"/>
                </a:lnTo>
                <a:lnTo>
                  <a:pt x="248618" y="445008"/>
                </a:lnTo>
                <a:lnTo>
                  <a:pt x="226187" y="445008"/>
                </a:lnTo>
                <a:lnTo>
                  <a:pt x="222914" y="438665"/>
                </a:lnTo>
                <a:close/>
              </a:path>
              <a:path w="248919" h="473710">
                <a:moveTo>
                  <a:pt x="235649" y="432128"/>
                </a:moveTo>
                <a:lnTo>
                  <a:pt x="222914" y="438665"/>
                </a:lnTo>
                <a:lnTo>
                  <a:pt x="226187" y="445008"/>
                </a:lnTo>
                <a:lnTo>
                  <a:pt x="238887" y="438403"/>
                </a:lnTo>
                <a:lnTo>
                  <a:pt x="235649" y="432128"/>
                </a:lnTo>
                <a:close/>
              </a:path>
              <a:path w="248919" h="473710">
                <a:moveTo>
                  <a:pt x="248412" y="425576"/>
                </a:moveTo>
                <a:lnTo>
                  <a:pt x="235649" y="432128"/>
                </a:lnTo>
                <a:lnTo>
                  <a:pt x="238887" y="438403"/>
                </a:lnTo>
                <a:lnTo>
                  <a:pt x="226187" y="445008"/>
                </a:lnTo>
                <a:lnTo>
                  <a:pt x="248618" y="445008"/>
                </a:lnTo>
                <a:lnTo>
                  <a:pt x="248412" y="425576"/>
                </a:lnTo>
                <a:close/>
              </a:path>
              <a:path w="248919" h="473710">
                <a:moveTo>
                  <a:pt x="12700" y="0"/>
                </a:moveTo>
                <a:lnTo>
                  <a:pt x="0" y="6603"/>
                </a:lnTo>
                <a:lnTo>
                  <a:pt x="222914" y="438665"/>
                </a:lnTo>
                <a:lnTo>
                  <a:pt x="235649" y="432128"/>
                </a:lnTo>
                <a:lnTo>
                  <a:pt x="127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734307" y="1377331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下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10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个点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1926331" y="148733"/>
            <a:ext cx="231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ImageNet大赛历年冠军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4118" y="171322"/>
            <a:ext cx="265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经典网络解析——AlexNet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1516" y="2555286"/>
            <a:ext cx="2052319" cy="6367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516" y="2533205"/>
            <a:ext cx="2052319" cy="6367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4119" y="148733"/>
            <a:ext cx="265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经典网络解析——AlexNet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5564" y="771300"/>
            <a:ext cx="302526" cy="3009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8805" y="783860"/>
            <a:ext cx="258317" cy="258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9668" y="818277"/>
            <a:ext cx="3284854" cy="1730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AlexNet——验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深度卷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效性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主体贡献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提出了一种卷积层加全连接层的卷积神经网络结构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首次使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函数做为神经网络的激活函数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首次提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正则化来控制过拟合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使用加入动量的小批量梯度下降算法加速了训练过程的收敛；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使用数据增强策略极大地抑制了训练过程的过拟合；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利用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的并行计算能力，加速了网络的训练与推断。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0" y="154243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200"/>
              </a:lnSpc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1687872"/>
            <a:ext cx="58737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280" y="2068211"/>
            <a:ext cx="754380" cy="51689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1280" marR="349250">
              <a:lnSpc>
                <a:spcPct val="114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961" y="2556933"/>
            <a:ext cx="587375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580" y="1351677"/>
            <a:ext cx="17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 积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18351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6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57020"/>
            <a:ext cx="341630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1000" spc="-1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M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1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59" y="172453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6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1884705"/>
            <a:ext cx="34163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1000" spc="-1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M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2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279" y="260083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9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579" y="1374393"/>
            <a:ext cx="17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池 化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58737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 构 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35955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70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501944"/>
            <a:ext cx="58737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0" y="187009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0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2034962"/>
            <a:ext cx="587375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580" y="1138317"/>
            <a:ext cx="1778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局 部 响 应 归 一 化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587375" cy="19615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3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 构 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2791332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70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579" y="1161033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55431" y="3282162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720" y="1037733"/>
            <a:ext cx="913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说明：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6720" y="1342533"/>
            <a:ext cx="2610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仅统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接层；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719" y="1060830"/>
            <a:ext cx="913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说明：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6719" y="1365630"/>
            <a:ext cx="2610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仅统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与全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接层；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6719" y="1670430"/>
            <a:ext cx="3244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各种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归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一化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都是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它们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面卷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的特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4542" y="1828800"/>
            <a:ext cx="2056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图进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单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独算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一层。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6720" y="1037733"/>
            <a:ext cx="913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说明：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6720" y="1342533"/>
            <a:ext cx="2610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仅统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与全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接层；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6720" y="1647714"/>
            <a:ext cx="3244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各种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归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都是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它们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面卷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的特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8932" y="1952514"/>
            <a:ext cx="2056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图进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后处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独算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一层。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8657" y="2251243"/>
            <a:ext cx="1784985" cy="711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共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(CONV1——CONV5)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(FC6-FC8)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83284"/>
            <a:ext cx="587375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6" y="1247791"/>
            <a:ext cx="35071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(CONV1):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11x11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4，没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零填充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83284"/>
            <a:ext cx="587375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5" y="1270508"/>
            <a:ext cx="35071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(CONV1):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11x11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4，没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零填充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5" y="1650898"/>
            <a:ext cx="38188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问题：输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:227x227x3</a:t>
            </a:r>
            <a:r>
              <a:rPr sz="1000" spc="-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小的图像，输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特征图个数及尺寸为多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? 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尺寸：(227-11)/4+1 =</a:t>
            </a:r>
            <a:r>
              <a:rPr sz="1000" spc="-6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55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6" y="1247791"/>
            <a:ext cx="35071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(CONV1):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11x11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4，没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零填充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6" y="1628182"/>
            <a:ext cx="38188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问题：输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:227x227x3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小的图像，输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特征图个数及尺寸为多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  尺寸：(227-11)/4+1 =</a:t>
            </a:r>
            <a:r>
              <a:rPr sz="1000" spc="-6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55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6" y="2542582"/>
            <a:ext cx="167195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问题：这层有多少个参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?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(11*11*3+1)*96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35K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83284"/>
            <a:ext cx="587375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5" y="1270508"/>
            <a:ext cx="35071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(CONV1):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11x11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4，没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零填充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5" y="1650898"/>
            <a:ext cx="38188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问题：输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:227x227x3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小的图像，输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特征图个数及尺寸为多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  尺寸：(227-11)/4+1 =</a:t>
            </a:r>
            <a:r>
              <a:rPr sz="1000" spc="-6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55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5" y="2565552"/>
            <a:ext cx="167195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问题：这层有多少个参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(11*11*3+1)*96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35K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2446" y="2456814"/>
            <a:ext cx="2217420" cy="429895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88595" marR="76835" indent="-142875">
              <a:lnSpc>
                <a:spcPts val="162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923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第一个卷积层提取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种结构的响应信 息，得到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个特征相应图；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1248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2383197"/>
            <a:ext cx="587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6" y="1247791"/>
            <a:ext cx="35071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(CONV1):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11x11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4，没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零填充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6" y="1628182"/>
            <a:ext cx="38188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问题：输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:227x227x3</a:t>
            </a:r>
            <a:r>
              <a:rPr sz="1000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小的图像，输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特征图个数及尺寸为多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  尺寸：(227-11)/4+1 =</a:t>
            </a:r>
            <a:r>
              <a:rPr sz="1000" spc="-6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55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806" y="2542582"/>
            <a:ext cx="167195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问题：这层有多少个参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(11*11*3+1)*96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35K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62446" y="2434733"/>
            <a:ext cx="2217420" cy="844550"/>
          </a:xfrm>
          <a:custGeom>
            <a:avLst/>
            <a:gdLst/>
            <a:ahLst/>
            <a:cxnLst/>
            <a:rect l="l" t="t" r="r" b="b"/>
            <a:pathLst>
              <a:path w="2217420" h="844550">
                <a:moveTo>
                  <a:pt x="0" y="844296"/>
                </a:moveTo>
                <a:lnTo>
                  <a:pt x="2217420" y="844296"/>
                </a:lnTo>
                <a:lnTo>
                  <a:pt x="2217420" y="0"/>
                </a:lnTo>
                <a:lnTo>
                  <a:pt x="0" y="0"/>
                </a:lnTo>
                <a:lnTo>
                  <a:pt x="0" y="844296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864827" y="2416064"/>
            <a:ext cx="22129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90" marR="74295" indent="-14351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7325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第一个卷积层提取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种结构的响应信 息，得到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96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个特征相应图；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86690" marR="74295" indent="-143510">
              <a:lnSpc>
                <a:spcPct val="150000"/>
              </a:lnSpc>
              <a:buFont typeface="Wingdings" panose="05000000000000000000"/>
              <a:buChar char=""/>
              <a:tabLst>
                <a:tab pos="187325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特征图每个元素经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函数操作后输 出。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6815" y="3262519"/>
            <a:ext cx="328739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158490" algn="l"/>
              </a:tabLst>
            </a:pPr>
            <a:r>
              <a:rPr sz="9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19113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57020"/>
            <a:ext cx="587375" cy="194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16905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34302"/>
            <a:ext cx="587375" cy="194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6" y="1247791"/>
            <a:ext cx="20472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POOL1: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窗口大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3x3，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步长为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19113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57020"/>
            <a:ext cx="587375" cy="194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5" y="1193698"/>
            <a:ext cx="319913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POOL1: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窗口大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3x3，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步长为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轻微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移带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的影响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16905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34302"/>
            <a:ext cx="587375" cy="194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6" y="1170981"/>
            <a:ext cx="319913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POOL1: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窗口大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3x3，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步长为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轻微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移带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的影响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88430" y="1141619"/>
            <a:ext cx="295275" cy="233679"/>
          </a:xfrm>
          <a:custGeom>
            <a:avLst/>
            <a:gdLst/>
            <a:ahLst/>
            <a:cxnLst/>
            <a:rect l="l" t="t" r="r" b="b"/>
            <a:pathLst>
              <a:path w="295275" h="233680">
                <a:moveTo>
                  <a:pt x="295275" y="53848"/>
                </a:moveTo>
                <a:lnTo>
                  <a:pt x="72262" y="206248"/>
                </a:lnTo>
                <a:lnTo>
                  <a:pt x="90550" y="233172"/>
                </a:lnTo>
                <a:lnTo>
                  <a:pt x="0" y="216154"/>
                </a:lnTo>
                <a:lnTo>
                  <a:pt x="17018" y="125603"/>
                </a:lnTo>
                <a:lnTo>
                  <a:pt x="35433" y="152526"/>
                </a:lnTo>
                <a:lnTo>
                  <a:pt x="258445" y="0"/>
                </a:lnTo>
                <a:lnTo>
                  <a:pt x="295275" y="53848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32727" y="927116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叠有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助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抗过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19113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57020"/>
            <a:ext cx="587375" cy="194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5" y="1193698"/>
            <a:ext cx="3199130" cy="939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POOL1: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窗口大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3x3，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步长为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轻微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移带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的影响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输出尺寸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(55-3)/2+1</a:t>
            </a:r>
            <a:r>
              <a:rPr sz="10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6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27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特征图个数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：96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88429" y="1163700"/>
            <a:ext cx="295275" cy="233679"/>
          </a:xfrm>
          <a:custGeom>
            <a:avLst/>
            <a:gdLst/>
            <a:ahLst/>
            <a:cxnLst/>
            <a:rect l="l" t="t" r="r" b="b"/>
            <a:pathLst>
              <a:path w="295275" h="233680">
                <a:moveTo>
                  <a:pt x="295275" y="53848"/>
                </a:moveTo>
                <a:lnTo>
                  <a:pt x="72262" y="206248"/>
                </a:lnTo>
                <a:lnTo>
                  <a:pt x="90550" y="233172"/>
                </a:lnTo>
                <a:lnTo>
                  <a:pt x="0" y="216154"/>
                </a:lnTo>
                <a:lnTo>
                  <a:pt x="17018" y="125602"/>
                </a:lnTo>
                <a:lnTo>
                  <a:pt x="35433" y="152526"/>
                </a:lnTo>
                <a:lnTo>
                  <a:pt x="258445" y="0"/>
                </a:lnTo>
                <a:lnTo>
                  <a:pt x="295275" y="538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32727" y="949833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叠有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助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于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抗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16905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334302"/>
            <a:ext cx="587375" cy="194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6" y="1170981"/>
            <a:ext cx="3199130" cy="1168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POOL1: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窗口大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3x3，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步长为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低特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轻微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目标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移带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的影响 输出尺寸：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(55-3)/2+1</a:t>
            </a:r>
            <a:r>
              <a:rPr sz="10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6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27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2289810">
              <a:lnSpc>
                <a:spcPct val="15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特征图个数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96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：0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88430" y="1141619"/>
            <a:ext cx="295275" cy="233679"/>
          </a:xfrm>
          <a:custGeom>
            <a:avLst/>
            <a:gdLst/>
            <a:ahLst/>
            <a:cxnLst/>
            <a:rect l="l" t="t" r="r" b="b"/>
            <a:pathLst>
              <a:path w="295275" h="233680">
                <a:moveTo>
                  <a:pt x="295275" y="53848"/>
                </a:moveTo>
                <a:lnTo>
                  <a:pt x="72262" y="206248"/>
                </a:lnTo>
                <a:lnTo>
                  <a:pt x="90550" y="233172"/>
                </a:lnTo>
                <a:lnTo>
                  <a:pt x="0" y="216154"/>
                </a:lnTo>
                <a:lnTo>
                  <a:pt x="17018" y="125603"/>
                </a:lnTo>
                <a:lnTo>
                  <a:pt x="35433" y="152526"/>
                </a:lnTo>
                <a:lnTo>
                  <a:pt x="258445" y="0"/>
                </a:lnTo>
                <a:lnTo>
                  <a:pt x="295275" y="538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32727" y="927116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叠有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助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于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抗过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合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58737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 构 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35877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524279"/>
            <a:ext cx="587375" cy="177609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5" y="1326895"/>
            <a:ext cx="1621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局部相应归一化层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（NORM1）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58737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 构 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33669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0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501944"/>
            <a:ext cx="587375" cy="17754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4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6" y="1304179"/>
            <a:ext cx="19424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局部相应归一化层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（NORM1）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作用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6" y="1608979"/>
            <a:ext cx="2226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局部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建竞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机制；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6" y="1913779"/>
            <a:ext cx="19742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应比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变得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806" y="2218579"/>
            <a:ext cx="1846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制其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反馈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9806" y="2523379"/>
            <a:ext cx="1339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强模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的泛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58737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 构 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35877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5"/>
              </a:spcBef>
            </a:pP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524279"/>
            <a:ext cx="587375" cy="177609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805" y="1326895"/>
            <a:ext cx="19424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局部相应归一化层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（NORM1）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作用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5" y="1631695"/>
            <a:ext cx="2226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局部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活动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建竞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争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机制；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5" y="1936495"/>
            <a:ext cx="19742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应比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值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变得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对更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805" y="2241295"/>
            <a:ext cx="1846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制其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反馈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较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经元；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9805" y="2545791"/>
            <a:ext cx="133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3515" algn="l"/>
              </a:tabLst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泛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65672" y="1354200"/>
            <a:ext cx="844550" cy="157480"/>
          </a:xfrm>
          <a:custGeom>
            <a:avLst/>
            <a:gdLst/>
            <a:ahLst/>
            <a:cxnLst/>
            <a:rect l="l" t="t" r="r" b="b"/>
            <a:pathLst>
              <a:path w="844550" h="157480">
                <a:moveTo>
                  <a:pt x="844295" y="117729"/>
                </a:moveTo>
                <a:lnTo>
                  <a:pt x="78486" y="117729"/>
                </a:lnTo>
                <a:lnTo>
                  <a:pt x="78486" y="156972"/>
                </a:lnTo>
                <a:lnTo>
                  <a:pt x="0" y="78486"/>
                </a:lnTo>
                <a:lnTo>
                  <a:pt x="78486" y="0"/>
                </a:lnTo>
                <a:lnTo>
                  <a:pt x="78486" y="39243"/>
                </a:lnTo>
                <a:lnTo>
                  <a:pt x="844295" y="39243"/>
                </a:lnTo>
                <a:lnTo>
                  <a:pt x="844295" y="11772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685405" y="1283334"/>
            <a:ext cx="1153795" cy="1394460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45720" marR="83185" algn="just">
              <a:lnSpc>
                <a:spcPts val="18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来的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究表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络中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分类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能的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升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果并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明显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且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增加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存 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空间。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587375" cy="739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1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 构 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52719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687872"/>
            <a:ext cx="587375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1183284"/>
            <a:ext cx="58737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59" y="1549272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1710969"/>
            <a:ext cx="587375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5" y="1270508"/>
            <a:ext cx="363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第二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(CONV2):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256 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5x5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p=2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1160567"/>
            <a:ext cx="58737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60" y="1527191"/>
            <a:ext cx="754380" cy="18923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1687872"/>
            <a:ext cx="587375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6" y="1247791"/>
            <a:ext cx="363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第二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(CONV2):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256 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5x5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p=2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6" y="1628182"/>
            <a:ext cx="40887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问题：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:</a:t>
            </a:r>
            <a:r>
              <a:rPr sz="1000" spc="-2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27x27x96</a:t>
            </a:r>
            <a:r>
              <a:rPr sz="1000" spc="16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大小的特征图组，输出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个数及尺寸为多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  尺寸：(27 - 5 +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2*2)/1+1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27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：256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1183284"/>
            <a:ext cx="58737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59" y="1707768"/>
            <a:ext cx="754380" cy="34925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88900" marR="95885">
              <a:lnSpc>
                <a:spcPct val="114000"/>
              </a:lnSpc>
              <a:spcBef>
                <a:spcPts val="12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2058441"/>
            <a:ext cx="587375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5" y="1270508"/>
            <a:ext cx="363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第二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(CONV2):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256 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5x5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p=2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5" y="1650898"/>
            <a:ext cx="41586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问题：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:</a:t>
            </a:r>
            <a:r>
              <a:rPr sz="1000" spc="-2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27x27x256</a:t>
            </a:r>
            <a:r>
              <a:rPr sz="1000" spc="180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大小的特征图组，输出特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图个数及尺寸为多少?  尺寸：(27 - 5 +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2*2)/1+1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27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：256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1660" y="2068211"/>
            <a:ext cx="754380" cy="349250"/>
          </a:xfrm>
          <a:custGeom>
            <a:avLst/>
            <a:gdLst/>
            <a:ahLst/>
            <a:cxnLst/>
            <a:rect l="l" t="t" r="r" b="b"/>
            <a:pathLst>
              <a:path w="754380" h="349250">
                <a:moveTo>
                  <a:pt x="0" y="348996"/>
                </a:moveTo>
                <a:lnTo>
                  <a:pt x="754379" y="348996"/>
                </a:lnTo>
                <a:lnTo>
                  <a:pt x="754379" y="0"/>
                </a:lnTo>
                <a:lnTo>
                  <a:pt x="0" y="0"/>
                </a:lnTo>
                <a:lnTo>
                  <a:pt x="0" y="348996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660" y="2068211"/>
            <a:ext cx="754380" cy="349250"/>
          </a:xfrm>
          <a:custGeom>
            <a:avLst/>
            <a:gdLst/>
            <a:ahLst/>
            <a:cxnLst/>
            <a:rect l="l" t="t" r="r" b="b"/>
            <a:pathLst>
              <a:path w="754380" h="349250">
                <a:moveTo>
                  <a:pt x="0" y="348996"/>
                </a:moveTo>
                <a:lnTo>
                  <a:pt x="754379" y="348996"/>
                </a:lnTo>
                <a:lnTo>
                  <a:pt x="754379" y="0"/>
                </a:lnTo>
                <a:lnTo>
                  <a:pt x="0" y="0"/>
                </a:lnTo>
                <a:lnTo>
                  <a:pt x="0" y="348996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1160567"/>
            <a:ext cx="587375" cy="9004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8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2034962"/>
            <a:ext cx="341630" cy="374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961" y="2383197"/>
            <a:ext cx="587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806" y="1170981"/>
            <a:ext cx="41408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第三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(CONV3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、CONV4):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384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个3x3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1，使用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填充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p=1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9806" y="1856782"/>
            <a:ext cx="41573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：CONV3输入:</a:t>
            </a:r>
            <a:r>
              <a:rPr sz="1000" spc="-2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13x13x256</a:t>
            </a:r>
            <a:r>
              <a:rPr sz="10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大小的特征图组，输出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征图个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及尺寸为 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尺寸：(13 - 3 +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2*1)/1+1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13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：384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1659" y="2090292"/>
            <a:ext cx="754380" cy="349250"/>
          </a:xfrm>
          <a:custGeom>
            <a:avLst/>
            <a:gdLst/>
            <a:ahLst/>
            <a:cxnLst/>
            <a:rect l="l" t="t" r="r" b="b"/>
            <a:pathLst>
              <a:path w="754380" h="349250">
                <a:moveTo>
                  <a:pt x="0" y="348995"/>
                </a:moveTo>
                <a:lnTo>
                  <a:pt x="754379" y="348995"/>
                </a:lnTo>
                <a:lnTo>
                  <a:pt x="754379" y="0"/>
                </a:lnTo>
                <a:lnTo>
                  <a:pt x="0" y="0"/>
                </a:lnTo>
                <a:lnTo>
                  <a:pt x="0" y="348995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659" y="2090292"/>
            <a:ext cx="754380" cy="349250"/>
          </a:xfrm>
          <a:custGeom>
            <a:avLst/>
            <a:gdLst/>
            <a:ahLst/>
            <a:cxnLst/>
            <a:rect l="l" t="t" r="r" b="b"/>
            <a:pathLst>
              <a:path w="754380" h="349250">
                <a:moveTo>
                  <a:pt x="0" y="348995"/>
                </a:moveTo>
                <a:lnTo>
                  <a:pt x="754379" y="348995"/>
                </a:lnTo>
                <a:lnTo>
                  <a:pt x="754379" y="0"/>
                </a:lnTo>
                <a:lnTo>
                  <a:pt x="0" y="0"/>
                </a:lnTo>
                <a:lnTo>
                  <a:pt x="0" y="348995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1183284"/>
            <a:ext cx="587375" cy="9010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8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2058441"/>
            <a:ext cx="341630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961" y="2405913"/>
            <a:ext cx="587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805" y="1193698"/>
            <a:ext cx="41408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第三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(CONV3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、CONV4):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384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个3x3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1，使用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填充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p=1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9805" y="1879498"/>
            <a:ext cx="41573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：CONV3输入:</a:t>
            </a:r>
            <a:r>
              <a:rPr sz="1000" spc="-2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Arial" panose="020B0604020202020204"/>
                <a:cs typeface="Arial" panose="020B0604020202020204"/>
              </a:rPr>
              <a:t>13x13x256</a:t>
            </a:r>
            <a:r>
              <a:rPr sz="1000" spc="175" dirty="0">
                <a:latin typeface="Arial" panose="020B0604020202020204"/>
                <a:cs typeface="Arial" panose="020B060402020202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大小的特征图组，输出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征图个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及尺寸为 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?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尺寸：(13 - 3 +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2*1)/1+1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7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13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：384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9299" y="2970910"/>
            <a:ext cx="2159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没有进行最大池化与局部归一化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1660" y="2417207"/>
            <a:ext cx="754380" cy="182880"/>
          </a:xfrm>
          <a:custGeom>
            <a:avLst/>
            <a:gdLst/>
            <a:ahLst/>
            <a:cxnLst/>
            <a:rect l="l" t="t" r="r" b="b"/>
            <a:pathLst>
              <a:path w="754380" h="182880">
                <a:moveTo>
                  <a:pt x="0" y="182879"/>
                </a:moveTo>
                <a:lnTo>
                  <a:pt x="754379" y="182879"/>
                </a:lnTo>
                <a:lnTo>
                  <a:pt x="754379" y="0"/>
                </a:lnTo>
                <a:lnTo>
                  <a:pt x="0" y="0"/>
                </a:lnTo>
                <a:lnTo>
                  <a:pt x="0" y="182879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660" y="2417207"/>
            <a:ext cx="754380" cy="182880"/>
          </a:xfrm>
          <a:custGeom>
            <a:avLst/>
            <a:gdLst/>
            <a:ahLst/>
            <a:cxnLst/>
            <a:rect l="l" t="t" r="r" b="b"/>
            <a:pathLst>
              <a:path w="754380" h="182880">
                <a:moveTo>
                  <a:pt x="0" y="182879"/>
                </a:moveTo>
                <a:lnTo>
                  <a:pt x="754379" y="182879"/>
                </a:lnTo>
                <a:lnTo>
                  <a:pt x="754379" y="0"/>
                </a:lnTo>
                <a:lnTo>
                  <a:pt x="0" y="0"/>
                </a:lnTo>
                <a:lnTo>
                  <a:pt x="0" y="182879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1160567"/>
            <a:ext cx="587375" cy="1248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2383197"/>
            <a:ext cx="587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6" y="1247791"/>
            <a:ext cx="363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第五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(CONV5):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256 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3x3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p=1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1183284"/>
            <a:ext cx="587375" cy="1421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659" y="2579496"/>
            <a:ext cx="754380" cy="1879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7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5" y="1270508"/>
            <a:ext cx="363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第五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(CONV5):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256 个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3x3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卷积核，步长为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1，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零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充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p=1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9805" y="1727707"/>
            <a:ext cx="2056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缩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图尺寸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80" y="1138317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0" y="2769251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65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9806" y="1247791"/>
            <a:ext cx="31915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sz="1000"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(FC6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、FC7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、FC8):全连接神经网络分类器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5431" y="3259471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79" y="1161033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83284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59" y="2791332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70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pc="-10" dirty="0"/>
              <a:t>(FC6</a:t>
            </a:r>
            <a:r>
              <a:rPr spc="-5" dirty="0"/>
              <a:t>、FC7</a:t>
            </a:r>
            <a:r>
              <a:rPr spc="-40" dirty="0"/>
              <a:t> </a:t>
            </a:r>
            <a:r>
              <a:rPr spc="-5" dirty="0"/>
              <a:t>、FC8):全连接神经网络分类器</a:t>
            </a:r>
            <a:endParaRPr spc="-5" dirty="0"/>
          </a:p>
          <a:p>
            <a:pPr marL="12700" marR="1334770">
              <a:lnSpc>
                <a:spcPct val="150000"/>
              </a:lnSpc>
            </a:pPr>
            <a:r>
              <a:rPr spc="-5" dirty="0">
                <a:solidFill>
                  <a:srgbClr val="FF0000"/>
                </a:solidFill>
              </a:rPr>
              <a:t>MAX</a:t>
            </a:r>
            <a:r>
              <a:rPr spc="-7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POOL3</a:t>
            </a:r>
            <a:r>
              <a:rPr spc="-5" dirty="0">
                <a:solidFill>
                  <a:srgbClr val="FF0000"/>
                </a:solidFill>
              </a:rPr>
              <a:t>的</a:t>
            </a:r>
            <a:r>
              <a:rPr spc="10" dirty="0">
                <a:solidFill>
                  <a:srgbClr val="FF0000"/>
                </a:solidFill>
              </a:rPr>
              <a:t>输</a:t>
            </a:r>
            <a:r>
              <a:rPr spc="-5" dirty="0">
                <a:solidFill>
                  <a:srgbClr val="FF0000"/>
                </a:solidFill>
              </a:rPr>
              <a:t>出：特征响应图组 输出：图像类别概率</a:t>
            </a:r>
            <a:endParaRPr spc="-5" dirty="0">
              <a:solidFill>
                <a:srgbClr val="FF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6467" y="2267000"/>
            <a:ext cx="0" cy="309880"/>
          </a:xfrm>
          <a:custGeom>
            <a:avLst/>
            <a:gdLst/>
            <a:ahLst/>
            <a:cxnLst/>
            <a:rect l="l" t="t" r="r" b="b"/>
            <a:pathLst>
              <a:path h="309880">
                <a:moveTo>
                  <a:pt x="0" y="0"/>
                </a:moveTo>
                <a:lnTo>
                  <a:pt x="0" y="309448"/>
                </a:lnTo>
              </a:path>
            </a:pathLst>
          </a:custGeom>
          <a:ln w="12191">
            <a:solidFill>
              <a:srgbClr val="F1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05550" y="2163444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504" y="0"/>
                </a:moveTo>
                <a:lnTo>
                  <a:pt x="0" y="103505"/>
                </a:lnTo>
                <a:lnTo>
                  <a:pt x="0" y="413004"/>
                </a:lnTo>
                <a:lnTo>
                  <a:pt x="103504" y="309499"/>
                </a:lnTo>
                <a:lnTo>
                  <a:pt x="103504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70372" y="2163444"/>
            <a:ext cx="139065" cy="103505"/>
          </a:xfrm>
          <a:custGeom>
            <a:avLst/>
            <a:gdLst/>
            <a:ahLst/>
            <a:cxnLst/>
            <a:rect l="l" t="t" r="r" b="b"/>
            <a:pathLst>
              <a:path w="139064" h="103505">
                <a:moveTo>
                  <a:pt x="138683" y="0"/>
                </a:moveTo>
                <a:lnTo>
                  <a:pt x="103504" y="0"/>
                </a:lnTo>
                <a:lnTo>
                  <a:pt x="0" y="103505"/>
                </a:lnTo>
                <a:lnTo>
                  <a:pt x="35178" y="103505"/>
                </a:lnTo>
                <a:lnTo>
                  <a:pt x="138683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40603" y="2164968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505" y="0"/>
                </a:moveTo>
                <a:lnTo>
                  <a:pt x="0" y="103505"/>
                </a:lnTo>
                <a:lnTo>
                  <a:pt x="0" y="413004"/>
                </a:lnTo>
                <a:lnTo>
                  <a:pt x="103505" y="309499"/>
                </a:lnTo>
                <a:lnTo>
                  <a:pt x="103505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05423" y="2164968"/>
            <a:ext cx="139065" cy="103505"/>
          </a:xfrm>
          <a:custGeom>
            <a:avLst/>
            <a:gdLst/>
            <a:ahLst/>
            <a:cxnLst/>
            <a:rect l="l" t="t" r="r" b="b"/>
            <a:pathLst>
              <a:path w="139064" h="103505">
                <a:moveTo>
                  <a:pt x="138684" y="0"/>
                </a:moveTo>
                <a:lnTo>
                  <a:pt x="103504" y="0"/>
                </a:lnTo>
                <a:lnTo>
                  <a:pt x="0" y="103505"/>
                </a:lnTo>
                <a:lnTo>
                  <a:pt x="35178" y="103505"/>
                </a:lnTo>
                <a:lnTo>
                  <a:pt x="138684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82563" y="2268219"/>
            <a:ext cx="702945" cy="309880"/>
          </a:xfrm>
          <a:custGeom>
            <a:avLst/>
            <a:gdLst/>
            <a:ahLst/>
            <a:cxnLst/>
            <a:rect l="l" t="t" r="r" b="b"/>
            <a:pathLst>
              <a:path w="702945" h="309880">
                <a:moveTo>
                  <a:pt x="0" y="309752"/>
                </a:moveTo>
                <a:lnTo>
                  <a:pt x="702945" y="309752"/>
                </a:lnTo>
                <a:lnTo>
                  <a:pt x="702945" y="0"/>
                </a:lnTo>
                <a:lnTo>
                  <a:pt x="0" y="0"/>
                </a:lnTo>
                <a:lnTo>
                  <a:pt x="0" y="309752"/>
                </a:lnTo>
                <a:close/>
              </a:path>
            </a:pathLst>
          </a:custGeom>
          <a:solidFill>
            <a:srgbClr val="F1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85509" y="2164968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250" y="0"/>
                </a:moveTo>
                <a:lnTo>
                  <a:pt x="0" y="103250"/>
                </a:lnTo>
                <a:lnTo>
                  <a:pt x="0" y="413004"/>
                </a:lnTo>
                <a:lnTo>
                  <a:pt x="103250" y="309753"/>
                </a:lnTo>
                <a:lnTo>
                  <a:pt x="103250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82563" y="2164968"/>
            <a:ext cx="806450" cy="103505"/>
          </a:xfrm>
          <a:custGeom>
            <a:avLst/>
            <a:gdLst/>
            <a:ahLst/>
            <a:cxnLst/>
            <a:rect l="l" t="t" r="r" b="b"/>
            <a:pathLst>
              <a:path w="806450" h="103505">
                <a:moveTo>
                  <a:pt x="806196" y="0"/>
                </a:moveTo>
                <a:lnTo>
                  <a:pt x="103250" y="0"/>
                </a:lnTo>
                <a:lnTo>
                  <a:pt x="0" y="103250"/>
                </a:lnTo>
                <a:lnTo>
                  <a:pt x="702945" y="103250"/>
                </a:lnTo>
                <a:lnTo>
                  <a:pt x="806196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96596" y="2268524"/>
            <a:ext cx="0" cy="309880"/>
          </a:xfrm>
          <a:custGeom>
            <a:avLst/>
            <a:gdLst/>
            <a:ahLst/>
            <a:cxnLst/>
            <a:rect l="l" t="t" r="r" b="b"/>
            <a:pathLst>
              <a:path h="309880">
                <a:moveTo>
                  <a:pt x="0" y="0"/>
                </a:moveTo>
                <a:lnTo>
                  <a:pt x="0" y="309448"/>
                </a:lnTo>
              </a:path>
            </a:pathLst>
          </a:custGeom>
          <a:ln w="35129">
            <a:solidFill>
              <a:srgbClr val="F1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14210" y="2164968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504" y="0"/>
                </a:moveTo>
                <a:lnTo>
                  <a:pt x="0" y="103505"/>
                </a:lnTo>
                <a:lnTo>
                  <a:pt x="0" y="413004"/>
                </a:lnTo>
                <a:lnTo>
                  <a:pt x="103504" y="309499"/>
                </a:lnTo>
                <a:lnTo>
                  <a:pt x="103504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79031" y="2164968"/>
            <a:ext cx="139065" cy="103505"/>
          </a:xfrm>
          <a:custGeom>
            <a:avLst/>
            <a:gdLst/>
            <a:ahLst/>
            <a:cxnLst/>
            <a:rect l="l" t="t" r="r" b="b"/>
            <a:pathLst>
              <a:path w="139064" h="103505">
                <a:moveTo>
                  <a:pt x="138683" y="0"/>
                </a:moveTo>
                <a:lnTo>
                  <a:pt x="103504" y="0"/>
                </a:lnTo>
                <a:lnTo>
                  <a:pt x="0" y="103505"/>
                </a:lnTo>
                <a:lnTo>
                  <a:pt x="35178" y="103505"/>
                </a:lnTo>
                <a:lnTo>
                  <a:pt x="138683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540500" y="2255011"/>
            <a:ext cx="243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3216" y="234759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21730" y="209524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69610" y="2165730"/>
            <a:ext cx="847725" cy="408940"/>
          </a:xfrm>
          <a:custGeom>
            <a:avLst/>
            <a:gdLst/>
            <a:ahLst/>
            <a:cxnLst/>
            <a:rect l="l" t="t" r="r" b="b"/>
            <a:pathLst>
              <a:path w="847725" h="408939">
                <a:moveTo>
                  <a:pt x="0" y="102107"/>
                </a:moveTo>
                <a:lnTo>
                  <a:pt x="102107" y="0"/>
                </a:lnTo>
                <a:lnTo>
                  <a:pt x="847343" y="0"/>
                </a:lnTo>
                <a:lnTo>
                  <a:pt x="847343" y="306324"/>
                </a:lnTo>
                <a:lnTo>
                  <a:pt x="745236" y="408431"/>
                </a:lnTo>
                <a:lnTo>
                  <a:pt x="0" y="408431"/>
                </a:lnTo>
                <a:lnTo>
                  <a:pt x="0" y="102107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69610" y="2165730"/>
            <a:ext cx="847725" cy="102235"/>
          </a:xfrm>
          <a:custGeom>
            <a:avLst/>
            <a:gdLst/>
            <a:ahLst/>
            <a:cxnLst/>
            <a:rect l="l" t="t" r="r" b="b"/>
            <a:pathLst>
              <a:path w="847725" h="102235">
                <a:moveTo>
                  <a:pt x="0" y="102107"/>
                </a:moveTo>
                <a:lnTo>
                  <a:pt x="745236" y="102107"/>
                </a:lnTo>
                <a:lnTo>
                  <a:pt x="847343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14846" y="2267838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5">
                <a:moveTo>
                  <a:pt x="0" y="0"/>
                </a:moveTo>
                <a:lnTo>
                  <a:pt x="0" y="306324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324728" y="2540586"/>
            <a:ext cx="556260" cy="3289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365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55431" y="3282162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80" y="1138317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0" y="2769251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65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76468" y="2244919"/>
            <a:ext cx="0" cy="309880"/>
          </a:xfrm>
          <a:custGeom>
            <a:avLst/>
            <a:gdLst/>
            <a:ahLst/>
            <a:cxnLst/>
            <a:rect l="l" t="t" r="r" b="b"/>
            <a:pathLst>
              <a:path h="309880">
                <a:moveTo>
                  <a:pt x="0" y="0"/>
                </a:moveTo>
                <a:lnTo>
                  <a:pt x="0" y="309448"/>
                </a:lnTo>
              </a:path>
            </a:pathLst>
          </a:custGeom>
          <a:ln w="12191">
            <a:solidFill>
              <a:srgbClr val="F1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5550" y="2141363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504" y="0"/>
                </a:moveTo>
                <a:lnTo>
                  <a:pt x="0" y="103504"/>
                </a:lnTo>
                <a:lnTo>
                  <a:pt x="0" y="413003"/>
                </a:lnTo>
                <a:lnTo>
                  <a:pt x="103504" y="309499"/>
                </a:lnTo>
                <a:lnTo>
                  <a:pt x="103504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70372" y="2141363"/>
            <a:ext cx="139065" cy="103505"/>
          </a:xfrm>
          <a:custGeom>
            <a:avLst/>
            <a:gdLst/>
            <a:ahLst/>
            <a:cxnLst/>
            <a:rect l="l" t="t" r="r" b="b"/>
            <a:pathLst>
              <a:path w="139064" h="103505">
                <a:moveTo>
                  <a:pt x="138683" y="0"/>
                </a:moveTo>
                <a:lnTo>
                  <a:pt x="103504" y="0"/>
                </a:lnTo>
                <a:lnTo>
                  <a:pt x="0" y="103504"/>
                </a:lnTo>
                <a:lnTo>
                  <a:pt x="35178" y="103504"/>
                </a:lnTo>
                <a:lnTo>
                  <a:pt x="138683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40603" y="2142887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505" y="0"/>
                </a:moveTo>
                <a:lnTo>
                  <a:pt x="0" y="103504"/>
                </a:lnTo>
                <a:lnTo>
                  <a:pt x="0" y="413003"/>
                </a:lnTo>
                <a:lnTo>
                  <a:pt x="103505" y="309499"/>
                </a:lnTo>
                <a:lnTo>
                  <a:pt x="103505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05424" y="2142887"/>
            <a:ext cx="139065" cy="103505"/>
          </a:xfrm>
          <a:custGeom>
            <a:avLst/>
            <a:gdLst/>
            <a:ahLst/>
            <a:cxnLst/>
            <a:rect l="l" t="t" r="r" b="b"/>
            <a:pathLst>
              <a:path w="139064" h="103505">
                <a:moveTo>
                  <a:pt x="138684" y="0"/>
                </a:moveTo>
                <a:lnTo>
                  <a:pt x="103504" y="0"/>
                </a:lnTo>
                <a:lnTo>
                  <a:pt x="0" y="103504"/>
                </a:lnTo>
                <a:lnTo>
                  <a:pt x="35178" y="103504"/>
                </a:lnTo>
                <a:lnTo>
                  <a:pt x="138684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82563" y="2246138"/>
            <a:ext cx="702945" cy="309880"/>
          </a:xfrm>
          <a:custGeom>
            <a:avLst/>
            <a:gdLst/>
            <a:ahLst/>
            <a:cxnLst/>
            <a:rect l="l" t="t" r="r" b="b"/>
            <a:pathLst>
              <a:path w="702945" h="309880">
                <a:moveTo>
                  <a:pt x="0" y="309752"/>
                </a:moveTo>
                <a:lnTo>
                  <a:pt x="702945" y="309752"/>
                </a:lnTo>
                <a:lnTo>
                  <a:pt x="702945" y="0"/>
                </a:lnTo>
                <a:lnTo>
                  <a:pt x="0" y="0"/>
                </a:lnTo>
                <a:lnTo>
                  <a:pt x="0" y="309752"/>
                </a:lnTo>
                <a:close/>
              </a:path>
            </a:pathLst>
          </a:custGeom>
          <a:solidFill>
            <a:srgbClr val="F1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85509" y="2142887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250" y="0"/>
                </a:moveTo>
                <a:lnTo>
                  <a:pt x="0" y="103250"/>
                </a:lnTo>
                <a:lnTo>
                  <a:pt x="0" y="413003"/>
                </a:lnTo>
                <a:lnTo>
                  <a:pt x="103250" y="309752"/>
                </a:lnTo>
                <a:lnTo>
                  <a:pt x="103250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82563" y="2142887"/>
            <a:ext cx="806450" cy="103505"/>
          </a:xfrm>
          <a:custGeom>
            <a:avLst/>
            <a:gdLst/>
            <a:ahLst/>
            <a:cxnLst/>
            <a:rect l="l" t="t" r="r" b="b"/>
            <a:pathLst>
              <a:path w="806450" h="103505">
                <a:moveTo>
                  <a:pt x="806196" y="0"/>
                </a:moveTo>
                <a:lnTo>
                  <a:pt x="103250" y="0"/>
                </a:lnTo>
                <a:lnTo>
                  <a:pt x="0" y="103250"/>
                </a:lnTo>
                <a:lnTo>
                  <a:pt x="702945" y="103250"/>
                </a:lnTo>
                <a:lnTo>
                  <a:pt x="806196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96596" y="2246443"/>
            <a:ext cx="0" cy="309880"/>
          </a:xfrm>
          <a:custGeom>
            <a:avLst/>
            <a:gdLst/>
            <a:ahLst/>
            <a:cxnLst/>
            <a:rect l="l" t="t" r="r" b="b"/>
            <a:pathLst>
              <a:path h="309880">
                <a:moveTo>
                  <a:pt x="0" y="0"/>
                </a:moveTo>
                <a:lnTo>
                  <a:pt x="0" y="309448"/>
                </a:lnTo>
              </a:path>
            </a:pathLst>
          </a:custGeom>
          <a:ln w="35129">
            <a:solidFill>
              <a:srgbClr val="F1DC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14211" y="2142887"/>
            <a:ext cx="103505" cy="413384"/>
          </a:xfrm>
          <a:custGeom>
            <a:avLst/>
            <a:gdLst/>
            <a:ahLst/>
            <a:cxnLst/>
            <a:rect l="l" t="t" r="r" b="b"/>
            <a:pathLst>
              <a:path w="103504" h="413385">
                <a:moveTo>
                  <a:pt x="103504" y="0"/>
                </a:moveTo>
                <a:lnTo>
                  <a:pt x="0" y="103504"/>
                </a:lnTo>
                <a:lnTo>
                  <a:pt x="0" y="413003"/>
                </a:lnTo>
                <a:lnTo>
                  <a:pt x="103504" y="309499"/>
                </a:lnTo>
                <a:lnTo>
                  <a:pt x="103504" y="0"/>
                </a:lnTo>
                <a:close/>
              </a:path>
            </a:pathLst>
          </a:custGeom>
          <a:solidFill>
            <a:srgbClr val="C3B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79031" y="2142887"/>
            <a:ext cx="139065" cy="103505"/>
          </a:xfrm>
          <a:custGeom>
            <a:avLst/>
            <a:gdLst/>
            <a:ahLst/>
            <a:cxnLst/>
            <a:rect l="l" t="t" r="r" b="b"/>
            <a:pathLst>
              <a:path w="139064" h="103505">
                <a:moveTo>
                  <a:pt x="138683" y="0"/>
                </a:moveTo>
                <a:lnTo>
                  <a:pt x="103504" y="0"/>
                </a:lnTo>
                <a:lnTo>
                  <a:pt x="0" y="103504"/>
                </a:lnTo>
                <a:lnTo>
                  <a:pt x="35178" y="103504"/>
                </a:lnTo>
                <a:lnTo>
                  <a:pt x="138683" y="0"/>
                </a:lnTo>
                <a:close/>
              </a:path>
            </a:pathLst>
          </a:custGeom>
          <a:solidFill>
            <a:srgbClr val="F5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40500" y="2232295"/>
            <a:ext cx="243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3217" y="232500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pc="-10" dirty="0"/>
              <a:t>(FC6</a:t>
            </a:r>
            <a:r>
              <a:rPr spc="-5" dirty="0"/>
              <a:t>、FC7</a:t>
            </a:r>
            <a:r>
              <a:rPr spc="-40" dirty="0"/>
              <a:t> </a:t>
            </a:r>
            <a:r>
              <a:rPr spc="-5" dirty="0"/>
              <a:t>、FC8):全连接神经网络分类器</a:t>
            </a:r>
            <a:endParaRPr spc="-5" dirty="0"/>
          </a:p>
          <a:p>
            <a:pPr marL="12700" marR="1334770">
              <a:lnSpc>
                <a:spcPct val="150000"/>
              </a:lnSpc>
            </a:pPr>
            <a:r>
              <a:rPr spc="-5" dirty="0"/>
              <a:t>MAX</a:t>
            </a:r>
            <a:r>
              <a:rPr spc="-75" dirty="0"/>
              <a:t> </a:t>
            </a:r>
            <a:r>
              <a:rPr spc="-10" dirty="0"/>
              <a:t>POOL3</a:t>
            </a:r>
            <a:r>
              <a:rPr spc="-5" dirty="0"/>
              <a:t>的</a:t>
            </a:r>
            <a:r>
              <a:rPr spc="10" dirty="0"/>
              <a:t>输</a:t>
            </a:r>
            <a:r>
              <a:rPr spc="-5" dirty="0"/>
              <a:t>出：特征响应图组 输出：图像类别概率</a:t>
            </a:r>
            <a:endParaRPr spc="-5" dirty="0"/>
          </a:p>
          <a:p>
            <a:pPr marL="12700">
              <a:lnSpc>
                <a:spcPts val="1150"/>
              </a:lnSpc>
              <a:spcBef>
                <a:spcPts val="600"/>
              </a:spcBef>
            </a:pPr>
            <a:r>
              <a:rPr spc="-10" dirty="0">
                <a:solidFill>
                  <a:srgbClr val="FF0000"/>
                </a:solidFill>
              </a:rPr>
              <a:t>FC6</a:t>
            </a:r>
            <a:r>
              <a:rPr spc="-5" dirty="0">
                <a:solidFill>
                  <a:srgbClr val="FF0000"/>
                </a:solidFill>
              </a:rPr>
              <a:t>期望输入：向量</a:t>
            </a:r>
            <a:endParaRPr spc="-5" dirty="0">
              <a:solidFill>
                <a:srgbClr val="FF0000"/>
              </a:solidFill>
            </a:endParaRPr>
          </a:p>
          <a:p>
            <a:pPr marR="235585" algn="ctr">
              <a:lnSpc>
                <a:spcPts val="1030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69610" y="2143649"/>
            <a:ext cx="847725" cy="408940"/>
          </a:xfrm>
          <a:custGeom>
            <a:avLst/>
            <a:gdLst/>
            <a:ahLst/>
            <a:cxnLst/>
            <a:rect l="l" t="t" r="r" b="b"/>
            <a:pathLst>
              <a:path w="847725" h="408939">
                <a:moveTo>
                  <a:pt x="0" y="102107"/>
                </a:moveTo>
                <a:lnTo>
                  <a:pt x="102107" y="0"/>
                </a:lnTo>
                <a:lnTo>
                  <a:pt x="847343" y="0"/>
                </a:lnTo>
                <a:lnTo>
                  <a:pt x="847343" y="306324"/>
                </a:lnTo>
                <a:lnTo>
                  <a:pt x="745236" y="408431"/>
                </a:lnTo>
                <a:lnTo>
                  <a:pt x="0" y="408431"/>
                </a:lnTo>
                <a:lnTo>
                  <a:pt x="0" y="102107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69610" y="2143649"/>
            <a:ext cx="847725" cy="102235"/>
          </a:xfrm>
          <a:custGeom>
            <a:avLst/>
            <a:gdLst/>
            <a:ahLst/>
            <a:cxnLst/>
            <a:rect l="l" t="t" r="r" b="b"/>
            <a:pathLst>
              <a:path w="847725" h="102235">
                <a:moveTo>
                  <a:pt x="0" y="102107"/>
                </a:moveTo>
                <a:lnTo>
                  <a:pt x="745236" y="102107"/>
                </a:lnTo>
                <a:lnTo>
                  <a:pt x="847343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14846" y="2245757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5">
                <a:moveTo>
                  <a:pt x="0" y="0"/>
                </a:moveTo>
                <a:lnTo>
                  <a:pt x="0" y="306324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324728" y="2517705"/>
            <a:ext cx="556260" cy="3289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365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20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55431" y="3259471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79" y="1161033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83284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59" y="2791332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70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2466" y="1476882"/>
            <a:ext cx="1701133" cy="16922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9635" y="1842642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3216" y="234759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pc="-10" dirty="0"/>
              <a:t>(FC6</a:t>
            </a:r>
            <a:r>
              <a:rPr spc="-5" dirty="0"/>
              <a:t>、FC7</a:t>
            </a:r>
            <a:r>
              <a:rPr spc="-40" dirty="0"/>
              <a:t> </a:t>
            </a:r>
            <a:r>
              <a:rPr spc="-5" dirty="0"/>
              <a:t>、FC8):全连接神经网络分类器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pc="-5" dirty="0"/>
              <a:t>MAX</a:t>
            </a:r>
            <a:r>
              <a:rPr spc="-10" dirty="0"/>
              <a:t> POOL3</a:t>
            </a:r>
            <a:r>
              <a:rPr spc="-5" dirty="0"/>
              <a:t>的</a:t>
            </a:r>
            <a:r>
              <a:rPr spc="10" dirty="0"/>
              <a:t>输</a:t>
            </a:r>
            <a:r>
              <a:rPr spc="-5" dirty="0"/>
              <a:t>出：特征响应图组</a:t>
            </a:r>
            <a:endParaRPr spc="-5" dirty="0"/>
          </a:p>
          <a:p>
            <a:pPr marL="12700" marR="2032000">
              <a:lnSpc>
                <a:spcPct val="150000"/>
              </a:lnSpc>
            </a:pPr>
            <a:r>
              <a:rPr spc="-10" dirty="0"/>
              <a:t>FC6</a:t>
            </a:r>
            <a:r>
              <a:rPr spc="-5" dirty="0"/>
              <a:t>期望输入：向量 输出：图像类别概率</a:t>
            </a:r>
            <a:endParaRPr spc="-5" dirty="0"/>
          </a:p>
          <a:p>
            <a:pPr marR="235585" algn="ctr">
              <a:lnSpc>
                <a:spcPts val="980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9073" y="2223848"/>
            <a:ext cx="556260" cy="6318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35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203835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5431" y="3282162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80" y="1138317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0" y="2769251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65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2466" y="1454801"/>
            <a:ext cx="1701133" cy="169227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9636" y="1819926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9636" y="2221373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3217" y="232500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pc="-10" dirty="0"/>
              <a:t>(FC6</a:t>
            </a:r>
            <a:r>
              <a:rPr spc="-5" dirty="0"/>
              <a:t>、FC7</a:t>
            </a:r>
            <a:r>
              <a:rPr spc="-40" dirty="0"/>
              <a:t> </a:t>
            </a:r>
            <a:r>
              <a:rPr spc="-5" dirty="0"/>
              <a:t>、FC8):全连接神经网络分类器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pc="-5" dirty="0"/>
              <a:t>MAX</a:t>
            </a:r>
            <a:r>
              <a:rPr spc="-10" dirty="0"/>
              <a:t> POOL3</a:t>
            </a:r>
            <a:r>
              <a:rPr spc="-5" dirty="0"/>
              <a:t>的</a:t>
            </a:r>
            <a:r>
              <a:rPr spc="10" dirty="0"/>
              <a:t>输</a:t>
            </a:r>
            <a:r>
              <a:rPr spc="-5" dirty="0"/>
              <a:t>出：特征响应图组</a:t>
            </a:r>
            <a:endParaRPr spc="-5" dirty="0"/>
          </a:p>
          <a:p>
            <a:pPr marL="12700" marR="2032000">
              <a:lnSpc>
                <a:spcPct val="150000"/>
              </a:lnSpc>
            </a:pPr>
            <a:r>
              <a:rPr spc="-10" dirty="0"/>
              <a:t>FC6</a:t>
            </a:r>
            <a:r>
              <a:rPr spc="-5" dirty="0"/>
              <a:t>期望输入：向量 输出：图像类别概率</a:t>
            </a:r>
            <a:endParaRPr spc="-5" dirty="0"/>
          </a:p>
          <a:p>
            <a:pPr marR="235585" algn="ctr">
              <a:lnSpc>
                <a:spcPts val="975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9074" y="2201131"/>
            <a:ext cx="556260" cy="6318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35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203835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55431" y="3259471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79" y="1161033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83284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59" y="2791332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70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2466" y="1476882"/>
            <a:ext cx="1701133" cy="16922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9635" y="1842642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9635" y="2244343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3216" y="234759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pc="-10" dirty="0"/>
              <a:t>(FC6</a:t>
            </a:r>
            <a:r>
              <a:rPr spc="-5" dirty="0"/>
              <a:t>、FC7</a:t>
            </a:r>
            <a:r>
              <a:rPr spc="-40" dirty="0"/>
              <a:t> </a:t>
            </a:r>
            <a:r>
              <a:rPr spc="-5" dirty="0"/>
              <a:t>、FC8):全连接神经网络分类器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pc="-5" dirty="0"/>
              <a:t>MAX</a:t>
            </a:r>
            <a:r>
              <a:rPr spc="-10" dirty="0"/>
              <a:t> POOL3</a:t>
            </a:r>
            <a:r>
              <a:rPr spc="-5" dirty="0"/>
              <a:t>的</a:t>
            </a:r>
            <a:r>
              <a:rPr spc="10" dirty="0"/>
              <a:t>输</a:t>
            </a:r>
            <a:r>
              <a:rPr spc="-5" dirty="0"/>
              <a:t>出：特征响应图组</a:t>
            </a:r>
            <a:endParaRPr spc="-5" dirty="0"/>
          </a:p>
          <a:p>
            <a:pPr marL="12700" marR="2032000">
              <a:lnSpc>
                <a:spcPct val="150000"/>
              </a:lnSpc>
            </a:pPr>
            <a:r>
              <a:rPr spc="-10" dirty="0"/>
              <a:t>FC6</a:t>
            </a:r>
            <a:r>
              <a:rPr spc="-5" dirty="0"/>
              <a:t>期望输入：向量 输出：图像类别概率</a:t>
            </a:r>
            <a:endParaRPr spc="-5" dirty="0"/>
          </a:p>
          <a:p>
            <a:pPr marR="235585" algn="ctr">
              <a:lnSpc>
                <a:spcPts val="980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9073" y="2223848"/>
            <a:ext cx="556260" cy="6318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35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203835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8362" y="2414396"/>
            <a:ext cx="654050" cy="262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31750">
              <a:lnSpc>
                <a:spcPts val="2060"/>
              </a:lnSpc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55431" y="3282162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80" y="1138317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97961" y="794807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0" y="2769251"/>
            <a:ext cx="754380" cy="46037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165"/>
              </a:lnSpc>
            </a:pP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ts val="1370"/>
              </a:lnSpc>
              <a:spcBef>
                <a:spcPts val="7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2466" y="1454801"/>
            <a:ext cx="1701133" cy="169227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9636" y="1819926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8112" y="2812939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9636" y="2221373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3217" y="232500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pc="-10" dirty="0"/>
              <a:t>(FC6</a:t>
            </a:r>
            <a:r>
              <a:rPr spc="-5" dirty="0"/>
              <a:t>、FC7</a:t>
            </a:r>
            <a:r>
              <a:rPr spc="-40" dirty="0"/>
              <a:t> </a:t>
            </a:r>
            <a:r>
              <a:rPr spc="-5" dirty="0"/>
              <a:t>、FC8):全连接神经网络分类器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pc="-5" dirty="0"/>
              <a:t>MAX</a:t>
            </a:r>
            <a:r>
              <a:rPr spc="-10" dirty="0"/>
              <a:t> POOL3</a:t>
            </a:r>
            <a:r>
              <a:rPr spc="-5" dirty="0"/>
              <a:t>的</a:t>
            </a:r>
            <a:r>
              <a:rPr spc="10" dirty="0"/>
              <a:t>输</a:t>
            </a:r>
            <a:r>
              <a:rPr spc="-5" dirty="0"/>
              <a:t>出：特征响应图组</a:t>
            </a:r>
            <a:endParaRPr spc="-5" dirty="0"/>
          </a:p>
          <a:p>
            <a:pPr marL="12700" marR="2032000">
              <a:lnSpc>
                <a:spcPct val="150000"/>
              </a:lnSpc>
            </a:pPr>
            <a:r>
              <a:rPr spc="-10" dirty="0"/>
              <a:t>FC6</a:t>
            </a:r>
            <a:r>
              <a:rPr spc="-5" dirty="0"/>
              <a:t>期望输入：向量 输出：图像类别概率</a:t>
            </a:r>
            <a:endParaRPr spc="-5" dirty="0"/>
          </a:p>
          <a:p>
            <a:pPr marR="235585" algn="ctr">
              <a:lnSpc>
                <a:spcPts val="975"/>
              </a:lnSpc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9074" y="2201131"/>
            <a:ext cx="556260" cy="6318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35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203835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8362" y="2391426"/>
            <a:ext cx="654050" cy="262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31750">
              <a:lnSpc>
                <a:spcPts val="2060"/>
              </a:lnSpc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55431" y="3259471"/>
            <a:ext cx="128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1659" y="2791332"/>
            <a:ext cx="754380" cy="501650"/>
          </a:xfrm>
          <a:custGeom>
            <a:avLst/>
            <a:gdLst/>
            <a:ahLst/>
            <a:cxnLst/>
            <a:rect l="l" t="t" r="r" b="b"/>
            <a:pathLst>
              <a:path w="754380" h="501650">
                <a:moveTo>
                  <a:pt x="0" y="501395"/>
                </a:moveTo>
                <a:lnTo>
                  <a:pt x="754379" y="501395"/>
                </a:lnTo>
                <a:lnTo>
                  <a:pt x="754379" y="0"/>
                </a:lnTo>
                <a:lnTo>
                  <a:pt x="0" y="0"/>
                </a:lnTo>
                <a:lnTo>
                  <a:pt x="0" y="501395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659" y="2791332"/>
            <a:ext cx="754380" cy="501650"/>
          </a:xfrm>
          <a:custGeom>
            <a:avLst/>
            <a:gdLst/>
            <a:ahLst/>
            <a:cxnLst/>
            <a:rect l="l" t="t" r="r" b="b"/>
            <a:pathLst>
              <a:path w="754380" h="501650">
                <a:moveTo>
                  <a:pt x="0" y="501395"/>
                </a:moveTo>
                <a:lnTo>
                  <a:pt x="754379" y="501395"/>
                </a:lnTo>
                <a:lnTo>
                  <a:pt x="754379" y="0"/>
                </a:lnTo>
                <a:lnTo>
                  <a:pt x="0" y="0"/>
                </a:lnTo>
                <a:lnTo>
                  <a:pt x="0" y="501395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5579" y="1161033"/>
            <a:ext cx="177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 连 接 层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697961" y="817524"/>
            <a:ext cx="344805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1183284"/>
            <a:ext cx="587375" cy="1595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659" y="2753385"/>
            <a:ext cx="75438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467995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805" y="1193698"/>
            <a:ext cx="319151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第六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八层</a:t>
            </a:r>
            <a:r>
              <a:rPr sz="1000" b="1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(FC6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、FC7</a:t>
            </a:r>
            <a:r>
              <a:rPr sz="1000" spc="-4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、FC8):全连接神经网络分类器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 POOL3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出：特征响应图组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9805" y="1650898"/>
            <a:ext cx="12268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92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输出：图像类别概率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2466" y="1476882"/>
            <a:ext cx="1555051" cy="16922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42136" y="1660461"/>
            <a:ext cx="21462" cy="195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39088" y="1939353"/>
            <a:ext cx="22987" cy="3186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9635" y="1842642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40612" y="2652585"/>
            <a:ext cx="19938" cy="1967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37564" y="2931477"/>
            <a:ext cx="21462" cy="1052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111" y="2835655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38362" y="2414396"/>
            <a:ext cx="654050" cy="262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31750">
              <a:lnSpc>
                <a:spcPts val="2060"/>
              </a:lnSpc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9088" y="2340165"/>
            <a:ext cx="21462" cy="1037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9635" y="2244343"/>
            <a:ext cx="114300" cy="1016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⋯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73216" y="234759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21730" y="209524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64475" y="1659000"/>
            <a:ext cx="29845" cy="1377950"/>
          </a:xfrm>
          <a:custGeom>
            <a:avLst/>
            <a:gdLst/>
            <a:ahLst/>
            <a:cxnLst/>
            <a:rect l="l" t="t" r="r" b="b"/>
            <a:pathLst>
              <a:path w="29845" h="1377950">
                <a:moveTo>
                  <a:pt x="29718" y="1377696"/>
                </a:moveTo>
                <a:lnTo>
                  <a:pt x="21462" y="1377696"/>
                </a:lnTo>
                <a:lnTo>
                  <a:pt x="14859" y="1371092"/>
                </a:lnTo>
                <a:lnTo>
                  <a:pt x="14859" y="1362837"/>
                </a:lnTo>
                <a:lnTo>
                  <a:pt x="14859" y="703707"/>
                </a:lnTo>
                <a:lnTo>
                  <a:pt x="14859" y="695452"/>
                </a:lnTo>
                <a:lnTo>
                  <a:pt x="8254" y="688848"/>
                </a:lnTo>
                <a:lnTo>
                  <a:pt x="0" y="688848"/>
                </a:lnTo>
                <a:lnTo>
                  <a:pt x="8254" y="688848"/>
                </a:lnTo>
                <a:lnTo>
                  <a:pt x="14859" y="682244"/>
                </a:lnTo>
                <a:lnTo>
                  <a:pt x="14859" y="673989"/>
                </a:lnTo>
                <a:lnTo>
                  <a:pt x="14859" y="14859"/>
                </a:lnTo>
                <a:lnTo>
                  <a:pt x="14859" y="6604"/>
                </a:lnTo>
                <a:lnTo>
                  <a:pt x="21462" y="0"/>
                </a:lnTo>
                <a:lnTo>
                  <a:pt x="29718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13066" y="1659000"/>
            <a:ext cx="29845" cy="1377950"/>
          </a:xfrm>
          <a:custGeom>
            <a:avLst/>
            <a:gdLst/>
            <a:ahLst/>
            <a:cxnLst/>
            <a:rect l="l" t="t" r="r" b="b"/>
            <a:pathLst>
              <a:path w="29845" h="1377950">
                <a:moveTo>
                  <a:pt x="0" y="0"/>
                </a:moveTo>
                <a:lnTo>
                  <a:pt x="8255" y="0"/>
                </a:lnTo>
                <a:lnTo>
                  <a:pt x="14859" y="6604"/>
                </a:lnTo>
                <a:lnTo>
                  <a:pt x="14859" y="14859"/>
                </a:lnTo>
                <a:lnTo>
                  <a:pt x="14859" y="673989"/>
                </a:lnTo>
                <a:lnTo>
                  <a:pt x="14859" y="682244"/>
                </a:lnTo>
                <a:lnTo>
                  <a:pt x="21462" y="688848"/>
                </a:lnTo>
                <a:lnTo>
                  <a:pt x="29718" y="688848"/>
                </a:lnTo>
                <a:lnTo>
                  <a:pt x="21462" y="688848"/>
                </a:lnTo>
                <a:lnTo>
                  <a:pt x="14859" y="695452"/>
                </a:lnTo>
                <a:lnTo>
                  <a:pt x="14859" y="703707"/>
                </a:lnTo>
                <a:lnTo>
                  <a:pt x="14859" y="1362837"/>
                </a:lnTo>
                <a:lnTo>
                  <a:pt x="14859" y="1371092"/>
                </a:lnTo>
                <a:lnTo>
                  <a:pt x="8255" y="1377696"/>
                </a:lnTo>
                <a:lnTo>
                  <a:pt x="0" y="1377696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77328" y="2938652"/>
            <a:ext cx="3638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9216</a:t>
            </a: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57084" y="3055746"/>
            <a:ext cx="38100" cy="196215"/>
          </a:xfrm>
          <a:custGeom>
            <a:avLst/>
            <a:gdLst/>
            <a:ahLst/>
            <a:cxnLst/>
            <a:rect l="l" t="t" r="r" b="b"/>
            <a:pathLst>
              <a:path w="38100" h="196214">
                <a:moveTo>
                  <a:pt x="15875" y="157606"/>
                </a:moveTo>
                <a:lnTo>
                  <a:pt x="0" y="157606"/>
                </a:lnTo>
                <a:lnTo>
                  <a:pt x="19050" y="195706"/>
                </a:lnTo>
                <a:lnTo>
                  <a:pt x="34925" y="163956"/>
                </a:lnTo>
                <a:lnTo>
                  <a:pt x="15875" y="163956"/>
                </a:lnTo>
                <a:lnTo>
                  <a:pt x="15875" y="157606"/>
                </a:lnTo>
                <a:close/>
              </a:path>
              <a:path w="38100" h="196214">
                <a:moveTo>
                  <a:pt x="22225" y="0"/>
                </a:moveTo>
                <a:lnTo>
                  <a:pt x="15875" y="0"/>
                </a:lnTo>
                <a:lnTo>
                  <a:pt x="15875" y="163956"/>
                </a:lnTo>
                <a:lnTo>
                  <a:pt x="22225" y="163956"/>
                </a:lnTo>
                <a:lnTo>
                  <a:pt x="22225" y="0"/>
                </a:lnTo>
                <a:close/>
              </a:path>
              <a:path w="38100" h="196214">
                <a:moveTo>
                  <a:pt x="38100" y="157606"/>
                </a:moveTo>
                <a:lnTo>
                  <a:pt x="22225" y="157606"/>
                </a:lnTo>
                <a:lnTo>
                  <a:pt x="22225" y="163956"/>
                </a:lnTo>
                <a:lnTo>
                  <a:pt x="34925" y="163956"/>
                </a:lnTo>
                <a:lnTo>
                  <a:pt x="38100" y="157606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99073" y="2223848"/>
            <a:ext cx="556260" cy="6318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35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⋯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203835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特征响应图组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50581" y="3282162"/>
            <a:ext cx="833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9216=6x6x256</a:t>
            </a:r>
            <a:r>
              <a:rPr sz="900" spc="-1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10" y="1091454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09" y="1114171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09" y="1495170"/>
            <a:ext cx="40087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于提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及用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分类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时学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10" y="1091454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10" y="1472454"/>
            <a:ext cx="40087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于提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及用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分类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全连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时学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8310" y="1853454"/>
            <a:ext cx="3244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互影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互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促进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09" y="108724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10" y="106465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10" y="1338977"/>
            <a:ext cx="1513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策略防止过拟合；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09" y="108724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09" y="1361566"/>
            <a:ext cx="1513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策略防止过拟合；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8309" y="1635886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使用加入动量的随机梯度下降算法，加速收敛；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10" y="106465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10" y="1338977"/>
            <a:ext cx="1513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策略防止过拟合；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8310" y="1613297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使用加入动量的随机梯度下降算法，加速收敛；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8310" y="1887617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验证集损失不下降时，手动降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10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倍的学习率；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09" y="108724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09" y="1361566"/>
            <a:ext cx="1513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策略防止过拟合；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8309" y="1635886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使用加入动量的随机梯度下降算法，加速收敛；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8309" y="1910587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验证集损失不下降时，手动降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10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倍的学习率；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8309" y="2184907"/>
            <a:ext cx="28270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采用样本增强策略增加训练样本数量，防止过拟合；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310" y="106465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310" y="1338977"/>
            <a:ext cx="1513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策略防止过拟合；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8310" y="1613297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使用加入动量的随机梯度下降算法，加速收敛；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8310" y="1887617"/>
            <a:ext cx="2598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验证集损失不下降时，手动降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10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倍的学习率；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8310" y="2161937"/>
            <a:ext cx="28270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采用样本增强策略增加训练样本数量，防止过拟合；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8310" y="2436511"/>
            <a:ext cx="1912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集成多个模型，进一步提高精度。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析——AlexNet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8039" y="857703"/>
            <a:ext cx="2342752" cy="104361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06897" y="934338"/>
            <a:ext cx="307975" cy="967740"/>
          </a:xfrm>
          <a:custGeom>
            <a:avLst/>
            <a:gdLst/>
            <a:ahLst/>
            <a:cxnLst/>
            <a:rect l="l" t="t" r="r" b="b"/>
            <a:pathLst>
              <a:path w="307975" h="967739">
                <a:moveTo>
                  <a:pt x="0" y="967740"/>
                </a:moveTo>
                <a:lnTo>
                  <a:pt x="307848" y="967740"/>
                </a:lnTo>
                <a:lnTo>
                  <a:pt x="307848" y="0"/>
                </a:lnTo>
                <a:lnTo>
                  <a:pt x="0" y="0"/>
                </a:lnTo>
                <a:lnTo>
                  <a:pt x="0" y="967740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81317" y="909954"/>
            <a:ext cx="464820" cy="967740"/>
          </a:xfrm>
          <a:custGeom>
            <a:avLst/>
            <a:gdLst/>
            <a:ahLst/>
            <a:cxnLst/>
            <a:rect l="l" t="t" r="r" b="b"/>
            <a:pathLst>
              <a:path w="464820" h="967739">
                <a:moveTo>
                  <a:pt x="0" y="967740"/>
                </a:moveTo>
                <a:lnTo>
                  <a:pt x="464820" y="967740"/>
                </a:lnTo>
                <a:lnTo>
                  <a:pt x="464820" y="0"/>
                </a:lnTo>
                <a:lnTo>
                  <a:pt x="0" y="0"/>
                </a:lnTo>
                <a:lnTo>
                  <a:pt x="0" y="967740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13910" y="1994407"/>
            <a:ext cx="2686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分布于两个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各有一半神经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;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3910" y="2251963"/>
            <a:ext cx="4286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CONV1、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CONV2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CONV4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仅使用在同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的前层网络输出的特征图作为输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;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3910" y="2507995"/>
            <a:ext cx="42278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CONV3、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FC6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FC7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FC8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拼接前一层所有的特征图，实现了神经网络的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跨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计算。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33646" y="1376298"/>
            <a:ext cx="2680970" cy="0"/>
          </a:xfrm>
          <a:custGeom>
            <a:avLst/>
            <a:gdLst/>
            <a:ahLst/>
            <a:cxnLst/>
            <a:rect l="l" t="t" r="r" b="b"/>
            <a:pathLst>
              <a:path w="2680970">
                <a:moveTo>
                  <a:pt x="0" y="0"/>
                </a:moveTo>
                <a:lnTo>
                  <a:pt x="2680589" y="0"/>
                </a:lnTo>
              </a:path>
            </a:pathLst>
          </a:custGeom>
          <a:ln w="14287">
            <a:solidFill>
              <a:srgbClr val="FF0000"/>
            </a:solidFill>
            <a:prstDash val="sys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607300" y="1029715"/>
            <a:ext cx="323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PU-1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7334" y="1496059"/>
            <a:ext cx="323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PU-2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析——AlexNet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3911" y="1971437"/>
            <a:ext cx="2686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分布于两个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各有一半神经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;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3911" y="2228993"/>
            <a:ext cx="4286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CONV1、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CONV2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CONV4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仅使用在同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的前层网络输出的特征图作为输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;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3911" y="2485279"/>
            <a:ext cx="42278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CONV3、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FC6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FC7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FC8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拼接前一层所有的特征图，实现了神经网络的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跨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GPU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计算。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0879" y="3011948"/>
            <a:ext cx="2237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865" algn="l"/>
              </a:tabLst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GTX 580	GPU仅有3GB显存！！！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38040" y="835621"/>
            <a:ext cx="2342752" cy="104361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06898" y="912257"/>
            <a:ext cx="307975" cy="967740"/>
          </a:xfrm>
          <a:custGeom>
            <a:avLst/>
            <a:gdLst/>
            <a:ahLst/>
            <a:cxnLst/>
            <a:rect l="l" t="t" r="r" b="b"/>
            <a:pathLst>
              <a:path w="307975" h="967739">
                <a:moveTo>
                  <a:pt x="0" y="967740"/>
                </a:moveTo>
                <a:lnTo>
                  <a:pt x="307848" y="967740"/>
                </a:lnTo>
                <a:lnTo>
                  <a:pt x="307848" y="0"/>
                </a:lnTo>
                <a:lnTo>
                  <a:pt x="0" y="0"/>
                </a:lnTo>
                <a:lnTo>
                  <a:pt x="0" y="967740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81318" y="887873"/>
            <a:ext cx="464820" cy="967740"/>
          </a:xfrm>
          <a:custGeom>
            <a:avLst/>
            <a:gdLst/>
            <a:ahLst/>
            <a:cxnLst/>
            <a:rect l="l" t="t" r="r" b="b"/>
            <a:pathLst>
              <a:path w="464820" h="967739">
                <a:moveTo>
                  <a:pt x="0" y="967740"/>
                </a:moveTo>
                <a:lnTo>
                  <a:pt x="464820" y="967740"/>
                </a:lnTo>
                <a:lnTo>
                  <a:pt x="464820" y="0"/>
                </a:lnTo>
                <a:lnTo>
                  <a:pt x="0" y="0"/>
                </a:lnTo>
                <a:lnTo>
                  <a:pt x="0" y="967740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33646" y="1354217"/>
            <a:ext cx="2680970" cy="0"/>
          </a:xfrm>
          <a:custGeom>
            <a:avLst/>
            <a:gdLst/>
            <a:ahLst/>
            <a:cxnLst/>
            <a:rect l="l" t="t" r="r" b="b"/>
            <a:pathLst>
              <a:path w="2680970">
                <a:moveTo>
                  <a:pt x="0" y="0"/>
                </a:moveTo>
                <a:lnTo>
                  <a:pt x="2680589" y="0"/>
                </a:lnTo>
              </a:path>
            </a:pathLst>
          </a:custGeom>
          <a:ln w="14287">
            <a:solidFill>
              <a:srgbClr val="FF0000"/>
            </a:solidFill>
            <a:prstDash val="sys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607300" y="1006745"/>
            <a:ext cx="323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PU-1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7334" y="1473343"/>
            <a:ext cx="323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PU-2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838" y="389966"/>
            <a:ext cx="409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问题</a:t>
            </a:r>
            <a:r>
              <a:rPr spc="-5" dirty="0"/>
              <a:t>：AlexNet</a:t>
            </a:r>
            <a:r>
              <a:rPr spc="-10" dirty="0"/>
              <a:t>卷积层在做什么？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21659" y="1031112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839" y="367554"/>
            <a:ext cx="409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问题：AlexNet卷积层在做什么？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21660" y="1009031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2730668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4978" y="1027065"/>
            <a:ext cx="215391" cy="1239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19321" y="2577354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36746" y="2621169"/>
            <a:ext cx="215392" cy="1239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5839" y="660162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838" y="389966"/>
            <a:ext cx="409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问题</a:t>
            </a:r>
            <a:r>
              <a:rPr spc="-5" dirty="0"/>
              <a:t>：AlexNet</a:t>
            </a:r>
            <a:r>
              <a:rPr spc="-10" dirty="0"/>
              <a:t>卷积层在做什么？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21659" y="1031112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327" y="1055496"/>
            <a:ext cx="202691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85411" y="2570352"/>
            <a:ext cx="547370" cy="42100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33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6355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6x6x256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36745" y="2643250"/>
            <a:ext cx="215392" cy="123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5839" y="683133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788" y="146013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839" y="367554"/>
            <a:ext cx="409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问题：AlexNet卷积层在做什么？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2730668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328" y="1033415"/>
            <a:ext cx="202691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19321" y="2577354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3096" y="2627519"/>
            <a:ext cx="202692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24296" y="823103"/>
            <a:ext cx="406908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17946" y="816753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29607" y="1600343"/>
            <a:ext cx="2538984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60260" y="1611011"/>
            <a:ext cx="804672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45788" y="1460135"/>
            <a:ext cx="3898900" cy="48768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936625" algn="r">
              <a:lnSpc>
                <a:spcPts val="2940"/>
              </a:lnSpc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63179" y="1423686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超级卷 积核组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76040" y="1600343"/>
            <a:ext cx="274320" cy="198120"/>
          </a:xfrm>
          <a:custGeom>
            <a:avLst/>
            <a:gdLst/>
            <a:ahLst/>
            <a:cxnLst/>
            <a:rect l="l" t="t" r="r" b="b"/>
            <a:pathLst>
              <a:path w="274319" h="198119">
                <a:moveTo>
                  <a:pt x="175260" y="0"/>
                </a:moveTo>
                <a:lnTo>
                  <a:pt x="175260" y="49530"/>
                </a:lnTo>
                <a:lnTo>
                  <a:pt x="0" y="49530"/>
                </a:lnTo>
                <a:lnTo>
                  <a:pt x="0" y="148590"/>
                </a:lnTo>
                <a:lnTo>
                  <a:pt x="175260" y="148590"/>
                </a:lnTo>
                <a:lnTo>
                  <a:pt x="175260" y="198120"/>
                </a:lnTo>
                <a:lnTo>
                  <a:pt x="274320" y="99060"/>
                </a:lnTo>
                <a:lnTo>
                  <a:pt x="1752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76040" y="1600343"/>
            <a:ext cx="274320" cy="198120"/>
          </a:xfrm>
          <a:custGeom>
            <a:avLst/>
            <a:gdLst/>
            <a:ahLst/>
            <a:cxnLst/>
            <a:rect l="l" t="t" r="r" b="b"/>
            <a:pathLst>
              <a:path w="274319" h="198119">
                <a:moveTo>
                  <a:pt x="0" y="49530"/>
                </a:moveTo>
                <a:lnTo>
                  <a:pt x="175260" y="49530"/>
                </a:lnTo>
                <a:lnTo>
                  <a:pt x="175260" y="0"/>
                </a:lnTo>
                <a:lnTo>
                  <a:pt x="274320" y="99060"/>
                </a:lnTo>
                <a:lnTo>
                  <a:pt x="175260" y="198120"/>
                </a:lnTo>
                <a:lnTo>
                  <a:pt x="175260" y="148590"/>
                </a:lnTo>
                <a:lnTo>
                  <a:pt x="0" y="148590"/>
                </a:lnTo>
                <a:lnTo>
                  <a:pt x="0" y="4953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5839" y="660162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787" y="148221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45787" y="148221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7838" y="389966"/>
            <a:ext cx="409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问题</a:t>
            </a:r>
            <a:r>
              <a:rPr spc="-5" dirty="0"/>
              <a:t>：AlexNet</a:t>
            </a:r>
            <a:r>
              <a:rPr spc="-10" dirty="0"/>
              <a:t>卷积层在做什么？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21659" y="1031112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4977" y="1049146"/>
            <a:ext cx="215391" cy="1239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19321" y="2600070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36745" y="2643250"/>
            <a:ext cx="215392" cy="1239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24296" y="845184"/>
            <a:ext cx="406908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7946" y="838834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29607" y="1622424"/>
            <a:ext cx="2538984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60260" y="1633092"/>
            <a:ext cx="804672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297293" y="1340230"/>
            <a:ext cx="31496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63178" y="1446402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超级卷 积核组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61022" y="1627758"/>
            <a:ext cx="248920" cy="276225"/>
          </a:xfrm>
          <a:custGeom>
            <a:avLst/>
            <a:gdLst/>
            <a:ahLst/>
            <a:cxnLst/>
            <a:rect l="l" t="t" r="r" b="b"/>
            <a:pathLst>
              <a:path w="248920" h="276225">
                <a:moveTo>
                  <a:pt x="0" y="275844"/>
                </a:moveTo>
                <a:lnTo>
                  <a:pt x="248412" y="275844"/>
                </a:lnTo>
                <a:lnTo>
                  <a:pt x="248412" y="0"/>
                </a:lnTo>
                <a:lnTo>
                  <a:pt x="0" y="0"/>
                </a:lnTo>
                <a:lnTo>
                  <a:pt x="0" y="27584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76079" y="898648"/>
            <a:ext cx="688975" cy="695960"/>
          </a:xfrm>
          <a:custGeom>
            <a:avLst/>
            <a:gdLst/>
            <a:ahLst/>
            <a:cxnLst/>
            <a:rect l="l" t="t" r="r" b="b"/>
            <a:pathLst>
              <a:path w="688975" h="695960">
                <a:moveTo>
                  <a:pt x="638" y="695709"/>
                </a:moveTo>
                <a:lnTo>
                  <a:pt x="202060" y="256162"/>
                </a:lnTo>
                <a:lnTo>
                  <a:pt x="141776" y="242511"/>
                </a:lnTo>
                <a:lnTo>
                  <a:pt x="91209" y="224991"/>
                </a:lnTo>
                <a:lnTo>
                  <a:pt x="51055" y="204316"/>
                </a:lnTo>
                <a:lnTo>
                  <a:pt x="22006" y="181200"/>
                </a:lnTo>
                <a:lnTo>
                  <a:pt x="4757" y="156357"/>
                </a:lnTo>
                <a:lnTo>
                  <a:pt x="0" y="130503"/>
                </a:lnTo>
                <a:lnTo>
                  <a:pt x="8429" y="104351"/>
                </a:lnTo>
                <a:lnTo>
                  <a:pt x="57933" y="59532"/>
                </a:lnTo>
                <a:lnTo>
                  <a:pt x="131174" y="28662"/>
                </a:lnTo>
                <a:lnTo>
                  <a:pt x="175341" y="17154"/>
                </a:lnTo>
                <a:lnTo>
                  <a:pt x="223285" y="8448"/>
                </a:lnTo>
                <a:lnTo>
                  <a:pt x="274068" y="2684"/>
                </a:lnTo>
                <a:lnTo>
                  <a:pt x="326750" y="0"/>
                </a:lnTo>
                <a:lnTo>
                  <a:pt x="380392" y="534"/>
                </a:lnTo>
                <a:lnTo>
                  <a:pt x="434053" y="4426"/>
                </a:lnTo>
                <a:lnTo>
                  <a:pt x="486794" y="11814"/>
                </a:lnTo>
                <a:lnTo>
                  <a:pt x="547116" y="25464"/>
                </a:lnTo>
                <a:lnTo>
                  <a:pt x="597699" y="42984"/>
                </a:lnTo>
                <a:lnTo>
                  <a:pt x="637856" y="63659"/>
                </a:lnTo>
                <a:lnTo>
                  <a:pt x="684132" y="111618"/>
                </a:lnTo>
                <a:lnTo>
                  <a:pt x="688873" y="137472"/>
                </a:lnTo>
                <a:lnTo>
                  <a:pt x="680432" y="163624"/>
                </a:lnTo>
                <a:lnTo>
                  <a:pt x="629029" y="209510"/>
                </a:lnTo>
                <a:lnTo>
                  <a:pt x="592225" y="227116"/>
                </a:lnTo>
                <a:lnTo>
                  <a:pt x="548776" y="241921"/>
                </a:lnTo>
                <a:lnTo>
                  <a:pt x="499753" y="253667"/>
                </a:lnTo>
                <a:lnTo>
                  <a:pt x="446227" y="262096"/>
                </a:lnTo>
                <a:lnTo>
                  <a:pt x="389269" y="266950"/>
                </a:lnTo>
                <a:lnTo>
                  <a:pt x="329949" y="267973"/>
                </a:lnTo>
                <a:lnTo>
                  <a:pt x="638" y="69570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956297" y="95224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卷积核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0440" y="1516523"/>
            <a:ext cx="2921508" cy="41757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17922" y="1508903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27878" y="1524143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04156" y="1528715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42406" y="1498235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56934" y="1475375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98131" y="1508903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08849" y="1505855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90440" y="2115455"/>
            <a:ext cx="2970276" cy="417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24296" y="823103"/>
            <a:ext cx="406908" cy="487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17946" y="816753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37839" y="367554"/>
            <a:ext cx="40932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问题：AlexNet卷积层在做什么？</a:t>
            </a:r>
            <a:endParaRPr spc="-5" dirty="0"/>
          </a:p>
        </p:txBody>
      </p:sp>
      <p:sp>
        <p:nvSpPr>
          <p:cNvPr id="14" name="object 14"/>
          <p:cNvSpPr txBox="1"/>
          <p:nvPr/>
        </p:nvSpPr>
        <p:spPr>
          <a:xfrm>
            <a:off x="621660" y="1009031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7961" y="2730668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4978" y="1027065"/>
            <a:ext cx="215391" cy="1239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19321" y="2577354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36746" y="2621169"/>
            <a:ext cx="215392" cy="1239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75839" y="660162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787" y="148221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45787" y="148221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4977" y="1049146"/>
            <a:ext cx="215391" cy="1239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19321" y="2600070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6745" y="2643250"/>
            <a:ext cx="215392" cy="1239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24296" y="845184"/>
            <a:ext cx="406908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17946" y="838834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29607" y="1622424"/>
            <a:ext cx="2538984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60260" y="1633092"/>
            <a:ext cx="804672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297293" y="1340230"/>
            <a:ext cx="31496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63178" y="1446402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超级卷 积核组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61022" y="1627758"/>
            <a:ext cx="248920" cy="276225"/>
          </a:xfrm>
          <a:custGeom>
            <a:avLst/>
            <a:gdLst/>
            <a:ahLst/>
            <a:cxnLst/>
            <a:rect l="l" t="t" r="r" b="b"/>
            <a:pathLst>
              <a:path w="248920" h="276225">
                <a:moveTo>
                  <a:pt x="0" y="275844"/>
                </a:moveTo>
                <a:lnTo>
                  <a:pt x="248412" y="275844"/>
                </a:lnTo>
                <a:lnTo>
                  <a:pt x="248412" y="0"/>
                </a:lnTo>
                <a:lnTo>
                  <a:pt x="0" y="0"/>
                </a:lnTo>
                <a:lnTo>
                  <a:pt x="0" y="27584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76079" y="898648"/>
            <a:ext cx="688975" cy="695960"/>
          </a:xfrm>
          <a:custGeom>
            <a:avLst/>
            <a:gdLst/>
            <a:ahLst/>
            <a:cxnLst/>
            <a:rect l="l" t="t" r="r" b="b"/>
            <a:pathLst>
              <a:path w="688975" h="695960">
                <a:moveTo>
                  <a:pt x="638" y="695709"/>
                </a:moveTo>
                <a:lnTo>
                  <a:pt x="202060" y="256162"/>
                </a:lnTo>
                <a:lnTo>
                  <a:pt x="141776" y="242511"/>
                </a:lnTo>
                <a:lnTo>
                  <a:pt x="91209" y="224991"/>
                </a:lnTo>
                <a:lnTo>
                  <a:pt x="51055" y="204316"/>
                </a:lnTo>
                <a:lnTo>
                  <a:pt x="22006" y="181200"/>
                </a:lnTo>
                <a:lnTo>
                  <a:pt x="4757" y="156357"/>
                </a:lnTo>
                <a:lnTo>
                  <a:pt x="0" y="130503"/>
                </a:lnTo>
                <a:lnTo>
                  <a:pt x="8429" y="104351"/>
                </a:lnTo>
                <a:lnTo>
                  <a:pt x="57933" y="59532"/>
                </a:lnTo>
                <a:lnTo>
                  <a:pt x="131174" y="28662"/>
                </a:lnTo>
                <a:lnTo>
                  <a:pt x="175341" y="17154"/>
                </a:lnTo>
                <a:lnTo>
                  <a:pt x="223285" y="8448"/>
                </a:lnTo>
                <a:lnTo>
                  <a:pt x="274068" y="2684"/>
                </a:lnTo>
                <a:lnTo>
                  <a:pt x="326750" y="0"/>
                </a:lnTo>
                <a:lnTo>
                  <a:pt x="380392" y="534"/>
                </a:lnTo>
                <a:lnTo>
                  <a:pt x="434053" y="4426"/>
                </a:lnTo>
                <a:lnTo>
                  <a:pt x="486794" y="11814"/>
                </a:lnTo>
                <a:lnTo>
                  <a:pt x="547116" y="25464"/>
                </a:lnTo>
                <a:lnTo>
                  <a:pt x="597699" y="42984"/>
                </a:lnTo>
                <a:lnTo>
                  <a:pt x="637856" y="63659"/>
                </a:lnTo>
                <a:lnTo>
                  <a:pt x="684132" y="111618"/>
                </a:lnTo>
                <a:lnTo>
                  <a:pt x="688873" y="137472"/>
                </a:lnTo>
                <a:lnTo>
                  <a:pt x="680432" y="163624"/>
                </a:lnTo>
                <a:lnTo>
                  <a:pt x="629029" y="209510"/>
                </a:lnTo>
                <a:lnTo>
                  <a:pt x="592225" y="227116"/>
                </a:lnTo>
                <a:lnTo>
                  <a:pt x="548776" y="241921"/>
                </a:lnTo>
                <a:lnTo>
                  <a:pt x="499753" y="253667"/>
                </a:lnTo>
                <a:lnTo>
                  <a:pt x="446227" y="262096"/>
                </a:lnTo>
                <a:lnTo>
                  <a:pt x="389269" y="266950"/>
                </a:lnTo>
                <a:lnTo>
                  <a:pt x="329949" y="267973"/>
                </a:lnTo>
                <a:lnTo>
                  <a:pt x="638" y="69570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956297" y="95224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卷积核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47355" y="406272"/>
            <a:ext cx="1069975" cy="222885"/>
          </a:xfrm>
          <a:custGeom>
            <a:avLst/>
            <a:gdLst/>
            <a:ahLst/>
            <a:cxnLst/>
            <a:rect l="l" t="t" r="r" b="b"/>
            <a:pathLst>
              <a:path w="1069975" h="222884">
                <a:moveTo>
                  <a:pt x="0" y="222503"/>
                </a:moveTo>
                <a:lnTo>
                  <a:pt x="1069848" y="222503"/>
                </a:lnTo>
                <a:lnTo>
                  <a:pt x="1069848" y="0"/>
                </a:lnTo>
                <a:lnTo>
                  <a:pt x="0" y="0"/>
                </a:lnTo>
                <a:lnTo>
                  <a:pt x="0" y="222503"/>
                </a:lnTo>
                <a:close/>
              </a:path>
            </a:pathLst>
          </a:custGeom>
          <a:ln w="952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037838" y="389966"/>
            <a:ext cx="5128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问题</a:t>
            </a:r>
            <a:r>
              <a:rPr spc="-5" dirty="0"/>
              <a:t>：</a:t>
            </a:r>
            <a:r>
              <a:rPr spc="-10" dirty="0"/>
              <a:t>A</a:t>
            </a:r>
            <a:r>
              <a:rPr spc="-5" dirty="0"/>
              <a:t>l</a:t>
            </a:r>
            <a:r>
              <a:rPr spc="-10" dirty="0"/>
              <a:t>e</a:t>
            </a:r>
            <a:r>
              <a:rPr spc="5" dirty="0"/>
              <a:t>x</a:t>
            </a:r>
            <a:r>
              <a:rPr spc="-10" dirty="0"/>
              <a:t>N</a:t>
            </a:r>
            <a:r>
              <a:rPr spc="-5" dirty="0"/>
              <a:t>e</a:t>
            </a:r>
            <a:r>
              <a:rPr dirty="0"/>
              <a:t>t</a:t>
            </a:r>
            <a:r>
              <a:rPr spc="-10" dirty="0"/>
              <a:t>卷积层在做什么</a:t>
            </a:r>
            <a:r>
              <a:rPr spc="-204" dirty="0"/>
              <a:t>？</a:t>
            </a:r>
            <a:r>
              <a:rPr sz="1350" b="0" baseline="46000" dirty="0">
                <a:solidFill>
                  <a:srgbClr val="FF0000"/>
                </a:solidFill>
                <a:latin typeface="Wingdings" panose="05000000000000000000"/>
                <a:cs typeface="Wingdings" panose="05000000000000000000"/>
              </a:rPr>
              <a:t></a:t>
            </a:r>
            <a:r>
              <a:rPr sz="1350" b="0" baseline="46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spc="-60" baseline="46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baseline="46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具有“语义结构”</a:t>
            </a:r>
            <a:endParaRPr sz="1350" baseline="46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5839" y="683133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788" y="146013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45788" y="146013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2730668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4978" y="1027065"/>
            <a:ext cx="215391" cy="1239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19321" y="2577354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6746" y="2621169"/>
            <a:ext cx="215392" cy="1239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24296" y="823103"/>
            <a:ext cx="406908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17946" y="816753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29607" y="1600343"/>
            <a:ext cx="2538984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60260" y="1611011"/>
            <a:ext cx="804672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297293" y="1317641"/>
            <a:ext cx="31496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63179" y="1423686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超级卷 积核组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61022" y="1605677"/>
            <a:ext cx="248920" cy="276225"/>
          </a:xfrm>
          <a:custGeom>
            <a:avLst/>
            <a:gdLst/>
            <a:ahLst/>
            <a:cxnLst/>
            <a:rect l="l" t="t" r="r" b="b"/>
            <a:pathLst>
              <a:path w="248920" h="276225">
                <a:moveTo>
                  <a:pt x="0" y="275844"/>
                </a:moveTo>
                <a:lnTo>
                  <a:pt x="248412" y="275844"/>
                </a:lnTo>
                <a:lnTo>
                  <a:pt x="248412" y="0"/>
                </a:lnTo>
                <a:lnTo>
                  <a:pt x="0" y="0"/>
                </a:lnTo>
                <a:lnTo>
                  <a:pt x="0" y="27584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76080" y="876567"/>
            <a:ext cx="688975" cy="695960"/>
          </a:xfrm>
          <a:custGeom>
            <a:avLst/>
            <a:gdLst/>
            <a:ahLst/>
            <a:cxnLst/>
            <a:rect l="l" t="t" r="r" b="b"/>
            <a:pathLst>
              <a:path w="688975" h="695960">
                <a:moveTo>
                  <a:pt x="638" y="695709"/>
                </a:moveTo>
                <a:lnTo>
                  <a:pt x="202060" y="256162"/>
                </a:lnTo>
                <a:lnTo>
                  <a:pt x="141776" y="242511"/>
                </a:lnTo>
                <a:lnTo>
                  <a:pt x="91209" y="224991"/>
                </a:lnTo>
                <a:lnTo>
                  <a:pt x="51055" y="204316"/>
                </a:lnTo>
                <a:lnTo>
                  <a:pt x="22006" y="181200"/>
                </a:lnTo>
                <a:lnTo>
                  <a:pt x="4757" y="156357"/>
                </a:lnTo>
                <a:lnTo>
                  <a:pt x="0" y="130503"/>
                </a:lnTo>
                <a:lnTo>
                  <a:pt x="8429" y="104351"/>
                </a:lnTo>
                <a:lnTo>
                  <a:pt x="57933" y="59532"/>
                </a:lnTo>
                <a:lnTo>
                  <a:pt x="131174" y="28662"/>
                </a:lnTo>
                <a:lnTo>
                  <a:pt x="175341" y="17154"/>
                </a:lnTo>
                <a:lnTo>
                  <a:pt x="223285" y="8448"/>
                </a:lnTo>
                <a:lnTo>
                  <a:pt x="274068" y="2684"/>
                </a:lnTo>
                <a:lnTo>
                  <a:pt x="326750" y="0"/>
                </a:lnTo>
                <a:lnTo>
                  <a:pt x="380392" y="534"/>
                </a:lnTo>
                <a:lnTo>
                  <a:pt x="434053" y="4426"/>
                </a:lnTo>
                <a:lnTo>
                  <a:pt x="486794" y="11814"/>
                </a:lnTo>
                <a:lnTo>
                  <a:pt x="547116" y="25464"/>
                </a:lnTo>
                <a:lnTo>
                  <a:pt x="597699" y="42984"/>
                </a:lnTo>
                <a:lnTo>
                  <a:pt x="637856" y="63659"/>
                </a:lnTo>
                <a:lnTo>
                  <a:pt x="684132" y="111618"/>
                </a:lnTo>
                <a:lnTo>
                  <a:pt x="688873" y="137472"/>
                </a:lnTo>
                <a:lnTo>
                  <a:pt x="680432" y="163624"/>
                </a:lnTo>
                <a:lnTo>
                  <a:pt x="629029" y="209510"/>
                </a:lnTo>
                <a:lnTo>
                  <a:pt x="592225" y="227116"/>
                </a:lnTo>
                <a:lnTo>
                  <a:pt x="548776" y="241921"/>
                </a:lnTo>
                <a:lnTo>
                  <a:pt x="499753" y="253667"/>
                </a:lnTo>
                <a:lnTo>
                  <a:pt x="446227" y="262096"/>
                </a:lnTo>
                <a:lnTo>
                  <a:pt x="389269" y="266950"/>
                </a:lnTo>
                <a:lnTo>
                  <a:pt x="329949" y="267973"/>
                </a:lnTo>
                <a:lnTo>
                  <a:pt x="638" y="69570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956297" y="929529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卷积核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47356" y="384191"/>
            <a:ext cx="1069975" cy="429895"/>
          </a:xfrm>
          <a:custGeom>
            <a:avLst/>
            <a:gdLst/>
            <a:ahLst/>
            <a:cxnLst/>
            <a:rect l="l" t="t" r="r" b="b"/>
            <a:pathLst>
              <a:path w="1069975" h="429894">
                <a:moveTo>
                  <a:pt x="0" y="429768"/>
                </a:moveTo>
                <a:lnTo>
                  <a:pt x="1069848" y="429768"/>
                </a:lnTo>
                <a:lnTo>
                  <a:pt x="1069848" y="0"/>
                </a:lnTo>
                <a:lnTo>
                  <a:pt x="0" y="0"/>
                </a:lnTo>
                <a:lnTo>
                  <a:pt x="0" y="429768"/>
                </a:lnTo>
                <a:close/>
              </a:path>
            </a:pathLst>
          </a:custGeom>
          <a:ln w="952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037839" y="367554"/>
            <a:ext cx="5128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问题：</a:t>
            </a:r>
            <a:r>
              <a:rPr spc="-15" dirty="0"/>
              <a:t>A</a:t>
            </a:r>
            <a:r>
              <a:rPr spc="-10" dirty="0"/>
              <a:t>l</a:t>
            </a:r>
            <a:r>
              <a:rPr spc="-15" dirty="0"/>
              <a:t>e</a:t>
            </a:r>
            <a:r>
              <a:rPr spc="5" dirty="0"/>
              <a:t>x</a:t>
            </a:r>
            <a:r>
              <a:rPr spc="-15" dirty="0"/>
              <a:t>N</a:t>
            </a:r>
            <a:r>
              <a:rPr spc="-10" dirty="0"/>
              <a:t>e</a:t>
            </a:r>
            <a:r>
              <a:rPr spc="-5" dirty="0"/>
              <a:t>t卷积层在做什么</a:t>
            </a:r>
            <a:r>
              <a:rPr spc="-200" dirty="0"/>
              <a:t>？</a:t>
            </a:r>
            <a:r>
              <a:rPr sz="1350" b="0" baseline="46000" dirty="0">
                <a:latin typeface="Wingdings" panose="05000000000000000000"/>
                <a:cs typeface="Wingdings" panose="05000000000000000000"/>
              </a:rPr>
              <a:t></a:t>
            </a:r>
            <a:r>
              <a:rPr sz="1350" b="0" baseline="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spc="-60" baseline="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baseline="46000" dirty="0">
                <a:latin typeface="黑体" panose="02010609060101010101" charset="-122"/>
                <a:cs typeface="黑体" panose="02010609060101010101" charset="-122"/>
              </a:rPr>
              <a:t>具有“语义结构”</a:t>
            </a:r>
            <a:endParaRPr sz="1350" baseline="46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0630" y="640604"/>
            <a:ext cx="856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从数据中习得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5839" y="660162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787" y="148221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45787" y="148221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2753385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327" y="1055496"/>
            <a:ext cx="202691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19321" y="2600070"/>
            <a:ext cx="4705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3095" y="2649600"/>
            <a:ext cx="202692" cy="1112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24296" y="845184"/>
            <a:ext cx="406908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17946" y="838834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29607" y="1622424"/>
            <a:ext cx="2538984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60260" y="1633092"/>
            <a:ext cx="804672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297293" y="1340230"/>
            <a:ext cx="31496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63178" y="1446402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超级卷 积核组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46549" y="2057526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80"/>
                </a:moveTo>
                <a:lnTo>
                  <a:pt x="3898391" y="487680"/>
                </a:lnTo>
                <a:lnTo>
                  <a:pt x="3898391" y="0"/>
                </a:lnTo>
                <a:lnTo>
                  <a:pt x="0" y="0"/>
                </a:lnTo>
                <a:lnTo>
                  <a:pt x="0" y="487680"/>
                </a:lnTo>
                <a:close/>
              </a:path>
            </a:pathLst>
          </a:custGeom>
          <a:solidFill>
            <a:srgbClr val="E6DF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29607" y="2161920"/>
            <a:ext cx="2267712" cy="283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82079" y="2154300"/>
            <a:ext cx="289560" cy="2910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45019" y="2155825"/>
            <a:ext cx="876300" cy="2880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674100" y="2039238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2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特征响 应图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46549" y="2057526"/>
            <a:ext cx="3898900" cy="48768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931545" algn="r">
              <a:lnSpc>
                <a:spcPts val="2835"/>
              </a:lnSpc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61022" y="1627758"/>
            <a:ext cx="248920" cy="276225"/>
          </a:xfrm>
          <a:custGeom>
            <a:avLst/>
            <a:gdLst/>
            <a:ahLst/>
            <a:cxnLst/>
            <a:rect l="l" t="t" r="r" b="b"/>
            <a:pathLst>
              <a:path w="248920" h="276225">
                <a:moveTo>
                  <a:pt x="0" y="275844"/>
                </a:moveTo>
                <a:lnTo>
                  <a:pt x="248412" y="275844"/>
                </a:lnTo>
                <a:lnTo>
                  <a:pt x="248412" y="0"/>
                </a:lnTo>
                <a:lnTo>
                  <a:pt x="0" y="0"/>
                </a:lnTo>
                <a:lnTo>
                  <a:pt x="0" y="27584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76079" y="898648"/>
            <a:ext cx="688975" cy="695960"/>
          </a:xfrm>
          <a:custGeom>
            <a:avLst/>
            <a:gdLst/>
            <a:ahLst/>
            <a:cxnLst/>
            <a:rect l="l" t="t" r="r" b="b"/>
            <a:pathLst>
              <a:path w="688975" h="695960">
                <a:moveTo>
                  <a:pt x="638" y="695709"/>
                </a:moveTo>
                <a:lnTo>
                  <a:pt x="202060" y="256162"/>
                </a:lnTo>
                <a:lnTo>
                  <a:pt x="141776" y="242511"/>
                </a:lnTo>
                <a:lnTo>
                  <a:pt x="91209" y="224991"/>
                </a:lnTo>
                <a:lnTo>
                  <a:pt x="51055" y="204316"/>
                </a:lnTo>
                <a:lnTo>
                  <a:pt x="22006" y="181200"/>
                </a:lnTo>
                <a:lnTo>
                  <a:pt x="4757" y="156357"/>
                </a:lnTo>
                <a:lnTo>
                  <a:pt x="0" y="130503"/>
                </a:lnTo>
                <a:lnTo>
                  <a:pt x="8429" y="104351"/>
                </a:lnTo>
                <a:lnTo>
                  <a:pt x="57933" y="59532"/>
                </a:lnTo>
                <a:lnTo>
                  <a:pt x="131174" y="28662"/>
                </a:lnTo>
                <a:lnTo>
                  <a:pt x="175341" y="17154"/>
                </a:lnTo>
                <a:lnTo>
                  <a:pt x="223285" y="8448"/>
                </a:lnTo>
                <a:lnTo>
                  <a:pt x="274068" y="2684"/>
                </a:lnTo>
                <a:lnTo>
                  <a:pt x="326750" y="0"/>
                </a:lnTo>
                <a:lnTo>
                  <a:pt x="380392" y="534"/>
                </a:lnTo>
                <a:lnTo>
                  <a:pt x="434053" y="4426"/>
                </a:lnTo>
                <a:lnTo>
                  <a:pt x="486794" y="11814"/>
                </a:lnTo>
                <a:lnTo>
                  <a:pt x="547116" y="25464"/>
                </a:lnTo>
                <a:lnTo>
                  <a:pt x="597699" y="42984"/>
                </a:lnTo>
                <a:lnTo>
                  <a:pt x="637856" y="63659"/>
                </a:lnTo>
                <a:lnTo>
                  <a:pt x="684132" y="111618"/>
                </a:lnTo>
                <a:lnTo>
                  <a:pt x="688873" y="137472"/>
                </a:lnTo>
                <a:lnTo>
                  <a:pt x="680432" y="163624"/>
                </a:lnTo>
                <a:lnTo>
                  <a:pt x="629029" y="209510"/>
                </a:lnTo>
                <a:lnTo>
                  <a:pt x="592225" y="227116"/>
                </a:lnTo>
                <a:lnTo>
                  <a:pt x="548776" y="241921"/>
                </a:lnTo>
                <a:lnTo>
                  <a:pt x="499753" y="253667"/>
                </a:lnTo>
                <a:lnTo>
                  <a:pt x="446227" y="262096"/>
                </a:lnTo>
                <a:lnTo>
                  <a:pt x="389269" y="266950"/>
                </a:lnTo>
                <a:lnTo>
                  <a:pt x="329949" y="267973"/>
                </a:lnTo>
                <a:lnTo>
                  <a:pt x="638" y="69570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956297" y="95224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卷积核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47355" y="406272"/>
            <a:ext cx="1069975" cy="429895"/>
          </a:xfrm>
          <a:custGeom>
            <a:avLst/>
            <a:gdLst/>
            <a:ahLst/>
            <a:cxnLst/>
            <a:rect l="l" t="t" r="r" b="b"/>
            <a:pathLst>
              <a:path w="1069975" h="429894">
                <a:moveTo>
                  <a:pt x="0" y="429768"/>
                </a:moveTo>
                <a:lnTo>
                  <a:pt x="1069848" y="429768"/>
                </a:lnTo>
                <a:lnTo>
                  <a:pt x="1069848" y="0"/>
                </a:lnTo>
                <a:lnTo>
                  <a:pt x="0" y="0"/>
                </a:lnTo>
                <a:lnTo>
                  <a:pt x="0" y="429768"/>
                </a:lnTo>
                <a:close/>
              </a:path>
            </a:pathLst>
          </a:custGeom>
          <a:ln w="952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037838" y="389966"/>
            <a:ext cx="5128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问题</a:t>
            </a:r>
            <a:r>
              <a:rPr spc="-5" dirty="0"/>
              <a:t>：</a:t>
            </a:r>
            <a:r>
              <a:rPr spc="-10" dirty="0"/>
              <a:t>A</a:t>
            </a:r>
            <a:r>
              <a:rPr spc="-5" dirty="0"/>
              <a:t>l</a:t>
            </a:r>
            <a:r>
              <a:rPr spc="-10" dirty="0"/>
              <a:t>e</a:t>
            </a:r>
            <a:r>
              <a:rPr spc="5" dirty="0"/>
              <a:t>x</a:t>
            </a:r>
            <a:r>
              <a:rPr spc="-10" dirty="0"/>
              <a:t>N</a:t>
            </a:r>
            <a:r>
              <a:rPr spc="-5" dirty="0"/>
              <a:t>e</a:t>
            </a:r>
            <a:r>
              <a:rPr dirty="0"/>
              <a:t>t</a:t>
            </a:r>
            <a:r>
              <a:rPr spc="-10" dirty="0"/>
              <a:t>卷积层在做什么</a:t>
            </a:r>
            <a:r>
              <a:rPr spc="-204" dirty="0"/>
              <a:t>？</a:t>
            </a:r>
            <a:r>
              <a:rPr sz="1350" b="0" baseline="46000" dirty="0">
                <a:latin typeface="Wingdings" panose="05000000000000000000"/>
                <a:cs typeface="Wingdings" panose="05000000000000000000"/>
              </a:rPr>
              <a:t></a:t>
            </a:r>
            <a:r>
              <a:rPr sz="1350" b="0" baseline="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spc="-60" baseline="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baseline="46000" dirty="0">
                <a:latin typeface="黑体" panose="02010609060101010101" charset="-122"/>
                <a:cs typeface="黑体" panose="02010609060101010101" charset="-122"/>
              </a:rPr>
              <a:t>具有“语义结构”</a:t>
            </a:r>
            <a:endParaRPr sz="1350" baseline="46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80629" y="663575"/>
            <a:ext cx="856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从数据中习得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5839" y="683133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5788" y="146013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45788" y="146013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7500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2730668"/>
            <a:ext cx="215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6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328" y="1033415"/>
            <a:ext cx="202691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19321" y="2577354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9321" y="2729754"/>
            <a:ext cx="47053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6x6</a:t>
            </a:r>
            <a:r>
              <a:rPr sz="1000" spc="-1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25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3096" y="2627519"/>
            <a:ext cx="202692" cy="1112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24296" y="823103"/>
            <a:ext cx="406908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7946" y="816753"/>
            <a:ext cx="419734" cy="500380"/>
          </a:xfrm>
          <a:custGeom>
            <a:avLst/>
            <a:gdLst/>
            <a:ahLst/>
            <a:cxnLst/>
            <a:rect l="l" t="t" r="r" b="b"/>
            <a:pathLst>
              <a:path w="419735" h="500380">
                <a:moveTo>
                  <a:pt x="0" y="500379"/>
                </a:moveTo>
                <a:lnTo>
                  <a:pt x="419608" y="500379"/>
                </a:lnTo>
                <a:lnTo>
                  <a:pt x="419608" y="0"/>
                </a:lnTo>
                <a:lnTo>
                  <a:pt x="0" y="0"/>
                </a:lnTo>
                <a:lnTo>
                  <a:pt x="0" y="50037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29607" y="1600343"/>
            <a:ext cx="2538984" cy="277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60260" y="1611011"/>
            <a:ext cx="804672" cy="266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297293" y="1317641"/>
            <a:ext cx="31496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63179" y="1423686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超级卷 积核组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46550" y="203544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solidFill>
            <a:srgbClr val="E6DF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46550" y="2035445"/>
            <a:ext cx="3898900" cy="487680"/>
          </a:xfrm>
          <a:custGeom>
            <a:avLst/>
            <a:gdLst/>
            <a:ahLst/>
            <a:cxnLst/>
            <a:rect l="l" t="t" r="r" b="b"/>
            <a:pathLst>
              <a:path w="3898900" h="487680">
                <a:moveTo>
                  <a:pt x="0" y="487679"/>
                </a:moveTo>
                <a:lnTo>
                  <a:pt x="3898391" y="487679"/>
                </a:lnTo>
                <a:lnTo>
                  <a:pt x="3898391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29607" y="2139839"/>
            <a:ext cx="2267712" cy="2834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82080" y="2132219"/>
            <a:ext cx="289560" cy="2910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45019" y="2133743"/>
            <a:ext cx="876300" cy="2880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674100" y="2016523"/>
            <a:ext cx="3683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2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特征响 应图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3136" y="1879362"/>
            <a:ext cx="31496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 panose="020F0502020204030204"/>
                <a:cs typeface="Calibri" panose="020F0502020204030204"/>
              </a:rPr>
              <a:t>…</a:t>
            </a:r>
            <a:endParaRPr sz="3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54925" y="2131457"/>
            <a:ext cx="250190" cy="277495"/>
          </a:xfrm>
          <a:custGeom>
            <a:avLst/>
            <a:gdLst/>
            <a:ahLst/>
            <a:cxnLst/>
            <a:rect l="l" t="t" r="r" b="b"/>
            <a:pathLst>
              <a:path w="250189" h="277494">
                <a:moveTo>
                  <a:pt x="0" y="277368"/>
                </a:moveTo>
                <a:lnTo>
                  <a:pt x="249936" y="277368"/>
                </a:lnTo>
                <a:lnTo>
                  <a:pt x="249936" y="0"/>
                </a:lnTo>
                <a:lnTo>
                  <a:pt x="0" y="0"/>
                </a:lnTo>
                <a:lnTo>
                  <a:pt x="0" y="277368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53731" y="2317512"/>
            <a:ext cx="866775" cy="706755"/>
          </a:xfrm>
          <a:custGeom>
            <a:avLst/>
            <a:gdLst/>
            <a:ahLst/>
            <a:cxnLst/>
            <a:rect l="l" t="t" r="r" b="b"/>
            <a:pathLst>
              <a:path w="866775" h="706755">
                <a:moveTo>
                  <a:pt x="0" y="0"/>
                </a:moveTo>
                <a:lnTo>
                  <a:pt x="472185" y="441071"/>
                </a:lnTo>
                <a:lnTo>
                  <a:pt x="534095" y="439640"/>
                </a:lnTo>
                <a:lnTo>
                  <a:pt x="593952" y="442418"/>
                </a:lnTo>
                <a:lnTo>
                  <a:pt x="650653" y="449090"/>
                </a:lnTo>
                <a:lnTo>
                  <a:pt x="703096" y="459340"/>
                </a:lnTo>
                <a:lnTo>
                  <a:pt x="750178" y="472853"/>
                </a:lnTo>
                <a:lnTo>
                  <a:pt x="790796" y="489312"/>
                </a:lnTo>
                <a:lnTo>
                  <a:pt x="823847" y="508402"/>
                </a:lnTo>
                <a:lnTo>
                  <a:pt x="862838" y="553212"/>
                </a:lnTo>
                <a:lnTo>
                  <a:pt x="866174" y="580172"/>
                </a:lnTo>
                <a:lnTo>
                  <a:pt x="855910" y="606067"/>
                </a:lnTo>
                <a:lnTo>
                  <a:pt x="799226" y="652208"/>
                </a:lnTo>
                <a:lnTo>
                  <a:pt x="755132" y="671227"/>
                </a:lnTo>
                <a:lnTo>
                  <a:pt x="702085" y="686728"/>
                </a:lnTo>
                <a:lnTo>
                  <a:pt x="641249" y="698098"/>
                </a:lnTo>
                <a:lnTo>
                  <a:pt x="573785" y="704723"/>
                </a:lnTo>
                <a:lnTo>
                  <a:pt x="511876" y="706153"/>
                </a:lnTo>
                <a:lnTo>
                  <a:pt x="452019" y="703375"/>
                </a:lnTo>
                <a:lnTo>
                  <a:pt x="395318" y="696703"/>
                </a:lnTo>
                <a:lnTo>
                  <a:pt x="342875" y="686453"/>
                </a:lnTo>
                <a:lnTo>
                  <a:pt x="295793" y="672940"/>
                </a:lnTo>
                <a:lnTo>
                  <a:pt x="255175" y="656481"/>
                </a:lnTo>
                <a:lnTo>
                  <a:pt x="222124" y="637391"/>
                </a:lnTo>
                <a:lnTo>
                  <a:pt x="183133" y="592582"/>
                </a:lnTo>
                <a:lnTo>
                  <a:pt x="180799" y="560610"/>
                </a:lnTo>
                <a:lnTo>
                  <a:pt x="197648" y="529961"/>
                </a:lnTo>
                <a:lnTo>
                  <a:pt x="232200" y="501836"/>
                </a:lnTo>
                <a:lnTo>
                  <a:pt x="282974" y="477436"/>
                </a:lnTo>
                <a:lnTo>
                  <a:pt x="348488" y="457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17892" y="2812050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响应值高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61022" y="1605677"/>
            <a:ext cx="248920" cy="276225"/>
          </a:xfrm>
          <a:custGeom>
            <a:avLst/>
            <a:gdLst/>
            <a:ahLst/>
            <a:cxnLst/>
            <a:rect l="l" t="t" r="r" b="b"/>
            <a:pathLst>
              <a:path w="248920" h="276225">
                <a:moveTo>
                  <a:pt x="0" y="275844"/>
                </a:moveTo>
                <a:lnTo>
                  <a:pt x="248412" y="275844"/>
                </a:lnTo>
                <a:lnTo>
                  <a:pt x="248412" y="0"/>
                </a:lnTo>
                <a:lnTo>
                  <a:pt x="0" y="0"/>
                </a:lnTo>
                <a:lnTo>
                  <a:pt x="0" y="27584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76080" y="876567"/>
            <a:ext cx="688975" cy="695960"/>
          </a:xfrm>
          <a:custGeom>
            <a:avLst/>
            <a:gdLst/>
            <a:ahLst/>
            <a:cxnLst/>
            <a:rect l="l" t="t" r="r" b="b"/>
            <a:pathLst>
              <a:path w="688975" h="695960">
                <a:moveTo>
                  <a:pt x="638" y="695709"/>
                </a:moveTo>
                <a:lnTo>
                  <a:pt x="202060" y="256162"/>
                </a:lnTo>
                <a:lnTo>
                  <a:pt x="141776" y="242511"/>
                </a:lnTo>
                <a:lnTo>
                  <a:pt x="91209" y="224991"/>
                </a:lnTo>
                <a:lnTo>
                  <a:pt x="51055" y="204316"/>
                </a:lnTo>
                <a:lnTo>
                  <a:pt x="22006" y="181200"/>
                </a:lnTo>
                <a:lnTo>
                  <a:pt x="4757" y="156357"/>
                </a:lnTo>
                <a:lnTo>
                  <a:pt x="0" y="130503"/>
                </a:lnTo>
                <a:lnTo>
                  <a:pt x="8429" y="104351"/>
                </a:lnTo>
                <a:lnTo>
                  <a:pt x="57933" y="59532"/>
                </a:lnTo>
                <a:lnTo>
                  <a:pt x="131174" y="28662"/>
                </a:lnTo>
                <a:lnTo>
                  <a:pt x="175341" y="17154"/>
                </a:lnTo>
                <a:lnTo>
                  <a:pt x="223285" y="8448"/>
                </a:lnTo>
                <a:lnTo>
                  <a:pt x="274068" y="2684"/>
                </a:lnTo>
                <a:lnTo>
                  <a:pt x="326750" y="0"/>
                </a:lnTo>
                <a:lnTo>
                  <a:pt x="380392" y="534"/>
                </a:lnTo>
                <a:lnTo>
                  <a:pt x="434053" y="4426"/>
                </a:lnTo>
                <a:lnTo>
                  <a:pt x="486794" y="11814"/>
                </a:lnTo>
                <a:lnTo>
                  <a:pt x="547116" y="25464"/>
                </a:lnTo>
                <a:lnTo>
                  <a:pt x="597699" y="42984"/>
                </a:lnTo>
                <a:lnTo>
                  <a:pt x="637856" y="63659"/>
                </a:lnTo>
                <a:lnTo>
                  <a:pt x="684132" y="111618"/>
                </a:lnTo>
                <a:lnTo>
                  <a:pt x="688873" y="137472"/>
                </a:lnTo>
                <a:lnTo>
                  <a:pt x="680432" y="163624"/>
                </a:lnTo>
                <a:lnTo>
                  <a:pt x="629029" y="209510"/>
                </a:lnTo>
                <a:lnTo>
                  <a:pt x="592225" y="227116"/>
                </a:lnTo>
                <a:lnTo>
                  <a:pt x="548776" y="241921"/>
                </a:lnTo>
                <a:lnTo>
                  <a:pt x="499753" y="253667"/>
                </a:lnTo>
                <a:lnTo>
                  <a:pt x="446227" y="262096"/>
                </a:lnTo>
                <a:lnTo>
                  <a:pt x="389269" y="266950"/>
                </a:lnTo>
                <a:lnTo>
                  <a:pt x="329949" y="267973"/>
                </a:lnTo>
                <a:lnTo>
                  <a:pt x="638" y="69570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956297" y="929529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卷积核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47356" y="384191"/>
            <a:ext cx="1069975" cy="429895"/>
          </a:xfrm>
          <a:custGeom>
            <a:avLst/>
            <a:gdLst/>
            <a:ahLst/>
            <a:cxnLst/>
            <a:rect l="l" t="t" r="r" b="b"/>
            <a:pathLst>
              <a:path w="1069975" h="429894">
                <a:moveTo>
                  <a:pt x="0" y="429768"/>
                </a:moveTo>
                <a:lnTo>
                  <a:pt x="1069848" y="429768"/>
                </a:lnTo>
                <a:lnTo>
                  <a:pt x="1069848" y="0"/>
                </a:lnTo>
                <a:lnTo>
                  <a:pt x="0" y="0"/>
                </a:lnTo>
                <a:lnTo>
                  <a:pt x="0" y="429768"/>
                </a:lnTo>
                <a:close/>
              </a:path>
            </a:pathLst>
          </a:custGeom>
          <a:ln w="952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037839" y="367554"/>
            <a:ext cx="5128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问题：</a:t>
            </a:r>
            <a:r>
              <a:rPr spc="-15" dirty="0"/>
              <a:t>A</a:t>
            </a:r>
            <a:r>
              <a:rPr spc="-10" dirty="0"/>
              <a:t>l</a:t>
            </a:r>
            <a:r>
              <a:rPr spc="-15" dirty="0"/>
              <a:t>e</a:t>
            </a:r>
            <a:r>
              <a:rPr spc="5" dirty="0"/>
              <a:t>x</a:t>
            </a:r>
            <a:r>
              <a:rPr spc="-15" dirty="0"/>
              <a:t>N</a:t>
            </a:r>
            <a:r>
              <a:rPr spc="-10" dirty="0"/>
              <a:t>e</a:t>
            </a:r>
            <a:r>
              <a:rPr spc="-5" dirty="0"/>
              <a:t>t卷积层在做什么</a:t>
            </a:r>
            <a:r>
              <a:rPr spc="-200" dirty="0"/>
              <a:t>？</a:t>
            </a:r>
            <a:r>
              <a:rPr sz="1350" b="0" baseline="46000" dirty="0">
                <a:latin typeface="Wingdings" panose="05000000000000000000"/>
                <a:cs typeface="Wingdings" panose="05000000000000000000"/>
              </a:rPr>
              <a:t></a:t>
            </a:r>
            <a:r>
              <a:rPr sz="1350" b="0" baseline="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spc="-60" baseline="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0" baseline="46000" dirty="0">
                <a:latin typeface="黑体" panose="02010609060101010101" charset="-122"/>
                <a:cs typeface="黑体" panose="02010609060101010101" charset="-122"/>
              </a:rPr>
              <a:t>具有“语义结构”</a:t>
            </a:r>
            <a:endParaRPr sz="1350" baseline="46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80630" y="640604"/>
            <a:ext cx="856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从数据中习得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5839" y="660162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入：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227x227x3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9" y="291415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1794" y="2918349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8775" y="367554"/>
            <a:ext cx="2828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</a:t>
            </a:r>
            <a:r>
              <a:rPr spc="-10" dirty="0"/>
              <a:t>赛历年冠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5" name="object 5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2638" y="1997383"/>
            <a:ext cx="405130" cy="158750"/>
          </a:xfrm>
          <a:custGeom>
            <a:avLst/>
            <a:gdLst/>
            <a:ahLst/>
            <a:cxnLst/>
            <a:rect l="l" t="t" r="r" b="b"/>
            <a:pathLst>
              <a:path w="405129" h="158750">
                <a:moveTo>
                  <a:pt x="0" y="158457"/>
                </a:moveTo>
                <a:lnTo>
                  <a:pt x="405028" y="158457"/>
                </a:lnTo>
                <a:lnTo>
                  <a:pt x="405028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39307" y="2946035"/>
            <a:ext cx="387096" cy="640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45404" y="3035951"/>
            <a:ext cx="376427" cy="64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80328" y="2946035"/>
            <a:ext cx="254508" cy="1539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81824" y="2946035"/>
            <a:ext cx="516636" cy="640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26860" y="2946035"/>
            <a:ext cx="289560" cy="51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02348" y="2944511"/>
            <a:ext cx="222503" cy="1539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59582" y="2443915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74" y="2443877"/>
            <a:ext cx="405765" cy="11938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0005">
              <a:lnSpc>
                <a:spcPts val="870"/>
              </a:lnSpc>
              <a:spcBef>
                <a:spcPts val="65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81474" y="2443915"/>
            <a:ext cx="403860" cy="158750"/>
          </a:xfrm>
          <a:custGeom>
            <a:avLst/>
            <a:gdLst/>
            <a:ahLst/>
            <a:cxnLst/>
            <a:rect l="l" t="t" r="r" b="b"/>
            <a:pathLst>
              <a:path w="403860" h="158750">
                <a:moveTo>
                  <a:pt x="0" y="158457"/>
                </a:moveTo>
                <a:lnTo>
                  <a:pt x="403504" y="158457"/>
                </a:lnTo>
                <a:lnTo>
                  <a:pt x="403504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44421" y="2446296"/>
            <a:ext cx="431165" cy="154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21243" y="2006489"/>
            <a:ext cx="4762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02065" y="2004330"/>
            <a:ext cx="4502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8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489733" y="1188768"/>
          <a:ext cx="1544319" cy="149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525780"/>
                <a:gridCol w="509269"/>
              </a:tblGrid>
              <a:tr h="149351">
                <a:tc>
                  <a:txBody>
                    <a:bodyPr/>
                    <a:lstStyle/>
                    <a:p>
                      <a:pPr marL="15875">
                        <a:lnSpc>
                          <a:spcPts val="900"/>
                        </a:lnSpc>
                        <a:spcBef>
                          <a:spcPts val="175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ts val="900"/>
                        </a:lnSpc>
                        <a:spcBef>
                          <a:spcPts val="175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00"/>
                        </a:lnSpc>
                        <a:spcBef>
                          <a:spcPts val="175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37278" y="1691021"/>
            <a:ext cx="433070" cy="1466215"/>
          </a:xfrm>
          <a:custGeom>
            <a:avLst/>
            <a:gdLst/>
            <a:ahLst/>
            <a:cxnLst/>
            <a:rect l="l" t="t" r="r" b="b"/>
            <a:pathLst>
              <a:path w="433069" h="1466214">
                <a:moveTo>
                  <a:pt x="0" y="1465833"/>
                </a:moveTo>
                <a:lnTo>
                  <a:pt x="432663" y="1465833"/>
                </a:lnTo>
                <a:lnTo>
                  <a:pt x="432663" y="0"/>
                </a:lnTo>
                <a:lnTo>
                  <a:pt x="0" y="0"/>
                </a:lnTo>
                <a:lnTo>
                  <a:pt x="0" y="1465833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25007" y="2929271"/>
            <a:ext cx="609600" cy="184785"/>
          </a:xfrm>
          <a:custGeom>
            <a:avLst/>
            <a:gdLst/>
            <a:ahLst/>
            <a:cxnLst/>
            <a:rect l="l" t="t" r="r" b="b"/>
            <a:pathLst>
              <a:path w="609600" h="184785">
                <a:moveTo>
                  <a:pt x="0" y="184403"/>
                </a:moveTo>
                <a:lnTo>
                  <a:pt x="609600" y="184403"/>
                </a:lnTo>
                <a:lnTo>
                  <a:pt x="609600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702301" y="2937907"/>
            <a:ext cx="1286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300" algn="l"/>
              </a:tabLst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VGG	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GoogleNet</a:t>
            </a:r>
            <a:r>
              <a:rPr sz="1350" spc="217" baseline="300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ResNet</a:t>
            </a:r>
            <a:endParaRPr sz="1350" baseline="6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538340" y="2927747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571994" y="2931557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981824" y="2923175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3"/>
                </a:moveTo>
                <a:lnTo>
                  <a:pt x="580644" y="184403"/>
                </a:lnTo>
                <a:lnTo>
                  <a:pt x="58064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067294" y="2942225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131431" y="2930795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4165087" y="2933970"/>
            <a:ext cx="169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T</a:t>
            </a:r>
            <a:r>
              <a:rPr sz="900" dirty="0">
                <a:latin typeface="Calibri" panose="020F0502020204030204"/>
                <a:cs typeface="Calibri" panose="020F0502020204030204"/>
              </a:rPr>
              <a:t>-S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8566" y="389966"/>
            <a:ext cx="3108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</a:t>
            </a:r>
            <a:r>
              <a:rPr spc="-10" dirty="0"/>
              <a:t>——</a:t>
            </a:r>
            <a:r>
              <a:rPr spc="-30" dirty="0"/>
              <a:t> </a:t>
            </a:r>
            <a:r>
              <a:rPr spc="-10" dirty="0"/>
              <a:t>ZFNet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45565"/>
            <a:ext cx="664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59" y="1031112"/>
            <a:ext cx="754380" cy="2261870"/>
          </a:xfrm>
          <a:prstGeom prst="rect">
            <a:avLst/>
          </a:prstGeom>
          <a:solidFill>
            <a:srgbClr val="E6B8B8"/>
          </a:solidFill>
        </p:spPr>
        <p:txBody>
          <a:bodyPr vert="horz" wrap="square" lIns="0" tIns="635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95885">
              <a:lnSpc>
                <a:spcPct val="115000"/>
              </a:lnSpc>
              <a:spcBef>
                <a:spcPts val="4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88900" marR="46799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4593" y="1222628"/>
            <a:ext cx="1677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基本一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!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8567" y="367554"/>
            <a:ext cx="3108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</a:t>
            </a:r>
            <a:r>
              <a:rPr spc="-55" dirty="0"/>
              <a:t> </a:t>
            </a:r>
            <a:r>
              <a:rPr spc="-10" dirty="0"/>
              <a:t>ZFNet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97961" y="822849"/>
            <a:ext cx="664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60" y="1009031"/>
            <a:ext cx="754380" cy="19050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61" y="1160567"/>
            <a:ext cx="587375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CONV3  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4594" y="1199912"/>
            <a:ext cx="1677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基本一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!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594" y="1504712"/>
            <a:ext cx="661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要改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1175" y="1809512"/>
            <a:ext cx="2581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改为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7×7；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2327" y="2104008"/>
            <a:ext cx="754380" cy="137160"/>
          </a:xfrm>
          <a:custGeom>
            <a:avLst/>
            <a:gdLst/>
            <a:ahLst/>
            <a:cxnLst/>
            <a:rect l="l" t="t" r="r" b="b"/>
            <a:pathLst>
              <a:path w="754380" h="137160">
                <a:moveTo>
                  <a:pt x="0" y="137160"/>
                </a:moveTo>
                <a:lnTo>
                  <a:pt x="754379" y="137160"/>
                </a:lnTo>
                <a:lnTo>
                  <a:pt x="754379" y="0"/>
                </a:ln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32327" y="2104008"/>
            <a:ext cx="754380" cy="137160"/>
          </a:xfrm>
          <a:custGeom>
            <a:avLst/>
            <a:gdLst/>
            <a:ahLst/>
            <a:cxnLst/>
            <a:rect l="l" t="t" r="r" b="b"/>
            <a:pathLst>
              <a:path w="754380" h="137160">
                <a:moveTo>
                  <a:pt x="0" y="137160"/>
                </a:moveTo>
                <a:lnTo>
                  <a:pt x="754379" y="137160"/>
                </a:lnTo>
                <a:lnTo>
                  <a:pt x="754379" y="0"/>
                </a:ln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ln w="126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8566" y="389966"/>
            <a:ext cx="3108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-5" dirty="0"/>
              <a:t>析</a:t>
            </a:r>
            <a:r>
              <a:rPr spc="-10" dirty="0"/>
              <a:t>——</a:t>
            </a:r>
            <a:r>
              <a:rPr spc="-30" dirty="0"/>
              <a:t> </a:t>
            </a:r>
            <a:r>
              <a:rPr spc="-10" dirty="0"/>
              <a:t>ZFNet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97961" y="817524"/>
            <a:ext cx="66484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82550">
              <a:lnSpc>
                <a:spcPct val="114000"/>
              </a:lnSpc>
              <a:spcBef>
                <a:spcPts val="4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59" y="1570608"/>
            <a:ext cx="754380" cy="137160"/>
          </a:xfrm>
          <a:prstGeom prst="rect">
            <a:avLst/>
          </a:prstGeom>
          <a:solidFill>
            <a:srgbClr val="E6B8B8"/>
          </a:solidFill>
          <a:ln w="127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080"/>
              </a:lnSpc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1710969"/>
            <a:ext cx="58737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961" y="2080386"/>
            <a:ext cx="3416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961" y="2232177"/>
            <a:ext cx="58737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CONV4  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4593" y="1222628"/>
            <a:ext cx="1677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基本一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!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4593" y="1527428"/>
            <a:ext cx="661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要改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1174" y="1832228"/>
            <a:ext cx="2581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改为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7×7；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1174" y="2137282"/>
            <a:ext cx="2772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第三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步长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都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设置</a:t>
            </a:r>
            <a:r>
              <a:rPr sz="10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1660" y="2049923"/>
            <a:ext cx="754380" cy="376555"/>
          </a:xfrm>
          <a:custGeom>
            <a:avLst/>
            <a:gdLst/>
            <a:ahLst/>
            <a:cxnLst/>
            <a:rect l="l" t="t" r="r" b="b"/>
            <a:pathLst>
              <a:path w="754380" h="376555">
                <a:moveTo>
                  <a:pt x="0" y="376427"/>
                </a:moveTo>
                <a:lnTo>
                  <a:pt x="754379" y="376427"/>
                </a:lnTo>
                <a:lnTo>
                  <a:pt x="754379" y="0"/>
                </a:lnTo>
                <a:lnTo>
                  <a:pt x="0" y="0"/>
                </a:lnTo>
                <a:lnTo>
                  <a:pt x="0" y="376427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660" y="2049923"/>
            <a:ext cx="754380" cy="376555"/>
          </a:xfrm>
          <a:custGeom>
            <a:avLst/>
            <a:gdLst/>
            <a:ahLst/>
            <a:cxnLst/>
            <a:rect l="l" t="t" r="r" b="b"/>
            <a:pathLst>
              <a:path w="754380" h="376555">
                <a:moveTo>
                  <a:pt x="0" y="376427"/>
                </a:moveTo>
                <a:lnTo>
                  <a:pt x="754379" y="376427"/>
                </a:lnTo>
                <a:lnTo>
                  <a:pt x="754379" y="0"/>
                </a:lnTo>
                <a:lnTo>
                  <a:pt x="0" y="0"/>
                </a:lnTo>
                <a:lnTo>
                  <a:pt x="0" y="376427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8567" y="367554"/>
            <a:ext cx="3108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经典网络</a:t>
            </a:r>
            <a:r>
              <a:rPr spc="-15" dirty="0"/>
              <a:t>解</a:t>
            </a:r>
            <a:r>
              <a:rPr spc="-10" dirty="0"/>
              <a:t>析——</a:t>
            </a:r>
            <a:r>
              <a:rPr spc="-55" dirty="0"/>
              <a:t> </a:t>
            </a:r>
            <a:r>
              <a:rPr spc="-10" dirty="0"/>
              <a:t>ZFNet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97961" y="794807"/>
            <a:ext cx="664845" cy="126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1000" b="1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b="1" spc="-10" dirty="0">
                <a:solidFill>
                  <a:srgbClr val="434343"/>
                </a:solidFill>
                <a:latin typeface="黑体" panose="02010609060101010101" charset="-122"/>
                <a:cs typeface="黑体" panose="02010609060101010101" charset="-122"/>
              </a:rPr>
              <a:t>: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82550">
              <a:lnSpc>
                <a:spcPct val="115000"/>
              </a:lnSpc>
              <a:spcBef>
                <a:spcPts val="35"/>
              </a:spcBef>
            </a:pP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POOL1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NORM1 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CONV2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POOL2  </a:t>
            </a:r>
            <a:r>
              <a:rPr sz="1000" spc="-5" dirty="0">
                <a:solidFill>
                  <a:srgbClr val="6AA84F"/>
                </a:solidFill>
                <a:latin typeface="黑体" panose="02010609060101010101" charset="-122"/>
                <a:cs typeface="黑体" panose="02010609060101010101" charset="-122"/>
              </a:rPr>
              <a:t>NORM2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961" y="2034962"/>
            <a:ext cx="341630" cy="374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 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961" y="2383197"/>
            <a:ext cx="587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CONV5 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Max</a:t>
            </a:r>
            <a:r>
              <a:rPr sz="1000" spc="-150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POOL3  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FC6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 marR="376555">
              <a:lnSpc>
                <a:spcPct val="114000"/>
              </a:lnSpc>
            </a:pP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7  </a:t>
            </a:r>
            <a:r>
              <a:rPr sz="1000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F</a:t>
            </a:r>
            <a:r>
              <a:rPr sz="1000" spc="-1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1000" spc="-5" dirty="0">
                <a:solidFill>
                  <a:srgbClr val="E69138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4594" y="1199912"/>
            <a:ext cx="1677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基本一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!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4594" y="1504712"/>
            <a:ext cx="661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要改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1175" y="1809512"/>
            <a:ext cx="2581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第一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改为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7×7；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1175" y="2114312"/>
            <a:ext cx="2772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第二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第三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步长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都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设置</a:t>
            </a:r>
            <a:r>
              <a:rPr sz="10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2；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1175" y="2419112"/>
            <a:ext cx="25806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加了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三、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四个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个数。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8" y="293712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1793" y="2941446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8774" y="389966"/>
            <a:ext cx="2828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大赛</a:t>
            </a:r>
            <a:r>
              <a:rPr spc="-10" dirty="0"/>
              <a:t>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5" name="object 5"/>
          <p:cNvSpPr/>
          <p:nvPr/>
        </p:nvSpPr>
        <p:spPr>
          <a:xfrm>
            <a:off x="496691" y="1063116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2637" y="2019464"/>
            <a:ext cx="405130" cy="158750"/>
          </a:xfrm>
          <a:custGeom>
            <a:avLst/>
            <a:gdLst/>
            <a:ahLst/>
            <a:cxnLst/>
            <a:rect l="l" t="t" r="r" b="b"/>
            <a:pathLst>
              <a:path w="405129" h="158750">
                <a:moveTo>
                  <a:pt x="0" y="158457"/>
                </a:moveTo>
                <a:lnTo>
                  <a:pt x="405028" y="158457"/>
                </a:lnTo>
                <a:lnTo>
                  <a:pt x="405028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3683" y="2968118"/>
            <a:ext cx="225552" cy="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5643" y="2971164"/>
            <a:ext cx="309371" cy="51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64787" y="3064130"/>
            <a:ext cx="291084" cy="487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39307" y="2968116"/>
            <a:ext cx="387096" cy="64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45403" y="3058032"/>
            <a:ext cx="376427" cy="64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80328" y="2968116"/>
            <a:ext cx="254508" cy="1539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81823" y="2968116"/>
            <a:ext cx="516636" cy="640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26860" y="2968118"/>
            <a:ext cx="289560" cy="51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02347" y="2966592"/>
            <a:ext cx="222503" cy="1539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59581" y="2465996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5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74" y="2465958"/>
            <a:ext cx="405765" cy="11938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ts val="865"/>
              </a:lnSpc>
              <a:spcBef>
                <a:spcPts val="70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81474" y="2465996"/>
            <a:ext cx="403860" cy="158750"/>
          </a:xfrm>
          <a:custGeom>
            <a:avLst/>
            <a:gdLst/>
            <a:ahLst/>
            <a:cxnLst/>
            <a:rect l="l" t="t" r="r" b="b"/>
            <a:pathLst>
              <a:path w="403860" h="158750">
                <a:moveTo>
                  <a:pt x="0" y="158457"/>
                </a:moveTo>
                <a:lnTo>
                  <a:pt x="403504" y="158457"/>
                </a:lnTo>
                <a:lnTo>
                  <a:pt x="403504" y="0"/>
                </a:lnTo>
                <a:lnTo>
                  <a:pt x="0" y="0"/>
                </a:lnTo>
                <a:lnTo>
                  <a:pt x="0" y="15845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44421" y="2468378"/>
            <a:ext cx="431165" cy="154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71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8</a:t>
            </a:r>
            <a:r>
              <a:rPr sz="8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21242" y="2029079"/>
            <a:ext cx="4762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8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02064" y="2027301"/>
            <a:ext cx="4502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8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layers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489733" y="1210849"/>
          <a:ext cx="1544319" cy="149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525780"/>
                <a:gridCol w="509269"/>
              </a:tblGrid>
              <a:tr h="149351">
                <a:tc>
                  <a:txBody>
                    <a:bodyPr/>
                    <a:lstStyle/>
                    <a:p>
                      <a:pPr marL="15875">
                        <a:lnSpc>
                          <a:spcPts val="895"/>
                        </a:lnSpc>
                        <a:spcBef>
                          <a:spcPts val="180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ts val="895"/>
                        </a:lnSpc>
                        <a:spcBef>
                          <a:spcPts val="180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9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895"/>
                        </a:lnSpc>
                        <a:spcBef>
                          <a:spcPts val="180"/>
                        </a:spcBef>
                      </a:pP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8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spc="-5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895979" y="2681606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69943" y="2681606"/>
            <a:ext cx="82295" cy="807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42383" y="2657222"/>
            <a:ext cx="83819" cy="807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16347" y="2657222"/>
            <a:ext cx="82295" cy="8077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78119" y="2562732"/>
            <a:ext cx="83819" cy="807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73419" y="2544446"/>
            <a:ext cx="82296" cy="807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01663" y="1468502"/>
            <a:ext cx="82296" cy="807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57340" y="1468502"/>
            <a:ext cx="82296" cy="8077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45019" y="1468502"/>
            <a:ext cx="82296" cy="807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59225" y="2723514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31665" y="2699130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6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05630" y="2699130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79593" y="2603118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41365" y="2586354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10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36666" y="1510410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764910" y="1510410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20585" y="15104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37277" y="1713102"/>
            <a:ext cx="433070" cy="1466215"/>
          </a:xfrm>
          <a:custGeom>
            <a:avLst/>
            <a:gdLst/>
            <a:ahLst/>
            <a:cxnLst/>
            <a:rect l="l" t="t" r="r" b="b"/>
            <a:pathLst>
              <a:path w="433069" h="1466214">
                <a:moveTo>
                  <a:pt x="0" y="1465834"/>
                </a:moveTo>
                <a:lnTo>
                  <a:pt x="432663" y="1465834"/>
                </a:lnTo>
                <a:lnTo>
                  <a:pt x="432663" y="0"/>
                </a:lnTo>
                <a:lnTo>
                  <a:pt x="0" y="0"/>
                </a:lnTo>
                <a:lnTo>
                  <a:pt x="0" y="1465834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25007" y="2951352"/>
            <a:ext cx="609600" cy="184785"/>
          </a:xfrm>
          <a:custGeom>
            <a:avLst/>
            <a:gdLst/>
            <a:ahLst/>
            <a:cxnLst/>
            <a:rect l="l" t="t" r="r" b="b"/>
            <a:pathLst>
              <a:path w="609600" h="184785">
                <a:moveTo>
                  <a:pt x="0" y="184403"/>
                </a:moveTo>
                <a:lnTo>
                  <a:pt x="609600" y="184403"/>
                </a:lnTo>
                <a:lnTo>
                  <a:pt x="609600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38340" y="2949828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571994" y="2954146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81823" y="2945256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4"/>
                </a:moveTo>
                <a:lnTo>
                  <a:pt x="580644" y="184404"/>
                </a:lnTo>
                <a:lnTo>
                  <a:pt x="58064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067294" y="2964814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131431" y="2952876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4"/>
                </a:moveTo>
                <a:lnTo>
                  <a:pt x="405384" y="184404"/>
                </a:lnTo>
                <a:lnTo>
                  <a:pt x="40538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484114" y="2960623"/>
            <a:ext cx="1850389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  <a:tab pos="1693545" algn="l"/>
              </a:tabLst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V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G	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oo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gleNe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t  </a:t>
            </a:r>
            <a:r>
              <a:rPr sz="1350" spc="15" baseline="300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5" baseline="6000" dirty="0">
                <a:latin typeface="Calibri" panose="020F0502020204030204"/>
                <a:cs typeface="Calibri" panose="020F0502020204030204"/>
              </a:rPr>
              <a:t>R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esNe</a:t>
            </a:r>
            <a:r>
              <a:rPr sz="1350" baseline="6000" dirty="0">
                <a:latin typeface="Calibri" panose="020F0502020204030204"/>
                <a:cs typeface="Calibri" panose="020F0502020204030204"/>
              </a:rPr>
              <a:t>t	</a:t>
            </a:r>
            <a:r>
              <a:rPr sz="1350" spc="7" baseline="3000" dirty="0">
                <a:latin typeface="Calibri" panose="020F0502020204030204"/>
                <a:cs typeface="Calibri" panose="020F0502020204030204"/>
              </a:rPr>
              <a:t>T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-S</a:t>
            </a:r>
            <a:endParaRPr sz="1350" baseline="3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9" y="291415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1794" y="2918349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8775" y="367554"/>
            <a:ext cx="2828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</a:t>
            </a:r>
            <a:r>
              <a:rPr spc="-10" dirty="0"/>
              <a:t>赛历年冠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5" name="object 5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2638" y="1997383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80328" y="2946035"/>
            <a:ext cx="254508" cy="153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81824" y="2946035"/>
            <a:ext cx="516636" cy="64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26860" y="2946035"/>
            <a:ext cx="289560" cy="518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02348" y="2944511"/>
            <a:ext cx="222503" cy="1539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9582" y="2443915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86174" y="2443877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635"/>
                </a:moveTo>
                <a:lnTo>
                  <a:pt x="441960" y="135635"/>
                </a:lnTo>
                <a:lnTo>
                  <a:pt x="441960" y="0"/>
                </a:lnTo>
                <a:lnTo>
                  <a:pt x="0" y="0"/>
                </a:lnTo>
                <a:lnTo>
                  <a:pt x="0" y="135635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88555" y="2447782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66234" y="2446925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6" y="134111"/>
                </a:lnTo>
                <a:lnTo>
                  <a:pt x="440436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49565" y="2447782"/>
            <a:ext cx="430530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09718" y="2001917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5" y="134111"/>
                </a:lnTo>
                <a:lnTo>
                  <a:pt x="440435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631181" y="2011950"/>
            <a:ext cx="8636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02920" algn="l"/>
              </a:tabLst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	</a:t>
            </a:r>
            <a:r>
              <a:rPr sz="1050" spc="-7" baseline="4000" dirty="0">
                <a:latin typeface="Arial" panose="020B0604020202020204"/>
                <a:cs typeface="Arial" panose="020B0604020202020204"/>
              </a:rPr>
              <a:t>22</a:t>
            </a:r>
            <a:r>
              <a:rPr sz="1050" spc="-157" baseline="4000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-15" baseline="4000" dirty="0">
                <a:latin typeface="Arial" panose="020B0604020202020204"/>
                <a:cs typeface="Arial" panose="020B0604020202020204"/>
              </a:rPr>
              <a:t>layers</a:t>
            </a:r>
            <a:endParaRPr sz="1050" baseline="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92113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16369" y="1191149"/>
            <a:ext cx="441959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42149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86857" y="1691021"/>
            <a:ext cx="993775" cy="1417320"/>
          </a:xfrm>
          <a:custGeom>
            <a:avLst/>
            <a:gdLst/>
            <a:ahLst/>
            <a:cxnLst/>
            <a:rect l="l" t="t" r="r" b="b"/>
            <a:pathLst>
              <a:path w="993775" h="1417320">
                <a:moveTo>
                  <a:pt x="0" y="1417066"/>
                </a:moveTo>
                <a:lnTo>
                  <a:pt x="993305" y="1417066"/>
                </a:lnTo>
                <a:lnTo>
                  <a:pt x="993305" y="0"/>
                </a:lnTo>
                <a:lnTo>
                  <a:pt x="0" y="0"/>
                </a:lnTo>
                <a:lnTo>
                  <a:pt x="0" y="1417066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38340" y="2927747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571994" y="2931557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81824" y="2923175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3"/>
                </a:moveTo>
                <a:lnTo>
                  <a:pt x="580644" y="184403"/>
                </a:lnTo>
                <a:lnTo>
                  <a:pt x="58064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067294" y="2942225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131431" y="2930795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165087" y="2933970"/>
            <a:ext cx="169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T</a:t>
            </a:r>
            <a:r>
              <a:rPr sz="900" dirty="0">
                <a:latin typeface="Calibri" panose="020F0502020204030204"/>
                <a:cs typeface="Calibri" panose="020F0502020204030204"/>
              </a:rPr>
              <a:t>-S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94706" y="1458357"/>
            <a:ext cx="371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2014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84115" y="2937907"/>
            <a:ext cx="1580515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</a:tabLst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VGG	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GoogleNet</a:t>
            </a:r>
            <a:r>
              <a:rPr sz="1350" spc="262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ResNet</a:t>
            </a:r>
            <a:endParaRPr sz="1350" baseline="6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8" y="2941446"/>
            <a:ext cx="793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6730" algn="l"/>
              </a:tabLst>
            </a:pPr>
            <a:r>
              <a:rPr sz="1350" spc="-15" baseline="3000" dirty="0">
                <a:latin typeface="Calibri" panose="020F0502020204030204"/>
                <a:cs typeface="Calibri" panose="020F0502020204030204"/>
              </a:rPr>
              <a:t>A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l</a:t>
            </a:r>
            <a:r>
              <a:rPr sz="1350" spc="-30" baseline="3000" dirty="0">
                <a:latin typeface="Calibri" panose="020F0502020204030204"/>
                <a:cs typeface="Calibri" panose="020F0502020204030204"/>
              </a:rPr>
              <a:t>e</a:t>
            </a:r>
            <a:r>
              <a:rPr sz="1350" spc="-15" baseline="3000" dirty="0">
                <a:latin typeface="Calibri" panose="020F0502020204030204"/>
                <a:cs typeface="Calibri" panose="020F0502020204030204"/>
              </a:rPr>
              <a:t>x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Ne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t	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8774" y="389966"/>
            <a:ext cx="2828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大赛</a:t>
            </a:r>
            <a:r>
              <a:rPr spc="-10" dirty="0"/>
              <a:t>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4" name="object 4"/>
          <p:cNvSpPr/>
          <p:nvPr/>
        </p:nvSpPr>
        <p:spPr>
          <a:xfrm>
            <a:off x="496691" y="1063116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12637" y="2019464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3683" y="2968118"/>
            <a:ext cx="225552" cy="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5643" y="2971164"/>
            <a:ext cx="309371" cy="51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64787" y="3064130"/>
            <a:ext cx="291084" cy="487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80328" y="2968116"/>
            <a:ext cx="254508" cy="153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81823" y="2968116"/>
            <a:ext cx="516636" cy="640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26860" y="2968118"/>
            <a:ext cx="289560" cy="518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02347" y="2966592"/>
            <a:ext cx="222503" cy="1539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59581" y="2465996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5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86174" y="2465958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636"/>
                </a:moveTo>
                <a:lnTo>
                  <a:pt x="441960" y="135636"/>
                </a:lnTo>
                <a:lnTo>
                  <a:pt x="441960" y="0"/>
                </a:lnTo>
                <a:lnTo>
                  <a:pt x="0" y="0"/>
                </a:lnTo>
                <a:lnTo>
                  <a:pt x="0" y="135636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88554" y="2469863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4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66233" y="2469006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2"/>
                </a:moveTo>
                <a:lnTo>
                  <a:pt x="440436" y="134112"/>
                </a:lnTo>
                <a:lnTo>
                  <a:pt x="440436" y="0"/>
                </a:lnTo>
                <a:lnTo>
                  <a:pt x="0" y="0"/>
                </a:lnTo>
                <a:lnTo>
                  <a:pt x="0" y="134112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49565" y="2469864"/>
            <a:ext cx="430530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09717" y="2023998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2"/>
                </a:moveTo>
                <a:lnTo>
                  <a:pt x="440435" y="134112"/>
                </a:lnTo>
                <a:lnTo>
                  <a:pt x="440435" y="0"/>
                </a:lnTo>
                <a:lnTo>
                  <a:pt x="0" y="0"/>
                </a:lnTo>
                <a:lnTo>
                  <a:pt x="0" y="134112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31180" y="2034666"/>
            <a:ext cx="3619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1781" y="2028824"/>
            <a:ext cx="373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7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92113" y="1213230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16369" y="1213230"/>
            <a:ext cx="441959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42149" y="1213230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5979" y="2681606"/>
            <a:ext cx="82296" cy="807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69943" y="2681606"/>
            <a:ext cx="82295" cy="807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42383" y="2657222"/>
            <a:ext cx="83819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16347" y="2657222"/>
            <a:ext cx="82295" cy="807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78119" y="2562732"/>
            <a:ext cx="83819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73419" y="2544446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01663" y="1468502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57340" y="1468502"/>
            <a:ext cx="82296" cy="807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45019" y="1468502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59225" y="2723514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31665" y="2699130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6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05630" y="2699130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79593" y="2603118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41365" y="2586354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10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336666" y="1510410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64910" y="1510410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20585" y="15104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86857" y="1713102"/>
            <a:ext cx="495300" cy="1417320"/>
          </a:xfrm>
          <a:custGeom>
            <a:avLst/>
            <a:gdLst/>
            <a:ahLst/>
            <a:cxnLst/>
            <a:rect l="l" t="t" r="r" b="b"/>
            <a:pathLst>
              <a:path w="495300" h="1417320">
                <a:moveTo>
                  <a:pt x="0" y="1417066"/>
                </a:moveTo>
                <a:lnTo>
                  <a:pt x="495134" y="1417066"/>
                </a:lnTo>
                <a:lnTo>
                  <a:pt x="495134" y="0"/>
                </a:lnTo>
                <a:lnTo>
                  <a:pt x="0" y="0"/>
                </a:lnTo>
                <a:lnTo>
                  <a:pt x="0" y="1417066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38340" y="2949828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571994" y="2954146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81823" y="2945256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4"/>
                </a:moveTo>
                <a:lnTo>
                  <a:pt x="580644" y="184404"/>
                </a:lnTo>
                <a:lnTo>
                  <a:pt x="58064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067294" y="2964814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131431" y="2952876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4"/>
                </a:moveTo>
                <a:lnTo>
                  <a:pt x="405384" y="184404"/>
                </a:lnTo>
                <a:lnTo>
                  <a:pt x="40538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894705" y="1481073"/>
            <a:ext cx="371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2014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84114" y="2960623"/>
            <a:ext cx="1850389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  <a:tab pos="1693545" algn="l"/>
              </a:tabLst>
            </a:pP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	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1350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oo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gleNe</a:t>
            </a:r>
            <a:r>
              <a:rPr sz="1350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  </a:t>
            </a:r>
            <a:r>
              <a:rPr sz="1350" spc="15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5" baseline="6000" dirty="0">
                <a:latin typeface="Calibri" panose="020F0502020204030204"/>
                <a:cs typeface="Calibri" panose="020F0502020204030204"/>
              </a:rPr>
              <a:t>R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esNe</a:t>
            </a:r>
            <a:r>
              <a:rPr sz="1350" baseline="6000" dirty="0">
                <a:latin typeface="Calibri" panose="020F0502020204030204"/>
                <a:cs typeface="Calibri" panose="020F0502020204030204"/>
              </a:rPr>
              <a:t>t	</a:t>
            </a:r>
            <a:r>
              <a:rPr sz="1350" spc="7" baseline="3000" dirty="0">
                <a:latin typeface="Calibri" panose="020F0502020204030204"/>
                <a:cs typeface="Calibri" panose="020F0502020204030204"/>
              </a:rPr>
              <a:t>T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-S</a:t>
            </a:r>
            <a:endParaRPr sz="1350" baseline="3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9" y="291415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1794" y="2918349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8775" y="367554"/>
            <a:ext cx="2828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</a:t>
            </a:r>
            <a:r>
              <a:rPr spc="-10" dirty="0"/>
              <a:t>赛历年冠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5" name="object 5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2638" y="1997383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80328" y="2946035"/>
            <a:ext cx="254508" cy="153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81824" y="2946035"/>
            <a:ext cx="516636" cy="64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26860" y="2946035"/>
            <a:ext cx="289560" cy="518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02348" y="2944511"/>
            <a:ext cx="222503" cy="1539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9582" y="2443915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86174" y="2443877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635"/>
                </a:moveTo>
                <a:lnTo>
                  <a:pt x="441960" y="135635"/>
                </a:lnTo>
                <a:lnTo>
                  <a:pt x="441960" y="0"/>
                </a:lnTo>
                <a:lnTo>
                  <a:pt x="0" y="0"/>
                </a:lnTo>
                <a:lnTo>
                  <a:pt x="0" y="135635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88555" y="2447782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66234" y="2446925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6" y="134111"/>
                </a:lnTo>
                <a:lnTo>
                  <a:pt x="440436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49565" y="2447782"/>
            <a:ext cx="430530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09718" y="2001917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5" y="134111"/>
                </a:lnTo>
                <a:lnTo>
                  <a:pt x="440435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631181" y="2011950"/>
            <a:ext cx="3619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21782" y="2005854"/>
            <a:ext cx="373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7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2113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16369" y="1191149"/>
            <a:ext cx="441959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2149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586857" y="1691021"/>
            <a:ext cx="495300" cy="1417320"/>
          </a:xfrm>
          <a:custGeom>
            <a:avLst/>
            <a:gdLst/>
            <a:ahLst/>
            <a:cxnLst/>
            <a:rect l="l" t="t" r="r" b="b"/>
            <a:pathLst>
              <a:path w="495300" h="1417320">
                <a:moveTo>
                  <a:pt x="0" y="1417066"/>
                </a:moveTo>
                <a:lnTo>
                  <a:pt x="495134" y="1417066"/>
                </a:lnTo>
                <a:lnTo>
                  <a:pt x="495134" y="0"/>
                </a:lnTo>
                <a:lnTo>
                  <a:pt x="0" y="0"/>
                </a:lnTo>
                <a:lnTo>
                  <a:pt x="0" y="1417066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38340" y="2927747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571994" y="2931557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981824" y="2923175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3"/>
                </a:moveTo>
                <a:lnTo>
                  <a:pt x="580644" y="184403"/>
                </a:lnTo>
                <a:lnTo>
                  <a:pt x="58064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067294" y="2942225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131431" y="2930795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4165087" y="2933970"/>
            <a:ext cx="169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T</a:t>
            </a:r>
            <a:r>
              <a:rPr sz="900" dirty="0">
                <a:latin typeface="Calibri" panose="020F0502020204030204"/>
                <a:cs typeface="Calibri" panose="020F0502020204030204"/>
              </a:rPr>
              <a:t>-S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94706" y="1458357"/>
            <a:ext cx="371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2014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453507" y="2052984"/>
            <a:ext cx="372618" cy="3055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475860" y="2064782"/>
            <a:ext cx="287655" cy="219710"/>
          </a:xfrm>
          <a:custGeom>
            <a:avLst/>
            <a:gdLst/>
            <a:ahLst/>
            <a:cxnLst/>
            <a:rect l="l" t="t" r="r" b="b"/>
            <a:pathLst>
              <a:path w="287655" h="219710">
                <a:moveTo>
                  <a:pt x="248612" y="199193"/>
                </a:moveTo>
                <a:lnTo>
                  <a:pt x="240029" y="210566"/>
                </a:lnTo>
                <a:lnTo>
                  <a:pt x="287146" y="219328"/>
                </a:lnTo>
                <a:lnTo>
                  <a:pt x="279256" y="203453"/>
                </a:lnTo>
                <a:lnTo>
                  <a:pt x="254253" y="203453"/>
                </a:lnTo>
                <a:lnTo>
                  <a:pt x="248612" y="199193"/>
                </a:lnTo>
                <a:close/>
              </a:path>
              <a:path w="287655" h="219710">
                <a:moveTo>
                  <a:pt x="257241" y="187758"/>
                </a:moveTo>
                <a:lnTo>
                  <a:pt x="248612" y="199193"/>
                </a:lnTo>
                <a:lnTo>
                  <a:pt x="254253" y="203453"/>
                </a:lnTo>
                <a:lnTo>
                  <a:pt x="262889" y="192024"/>
                </a:lnTo>
                <a:lnTo>
                  <a:pt x="257241" y="187758"/>
                </a:lnTo>
                <a:close/>
              </a:path>
              <a:path w="287655" h="219710">
                <a:moveTo>
                  <a:pt x="265810" y="176402"/>
                </a:moveTo>
                <a:lnTo>
                  <a:pt x="257241" y="187758"/>
                </a:lnTo>
                <a:lnTo>
                  <a:pt x="262889" y="192024"/>
                </a:lnTo>
                <a:lnTo>
                  <a:pt x="254253" y="203453"/>
                </a:lnTo>
                <a:lnTo>
                  <a:pt x="279256" y="203453"/>
                </a:lnTo>
                <a:lnTo>
                  <a:pt x="265810" y="176402"/>
                </a:lnTo>
                <a:close/>
              </a:path>
              <a:path w="287655" h="219710">
                <a:moveTo>
                  <a:pt x="8635" y="0"/>
                </a:moveTo>
                <a:lnTo>
                  <a:pt x="0" y="11429"/>
                </a:lnTo>
                <a:lnTo>
                  <a:pt x="248612" y="199193"/>
                </a:lnTo>
                <a:lnTo>
                  <a:pt x="257241" y="187758"/>
                </a:lnTo>
                <a:lnTo>
                  <a:pt x="86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484115" y="2937907"/>
            <a:ext cx="1580515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</a:tabLst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VGG	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GoogleNet</a:t>
            </a:r>
            <a:r>
              <a:rPr sz="1350" spc="262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ResNet</a:t>
            </a:r>
            <a:endParaRPr sz="1350" baseline="6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359531" y="2910813"/>
            <a:ext cx="521334" cy="0"/>
          </a:xfrm>
          <a:custGeom>
            <a:avLst/>
            <a:gdLst/>
            <a:ahLst/>
            <a:cxnLst/>
            <a:rect l="l" t="t" r="r" b="b"/>
            <a:pathLst>
              <a:path w="521334">
                <a:moveTo>
                  <a:pt x="0" y="0"/>
                </a:moveTo>
                <a:lnTo>
                  <a:pt x="520877" y="0"/>
                </a:lnTo>
              </a:path>
            </a:pathLst>
          </a:custGeom>
          <a:ln w="68379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9531" y="2711169"/>
            <a:ext cx="521334" cy="0"/>
          </a:xfrm>
          <a:custGeom>
            <a:avLst/>
            <a:gdLst/>
            <a:ahLst/>
            <a:cxnLst/>
            <a:rect l="l" t="t" r="r" b="b"/>
            <a:pathLst>
              <a:path w="521334">
                <a:moveTo>
                  <a:pt x="0" y="0"/>
                </a:moveTo>
                <a:lnTo>
                  <a:pt x="520877" y="0"/>
                </a:lnTo>
              </a:path>
            </a:pathLst>
          </a:custGeom>
          <a:ln w="68379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9531" y="2676979"/>
            <a:ext cx="521334" cy="68580"/>
          </a:xfrm>
          <a:custGeom>
            <a:avLst/>
            <a:gdLst/>
            <a:ahLst/>
            <a:cxnLst/>
            <a:rect l="l" t="t" r="r" b="b"/>
            <a:pathLst>
              <a:path w="521334" h="68580">
                <a:moveTo>
                  <a:pt x="0" y="68379"/>
                </a:moveTo>
                <a:lnTo>
                  <a:pt x="520877" y="68379"/>
                </a:lnTo>
                <a:lnTo>
                  <a:pt x="520877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9843" y="2692274"/>
            <a:ext cx="100584" cy="4114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9531" y="3009873"/>
            <a:ext cx="521334" cy="0"/>
          </a:xfrm>
          <a:custGeom>
            <a:avLst/>
            <a:gdLst/>
            <a:ahLst/>
            <a:cxnLst/>
            <a:rect l="l" t="t" r="r" b="b"/>
            <a:pathLst>
              <a:path w="521334">
                <a:moveTo>
                  <a:pt x="0" y="0"/>
                </a:moveTo>
                <a:lnTo>
                  <a:pt x="520877" y="0"/>
                </a:lnTo>
              </a:path>
            </a:pathLst>
          </a:custGeom>
          <a:ln w="68379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9531" y="2975683"/>
            <a:ext cx="521334" cy="68580"/>
          </a:xfrm>
          <a:custGeom>
            <a:avLst/>
            <a:gdLst/>
            <a:ahLst/>
            <a:cxnLst/>
            <a:rect l="l" t="t" r="r" b="b"/>
            <a:pathLst>
              <a:path w="521334" h="68580">
                <a:moveTo>
                  <a:pt x="0" y="68379"/>
                </a:moveTo>
                <a:lnTo>
                  <a:pt x="520877" y="68379"/>
                </a:lnTo>
                <a:lnTo>
                  <a:pt x="520877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3747" y="2990976"/>
            <a:ext cx="114300" cy="502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8007" y="2511525"/>
            <a:ext cx="519430" cy="0"/>
          </a:xfrm>
          <a:custGeom>
            <a:avLst/>
            <a:gdLst/>
            <a:ahLst/>
            <a:cxnLst/>
            <a:rect l="l" t="t" r="r" b="b"/>
            <a:pathLst>
              <a:path w="519430">
                <a:moveTo>
                  <a:pt x="0" y="0"/>
                </a:moveTo>
                <a:lnTo>
                  <a:pt x="519366" y="0"/>
                </a:lnTo>
              </a:path>
            </a:pathLst>
          </a:custGeom>
          <a:ln w="68379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8007" y="2477335"/>
            <a:ext cx="519430" cy="68580"/>
          </a:xfrm>
          <a:custGeom>
            <a:avLst/>
            <a:gdLst/>
            <a:ahLst/>
            <a:cxnLst/>
            <a:rect l="l" t="t" r="r" b="b"/>
            <a:pathLst>
              <a:path w="519430" h="68580">
                <a:moveTo>
                  <a:pt x="0" y="68379"/>
                </a:moveTo>
                <a:lnTo>
                  <a:pt x="519366" y="68379"/>
                </a:lnTo>
                <a:lnTo>
                  <a:pt x="519366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8319" y="2492630"/>
            <a:ext cx="99059" cy="396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3245" y="2272929"/>
            <a:ext cx="528890" cy="176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8007" y="2211297"/>
            <a:ext cx="519430" cy="0"/>
          </a:xfrm>
          <a:custGeom>
            <a:avLst/>
            <a:gdLst/>
            <a:ahLst/>
            <a:cxnLst/>
            <a:rect l="l" t="t" r="r" b="b"/>
            <a:pathLst>
              <a:path w="519430">
                <a:moveTo>
                  <a:pt x="0" y="0"/>
                </a:moveTo>
                <a:lnTo>
                  <a:pt x="519366" y="0"/>
                </a:lnTo>
              </a:path>
            </a:pathLst>
          </a:custGeom>
          <a:ln w="68379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8007" y="2177107"/>
            <a:ext cx="519430" cy="68580"/>
          </a:xfrm>
          <a:custGeom>
            <a:avLst/>
            <a:gdLst/>
            <a:ahLst/>
            <a:cxnLst/>
            <a:rect l="l" t="t" r="r" b="b"/>
            <a:pathLst>
              <a:path w="519430" h="68580">
                <a:moveTo>
                  <a:pt x="0" y="68379"/>
                </a:moveTo>
                <a:lnTo>
                  <a:pt x="519366" y="68379"/>
                </a:lnTo>
                <a:lnTo>
                  <a:pt x="519366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8319" y="2192402"/>
            <a:ext cx="99059" cy="411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3245" y="1774581"/>
            <a:ext cx="528890" cy="376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7487" y="3082544"/>
            <a:ext cx="3803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 panose="020B0604020202020204"/>
                <a:cs typeface="Arial" panose="020B0604020202020204"/>
              </a:rPr>
              <a:t>Ale</a:t>
            </a:r>
            <a:r>
              <a:rPr sz="800" spc="-20" dirty="0">
                <a:latin typeface="Arial" panose="020B0604020202020204"/>
                <a:cs typeface="Arial" panose="020B0604020202020204"/>
              </a:rPr>
              <a:t>x</a:t>
            </a:r>
            <a:r>
              <a:rPr sz="800" spc="-5" dirty="0">
                <a:latin typeface="Arial" panose="020B0604020202020204"/>
                <a:cs typeface="Arial" panose="020B0604020202020204"/>
              </a:rPr>
              <a:t>Ne</a:t>
            </a:r>
            <a:r>
              <a:rPr sz="800" dirty="0">
                <a:latin typeface="Arial" panose="020B0604020202020204"/>
                <a:cs typeface="Arial" panose="020B0604020202020204"/>
              </a:rPr>
              <a:t>t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4459" y="2901314"/>
            <a:ext cx="27305" cy="30480"/>
          </a:xfrm>
          <a:custGeom>
            <a:avLst/>
            <a:gdLst/>
            <a:ahLst/>
            <a:cxnLst/>
            <a:rect l="l" t="t" r="r" b="b"/>
            <a:pathLst>
              <a:path w="27305" h="30480">
                <a:moveTo>
                  <a:pt x="18402" y="0"/>
                </a:moveTo>
                <a:lnTo>
                  <a:pt x="10172" y="0"/>
                </a:lnTo>
                <a:lnTo>
                  <a:pt x="6604" y="1396"/>
                </a:lnTo>
                <a:lnTo>
                  <a:pt x="3924" y="4190"/>
                </a:lnTo>
                <a:lnTo>
                  <a:pt x="1308" y="7112"/>
                </a:lnTo>
                <a:lnTo>
                  <a:pt x="0" y="10794"/>
                </a:lnTo>
                <a:lnTo>
                  <a:pt x="0" y="19812"/>
                </a:lnTo>
                <a:lnTo>
                  <a:pt x="1333" y="23368"/>
                </a:lnTo>
                <a:lnTo>
                  <a:pt x="4013" y="26034"/>
                </a:lnTo>
                <a:lnTo>
                  <a:pt x="6756" y="28828"/>
                </a:lnTo>
                <a:lnTo>
                  <a:pt x="10236" y="30098"/>
                </a:lnTo>
                <a:lnTo>
                  <a:pt x="18338" y="30098"/>
                </a:lnTo>
                <a:lnTo>
                  <a:pt x="21475" y="29209"/>
                </a:lnTo>
                <a:lnTo>
                  <a:pt x="26403" y="25145"/>
                </a:lnTo>
                <a:lnTo>
                  <a:pt x="26822" y="24256"/>
                </a:lnTo>
                <a:lnTo>
                  <a:pt x="12420" y="24256"/>
                </a:lnTo>
                <a:lnTo>
                  <a:pt x="10795" y="23494"/>
                </a:lnTo>
                <a:lnTo>
                  <a:pt x="9613" y="21843"/>
                </a:lnTo>
                <a:lnTo>
                  <a:pt x="8496" y="20193"/>
                </a:lnTo>
                <a:lnTo>
                  <a:pt x="7937" y="18033"/>
                </a:lnTo>
                <a:lnTo>
                  <a:pt x="7937" y="12445"/>
                </a:lnTo>
                <a:lnTo>
                  <a:pt x="8496" y="10287"/>
                </a:lnTo>
                <a:lnTo>
                  <a:pt x="9613" y="8508"/>
                </a:lnTo>
                <a:lnTo>
                  <a:pt x="10795" y="6731"/>
                </a:lnTo>
                <a:lnTo>
                  <a:pt x="12484" y="5968"/>
                </a:lnTo>
                <a:lnTo>
                  <a:pt x="27228" y="5968"/>
                </a:lnTo>
                <a:lnTo>
                  <a:pt x="26644" y="4825"/>
                </a:lnTo>
                <a:lnTo>
                  <a:pt x="21539" y="888"/>
                </a:lnTo>
                <a:lnTo>
                  <a:pt x="1840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0804" y="2907283"/>
            <a:ext cx="12065" cy="5080"/>
          </a:xfrm>
          <a:custGeom>
            <a:avLst/>
            <a:gdLst/>
            <a:ahLst/>
            <a:cxnLst/>
            <a:rect l="l" t="t" r="r" b="b"/>
            <a:pathLst>
              <a:path w="12064" h="5080">
                <a:moveTo>
                  <a:pt x="10883" y="0"/>
                </a:moveTo>
                <a:lnTo>
                  <a:pt x="0" y="0"/>
                </a:lnTo>
                <a:lnTo>
                  <a:pt x="1308" y="381"/>
                </a:lnTo>
                <a:lnTo>
                  <a:pt x="2235" y="1269"/>
                </a:lnTo>
                <a:lnTo>
                  <a:pt x="3238" y="2031"/>
                </a:lnTo>
                <a:lnTo>
                  <a:pt x="3860" y="3301"/>
                </a:lnTo>
                <a:lnTo>
                  <a:pt x="4102" y="4825"/>
                </a:lnTo>
                <a:lnTo>
                  <a:pt x="11861" y="4825"/>
                </a:lnTo>
                <a:lnTo>
                  <a:pt x="11671" y="1524"/>
                </a:lnTo>
                <a:lnTo>
                  <a:pt x="108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0677" y="2919729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12166" y="0"/>
                </a:moveTo>
                <a:lnTo>
                  <a:pt x="4521" y="0"/>
                </a:lnTo>
                <a:lnTo>
                  <a:pt x="4267" y="1905"/>
                </a:lnTo>
                <a:lnTo>
                  <a:pt x="3581" y="3301"/>
                </a:lnTo>
                <a:lnTo>
                  <a:pt x="1396" y="5461"/>
                </a:lnTo>
                <a:lnTo>
                  <a:pt x="0" y="5842"/>
                </a:lnTo>
                <a:lnTo>
                  <a:pt x="10604" y="5842"/>
                </a:lnTo>
                <a:lnTo>
                  <a:pt x="11671" y="3810"/>
                </a:lnTo>
                <a:lnTo>
                  <a:pt x="121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6476" y="2901314"/>
            <a:ext cx="27940" cy="30480"/>
          </a:xfrm>
          <a:custGeom>
            <a:avLst/>
            <a:gdLst/>
            <a:ahLst/>
            <a:cxnLst/>
            <a:rect l="l" t="t" r="r" b="b"/>
            <a:pathLst>
              <a:path w="27939" h="30480">
                <a:moveTo>
                  <a:pt x="19392" y="0"/>
                </a:moveTo>
                <a:lnTo>
                  <a:pt x="10299" y="0"/>
                </a:lnTo>
                <a:lnTo>
                  <a:pt x="6692" y="1396"/>
                </a:lnTo>
                <a:lnTo>
                  <a:pt x="1333" y="6984"/>
                </a:lnTo>
                <a:lnTo>
                  <a:pt x="0" y="10540"/>
                </a:lnTo>
                <a:lnTo>
                  <a:pt x="12" y="19684"/>
                </a:lnTo>
                <a:lnTo>
                  <a:pt x="1333" y="23240"/>
                </a:lnTo>
                <a:lnTo>
                  <a:pt x="4013" y="26034"/>
                </a:lnTo>
                <a:lnTo>
                  <a:pt x="6743" y="28828"/>
                </a:lnTo>
                <a:lnTo>
                  <a:pt x="10363" y="30098"/>
                </a:lnTo>
                <a:lnTo>
                  <a:pt x="19329" y="30098"/>
                </a:lnTo>
                <a:lnTo>
                  <a:pt x="22936" y="28828"/>
                </a:lnTo>
                <a:lnTo>
                  <a:pt x="27444" y="24256"/>
                </a:lnTo>
                <a:lnTo>
                  <a:pt x="12725" y="24256"/>
                </a:lnTo>
                <a:lnTo>
                  <a:pt x="11049" y="23494"/>
                </a:lnTo>
                <a:lnTo>
                  <a:pt x="8559" y="20446"/>
                </a:lnTo>
                <a:lnTo>
                  <a:pt x="7937" y="18160"/>
                </a:lnTo>
                <a:lnTo>
                  <a:pt x="7937" y="12064"/>
                </a:lnTo>
                <a:lnTo>
                  <a:pt x="8559" y="9778"/>
                </a:lnTo>
                <a:lnTo>
                  <a:pt x="11049" y="6731"/>
                </a:lnTo>
                <a:lnTo>
                  <a:pt x="12725" y="5968"/>
                </a:lnTo>
                <a:lnTo>
                  <a:pt x="27406" y="5968"/>
                </a:lnTo>
                <a:lnTo>
                  <a:pt x="22999" y="1396"/>
                </a:lnTo>
                <a:lnTo>
                  <a:pt x="1939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3570" y="2907283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10312" y="0"/>
                </a:moveTo>
                <a:lnTo>
                  <a:pt x="114" y="0"/>
                </a:lnTo>
                <a:lnTo>
                  <a:pt x="1854" y="762"/>
                </a:lnTo>
                <a:lnTo>
                  <a:pt x="2984" y="2412"/>
                </a:lnTo>
                <a:lnTo>
                  <a:pt x="4165" y="4063"/>
                </a:lnTo>
                <a:lnTo>
                  <a:pt x="4686" y="6095"/>
                </a:lnTo>
                <a:lnTo>
                  <a:pt x="4724" y="12191"/>
                </a:lnTo>
                <a:lnTo>
                  <a:pt x="4127" y="14350"/>
                </a:lnTo>
                <a:lnTo>
                  <a:pt x="2882" y="15875"/>
                </a:lnTo>
                <a:lnTo>
                  <a:pt x="1701" y="17525"/>
                </a:lnTo>
                <a:lnTo>
                  <a:pt x="0" y="18287"/>
                </a:lnTo>
                <a:lnTo>
                  <a:pt x="10350" y="18287"/>
                </a:lnTo>
                <a:lnTo>
                  <a:pt x="11315" y="17399"/>
                </a:lnTo>
                <a:lnTo>
                  <a:pt x="12700" y="13715"/>
                </a:lnTo>
                <a:lnTo>
                  <a:pt x="12700" y="4571"/>
                </a:lnTo>
                <a:lnTo>
                  <a:pt x="11315" y="1015"/>
                </a:lnTo>
                <a:lnTo>
                  <a:pt x="1031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9123" y="2901314"/>
            <a:ext cx="19050" cy="5080"/>
          </a:xfrm>
          <a:custGeom>
            <a:avLst/>
            <a:gdLst/>
            <a:ahLst/>
            <a:cxnLst/>
            <a:rect l="l" t="t" r="r" b="b"/>
            <a:pathLst>
              <a:path w="19050" h="5080">
                <a:moveTo>
                  <a:pt x="12445" y="0"/>
                </a:moveTo>
                <a:lnTo>
                  <a:pt x="6972" y="0"/>
                </a:lnTo>
                <a:lnTo>
                  <a:pt x="5283" y="381"/>
                </a:lnTo>
                <a:lnTo>
                  <a:pt x="3733" y="1269"/>
                </a:lnTo>
                <a:lnTo>
                  <a:pt x="2171" y="2031"/>
                </a:lnTo>
                <a:lnTo>
                  <a:pt x="927" y="3175"/>
                </a:lnTo>
                <a:lnTo>
                  <a:pt x="0" y="4698"/>
                </a:lnTo>
                <a:lnTo>
                  <a:pt x="18516" y="4698"/>
                </a:lnTo>
                <a:lnTo>
                  <a:pt x="15125" y="888"/>
                </a:lnTo>
                <a:lnTo>
                  <a:pt x="1244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1376" y="2902076"/>
            <a:ext cx="27305" cy="29209"/>
          </a:xfrm>
          <a:custGeom>
            <a:avLst/>
            <a:gdLst/>
            <a:ahLst/>
            <a:cxnLst/>
            <a:rect l="l" t="t" r="r" b="b"/>
            <a:pathLst>
              <a:path w="27304" h="29210">
                <a:moveTo>
                  <a:pt x="7556" y="0"/>
                </a:moveTo>
                <a:lnTo>
                  <a:pt x="0" y="0"/>
                </a:lnTo>
                <a:lnTo>
                  <a:pt x="0" y="28701"/>
                </a:lnTo>
                <a:lnTo>
                  <a:pt x="7937" y="28701"/>
                </a:lnTo>
                <a:lnTo>
                  <a:pt x="7937" y="10667"/>
                </a:lnTo>
                <a:lnTo>
                  <a:pt x="8394" y="8635"/>
                </a:lnTo>
                <a:lnTo>
                  <a:pt x="9334" y="7365"/>
                </a:lnTo>
                <a:lnTo>
                  <a:pt x="10325" y="6095"/>
                </a:lnTo>
                <a:lnTo>
                  <a:pt x="11912" y="5460"/>
                </a:lnTo>
                <a:lnTo>
                  <a:pt x="26695" y="5460"/>
                </a:lnTo>
                <a:lnTo>
                  <a:pt x="26263" y="3936"/>
                </a:lnTo>
                <a:lnTo>
                  <a:pt x="7556" y="3936"/>
                </a:lnTo>
                <a:lnTo>
                  <a:pt x="755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7276" y="2907537"/>
            <a:ext cx="11430" cy="23495"/>
          </a:xfrm>
          <a:custGeom>
            <a:avLst/>
            <a:gdLst/>
            <a:ahLst/>
            <a:cxnLst/>
            <a:rect l="l" t="t" r="r" b="b"/>
            <a:pathLst>
              <a:path w="11429" h="23494">
                <a:moveTo>
                  <a:pt x="10795" y="0"/>
                </a:moveTo>
                <a:lnTo>
                  <a:pt x="0" y="0"/>
                </a:lnTo>
                <a:lnTo>
                  <a:pt x="1282" y="508"/>
                </a:lnTo>
                <a:lnTo>
                  <a:pt x="2019" y="1778"/>
                </a:lnTo>
                <a:lnTo>
                  <a:pt x="2832" y="2793"/>
                </a:lnTo>
                <a:lnTo>
                  <a:pt x="3238" y="4572"/>
                </a:lnTo>
                <a:lnTo>
                  <a:pt x="3238" y="23241"/>
                </a:lnTo>
                <a:lnTo>
                  <a:pt x="11176" y="23241"/>
                </a:lnTo>
                <a:lnTo>
                  <a:pt x="11176" y="1270"/>
                </a:lnTo>
                <a:lnTo>
                  <a:pt x="1079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61703" y="2902076"/>
            <a:ext cx="22225" cy="29209"/>
          </a:xfrm>
          <a:custGeom>
            <a:avLst/>
            <a:gdLst/>
            <a:ahLst/>
            <a:cxnLst/>
            <a:rect l="l" t="t" r="r" b="b"/>
            <a:pathLst>
              <a:path w="22225" h="29210">
                <a:moveTo>
                  <a:pt x="8318" y="0"/>
                </a:moveTo>
                <a:lnTo>
                  <a:pt x="0" y="0"/>
                </a:lnTo>
                <a:lnTo>
                  <a:pt x="9906" y="28701"/>
                </a:lnTo>
                <a:lnTo>
                  <a:pt x="18681" y="28701"/>
                </a:lnTo>
                <a:lnTo>
                  <a:pt x="21793" y="19557"/>
                </a:lnTo>
                <a:lnTo>
                  <a:pt x="14389" y="19557"/>
                </a:lnTo>
                <a:lnTo>
                  <a:pt x="83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6181" y="2902076"/>
            <a:ext cx="14604" cy="19685"/>
          </a:xfrm>
          <a:custGeom>
            <a:avLst/>
            <a:gdLst/>
            <a:ahLst/>
            <a:cxnLst/>
            <a:rect l="l" t="t" r="r" b="b"/>
            <a:pathLst>
              <a:path w="14604" h="19685">
                <a:moveTo>
                  <a:pt x="14008" y="0"/>
                </a:moveTo>
                <a:lnTo>
                  <a:pt x="6070" y="0"/>
                </a:lnTo>
                <a:lnTo>
                  <a:pt x="0" y="19557"/>
                </a:lnTo>
                <a:lnTo>
                  <a:pt x="7315" y="19557"/>
                </a:lnTo>
                <a:lnTo>
                  <a:pt x="140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4533" y="2891916"/>
            <a:ext cx="17780" cy="39370"/>
          </a:xfrm>
          <a:custGeom>
            <a:avLst/>
            <a:gdLst/>
            <a:ahLst/>
            <a:cxnLst/>
            <a:rect l="l" t="t" r="r" b="b"/>
            <a:pathLst>
              <a:path w="17779" h="39369">
                <a:moveTo>
                  <a:pt x="17741" y="0"/>
                </a:moveTo>
                <a:lnTo>
                  <a:pt x="11391" y="0"/>
                </a:lnTo>
                <a:lnTo>
                  <a:pt x="11010" y="2539"/>
                </a:lnTo>
                <a:lnTo>
                  <a:pt x="9893" y="4444"/>
                </a:lnTo>
                <a:lnTo>
                  <a:pt x="8026" y="5714"/>
                </a:lnTo>
                <a:lnTo>
                  <a:pt x="6222" y="7112"/>
                </a:lnTo>
                <a:lnTo>
                  <a:pt x="3733" y="7746"/>
                </a:lnTo>
                <a:lnTo>
                  <a:pt x="0" y="7746"/>
                </a:lnTo>
                <a:lnTo>
                  <a:pt x="0" y="13588"/>
                </a:lnTo>
                <a:lnTo>
                  <a:pt x="9804" y="13588"/>
                </a:lnTo>
                <a:lnTo>
                  <a:pt x="9804" y="38862"/>
                </a:lnTo>
                <a:lnTo>
                  <a:pt x="17741" y="38862"/>
                </a:lnTo>
                <a:lnTo>
                  <a:pt x="1774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64459" y="2772797"/>
            <a:ext cx="720712" cy="1769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64459" y="2573157"/>
            <a:ext cx="720712" cy="779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4459" y="2398775"/>
            <a:ext cx="27940" cy="31750"/>
          </a:xfrm>
          <a:custGeom>
            <a:avLst/>
            <a:gdLst/>
            <a:ahLst/>
            <a:cxnLst/>
            <a:rect l="l" t="t" r="r" b="b"/>
            <a:pathLst>
              <a:path w="27939" h="31750">
                <a:moveTo>
                  <a:pt x="18491" y="0"/>
                </a:moveTo>
                <a:lnTo>
                  <a:pt x="10223" y="0"/>
                </a:lnTo>
                <a:lnTo>
                  <a:pt x="6629" y="1397"/>
                </a:lnTo>
                <a:lnTo>
                  <a:pt x="3937" y="4445"/>
                </a:lnTo>
                <a:lnTo>
                  <a:pt x="1320" y="7366"/>
                </a:lnTo>
                <a:lnTo>
                  <a:pt x="0" y="11303"/>
                </a:lnTo>
                <a:lnTo>
                  <a:pt x="0" y="20574"/>
                </a:lnTo>
                <a:lnTo>
                  <a:pt x="1346" y="24257"/>
                </a:lnTo>
                <a:lnTo>
                  <a:pt x="4038" y="27051"/>
                </a:lnTo>
                <a:lnTo>
                  <a:pt x="6781" y="29845"/>
                </a:lnTo>
                <a:lnTo>
                  <a:pt x="10287" y="31242"/>
                </a:lnTo>
                <a:lnTo>
                  <a:pt x="18427" y="31242"/>
                </a:lnTo>
                <a:lnTo>
                  <a:pt x="21590" y="30226"/>
                </a:lnTo>
                <a:lnTo>
                  <a:pt x="26530" y="26035"/>
                </a:lnTo>
                <a:lnTo>
                  <a:pt x="26962" y="25273"/>
                </a:lnTo>
                <a:lnTo>
                  <a:pt x="12484" y="25273"/>
                </a:lnTo>
                <a:lnTo>
                  <a:pt x="10858" y="24384"/>
                </a:lnTo>
                <a:lnTo>
                  <a:pt x="9664" y="22733"/>
                </a:lnTo>
                <a:lnTo>
                  <a:pt x="8547" y="20955"/>
                </a:lnTo>
                <a:lnTo>
                  <a:pt x="7975" y="18668"/>
                </a:lnTo>
                <a:lnTo>
                  <a:pt x="7975" y="12954"/>
                </a:lnTo>
                <a:lnTo>
                  <a:pt x="8547" y="10668"/>
                </a:lnTo>
                <a:lnTo>
                  <a:pt x="10858" y="6985"/>
                </a:lnTo>
                <a:lnTo>
                  <a:pt x="12547" y="6096"/>
                </a:lnTo>
                <a:lnTo>
                  <a:pt x="27368" y="6096"/>
                </a:lnTo>
                <a:lnTo>
                  <a:pt x="26771" y="4953"/>
                </a:lnTo>
                <a:lnTo>
                  <a:pt x="21653" y="1016"/>
                </a:lnTo>
                <a:lnTo>
                  <a:pt x="184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80881" y="2404871"/>
            <a:ext cx="12065" cy="5715"/>
          </a:xfrm>
          <a:custGeom>
            <a:avLst/>
            <a:gdLst/>
            <a:ahLst/>
            <a:cxnLst/>
            <a:rect l="l" t="t" r="r" b="b"/>
            <a:pathLst>
              <a:path w="12064" h="5714">
                <a:moveTo>
                  <a:pt x="10947" y="0"/>
                </a:moveTo>
                <a:lnTo>
                  <a:pt x="0" y="0"/>
                </a:lnTo>
                <a:lnTo>
                  <a:pt x="1320" y="507"/>
                </a:lnTo>
                <a:lnTo>
                  <a:pt x="2247" y="1396"/>
                </a:lnTo>
                <a:lnTo>
                  <a:pt x="3251" y="2158"/>
                </a:lnTo>
                <a:lnTo>
                  <a:pt x="3886" y="3428"/>
                </a:lnTo>
                <a:lnTo>
                  <a:pt x="4127" y="5206"/>
                </a:lnTo>
                <a:lnTo>
                  <a:pt x="11925" y="5206"/>
                </a:lnTo>
                <a:lnTo>
                  <a:pt x="11734" y="1650"/>
                </a:lnTo>
                <a:lnTo>
                  <a:pt x="1094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0754" y="2417952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12242" y="0"/>
                </a:moveTo>
                <a:lnTo>
                  <a:pt x="4546" y="0"/>
                </a:lnTo>
                <a:lnTo>
                  <a:pt x="4292" y="1905"/>
                </a:lnTo>
                <a:lnTo>
                  <a:pt x="3594" y="3428"/>
                </a:lnTo>
                <a:lnTo>
                  <a:pt x="1409" y="5587"/>
                </a:lnTo>
                <a:lnTo>
                  <a:pt x="0" y="6095"/>
                </a:lnTo>
                <a:lnTo>
                  <a:pt x="10668" y="6095"/>
                </a:lnTo>
                <a:lnTo>
                  <a:pt x="11734" y="3937"/>
                </a:lnTo>
                <a:lnTo>
                  <a:pt x="1224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6629" y="2398775"/>
            <a:ext cx="27940" cy="31750"/>
          </a:xfrm>
          <a:custGeom>
            <a:avLst/>
            <a:gdLst/>
            <a:ahLst/>
            <a:cxnLst/>
            <a:rect l="l" t="t" r="r" b="b"/>
            <a:pathLst>
              <a:path w="27939" h="31750">
                <a:moveTo>
                  <a:pt x="19494" y="0"/>
                </a:moveTo>
                <a:lnTo>
                  <a:pt x="10350" y="0"/>
                </a:lnTo>
                <a:lnTo>
                  <a:pt x="6731" y="1397"/>
                </a:lnTo>
                <a:lnTo>
                  <a:pt x="1346" y="7239"/>
                </a:lnTo>
                <a:lnTo>
                  <a:pt x="0" y="10922"/>
                </a:lnTo>
                <a:lnTo>
                  <a:pt x="25" y="20447"/>
                </a:lnTo>
                <a:lnTo>
                  <a:pt x="1346" y="24130"/>
                </a:lnTo>
                <a:lnTo>
                  <a:pt x="4038" y="27051"/>
                </a:lnTo>
                <a:lnTo>
                  <a:pt x="6794" y="29845"/>
                </a:lnTo>
                <a:lnTo>
                  <a:pt x="10426" y="31242"/>
                </a:lnTo>
                <a:lnTo>
                  <a:pt x="19431" y="31242"/>
                </a:lnTo>
                <a:lnTo>
                  <a:pt x="23063" y="29845"/>
                </a:lnTo>
                <a:lnTo>
                  <a:pt x="27597" y="25273"/>
                </a:lnTo>
                <a:lnTo>
                  <a:pt x="12801" y="25273"/>
                </a:lnTo>
                <a:lnTo>
                  <a:pt x="11112" y="24384"/>
                </a:lnTo>
                <a:lnTo>
                  <a:pt x="8610" y="21209"/>
                </a:lnTo>
                <a:lnTo>
                  <a:pt x="7975" y="18796"/>
                </a:lnTo>
                <a:lnTo>
                  <a:pt x="7975" y="12446"/>
                </a:lnTo>
                <a:lnTo>
                  <a:pt x="8610" y="10033"/>
                </a:lnTo>
                <a:lnTo>
                  <a:pt x="11112" y="6985"/>
                </a:lnTo>
                <a:lnTo>
                  <a:pt x="12801" y="6096"/>
                </a:lnTo>
                <a:lnTo>
                  <a:pt x="27559" y="6096"/>
                </a:lnTo>
                <a:lnTo>
                  <a:pt x="25806" y="4318"/>
                </a:lnTo>
                <a:lnTo>
                  <a:pt x="23126" y="1397"/>
                </a:lnTo>
                <a:lnTo>
                  <a:pt x="194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3812" y="2404871"/>
            <a:ext cx="13335" cy="19685"/>
          </a:xfrm>
          <a:custGeom>
            <a:avLst/>
            <a:gdLst/>
            <a:ahLst/>
            <a:cxnLst/>
            <a:rect l="l" t="t" r="r" b="b"/>
            <a:pathLst>
              <a:path w="13335" h="19685">
                <a:moveTo>
                  <a:pt x="10375" y="0"/>
                </a:moveTo>
                <a:lnTo>
                  <a:pt x="114" y="0"/>
                </a:lnTo>
                <a:lnTo>
                  <a:pt x="1866" y="888"/>
                </a:lnTo>
                <a:lnTo>
                  <a:pt x="2997" y="2666"/>
                </a:lnTo>
                <a:lnTo>
                  <a:pt x="4190" y="4318"/>
                </a:lnTo>
                <a:lnTo>
                  <a:pt x="4724" y="6350"/>
                </a:lnTo>
                <a:lnTo>
                  <a:pt x="4749" y="12700"/>
                </a:lnTo>
                <a:lnTo>
                  <a:pt x="4152" y="14986"/>
                </a:lnTo>
                <a:lnTo>
                  <a:pt x="2908" y="16637"/>
                </a:lnTo>
                <a:lnTo>
                  <a:pt x="1714" y="18287"/>
                </a:lnTo>
                <a:lnTo>
                  <a:pt x="0" y="19176"/>
                </a:lnTo>
                <a:lnTo>
                  <a:pt x="10414" y="19176"/>
                </a:lnTo>
                <a:lnTo>
                  <a:pt x="11379" y="18161"/>
                </a:lnTo>
                <a:lnTo>
                  <a:pt x="12763" y="14350"/>
                </a:lnTo>
                <a:lnTo>
                  <a:pt x="12763" y="4825"/>
                </a:lnTo>
                <a:lnTo>
                  <a:pt x="11379" y="1143"/>
                </a:lnTo>
                <a:lnTo>
                  <a:pt x="103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9491" y="2398775"/>
            <a:ext cx="19050" cy="5080"/>
          </a:xfrm>
          <a:custGeom>
            <a:avLst/>
            <a:gdLst/>
            <a:ahLst/>
            <a:cxnLst/>
            <a:rect l="l" t="t" r="r" b="b"/>
            <a:pathLst>
              <a:path w="19050" h="5080">
                <a:moveTo>
                  <a:pt x="12509" y="0"/>
                </a:moveTo>
                <a:lnTo>
                  <a:pt x="7010" y="0"/>
                </a:lnTo>
                <a:lnTo>
                  <a:pt x="5321" y="381"/>
                </a:lnTo>
                <a:lnTo>
                  <a:pt x="2184" y="2159"/>
                </a:lnTo>
                <a:lnTo>
                  <a:pt x="939" y="3302"/>
                </a:lnTo>
                <a:lnTo>
                  <a:pt x="0" y="4826"/>
                </a:lnTo>
                <a:lnTo>
                  <a:pt x="18592" y="4826"/>
                </a:lnTo>
                <a:lnTo>
                  <a:pt x="15201" y="889"/>
                </a:lnTo>
                <a:lnTo>
                  <a:pt x="1250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1706" y="2399537"/>
            <a:ext cx="27305" cy="29845"/>
          </a:xfrm>
          <a:custGeom>
            <a:avLst/>
            <a:gdLst/>
            <a:ahLst/>
            <a:cxnLst/>
            <a:rect l="l" t="t" r="r" b="b"/>
            <a:pathLst>
              <a:path w="27304" h="29844">
                <a:moveTo>
                  <a:pt x="7594" y="0"/>
                </a:moveTo>
                <a:lnTo>
                  <a:pt x="0" y="0"/>
                </a:lnTo>
                <a:lnTo>
                  <a:pt x="0" y="29718"/>
                </a:lnTo>
                <a:lnTo>
                  <a:pt x="7975" y="29718"/>
                </a:lnTo>
                <a:lnTo>
                  <a:pt x="7975" y="11049"/>
                </a:lnTo>
                <a:lnTo>
                  <a:pt x="8445" y="9017"/>
                </a:lnTo>
                <a:lnTo>
                  <a:pt x="9385" y="7747"/>
                </a:lnTo>
                <a:lnTo>
                  <a:pt x="10375" y="6350"/>
                </a:lnTo>
                <a:lnTo>
                  <a:pt x="11976" y="5715"/>
                </a:lnTo>
                <a:lnTo>
                  <a:pt x="26822" y="5715"/>
                </a:lnTo>
                <a:lnTo>
                  <a:pt x="26403" y="4064"/>
                </a:lnTo>
                <a:lnTo>
                  <a:pt x="7594" y="4064"/>
                </a:lnTo>
                <a:lnTo>
                  <a:pt x="75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7683" y="2405252"/>
            <a:ext cx="11430" cy="24130"/>
          </a:xfrm>
          <a:custGeom>
            <a:avLst/>
            <a:gdLst/>
            <a:ahLst/>
            <a:cxnLst/>
            <a:rect l="l" t="t" r="r" b="b"/>
            <a:pathLst>
              <a:path w="11429" h="24130">
                <a:moveTo>
                  <a:pt x="10845" y="0"/>
                </a:moveTo>
                <a:lnTo>
                  <a:pt x="0" y="0"/>
                </a:lnTo>
                <a:lnTo>
                  <a:pt x="1282" y="507"/>
                </a:lnTo>
                <a:lnTo>
                  <a:pt x="2044" y="1777"/>
                </a:lnTo>
                <a:lnTo>
                  <a:pt x="2844" y="2920"/>
                </a:lnTo>
                <a:lnTo>
                  <a:pt x="3263" y="4699"/>
                </a:lnTo>
                <a:lnTo>
                  <a:pt x="3263" y="24002"/>
                </a:lnTo>
                <a:lnTo>
                  <a:pt x="11239" y="24002"/>
                </a:lnTo>
                <a:lnTo>
                  <a:pt x="11239" y="1269"/>
                </a:lnTo>
                <a:lnTo>
                  <a:pt x="1084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2186" y="2399537"/>
            <a:ext cx="22225" cy="29845"/>
          </a:xfrm>
          <a:custGeom>
            <a:avLst/>
            <a:gdLst/>
            <a:ahLst/>
            <a:cxnLst/>
            <a:rect l="l" t="t" r="r" b="b"/>
            <a:pathLst>
              <a:path w="22225" h="29844">
                <a:moveTo>
                  <a:pt x="8356" y="0"/>
                </a:moveTo>
                <a:lnTo>
                  <a:pt x="0" y="0"/>
                </a:lnTo>
                <a:lnTo>
                  <a:pt x="9956" y="29718"/>
                </a:lnTo>
                <a:lnTo>
                  <a:pt x="18770" y="29718"/>
                </a:lnTo>
                <a:lnTo>
                  <a:pt x="21907" y="20320"/>
                </a:lnTo>
                <a:lnTo>
                  <a:pt x="14452" y="20320"/>
                </a:lnTo>
                <a:lnTo>
                  <a:pt x="835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76740" y="2399537"/>
            <a:ext cx="14604" cy="20320"/>
          </a:xfrm>
          <a:custGeom>
            <a:avLst/>
            <a:gdLst/>
            <a:ahLst/>
            <a:cxnLst/>
            <a:rect l="l" t="t" r="r" b="b"/>
            <a:pathLst>
              <a:path w="14604" h="20319">
                <a:moveTo>
                  <a:pt x="14084" y="0"/>
                </a:moveTo>
                <a:lnTo>
                  <a:pt x="6096" y="0"/>
                </a:lnTo>
                <a:lnTo>
                  <a:pt x="0" y="20320"/>
                </a:lnTo>
                <a:lnTo>
                  <a:pt x="7353" y="20320"/>
                </a:lnTo>
                <a:lnTo>
                  <a:pt x="140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91980" y="2388996"/>
            <a:ext cx="29845" cy="31115"/>
          </a:xfrm>
          <a:custGeom>
            <a:avLst/>
            <a:gdLst/>
            <a:ahLst/>
            <a:cxnLst/>
            <a:rect l="l" t="t" r="r" b="b"/>
            <a:pathLst>
              <a:path w="29845" h="31114">
                <a:moveTo>
                  <a:pt x="24129" y="0"/>
                </a:moveTo>
                <a:lnTo>
                  <a:pt x="16992" y="0"/>
                </a:lnTo>
                <a:lnTo>
                  <a:pt x="0" y="23494"/>
                </a:lnTo>
                <a:lnTo>
                  <a:pt x="0" y="30987"/>
                </a:lnTo>
                <a:lnTo>
                  <a:pt x="29286" y="30987"/>
                </a:lnTo>
                <a:lnTo>
                  <a:pt x="29286" y="24256"/>
                </a:lnTo>
                <a:lnTo>
                  <a:pt x="6197" y="24256"/>
                </a:lnTo>
                <a:lnTo>
                  <a:pt x="16433" y="10159"/>
                </a:lnTo>
                <a:lnTo>
                  <a:pt x="24129" y="10159"/>
                </a:lnTo>
                <a:lnTo>
                  <a:pt x="2412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8503" y="2399176"/>
            <a:ext cx="7620" cy="14604"/>
          </a:xfrm>
          <a:custGeom>
            <a:avLst/>
            <a:gdLst/>
            <a:ahLst/>
            <a:cxnLst/>
            <a:rect l="l" t="t" r="r" b="b"/>
            <a:pathLst>
              <a:path w="7620" h="14605">
                <a:moveTo>
                  <a:pt x="0" y="14077"/>
                </a:moveTo>
                <a:lnTo>
                  <a:pt x="7604" y="14077"/>
                </a:lnTo>
                <a:lnTo>
                  <a:pt x="7604" y="0"/>
                </a:lnTo>
                <a:lnTo>
                  <a:pt x="0" y="0"/>
                </a:lnTo>
                <a:lnTo>
                  <a:pt x="0" y="14077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8503" y="2419905"/>
            <a:ext cx="7620" cy="9525"/>
          </a:xfrm>
          <a:custGeom>
            <a:avLst/>
            <a:gdLst/>
            <a:ahLst/>
            <a:cxnLst/>
            <a:rect l="l" t="t" r="r" b="b"/>
            <a:pathLst>
              <a:path w="7620" h="9525">
                <a:moveTo>
                  <a:pt x="0" y="9350"/>
                </a:moveTo>
                <a:lnTo>
                  <a:pt x="7604" y="9350"/>
                </a:lnTo>
                <a:lnTo>
                  <a:pt x="7604" y="0"/>
                </a:lnTo>
                <a:lnTo>
                  <a:pt x="0" y="0"/>
                </a:lnTo>
                <a:lnTo>
                  <a:pt x="0" y="935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4459" y="2303906"/>
            <a:ext cx="27940" cy="30480"/>
          </a:xfrm>
          <a:custGeom>
            <a:avLst/>
            <a:gdLst/>
            <a:ahLst/>
            <a:cxnLst/>
            <a:rect l="l" t="t" r="r" b="b"/>
            <a:pathLst>
              <a:path w="27939" h="30480">
                <a:moveTo>
                  <a:pt x="18491" y="0"/>
                </a:moveTo>
                <a:lnTo>
                  <a:pt x="10223" y="0"/>
                </a:lnTo>
                <a:lnTo>
                  <a:pt x="6629" y="1397"/>
                </a:lnTo>
                <a:lnTo>
                  <a:pt x="3937" y="4191"/>
                </a:lnTo>
                <a:lnTo>
                  <a:pt x="1320" y="7112"/>
                </a:lnTo>
                <a:lnTo>
                  <a:pt x="0" y="10795"/>
                </a:lnTo>
                <a:lnTo>
                  <a:pt x="0" y="19812"/>
                </a:lnTo>
                <a:lnTo>
                  <a:pt x="1346" y="23368"/>
                </a:lnTo>
                <a:lnTo>
                  <a:pt x="4038" y="26035"/>
                </a:lnTo>
                <a:lnTo>
                  <a:pt x="6781" y="28829"/>
                </a:lnTo>
                <a:lnTo>
                  <a:pt x="10287" y="30099"/>
                </a:lnTo>
                <a:lnTo>
                  <a:pt x="18427" y="30099"/>
                </a:lnTo>
                <a:lnTo>
                  <a:pt x="21590" y="29210"/>
                </a:lnTo>
                <a:lnTo>
                  <a:pt x="26530" y="25146"/>
                </a:lnTo>
                <a:lnTo>
                  <a:pt x="26962" y="24256"/>
                </a:lnTo>
                <a:lnTo>
                  <a:pt x="12484" y="24256"/>
                </a:lnTo>
                <a:lnTo>
                  <a:pt x="10858" y="23495"/>
                </a:lnTo>
                <a:lnTo>
                  <a:pt x="9664" y="21843"/>
                </a:lnTo>
                <a:lnTo>
                  <a:pt x="8547" y="20193"/>
                </a:lnTo>
                <a:lnTo>
                  <a:pt x="7975" y="18034"/>
                </a:lnTo>
                <a:lnTo>
                  <a:pt x="7975" y="12446"/>
                </a:lnTo>
                <a:lnTo>
                  <a:pt x="8547" y="10287"/>
                </a:lnTo>
                <a:lnTo>
                  <a:pt x="9664" y="8509"/>
                </a:lnTo>
                <a:lnTo>
                  <a:pt x="10858" y="6731"/>
                </a:lnTo>
                <a:lnTo>
                  <a:pt x="12547" y="5968"/>
                </a:lnTo>
                <a:lnTo>
                  <a:pt x="27368" y="5968"/>
                </a:lnTo>
                <a:lnTo>
                  <a:pt x="26771" y="4826"/>
                </a:lnTo>
                <a:lnTo>
                  <a:pt x="21653" y="889"/>
                </a:lnTo>
                <a:lnTo>
                  <a:pt x="184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0881" y="2309875"/>
            <a:ext cx="12065" cy="5080"/>
          </a:xfrm>
          <a:custGeom>
            <a:avLst/>
            <a:gdLst/>
            <a:ahLst/>
            <a:cxnLst/>
            <a:rect l="l" t="t" r="r" b="b"/>
            <a:pathLst>
              <a:path w="12064" h="5080">
                <a:moveTo>
                  <a:pt x="10947" y="0"/>
                </a:moveTo>
                <a:lnTo>
                  <a:pt x="0" y="0"/>
                </a:lnTo>
                <a:lnTo>
                  <a:pt x="1320" y="381"/>
                </a:lnTo>
                <a:lnTo>
                  <a:pt x="2247" y="1270"/>
                </a:lnTo>
                <a:lnTo>
                  <a:pt x="3251" y="2032"/>
                </a:lnTo>
                <a:lnTo>
                  <a:pt x="3886" y="3302"/>
                </a:lnTo>
                <a:lnTo>
                  <a:pt x="4127" y="4826"/>
                </a:lnTo>
                <a:lnTo>
                  <a:pt x="11925" y="4826"/>
                </a:lnTo>
                <a:lnTo>
                  <a:pt x="11734" y="1524"/>
                </a:lnTo>
                <a:lnTo>
                  <a:pt x="1094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0754" y="2322321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12242" y="0"/>
                </a:moveTo>
                <a:lnTo>
                  <a:pt x="4546" y="0"/>
                </a:lnTo>
                <a:lnTo>
                  <a:pt x="4292" y="1905"/>
                </a:lnTo>
                <a:lnTo>
                  <a:pt x="3594" y="3301"/>
                </a:lnTo>
                <a:lnTo>
                  <a:pt x="1409" y="5461"/>
                </a:lnTo>
                <a:lnTo>
                  <a:pt x="0" y="5841"/>
                </a:lnTo>
                <a:lnTo>
                  <a:pt x="10668" y="5841"/>
                </a:lnTo>
                <a:lnTo>
                  <a:pt x="11734" y="3809"/>
                </a:lnTo>
                <a:lnTo>
                  <a:pt x="1224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6629" y="2303906"/>
            <a:ext cx="27940" cy="30480"/>
          </a:xfrm>
          <a:custGeom>
            <a:avLst/>
            <a:gdLst/>
            <a:ahLst/>
            <a:cxnLst/>
            <a:rect l="l" t="t" r="r" b="b"/>
            <a:pathLst>
              <a:path w="27939" h="30480">
                <a:moveTo>
                  <a:pt x="19494" y="0"/>
                </a:moveTo>
                <a:lnTo>
                  <a:pt x="10350" y="0"/>
                </a:lnTo>
                <a:lnTo>
                  <a:pt x="6731" y="1397"/>
                </a:lnTo>
                <a:lnTo>
                  <a:pt x="1346" y="6985"/>
                </a:lnTo>
                <a:lnTo>
                  <a:pt x="0" y="10541"/>
                </a:lnTo>
                <a:lnTo>
                  <a:pt x="25" y="19685"/>
                </a:lnTo>
                <a:lnTo>
                  <a:pt x="1346" y="23241"/>
                </a:lnTo>
                <a:lnTo>
                  <a:pt x="4038" y="26035"/>
                </a:lnTo>
                <a:lnTo>
                  <a:pt x="6794" y="28829"/>
                </a:lnTo>
                <a:lnTo>
                  <a:pt x="10426" y="30099"/>
                </a:lnTo>
                <a:lnTo>
                  <a:pt x="19431" y="30099"/>
                </a:lnTo>
                <a:lnTo>
                  <a:pt x="23063" y="28829"/>
                </a:lnTo>
                <a:lnTo>
                  <a:pt x="27597" y="24256"/>
                </a:lnTo>
                <a:lnTo>
                  <a:pt x="12801" y="24256"/>
                </a:lnTo>
                <a:lnTo>
                  <a:pt x="11112" y="23495"/>
                </a:lnTo>
                <a:lnTo>
                  <a:pt x="8610" y="20447"/>
                </a:lnTo>
                <a:lnTo>
                  <a:pt x="7975" y="18161"/>
                </a:lnTo>
                <a:lnTo>
                  <a:pt x="7975" y="12065"/>
                </a:lnTo>
                <a:lnTo>
                  <a:pt x="8610" y="9779"/>
                </a:lnTo>
                <a:lnTo>
                  <a:pt x="11112" y="6731"/>
                </a:lnTo>
                <a:lnTo>
                  <a:pt x="12801" y="5968"/>
                </a:lnTo>
                <a:lnTo>
                  <a:pt x="27559" y="5968"/>
                </a:lnTo>
                <a:lnTo>
                  <a:pt x="25806" y="4191"/>
                </a:lnTo>
                <a:lnTo>
                  <a:pt x="23126" y="1397"/>
                </a:lnTo>
                <a:lnTo>
                  <a:pt x="194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3812" y="2309875"/>
            <a:ext cx="13335" cy="18415"/>
          </a:xfrm>
          <a:custGeom>
            <a:avLst/>
            <a:gdLst/>
            <a:ahLst/>
            <a:cxnLst/>
            <a:rect l="l" t="t" r="r" b="b"/>
            <a:pathLst>
              <a:path w="13335" h="18414">
                <a:moveTo>
                  <a:pt x="10375" y="0"/>
                </a:moveTo>
                <a:lnTo>
                  <a:pt x="114" y="0"/>
                </a:lnTo>
                <a:lnTo>
                  <a:pt x="1866" y="762"/>
                </a:lnTo>
                <a:lnTo>
                  <a:pt x="2997" y="2412"/>
                </a:lnTo>
                <a:lnTo>
                  <a:pt x="4190" y="4064"/>
                </a:lnTo>
                <a:lnTo>
                  <a:pt x="4724" y="6096"/>
                </a:lnTo>
                <a:lnTo>
                  <a:pt x="4749" y="12192"/>
                </a:lnTo>
                <a:lnTo>
                  <a:pt x="4152" y="14351"/>
                </a:lnTo>
                <a:lnTo>
                  <a:pt x="2908" y="15875"/>
                </a:lnTo>
                <a:lnTo>
                  <a:pt x="1714" y="17526"/>
                </a:lnTo>
                <a:lnTo>
                  <a:pt x="0" y="18287"/>
                </a:lnTo>
                <a:lnTo>
                  <a:pt x="10414" y="18287"/>
                </a:lnTo>
                <a:lnTo>
                  <a:pt x="11379" y="17399"/>
                </a:lnTo>
                <a:lnTo>
                  <a:pt x="12763" y="13716"/>
                </a:lnTo>
                <a:lnTo>
                  <a:pt x="12763" y="4572"/>
                </a:lnTo>
                <a:lnTo>
                  <a:pt x="11379" y="1016"/>
                </a:lnTo>
                <a:lnTo>
                  <a:pt x="103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9491" y="2303906"/>
            <a:ext cx="19050" cy="5080"/>
          </a:xfrm>
          <a:custGeom>
            <a:avLst/>
            <a:gdLst/>
            <a:ahLst/>
            <a:cxnLst/>
            <a:rect l="l" t="t" r="r" b="b"/>
            <a:pathLst>
              <a:path w="19050" h="5080">
                <a:moveTo>
                  <a:pt x="12509" y="0"/>
                </a:moveTo>
                <a:lnTo>
                  <a:pt x="7010" y="0"/>
                </a:lnTo>
                <a:lnTo>
                  <a:pt x="5321" y="381"/>
                </a:lnTo>
                <a:lnTo>
                  <a:pt x="3759" y="1270"/>
                </a:lnTo>
                <a:lnTo>
                  <a:pt x="2184" y="2031"/>
                </a:lnTo>
                <a:lnTo>
                  <a:pt x="939" y="3175"/>
                </a:lnTo>
                <a:lnTo>
                  <a:pt x="0" y="4699"/>
                </a:lnTo>
                <a:lnTo>
                  <a:pt x="18618" y="4699"/>
                </a:lnTo>
                <a:lnTo>
                  <a:pt x="15201" y="889"/>
                </a:lnTo>
                <a:lnTo>
                  <a:pt x="1250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1706" y="2304668"/>
            <a:ext cx="27305" cy="29209"/>
          </a:xfrm>
          <a:custGeom>
            <a:avLst/>
            <a:gdLst/>
            <a:ahLst/>
            <a:cxnLst/>
            <a:rect l="l" t="t" r="r" b="b"/>
            <a:pathLst>
              <a:path w="27304" h="29210">
                <a:moveTo>
                  <a:pt x="7594" y="0"/>
                </a:moveTo>
                <a:lnTo>
                  <a:pt x="0" y="0"/>
                </a:lnTo>
                <a:lnTo>
                  <a:pt x="0" y="28702"/>
                </a:lnTo>
                <a:lnTo>
                  <a:pt x="7975" y="28702"/>
                </a:lnTo>
                <a:lnTo>
                  <a:pt x="7975" y="10668"/>
                </a:lnTo>
                <a:lnTo>
                  <a:pt x="8445" y="8636"/>
                </a:lnTo>
                <a:lnTo>
                  <a:pt x="9385" y="7366"/>
                </a:lnTo>
                <a:lnTo>
                  <a:pt x="10375" y="6096"/>
                </a:lnTo>
                <a:lnTo>
                  <a:pt x="11976" y="5461"/>
                </a:lnTo>
                <a:lnTo>
                  <a:pt x="26822" y="5461"/>
                </a:lnTo>
                <a:lnTo>
                  <a:pt x="26403" y="3937"/>
                </a:lnTo>
                <a:lnTo>
                  <a:pt x="7594" y="3937"/>
                </a:lnTo>
                <a:lnTo>
                  <a:pt x="75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47683" y="2310129"/>
            <a:ext cx="11430" cy="23495"/>
          </a:xfrm>
          <a:custGeom>
            <a:avLst/>
            <a:gdLst/>
            <a:ahLst/>
            <a:cxnLst/>
            <a:rect l="l" t="t" r="r" b="b"/>
            <a:pathLst>
              <a:path w="11429" h="23494">
                <a:moveTo>
                  <a:pt x="10845" y="0"/>
                </a:moveTo>
                <a:lnTo>
                  <a:pt x="0" y="0"/>
                </a:lnTo>
                <a:lnTo>
                  <a:pt x="1282" y="507"/>
                </a:lnTo>
                <a:lnTo>
                  <a:pt x="2044" y="1778"/>
                </a:lnTo>
                <a:lnTo>
                  <a:pt x="2844" y="2920"/>
                </a:lnTo>
                <a:lnTo>
                  <a:pt x="3263" y="4572"/>
                </a:lnTo>
                <a:lnTo>
                  <a:pt x="3263" y="23241"/>
                </a:lnTo>
                <a:lnTo>
                  <a:pt x="11239" y="23241"/>
                </a:lnTo>
                <a:lnTo>
                  <a:pt x="11239" y="1269"/>
                </a:lnTo>
                <a:lnTo>
                  <a:pt x="1084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2186" y="2304668"/>
            <a:ext cx="22225" cy="29209"/>
          </a:xfrm>
          <a:custGeom>
            <a:avLst/>
            <a:gdLst/>
            <a:ahLst/>
            <a:cxnLst/>
            <a:rect l="l" t="t" r="r" b="b"/>
            <a:pathLst>
              <a:path w="22225" h="29210">
                <a:moveTo>
                  <a:pt x="8356" y="0"/>
                </a:moveTo>
                <a:lnTo>
                  <a:pt x="0" y="0"/>
                </a:lnTo>
                <a:lnTo>
                  <a:pt x="9956" y="28702"/>
                </a:lnTo>
                <a:lnTo>
                  <a:pt x="18770" y="28702"/>
                </a:lnTo>
                <a:lnTo>
                  <a:pt x="21907" y="19558"/>
                </a:lnTo>
                <a:lnTo>
                  <a:pt x="14452" y="19558"/>
                </a:lnTo>
                <a:lnTo>
                  <a:pt x="835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76740" y="2304668"/>
            <a:ext cx="14604" cy="19685"/>
          </a:xfrm>
          <a:custGeom>
            <a:avLst/>
            <a:gdLst/>
            <a:ahLst/>
            <a:cxnLst/>
            <a:rect l="l" t="t" r="r" b="b"/>
            <a:pathLst>
              <a:path w="14604" h="19685">
                <a:moveTo>
                  <a:pt x="14084" y="0"/>
                </a:moveTo>
                <a:lnTo>
                  <a:pt x="6096" y="0"/>
                </a:lnTo>
                <a:lnTo>
                  <a:pt x="0" y="19558"/>
                </a:lnTo>
                <a:lnTo>
                  <a:pt x="7353" y="19558"/>
                </a:lnTo>
                <a:lnTo>
                  <a:pt x="140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3301" y="2294508"/>
            <a:ext cx="26670" cy="21590"/>
          </a:xfrm>
          <a:custGeom>
            <a:avLst/>
            <a:gdLst/>
            <a:ahLst/>
            <a:cxnLst/>
            <a:rect l="l" t="t" r="r" b="b"/>
            <a:pathLst>
              <a:path w="26670" h="21589">
                <a:moveTo>
                  <a:pt x="25806" y="0"/>
                </a:moveTo>
                <a:lnTo>
                  <a:pt x="3848" y="0"/>
                </a:lnTo>
                <a:lnTo>
                  <a:pt x="0" y="21462"/>
                </a:lnTo>
                <a:lnTo>
                  <a:pt x="7137" y="21462"/>
                </a:lnTo>
                <a:lnTo>
                  <a:pt x="7861" y="20446"/>
                </a:lnTo>
                <a:lnTo>
                  <a:pt x="8699" y="19684"/>
                </a:lnTo>
                <a:lnTo>
                  <a:pt x="9575" y="19176"/>
                </a:lnTo>
                <a:lnTo>
                  <a:pt x="10515" y="18668"/>
                </a:lnTo>
                <a:lnTo>
                  <a:pt x="11696" y="18414"/>
                </a:lnTo>
                <a:lnTo>
                  <a:pt x="26530" y="18414"/>
                </a:lnTo>
                <a:lnTo>
                  <a:pt x="23837" y="15366"/>
                </a:lnTo>
                <a:lnTo>
                  <a:pt x="7975" y="15366"/>
                </a:lnTo>
                <a:lnTo>
                  <a:pt x="9575" y="6476"/>
                </a:lnTo>
                <a:lnTo>
                  <a:pt x="25806" y="6476"/>
                </a:lnTo>
                <a:lnTo>
                  <a:pt x="258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1378" y="2306954"/>
            <a:ext cx="15875" cy="3175"/>
          </a:xfrm>
          <a:custGeom>
            <a:avLst/>
            <a:gdLst/>
            <a:ahLst/>
            <a:cxnLst/>
            <a:rect l="l" t="t" r="r" b="b"/>
            <a:pathLst>
              <a:path w="15875" h="3175">
                <a:moveTo>
                  <a:pt x="11315" y="0"/>
                </a:moveTo>
                <a:lnTo>
                  <a:pt x="6007" y="0"/>
                </a:lnTo>
                <a:lnTo>
                  <a:pt x="4533" y="254"/>
                </a:lnTo>
                <a:lnTo>
                  <a:pt x="3276" y="762"/>
                </a:lnTo>
                <a:lnTo>
                  <a:pt x="2095" y="1269"/>
                </a:lnTo>
                <a:lnTo>
                  <a:pt x="1003" y="2031"/>
                </a:lnTo>
                <a:lnTo>
                  <a:pt x="0" y="2920"/>
                </a:lnTo>
                <a:lnTo>
                  <a:pt x="15760" y="2920"/>
                </a:lnTo>
                <a:lnTo>
                  <a:pt x="14223" y="1269"/>
                </a:lnTo>
                <a:lnTo>
                  <a:pt x="1131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8389" y="2312923"/>
            <a:ext cx="13335" cy="14604"/>
          </a:xfrm>
          <a:custGeom>
            <a:avLst/>
            <a:gdLst/>
            <a:ahLst/>
            <a:cxnLst/>
            <a:rect l="l" t="t" r="r" b="b"/>
            <a:pathLst>
              <a:path w="13335" h="14605">
                <a:moveTo>
                  <a:pt x="11442" y="0"/>
                </a:moveTo>
                <a:lnTo>
                  <a:pt x="50" y="0"/>
                </a:lnTo>
                <a:lnTo>
                  <a:pt x="1676" y="635"/>
                </a:lnTo>
                <a:lnTo>
                  <a:pt x="2908" y="2031"/>
                </a:lnTo>
                <a:lnTo>
                  <a:pt x="4178" y="3301"/>
                </a:lnTo>
                <a:lnTo>
                  <a:pt x="4813" y="5080"/>
                </a:lnTo>
                <a:lnTo>
                  <a:pt x="4813" y="9270"/>
                </a:lnTo>
                <a:lnTo>
                  <a:pt x="4152" y="11049"/>
                </a:lnTo>
                <a:lnTo>
                  <a:pt x="1587" y="13969"/>
                </a:lnTo>
                <a:lnTo>
                  <a:pt x="0" y="14605"/>
                </a:lnTo>
                <a:lnTo>
                  <a:pt x="11061" y="14605"/>
                </a:lnTo>
                <a:lnTo>
                  <a:pt x="11379" y="14350"/>
                </a:lnTo>
                <a:lnTo>
                  <a:pt x="12788" y="11049"/>
                </a:lnTo>
                <a:lnTo>
                  <a:pt x="12763" y="3301"/>
                </a:lnTo>
                <a:lnTo>
                  <a:pt x="11658" y="254"/>
                </a:lnTo>
                <a:lnTo>
                  <a:pt x="1144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2082" y="2321813"/>
            <a:ext cx="27940" cy="12700"/>
          </a:xfrm>
          <a:custGeom>
            <a:avLst/>
            <a:gdLst/>
            <a:ahLst/>
            <a:cxnLst/>
            <a:rect l="l" t="t" r="r" b="b"/>
            <a:pathLst>
              <a:path w="27939" h="12700">
                <a:moveTo>
                  <a:pt x="7975" y="0"/>
                </a:moveTo>
                <a:lnTo>
                  <a:pt x="0" y="0"/>
                </a:lnTo>
                <a:lnTo>
                  <a:pt x="127" y="3810"/>
                </a:lnTo>
                <a:lnTo>
                  <a:pt x="1536" y="6858"/>
                </a:lnTo>
                <a:lnTo>
                  <a:pt x="4216" y="9017"/>
                </a:lnTo>
                <a:lnTo>
                  <a:pt x="6972" y="11176"/>
                </a:lnTo>
                <a:lnTo>
                  <a:pt x="10477" y="12192"/>
                </a:lnTo>
                <a:lnTo>
                  <a:pt x="18745" y="12192"/>
                </a:lnTo>
                <a:lnTo>
                  <a:pt x="22110" y="10922"/>
                </a:lnTo>
                <a:lnTo>
                  <a:pt x="24866" y="8128"/>
                </a:lnTo>
                <a:lnTo>
                  <a:pt x="27368" y="5715"/>
                </a:lnTo>
                <a:lnTo>
                  <a:pt x="12611" y="5715"/>
                </a:lnTo>
                <a:lnTo>
                  <a:pt x="11137" y="5207"/>
                </a:lnTo>
                <a:lnTo>
                  <a:pt x="9944" y="4191"/>
                </a:lnTo>
                <a:lnTo>
                  <a:pt x="8826" y="3175"/>
                </a:lnTo>
                <a:lnTo>
                  <a:pt x="8166" y="1778"/>
                </a:lnTo>
                <a:lnTo>
                  <a:pt x="79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01035" y="2096390"/>
            <a:ext cx="80772" cy="396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01035" y="1998854"/>
            <a:ext cx="79248" cy="4114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04083" y="1895222"/>
            <a:ext cx="80772" cy="3962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562092" y="894333"/>
            <a:ext cx="769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网络贡献：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90692" y="1141221"/>
            <a:ext cx="255905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使用尺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更小的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3x3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串联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获得更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的感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野；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90692" y="1385061"/>
            <a:ext cx="210185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放弃使用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11x11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5x5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这样的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卷积核；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790692" y="1628901"/>
            <a:ext cx="21532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深度更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、非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性更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强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，网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数也更</a:t>
            </a:r>
            <a:r>
              <a:rPr sz="800" spc="5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;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790692" y="1873123"/>
            <a:ext cx="24066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去掉了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中的局部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响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应归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化层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（LRN）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层。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54119" y="735456"/>
            <a:ext cx="1102360" cy="2354580"/>
          </a:xfrm>
          <a:custGeom>
            <a:avLst/>
            <a:gdLst/>
            <a:ahLst/>
            <a:cxnLst/>
            <a:rect l="l" t="t" r="r" b="b"/>
            <a:pathLst>
              <a:path w="1102360" h="2354580">
                <a:moveTo>
                  <a:pt x="0" y="2354579"/>
                </a:moveTo>
                <a:lnTo>
                  <a:pt x="1101852" y="2354579"/>
                </a:lnTo>
                <a:lnTo>
                  <a:pt x="1101852" y="0"/>
                </a:lnTo>
                <a:lnTo>
                  <a:pt x="0" y="0"/>
                </a:lnTo>
                <a:lnTo>
                  <a:pt x="0" y="2354579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577017" y="2568590"/>
            <a:ext cx="534974" cy="794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581779" y="2709645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449" y="0"/>
                </a:lnTo>
              </a:path>
            </a:pathLst>
          </a:custGeom>
          <a:ln w="68379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581779" y="2675455"/>
            <a:ext cx="525780" cy="68580"/>
          </a:xfrm>
          <a:custGeom>
            <a:avLst/>
            <a:gdLst/>
            <a:ahLst/>
            <a:cxnLst/>
            <a:rect l="l" t="t" r="r" b="b"/>
            <a:pathLst>
              <a:path w="525780" h="68580">
                <a:moveTo>
                  <a:pt x="0" y="68379"/>
                </a:moveTo>
                <a:lnTo>
                  <a:pt x="525449" y="68379"/>
                </a:lnTo>
                <a:lnTo>
                  <a:pt x="525449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793615" y="2690750"/>
            <a:ext cx="100583" cy="396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577017" y="2771277"/>
            <a:ext cx="534974" cy="17848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581779" y="3011397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449" y="0"/>
                </a:lnTo>
              </a:path>
            </a:pathLst>
          </a:custGeom>
          <a:ln w="68379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581779" y="2977207"/>
            <a:ext cx="525780" cy="68580"/>
          </a:xfrm>
          <a:custGeom>
            <a:avLst/>
            <a:gdLst/>
            <a:ahLst/>
            <a:cxnLst/>
            <a:rect l="l" t="t" r="r" b="b"/>
            <a:pathLst>
              <a:path w="525780" h="68580">
                <a:moveTo>
                  <a:pt x="0" y="68379"/>
                </a:moveTo>
                <a:lnTo>
                  <a:pt x="525449" y="68379"/>
                </a:lnTo>
                <a:lnTo>
                  <a:pt x="525449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787519" y="2992500"/>
            <a:ext cx="115824" cy="502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77017" y="2468006"/>
            <a:ext cx="534974" cy="7942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581779" y="2407133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449" y="0"/>
                </a:lnTo>
              </a:path>
            </a:pathLst>
          </a:custGeom>
          <a:ln w="6989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581779" y="2372184"/>
            <a:ext cx="525780" cy="70485"/>
          </a:xfrm>
          <a:custGeom>
            <a:avLst/>
            <a:gdLst/>
            <a:ahLst/>
            <a:cxnLst/>
            <a:rect l="l" t="t" r="r" b="b"/>
            <a:pathLst>
              <a:path w="525780" h="70485">
                <a:moveTo>
                  <a:pt x="0" y="69898"/>
                </a:moveTo>
                <a:lnTo>
                  <a:pt x="525449" y="69898"/>
                </a:lnTo>
                <a:lnTo>
                  <a:pt x="525449" y="0"/>
                </a:lnTo>
                <a:lnTo>
                  <a:pt x="0" y="0"/>
                </a:lnTo>
                <a:lnTo>
                  <a:pt x="0" y="6989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793615" y="2387474"/>
            <a:ext cx="100583" cy="4114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325747" y="2166254"/>
            <a:ext cx="786244" cy="18000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1646803" y="3090163"/>
            <a:ext cx="2768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325747" y="2901314"/>
            <a:ext cx="27940" cy="30480"/>
          </a:xfrm>
          <a:custGeom>
            <a:avLst/>
            <a:gdLst/>
            <a:ahLst/>
            <a:cxnLst/>
            <a:rect l="l" t="t" r="r" b="b"/>
            <a:pathLst>
              <a:path w="27940" h="30480">
                <a:moveTo>
                  <a:pt x="18668" y="0"/>
                </a:moveTo>
                <a:lnTo>
                  <a:pt x="10287" y="0"/>
                </a:lnTo>
                <a:lnTo>
                  <a:pt x="6731" y="1396"/>
                </a:lnTo>
                <a:lnTo>
                  <a:pt x="3937" y="4190"/>
                </a:lnTo>
                <a:lnTo>
                  <a:pt x="1269" y="7112"/>
                </a:lnTo>
                <a:lnTo>
                  <a:pt x="0" y="10794"/>
                </a:lnTo>
                <a:lnTo>
                  <a:pt x="0" y="19812"/>
                </a:lnTo>
                <a:lnTo>
                  <a:pt x="1396" y="23368"/>
                </a:lnTo>
                <a:lnTo>
                  <a:pt x="6857" y="28828"/>
                </a:lnTo>
                <a:lnTo>
                  <a:pt x="10413" y="30098"/>
                </a:lnTo>
                <a:lnTo>
                  <a:pt x="18541" y="30098"/>
                </a:lnTo>
                <a:lnTo>
                  <a:pt x="21716" y="29209"/>
                </a:lnTo>
                <a:lnTo>
                  <a:pt x="26796" y="25145"/>
                </a:lnTo>
                <a:lnTo>
                  <a:pt x="27177" y="24256"/>
                </a:lnTo>
                <a:lnTo>
                  <a:pt x="12572" y="24256"/>
                </a:lnTo>
                <a:lnTo>
                  <a:pt x="10921" y="23494"/>
                </a:lnTo>
                <a:lnTo>
                  <a:pt x="8635" y="20193"/>
                </a:lnTo>
                <a:lnTo>
                  <a:pt x="8000" y="18033"/>
                </a:lnTo>
                <a:lnTo>
                  <a:pt x="8000" y="12445"/>
                </a:lnTo>
                <a:lnTo>
                  <a:pt x="8635" y="10287"/>
                </a:lnTo>
                <a:lnTo>
                  <a:pt x="10921" y="6731"/>
                </a:lnTo>
                <a:lnTo>
                  <a:pt x="12700" y="5968"/>
                </a:lnTo>
                <a:lnTo>
                  <a:pt x="27558" y="5968"/>
                </a:lnTo>
                <a:lnTo>
                  <a:pt x="27050" y="4825"/>
                </a:lnTo>
                <a:lnTo>
                  <a:pt x="21843" y="888"/>
                </a:lnTo>
                <a:lnTo>
                  <a:pt x="1866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342257" y="2907283"/>
            <a:ext cx="12065" cy="5080"/>
          </a:xfrm>
          <a:custGeom>
            <a:avLst/>
            <a:gdLst/>
            <a:ahLst/>
            <a:cxnLst/>
            <a:rect l="l" t="t" r="r" b="b"/>
            <a:pathLst>
              <a:path w="12065" h="5080">
                <a:moveTo>
                  <a:pt x="11049" y="0"/>
                </a:moveTo>
                <a:lnTo>
                  <a:pt x="0" y="0"/>
                </a:lnTo>
                <a:lnTo>
                  <a:pt x="1397" y="381"/>
                </a:lnTo>
                <a:lnTo>
                  <a:pt x="2286" y="1269"/>
                </a:lnTo>
                <a:lnTo>
                  <a:pt x="3302" y="2031"/>
                </a:lnTo>
                <a:lnTo>
                  <a:pt x="3937" y="3301"/>
                </a:lnTo>
                <a:lnTo>
                  <a:pt x="4191" y="4825"/>
                </a:lnTo>
                <a:lnTo>
                  <a:pt x="12065" y="4825"/>
                </a:lnTo>
                <a:lnTo>
                  <a:pt x="11811" y="1524"/>
                </a:lnTo>
                <a:lnTo>
                  <a:pt x="1104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342130" y="2919729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12318" y="0"/>
                </a:moveTo>
                <a:lnTo>
                  <a:pt x="4571" y="0"/>
                </a:lnTo>
                <a:lnTo>
                  <a:pt x="4318" y="1905"/>
                </a:lnTo>
                <a:lnTo>
                  <a:pt x="3682" y="3301"/>
                </a:lnTo>
                <a:lnTo>
                  <a:pt x="1524" y="5461"/>
                </a:lnTo>
                <a:lnTo>
                  <a:pt x="0" y="5842"/>
                </a:lnTo>
                <a:lnTo>
                  <a:pt x="10794" y="5842"/>
                </a:lnTo>
                <a:lnTo>
                  <a:pt x="11811" y="3810"/>
                </a:lnTo>
                <a:lnTo>
                  <a:pt x="123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358132" y="2901314"/>
            <a:ext cx="27940" cy="30480"/>
          </a:xfrm>
          <a:custGeom>
            <a:avLst/>
            <a:gdLst/>
            <a:ahLst/>
            <a:cxnLst/>
            <a:rect l="l" t="t" r="r" b="b"/>
            <a:pathLst>
              <a:path w="27940" h="30480">
                <a:moveTo>
                  <a:pt x="19685" y="0"/>
                </a:moveTo>
                <a:lnTo>
                  <a:pt x="10414" y="0"/>
                </a:lnTo>
                <a:lnTo>
                  <a:pt x="6858" y="1396"/>
                </a:lnTo>
                <a:lnTo>
                  <a:pt x="1397" y="6984"/>
                </a:lnTo>
                <a:lnTo>
                  <a:pt x="0" y="10540"/>
                </a:lnTo>
                <a:lnTo>
                  <a:pt x="0" y="19684"/>
                </a:lnTo>
                <a:lnTo>
                  <a:pt x="1397" y="23240"/>
                </a:lnTo>
                <a:lnTo>
                  <a:pt x="4064" y="26034"/>
                </a:lnTo>
                <a:lnTo>
                  <a:pt x="6858" y="28828"/>
                </a:lnTo>
                <a:lnTo>
                  <a:pt x="10541" y="30098"/>
                </a:lnTo>
                <a:lnTo>
                  <a:pt x="19685" y="30098"/>
                </a:lnTo>
                <a:lnTo>
                  <a:pt x="23241" y="28828"/>
                </a:lnTo>
                <a:lnTo>
                  <a:pt x="27812" y="24256"/>
                </a:lnTo>
                <a:lnTo>
                  <a:pt x="12954" y="24256"/>
                </a:lnTo>
                <a:lnTo>
                  <a:pt x="11175" y="23494"/>
                </a:lnTo>
                <a:lnTo>
                  <a:pt x="8762" y="20446"/>
                </a:lnTo>
                <a:lnTo>
                  <a:pt x="8128" y="18160"/>
                </a:lnTo>
                <a:lnTo>
                  <a:pt x="8128" y="12064"/>
                </a:lnTo>
                <a:lnTo>
                  <a:pt x="8762" y="9778"/>
                </a:lnTo>
                <a:lnTo>
                  <a:pt x="10033" y="8254"/>
                </a:lnTo>
                <a:lnTo>
                  <a:pt x="11175" y="6731"/>
                </a:lnTo>
                <a:lnTo>
                  <a:pt x="12954" y="5968"/>
                </a:lnTo>
                <a:lnTo>
                  <a:pt x="27812" y="5968"/>
                </a:lnTo>
                <a:lnTo>
                  <a:pt x="26035" y="4190"/>
                </a:lnTo>
                <a:lnTo>
                  <a:pt x="23368" y="1396"/>
                </a:lnTo>
                <a:lnTo>
                  <a:pt x="1968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375531" y="2907283"/>
            <a:ext cx="13335" cy="18415"/>
          </a:xfrm>
          <a:custGeom>
            <a:avLst/>
            <a:gdLst/>
            <a:ahLst/>
            <a:cxnLst/>
            <a:rect l="l" t="t" r="r" b="b"/>
            <a:pathLst>
              <a:path w="13334" h="18414">
                <a:moveTo>
                  <a:pt x="10413" y="0"/>
                </a:moveTo>
                <a:lnTo>
                  <a:pt x="126" y="0"/>
                </a:lnTo>
                <a:lnTo>
                  <a:pt x="1905" y="762"/>
                </a:lnTo>
                <a:lnTo>
                  <a:pt x="2920" y="2412"/>
                </a:lnTo>
                <a:lnTo>
                  <a:pt x="4191" y="4063"/>
                </a:lnTo>
                <a:lnTo>
                  <a:pt x="4699" y="6095"/>
                </a:lnTo>
                <a:lnTo>
                  <a:pt x="4699" y="12191"/>
                </a:lnTo>
                <a:lnTo>
                  <a:pt x="4191" y="14350"/>
                </a:lnTo>
                <a:lnTo>
                  <a:pt x="2920" y="15875"/>
                </a:lnTo>
                <a:lnTo>
                  <a:pt x="1650" y="17525"/>
                </a:lnTo>
                <a:lnTo>
                  <a:pt x="0" y="18287"/>
                </a:lnTo>
                <a:lnTo>
                  <a:pt x="10413" y="18287"/>
                </a:lnTo>
                <a:lnTo>
                  <a:pt x="11430" y="17399"/>
                </a:lnTo>
                <a:lnTo>
                  <a:pt x="12826" y="13715"/>
                </a:lnTo>
                <a:lnTo>
                  <a:pt x="12826" y="4571"/>
                </a:lnTo>
                <a:lnTo>
                  <a:pt x="11430" y="1015"/>
                </a:lnTo>
                <a:lnTo>
                  <a:pt x="104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401312" y="2901314"/>
            <a:ext cx="19050" cy="5080"/>
          </a:xfrm>
          <a:custGeom>
            <a:avLst/>
            <a:gdLst/>
            <a:ahLst/>
            <a:cxnLst/>
            <a:rect l="l" t="t" r="r" b="b"/>
            <a:pathLst>
              <a:path w="19050" h="5080">
                <a:moveTo>
                  <a:pt x="12700" y="0"/>
                </a:moveTo>
                <a:lnTo>
                  <a:pt x="7112" y="0"/>
                </a:lnTo>
                <a:lnTo>
                  <a:pt x="5461" y="381"/>
                </a:lnTo>
                <a:lnTo>
                  <a:pt x="3810" y="1269"/>
                </a:lnTo>
                <a:lnTo>
                  <a:pt x="2286" y="2031"/>
                </a:lnTo>
                <a:lnTo>
                  <a:pt x="1016" y="3175"/>
                </a:lnTo>
                <a:lnTo>
                  <a:pt x="0" y="4698"/>
                </a:lnTo>
                <a:lnTo>
                  <a:pt x="18795" y="4698"/>
                </a:lnTo>
                <a:lnTo>
                  <a:pt x="15367" y="888"/>
                </a:lnTo>
                <a:lnTo>
                  <a:pt x="127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393565" y="2902076"/>
            <a:ext cx="27305" cy="29209"/>
          </a:xfrm>
          <a:custGeom>
            <a:avLst/>
            <a:gdLst/>
            <a:ahLst/>
            <a:cxnLst/>
            <a:rect l="l" t="t" r="r" b="b"/>
            <a:pathLst>
              <a:path w="27305" h="29210">
                <a:moveTo>
                  <a:pt x="7619" y="0"/>
                </a:moveTo>
                <a:lnTo>
                  <a:pt x="0" y="0"/>
                </a:lnTo>
                <a:lnTo>
                  <a:pt x="0" y="28701"/>
                </a:lnTo>
                <a:lnTo>
                  <a:pt x="8000" y="28701"/>
                </a:lnTo>
                <a:lnTo>
                  <a:pt x="8000" y="10667"/>
                </a:lnTo>
                <a:lnTo>
                  <a:pt x="8508" y="8635"/>
                </a:lnTo>
                <a:lnTo>
                  <a:pt x="9397" y="7365"/>
                </a:lnTo>
                <a:lnTo>
                  <a:pt x="10413" y="6095"/>
                </a:lnTo>
                <a:lnTo>
                  <a:pt x="12064" y="5460"/>
                </a:lnTo>
                <a:lnTo>
                  <a:pt x="27050" y="5460"/>
                </a:lnTo>
                <a:lnTo>
                  <a:pt x="26542" y="3936"/>
                </a:lnTo>
                <a:lnTo>
                  <a:pt x="7619" y="3936"/>
                </a:lnTo>
                <a:lnTo>
                  <a:pt x="761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409567" y="2907537"/>
            <a:ext cx="11430" cy="23495"/>
          </a:xfrm>
          <a:custGeom>
            <a:avLst/>
            <a:gdLst/>
            <a:ahLst/>
            <a:cxnLst/>
            <a:rect l="l" t="t" r="r" b="b"/>
            <a:pathLst>
              <a:path w="11430" h="23494">
                <a:moveTo>
                  <a:pt x="11049" y="0"/>
                </a:moveTo>
                <a:lnTo>
                  <a:pt x="0" y="0"/>
                </a:lnTo>
                <a:lnTo>
                  <a:pt x="1396" y="508"/>
                </a:lnTo>
                <a:lnTo>
                  <a:pt x="2158" y="1778"/>
                </a:lnTo>
                <a:lnTo>
                  <a:pt x="2920" y="2793"/>
                </a:lnTo>
                <a:lnTo>
                  <a:pt x="3301" y="4572"/>
                </a:lnTo>
                <a:lnTo>
                  <a:pt x="3301" y="23241"/>
                </a:lnTo>
                <a:lnTo>
                  <a:pt x="11430" y="23241"/>
                </a:lnTo>
                <a:lnTo>
                  <a:pt x="11430" y="1270"/>
                </a:lnTo>
                <a:lnTo>
                  <a:pt x="1104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424299" y="2902076"/>
            <a:ext cx="22225" cy="29209"/>
          </a:xfrm>
          <a:custGeom>
            <a:avLst/>
            <a:gdLst/>
            <a:ahLst/>
            <a:cxnLst/>
            <a:rect l="l" t="t" r="r" b="b"/>
            <a:pathLst>
              <a:path w="22225" h="29210">
                <a:moveTo>
                  <a:pt x="8381" y="0"/>
                </a:moveTo>
                <a:lnTo>
                  <a:pt x="0" y="0"/>
                </a:lnTo>
                <a:lnTo>
                  <a:pt x="10032" y="28701"/>
                </a:lnTo>
                <a:lnTo>
                  <a:pt x="18923" y="28701"/>
                </a:lnTo>
                <a:lnTo>
                  <a:pt x="21970" y="19557"/>
                </a:lnTo>
                <a:lnTo>
                  <a:pt x="14477" y="19557"/>
                </a:lnTo>
                <a:lnTo>
                  <a:pt x="838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438904" y="2902076"/>
            <a:ext cx="14604" cy="19685"/>
          </a:xfrm>
          <a:custGeom>
            <a:avLst/>
            <a:gdLst/>
            <a:ahLst/>
            <a:cxnLst/>
            <a:rect l="l" t="t" r="r" b="b"/>
            <a:pathLst>
              <a:path w="14605" h="19685">
                <a:moveTo>
                  <a:pt x="14224" y="0"/>
                </a:moveTo>
                <a:lnTo>
                  <a:pt x="6095" y="0"/>
                </a:lnTo>
                <a:lnTo>
                  <a:pt x="0" y="19557"/>
                </a:lnTo>
                <a:lnTo>
                  <a:pt x="7365" y="19557"/>
                </a:lnTo>
                <a:lnTo>
                  <a:pt x="1422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457446" y="2891916"/>
            <a:ext cx="18415" cy="39370"/>
          </a:xfrm>
          <a:custGeom>
            <a:avLst/>
            <a:gdLst/>
            <a:ahLst/>
            <a:cxnLst/>
            <a:rect l="l" t="t" r="r" b="b"/>
            <a:pathLst>
              <a:path w="18415" h="39369">
                <a:moveTo>
                  <a:pt x="18033" y="0"/>
                </a:moveTo>
                <a:lnTo>
                  <a:pt x="11556" y="0"/>
                </a:lnTo>
                <a:lnTo>
                  <a:pt x="11175" y="2539"/>
                </a:lnTo>
                <a:lnTo>
                  <a:pt x="10032" y="4444"/>
                </a:lnTo>
                <a:lnTo>
                  <a:pt x="8127" y="5714"/>
                </a:lnTo>
                <a:lnTo>
                  <a:pt x="6350" y="7112"/>
                </a:lnTo>
                <a:lnTo>
                  <a:pt x="3809" y="7746"/>
                </a:lnTo>
                <a:lnTo>
                  <a:pt x="0" y="7746"/>
                </a:lnTo>
                <a:lnTo>
                  <a:pt x="0" y="13588"/>
                </a:lnTo>
                <a:lnTo>
                  <a:pt x="10032" y="13588"/>
                </a:lnTo>
                <a:lnTo>
                  <a:pt x="10032" y="38862"/>
                </a:lnTo>
                <a:lnTo>
                  <a:pt x="18033" y="38862"/>
                </a:lnTo>
                <a:lnTo>
                  <a:pt x="1803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487799" y="2912280"/>
            <a:ext cx="17145" cy="6985"/>
          </a:xfrm>
          <a:custGeom>
            <a:avLst/>
            <a:gdLst/>
            <a:ahLst/>
            <a:cxnLst/>
            <a:rect l="l" t="t" r="r" b="b"/>
            <a:pathLst>
              <a:path w="17144" h="6985">
                <a:moveTo>
                  <a:pt x="0" y="6687"/>
                </a:moveTo>
                <a:lnTo>
                  <a:pt x="16932" y="6687"/>
                </a:lnTo>
                <a:lnTo>
                  <a:pt x="16932" y="0"/>
                </a:lnTo>
                <a:lnTo>
                  <a:pt x="0" y="0"/>
                </a:lnTo>
                <a:lnTo>
                  <a:pt x="0" y="6687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511929" y="2891916"/>
            <a:ext cx="18415" cy="39370"/>
          </a:xfrm>
          <a:custGeom>
            <a:avLst/>
            <a:gdLst/>
            <a:ahLst/>
            <a:cxnLst/>
            <a:rect l="l" t="t" r="r" b="b"/>
            <a:pathLst>
              <a:path w="18415" h="39369">
                <a:moveTo>
                  <a:pt x="17906" y="0"/>
                </a:moveTo>
                <a:lnTo>
                  <a:pt x="11556" y="0"/>
                </a:lnTo>
                <a:lnTo>
                  <a:pt x="11175" y="2539"/>
                </a:lnTo>
                <a:lnTo>
                  <a:pt x="10032" y="4444"/>
                </a:lnTo>
                <a:lnTo>
                  <a:pt x="8127" y="5714"/>
                </a:lnTo>
                <a:lnTo>
                  <a:pt x="6222" y="7112"/>
                </a:lnTo>
                <a:lnTo>
                  <a:pt x="3809" y="7746"/>
                </a:lnTo>
                <a:lnTo>
                  <a:pt x="0" y="7746"/>
                </a:lnTo>
                <a:lnTo>
                  <a:pt x="0" y="13588"/>
                </a:lnTo>
                <a:lnTo>
                  <a:pt x="9906" y="13588"/>
                </a:lnTo>
                <a:lnTo>
                  <a:pt x="9906" y="38862"/>
                </a:lnTo>
                <a:lnTo>
                  <a:pt x="17906" y="38862"/>
                </a:lnTo>
                <a:lnTo>
                  <a:pt x="179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325747" y="2804667"/>
            <a:ext cx="27940" cy="31115"/>
          </a:xfrm>
          <a:custGeom>
            <a:avLst/>
            <a:gdLst/>
            <a:ahLst/>
            <a:cxnLst/>
            <a:rect l="l" t="t" r="r" b="b"/>
            <a:pathLst>
              <a:path w="27940" h="31114">
                <a:moveTo>
                  <a:pt x="18541" y="0"/>
                </a:moveTo>
                <a:lnTo>
                  <a:pt x="10287" y="0"/>
                </a:lnTo>
                <a:lnTo>
                  <a:pt x="6731" y="1524"/>
                </a:lnTo>
                <a:lnTo>
                  <a:pt x="3937" y="4318"/>
                </a:lnTo>
                <a:lnTo>
                  <a:pt x="1269" y="7238"/>
                </a:lnTo>
                <a:lnTo>
                  <a:pt x="0" y="11049"/>
                </a:lnTo>
                <a:lnTo>
                  <a:pt x="0" y="20193"/>
                </a:lnTo>
                <a:lnTo>
                  <a:pt x="1396" y="23749"/>
                </a:lnTo>
                <a:lnTo>
                  <a:pt x="4063" y="26543"/>
                </a:lnTo>
                <a:lnTo>
                  <a:pt x="6857" y="29337"/>
                </a:lnTo>
                <a:lnTo>
                  <a:pt x="10287" y="30734"/>
                </a:lnTo>
                <a:lnTo>
                  <a:pt x="18541" y="30734"/>
                </a:lnTo>
                <a:lnTo>
                  <a:pt x="21716" y="29718"/>
                </a:lnTo>
                <a:lnTo>
                  <a:pt x="26669" y="25654"/>
                </a:lnTo>
                <a:lnTo>
                  <a:pt x="27177" y="24765"/>
                </a:lnTo>
                <a:lnTo>
                  <a:pt x="12572" y="24765"/>
                </a:lnTo>
                <a:lnTo>
                  <a:pt x="10921" y="24003"/>
                </a:lnTo>
                <a:lnTo>
                  <a:pt x="9778" y="22351"/>
                </a:lnTo>
                <a:lnTo>
                  <a:pt x="8635" y="20574"/>
                </a:lnTo>
                <a:lnTo>
                  <a:pt x="8000" y="18415"/>
                </a:lnTo>
                <a:lnTo>
                  <a:pt x="8000" y="12700"/>
                </a:lnTo>
                <a:lnTo>
                  <a:pt x="8635" y="10541"/>
                </a:lnTo>
                <a:lnTo>
                  <a:pt x="10921" y="6985"/>
                </a:lnTo>
                <a:lnTo>
                  <a:pt x="12572" y="6095"/>
                </a:lnTo>
                <a:lnTo>
                  <a:pt x="27558" y="6095"/>
                </a:lnTo>
                <a:lnTo>
                  <a:pt x="26924" y="4953"/>
                </a:lnTo>
                <a:lnTo>
                  <a:pt x="21716" y="1016"/>
                </a:lnTo>
                <a:lnTo>
                  <a:pt x="1854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342257" y="2810763"/>
            <a:ext cx="12065" cy="5080"/>
          </a:xfrm>
          <a:custGeom>
            <a:avLst/>
            <a:gdLst/>
            <a:ahLst/>
            <a:cxnLst/>
            <a:rect l="l" t="t" r="r" b="b"/>
            <a:pathLst>
              <a:path w="12065" h="5080">
                <a:moveTo>
                  <a:pt x="11049" y="0"/>
                </a:moveTo>
                <a:lnTo>
                  <a:pt x="0" y="0"/>
                </a:lnTo>
                <a:lnTo>
                  <a:pt x="1269" y="381"/>
                </a:lnTo>
                <a:lnTo>
                  <a:pt x="3302" y="2159"/>
                </a:lnTo>
                <a:lnTo>
                  <a:pt x="3937" y="3302"/>
                </a:lnTo>
                <a:lnTo>
                  <a:pt x="4191" y="4953"/>
                </a:lnTo>
                <a:lnTo>
                  <a:pt x="11937" y="4953"/>
                </a:lnTo>
                <a:lnTo>
                  <a:pt x="11811" y="1524"/>
                </a:lnTo>
                <a:lnTo>
                  <a:pt x="1104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342130" y="2823463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12318" y="0"/>
                </a:moveTo>
                <a:lnTo>
                  <a:pt x="4571" y="0"/>
                </a:lnTo>
                <a:lnTo>
                  <a:pt x="4318" y="1905"/>
                </a:lnTo>
                <a:lnTo>
                  <a:pt x="3682" y="3429"/>
                </a:lnTo>
                <a:lnTo>
                  <a:pt x="1396" y="5461"/>
                </a:lnTo>
                <a:lnTo>
                  <a:pt x="0" y="5969"/>
                </a:lnTo>
                <a:lnTo>
                  <a:pt x="10794" y="5969"/>
                </a:lnTo>
                <a:lnTo>
                  <a:pt x="11811" y="3937"/>
                </a:lnTo>
                <a:lnTo>
                  <a:pt x="123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358132" y="2804667"/>
            <a:ext cx="27940" cy="31115"/>
          </a:xfrm>
          <a:custGeom>
            <a:avLst/>
            <a:gdLst/>
            <a:ahLst/>
            <a:cxnLst/>
            <a:rect l="l" t="t" r="r" b="b"/>
            <a:pathLst>
              <a:path w="27940" h="31114">
                <a:moveTo>
                  <a:pt x="19558" y="0"/>
                </a:moveTo>
                <a:lnTo>
                  <a:pt x="10414" y="0"/>
                </a:lnTo>
                <a:lnTo>
                  <a:pt x="6731" y="1397"/>
                </a:lnTo>
                <a:lnTo>
                  <a:pt x="1269" y="7112"/>
                </a:lnTo>
                <a:lnTo>
                  <a:pt x="0" y="10794"/>
                </a:lnTo>
                <a:lnTo>
                  <a:pt x="0" y="20066"/>
                </a:lnTo>
                <a:lnTo>
                  <a:pt x="1269" y="23749"/>
                </a:lnTo>
                <a:lnTo>
                  <a:pt x="6858" y="29337"/>
                </a:lnTo>
                <a:lnTo>
                  <a:pt x="10414" y="30734"/>
                </a:lnTo>
                <a:lnTo>
                  <a:pt x="19558" y="30734"/>
                </a:lnTo>
                <a:lnTo>
                  <a:pt x="23114" y="29337"/>
                </a:lnTo>
                <a:lnTo>
                  <a:pt x="27686" y="24765"/>
                </a:lnTo>
                <a:lnTo>
                  <a:pt x="12827" y="24765"/>
                </a:lnTo>
                <a:lnTo>
                  <a:pt x="11175" y="24003"/>
                </a:lnTo>
                <a:lnTo>
                  <a:pt x="8636" y="20828"/>
                </a:lnTo>
                <a:lnTo>
                  <a:pt x="8000" y="18542"/>
                </a:lnTo>
                <a:lnTo>
                  <a:pt x="8000" y="12318"/>
                </a:lnTo>
                <a:lnTo>
                  <a:pt x="8636" y="9906"/>
                </a:lnTo>
                <a:lnTo>
                  <a:pt x="11175" y="6857"/>
                </a:lnTo>
                <a:lnTo>
                  <a:pt x="12827" y="6095"/>
                </a:lnTo>
                <a:lnTo>
                  <a:pt x="27686" y="6095"/>
                </a:lnTo>
                <a:lnTo>
                  <a:pt x="25908" y="4318"/>
                </a:lnTo>
                <a:lnTo>
                  <a:pt x="23241" y="1397"/>
                </a:lnTo>
                <a:lnTo>
                  <a:pt x="1955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375404" y="2810763"/>
            <a:ext cx="13335" cy="19050"/>
          </a:xfrm>
          <a:custGeom>
            <a:avLst/>
            <a:gdLst/>
            <a:ahLst/>
            <a:cxnLst/>
            <a:rect l="l" t="t" r="r" b="b"/>
            <a:pathLst>
              <a:path w="13334" h="19050">
                <a:moveTo>
                  <a:pt x="10413" y="0"/>
                </a:moveTo>
                <a:lnTo>
                  <a:pt x="126" y="0"/>
                </a:lnTo>
                <a:lnTo>
                  <a:pt x="1905" y="889"/>
                </a:lnTo>
                <a:lnTo>
                  <a:pt x="4190" y="4191"/>
                </a:lnTo>
                <a:lnTo>
                  <a:pt x="4699" y="6223"/>
                </a:lnTo>
                <a:lnTo>
                  <a:pt x="4699" y="12446"/>
                </a:lnTo>
                <a:lnTo>
                  <a:pt x="4190" y="14605"/>
                </a:lnTo>
                <a:lnTo>
                  <a:pt x="1650" y="17907"/>
                </a:lnTo>
                <a:lnTo>
                  <a:pt x="0" y="18669"/>
                </a:lnTo>
                <a:lnTo>
                  <a:pt x="10413" y="18669"/>
                </a:lnTo>
                <a:lnTo>
                  <a:pt x="11430" y="17653"/>
                </a:lnTo>
                <a:lnTo>
                  <a:pt x="12826" y="13970"/>
                </a:lnTo>
                <a:lnTo>
                  <a:pt x="12826" y="4699"/>
                </a:lnTo>
                <a:lnTo>
                  <a:pt x="11430" y="1016"/>
                </a:lnTo>
                <a:lnTo>
                  <a:pt x="104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401185" y="2804667"/>
            <a:ext cx="19050" cy="5080"/>
          </a:xfrm>
          <a:custGeom>
            <a:avLst/>
            <a:gdLst/>
            <a:ahLst/>
            <a:cxnLst/>
            <a:rect l="l" t="t" r="r" b="b"/>
            <a:pathLst>
              <a:path w="19050" h="5080">
                <a:moveTo>
                  <a:pt x="12572" y="0"/>
                </a:moveTo>
                <a:lnTo>
                  <a:pt x="7112" y="0"/>
                </a:lnTo>
                <a:lnTo>
                  <a:pt x="5333" y="507"/>
                </a:lnTo>
                <a:lnTo>
                  <a:pt x="3809" y="1397"/>
                </a:lnTo>
                <a:lnTo>
                  <a:pt x="2286" y="2159"/>
                </a:lnTo>
                <a:lnTo>
                  <a:pt x="1015" y="3301"/>
                </a:lnTo>
                <a:lnTo>
                  <a:pt x="0" y="4825"/>
                </a:lnTo>
                <a:lnTo>
                  <a:pt x="18795" y="4825"/>
                </a:lnTo>
                <a:lnTo>
                  <a:pt x="15366" y="1016"/>
                </a:lnTo>
                <a:lnTo>
                  <a:pt x="1257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393438" y="2805429"/>
            <a:ext cx="27305" cy="29209"/>
          </a:xfrm>
          <a:custGeom>
            <a:avLst/>
            <a:gdLst/>
            <a:ahLst/>
            <a:cxnLst/>
            <a:rect l="l" t="t" r="r" b="b"/>
            <a:pathLst>
              <a:path w="27305" h="29210">
                <a:moveTo>
                  <a:pt x="7619" y="0"/>
                </a:moveTo>
                <a:lnTo>
                  <a:pt x="0" y="0"/>
                </a:lnTo>
                <a:lnTo>
                  <a:pt x="0" y="29210"/>
                </a:lnTo>
                <a:lnTo>
                  <a:pt x="8000" y="29210"/>
                </a:lnTo>
                <a:lnTo>
                  <a:pt x="8000" y="10922"/>
                </a:lnTo>
                <a:lnTo>
                  <a:pt x="8381" y="8889"/>
                </a:lnTo>
                <a:lnTo>
                  <a:pt x="9398" y="7619"/>
                </a:lnTo>
                <a:lnTo>
                  <a:pt x="10413" y="6223"/>
                </a:lnTo>
                <a:lnTo>
                  <a:pt x="11937" y="5587"/>
                </a:lnTo>
                <a:lnTo>
                  <a:pt x="26924" y="5587"/>
                </a:lnTo>
                <a:lnTo>
                  <a:pt x="26543" y="4063"/>
                </a:lnTo>
                <a:lnTo>
                  <a:pt x="7619" y="4063"/>
                </a:lnTo>
                <a:lnTo>
                  <a:pt x="761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409440" y="2811017"/>
            <a:ext cx="11430" cy="24130"/>
          </a:xfrm>
          <a:custGeom>
            <a:avLst/>
            <a:gdLst/>
            <a:ahLst/>
            <a:cxnLst/>
            <a:rect l="l" t="t" r="r" b="b"/>
            <a:pathLst>
              <a:path w="11430" h="24130">
                <a:moveTo>
                  <a:pt x="10921" y="0"/>
                </a:moveTo>
                <a:lnTo>
                  <a:pt x="0" y="0"/>
                </a:lnTo>
                <a:lnTo>
                  <a:pt x="1269" y="635"/>
                </a:lnTo>
                <a:lnTo>
                  <a:pt x="2031" y="1778"/>
                </a:lnTo>
                <a:lnTo>
                  <a:pt x="2920" y="2920"/>
                </a:lnTo>
                <a:lnTo>
                  <a:pt x="3301" y="4572"/>
                </a:lnTo>
                <a:lnTo>
                  <a:pt x="3301" y="23622"/>
                </a:lnTo>
                <a:lnTo>
                  <a:pt x="11302" y="23622"/>
                </a:lnTo>
                <a:lnTo>
                  <a:pt x="11302" y="1397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1424045" y="2805429"/>
            <a:ext cx="22225" cy="29209"/>
          </a:xfrm>
          <a:custGeom>
            <a:avLst/>
            <a:gdLst/>
            <a:ahLst/>
            <a:cxnLst/>
            <a:rect l="l" t="t" r="r" b="b"/>
            <a:pathLst>
              <a:path w="22225" h="29210">
                <a:moveTo>
                  <a:pt x="8381" y="0"/>
                </a:moveTo>
                <a:lnTo>
                  <a:pt x="0" y="0"/>
                </a:lnTo>
                <a:lnTo>
                  <a:pt x="10033" y="29210"/>
                </a:lnTo>
                <a:lnTo>
                  <a:pt x="18923" y="29210"/>
                </a:lnTo>
                <a:lnTo>
                  <a:pt x="21971" y="19938"/>
                </a:lnTo>
                <a:lnTo>
                  <a:pt x="14478" y="19938"/>
                </a:lnTo>
                <a:lnTo>
                  <a:pt x="838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438650" y="2805429"/>
            <a:ext cx="14604" cy="20320"/>
          </a:xfrm>
          <a:custGeom>
            <a:avLst/>
            <a:gdLst/>
            <a:ahLst/>
            <a:cxnLst/>
            <a:rect l="l" t="t" r="r" b="b"/>
            <a:pathLst>
              <a:path w="14605" h="20319">
                <a:moveTo>
                  <a:pt x="14224" y="0"/>
                </a:moveTo>
                <a:lnTo>
                  <a:pt x="6096" y="0"/>
                </a:lnTo>
                <a:lnTo>
                  <a:pt x="0" y="19938"/>
                </a:lnTo>
                <a:lnTo>
                  <a:pt x="7366" y="19938"/>
                </a:lnTo>
                <a:lnTo>
                  <a:pt x="1422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457192" y="2795142"/>
            <a:ext cx="18415" cy="40005"/>
          </a:xfrm>
          <a:custGeom>
            <a:avLst/>
            <a:gdLst/>
            <a:ahLst/>
            <a:cxnLst/>
            <a:rect l="l" t="t" r="r" b="b"/>
            <a:pathLst>
              <a:path w="18415" h="40005">
                <a:moveTo>
                  <a:pt x="17906" y="0"/>
                </a:moveTo>
                <a:lnTo>
                  <a:pt x="11556" y="0"/>
                </a:lnTo>
                <a:lnTo>
                  <a:pt x="11175" y="2540"/>
                </a:lnTo>
                <a:lnTo>
                  <a:pt x="10032" y="4572"/>
                </a:lnTo>
                <a:lnTo>
                  <a:pt x="8127" y="5842"/>
                </a:lnTo>
                <a:lnTo>
                  <a:pt x="6350" y="7238"/>
                </a:lnTo>
                <a:lnTo>
                  <a:pt x="3809" y="7874"/>
                </a:lnTo>
                <a:lnTo>
                  <a:pt x="0" y="7874"/>
                </a:lnTo>
                <a:lnTo>
                  <a:pt x="0" y="13843"/>
                </a:lnTo>
                <a:lnTo>
                  <a:pt x="9906" y="13843"/>
                </a:lnTo>
                <a:lnTo>
                  <a:pt x="9906" y="39497"/>
                </a:lnTo>
                <a:lnTo>
                  <a:pt x="17906" y="39497"/>
                </a:lnTo>
                <a:lnTo>
                  <a:pt x="179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487418" y="2815894"/>
            <a:ext cx="17145" cy="6985"/>
          </a:xfrm>
          <a:custGeom>
            <a:avLst/>
            <a:gdLst/>
            <a:ahLst/>
            <a:cxnLst/>
            <a:rect l="l" t="t" r="r" b="b"/>
            <a:pathLst>
              <a:path w="17144" h="6985">
                <a:moveTo>
                  <a:pt x="0" y="6807"/>
                </a:moveTo>
                <a:lnTo>
                  <a:pt x="16896" y="6807"/>
                </a:lnTo>
                <a:lnTo>
                  <a:pt x="16896" y="0"/>
                </a:lnTo>
                <a:lnTo>
                  <a:pt x="0" y="0"/>
                </a:lnTo>
                <a:lnTo>
                  <a:pt x="0" y="6807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509389" y="2794380"/>
            <a:ext cx="27305" cy="16510"/>
          </a:xfrm>
          <a:custGeom>
            <a:avLst/>
            <a:gdLst/>
            <a:ahLst/>
            <a:cxnLst/>
            <a:rect l="l" t="t" r="r" b="b"/>
            <a:pathLst>
              <a:path w="27305" h="16510">
                <a:moveTo>
                  <a:pt x="18161" y="0"/>
                </a:moveTo>
                <a:lnTo>
                  <a:pt x="10033" y="0"/>
                </a:lnTo>
                <a:lnTo>
                  <a:pt x="6604" y="1397"/>
                </a:lnTo>
                <a:lnTo>
                  <a:pt x="1270" y="6985"/>
                </a:lnTo>
                <a:lnTo>
                  <a:pt x="0" y="10668"/>
                </a:lnTo>
                <a:lnTo>
                  <a:pt x="0" y="16002"/>
                </a:lnTo>
                <a:lnTo>
                  <a:pt x="7620" y="16002"/>
                </a:lnTo>
                <a:lnTo>
                  <a:pt x="7747" y="13081"/>
                </a:lnTo>
                <a:lnTo>
                  <a:pt x="8255" y="10922"/>
                </a:lnTo>
                <a:lnTo>
                  <a:pt x="9398" y="9398"/>
                </a:lnTo>
                <a:lnTo>
                  <a:pt x="10414" y="7747"/>
                </a:lnTo>
                <a:lnTo>
                  <a:pt x="11937" y="6857"/>
                </a:lnTo>
                <a:lnTo>
                  <a:pt x="27051" y="6857"/>
                </a:lnTo>
                <a:lnTo>
                  <a:pt x="26543" y="5715"/>
                </a:lnTo>
                <a:lnTo>
                  <a:pt x="24003" y="3556"/>
                </a:lnTo>
                <a:lnTo>
                  <a:pt x="21462" y="1143"/>
                </a:lnTo>
                <a:lnTo>
                  <a:pt x="1816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508627" y="2801238"/>
            <a:ext cx="29209" cy="33655"/>
          </a:xfrm>
          <a:custGeom>
            <a:avLst/>
            <a:gdLst/>
            <a:ahLst/>
            <a:cxnLst/>
            <a:rect l="l" t="t" r="r" b="b"/>
            <a:pathLst>
              <a:path w="29209" h="33655">
                <a:moveTo>
                  <a:pt x="27813" y="0"/>
                </a:moveTo>
                <a:lnTo>
                  <a:pt x="16510" y="0"/>
                </a:lnTo>
                <a:lnTo>
                  <a:pt x="17907" y="635"/>
                </a:lnTo>
                <a:lnTo>
                  <a:pt x="20066" y="2921"/>
                </a:lnTo>
                <a:lnTo>
                  <a:pt x="20574" y="4318"/>
                </a:lnTo>
                <a:lnTo>
                  <a:pt x="20574" y="7493"/>
                </a:lnTo>
                <a:lnTo>
                  <a:pt x="15240" y="13843"/>
                </a:lnTo>
                <a:lnTo>
                  <a:pt x="0" y="30861"/>
                </a:lnTo>
                <a:lnTo>
                  <a:pt x="0" y="33401"/>
                </a:lnTo>
                <a:lnTo>
                  <a:pt x="28829" y="33401"/>
                </a:lnTo>
                <a:lnTo>
                  <a:pt x="28829" y="26543"/>
                </a:lnTo>
                <a:lnTo>
                  <a:pt x="10287" y="26543"/>
                </a:lnTo>
                <a:lnTo>
                  <a:pt x="10922" y="25527"/>
                </a:lnTo>
                <a:lnTo>
                  <a:pt x="19177" y="19050"/>
                </a:lnTo>
                <a:lnTo>
                  <a:pt x="22987" y="16637"/>
                </a:lnTo>
                <a:lnTo>
                  <a:pt x="25527" y="14351"/>
                </a:lnTo>
                <a:lnTo>
                  <a:pt x="28067" y="10287"/>
                </a:lnTo>
                <a:lnTo>
                  <a:pt x="28702" y="8001"/>
                </a:lnTo>
                <a:lnTo>
                  <a:pt x="28702" y="1778"/>
                </a:lnTo>
                <a:lnTo>
                  <a:pt x="278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325747" y="2506344"/>
            <a:ext cx="211708" cy="13703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581779" y="2008605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449" y="0"/>
                </a:lnTo>
              </a:path>
            </a:pathLst>
          </a:custGeom>
          <a:ln w="68379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581779" y="1974415"/>
            <a:ext cx="525780" cy="68580"/>
          </a:xfrm>
          <a:custGeom>
            <a:avLst/>
            <a:gdLst/>
            <a:ahLst/>
            <a:cxnLst/>
            <a:rect l="l" t="t" r="r" b="b"/>
            <a:pathLst>
              <a:path w="525780" h="68580">
                <a:moveTo>
                  <a:pt x="0" y="68379"/>
                </a:moveTo>
                <a:lnTo>
                  <a:pt x="525449" y="68379"/>
                </a:lnTo>
                <a:lnTo>
                  <a:pt x="525449" y="0"/>
                </a:lnTo>
                <a:lnTo>
                  <a:pt x="0" y="0"/>
                </a:lnTo>
                <a:lnTo>
                  <a:pt x="0" y="68379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793615" y="1989708"/>
            <a:ext cx="100583" cy="411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577017" y="1663329"/>
            <a:ext cx="534974" cy="17848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581779" y="1602461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449" y="0"/>
                </a:lnTo>
              </a:path>
            </a:pathLst>
          </a:custGeom>
          <a:ln w="6989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581779" y="1567512"/>
            <a:ext cx="525780" cy="70485"/>
          </a:xfrm>
          <a:custGeom>
            <a:avLst/>
            <a:gdLst/>
            <a:ahLst/>
            <a:cxnLst/>
            <a:rect l="l" t="t" r="r" b="b"/>
            <a:pathLst>
              <a:path w="525780" h="70485">
                <a:moveTo>
                  <a:pt x="0" y="69898"/>
                </a:moveTo>
                <a:lnTo>
                  <a:pt x="525449" y="69898"/>
                </a:lnTo>
                <a:lnTo>
                  <a:pt x="525449" y="0"/>
                </a:lnTo>
                <a:lnTo>
                  <a:pt x="0" y="0"/>
                </a:lnTo>
                <a:lnTo>
                  <a:pt x="0" y="6989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793615" y="1582802"/>
            <a:ext cx="100583" cy="4114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577017" y="1260993"/>
            <a:ext cx="534974" cy="17848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581779" y="1198601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449" y="0"/>
                </a:lnTo>
              </a:path>
            </a:pathLst>
          </a:custGeom>
          <a:ln w="6989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581779" y="1163652"/>
            <a:ext cx="525780" cy="70485"/>
          </a:xfrm>
          <a:custGeom>
            <a:avLst/>
            <a:gdLst/>
            <a:ahLst/>
            <a:cxnLst/>
            <a:rect l="l" t="t" r="r" b="b"/>
            <a:pathLst>
              <a:path w="525780" h="70484">
                <a:moveTo>
                  <a:pt x="0" y="69898"/>
                </a:moveTo>
                <a:lnTo>
                  <a:pt x="525449" y="69898"/>
                </a:lnTo>
                <a:lnTo>
                  <a:pt x="525449" y="0"/>
                </a:lnTo>
                <a:lnTo>
                  <a:pt x="0" y="0"/>
                </a:lnTo>
                <a:lnTo>
                  <a:pt x="0" y="6989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793615" y="1178942"/>
            <a:ext cx="100583" cy="4114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577017" y="756554"/>
            <a:ext cx="534974" cy="38117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325747" y="1279524"/>
            <a:ext cx="787768" cy="26054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325747" y="1684908"/>
            <a:ext cx="786244" cy="26206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389755" y="1078356"/>
            <a:ext cx="82295" cy="4114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389755" y="982346"/>
            <a:ext cx="80772" cy="4114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389755" y="886334"/>
            <a:ext cx="82295" cy="411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575683" y="2068903"/>
            <a:ext cx="536308" cy="7923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 txBox="1"/>
          <p:nvPr/>
        </p:nvSpPr>
        <p:spPr>
          <a:xfrm>
            <a:off x="1254119" y="735456"/>
            <a:ext cx="1102360" cy="235458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69215">
              <a:lnSpc>
                <a:spcPct val="100000"/>
              </a:lnSpc>
            </a:pPr>
            <a:r>
              <a:rPr sz="550" spc="-5" dirty="0">
                <a:latin typeface="Calibri" panose="020F0502020204030204"/>
                <a:cs typeface="Calibri" panose="020F0502020204030204"/>
              </a:rPr>
              <a:t>conv3-3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67554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10" dirty="0"/>
              <a:t>析</a:t>
            </a:r>
            <a:r>
              <a:rPr spc="-5" dirty="0"/>
              <a:t>——VGG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562474" y="991759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VGG16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vs</a:t>
            </a:r>
            <a:r>
              <a:rPr sz="900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VGG19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6960" y="26578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6960" y="26213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40988" y="2638187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6960" y="297636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6960" y="293990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34892" y="2956703"/>
            <a:ext cx="121919" cy="53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16960" y="233933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6960" y="230286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40988" y="2319671"/>
            <a:ext cx="106680" cy="42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12197" y="2086269"/>
            <a:ext cx="562393" cy="1876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2197" y="2404785"/>
            <a:ext cx="562393" cy="1876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12197" y="2723301"/>
            <a:ext cx="562393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16960" y="1812033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16960" y="177556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40988" y="1790843"/>
            <a:ext cx="106680" cy="44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16960" y="1278632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869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16960" y="1242164"/>
            <a:ext cx="553085" cy="73025"/>
          </a:xfrm>
          <a:custGeom>
            <a:avLst/>
            <a:gdLst/>
            <a:ahLst/>
            <a:cxnLst/>
            <a:rect l="l" t="t" r="r" b="b"/>
            <a:pathLst>
              <a:path w="553085" h="73025">
                <a:moveTo>
                  <a:pt x="0" y="72937"/>
                </a:moveTo>
                <a:lnTo>
                  <a:pt x="552869" y="72937"/>
                </a:lnTo>
                <a:lnTo>
                  <a:pt x="552869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40988" y="1258967"/>
            <a:ext cx="105156" cy="426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18484" y="750564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869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18484" y="714855"/>
            <a:ext cx="553085" cy="71755"/>
          </a:xfrm>
          <a:custGeom>
            <a:avLst/>
            <a:gdLst/>
            <a:ahLst/>
            <a:cxnLst/>
            <a:rect l="l" t="t" r="r" b="b"/>
            <a:pathLst>
              <a:path w="553085" h="71754">
                <a:moveTo>
                  <a:pt x="0" y="71418"/>
                </a:moveTo>
                <a:lnTo>
                  <a:pt x="552869" y="71418"/>
                </a:lnTo>
                <a:lnTo>
                  <a:pt x="552869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42512" y="730139"/>
            <a:ext cx="106680" cy="42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10673" y="284902"/>
            <a:ext cx="565441" cy="4009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13721" y="815248"/>
            <a:ext cx="565441" cy="3994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10673" y="1342557"/>
            <a:ext cx="565441" cy="4025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209416" y="3058938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VGG19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12197" y="1869862"/>
            <a:ext cx="562393" cy="1891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6397" y="2537370"/>
            <a:ext cx="563917" cy="8094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1160" y="268376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1160" y="264729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5188" y="2664095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6397" y="2749210"/>
            <a:ext cx="563917" cy="18761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31160" y="300227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1160" y="29658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9092" y="2982611"/>
            <a:ext cx="121919" cy="533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6397" y="2430694"/>
            <a:ext cx="563917" cy="8246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1160" y="236524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31160" y="232877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5188" y="2345579"/>
            <a:ext cx="106680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2936" y="2112178"/>
            <a:ext cx="827379" cy="18761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00146" y="3084846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62936" y="2886091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10" h="32385">
                <a:moveTo>
                  <a:pt x="19469" y="0"/>
                </a:moveTo>
                <a:lnTo>
                  <a:pt x="10769" y="0"/>
                </a:lnTo>
                <a:lnTo>
                  <a:pt x="6984" y="1523"/>
                </a:lnTo>
                <a:lnTo>
                  <a:pt x="4152" y="4571"/>
                </a:lnTo>
                <a:lnTo>
                  <a:pt x="1384" y="7619"/>
                </a:lnTo>
                <a:lnTo>
                  <a:pt x="0" y="11683"/>
                </a:lnTo>
                <a:lnTo>
                  <a:pt x="0" y="21335"/>
                </a:lnTo>
                <a:lnTo>
                  <a:pt x="1422" y="25145"/>
                </a:lnTo>
                <a:lnTo>
                  <a:pt x="4254" y="28066"/>
                </a:lnTo>
                <a:lnTo>
                  <a:pt x="7150" y="30987"/>
                </a:lnTo>
                <a:lnTo>
                  <a:pt x="10833" y="32384"/>
                </a:lnTo>
                <a:lnTo>
                  <a:pt x="19405" y="32384"/>
                </a:lnTo>
                <a:lnTo>
                  <a:pt x="22732" y="31368"/>
                </a:lnTo>
                <a:lnTo>
                  <a:pt x="27940" y="27050"/>
                </a:lnTo>
                <a:lnTo>
                  <a:pt x="28384" y="26162"/>
                </a:lnTo>
                <a:lnTo>
                  <a:pt x="13144" y="26162"/>
                </a:lnTo>
                <a:lnTo>
                  <a:pt x="11429" y="25272"/>
                </a:lnTo>
                <a:lnTo>
                  <a:pt x="10172" y="23494"/>
                </a:lnTo>
                <a:lnTo>
                  <a:pt x="8991" y="21716"/>
                </a:lnTo>
                <a:lnTo>
                  <a:pt x="8394" y="19303"/>
                </a:lnTo>
                <a:lnTo>
                  <a:pt x="8394" y="13462"/>
                </a:lnTo>
                <a:lnTo>
                  <a:pt x="8991" y="11048"/>
                </a:lnTo>
                <a:lnTo>
                  <a:pt x="10172" y="9143"/>
                </a:lnTo>
                <a:lnTo>
                  <a:pt x="11429" y="7238"/>
                </a:lnTo>
                <a:lnTo>
                  <a:pt x="13207" y="6350"/>
                </a:lnTo>
                <a:lnTo>
                  <a:pt x="28816" y="6350"/>
                </a:lnTo>
                <a:lnTo>
                  <a:pt x="28193" y="5079"/>
                </a:lnTo>
                <a:lnTo>
                  <a:pt x="22796" y="1015"/>
                </a:lnTo>
                <a:lnTo>
                  <a:pt x="194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0233" y="2892441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18" y="0"/>
                </a:moveTo>
                <a:lnTo>
                  <a:pt x="0" y="0"/>
                </a:lnTo>
                <a:lnTo>
                  <a:pt x="1384" y="507"/>
                </a:lnTo>
                <a:lnTo>
                  <a:pt x="2362" y="1396"/>
                </a:lnTo>
                <a:lnTo>
                  <a:pt x="3416" y="2285"/>
                </a:lnTo>
                <a:lnTo>
                  <a:pt x="4076" y="3555"/>
                </a:lnTo>
                <a:lnTo>
                  <a:pt x="4343" y="5333"/>
                </a:lnTo>
                <a:lnTo>
                  <a:pt x="12547" y="5333"/>
                </a:lnTo>
                <a:lnTo>
                  <a:pt x="12344" y="1650"/>
                </a:lnTo>
                <a:lnTo>
                  <a:pt x="115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0093" y="2905903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5" h="6350">
                <a:moveTo>
                  <a:pt x="12890" y="0"/>
                </a:moveTo>
                <a:lnTo>
                  <a:pt x="4787" y="0"/>
                </a:lnTo>
                <a:lnTo>
                  <a:pt x="4521" y="2031"/>
                </a:lnTo>
                <a:lnTo>
                  <a:pt x="3784" y="3555"/>
                </a:lnTo>
                <a:lnTo>
                  <a:pt x="1485" y="5841"/>
                </a:lnTo>
                <a:lnTo>
                  <a:pt x="0" y="6350"/>
                </a:lnTo>
                <a:lnTo>
                  <a:pt x="11226" y="6350"/>
                </a:lnTo>
                <a:lnTo>
                  <a:pt x="12357" y="4063"/>
                </a:lnTo>
                <a:lnTo>
                  <a:pt x="1289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6806" y="2886091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10" h="32385">
                <a:moveTo>
                  <a:pt x="20523" y="0"/>
                </a:moveTo>
                <a:lnTo>
                  <a:pt x="10909" y="0"/>
                </a:lnTo>
                <a:lnTo>
                  <a:pt x="7086" y="1396"/>
                </a:lnTo>
                <a:lnTo>
                  <a:pt x="1422" y="7492"/>
                </a:lnTo>
                <a:lnTo>
                  <a:pt x="0" y="11429"/>
                </a:lnTo>
                <a:lnTo>
                  <a:pt x="25" y="21208"/>
                </a:lnTo>
                <a:lnTo>
                  <a:pt x="1422" y="25018"/>
                </a:lnTo>
                <a:lnTo>
                  <a:pt x="4254" y="28066"/>
                </a:lnTo>
                <a:lnTo>
                  <a:pt x="7150" y="30987"/>
                </a:lnTo>
                <a:lnTo>
                  <a:pt x="10972" y="32384"/>
                </a:lnTo>
                <a:lnTo>
                  <a:pt x="20472" y="32384"/>
                </a:lnTo>
                <a:lnTo>
                  <a:pt x="24282" y="30987"/>
                </a:lnTo>
                <a:lnTo>
                  <a:pt x="29057" y="26162"/>
                </a:lnTo>
                <a:lnTo>
                  <a:pt x="13474" y="26162"/>
                </a:lnTo>
                <a:lnTo>
                  <a:pt x="11696" y="25272"/>
                </a:lnTo>
                <a:lnTo>
                  <a:pt x="9067" y="21970"/>
                </a:lnTo>
                <a:lnTo>
                  <a:pt x="8407" y="19557"/>
                </a:lnTo>
                <a:lnTo>
                  <a:pt x="8407" y="12953"/>
                </a:lnTo>
                <a:lnTo>
                  <a:pt x="9067" y="10413"/>
                </a:lnTo>
                <a:lnTo>
                  <a:pt x="10388" y="8889"/>
                </a:lnTo>
                <a:lnTo>
                  <a:pt x="11696" y="7112"/>
                </a:lnTo>
                <a:lnTo>
                  <a:pt x="13474" y="6350"/>
                </a:lnTo>
                <a:lnTo>
                  <a:pt x="29019" y="6350"/>
                </a:lnTo>
                <a:lnTo>
                  <a:pt x="27178" y="4444"/>
                </a:lnTo>
                <a:lnTo>
                  <a:pt x="24345" y="1396"/>
                </a:lnTo>
                <a:lnTo>
                  <a:pt x="2052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4904" y="2892441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21" y="0"/>
                </a:moveTo>
                <a:lnTo>
                  <a:pt x="126" y="0"/>
                </a:lnTo>
                <a:lnTo>
                  <a:pt x="1968" y="888"/>
                </a:lnTo>
                <a:lnTo>
                  <a:pt x="3162" y="2666"/>
                </a:lnTo>
                <a:lnTo>
                  <a:pt x="4406" y="4444"/>
                </a:lnTo>
                <a:lnTo>
                  <a:pt x="4965" y="6603"/>
                </a:lnTo>
                <a:lnTo>
                  <a:pt x="5003" y="13207"/>
                </a:lnTo>
                <a:lnTo>
                  <a:pt x="4368" y="15493"/>
                </a:lnTo>
                <a:lnTo>
                  <a:pt x="3060" y="17144"/>
                </a:lnTo>
                <a:lnTo>
                  <a:pt x="1803" y="18922"/>
                </a:lnTo>
                <a:lnTo>
                  <a:pt x="0" y="19812"/>
                </a:lnTo>
                <a:lnTo>
                  <a:pt x="10960" y="19812"/>
                </a:lnTo>
                <a:lnTo>
                  <a:pt x="11988" y="18795"/>
                </a:lnTo>
                <a:lnTo>
                  <a:pt x="13436" y="14858"/>
                </a:lnTo>
                <a:lnTo>
                  <a:pt x="13436" y="5079"/>
                </a:lnTo>
                <a:lnTo>
                  <a:pt x="11988" y="1142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41942" y="2886091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5" h="5080">
                <a:moveTo>
                  <a:pt x="13182" y="0"/>
                </a:moveTo>
                <a:lnTo>
                  <a:pt x="7378" y="0"/>
                </a:lnTo>
                <a:lnTo>
                  <a:pt x="5600" y="380"/>
                </a:lnTo>
                <a:lnTo>
                  <a:pt x="3962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79"/>
                </a:lnTo>
                <a:lnTo>
                  <a:pt x="19596" y="5079"/>
                </a:lnTo>
                <a:lnTo>
                  <a:pt x="16014" y="888"/>
                </a:lnTo>
                <a:lnTo>
                  <a:pt x="131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3738" y="2886853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13" y="0"/>
                </a:moveTo>
                <a:lnTo>
                  <a:pt x="0" y="0"/>
                </a:lnTo>
                <a:lnTo>
                  <a:pt x="0" y="30860"/>
                </a:lnTo>
                <a:lnTo>
                  <a:pt x="8407" y="30860"/>
                </a:lnTo>
                <a:lnTo>
                  <a:pt x="8407" y="11556"/>
                </a:lnTo>
                <a:lnTo>
                  <a:pt x="8902" y="9397"/>
                </a:lnTo>
                <a:lnTo>
                  <a:pt x="9880" y="8000"/>
                </a:lnTo>
                <a:lnTo>
                  <a:pt x="10934" y="6603"/>
                </a:lnTo>
                <a:lnTo>
                  <a:pt x="12623" y="5841"/>
                </a:lnTo>
                <a:lnTo>
                  <a:pt x="28257" y="5841"/>
                </a:lnTo>
                <a:lnTo>
                  <a:pt x="27800" y="4317"/>
                </a:lnTo>
                <a:lnTo>
                  <a:pt x="8013" y="4317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50578" y="2892695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417" y="0"/>
                </a:moveTo>
                <a:lnTo>
                  <a:pt x="0" y="0"/>
                </a:lnTo>
                <a:lnTo>
                  <a:pt x="1346" y="635"/>
                </a:lnTo>
                <a:lnTo>
                  <a:pt x="2133" y="1904"/>
                </a:lnTo>
                <a:lnTo>
                  <a:pt x="2997" y="3175"/>
                </a:lnTo>
                <a:lnTo>
                  <a:pt x="3428" y="4952"/>
                </a:lnTo>
                <a:lnTo>
                  <a:pt x="3428" y="25018"/>
                </a:lnTo>
                <a:lnTo>
                  <a:pt x="11823" y="25018"/>
                </a:lnTo>
                <a:lnTo>
                  <a:pt x="11823" y="1524"/>
                </a:lnTo>
                <a:lnTo>
                  <a:pt x="1141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65844" y="2886853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01" y="0"/>
                </a:moveTo>
                <a:lnTo>
                  <a:pt x="0" y="0"/>
                </a:lnTo>
                <a:lnTo>
                  <a:pt x="10477" y="30860"/>
                </a:lnTo>
                <a:lnTo>
                  <a:pt x="19773" y="30860"/>
                </a:lnTo>
                <a:lnTo>
                  <a:pt x="23063" y="21081"/>
                </a:lnTo>
                <a:lnTo>
                  <a:pt x="15227" y="21081"/>
                </a:lnTo>
                <a:lnTo>
                  <a:pt x="88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81173" y="2886853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14820" y="0"/>
                </a:moveTo>
                <a:lnTo>
                  <a:pt x="6426" y="0"/>
                </a:lnTo>
                <a:lnTo>
                  <a:pt x="0" y="21081"/>
                </a:lnTo>
                <a:lnTo>
                  <a:pt x="7734" y="21081"/>
                </a:lnTo>
                <a:lnTo>
                  <a:pt x="148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00578" y="2875931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83" y="0"/>
                </a:moveTo>
                <a:lnTo>
                  <a:pt x="12065" y="0"/>
                </a:lnTo>
                <a:lnTo>
                  <a:pt x="11658" y="2793"/>
                </a:lnTo>
                <a:lnTo>
                  <a:pt x="10477" y="4825"/>
                </a:lnTo>
                <a:lnTo>
                  <a:pt x="8496" y="6223"/>
                </a:lnTo>
                <a:lnTo>
                  <a:pt x="6591" y="7619"/>
                </a:lnTo>
                <a:lnTo>
                  <a:pt x="3962" y="8254"/>
                </a:lnTo>
                <a:lnTo>
                  <a:pt x="0" y="8254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2"/>
                </a:lnTo>
                <a:lnTo>
                  <a:pt x="18783" y="41782"/>
                </a:lnTo>
                <a:lnTo>
                  <a:pt x="187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32214" y="2897813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201"/>
                </a:moveTo>
                <a:lnTo>
                  <a:pt x="17691" y="7201"/>
                </a:lnTo>
                <a:lnTo>
                  <a:pt x="17691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57423" y="2875931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70" y="0"/>
                </a:moveTo>
                <a:lnTo>
                  <a:pt x="12052" y="0"/>
                </a:lnTo>
                <a:lnTo>
                  <a:pt x="11658" y="2793"/>
                </a:lnTo>
                <a:lnTo>
                  <a:pt x="10464" y="4825"/>
                </a:lnTo>
                <a:lnTo>
                  <a:pt x="8496" y="6223"/>
                </a:lnTo>
                <a:lnTo>
                  <a:pt x="6591" y="7619"/>
                </a:lnTo>
                <a:lnTo>
                  <a:pt x="3949" y="8254"/>
                </a:lnTo>
                <a:lnTo>
                  <a:pt x="0" y="8254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2"/>
                </a:lnTo>
                <a:lnTo>
                  <a:pt x="18770" y="41782"/>
                </a:lnTo>
                <a:lnTo>
                  <a:pt x="1877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62936" y="2784872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6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0871" y="33020"/>
                </a:lnTo>
                <a:lnTo>
                  <a:pt x="19469" y="33020"/>
                </a:lnTo>
                <a:lnTo>
                  <a:pt x="22809" y="31876"/>
                </a:lnTo>
                <a:lnTo>
                  <a:pt x="28028" y="27559"/>
                </a:lnTo>
                <a:lnTo>
                  <a:pt x="28486" y="26670"/>
                </a:lnTo>
                <a:lnTo>
                  <a:pt x="13182" y="26670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2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7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80284" y="2791349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80144" y="2805065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5" h="6985">
                <a:moveTo>
                  <a:pt x="12928" y="0"/>
                </a:moveTo>
                <a:lnTo>
                  <a:pt x="4800" y="0"/>
                </a:lnTo>
                <a:lnTo>
                  <a:pt x="4533" y="2032"/>
                </a:lnTo>
                <a:lnTo>
                  <a:pt x="3810" y="3683"/>
                </a:lnTo>
                <a:lnTo>
                  <a:pt x="1498" y="5842"/>
                </a:lnTo>
                <a:lnTo>
                  <a:pt x="0" y="6477"/>
                </a:lnTo>
                <a:lnTo>
                  <a:pt x="11277" y="6477"/>
                </a:lnTo>
                <a:lnTo>
                  <a:pt x="12407" y="4191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96921" y="2784872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20"/>
                </a:lnTo>
                <a:lnTo>
                  <a:pt x="0" y="11684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1010" y="33020"/>
                </a:lnTo>
                <a:lnTo>
                  <a:pt x="20523" y="33020"/>
                </a:lnTo>
                <a:lnTo>
                  <a:pt x="24358" y="31496"/>
                </a:lnTo>
                <a:lnTo>
                  <a:pt x="29146" y="26670"/>
                </a:lnTo>
                <a:lnTo>
                  <a:pt x="13512" y="26670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8"/>
                </a:lnTo>
                <a:lnTo>
                  <a:pt x="9093" y="10667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15069" y="2791349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5"/>
                </a:lnTo>
                <a:lnTo>
                  <a:pt x="3175" y="2794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7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42196" y="2784872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5" h="5714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7"/>
                </a:lnTo>
                <a:lnTo>
                  <a:pt x="19659" y="5207"/>
                </a:lnTo>
                <a:lnTo>
                  <a:pt x="19634" y="5079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3967" y="2785761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9"/>
                </a:lnTo>
                <a:lnTo>
                  <a:pt x="8432" y="31369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3"/>
                </a:lnTo>
                <a:lnTo>
                  <a:pt x="12661" y="5969"/>
                </a:lnTo>
                <a:lnTo>
                  <a:pt x="28346" y="5969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50858" y="2791730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455" y="0"/>
                </a:moveTo>
                <a:lnTo>
                  <a:pt x="0" y="0"/>
                </a:lnTo>
                <a:lnTo>
                  <a:pt x="1358" y="634"/>
                </a:lnTo>
                <a:lnTo>
                  <a:pt x="2146" y="1904"/>
                </a:lnTo>
                <a:lnTo>
                  <a:pt x="3009" y="3048"/>
                </a:lnTo>
                <a:lnTo>
                  <a:pt x="3428" y="4952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6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6174" y="2785761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9"/>
                </a:lnTo>
                <a:lnTo>
                  <a:pt x="19837" y="31369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81541" y="2785761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01023" y="2774585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4"/>
                </a:lnTo>
                <a:lnTo>
                  <a:pt x="10515" y="4952"/>
                </a:lnTo>
                <a:lnTo>
                  <a:pt x="8521" y="6350"/>
                </a:lnTo>
                <a:lnTo>
                  <a:pt x="6604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4" y="14986"/>
                </a:lnTo>
                <a:lnTo>
                  <a:pt x="10414" y="42545"/>
                </a:lnTo>
                <a:lnTo>
                  <a:pt x="18834" y="42545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32747" y="2796865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55861" y="2773823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5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5"/>
                </a:lnTo>
                <a:lnTo>
                  <a:pt x="8026" y="17145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3"/>
                </a:lnTo>
                <a:lnTo>
                  <a:pt x="10934" y="8255"/>
                </a:lnTo>
                <a:lnTo>
                  <a:pt x="12560" y="7365"/>
                </a:lnTo>
                <a:lnTo>
                  <a:pt x="28422" y="7365"/>
                </a:lnTo>
                <a:lnTo>
                  <a:pt x="27889" y="6223"/>
                </a:lnTo>
                <a:lnTo>
                  <a:pt x="25184" y="3810"/>
                </a:lnTo>
                <a:lnTo>
                  <a:pt x="22479" y="1270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54972" y="2781189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5"/>
                </a:lnTo>
                <a:lnTo>
                  <a:pt x="21145" y="3048"/>
                </a:lnTo>
                <a:lnTo>
                  <a:pt x="21716" y="4699"/>
                </a:lnTo>
                <a:lnTo>
                  <a:pt x="21716" y="8128"/>
                </a:lnTo>
                <a:lnTo>
                  <a:pt x="16065" y="14859"/>
                </a:lnTo>
                <a:lnTo>
                  <a:pt x="0" y="33147"/>
                </a:lnTo>
                <a:lnTo>
                  <a:pt x="0" y="35941"/>
                </a:lnTo>
                <a:lnTo>
                  <a:pt x="30340" y="35941"/>
                </a:lnTo>
                <a:lnTo>
                  <a:pt x="30340" y="28448"/>
                </a:lnTo>
                <a:lnTo>
                  <a:pt x="10807" y="28448"/>
                </a:lnTo>
                <a:lnTo>
                  <a:pt x="11531" y="27432"/>
                </a:lnTo>
                <a:lnTo>
                  <a:pt x="12496" y="26289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7"/>
                </a:lnTo>
                <a:lnTo>
                  <a:pt x="24256" y="17780"/>
                </a:lnTo>
                <a:lnTo>
                  <a:pt x="26898" y="15367"/>
                </a:lnTo>
                <a:lnTo>
                  <a:pt x="28155" y="13208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2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62936" y="2469023"/>
            <a:ext cx="222376" cy="14465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31160" y="194614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31160" y="190967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55188" y="1924955"/>
            <a:ext cx="106680" cy="441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26397" y="1580301"/>
            <a:ext cx="563917" cy="18914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31160" y="151637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31160" y="14799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55188" y="1496711"/>
            <a:ext cx="106680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26397" y="1156629"/>
            <a:ext cx="563917" cy="18761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31160" y="109118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31160" y="105471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55188" y="1071515"/>
            <a:ext cx="106680" cy="4267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26397" y="626278"/>
            <a:ext cx="563917" cy="39945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2936" y="1176671"/>
            <a:ext cx="828903" cy="2742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62936" y="1604915"/>
            <a:ext cx="827379" cy="27578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29992" y="964835"/>
            <a:ext cx="85343" cy="4267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29992" y="864251"/>
            <a:ext cx="83820" cy="4267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29992" y="762143"/>
            <a:ext cx="85343" cy="4267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25064" y="2008736"/>
            <a:ext cx="565251" cy="8379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43530" y="1983883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2095" y="288924"/>
            <a:ext cx="685800" cy="2806065"/>
          </a:xfrm>
          <a:custGeom>
            <a:avLst/>
            <a:gdLst/>
            <a:ahLst/>
            <a:cxnLst/>
            <a:rect l="l" t="t" r="r" b="b"/>
            <a:pathLst>
              <a:path w="685800" h="2806065">
                <a:moveTo>
                  <a:pt x="0" y="2805684"/>
                </a:moveTo>
                <a:lnTo>
                  <a:pt x="685800" y="2805684"/>
                </a:lnTo>
                <a:lnTo>
                  <a:pt x="685800" y="0"/>
                </a:lnTo>
                <a:lnTo>
                  <a:pt x="0" y="0"/>
                </a:lnTo>
                <a:lnTo>
                  <a:pt x="0" y="2805684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2095" y="288924"/>
            <a:ext cx="685800" cy="2806065"/>
          </a:xfrm>
          <a:custGeom>
            <a:avLst/>
            <a:gdLst/>
            <a:ahLst/>
            <a:cxnLst/>
            <a:rect l="l" t="t" r="r" b="b"/>
            <a:pathLst>
              <a:path w="685800" h="2806065">
                <a:moveTo>
                  <a:pt x="0" y="2805684"/>
                </a:moveTo>
                <a:lnTo>
                  <a:pt x="685800" y="2805684"/>
                </a:lnTo>
                <a:lnTo>
                  <a:pt x="685800" y="0"/>
                </a:lnTo>
                <a:lnTo>
                  <a:pt x="0" y="0"/>
                </a:lnTo>
                <a:lnTo>
                  <a:pt x="0" y="280568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562474" y="942825"/>
            <a:ext cx="1910714" cy="42100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VGG16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vs</a:t>
            </a:r>
            <a:r>
              <a:rPr sz="9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VGG19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8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19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更深、精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略微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但所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内存更多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16959" y="2679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6959" y="26434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40987" y="2660270"/>
            <a:ext cx="106680" cy="426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6959" y="299845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16959" y="296198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34891" y="2978786"/>
            <a:ext cx="121919" cy="533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6959" y="23614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16959" y="232494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40987" y="2341754"/>
            <a:ext cx="106680" cy="42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12197" y="2108351"/>
            <a:ext cx="562393" cy="1876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12197" y="2426867"/>
            <a:ext cx="562393" cy="1876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12197" y="2745384"/>
            <a:ext cx="562393" cy="18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16959" y="183411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16959" y="179764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40987" y="1812925"/>
            <a:ext cx="106680" cy="441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16959" y="1300714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869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16959" y="1264245"/>
            <a:ext cx="553085" cy="73025"/>
          </a:xfrm>
          <a:custGeom>
            <a:avLst/>
            <a:gdLst/>
            <a:ahLst/>
            <a:cxnLst/>
            <a:rect l="l" t="t" r="r" b="b"/>
            <a:pathLst>
              <a:path w="553085" h="73025">
                <a:moveTo>
                  <a:pt x="0" y="72937"/>
                </a:moveTo>
                <a:lnTo>
                  <a:pt x="552869" y="72937"/>
                </a:lnTo>
                <a:lnTo>
                  <a:pt x="552869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40987" y="1281050"/>
            <a:ext cx="105156" cy="426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18483" y="772645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869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18483" y="736936"/>
            <a:ext cx="553085" cy="71755"/>
          </a:xfrm>
          <a:custGeom>
            <a:avLst/>
            <a:gdLst/>
            <a:ahLst/>
            <a:cxnLst/>
            <a:rect l="l" t="t" r="r" b="b"/>
            <a:pathLst>
              <a:path w="553085" h="71754">
                <a:moveTo>
                  <a:pt x="0" y="71418"/>
                </a:moveTo>
                <a:lnTo>
                  <a:pt x="552869" y="71418"/>
                </a:lnTo>
                <a:lnTo>
                  <a:pt x="552869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42511" y="752222"/>
            <a:ext cx="106680" cy="42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10673" y="306983"/>
            <a:ext cx="565441" cy="4009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13721" y="837330"/>
            <a:ext cx="565441" cy="3994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10673" y="1364639"/>
            <a:ext cx="565441" cy="4025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09415" y="3081654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VGG19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12197" y="1891943"/>
            <a:ext cx="562393" cy="1891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6397" y="2559451"/>
            <a:ext cx="563917" cy="8094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1159" y="270584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1159" y="266937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5187" y="2686178"/>
            <a:ext cx="106680" cy="426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6397" y="2771292"/>
            <a:ext cx="563917" cy="18761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1159" y="302435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1159" y="298789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9091" y="3004692"/>
            <a:ext cx="121919" cy="533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6397" y="2452775"/>
            <a:ext cx="563917" cy="8246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1159" y="238732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31159" y="2350857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5187" y="2367662"/>
            <a:ext cx="106680" cy="4267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2935" y="2134259"/>
            <a:ext cx="827379" cy="18761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00146" y="3107563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62935" y="2908172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10" h="32385">
                <a:moveTo>
                  <a:pt x="19469" y="0"/>
                </a:moveTo>
                <a:lnTo>
                  <a:pt x="10769" y="0"/>
                </a:lnTo>
                <a:lnTo>
                  <a:pt x="6984" y="1524"/>
                </a:lnTo>
                <a:lnTo>
                  <a:pt x="4152" y="4571"/>
                </a:lnTo>
                <a:lnTo>
                  <a:pt x="1384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54" y="28067"/>
                </a:lnTo>
                <a:lnTo>
                  <a:pt x="7150" y="30987"/>
                </a:lnTo>
                <a:lnTo>
                  <a:pt x="10833" y="32385"/>
                </a:lnTo>
                <a:lnTo>
                  <a:pt x="19405" y="32385"/>
                </a:lnTo>
                <a:lnTo>
                  <a:pt x="22732" y="31368"/>
                </a:lnTo>
                <a:lnTo>
                  <a:pt x="27940" y="27050"/>
                </a:lnTo>
                <a:lnTo>
                  <a:pt x="28384" y="26162"/>
                </a:lnTo>
                <a:lnTo>
                  <a:pt x="13144" y="26162"/>
                </a:lnTo>
                <a:lnTo>
                  <a:pt x="11429" y="25273"/>
                </a:lnTo>
                <a:lnTo>
                  <a:pt x="10172" y="23494"/>
                </a:lnTo>
                <a:lnTo>
                  <a:pt x="8991" y="21717"/>
                </a:lnTo>
                <a:lnTo>
                  <a:pt x="8394" y="19304"/>
                </a:lnTo>
                <a:lnTo>
                  <a:pt x="8394" y="13462"/>
                </a:lnTo>
                <a:lnTo>
                  <a:pt x="8991" y="11049"/>
                </a:lnTo>
                <a:lnTo>
                  <a:pt x="10172" y="9143"/>
                </a:lnTo>
                <a:lnTo>
                  <a:pt x="11429" y="7238"/>
                </a:lnTo>
                <a:lnTo>
                  <a:pt x="13207" y="6350"/>
                </a:lnTo>
                <a:lnTo>
                  <a:pt x="28816" y="6350"/>
                </a:lnTo>
                <a:lnTo>
                  <a:pt x="28193" y="5080"/>
                </a:lnTo>
                <a:lnTo>
                  <a:pt x="22796" y="1015"/>
                </a:lnTo>
                <a:lnTo>
                  <a:pt x="194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0233" y="2914522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18" y="0"/>
                </a:moveTo>
                <a:lnTo>
                  <a:pt x="0" y="0"/>
                </a:lnTo>
                <a:lnTo>
                  <a:pt x="1384" y="507"/>
                </a:lnTo>
                <a:lnTo>
                  <a:pt x="2362" y="1396"/>
                </a:lnTo>
                <a:lnTo>
                  <a:pt x="3416" y="2286"/>
                </a:lnTo>
                <a:lnTo>
                  <a:pt x="4076" y="3556"/>
                </a:lnTo>
                <a:lnTo>
                  <a:pt x="4343" y="5333"/>
                </a:lnTo>
                <a:lnTo>
                  <a:pt x="12547" y="5333"/>
                </a:lnTo>
                <a:lnTo>
                  <a:pt x="12344" y="1650"/>
                </a:lnTo>
                <a:lnTo>
                  <a:pt x="115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80093" y="2927984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5" h="6350">
                <a:moveTo>
                  <a:pt x="12890" y="0"/>
                </a:moveTo>
                <a:lnTo>
                  <a:pt x="4787" y="0"/>
                </a:lnTo>
                <a:lnTo>
                  <a:pt x="4521" y="2031"/>
                </a:lnTo>
                <a:lnTo>
                  <a:pt x="3784" y="3556"/>
                </a:lnTo>
                <a:lnTo>
                  <a:pt x="1485" y="5842"/>
                </a:lnTo>
                <a:lnTo>
                  <a:pt x="0" y="6350"/>
                </a:lnTo>
                <a:lnTo>
                  <a:pt x="11226" y="6350"/>
                </a:lnTo>
                <a:lnTo>
                  <a:pt x="12357" y="4063"/>
                </a:lnTo>
                <a:lnTo>
                  <a:pt x="1289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96806" y="2908172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10" h="32385">
                <a:moveTo>
                  <a:pt x="20523" y="0"/>
                </a:moveTo>
                <a:lnTo>
                  <a:pt x="10909" y="0"/>
                </a:lnTo>
                <a:lnTo>
                  <a:pt x="7086" y="1396"/>
                </a:lnTo>
                <a:lnTo>
                  <a:pt x="1422" y="7493"/>
                </a:lnTo>
                <a:lnTo>
                  <a:pt x="0" y="11430"/>
                </a:lnTo>
                <a:lnTo>
                  <a:pt x="25" y="21208"/>
                </a:lnTo>
                <a:lnTo>
                  <a:pt x="1422" y="25018"/>
                </a:lnTo>
                <a:lnTo>
                  <a:pt x="4254" y="28067"/>
                </a:lnTo>
                <a:lnTo>
                  <a:pt x="7150" y="30987"/>
                </a:lnTo>
                <a:lnTo>
                  <a:pt x="10972" y="32385"/>
                </a:lnTo>
                <a:lnTo>
                  <a:pt x="20472" y="32385"/>
                </a:lnTo>
                <a:lnTo>
                  <a:pt x="24282" y="30987"/>
                </a:lnTo>
                <a:lnTo>
                  <a:pt x="29057" y="26162"/>
                </a:lnTo>
                <a:lnTo>
                  <a:pt x="13474" y="26162"/>
                </a:lnTo>
                <a:lnTo>
                  <a:pt x="11696" y="25273"/>
                </a:lnTo>
                <a:lnTo>
                  <a:pt x="9067" y="21970"/>
                </a:lnTo>
                <a:lnTo>
                  <a:pt x="8407" y="19557"/>
                </a:lnTo>
                <a:lnTo>
                  <a:pt x="8407" y="12954"/>
                </a:lnTo>
                <a:lnTo>
                  <a:pt x="9067" y="10413"/>
                </a:lnTo>
                <a:lnTo>
                  <a:pt x="10388" y="8889"/>
                </a:lnTo>
                <a:lnTo>
                  <a:pt x="11696" y="7112"/>
                </a:lnTo>
                <a:lnTo>
                  <a:pt x="13474" y="6350"/>
                </a:lnTo>
                <a:lnTo>
                  <a:pt x="29019" y="6350"/>
                </a:lnTo>
                <a:lnTo>
                  <a:pt x="27178" y="4444"/>
                </a:lnTo>
                <a:lnTo>
                  <a:pt x="24345" y="1396"/>
                </a:lnTo>
                <a:lnTo>
                  <a:pt x="2052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14904" y="2914522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21" y="0"/>
                </a:moveTo>
                <a:lnTo>
                  <a:pt x="126" y="0"/>
                </a:lnTo>
                <a:lnTo>
                  <a:pt x="1968" y="888"/>
                </a:lnTo>
                <a:lnTo>
                  <a:pt x="3162" y="2667"/>
                </a:lnTo>
                <a:lnTo>
                  <a:pt x="4406" y="4444"/>
                </a:lnTo>
                <a:lnTo>
                  <a:pt x="4965" y="6604"/>
                </a:lnTo>
                <a:lnTo>
                  <a:pt x="5003" y="13207"/>
                </a:lnTo>
                <a:lnTo>
                  <a:pt x="4368" y="15493"/>
                </a:lnTo>
                <a:lnTo>
                  <a:pt x="3060" y="17144"/>
                </a:lnTo>
                <a:lnTo>
                  <a:pt x="1803" y="18923"/>
                </a:lnTo>
                <a:lnTo>
                  <a:pt x="0" y="19812"/>
                </a:lnTo>
                <a:lnTo>
                  <a:pt x="10960" y="19812"/>
                </a:lnTo>
                <a:lnTo>
                  <a:pt x="11988" y="18795"/>
                </a:lnTo>
                <a:lnTo>
                  <a:pt x="13436" y="14858"/>
                </a:lnTo>
                <a:lnTo>
                  <a:pt x="13436" y="5080"/>
                </a:lnTo>
                <a:lnTo>
                  <a:pt x="11988" y="1143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41942" y="2908172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5" h="5080">
                <a:moveTo>
                  <a:pt x="13182" y="0"/>
                </a:moveTo>
                <a:lnTo>
                  <a:pt x="7378" y="0"/>
                </a:lnTo>
                <a:lnTo>
                  <a:pt x="5600" y="381"/>
                </a:lnTo>
                <a:lnTo>
                  <a:pt x="3962" y="1396"/>
                </a:lnTo>
                <a:lnTo>
                  <a:pt x="2311" y="2158"/>
                </a:lnTo>
                <a:lnTo>
                  <a:pt x="990" y="3429"/>
                </a:lnTo>
                <a:lnTo>
                  <a:pt x="0" y="5080"/>
                </a:lnTo>
                <a:lnTo>
                  <a:pt x="19596" y="5080"/>
                </a:lnTo>
                <a:lnTo>
                  <a:pt x="19570" y="4952"/>
                </a:lnTo>
                <a:lnTo>
                  <a:pt x="16014" y="888"/>
                </a:lnTo>
                <a:lnTo>
                  <a:pt x="131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3738" y="2908934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13" y="0"/>
                </a:moveTo>
                <a:lnTo>
                  <a:pt x="0" y="0"/>
                </a:lnTo>
                <a:lnTo>
                  <a:pt x="0" y="30861"/>
                </a:lnTo>
                <a:lnTo>
                  <a:pt x="8407" y="30861"/>
                </a:lnTo>
                <a:lnTo>
                  <a:pt x="8407" y="11556"/>
                </a:lnTo>
                <a:lnTo>
                  <a:pt x="8902" y="9398"/>
                </a:lnTo>
                <a:lnTo>
                  <a:pt x="9880" y="8000"/>
                </a:lnTo>
                <a:lnTo>
                  <a:pt x="10934" y="6603"/>
                </a:lnTo>
                <a:lnTo>
                  <a:pt x="12623" y="5842"/>
                </a:lnTo>
                <a:lnTo>
                  <a:pt x="28257" y="5842"/>
                </a:lnTo>
                <a:lnTo>
                  <a:pt x="27800" y="4318"/>
                </a:lnTo>
                <a:lnTo>
                  <a:pt x="8013" y="4318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50578" y="2914776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417" y="0"/>
                </a:moveTo>
                <a:lnTo>
                  <a:pt x="0" y="0"/>
                </a:lnTo>
                <a:lnTo>
                  <a:pt x="1346" y="634"/>
                </a:lnTo>
                <a:lnTo>
                  <a:pt x="2133" y="1904"/>
                </a:lnTo>
                <a:lnTo>
                  <a:pt x="2997" y="3175"/>
                </a:lnTo>
                <a:lnTo>
                  <a:pt x="3428" y="4952"/>
                </a:lnTo>
                <a:lnTo>
                  <a:pt x="3428" y="25018"/>
                </a:lnTo>
                <a:lnTo>
                  <a:pt x="11823" y="25018"/>
                </a:lnTo>
                <a:lnTo>
                  <a:pt x="11823" y="1523"/>
                </a:lnTo>
                <a:lnTo>
                  <a:pt x="1141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65844" y="2908934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01" y="0"/>
                </a:moveTo>
                <a:lnTo>
                  <a:pt x="0" y="0"/>
                </a:lnTo>
                <a:lnTo>
                  <a:pt x="10477" y="30861"/>
                </a:lnTo>
                <a:lnTo>
                  <a:pt x="19773" y="30861"/>
                </a:lnTo>
                <a:lnTo>
                  <a:pt x="23063" y="21081"/>
                </a:lnTo>
                <a:lnTo>
                  <a:pt x="15227" y="21081"/>
                </a:lnTo>
                <a:lnTo>
                  <a:pt x="88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1172" y="2908934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14820" y="0"/>
                </a:moveTo>
                <a:lnTo>
                  <a:pt x="6426" y="0"/>
                </a:lnTo>
                <a:lnTo>
                  <a:pt x="0" y="21081"/>
                </a:lnTo>
                <a:lnTo>
                  <a:pt x="7734" y="21081"/>
                </a:lnTo>
                <a:lnTo>
                  <a:pt x="148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0578" y="2898012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83" y="0"/>
                </a:moveTo>
                <a:lnTo>
                  <a:pt x="12065" y="0"/>
                </a:lnTo>
                <a:lnTo>
                  <a:pt x="11658" y="2793"/>
                </a:lnTo>
                <a:lnTo>
                  <a:pt x="10477" y="4825"/>
                </a:lnTo>
                <a:lnTo>
                  <a:pt x="8496" y="6223"/>
                </a:lnTo>
                <a:lnTo>
                  <a:pt x="6591" y="7620"/>
                </a:lnTo>
                <a:lnTo>
                  <a:pt x="3962" y="8255"/>
                </a:lnTo>
                <a:lnTo>
                  <a:pt x="0" y="8255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3"/>
                </a:lnTo>
                <a:lnTo>
                  <a:pt x="18783" y="41783"/>
                </a:lnTo>
                <a:lnTo>
                  <a:pt x="187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32214" y="2919894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201"/>
                </a:moveTo>
                <a:lnTo>
                  <a:pt x="17691" y="7201"/>
                </a:lnTo>
                <a:lnTo>
                  <a:pt x="17691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57423" y="2898012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70" y="0"/>
                </a:moveTo>
                <a:lnTo>
                  <a:pt x="12052" y="0"/>
                </a:lnTo>
                <a:lnTo>
                  <a:pt x="11658" y="2793"/>
                </a:lnTo>
                <a:lnTo>
                  <a:pt x="10464" y="4825"/>
                </a:lnTo>
                <a:lnTo>
                  <a:pt x="8496" y="6223"/>
                </a:lnTo>
                <a:lnTo>
                  <a:pt x="6591" y="7620"/>
                </a:lnTo>
                <a:lnTo>
                  <a:pt x="3949" y="8255"/>
                </a:lnTo>
                <a:lnTo>
                  <a:pt x="0" y="8255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3"/>
                </a:lnTo>
                <a:lnTo>
                  <a:pt x="18770" y="41783"/>
                </a:lnTo>
                <a:lnTo>
                  <a:pt x="1877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62935" y="2806953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6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4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80284" y="2813430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7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2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80144" y="2827146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5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10" y="3682"/>
                </a:lnTo>
                <a:lnTo>
                  <a:pt x="1498" y="5841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96921" y="2806953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1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15069" y="2813430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2196" y="2806953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5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3967" y="2807842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50858" y="2813811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6174" y="2807842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81541" y="2807842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01023" y="2796666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2"/>
                </a:lnTo>
                <a:lnTo>
                  <a:pt x="8521" y="6350"/>
                </a:lnTo>
                <a:lnTo>
                  <a:pt x="6604" y="7746"/>
                </a:lnTo>
                <a:lnTo>
                  <a:pt x="3962" y="8508"/>
                </a:lnTo>
                <a:lnTo>
                  <a:pt x="0" y="8508"/>
                </a:lnTo>
                <a:lnTo>
                  <a:pt x="0" y="14986"/>
                </a:lnTo>
                <a:lnTo>
                  <a:pt x="10414" y="14986"/>
                </a:lnTo>
                <a:lnTo>
                  <a:pt x="10414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32747" y="2818946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55861" y="2795904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3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9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54972" y="2803270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8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8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79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8"/>
                </a:lnTo>
                <a:lnTo>
                  <a:pt x="30137" y="8635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62935" y="2491104"/>
            <a:ext cx="222376" cy="14465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31159" y="196822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31159" y="1931757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55187" y="1947038"/>
            <a:ext cx="106680" cy="441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26397" y="1602383"/>
            <a:ext cx="563917" cy="18914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31159" y="153845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31159" y="150198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55187" y="1518794"/>
            <a:ext cx="106680" cy="4267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26397" y="1178711"/>
            <a:ext cx="563917" cy="18761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31159" y="111326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31159" y="107679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55187" y="1093598"/>
            <a:ext cx="106680" cy="4267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26397" y="648359"/>
            <a:ext cx="563917" cy="39945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62935" y="1198752"/>
            <a:ext cx="828903" cy="2742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62935" y="1626996"/>
            <a:ext cx="827379" cy="27578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29991" y="986918"/>
            <a:ext cx="85343" cy="4267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29991" y="886334"/>
            <a:ext cx="83820" cy="4267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29991" y="784226"/>
            <a:ext cx="85343" cy="4267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25063" y="2030817"/>
            <a:ext cx="565251" cy="8379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143530" y="2006599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924" y="524399"/>
            <a:ext cx="993775" cy="2560320"/>
          </a:xfrm>
          <a:custGeom>
            <a:avLst/>
            <a:gdLst/>
            <a:ahLst/>
            <a:cxnLst/>
            <a:rect l="l" t="t" r="r" b="b"/>
            <a:pathLst>
              <a:path w="993775" h="2560320">
                <a:moveTo>
                  <a:pt x="0" y="2560319"/>
                </a:moveTo>
                <a:lnTo>
                  <a:pt x="993647" y="2560319"/>
                </a:lnTo>
                <a:lnTo>
                  <a:pt x="993647" y="0"/>
                </a:lnTo>
                <a:lnTo>
                  <a:pt x="0" y="0"/>
                </a:lnTo>
                <a:lnTo>
                  <a:pt x="0" y="2560319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39132" y="367554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10" dirty="0"/>
              <a:t>析</a:t>
            </a:r>
            <a:r>
              <a:rPr spc="-5" dirty="0"/>
              <a:t>——VGG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562474" y="920108"/>
            <a:ext cx="1910714" cy="60388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VGG16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vs</a:t>
            </a:r>
            <a:r>
              <a:rPr sz="9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VGG19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19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更深、精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略微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但所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需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内存更多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VGG16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更常用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6960" y="26578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6960" y="26213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40988" y="2638187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6960" y="297636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6960" y="293990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4892" y="2956703"/>
            <a:ext cx="121919" cy="53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6960" y="233933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6960" y="230286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40988" y="2319671"/>
            <a:ext cx="106680" cy="42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2197" y="2086269"/>
            <a:ext cx="562393" cy="1876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12197" y="2404785"/>
            <a:ext cx="562393" cy="1876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12197" y="2723301"/>
            <a:ext cx="562393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16960" y="1812033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16960" y="177556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89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40988" y="1790843"/>
            <a:ext cx="106680" cy="44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16960" y="1278632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869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16960" y="1242164"/>
            <a:ext cx="553085" cy="73025"/>
          </a:xfrm>
          <a:custGeom>
            <a:avLst/>
            <a:gdLst/>
            <a:ahLst/>
            <a:cxnLst/>
            <a:rect l="l" t="t" r="r" b="b"/>
            <a:pathLst>
              <a:path w="553085" h="73025">
                <a:moveTo>
                  <a:pt x="0" y="72937"/>
                </a:moveTo>
                <a:lnTo>
                  <a:pt x="552869" y="72937"/>
                </a:lnTo>
                <a:lnTo>
                  <a:pt x="552869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40988" y="1258967"/>
            <a:ext cx="105156" cy="426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18484" y="750564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2869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18484" y="714855"/>
            <a:ext cx="553085" cy="71755"/>
          </a:xfrm>
          <a:custGeom>
            <a:avLst/>
            <a:gdLst/>
            <a:ahLst/>
            <a:cxnLst/>
            <a:rect l="l" t="t" r="r" b="b"/>
            <a:pathLst>
              <a:path w="553085" h="71754">
                <a:moveTo>
                  <a:pt x="0" y="71418"/>
                </a:moveTo>
                <a:lnTo>
                  <a:pt x="552869" y="71418"/>
                </a:lnTo>
                <a:lnTo>
                  <a:pt x="552869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42512" y="730139"/>
            <a:ext cx="106680" cy="42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10673" y="284902"/>
            <a:ext cx="565441" cy="4009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13721" y="815248"/>
            <a:ext cx="565441" cy="3994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10673" y="1342557"/>
            <a:ext cx="565441" cy="40250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209416" y="3058938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VGG19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12197" y="1869862"/>
            <a:ext cx="562393" cy="1891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6397" y="2537370"/>
            <a:ext cx="563917" cy="8094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1160" y="268376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1160" y="264729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55188" y="2664095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6397" y="2749210"/>
            <a:ext cx="563917" cy="18761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1160" y="300227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1160" y="29658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49092" y="2982611"/>
            <a:ext cx="121919" cy="533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6397" y="2430694"/>
            <a:ext cx="563917" cy="8246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31160" y="236524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1160" y="232877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5188" y="2345579"/>
            <a:ext cx="106680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2936" y="2112178"/>
            <a:ext cx="827379" cy="18761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00146" y="3084846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2936" y="2886091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10" h="32385">
                <a:moveTo>
                  <a:pt x="19469" y="0"/>
                </a:moveTo>
                <a:lnTo>
                  <a:pt x="10769" y="0"/>
                </a:lnTo>
                <a:lnTo>
                  <a:pt x="6984" y="1523"/>
                </a:lnTo>
                <a:lnTo>
                  <a:pt x="4152" y="4571"/>
                </a:lnTo>
                <a:lnTo>
                  <a:pt x="1384" y="7619"/>
                </a:lnTo>
                <a:lnTo>
                  <a:pt x="0" y="11683"/>
                </a:lnTo>
                <a:lnTo>
                  <a:pt x="0" y="21335"/>
                </a:lnTo>
                <a:lnTo>
                  <a:pt x="1422" y="25145"/>
                </a:lnTo>
                <a:lnTo>
                  <a:pt x="4254" y="28066"/>
                </a:lnTo>
                <a:lnTo>
                  <a:pt x="7150" y="30987"/>
                </a:lnTo>
                <a:lnTo>
                  <a:pt x="10833" y="32384"/>
                </a:lnTo>
                <a:lnTo>
                  <a:pt x="19405" y="32384"/>
                </a:lnTo>
                <a:lnTo>
                  <a:pt x="22732" y="31368"/>
                </a:lnTo>
                <a:lnTo>
                  <a:pt x="27940" y="27050"/>
                </a:lnTo>
                <a:lnTo>
                  <a:pt x="28384" y="26162"/>
                </a:lnTo>
                <a:lnTo>
                  <a:pt x="13144" y="26162"/>
                </a:lnTo>
                <a:lnTo>
                  <a:pt x="11429" y="25272"/>
                </a:lnTo>
                <a:lnTo>
                  <a:pt x="10172" y="23494"/>
                </a:lnTo>
                <a:lnTo>
                  <a:pt x="8991" y="21716"/>
                </a:lnTo>
                <a:lnTo>
                  <a:pt x="8394" y="19303"/>
                </a:lnTo>
                <a:lnTo>
                  <a:pt x="8394" y="13462"/>
                </a:lnTo>
                <a:lnTo>
                  <a:pt x="8991" y="11048"/>
                </a:lnTo>
                <a:lnTo>
                  <a:pt x="10172" y="9143"/>
                </a:lnTo>
                <a:lnTo>
                  <a:pt x="11429" y="7238"/>
                </a:lnTo>
                <a:lnTo>
                  <a:pt x="13207" y="6350"/>
                </a:lnTo>
                <a:lnTo>
                  <a:pt x="28816" y="6350"/>
                </a:lnTo>
                <a:lnTo>
                  <a:pt x="28193" y="5079"/>
                </a:lnTo>
                <a:lnTo>
                  <a:pt x="22796" y="1015"/>
                </a:lnTo>
                <a:lnTo>
                  <a:pt x="194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0233" y="2892441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18" y="0"/>
                </a:moveTo>
                <a:lnTo>
                  <a:pt x="0" y="0"/>
                </a:lnTo>
                <a:lnTo>
                  <a:pt x="1384" y="507"/>
                </a:lnTo>
                <a:lnTo>
                  <a:pt x="2362" y="1396"/>
                </a:lnTo>
                <a:lnTo>
                  <a:pt x="3416" y="2285"/>
                </a:lnTo>
                <a:lnTo>
                  <a:pt x="4076" y="3555"/>
                </a:lnTo>
                <a:lnTo>
                  <a:pt x="4343" y="5333"/>
                </a:lnTo>
                <a:lnTo>
                  <a:pt x="12547" y="5333"/>
                </a:lnTo>
                <a:lnTo>
                  <a:pt x="12344" y="1650"/>
                </a:lnTo>
                <a:lnTo>
                  <a:pt x="115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0093" y="2905903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5" h="6350">
                <a:moveTo>
                  <a:pt x="12890" y="0"/>
                </a:moveTo>
                <a:lnTo>
                  <a:pt x="4787" y="0"/>
                </a:lnTo>
                <a:lnTo>
                  <a:pt x="4521" y="2031"/>
                </a:lnTo>
                <a:lnTo>
                  <a:pt x="3784" y="3555"/>
                </a:lnTo>
                <a:lnTo>
                  <a:pt x="1485" y="5841"/>
                </a:lnTo>
                <a:lnTo>
                  <a:pt x="0" y="6350"/>
                </a:lnTo>
                <a:lnTo>
                  <a:pt x="11226" y="6350"/>
                </a:lnTo>
                <a:lnTo>
                  <a:pt x="12357" y="4063"/>
                </a:lnTo>
                <a:lnTo>
                  <a:pt x="1289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6806" y="2886091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10" h="32385">
                <a:moveTo>
                  <a:pt x="20523" y="0"/>
                </a:moveTo>
                <a:lnTo>
                  <a:pt x="10909" y="0"/>
                </a:lnTo>
                <a:lnTo>
                  <a:pt x="7086" y="1396"/>
                </a:lnTo>
                <a:lnTo>
                  <a:pt x="1422" y="7492"/>
                </a:lnTo>
                <a:lnTo>
                  <a:pt x="0" y="11429"/>
                </a:lnTo>
                <a:lnTo>
                  <a:pt x="25" y="21208"/>
                </a:lnTo>
                <a:lnTo>
                  <a:pt x="1422" y="25018"/>
                </a:lnTo>
                <a:lnTo>
                  <a:pt x="4254" y="28066"/>
                </a:lnTo>
                <a:lnTo>
                  <a:pt x="7150" y="30987"/>
                </a:lnTo>
                <a:lnTo>
                  <a:pt x="10972" y="32384"/>
                </a:lnTo>
                <a:lnTo>
                  <a:pt x="20472" y="32384"/>
                </a:lnTo>
                <a:lnTo>
                  <a:pt x="24282" y="30987"/>
                </a:lnTo>
                <a:lnTo>
                  <a:pt x="29057" y="26162"/>
                </a:lnTo>
                <a:lnTo>
                  <a:pt x="13474" y="26162"/>
                </a:lnTo>
                <a:lnTo>
                  <a:pt x="11696" y="25272"/>
                </a:lnTo>
                <a:lnTo>
                  <a:pt x="9067" y="21970"/>
                </a:lnTo>
                <a:lnTo>
                  <a:pt x="8407" y="19557"/>
                </a:lnTo>
                <a:lnTo>
                  <a:pt x="8407" y="12953"/>
                </a:lnTo>
                <a:lnTo>
                  <a:pt x="9067" y="10413"/>
                </a:lnTo>
                <a:lnTo>
                  <a:pt x="10388" y="8889"/>
                </a:lnTo>
                <a:lnTo>
                  <a:pt x="11696" y="7112"/>
                </a:lnTo>
                <a:lnTo>
                  <a:pt x="13474" y="6350"/>
                </a:lnTo>
                <a:lnTo>
                  <a:pt x="29019" y="6350"/>
                </a:lnTo>
                <a:lnTo>
                  <a:pt x="27178" y="4444"/>
                </a:lnTo>
                <a:lnTo>
                  <a:pt x="24345" y="1396"/>
                </a:lnTo>
                <a:lnTo>
                  <a:pt x="2052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4904" y="2892441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21" y="0"/>
                </a:moveTo>
                <a:lnTo>
                  <a:pt x="126" y="0"/>
                </a:lnTo>
                <a:lnTo>
                  <a:pt x="1968" y="888"/>
                </a:lnTo>
                <a:lnTo>
                  <a:pt x="3162" y="2666"/>
                </a:lnTo>
                <a:lnTo>
                  <a:pt x="4406" y="4444"/>
                </a:lnTo>
                <a:lnTo>
                  <a:pt x="4965" y="6603"/>
                </a:lnTo>
                <a:lnTo>
                  <a:pt x="5003" y="13207"/>
                </a:lnTo>
                <a:lnTo>
                  <a:pt x="4368" y="15493"/>
                </a:lnTo>
                <a:lnTo>
                  <a:pt x="3060" y="17144"/>
                </a:lnTo>
                <a:lnTo>
                  <a:pt x="1803" y="18922"/>
                </a:lnTo>
                <a:lnTo>
                  <a:pt x="0" y="19812"/>
                </a:lnTo>
                <a:lnTo>
                  <a:pt x="10960" y="19812"/>
                </a:lnTo>
                <a:lnTo>
                  <a:pt x="11988" y="18795"/>
                </a:lnTo>
                <a:lnTo>
                  <a:pt x="13436" y="14858"/>
                </a:lnTo>
                <a:lnTo>
                  <a:pt x="13436" y="5079"/>
                </a:lnTo>
                <a:lnTo>
                  <a:pt x="11988" y="1142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41942" y="2886091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5" h="5080">
                <a:moveTo>
                  <a:pt x="13182" y="0"/>
                </a:moveTo>
                <a:lnTo>
                  <a:pt x="7378" y="0"/>
                </a:lnTo>
                <a:lnTo>
                  <a:pt x="5600" y="380"/>
                </a:lnTo>
                <a:lnTo>
                  <a:pt x="3962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79"/>
                </a:lnTo>
                <a:lnTo>
                  <a:pt x="19596" y="5079"/>
                </a:lnTo>
                <a:lnTo>
                  <a:pt x="16014" y="888"/>
                </a:lnTo>
                <a:lnTo>
                  <a:pt x="131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3738" y="2886853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13" y="0"/>
                </a:moveTo>
                <a:lnTo>
                  <a:pt x="0" y="0"/>
                </a:lnTo>
                <a:lnTo>
                  <a:pt x="0" y="30860"/>
                </a:lnTo>
                <a:lnTo>
                  <a:pt x="8407" y="30860"/>
                </a:lnTo>
                <a:lnTo>
                  <a:pt x="8407" y="11556"/>
                </a:lnTo>
                <a:lnTo>
                  <a:pt x="8902" y="9397"/>
                </a:lnTo>
                <a:lnTo>
                  <a:pt x="9880" y="8000"/>
                </a:lnTo>
                <a:lnTo>
                  <a:pt x="10934" y="6603"/>
                </a:lnTo>
                <a:lnTo>
                  <a:pt x="12623" y="5841"/>
                </a:lnTo>
                <a:lnTo>
                  <a:pt x="28257" y="5841"/>
                </a:lnTo>
                <a:lnTo>
                  <a:pt x="27800" y="4317"/>
                </a:lnTo>
                <a:lnTo>
                  <a:pt x="8013" y="4317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50578" y="2892695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417" y="0"/>
                </a:moveTo>
                <a:lnTo>
                  <a:pt x="0" y="0"/>
                </a:lnTo>
                <a:lnTo>
                  <a:pt x="1346" y="635"/>
                </a:lnTo>
                <a:lnTo>
                  <a:pt x="2133" y="1904"/>
                </a:lnTo>
                <a:lnTo>
                  <a:pt x="2997" y="3175"/>
                </a:lnTo>
                <a:lnTo>
                  <a:pt x="3428" y="4952"/>
                </a:lnTo>
                <a:lnTo>
                  <a:pt x="3428" y="25018"/>
                </a:lnTo>
                <a:lnTo>
                  <a:pt x="11823" y="25018"/>
                </a:lnTo>
                <a:lnTo>
                  <a:pt x="11823" y="1524"/>
                </a:lnTo>
                <a:lnTo>
                  <a:pt x="1141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5844" y="2886853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01" y="0"/>
                </a:moveTo>
                <a:lnTo>
                  <a:pt x="0" y="0"/>
                </a:lnTo>
                <a:lnTo>
                  <a:pt x="10477" y="30860"/>
                </a:lnTo>
                <a:lnTo>
                  <a:pt x="19773" y="30860"/>
                </a:lnTo>
                <a:lnTo>
                  <a:pt x="23063" y="21081"/>
                </a:lnTo>
                <a:lnTo>
                  <a:pt x="15227" y="21081"/>
                </a:lnTo>
                <a:lnTo>
                  <a:pt x="88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81173" y="2886853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14820" y="0"/>
                </a:moveTo>
                <a:lnTo>
                  <a:pt x="6426" y="0"/>
                </a:lnTo>
                <a:lnTo>
                  <a:pt x="0" y="21081"/>
                </a:lnTo>
                <a:lnTo>
                  <a:pt x="7734" y="21081"/>
                </a:lnTo>
                <a:lnTo>
                  <a:pt x="148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00578" y="2875931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83" y="0"/>
                </a:moveTo>
                <a:lnTo>
                  <a:pt x="12065" y="0"/>
                </a:lnTo>
                <a:lnTo>
                  <a:pt x="11658" y="2793"/>
                </a:lnTo>
                <a:lnTo>
                  <a:pt x="10477" y="4825"/>
                </a:lnTo>
                <a:lnTo>
                  <a:pt x="8496" y="6223"/>
                </a:lnTo>
                <a:lnTo>
                  <a:pt x="6591" y="7619"/>
                </a:lnTo>
                <a:lnTo>
                  <a:pt x="3962" y="8254"/>
                </a:lnTo>
                <a:lnTo>
                  <a:pt x="0" y="8254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2"/>
                </a:lnTo>
                <a:lnTo>
                  <a:pt x="18783" y="41782"/>
                </a:lnTo>
                <a:lnTo>
                  <a:pt x="187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32214" y="2897813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201"/>
                </a:moveTo>
                <a:lnTo>
                  <a:pt x="17691" y="7201"/>
                </a:lnTo>
                <a:lnTo>
                  <a:pt x="17691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57423" y="2875931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70" y="0"/>
                </a:moveTo>
                <a:lnTo>
                  <a:pt x="12052" y="0"/>
                </a:lnTo>
                <a:lnTo>
                  <a:pt x="11658" y="2793"/>
                </a:lnTo>
                <a:lnTo>
                  <a:pt x="10464" y="4825"/>
                </a:lnTo>
                <a:lnTo>
                  <a:pt x="8496" y="6223"/>
                </a:lnTo>
                <a:lnTo>
                  <a:pt x="6591" y="7619"/>
                </a:lnTo>
                <a:lnTo>
                  <a:pt x="3949" y="8254"/>
                </a:lnTo>
                <a:lnTo>
                  <a:pt x="0" y="8254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2"/>
                </a:lnTo>
                <a:lnTo>
                  <a:pt x="18770" y="41782"/>
                </a:lnTo>
                <a:lnTo>
                  <a:pt x="1877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2936" y="2784872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6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0871" y="33020"/>
                </a:lnTo>
                <a:lnTo>
                  <a:pt x="19469" y="33020"/>
                </a:lnTo>
                <a:lnTo>
                  <a:pt x="22809" y="31876"/>
                </a:lnTo>
                <a:lnTo>
                  <a:pt x="28028" y="27559"/>
                </a:lnTo>
                <a:lnTo>
                  <a:pt x="28486" y="26670"/>
                </a:lnTo>
                <a:lnTo>
                  <a:pt x="13182" y="26670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2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7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80284" y="2791349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80144" y="2805065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5" h="6985">
                <a:moveTo>
                  <a:pt x="12928" y="0"/>
                </a:moveTo>
                <a:lnTo>
                  <a:pt x="4800" y="0"/>
                </a:lnTo>
                <a:lnTo>
                  <a:pt x="4533" y="2032"/>
                </a:lnTo>
                <a:lnTo>
                  <a:pt x="3810" y="3683"/>
                </a:lnTo>
                <a:lnTo>
                  <a:pt x="1498" y="5842"/>
                </a:lnTo>
                <a:lnTo>
                  <a:pt x="0" y="6477"/>
                </a:lnTo>
                <a:lnTo>
                  <a:pt x="11277" y="6477"/>
                </a:lnTo>
                <a:lnTo>
                  <a:pt x="12407" y="4191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96921" y="2784872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10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20"/>
                </a:lnTo>
                <a:lnTo>
                  <a:pt x="0" y="11684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1010" y="33020"/>
                </a:lnTo>
                <a:lnTo>
                  <a:pt x="20523" y="33020"/>
                </a:lnTo>
                <a:lnTo>
                  <a:pt x="24358" y="31496"/>
                </a:lnTo>
                <a:lnTo>
                  <a:pt x="29146" y="26670"/>
                </a:lnTo>
                <a:lnTo>
                  <a:pt x="13512" y="26670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8"/>
                </a:lnTo>
                <a:lnTo>
                  <a:pt x="9093" y="10667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15069" y="2791349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5"/>
                </a:lnTo>
                <a:lnTo>
                  <a:pt x="3175" y="2794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7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42196" y="2784872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5" h="5714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7"/>
                </a:lnTo>
                <a:lnTo>
                  <a:pt x="19659" y="5207"/>
                </a:lnTo>
                <a:lnTo>
                  <a:pt x="19634" y="5079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3967" y="2785761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9"/>
                </a:lnTo>
                <a:lnTo>
                  <a:pt x="8432" y="31369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3"/>
                </a:lnTo>
                <a:lnTo>
                  <a:pt x="12661" y="5969"/>
                </a:lnTo>
                <a:lnTo>
                  <a:pt x="28346" y="5969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50858" y="2791730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455" y="0"/>
                </a:moveTo>
                <a:lnTo>
                  <a:pt x="0" y="0"/>
                </a:lnTo>
                <a:lnTo>
                  <a:pt x="1358" y="634"/>
                </a:lnTo>
                <a:lnTo>
                  <a:pt x="2146" y="1904"/>
                </a:lnTo>
                <a:lnTo>
                  <a:pt x="3009" y="3048"/>
                </a:lnTo>
                <a:lnTo>
                  <a:pt x="3428" y="4952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6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6174" y="2785761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9"/>
                </a:lnTo>
                <a:lnTo>
                  <a:pt x="19837" y="31369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81541" y="2785761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01023" y="2774585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4"/>
                </a:lnTo>
                <a:lnTo>
                  <a:pt x="10515" y="4952"/>
                </a:lnTo>
                <a:lnTo>
                  <a:pt x="8521" y="6350"/>
                </a:lnTo>
                <a:lnTo>
                  <a:pt x="6604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4" y="14986"/>
                </a:lnTo>
                <a:lnTo>
                  <a:pt x="10414" y="42545"/>
                </a:lnTo>
                <a:lnTo>
                  <a:pt x="18834" y="42545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32747" y="2796865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55861" y="2773823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5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5"/>
                </a:lnTo>
                <a:lnTo>
                  <a:pt x="8026" y="17145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3"/>
                </a:lnTo>
                <a:lnTo>
                  <a:pt x="10934" y="8255"/>
                </a:lnTo>
                <a:lnTo>
                  <a:pt x="12560" y="7365"/>
                </a:lnTo>
                <a:lnTo>
                  <a:pt x="28422" y="7365"/>
                </a:lnTo>
                <a:lnTo>
                  <a:pt x="27889" y="6223"/>
                </a:lnTo>
                <a:lnTo>
                  <a:pt x="25184" y="3810"/>
                </a:lnTo>
                <a:lnTo>
                  <a:pt x="22479" y="1270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54972" y="2781189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5"/>
                </a:lnTo>
                <a:lnTo>
                  <a:pt x="21145" y="3048"/>
                </a:lnTo>
                <a:lnTo>
                  <a:pt x="21716" y="4699"/>
                </a:lnTo>
                <a:lnTo>
                  <a:pt x="21716" y="8128"/>
                </a:lnTo>
                <a:lnTo>
                  <a:pt x="16065" y="14859"/>
                </a:lnTo>
                <a:lnTo>
                  <a:pt x="0" y="33147"/>
                </a:lnTo>
                <a:lnTo>
                  <a:pt x="0" y="35941"/>
                </a:lnTo>
                <a:lnTo>
                  <a:pt x="30340" y="35941"/>
                </a:lnTo>
                <a:lnTo>
                  <a:pt x="30340" y="28448"/>
                </a:lnTo>
                <a:lnTo>
                  <a:pt x="10807" y="28448"/>
                </a:lnTo>
                <a:lnTo>
                  <a:pt x="11531" y="27432"/>
                </a:lnTo>
                <a:lnTo>
                  <a:pt x="12496" y="26289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7"/>
                </a:lnTo>
                <a:lnTo>
                  <a:pt x="24256" y="17780"/>
                </a:lnTo>
                <a:lnTo>
                  <a:pt x="26898" y="15367"/>
                </a:lnTo>
                <a:lnTo>
                  <a:pt x="28155" y="13208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2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62936" y="2469023"/>
            <a:ext cx="222376" cy="14465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31160" y="194614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31160" y="190967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55188" y="1924955"/>
            <a:ext cx="106680" cy="441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26397" y="1580301"/>
            <a:ext cx="563917" cy="18914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31160" y="151637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31160" y="14799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55188" y="1496711"/>
            <a:ext cx="106680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26397" y="1156629"/>
            <a:ext cx="563917" cy="18761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31160" y="109118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31160" y="105471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55188" y="1071515"/>
            <a:ext cx="106680" cy="4267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26397" y="626278"/>
            <a:ext cx="563917" cy="39945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62936" y="1176671"/>
            <a:ext cx="828903" cy="2742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62936" y="1604915"/>
            <a:ext cx="827379" cy="27578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29992" y="964835"/>
            <a:ext cx="85343" cy="4267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29992" y="864251"/>
            <a:ext cx="83820" cy="4267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29992" y="762143"/>
            <a:ext cx="85343" cy="4267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25064" y="2008736"/>
            <a:ext cx="565251" cy="8379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66924" y="524399"/>
            <a:ext cx="993775" cy="256032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88900">
              <a:lnSpc>
                <a:spcPct val="100000"/>
              </a:lnSpc>
            </a:pPr>
            <a:r>
              <a:rPr sz="550" spc="-5" dirty="0">
                <a:latin typeface="Calibri" panose="020F0502020204030204"/>
                <a:cs typeface="Calibri" panose="020F0502020204030204"/>
              </a:rPr>
              <a:t>conv3-3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91481" y="1171701"/>
            <a:ext cx="137033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3493" y="2557927"/>
            <a:ext cx="563917" cy="809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8255" y="27043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8255" y="266785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42283" y="2684654"/>
            <a:ext cx="106680" cy="42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3493" y="2769768"/>
            <a:ext cx="563917" cy="18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8255" y="30228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8255" y="29863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36187" y="3003168"/>
            <a:ext cx="121919" cy="53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3493" y="2451251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8255" y="238580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8255" y="234933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42283" y="2366138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0031" y="2132735"/>
            <a:ext cx="827379" cy="1876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87851" y="3106038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0031" y="290664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2"/>
                </a:lnTo>
                <a:lnTo>
                  <a:pt x="1396" y="7619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7"/>
                </a:lnTo>
                <a:lnTo>
                  <a:pt x="7200" y="30987"/>
                </a:lnTo>
                <a:lnTo>
                  <a:pt x="10909" y="32385"/>
                </a:lnTo>
                <a:lnTo>
                  <a:pt x="19545" y="32385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3"/>
                </a:lnTo>
                <a:lnTo>
                  <a:pt x="10248" y="23494"/>
                </a:lnTo>
                <a:lnTo>
                  <a:pt x="9055" y="21717"/>
                </a:lnTo>
                <a:lnTo>
                  <a:pt x="8458" y="19304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80"/>
                </a:lnTo>
                <a:lnTo>
                  <a:pt x="22961" y="1016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7443" y="2912998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7"/>
                </a:lnTo>
                <a:lnTo>
                  <a:pt x="3454" y="2286"/>
                </a:lnTo>
                <a:lnTo>
                  <a:pt x="4114" y="3556"/>
                </a:lnTo>
                <a:lnTo>
                  <a:pt x="4381" y="5334"/>
                </a:lnTo>
                <a:lnTo>
                  <a:pt x="12649" y="5334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7316" y="2926460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6"/>
                </a:lnTo>
                <a:lnTo>
                  <a:pt x="1498" y="5842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4144" y="290664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7"/>
                </a:lnTo>
                <a:lnTo>
                  <a:pt x="1435" y="7493"/>
                </a:lnTo>
                <a:lnTo>
                  <a:pt x="0" y="11430"/>
                </a:lnTo>
                <a:lnTo>
                  <a:pt x="25" y="21209"/>
                </a:lnTo>
                <a:lnTo>
                  <a:pt x="1435" y="25018"/>
                </a:lnTo>
                <a:lnTo>
                  <a:pt x="4292" y="28067"/>
                </a:lnTo>
                <a:lnTo>
                  <a:pt x="7200" y="30987"/>
                </a:lnTo>
                <a:lnTo>
                  <a:pt x="11061" y="32385"/>
                </a:lnTo>
                <a:lnTo>
                  <a:pt x="20612" y="32385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3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4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7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2368" y="2912998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7"/>
                </a:lnTo>
                <a:lnTo>
                  <a:pt x="4444" y="4444"/>
                </a:lnTo>
                <a:lnTo>
                  <a:pt x="5003" y="6604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3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9"/>
                </a:lnTo>
                <a:lnTo>
                  <a:pt x="13538" y="5080"/>
                </a:lnTo>
                <a:lnTo>
                  <a:pt x="12064" y="1143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610" y="2906648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1"/>
                </a:lnTo>
                <a:lnTo>
                  <a:pt x="3975" y="1397"/>
                </a:lnTo>
                <a:lnTo>
                  <a:pt x="2311" y="2159"/>
                </a:lnTo>
                <a:lnTo>
                  <a:pt x="990" y="3429"/>
                </a:lnTo>
                <a:lnTo>
                  <a:pt x="0" y="5080"/>
                </a:lnTo>
                <a:lnTo>
                  <a:pt x="19735" y="5080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1342" y="2907410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1"/>
                </a:lnTo>
                <a:lnTo>
                  <a:pt x="8458" y="30861"/>
                </a:lnTo>
                <a:lnTo>
                  <a:pt x="8458" y="11556"/>
                </a:lnTo>
                <a:lnTo>
                  <a:pt x="8953" y="9398"/>
                </a:lnTo>
                <a:lnTo>
                  <a:pt x="9956" y="8000"/>
                </a:lnTo>
                <a:lnTo>
                  <a:pt x="11010" y="6604"/>
                </a:lnTo>
                <a:lnTo>
                  <a:pt x="12712" y="5842"/>
                </a:lnTo>
                <a:lnTo>
                  <a:pt x="28460" y="5842"/>
                </a:lnTo>
                <a:lnTo>
                  <a:pt x="28003" y="4318"/>
                </a:lnTo>
                <a:lnTo>
                  <a:pt x="8064" y="4318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8296" y="2913252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4"/>
                </a:lnTo>
                <a:lnTo>
                  <a:pt x="2159" y="1905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3676" y="2907410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1"/>
                </a:lnTo>
                <a:lnTo>
                  <a:pt x="19913" y="30861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9107" y="290741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8665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29" y="7620"/>
                </a:lnTo>
                <a:lnTo>
                  <a:pt x="3975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0516" y="2918370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5904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42" y="7620"/>
                </a:lnTo>
                <a:lnTo>
                  <a:pt x="398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0031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3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6"/>
                </a:lnTo>
                <a:lnTo>
                  <a:pt x="9017" y="11303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6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67380" y="2811906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1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67240" y="2825622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2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4017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6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2165" y="2811906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6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29292" y="2805429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6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21063" y="2806318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7954" y="2812287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3270" y="2806318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8637" y="2806318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88119" y="2795142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3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9843" y="281742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2957" y="2794380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2068" y="2801746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9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80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50031" y="2489580"/>
            <a:ext cx="222377" cy="1446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8255" y="196593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8255" y="193022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42283" y="1945512"/>
            <a:ext cx="106680" cy="44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3493" y="1600859"/>
            <a:ext cx="563917" cy="1891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8255" y="1536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8255" y="150046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42283" y="1517270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3493" y="1177187"/>
            <a:ext cx="563917" cy="1876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18255" y="111173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18255" y="107526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42283" y="1092074"/>
            <a:ext cx="106680" cy="42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13493" y="646835"/>
            <a:ext cx="563917" cy="3994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50031" y="1197228"/>
            <a:ext cx="830427" cy="274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50031" y="1625472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7087" y="985394"/>
            <a:ext cx="85343" cy="4267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17087" y="884808"/>
            <a:ext cx="85343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17087" y="782700"/>
            <a:ext cx="86868" cy="426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2159" y="2029293"/>
            <a:ext cx="565251" cy="8379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531540" y="2005075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67554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10" dirty="0"/>
              <a:t>析</a:t>
            </a:r>
            <a:r>
              <a:rPr spc="-5" dirty="0"/>
              <a:t>——VGG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492120" y="1135523"/>
            <a:ext cx="990600" cy="321945"/>
          </a:xfrm>
          <a:custGeom>
            <a:avLst/>
            <a:gdLst/>
            <a:ahLst/>
            <a:cxnLst/>
            <a:rect l="l" t="t" r="r" b="b"/>
            <a:pathLst>
              <a:path w="990600" h="321944">
                <a:moveTo>
                  <a:pt x="0" y="321564"/>
                </a:moveTo>
                <a:lnTo>
                  <a:pt x="990600" y="321564"/>
                </a:lnTo>
                <a:lnTo>
                  <a:pt x="990600" y="0"/>
                </a:lnTo>
                <a:lnTo>
                  <a:pt x="0" y="0"/>
                </a:lnTo>
                <a:lnTo>
                  <a:pt x="0" y="32156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8216" y="1568339"/>
            <a:ext cx="992505" cy="323215"/>
          </a:xfrm>
          <a:custGeom>
            <a:avLst/>
            <a:gdLst/>
            <a:ahLst/>
            <a:cxnLst/>
            <a:rect l="l" t="t" r="r" b="b"/>
            <a:pathLst>
              <a:path w="992505" h="323214">
                <a:moveTo>
                  <a:pt x="0" y="323088"/>
                </a:moveTo>
                <a:lnTo>
                  <a:pt x="992123" y="323088"/>
                </a:lnTo>
                <a:lnTo>
                  <a:pt x="992123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8216" y="2418731"/>
            <a:ext cx="992505" cy="205740"/>
          </a:xfrm>
          <a:custGeom>
            <a:avLst/>
            <a:gdLst/>
            <a:ahLst/>
            <a:cxnLst/>
            <a:rect l="l" t="t" r="r" b="b"/>
            <a:pathLst>
              <a:path w="992505" h="205739">
                <a:moveTo>
                  <a:pt x="0" y="205739"/>
                </a:moveTo>
                <a:lnTo>
                  <a:pt x="992123" y="205739"/>
                </a:lnTo>
                <a:lnTo>
                  <a:pt x="992123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8216" y="2743343"/>
            <a:ext cx="992505" cy="204470"/>
          </a:xfrm>
          <a:custGeom>
            <a:avLst/>
            <a:gdLst/>
            <a:ahLst/>
            <a:cxnLst/>
            <a:rect l="l" t="t" r="r" b="b"/>
            <a:pathLst>
              <a:path w="992505" h="204469">
                <a:moveTo>
                  <a:pt x="0" y="204215"/>
                </a:moveTo>
                <a:lnTo>
                  <a:pt x="992123" y="204215"/>
                </a:lnTo>
                <a:lnTo>
                  <a:pt x="992123" y="0"/>
                </a:lnTo>
                <a:lnTo>
                  <a:pt x="0" y="0"/>
                </a:lnTo>
                <a:lnTo>
                  <a:pt x="0" y="20421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1630" y="1648349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12" y="121489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482" y="1148985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1482" y="1423305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1482" y="1698006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8256" y="257631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8256" y="254060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5284" y="2555891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271" y="0"/>
                </a:lnTo>
                <a:lnTo>
                  <a:pt x="6222" y="1270"/>
                </a:lnTo>
                <a:lnTo>
                  <a:pt x="1269" y="6223"/>
                </a:lnTo>
                <a:lnTo>
                  <a:pt x="0" y="9525"/>
                </a:lnTo>
                <a:lnTo>
                  <a:pt x="0" y="13716"/>
                </a:lnTo>
                <a:lnTo>
                  <a:pt x="3682" y="13716"/>
                </a:lnTo>
                <a:lnTo>
                  <a:pt x="3682" y="10160"/>
                </a:lnTo>
                <a:lnTo>
                  <a:pt x="4571" y="7620"/>
                </a:lnTo>
                <a:lnTo>
                  <a:pt x="8000" y="4064"/>
                </a:lnTo>
                <a:lnTo>
                  <a:pt x="10287" y="3175"/>
                </a:lnTo>
                <a:lnTo>
                  <a:pt x="22732" y="3175"/>
                </a:lnTo>
                <a:lnTo>
                  <a:pt x="19812" y="889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25952" y="2559066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9143" y="2032"/>
                </a:lnTo>
                <a:lnTo>
                  <a:pt x="10794" y="3428"/>
                </a:lnTo>
                <a:lnTo>
                  <a:pt x="11556" y="5334"/>
                </a:lnTo>
                <a:lnTo>
                  <a:pt x="11556" y="10160"/>
                </a:lnTo>
                <a:lnTo>
                  <a:pt x="10794" y="11938"/>
                </a:lnTo>
                <a:lnTo>
                  <a:pt x="7492" y="14732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3"/>
                </a:lnTo>
                <a:lnTo>
                  <a:pt x="10540" y="20955"/>
                </a:lnTo>
                <a:lnTo>
                  <a:pt x="12318" y="22352"/>
                </a:lnTo>
                <a:lnTo>
                  <a:pt x="13103" y="24257"/>
                </a:lnTo>
                <a:lnTo>
                  <a:pt x="13207" y="29845"/>
                </a:lnTo>
                <a:lnTo>
                  <a:pt x="12191" y="32004"/>
                </a:lnTo>
                <a:lnTo>
                  <a:pt x="8000" y="35433"/>
                </a:lnTo>
                <a:lnTo>
                  <a:pt x="5460" y="36322"/>
                </a:lnTo>
                <a:lnTo>
                  <a:pt x="12445" y="36322"/>
                </a:lnTo>
                <a:lnTo>
                  <a:pt x="15493" y="33782"/>
                </a:lnTo>
                <a:lnTo>
                  <a:pt x="16890" y="30734"/>
                </a:lnTo>
                <a:lnTo>
                  <a:pt x="16890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303" y="17145"/>
                </a:lnTo>
                <a:lnTo>
                  <a:pt x="8381" y="16637"/>
                </a:lnTo>
                <a:lnTo>
                  <a:pt x="10540" y="16001"/>
                </a:lnTo>
                <a:lnTo>
                  <a:pt x="12318" y="14859"/>
                </a:lnTo>
                <a:lnTo>
                  <a:pt x="14731" y="11557"/>
                </a:lnTo>
                <a:lnTo>
                  <a:pt x="15366" y="9651"/>
                </a:lnTo>
                <a:lnTo>
                  <a:pt x="15366" y="4064"/>
                </a:lnTo>
                <a:lnTo>
                  <a:pt x="14096" y="1397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14395" y="2584466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683" y="0"/>
                </a:moveTo>
                <a:lnTo>
                  <a:pt x="0" y="0"/>
                </a:lnTo>
                <a:lnTo>
                  <a:pt x="0" y="5333"/>
                </a:lnTo>
                <a:lnTo>
                  <a:pt x="1143" y="8254"/>
                </a:lnTo>
                <a:lnTo>
                  <a:pt x="3810" y="10667"/>
                </a:lnTo>
                <a:lnTo>
                  <a:pt x="6604" y="12953"/>
                </a:lnTo>
                <a:lnTo>
                  <a:pt x="9906" y="14096"/>
                </a:lnTo>
                <a:lnTo>
                  <a:pt x="18288" y="14096"/>
                </a:lnTo>
                <a:lnTo>
                  <a:pt x="21717" y="12953"/>
                </a:lnTo>
                <a:lnTo>
                  <a:pt x="24003" y="10921"/>
                </a:lnTo>
                <a:lnTo>
                  <a:pt x="10921" y="10921"/>
                </a:lnTo>
                <a:lnTo>
                  <a:pt x="8382" y="10032"/>
                </a:lnTo>
                <a:lnTo>
                  <a:pt x="4699" y="6350"/>
                </a:lnTo>
                <a:lnTo>
                  <a:pt x="3683" y="3937"/>
                </a:lnTo>
                <a:lnTo>
                  <a:pt x="36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5637" y="2567194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7" y="0"/>
                </a:moveTo>
                <a:lnTo>
                  <a:pt x="888" y="0"/>
                </a:lnTo>
                <a:lnTo>
                  <a:pt x="11810" y="14605"/>
                </a:lnTo>
                <a:lnTo>
                  <a:pt x="0" y="30480"/>
                </a:lnTo>
                <a:lnTo>
                  <a:pt x="4571" y="30480"/>
                </a:lnTo>
                <a:lnTo>
                  <a:pt x="13969" y="17780"/>
                </a:lnTo>
                <a:lnTo>
                  <a:pt x="18796" y="17780"/>
                </a:lnTo>
                <a:lnTo>
                  <a:pt x="16382" y="14605"/>
                </a:lnTo>
                <a:lnTo>
                  <a:pt x="18668" y="11557"/>
                </a:lnTo>
                <a:lnTo>
                  <a:pt x="14350" y="11557"/>
                </a:lnTo>
                <a:lnTo>
                  <a:pt x="558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59988" y="2567194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8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59607" y="2584974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826" y="0"/>
                </a:moveTo>
                <a:lnTo>
                  <a:pt x="0" y="0"/>
                </a:lnTo>
                <a:lnTo>
                  <a:pt x="9652" y="12700"/>
                </a:lnTo>
                <a:lnTo>
                  <a:pt x="14478" y="12700"/>
                </a:lnTo>
                <a:lnTo>
                  <a:pt x="482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76879" y="2555891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398" y="0"/>
                </a:lnTo>
                <a:lnTo>
                  <a:pt x="6223" y="1270"/>
                </a:lnTo>
                <a:lnTo>
                  <a:pt x="1270" y="6223"/>
                </a:lnTo>
                <a:lnTo>
                  <a:pt x="0" y="9525"/>
                </a:lnTo>
                <a:lnTo>
                  <a:pt x="0" y="13716"/>
                </a:lnTo>
                <a:lnTo>
                  <a:pt x="3809" y="13716"/>
                </a:lnTo>
                <a:lnTo>
                  <a:pt x="3809" y="10160"/>
                </a:lnTo>
                <a:lnTo>
                  <a:pt x="4571" y="7620"/>
                </a:lnTo>
                <a:lnTo>
                  <a:pt x="8128" y="4064"/>
                </a:lnTo>
                <a:lnTo>
                  <a:pt x="10414" y="3175"/>
                </a:lnTo>
                <a:lnTo>
                  <a:pt x="22859" y="3175"/>
                </a:lnTo>
                <a:lnTo>
                  <a:pt x="19812" y="889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87674" y="2559066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7" y="3428"/>
                </a:lnTo>
                <a:lnTo>
                  <a:pt x="11429" y="5334"/>
                </a:lnTo>
                <a:lnTo>
                  <a:pt x="11429" y="10160"/>
                </a:lnTo>
                <a:lnTo>
                  <a:pt x="10667" y="11938"/>
                </a:lnTo>
                <a:lnTo>
                  <a:pt x="7365" y="14732"/>
                </a:lnTo>
                <a:lnTo>
                  <a:pt x="5460" y="15367"/>
                </a:lnTo>
                <a:lnTo>
                  <a:pt x="0" y="15367"/>
                </a:lnTo>
                <a:lnTo>
                  <a:pt x="0" y="18542"/>
                </a:lnTo>
                <a:lnTo>
                  <a:pt x="6095" y="18542"/>
                </a:lnTo>
                <a:lnTo>
                  <a:pt x="8635" y="19303"/>
                </a:lnTo>
                <a:lnTo>
                  <a:pt x="10413" y="20955"/>
                </a:lnTo>
                <a:lnTo>
                  <a:pt x="12191" y="22352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4" y="32004"/>
                </a:lnTo>
                <a:lnTo>
                  <a:pt x="8000" y="35433"/>
                </a:lnTo>
                <a:lnTo>
                  <a:pt x="5460" y="36322"/>
                </a:lnTo>
                <a:lnTo>
                  <a:pt x="12318" y="36322"/>
                </a:lnTo>
                <a:lnTo>
                  <a:pt x="15366" y="33782"/>
                </a:lnTo>
                <a:lnTo>
                  <a:pt x="16763" y="30734"/>
                </a:lnTo>
                <a:lnTo>
                  <a:pt x="16763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175" y="17145"/>
                </a:lnTo>
                <a:lnTo>
                  <a:pt x="8254" y="16637"/>
                </a:lnTo>
                <a:lnTo>
                  <a:pt x="10540" y="16001"/>
                </a:lnTo>
                <a:lnTo>
                  <a:pt x="12191" y="14859"/>
                </a:lnTo>
                <a:lnTo>
                  <a:pt x="14604" y="11557"/>
                </a:lnTo>
                <a:lnTo>
                  <a:pt x="15239" y="9651"/>
                </a:lnTo>
                <a:lnTo>
                  <a:pt x="15239" y="4064"/>
                </a:lnTo>
                <a:lnTo>
                  <a:pt x="13969" y="1397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75956" y="2584466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44" y="0"/>
                </a:moveTo>
                <a:lnTo>
                  <a:pt x="34" y="0"/>
                </a:lnTo>
                <a:lnTo>
                  <a:pt x="0" y="3937"/>
                </a:lnTo>
                <a:lnTo>
                  <a:pt x="10067" y="14096"/>
                </a:lnTo>
                <a:lnTo>
                  <a:pt x="18322" y="14096"/>
                </a:lnTo>
                <a:lnTo>
                  <a:pt x="21751" y="12953"/>
                </a:lnTo>
                <a:lnTo>
                  <a:pt x="24037" y="10921"/>
                </a:lnTo>
                <a:lnTo>
                  <a:pt x="10956" y="10921"/>
                </a:lnTo>
                <a:lnTo>
                  <a:pt x="8416" y="10032"/>
                </a:lnTo>
                <a:lnTo>
                  <a:pt x="4733" y="6350"/>
                </a:lnTo>
                <a:lnTo>
                  <a:pt x="3844" y="3937"/>
                </a:lnTo>
                <a:lnTo>
                  <a:pt x="3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25647" y="2566305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161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3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1"/>
                </a:lnTo>
                <a:lnTo>
                  <a:pt x="23114" y="29082"/>
                </a:lnTo>
                <a:lnTo>
                  <a:pt x="11303" y="29082"/>
                </a:lnTo>
                <a:lnTo>
                  <a:pt x="8636" y="27812"/>
                </a:lnTo>
                <a:lnTo>
                  <a:pt x="6603" y="25400"/>
                </a:lnTo>
                <a:lnTo>
                  <a:pt x="4699" y="22859"/>
                </a:lnTo>
                <a:lnTo>
                  <a:pt x="3809" y="19812"/>
                </a:lnTo>
                <a:lnTo>
                  <a:pt x="3809" y="12446"/>
                </a:lnTo>
                <a:lnTo>
                  <a:pt x="4699" y="9398"/>
                </a:lnTo>
                <a:lnTo>
                  <a:pt x="6603" y="6857"/>
                </a:lnTo>
                <a:lnTo>
                  <a:pt x="8636" y="4445"/>
                </a:lnTo>
                <a:lnTo>
                  <a:pt x="11303" y="3175"/>
                </a:lnTo>
                <a:lnTo>
                  <a:pt x="23494" y="3175"/>
                </a:lnTo>
                <a:lnTo>
                  <a:pt x="20955" y="888"/>
                </a:lnTo>
                <a:lnTo>
                  <a:pt x="1816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42538" y="2569480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603" y="0"/>
                </a:moveTo>
                <a:lnTo>
                  <a:pt x="0" y="0"/>
                </a:lnTo>
                <a:lnTo>
                  <a:pt x="1778" y="634"/>
                </a:lnTo>
                <a:lnTo>
                  <a:pt x="4699" y="3048"/>
                </a:lnTo>
                <a:lnTo>
                  <a:pt x="5715" y="4825"/>
                </a:lnTo>
                <a:lnTo>
                  <a:pt x="6350" y="7365"/>
                </a:lnTo>
                <a:lnTo>
                  <a:pt x="10033" y="7365"/>
                </a:lnTo>
                <a:lnTo>
                  <a:pt x="9652" y="4063"/>
                </a:lnTo>
                <a:lnTo>
                  <a:pt x="8381" y="1397"/>
                </a:lnTo>
                <a:lnTo>
                  <a:pt x="66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42411" y="2586752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3" y="0"/>
                </a:moveTo>
                <a:lnTo>
                  <a:pt x="6730" y="0"/>
                </a:lnTo>
                <a:lnTo>
                  <a:pt x="6350" y="2667"/>
                </a:lnTo>
                <a:lnTo>
                  <a:pt x="5333" y="4699"/>
                </a:lnTo>
                <a:lnTo>
                  <a:pt x="1904" y="7874"/>
                </a:lnTo>
                <a:lnTo>
                  <a:pt x="0" y="8636"/>
                </a:lnTo>
                <a:lnTo>
                  <a:pt x="6350" y="8636"/>
                </a:lnTo>
                <a:lnTo>
                  <a:pt x="8508" y="6731"/>
                </a:lnTo>
                <a:lnTo>
                  <a:pt x="9905" y="3810"/>
                </a:lnTo>
                <a:lnTo>
                  <a:pt x="10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56508" y="2566305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0" y="30733"/>
                </a:lnTo>
                <a:lnTo>
                  <a:pt x="10159" y="32257"/>
                </a:lnTo>
                <a:lnTo>
                  <a:pt x="17525" y="32257"/>
                </a:lnTo>
                <a:lnTo>
                  <a:pt x="20065" y="31495"/>
                </a:lnTo>
                <a:lnTo>
                  <a:pt x="22351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59"/>
                </a:lnTo>
                <a:lnTo>
                  <a:pt x="3809" y="19812"/>
                </a:lnTo>
                <a:lnTo>
                  <a:pt x="3809" y="12446"/>
                </a:lnTo>
                <a:lnTo>
                  <a:pt x="4698" y="9398"/>
                </a:lnTo>
                <a:lnTo>
                  <a:pt x="8635" y="4445"/>
                </a:lnTo>
                <a:lnTo>
                  <a:pt x="11175" y="3175"/>
                </a:lnTo>
                <a:lnTo>
                  <a:pt x="23875" y="3175"/>
                </a:lnTo>
                <a:lnTo>
                  <a:pt x="22351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74288" y="2569480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540" y="1270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7"/>
                </a:lnTo>
                <a:lnTo>
                  <a:pt x="6477" y="19557"/>
                </a:lnTo>
                <a:lnTo>
                  <a:pt x="2540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6858" y="25400"/>
                </a:lnTo>
                <a:lnTo>
                  <a:pt x="8509" y="23367"/>
                </a:lnTo>
                <a:lnTo>
                  <a:pt x="9525" y="20954"/>
                </a:lnTo>
                <a:lnTo>
                  <a:pt x="10668" y="18414"/>
                </a:lnTo>
                <a:lnTo>
                  <a:pt x="11303" y="15748"/>
                </a:lnTo>
                <a:lnTo>
                  <a:pt x="11303" y="8254"/>
                </a:lnTo>
                <a:lnTo>
                  <a:pt x="9906" y="4445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94862" y="2566305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843" y="0"/>
                </a:moveTo>
                <a:lnTo>
                  <a:pt x="7619" y="0"/>
                </a:lnTo>
                <a:lnTo>
                  <a:pt x="5587" y="634"/>
                </a:lnTo>
                <a:lnTo>
                  <a:pt x="2031" y="2921"/>
                </a:lnTo>
                <a:lnTo>
                  <a:pt x="762" y="4318"/>
                </a:lnTo>
                <a:lnTo>
                  <a:pt x="0" y="6096"/>
                </a:lnTo>
                <a:lnTo>
                  <a:pt x="2412" y="6096"/>
                </a:lnTo>
                <a:lnTo>
                  <a:pt x="2793" y="5587"/>
                </a:lnTo>
                <a:lnTo>
                  <a:pt x="4190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668" y="3175"/>
                </a:lnTo>
                <a:lnTo>
                  <a:pt x="16637" y="888"/>
                </a:lnTo>
                <a:lnTo>
                  <a:pt x="1384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91052" y="2567194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698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07054" y="2569480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1"/>
                </a:lnTo>
                <a:lnTo>
                  <a:pt x="4445" y="3809"/>
                </a:lnTo>
                <a:lnTo>
                  <a:pt x="5207" y="5969"/>
                </a:lnTo>
                <a:lnTo>
                  <a:pt x="5207" y="28193"/>
                </a:lnTo>
                <a:lnTo>
                  <a:pt x="8890" y="28193"/>
                </a:lnTo>
                <a:lnTo>
                  <a:pt x="8890" y="4445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19500" y="2567194"/>
            <a:ext cx="17780" cy="30480"/>
          </a:xfrm>
          <a:custGeom>
            <a:avLst/>
            <a:gdLst/>
            <a:ahLst/>
            <a:cxnLst/>
            <a:rect l="l" t="t" r="r" b="b"/>
            <a:pathLst>
              <a:path w="17780" h="30480">
                <a:moveTo>
                  <a:pt x="4190" y="0"/>
                </a:moveTo>
                <a:lnTo>
                  <a:pt x="0" y="0"/>
                </a:lnTo>
                <a:lnTo>
                  <a:pt x="11937" y="30480"/>
                </a:lnTo>
                <a:lnTo>
                  <a:pt x="15875" y="30480"/>
                </a:lnTo>
                <a:lnTo>
                  <a:pt x="17271" y="26670"/>
                </a:lnTo>
                <a:lnTo>
                  <a:pt x="13843" y="26670"/>
                </a:lnTo>
                <a:lnTo>
                  <a:pt x="419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33470" y="2567194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52393" y="2591451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3" y="0"/>
                </a:moveTo>
                <a:lnTo>
                  <a:pt x="381" y="0"/>
                </a:lnTo>
                <a:lnTo>
                  <a:pt x="381" y="6223"/>
                </a:lnTo>
                <a:lnTo>
                  <a:pt x="2793" y="6223"/>
                </a:lnTo>
                <a:lnTo>
                  <a:pt x="2681" y="8128"/>
                </a:lnTo>
                <a:lnTo>
                  <a:pt x="2540" y="8762"/>
                </a:lnTo>
                <a:lnTo>
                  <a:pt x="1975" y="9779"/>
                </a:lnTo>
                <a:lnTo>
                  <a:pt x="1523" y="10795"/>
                </a:lnTo>
                <a:lnTo>
                  <a:pt x="888" y="11430"/>
                </a:lnTo>
                <a:lnTo>
                  <a:pt x="0" y="11811"/>
                </a:lnTo>
                <a:lnTo>
                  <a:pt x="0" y="14350"/>
                </a:lnTo>
                <a:lnTo>
                  <a:pt x="1778" y="13843"/>
                </a:lnTo>
                <a:lnTo>
                  <a:pt x="3047" y="12827"/>
                </a:lnTo>
                <a:lnTo>
                  <a:pt x="4825" y="9779"/>
                </a:lnTo>
                <a:lnTo>
                  <a:pt x="5333" y="8128"/>
                </a:lnTo>
                <a:lnTo>
                  <a:pt x="53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85794" y="2556272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40" h="41910">
                <a:moveTo>
                  <a:pt x="14731" y="0"/>
                </a:moveTo>
                <a:lnTo>
                  <a:pt x="11556" y="0"/>
                </a:lnTo>
                <a:lnTo>
                  <a:pt x="11303" y="2031"/>
                </a:lnTo>
                <a:lnTo>
                  <a:pt x="10794" y="3555"/>
                </a:lnTo>
                <a:lnTo>
                  <a:pt x="10160" y="4698"/>
                </a:lnTo>
                <a:lnTo>
                  <a:pt x="9398" y="5841"/>
                </a:lnTo>
                <a:lnTo>
                  <a:pt x="8381" y="6603"/>
                </a:lnTo>
                <a:lnTo>
                  <a:pt x="6985" y="7111"/>
                </a:lnTo>
                <a:lnTo>
                  <a:pt x="5714" y="7619"/>
                </a:lnTo>
                <a:lnTo>
                  <a:pt x="3301" y="8000"/>
                </a:lnTo>
                <a:lnTo>
                  <a:pt x="0" y="8000"/>
                </a:lnTo>
                <a:lnTo>
                  <a:pt x="0" y="10667"/>
                </a:lnTo>
                <a:lnTo>
                  <a:pt x="10922" y="10667"/>
                </a:lnTo>
                <a:lnTo>
                  <a:pt x="10922" y="41401"/>
                </a:lnTo>
                <a:lnTo>
                  <a:pt x="14731" y="41401"/>
                </a:lnTo>
                <a:lnTo>
                  <a:pt x="14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16274" y="2555891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4" y="0"/>
                </a:moveTo>
                <a:lnTo>
                  <a:pt x="8889" y="0"/>
                </a:lnTo>
                <a:lnTo>
                  <a:pt x="5714" y="1270"/>
                </a:lnTo>
                <a:lnTo>
                  <a:pt x="3301" y="3810"/>
                </a:lnTo>
                <a:lnTo>
                  <a:pt x="1015" y="6476"/>
                </a:lnTo>
                <a:lnTo>
                  <a:pt x="0" y="9906"/>
                </a:lnTo>
                <a:lnTo>
                  <a:pt x="0" y="14732"/>
                </a:lnTo>
                <a:lnTo>
                  <a:pt x="3682" y="14732"/>
                </a:lnTo>
                <a:lnTo>
                  <a:pt x="3809" y="10541"/>
                </a:lnTo>
                <a:lnTo>
                  <a:pt x="4571" y="7874"/>
                </a:lnTo>
                <a:lnTo>
                  <a:pt x="7874" y="4064"/>
                </a:lnTo>
                <a:lnTo>
                  <a:pt x="10159" y="3175"/>
                </a:lnTo>
                <a:lnTo>
                  <a:pt x="22606" y="3175"/>
                </a:lnTo>
                <a:lnTo>
                  <a:pt x="20193" y="1016"/>
                </a:lnTo>
                <a:lnTo>
                  <a:pt x="171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15258" y="2559066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2" y="0"/>
                </a:moveTo>
                <a:lnTo>
                  <a:pt x="16764" y="0"/>
                </a:lnTo>
                <a:lnTo>
                  <a:pt x="19050" y="762"/>
                </a:lnTo>
                <a:lnTo>
                  <a:pt x="22479" y="3937"/>
                </a:lnTo>
                <a:lnTo>
                  <a:pt x="23368" y="5969"/>
                </a:lnTo>
                <a:lnTo>
                  <a:pt x="23368" y="11049"/>
                </a:lnTo>
                <a:lnTo>
                  <a:pt x="22479" y="13335"/>
                </a:lnTo>
                <a:lnTo>
                  <a:pt x="20828" y="15240"/>
                </a:lnTo>
                <a:lnTo>
                  <a:pt x="19304" y="17145"/>
                </a:lnTo>
                <a:lnTo>
                  <a:pt x="16256" y="19558"/>
                </a:lnTo>
                <a:lnTo>
                  <a:pt x="0" y="35560"/>
                </a:lnTo>
                <a:lnTo>
                  <a:pt x="0" y="38608"/>
                </a:lnTo>
                <a:lnTo>
                  <a:pt x="27305" y="38608"/>
                </a:lnTo>
                <a:lnTo>
                  <a:pt x="27305" y="35179"/>
                </a:lnTo>
                <a:lnTo>
                  <a:pt x="4191" y="35179"/>
                </a:lnTo>
                <a:lnTo>
                  <a:pt x="4444" y="33528"/>
                </a:lnTo>
                <a:lnTo>
                  <a:pt x="5461" y="32004"/>
                </a:lnTo>
                <a:lnTo>
                  <a:pt x="8509" y="28702"/>
                </a:lnTo>
                <a:lnTo>
                  <a:pt x="11049" y="26670"/>
                </a:lnTo>
                <a:lnTo>
                  <a:pt x="19558" y="21590"/>
                </a:lnTo>
                <a:lnTo>
                  <a:pt x="22733" y="18923"/>
                </a:lnTo>
                <a:lnTo>
                  <a:pt x="24511" y="16510"/>
                </a:lnTo>
                <a:lnTo>
                  <a:pt x="26289" y="13970"/>
                </a:lnTo>
                <a:lnTo>
                  <a:pt x="27050" y="11557"/>
                </a:lnTo>
                <a:lnTo>
                  <a:pt x="27178" y="4952"/>
                </a:lnTo>
                <a:lnTo>
                  <a:pt x="25908" y="2159"/>
                </a:lnTo>
                <a:lnTo>
                  <a:pt x="236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48278" y="2555891"/>
            <a:ext cx="24765" cy="43180"/>
          </a:xfrm>
          <a:custGeom>
            <a:avLst/>
            <a:gdLst/>
            <a:ahLst/>
            <a:cxnLst/>
            <a:rect l="l" t="t" r="r" b="b"/>
            <a:pathLst>
              <a:path w="24765" h="43180">
                <a:moveTo>
                  <a:pt x="17780" y="0"/>
                </a:moveTo>
                <a:lnTo>
                  <a:pt x="10668" y="0"/>
                </a:lnTo>
                <a:lnTo>
                  <a:pt x="7747" y="1016"/>
                </a:lnTo>
                <a:lnTo>
                  <a:pt x="2921" y="4699"/>
                </a:lnTo>
                <a:lnTo>
                  <a:pt x="1651" y="7239"/>
                </a:lnTo>
                <a:lnTo>
                  <a:pt x="8509" y="19558"/>
                </a:lnTo>
                <a:lnTo>
                  <a:pt x="5715" y="20193"/>
                </a:lnTo>
                <a:lnTo>
                  <a:pt x="3683" y="21463"/>
                </a:lnTo>
                <a:lnTo>
                  <a:pt x="762" y="25527"/>
                </a:lnTo>
                <a:lnTo>
                  <a:pt x="127" y="27559"/>
                </a:lnTo>
                <a:lnTo>
                  <a:pt x="0" y="34163"/>
                </a:lnTo>
                <a:lnTo>
                  <a:pt x="1270" y="37084"/>
                </a:lnTo>
                <a:lnTo>
                  <a:pt x="6604" y="41529"/>
                </a:lnTo>
                <a:lnTo>
                  <a:pt x="10033" y="42672"/>
                </a:lnTo>
                <a:lnTo>
                  <a:pt x="18542" y="42672"/>
                </a:lnTo>
                <a:lnTo>
                  <a:pt x="22098" y="41656"/>
                </a:lnTo>
                <a:lnTo>
                  <a:pt x="24511" y="39497"/>
                </a:lnTo>
                <a:lnTo>
                  <a:pt x="11176" y="39497"/>
                </a:lnTo>
                <a:lnTo>
                  <a:pt x="8636" y="38735"/>
                </a:lnTo>
                <a:lnTo>
                  <a:pt x="4699" y="35433"/>
                </a:lnTo>
                <a:lnTo>
                  <a:pt x="3810" y="33147"/>
                </a:lnTo>
                <a:lnTo>
                  <a:pt x="3810" y="27432"/>
                </a:lnTo>
                <a:lnTo>
                  <a:pt x="4699" y="25273"/>
                </a:lnTo>
                <a:lnTo>
                  <a:pt x="6477" y="23622"/>
                </a:lnTo>
                <a:lnTo>
                  <a:pt x="8382" y="21971"/>
                </a:lnTo>
                <a:lnTo>
                  <a:pt x="10922" y="21209"/>
                </a:lnTo>
                <a:lnTo>
                  <a:pt x="24638" y="21209"/>
                </a:lnTo>
                <a:lnTo>
                  <a:pt x="22860" y="20193"/>
                </a:lnTo>
                <a:lnTo>
                  <a:pt x="20066" y="19558"/>
                </a:lnTo>
                <a:lnTo>
                  <a:pt x="22352" y="18796"/>
                </a:lnTo>
                <a:lnTo>
                  <a:pt x="23368" y="18161"/>
                </a:lnTo>
                <a:lnTo>
                  <a:pt x="11430" y="18161"/>
                </a:lnTo>
                <a:lnTo>
                  <a:pt x="9398" y="17399"/>
                </a:lnTo>
                <a:lnTo>
                  <a:pt x="6223" y="14604"/>
                </a:lnTo>
                <a:lnTo>
                  <a:pt x="5334" y="12826"/>
                </a:lnTo>
                <a:lnTo>
                  <a:pt x="5461" y="8127"/>
                </a:lnTo>
                <a:lnTo>
                  <a:pt x="6223" y="6476"/>
                </a:lnTo>
                <a:lnTo>
                  <a:pt x="9652" y="3810"/>
                </a:lnTo>
                <a:lnTo>
                  <a:pt x="11811" y="3175"/>
                </a:lnTo>
                <a:lnTo>
                  <a:pt x="23749" y="3175"/>
                </a:lnTo>
                <a:lnTo>
                  <a:pt x="20828" y="1016"/>
                </a:lnTo>
                <a:lnTo>
                  <a:pt x="1778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65296" y="2559066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59" h="15239">
                <a:moveTo>
                  <a:pt x="6731" y="0"/>
                </a:moveTo>
                <a:lnTo>
                  <a:pt x="0" y="0"/>
                </a:lnTo>
                <a:lnTo>
                  <a:pt x="2159" y="635"/>
                </a:lnTo>
                <a:lnTo>
                  <a:pt x="3810" y="2032"/>
                </a:lnTo>
                <a:lnTo>
                  <a:pt x="5334" y="3175"/>
                </a:lnTo>
                <a:lnTo>
                  <a:pt x="6223" y="4952"/>
                </a:lnTo>
                <a:lnTo>
                  <a:pt x="6096" y="9651"/>
                </a:lnTo>
                <a:lnTo>
                  <a:pt x="5461" y="11429"/>
                </a:lnTo>
                <a:lnTo>
                  <a:pt x="2412" y="14224"/>
                </a:lnTo>
                <a:lnTo>
                  <a:pt x="127" y="14986"/>
                </a:lnTo>
                <a:lnTo>
                  <a:pt x="6350" y="14986"/>
                </a:lnTo>
                <a:lnTo>
                  <a:pt x="6985" y="14604"/>
                </a:lnTo>
                <a:lnTo>
                  <a:pt x="8128" y="12953"/>
                </a:lnTo>
                <a:lnTo>
                  <a:pt x="9398" y="11302"/>
                </a:lnTo>
                <a:lnTo>
                  <a:pt x="9906" y="9651"/>
                </a:lnTo>
                <a:lnTo>
                  <a:pt x="9906" y="4064"/>
                </a:lnTo>
                <a:lnTo>
                  <a:pt x="8762" y="1524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65804" y="2577100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7112" y="0"/>
                </a:moveTo>
                <a:lnTo>
                  <a:pt x="126" y="0"/>
                </a:lnTo>
                <a:lnTo>
                  <a:pt x="2666" y="888"/>
                </a:lnTo>
                <a:lnTo>
                  <a:pt x="6476" y="4190"/>
                </a:lnTo>
                <a:lnTo>
                  <a:pt x="7365" y="6222"/>
                </a:lnTo>
                <a:lnTo>
                  <a:pt x="7365" y="11937"/>
                </a:lnTo>
                <a:lnTo>
                  <a:pt x="6350" y="14223"/>
                </a:lnTo>
                <a:lnTo>
                  <a:pt x="4444" y="15874"/>
                </a:lnTo>
                <a:lnTo>
                  <a:pt x="2666" y="17525"/>
                </a:lnTo>
                <a:lnTo>
                  <a:pt x="0" y="18287"/>
                </a:lnTo>
                <a:lnTo>
                  <a:pt x="6984" y="18287"/>
                </a:lnTo>
                <a:lnTo>
                  <a:pt x="9778" y="16001"/>
                </a:lnTo>
                <a:lnTo>
                  <a:pt x="11175" y="12953"/>
                </a:lnTo>
                <a:lnTo>
                  <a:pt x="11175" y="6222"/>
                </a:lnTo>
                <a:lnTo>
                  <a:pt x="10413" y="3936"/>
                </a:lnTo>
                <a:lnTo>
                  <a:pt x="7493" y="253"/>
                </a:lnTo>
                <a:lnTo>
                  <a:pt x="7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18256" y="268223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18256" y="264576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42284" y="2662571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13493" y="2747685"/>
            <a:ext cx="563917" cy="187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18256" y="30007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8256" y="29642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36188" y="2981087"/>
            <a:ext cx="121919" cy="53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3493" y="2429169"/>
            <a:ext cx="563917" cy="82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8256" y="236372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8256" y="232725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42284" y="2344055"/>
            <a:ext cx="106680" cy="42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50032" y="2110653"/>
            <a:ext cx="827379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84068" y="2061861"/>
            <a:ext cx="1026794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conv3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2700" marR="730250">
              <a:lnSpc>
                <a:spcPts val="2770"/>
              </a:lnSpc>
              <a:spcBef>
                <a:spcPts val="31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v2  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50032" y="2884567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1"/>
                </a:lnTo>
                <a:lnTo>
                  <a:pt x="1396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6"/>
                </a:lnTo>
                <a:lnTo>
                  <a:pt x="7200" y="30987"/>
                </a:lnTo>
                <a:lnTo>
                  <a:pt x="10909" y="32384"/>
                </a:lnTo>
                <a:lnTo>
                  <a:pt x="19545" y="32384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2"/>
                </a:lnTo>
                <a:lnTo>
                  <a:pt x="10248" y="23494"/>
                </a:lnTo>
                <a:lnTo>
                  <a:pt x="9055" y="21716"/>
                </a:lnTo>
                <a:lnTo>
                  <a:pt x="8458" y="19303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79"/>
                </a:lnTo>
                <a:lnTo>
                  <a:pt x="22961" y="1015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67443" y="2890917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6"/>
                </a:lnTo>
                <a:lnTo>
                  <a:pt x="3454" y="2286"/>
                </a:lnTo>
                <a:lnTo>
                  <a:pt x="4114" y="3555"/>
                </a:lnTo>
                <a:lnTo>
                  <a:pt x="4381" y="5333"/>
                </a:lnTo>
                <a:lnTo>
                  <a:pt x="12649" y="5333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67316" y="2904379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5"/>
                </a:lnTo>
                <a:lnTo>
                  <a:pt x="1498" y="5841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84144" y="2884567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6"/>
                </a:lnTo>
                <a:lnTo>
                  <a:pt x="1435" y="7492"/>
                </a:lnTo>
                <a:lnTo>
                  <a:pt x="0" y="11429"/>
                </a:lnTo>
                <a:lnTo>
                  <a:pt x="25" y="21208"/>
                </a:lnTo>
                <a:lnTo>
                  <a:pt x="1435" y="25018"/>
                </a:lnTo>
                <a:lnTo>
                  <a:pt x="4292" y="28066"/>
                </a:lnTo>
                <a:lnTo>
                  <a:pt x="7200" y="30987"/>
                </a:lnTo>
                <a:lnTo>
                  <a:pt x="11061" y="32384"/>
                </a:lnTo>
                <a:lnTo>
                  <a:pt x="20612" y="32384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2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3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6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02368" y="2890917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6"/>
                </a:lnTo>
                <a:lnTo>
                  <a:pt x="4444" y="4444"/>
                </a:lnTo>
                <a:lnTo>
                  <a:pt x="5003" y="6603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2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8"/>
                </a:lnTo>
                <a:lnTo>
                  <a:pt x="13538" y="5079"/>
                </a:lnTo>
                <a:lnTo>
                  <a:pt x="12064" y="1142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29610" y="2884567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0"/>
                </a:lnTo>
                <a:lnTo>
                  <a:pt x="3975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79"/>
                </a:lnTo>
                <a:lnTo>
                  <a:pt x="19735" y="5079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21342" y="2885329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0"/>
                </a:lnTo>
                <a:lnTo>
                  <a:pt x="8458" y="30860"/>
                </a:lnTo>
                <a:lnTo>
                  <a:pt x="8458" y="11556"/>
                </a:lnTo>
                <a:lnTo>
                  <a:pt x="8953" y="9397"/>
                </a:lnTo>
                <a:lnTo>
                  <a:pt x="9956" y="8000"/>
                </a:lnTo>
                <a:lnTo>
                  <a:pt x="11010" y="6603"/>
                </a:lnTo>
                <a:lnTo>
                  <a:pt x="12712" y="5841"/>
                </a:lnTo>
                <a:lnTo>
                  <a:pt x="28460" y="5841"/>
                </a:lnTo>
                <a:lnTo>
                  <a:pt x="28003" y="4317"/>
                </a:lnTo>
                <a:lnTo>
                  <a:pt x="8064" y="4317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38297" y="2891171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5"/>
                </a:lnTo>
                <a:lnTo>
                  <a:pt x="2159" y="1904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53676" y="2885329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0"/>
                </a:lnTo>
                <a:lnTo>
                  <a:pt x="19913" y="30860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69107" y="2885329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88665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29" y="7619"/>
                </a:lnTo>
                <a:lnTo>
                  <a:pt x="3975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20516" y="2896289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45904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42" y="7619"/>
                </a:lnTo>
                <a:lnTo>
                  <a:pt x="3987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50032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6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0871" y="33020"/>
                </a:lnTo>
                <a:lnTo>
                  <a:pt x="19469" y="33020"/>
                </a:lnTo>
                <a:lnTo>
                  <a:pt x="22809" y="31876"/>
                </a:lnTo>
                <a:lnTo>
                  <a:pt x="28028" y="27559"/>
                </a:lnTo>
                <a:lnTo>
                  <a:pt x="28486" y="26670"/>
                </a:lnTo>
                <a:lnTo>
                  <a:pt x="13182" y="26670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7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67380" y="2789825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67240" y="2803541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1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84017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20"/>
                </a:lnTo>
                <a:lnTo>
                  <a:pt x="0" y="11684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1010" y="33020"/>
                </a:lnTo>
                <a:lnTo>
                  <a:pt x="20523" y="33020"/>
                </a:lnTo>
                <a:lnTo>
                  <a:pt x="24358" y="31496"/>
                </a:lnTo>
                <a:lnTo>
                  <a:pt x="29146" y="26670"/>
                </a:lnTo>
                <a:lnTo>
                  <a:pt x="13512" y="26670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8"/>
                </a:lnTo>
                <a:lnTo>
                  <a:pt x="9093" y="10668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02165" y="2789825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4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7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29292" y="2783348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7"/>
                </a:lnTo>
                <a:lnTo>
                  <a:pt x="19659" y="5207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21063" y="2784237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9"/>
                </a:lnTo>
                <a:lnTo>
                  <a:pt x="8432" y="31369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9"/>
                </a:lnTo>
                <a:lnTo>
                  <a:pt x="28346" y="5969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37954" y="2790206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4"/>
                </a:lnTo>
                <a:lnTo>
                  <a:pt x="3009" y="3048"/>
                </a:lnTo>
                <a:lnTo>
                  <a:pt x="3428" y="4952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53270" y="278423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9"/>
                </a:lnTo>
                <a:lnTo>
                  <a:pt x="19837" y="31369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68637" y="2784237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88119" y="2773061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4"/>
                </a:lnTo>
                <a:lnTo>
                  <a:pt x="10515" y="4952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5"/>
                </a:lnTo>
                <a:lnTo>
                  <a:pt x="18834" y="42545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19843" y="2795341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42957" y="2772299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5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5"/>
                </a:lnTo>
                <a:lnTo>
                  <a:pt x="8026" y="17145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3"/>
                </a:lnTo>
                <a:lnTo>
                  <a:pt x="10934" y="8255"/>
                </a:lnTo>
                <a:lnTo>
                  <a:pt x="12560" y="7365"/>
                </a:lnTo>
                <a:lnTo>
                  <a:pt x="28422" y="7365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70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068" y="2779665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5"/>
                </a:lnTo>
                <a:lnTo>
                  <a:pt x="21145" y="3048"/>
                </a:lnTo>
                <a:lnTo>
                  <a:pt x="21716" y="4699"/>
                </a:lnTo>
                <a:lnTo>
                  <a:pt x="21716" y="8128"/>
                </a:lnTo>
                <a:lnTo>
                  <a:pt x="16065" y="14859"/>
                </a:lnTo>
                <a:lnTo>
                  <a:pt x="0" y="33147"/>
                </a:lnTo>
                <a:lnTo>
                  <a:pt x="0" y="35941"/>
                </a:lnTo>
                <a:lnTo>
                  <a:pt x="30340" y="35941"/>
                </a:lnTo>
                <a:lnTo>
                  <a:pt x="30340" y="28448"/>
                </a:lnTo>
                <a:lnTo>
                  <a:pt x="10807" y="28448"/>
                </a:lnTo>
                <a:lnTo>
                  <a:pt x="11531" y="27432"/>
                </a:lnTo>
                <a:lnTo>
                  <a:pt x="12496" y="26289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7"/>
                </a:lnTo>
                <a:lnTo>
                  <a:pt x="24256" y="17780"/>
                </a:lnTo>
                <a:lnTo>
                  <a:pt x="26898" y="15367"/>
                </a:lnTo>
                <a:lnTo>
                  <a:pt x="28155" y="13208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2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50032" y="2467499"/>
            <a:ext cx="222377" cy="1446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18256" y="19438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18256" y="1908147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042284" y="1923431"/>
            <a:ext cx="106680" cy="44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13493" y="1578777"/>
            <a:ext cx="563917" cy="189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18256" y="15148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18256" y="14783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042284" y="1495187"/>
            <a:ext cx="106680" cy="42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3493" y="1155106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18256" y="10896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18256" y="105318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042284" y="1069991"/>
            <a:ext cx="106680" cy="426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3493" y="624754"/>
            <a:ext cx="563917" cy="3994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50032" y="1175147"/>
            <a:ext cx="830427" cy="27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50032" y="1603391"/>
            <a:ext cx="827379" cy="2757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17088" y="963311"/>
            <a:ext cx="85343" cy="426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17088" y="862727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17088" y="760619"/>
            <a:ext cx="86868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812160" y="204368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818256" y="20133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909188" y="2024015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271" y="0"/>
                </a:lnTo>
                <a:lnTo>
                  <a:pt x="6223" y="1270"/>
                </a:lnTo>
                <a:lnTo>
                  <a:pt x="1270" y="6223"/>
                </a:lnTo>
                <a:lnTo>
                  <a:pt x="0" y="9525"/>
                </a:lnTo>
                <a:lnTo>
                  <a:pt x="0" y="13716"/>
                </a:lnTo>
                <a:lnTo>
                  <a:pt x="3683" y="13716"/>
                </a:lnTo>
                <a:lnTo>
                  <a:pt x="3683" y="10160"/>
                </a:lnTo>
                <a:lnTo>
                  <a:pt x="4571" y="7620"/>
                </a:lnTo>
                <a:lnTo>
                  <a:pt x="8000" y="4064"/>
                </a:lnTo>
                <a:lnTo>
                  <a:pt x="10287" y="3175"/>
                </a:lnTo>
                <a:lnTo>
                  <a:pt x="22733" y="3175"/>
                </a:lnTo>
                <a:lnTo>
                  <a:pt x="19812" y="889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919856" y="2027190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5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8" y="3428"/>
                </a:lnTo>
                <a:lnTo>
                  <a:pt x="11556" y="5334"/>
                </a:lnTo>
                <a:lnTo>
                  <a:pt x="11556" y="10160"/>
                </a:lnTo>
                <a:lnTo>
                  <a:pt x="10668" y="11938"/>
                </a:lnTo>
                <a:lnTo>
                  <a:pt x="7493" y="14732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3"/>
                </a:lnTo>
                <a:lnTo>
                  <a:pt x="10413" y="20954"/>
                </a:lnTo>
                <a:lnTo>
                  <a:pt x="12191" y="22351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5" y="32003"/>
                </a:lnTo>
                <a:lnTo>
                  <a:pt x="8000" y="35433"/>
                </a:lnTo>
                <a:lnTo>
                  <a:pt x="5460" y="36322"/>
                </a:lnTo>
                <a:lnTo>
                  <a:pt x="12446" y="36322"/>
                </a:lnTo>
                <a:lnTo>
                  <a:pt x="15493" y="33782"/>
                </a:lnTo>
                <a:lnTo>
                  <a:pt x="16763" y="30734"/>
                </a:lnTo>
                <a:lnTo>
                  <a:pt x="16763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175" y="17145"/>
                </a:lnTo>
                <a:lnTo>
                  <a:pt x="8381" y="16637"/>
                </a:lnTo>
                <a:lnTo>
                  <a:pt x="10540" y="16001"/>
                </a:lnTo>
                <a:lnTo>
                  <a:pt x="12191" y="14859"/>
                </a:lnTo>
                <a:lnTo>
                  <a:pt x="14731" y="11557"/>
                </a:lnTo>
                <a:lnTo>
                  <a:pt x="15366" y="9651"/>
                </a:lnTo>
                <a:lnTo>
                  <a:pt x="15366" y="4064"/>
                </a:lnTo>
                <a:lnTo>
                  <a:pt x="14096" y="1397"/>
                </a:lnTo>
                <a:lnTo>
                  <a:pt x="120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08265" y="2052590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717" y="0"/>
                </a:moveTo>
                <a:lnTo>
                  <a:pt x="34" y="0"/>
                </a:lnTo>
                <a:lnTo>
                  <a:pt x="0" y="3937"/>
                </a:lnTo>
                <a:lnTo>
                  <a:pt x="9940" y="14097"/>
                </a:lnTo>
                <a:lnTo>
                  <a:pt x="18322" y="14097"/>
                </a:lnTo>
                <a:lnTo>
                  <a:pt x="21624" y="12953"/>
                </a:lnTo>
                <a:lnTo>
                  <a:pt x="24037" y="10922"/>
                </a:lnTo>
                <a:lnTo>
                  <a:pt x="10956" y="10922"/>
                </a:lnTo>
                <a:lnTo>
                  <a:pt x="8416" y="10033"/>
                </a:lnTo>
                <a:lnTo>
                  <a:pt x="4733" y="6350"/>
                </a:lnTo>
                <a:lnTo>
                  <a:pt x="3717" y="3937"/>
                </a:lnTo>
                <a:lnTo>
                  <a:pt x="371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39414" y="2035318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8" y="0"/>
                </a:moveTo>
                <a:lnTo>
                  <a:pt x="889" y="0"/>
                </a:lnTo>
                <a:lnTo>
                  <a:pt x="11938" y="14605"/>
                </a:lnTo>
                <a:lnTo>
                  <a:pt x="0" y="30480"/>
                </a:lnTo>
                <a:lnTo>
                  <a:pt x="4572" y="30480"/>
                </a:lnTo>
                <a:lnTo>
                  <a:pt x="14097" y="17780"/>
                </a:lnTo>
                <a:lnTo>
                  <a:pt x="18796" y="17780"/>
                </a:lnTo>
                <a:lnTo>
                  <a:pt x="16510" y="14605"/>
                </a:lnTo>
                <a:lnTo>
                  <a:pt x="18669" y="11557"/>
                </a:lnTo>
                <a:lnTo>
                  <a:pt x="14351" y="11557"/>
                </a:lnTo>
                <a:lnTo>
                  <a:pt x="558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53765" y="2035318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7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53511" y="2053098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698" y="0"/>
                </a:moveTo>
                <a:lnTo>
                  <a:pt x="0" y="0"/>
                </a:lnTo>
                <a:lnTo>
                  <a:pt x="9651" y="12700"/>
                </a:lnTo>
                <a:lnTo>
                  <a:pt x="14350" y="12700"/>
                </a:lnTo>
                <a:lnTo>
                  <a:pt x="469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70656" y="2024015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397" y="0"/>
                </a:lnTo>
                <a:lnTo>
                  <a:pt x="6222" y="1270"/>
                </a:lnTo>
                <a:lnTo>
                  <a:pt x="1396" y="6223"/>
                </a:lnTo>
                <a:lnTo>
                  <a:pt x="127" y="9525"/>
                </a:lnTo>
                <a:lnTo>
                  <a:pt x="0" y="13716"/>
                </a:lnTo>
                <a:lnTo>
                  <a:pt x="3809" y="13716"/>
                </a:lnTo>
                <a:lnTo>
                  <a:pt x="3809" y="10160"/>
                </a:lnTo>
                <a:lnTo>
                  <a:pt x="4699" y="7620"/>
                </a:lnTo>
                <a:lnTo>
                  <a:pt x="8128" y="4064"/>
                </a:lnTo>
                <a:lnTo>
                  <a:pt x="10413" y="3175"/>
                </a:lnTo>
                <a:lnTo>
                  <a:pt x="22859" y="3175"/>
                </a:lnTo>
                <a:lnTo>
                  <a:pt x="19812" y="889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81451" y="2027190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5" y="0"/>
                </a:moveTo>
                <a:lnTo>
                  <a:pt x="5207" y="0"/>
                </a:lnTo>
                <a:lnTo>
                  <a:pt x="7365" y="635"/>
                </a:lnTo>
                <a:lnTo>
                  <a:pt x="10668" y="3428"/>
                </a:lnTo>
                <a:lnTo>
                  <a:pt x="11557" y="5334"/>
                </a:lnTo>
                <a:lnTo>
                  <a:pt x="11557" y="10160"/>
                </a:lnTo>
                <a:lnTo>
                  <a:pt x="10668" y="11938"/>
                </a:lnTo>
                <a:lnTo>
                  <a:pt x="7493" y="14732"/>
                </a:lnTo>
                <a:lnTo>
                  <a:pt x="5461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3" y="18542"/>
                </a:lnTo>
                <a:lnTo>
                  <a:pt x="8636" y="19303"/>
                </a:lnTo>
                <a:lnTo>
                  <a:pt x="10414" y="20954"/>
                </a:lnTo>
                <a:lnTo>
                  <a:pt x="12192" y="22351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5" y="32003"/>
                </a:lnTo>
                <a:lnTo>
                  <a:pt x="8001" y="35433"/>
                </a:lnTo>
                <a:lnTo>
                  <a:pt x="5461" y="36322"/>
                </a:lnTo>
                <a:lnTo>
                  <a:pt x="12318" y="36322"/>
                </a:lnTo>
                <a:lnTo>
                  <a:pt x="15367" y="33782"/>
                </a:lnTo>
                <a:lnTo>
                  <a:pt x="16764" y="30734"/>
                </a:lnTo>
                <a:lnTo>
                  <a:pt x="16764" y="24257"/>
                </a:lnTo>
                <a:lnTo>
                  <a:pt x="16129" y="22098"/>
                </a:lnTo>
                <a:lnTo>
                  <a:pt x="13335" y="18415"/>
                </a:lnTo>
                <a:lnTo>
                  <a:pt x="11176" y="17145"/>
                </a:lnTo>
                <a:lnTo>
                  <a:pt x="8382" y="16637"/>
                </a:lnTo>
                <a:lnTo>
                  <a:pt x="10540" y="16001"/>
                </a:lnTo>
                <a:lnTo>
                  <a:pt x="12192" y="14859"/>
                </a:lnTo>
                <a:lnTo>
                  <a:pt x="14605" y="11557"/>
                </a:lnTo>
                <a:lnTo>
                  <a:pt x="15240" y="9651"/>
                </a:lnTo>
                <a:lnTo>
                  <a:pt x="15240" y="4064"/>
                </a:lnTo>
                <a:lnTo>
                  <a:pt x="14096" y="1397"/>
                </a:lnTo>
                <a:lnTo>
                  <a:pt x="120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969767" y="2052590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10" y="0"/>
                </a:moveTo>
                <a:lnTo>
                  <a:pt x="0" y="0"/>
                </a:lnTo>
                <a:lnTo>
                  <a:pt x="0" y="5334"/>
                </a:lnTo>
                <a:lnTo>
                  <a:pt x="1270" y="8254"/>
                </a:lnTo>
                <a:lnTo>
                  <a:pt x="3937" y="10668"/>
                </a:lnTo>
                <a:lnTo>
                  <a:pt x="6604" y="12953"/>
                </a:lnTo>
                <a:lnTo>
                  <a:pt x="10033" y="14097"/>
                </a:lnTo>
                <a:lnTo>
                  <a:pt x="18288" y="14097"/>
                </a:lnTo>
                <a:lnTo>
                  <a:pt x="21717" y="12953"/>
                </a:lnTo>
                <a:lnTo>
                  <a:pt x="24003" y="10922"/>
                </a:lnTo>
                <a:lnTo>
                  <a:pt x="10921" y="10922"/>
                </a:lnTo>
                <a:lnTo>
                  <a:pt x="8509" y="10033"/>
                </a:lnTo>
                <a:lnTo>
                  <a:pt x="4699" y="6350"/>
                </a:lnTo>
                <a:lnTo>
                  <a:pt x="3810" y="3937"/>
                </a:lnTo>
                <a:lnTo>
                  <a:pt x="381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019424" y="2034429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034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3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1"/>
                </a:lnTo>
                <a:lnTo>
                  <a:pt x="23113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59"/>
                </a:lnTo>
                <a:lnTo>
                  <a:pt x="3809" y="19811"/>
                </a:lnTo>
                <a:lnTo>
                  <a:pt x="3809" y="12446"/>
                </a:lnTo>
                <a:lnTo>
                  <a:pt x="4698" y="9398"/>
                </a:lnTo>
                <a:lnTo>
                  <a:pt x="6603" y="6857"/>
                </a:lnTo>
                <a:lnTo>
                  <a:pt x="8635" y="4445"/>
                </a:lnTo>
                <a:lnTo>
                  <a:pt x="11303" y="3175"/>
                </a:lnTo>
                <a:lnTo>
                  <a:pt x="23494" y="3175"/>
                </a:lnTo>
                <a:lnTo>
                  <a:pt x="20954" y="888"/>
                </a:lnTo>
                <a:lnTo>
                  <a:pt x="1803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036188" y="2037604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731" y="0"/>
                </a:moveTo>
                <a:lnTo>
                  <a:pt x="0" y="0"/>
                </a:lnTo>
                <a:lnTo>
                  <a:pt x="1905" y="634"/>
                </a:lnTo>
                <a:lnTo>
                  <a:pt x="4825" y="3048"/>
                </a:lnTo>
                <a:lnTo>
                  <a:pt x="5842" y="4825"/>
                </a:lnTo>
                <a:lnTo>
                  <a:pt x="6350" y="7365"/>
                </a:lnTo>
                <a:lnTo>
                  <a:pt x="10159" y="7365"/>
                </a:lnTo>
                <a:lnTo>
                  <a:pt x="9778" y="4063"/>
                </a:lnTo>
                <a:lnTo>
                  <a:pt x="8509" y="1397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36188" y="2054876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4" y="0"/>
                </a:moveTo>
                <a:lnTo>
                  <a:pt x="6731" y="0"/>
                </a:lnTo>
                <a:lnTo>
                  <a:pt x="6350" y="2666"/>
                </a:lnTo>
                <a:lnTo>
                  <a:pt x="5334" y="4699"/>
                </a:lnTo>
                <a:lnTo>
                  <a:pt x="3556" y="6223"/>
                </a:lnTo>
                <a:lnTo>
                  <a:pt x="1905" y="7874"/>
                </a:lnTo>
                <a:lnTo>
                  <a:pt x="0" y="8635"/>
                </a:lnTo>
                <a:lnTo>
                  <a:pt x="6350" y="8635"/>
                </a:lnTo>
                <a:lnTo>
                  <a:pt x="8381" y="6730"/>
                </a:lnTo>
                <a:lnTo>
                  <a:pt x="9778" y="3809"/>
                </a:lnTo>
                <a:lnTo>
                  <a:pt x="1041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050158" y="2034429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730" y="1524"/>
                </a:lnTo>
                <a:lnTo>
                  <a:pt x="1396" y="7620"/>
                </a:lnTo>
                <a:lnTo>
                  <a:pt x="0" y="11429"/>
                </a:lnTo>
                <a:lnTo>
                  <a:pt x="0" y="20827"/>
                </a:lnTo>
                <a:lnTo>
                  <a:pt x="1396" y="24637"/>
                </a:lnTo>
                <a:lnTo>
                  <a:pt x="6730" y="30733"/>
                </a:lnTo>
                <a:lnTo>
                  <a:pt x="10286" y="32257"/>
                </a:lnTo>
                <a:lnTo>
                  <a:pt x="17525" y="32257"/>
                </a:lnTo>
                <a:lnTo>
                  <a:pt x="20192" y="31496"/>
                </a:lnTo>
                <a:lnTo>
                  <a:pt x="22478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762" y="27812"/>
                </a:lnTo>
                <a:lnTo>
                  <a:pt x="6730" y="25400"/>
                </a:lnTo>
                <a:lnTo>
                  <a:pt x="4825" y="22859"/>
                </a:lnTo>
                <a:lnTo>
                  <a:pt x="3809" y="19811"/>
                </a:lnTo>
                <a:lnTo>
                  <a:pt x="3809" y="12446"/>
                </a:lnTo>
                <a:lnTo>
                  <a:pt x="4825" y="9398"/>
                </a:lnTo>
                <a:lnTo>
                  <a:pt x="6603" y="6984"/>
                </a:lnTo>
                <a:lnTo>
                  <a:pt x="8762" y="4445"/>
                </a:lnTo>
                <a:lnTo>
                  <a:pt x="11303" y="3175"/>
                </a:lnTo>
                <a:lnTo>
                  <a:pt x="23875" y="3175"/>
                </a:lnTo>
                <a:lnTo>
                  <a:pt x="22478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067938" y="2037604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667" y="1270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6"/>
                </a:lnTo>
                <a:lnTo>
                  <a:pt x="6477" y="19557"/>
                </a:lnTo>
                <a:lnTo>
                  <a:pt x="2667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11303" y="15748"/>
                </a:lnTo>
                <a:lnTo>
                  <a:pt x="11303" y="8254"/>
                </a:lnTo>
                <a:lnTo>
                  <a:pt x="10033" y="4445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088639" y="2034429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716" y="0"/>
                </a:moveTo>
                <a:lnTo>
                  <a:pt x="7493" y="0"/>
                </a:lnTo>
                <a:lnTo>
                  <a:pt x="5588" y="634"/>
                </a:lnTo>
                <a:lnTo>
                  <a:pt x="3683" y="1777"/>
                </a:lnTo>
                <a:lnTo>
                  <a:pt x="1905" y="2921"/>
                </a:lnTo>
                <a:lnTo>
                  <a:pt x="635" y="4318"/>
                </a:lnTo>
                <a:lnTo>
                  <a:pt x="0" y="6096"/>
                </a:lnTo>
                <a:lnTo>
                  <a:pt x="2286" y="6096"/>
                </a:lnTo>
                <a:lnTo>
                  <a:pt x="2667" y="5587"/>
                </a:lnTo>
                <a:lnTo>
                  <a:pt x="4191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542" y="3175"/>
                </a:lnTo>
                <a:lnTo>
                  <a:pt x="16510" y="888"/>
                </a:lnTo>
                <a:lnTo>
                  <a:pt x="1371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084702" y="2035318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825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100704" y="2037604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1"/>
                </a:lnTo>
                <a:lnTo>
                  <a:pt x="3175" y="2285"/>
                </a:lnTo>
                <a:lnTo>
                  <a:pt x="4571" y="3809"/>
                </a:lnTo>
                <a:lnTo>
                  <a:pt x="5207" y="5969"/>
                </a:lnTo>
                <a:lnTo>
                  <a:pt x="5207" y="28194"/>
                </a:lnTo>
                <a:lnTo>
                  <a:pt x="8890" y="28194"/>
                </a:lnTo>
                <a:lnTo>
                  <a:pt x="8890" y="4445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113277" y="2035318"/>
            <a:ext cx="17145" cy="30480"/>
          </a:xfrm>
          <a:custGeom>
            <a:avLst/>
            <a:gdLst/>
            <a:ahLst/>
            <a:cxnLst/>
            <a:rect l="l" t="t" r="r" b="b"/>
            <a:pathLst>
              <a:path w="17144" h="30480">
                <a:moveTo>
                  <a:pt x="4063" y="0"/>
                </a:moveTo>
                <a:lnTo>
                  <a:pt x="0" y="0"/>
                </a:lnTo>
                <a:lnTo>
                  <a:pt x="11810" y="30480"/>
                </a:lnTo>
                <a:lnTo>
                  <a:pt x="15747" y="30480"/>
                </a:lnTo>
                <a:lnTo>
                  <a:pt x="17144" y="26670"/>
                </a:lnTo>
                <a:lnTo>
                  <a:pt x="13715" y="26670"/>
                </a:lnTo>
                <a:lnTo>
                  <a:pt x="40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127120" y="2035318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46043" y="2059575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4" y="0"/>
                </a:moveTo>
                <a:lnTo>
                  <a:pt x="381" y="0"/>
                </a:lnTo>
                <a:lnTo>
                  <a:pt x="381" y="6223"/>
                </a:lnTo>
                <a:lnTo>
                  <a:pt x="2793" y="6223"/>
                </a:lnTo>
                <a:lnTo>
                  <a:pt x="2681" y="8127"/>
                </a:lnTo>
                <a:lnTo>
                  <a:pt x="2540" y="8762"/>
                </a:lnTo>
                <a:lnTo>
                  <a:pt x="1975" y="9778"/>
                </a:lnTo>
                <a:lnTo>
                  <a:pt x="1523" y="10794"/>
                </a:lnTo>
                <a:lnTo>
                  <a:pt x="888" y="11429"/>
                </a:lnTo>
                <a:lnTo>
                  <a:pt x="0" y="11810"/>
                </a:lnTo>
                <a:lnTo>
                  <a:pt x="0" y="14350"/>
                </a:lnTo>
                <a:lnTo>
                  <a:pt x="1778" y="13842"/>
                </a:lnTo>
                <a:lnTo>
                  <a:pt x="3047" y="12826"/>
                </a:lnTo>
                <a:lnTo>
                  <a:pt x="4825" y="9778"/>
                </a:lnTo>
                <a:lnTo>
                  <a:pt x="5334" y="8127"/>
                </a:lnTo>
                <a:lnTo>
                  <a:pt x="533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176777" y="2024015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5" y="0"/>
                </a:moveTo>
                <a:lnTo>
                  <a:pt x="9017" y="0"/>
                </a:lnTo>
                <a:lnTo>
                  <a:pt x="5715" y="1270"/>
                </a:lnTo>
                <a:lnTo>
                  <a:pt x="3302" y="3810"/>
                </a:lnTo>
                <a:lnTo>
                  <a:pt x="1143" y="6476"/>
                </a:lnTo>
                <a:lnTo>
                  <a:pt x="0" y="9905"/>
                </a:lnTo>
                <a:lnTo>
                  <a:pt x="0" y="14732"/>
                </a:lnTo>
                <a:lnTo>
                  <a:pt x="3683" y="14732"/>
                </a:lnTo>
                <a:lnTo>
                  <a:pt x="3810" y="10541"/>
                </a:lnTo>
                <a:lnTo>
                  <a:pt x="4699" y="7874"/>
                </a:lnTo>
                <a:lnTo>
                  <a:pt x="7874" y="4064"/>
                </a:lnTo>
                <a:lnTo>
                  <a:pt x="10160" y="3175"/>
                </a:lnTo>
                <a:lnTo>
                  <a:pt x="22606" y="3175"/>
                </a:lnTo>
                <a:lnTo>
                  <a:pt x="20193" y="1016"/>
                </a:lnTo>
                <a:lnTo>
                  <a:pt x="1714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175761" y="2027190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1" y="0"/>
                </a:moveTo>
                <a:lnTo>
                  <a:pt x="16890" y="0"/>
                </a:lnTo>
                <a:lnTo>
                  <a:pt x="19050" y="762"/>
                </a:lnTo>
                <a:lnTo>
                  <a:pt x="22478" y="3937"/>
                </a:lnTo>
                <a:lnTo>
                  <a:pt x="23368" y="5969"/>
                </a:lnTo>
                <a:lnTo>
                  <a:pt x="23368" y="11049"/>
                </a:lnTo>
                <a:lnTo>
                  <a:pt x="22478" y="13335"/>
                </a:lnTo>
                <a:lnTo>
                  <a:pt x="20827" y="15240"/>
                </a:lnTo>
                <a:lnTo>
                  <a:pt x="19303" y="17145"/>
                </a:lnTo>
                <a:lnTo>
                  <a:pt x="16256" y="19558"/>
                </a:lnTo>
                <a:lnTo>
                  <a:pt x="0" y="35560"/>
                </a:lnTo>
                <a:lnTo>
                  <a:pt x="0" y="38608"/>
                </a:lnTo>
                <a:lnTo>
                  <a:pt x="27305" y="38608"/>
                </a:lnTo>
                <a:lnTo>
                  <a:pt x="27305" y="35178"/>
                </a:lnTo>
                <a:lnTo>
                  <a:pt x="4190" y="35178"/>
                </a:lnTo>
                <a:lnTo>
                  <a:pt x="4571" y="33527"/>
                </a:lnTo>
                <a:lnTo>
                  <a:pt x="5461" y="32003"/>
                </a:lnTo>
                <a:lnTo>
                  <a:pt x="8508" y="28701"/>
                </a:lnTo>
                <a:lnTo>
                  <a:pt x="11049" y="26670"/>
                </a:lnTo>
                <a:lnTo>
                  <a:pt x="19557" y="21590"/>
                </a:lnTo>
                <a:lnTo>
                  <a:pt x="22732" y="18923"/>
                </a:lnTo>
                <a:lnTo>
                  <a:pt x="24511" y="16510"/>
                </a:lnTo>
                <a:lnTo>
                  <a:pt x="26288" y="13970"/>
                </a:lnTo>
                <a:lnTo>
                  <a:pt x="27050" y="11557"/>
                </a:lnTo>
                <a:lnTo>
                  <a:pt x="27177" y="4952"/>
                </a:lnTo>
                <a:lnTo>
                  <a:pt x="25907" y="2159"/>
                </a:lnTo>
                <a:lnTo>
                  <a:pt x="2362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209924" y="2025031"/>
            <a:ext cx="25400" cy="21590"/>
          </a:xfrm>
          <a:custGeom>
            <a:avLst/>
            <a:gdLst/>
            <a:ahLst/>
            <a:cxnLst/>
            <a:rect l="l" t="t" r="r" b="b"/>
            <a:pathLst>
              <a:path w="25400" h="21589">
                <a:moveTo>
                  <a:pt x="24892" y="0"/>
                </a:moveTo>
                <a:lnTo>
                  <a:pt x="4190" y="0"/>
                </a:lnTo>
                <a:lnTo>
                  <a:pt x="0" y="21335"/>
                </a:lnTo>
                <a:lnTo>
                  <a:pt x="3175" y="21335"/>
                </a:lnTo>
                <a:lnTo>
                  <a:pt x="4318" y="19684"/>
                </a:lnTo>
                <a:lnTo>
                  <a:pt x="5714" y="18542"/>
                </a:lnTo>
                <a:lnTo>
                  <a:pt x="7365" y="17652"/>
                </a:lnTo>
                <a:lnTo>
                  <a:pt x="8381" y="17272"/>
                </a:lnTo>
                <a:lnTo>
                  <a:pt x="4190" y="17272"/>
                </a:lnTo>
                <a:lnTo>
                  <a:pt x="6731" y="3301"/>
                </a:lnTo>
                <a:lnTo>
                  <a:pt x="24892" y="3301"/>
                </a:lnTo>
                <a:lnTo>
                  <a:pt x="2489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214115" y="2038366"/>
            <a:ext cx="18415" cy="4445"/>
          </a:xfrm>
          <a:custGeom>
            <a:avLst/>
            <a:gdLst/>
            <a:ahLst/>
            <a:cxnLst/>
            <a:rect l="l" t="t" r="r" b="b"/>
            <a:pathLst>
              <a:path w="18415" h="4444">
                <a:moveTo>
                  <a:pt x="13081" y="0"/>
                </a:moveTo>
                <a:lnTo>
                  <a:pt x="7112" y="0"/>
                </a:lnTo>
                <a:lnTo>
                  <a:pt x="5461" y="381"/>
                </a:lnTo>
                <a:lnTo>
                  <a:pt x="2412" y="1650"/>
                </a:lnTo>
                <a:lnTo>
                  <a:pt x="1016" y="2667"/>
                </a:lnTo>
                <a:lnTo>
                  <a:pt x="0" y="3937"/>
                </a:lnTo>
                <a:lnTo>
                  <a:pt x="4191" y="3937"/>
                </a:lnTo>
                <a:lnTo>
                  <a:pt x="4826" y="3556"/>
                </a:lnTo>
                <a:lnTo>
                  <a:pt x="6477" y="3175"/>
                </a:lnTo>
                <a:lnTo>
                  <a:pt x="18161" y="3175"/>
                </a:lnTo>
                <a:lnTo>
                  <a:pt x="16383" y="1270"/>
                </a:lnTo>
                <a:lnTo>
                  <a:pt x="1308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225418" y="2041541"/>
            <a:ext cx="11430" cy="22225"/>
          </a:xfrm>
          <a:custGeom>
            <a:avLst/>
            <a:gdLst/>
            <a:ahLst/>
            <a:cxnLst/>
            <a:rect l="l" t="t" r="r" b="b"/>
            <a:pathLst>
              <a:path w="11430" h="22225">
                <a:moveTo>
                  <a:pt x="6857" y="0"/>
                </a:moveTo>
                <a:lnTo>
                  <a:pt x="0" y="0"/>
                </a:lnTo>
                <a:lnTo>
                  <a:pt x="2539" y="1016"/>
                </a:lnTo>
                <a:lnTo>
                  <a:pt x="6604" y="5079"/>
                </a:lnTo>
                <a:lnTo>
                  <a:pt x="7619" y="7620"/>
                </a:lnTo>
                <a:lnTo>
                  <a:pt x="7619" y="13843"/>
                </a:lnTo>
                <a:lnTo>
                  <a:pt x="6604" y="16510"/>
                </a:lnTo>
                <a:lnTo>
                  <a:pt x="2667" y="20954"/>
                </a:lnTo>
                <a:lnTo>
                  <a:pt x="254" y="21971"/>
                </a:lnTo>
                <a:lnTo>
                  <a:pt x="6350" y="21971"/>
                </a:lnTo>
                <a:lnTo>
                  <a:pt x="10032" y="18415"/>
                </a:lnTo>
                <a:lnTo>
                  <a:pt x="11430" y="15113"/>
                </a:lnTo>
                <a:lnTo>
                  <a:pt x="11430" y="6858"/>
                </a:lnTo>
                <a:lnTo>
                  <a:pt x="10159" y="3428"/>
                </a:lnTo>
                <a:lnTo>
                  <a:pt x="685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208781" y="2053987"/>
            <a:ext cx="23495" cy="12700"/>
          </a:xfrm>
          <a:custGeom>
            <a:avLst/>
            <a:gdLst/>
            <a:ahLst/>
            <a:cxnLst/>
            <a:rect l="l" t="t" r="r" b="b"/>
            <a:pathLst>
              <a:path w="23494" h="12700">
                <a:moveTo>
                  <a:pt x="3682" y="0"/>
                </a:moveTo>
                <a:lnTo>
                  <a:pt x="0" y="0"/>
                </a:lnTo>
                <a:lnTo>
                  <a:pt x="126" y="3937"/>
                </a:lnTo>
                <a:lnTo>
                  <a:pt x="1524" y="7112"/>
                </a:lnTo>
                <a:lnTo>
                  <a:pt x="6604" y="11556"/>
                </a:lnTo>
                <a:lnTo>
                  <a:pt x="9779" y="12700"/>
                </a:lnTo>
                <a:lnTo>
                  <a:pt x="17652" y="12700"/>
                </a:lnTo>
                <a:lnTo>
                  <a:pt x="21081" y="11429"/>
                </a:lnTo>
                <a:lnTo>
                  <a:pt x="22987" y="9525"/>
                </a:lnTo>
                <a:lnTo>
                  <a:pt x="11049" y="9525"/>
                </a:lnTo>
                <a:lnTo>
                  <a:pt x="8636" y="8636"/>
                </a:lnTo>
                <a:lnTo>
                  <a:pt x="6604" y="6985"/>
                </a:lnTo>
                <a:lnTo>
                  <a:pt x="4825" y="5206"/>
                </a:lnTo>
                <a:lnTo>
                  <a:pt x="3810" y="2794"/>
                </a:lnTo>
                <a:lnTo>
                  <a:pt x="368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242055" y="2024015"/>
            <a:ext cx="24130" cy="43180"/>
          </a:xfrm>
          <a:custGeom>
            <a:avLst/>
            <a:gdLst/>
            <a:ahLst/>
            <a:cxnLst/>
            <a:rect l="l" t="t" r="r" b="b"/>
            <a:pathLst>
              <a:path w="24130" h="43180">
                <a:moveTo>
                  <a:pt x="18542" y="0"/>
                </a:moveTo>
                <a:lnTo>
                  <a:pt x="9906" y="0"/>
                </a:lnTo>
                <a:lnTo>
                  <a:pt x="6222" y="1904"/>
                </a:lnTo>
                <a:lnTo>
                  <a:pt x="1143" y="9778"/>
                </a:lnTo>
                <a:lnTo>
                  <a:pt x="0" y="14732"/>
                </a:lnTo>
                <a:lnTo>
                  <a:pt x="5461" y="41021"/>
                </a:lnTo>
                <a:lnTo>
                  <a:pt x="9143" y="42672"/>
                </a:lnTo>
                <a:lnTo>
                  <a:pt x="18542" y="42672"/>
                </a:lnTo>
                <a:lnTo>
                  <a:pt x="21843" y="41401"/>
                </a:lnTo>
                <a:lnTo>
                  <a:pt x="23749" y="39497"/>
                </a:lnTo>
                <a:lnTo>
                  <a:pt x="11556" y="39497"/>
                </a:lnTo>
                <a:lnTo>
                  <a:pt x="8889" y="38608"/>
                </a:lnTo>
                <a:lnTo>
                  <a:pt x="5333" y="34798"/>
                </a:lnTo>
                <a:lnTo>
                  <a:pt x="4444" y="32258"/>
                </a:lnTo>
                <a:lnTo>
                  <a:pt x="4444" y="25653"/>
                </a:lnTo>
                <a:lnTo>
                  <a:pt x="5333" y="22987"/>
                </a:lnTo>
                <a:lnTo>
                  <a:pt x="6603" y="21717"/>
                </a:lnTo>
                <a:lnTo>
                  <a:pt x="3682" y="21717"/>
                </a:lnTo>
                <a:lnTo>
                  <a:pt x="3809" y="15494"/>
                </a:lnTo>
                <a:lnTo>
                  <a:pt x="4699" y="11175"/>
                </a:lnTo>
                <a:lnTo>
                  <a:pt x="8508" y="4825"/>
                </a:lnTo>
                <a:lnTo>
                  <a:pt x="11430" y="3175"/>
                </a:lnTo>
                <a:lnTo>
                  <a:pt x="24002" y="3175"/>
                </a:lnTo>
                <a:lnTo>
                  <a:pt x="21589" y="1016"/>
                </a:lnTo>
                <a:lnTo>
                  <a:pt x="1854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259581" y="2027190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59" h="8255">
                <a:moveTo>
                  <a:pt x="6476" y="0"/>
                </a:moveTo>
                <a:lnTo>
                  <a:pt x="0" y="0"/>
                </a:lnTo>
                <a:lnTo>
                  <a:pt x="1905" y="762"/>
                </a:lnTo>
                <a:lnTo>
                  <a:pt x="4952" y="3555"/>
                </a:lnTo>
                <a:lnTo>
                  <a:pt x="5968" y="5461"/>
                </a:lnTo>
                <a:lnTo>
                  <a:pt x="6223" y="7747"/>
                </a:lnTo>
                <a:lnTo>
                  <a:pt x="9906" y="7747"/>
                </a:lnTo>
                <a:lnTo>
                  <a:pt x="9525" y="4191"/>
                </a:lnTo>
                <a:lnTo>
                  <a:pt x="8255" y="1524"/>
                </a:lnTo>
                <a:lnTo>
                  <a:pt x="647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245865" y="2038874"/>
            <a:ext cx="20320" cy="6985"/>
          </a:xfrm>
          <a:custGeom>
            <a:avLst/>
            <a:gdLst/>
            <a:ahLst/>
            <a:cxnLst/>
            <a:rect l="l" t="t" r="r" b="b"/>
            <a:pathLst>
              <a:path w="20319" h="6985">
                <a:moveTo>
                  <a:pt x="15112" y="0"/>
                </a:moveTo>
                <a:lnTo>
                  <a:pt x="8762" y="0"/>
                </a:lnTo>
                <a:lnTo>
                  <a:pt x="6477" y="634"/>
                </a:lnTo>
                <a:lnTo>
                  <a:pt x="4445" y="1904"/>
                </a:lnTo>
                <a:lnTo>
                  <a:pt x="2540" y="3048"/>
                </a:lnTo>
                <a:lnTo>
                  <a:pt x="1016" y="4699"/>
                </a:lnTo>
                <a:lnTo>
                  <a:pt x="0" y="6857"/>
                </a:lnTo>
                <a:lnTo>
                  <a:pt x="2793" y="6857"/>
                </a:lnTo>
                <a:lnTo>
                  <a:pt x="5461" y="4190"/>
                </a:lnTo>
                <a:lnTo>
                  <a:pt x="7874" y="3175"/>
                </a:lnTo>
                <a:lnTo>
                  <a:pt x="20193" y="3175"/>
                </a:lnTo>
                <a:lnTo>
                  <a:pt x="18415" y="1269"/>
                </a:lnTo>
                <a:lnTo>
                  <a:pt x="15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259708" y="2042049"/>
            <a:ext cx="11430" cy="21590"/>
          </a:xfrm>
          <a:custGeom>
            <a:avLst/>
            <a:gdLst/>
            <a:ahLst/>
            <a:cxnLst/>
            <a:rect l="l" t="t" r="r" b="b"/>
            <a:pathLst>
              <a:path w="11430" h="21589">
                <a:moveTo>
                  <a:pt x="6350" y="0"/>
                </a:moveTo>
                <a:lnTo>
                  <a:pt x="127" y="0"/>
                </a:lnTo>
                <a:lnTo>
                  <a:pt x="2540" y="1015"/>
                </a:lnTo>
                <a:lnTo>
                  <a:pt x="4318" y="3048"/>
                </a:lnTo>
                <a:lnTo>
                  <a:pt x="6223" y="5079"/>
                </a:lnTo>
                <a:lnTo>
                  <a:pt x="7112" y="7619"/>
                </a:lnTo>
                <a:lnTo>
                  <a:pt x="7112" y="13842"/>
                </a:lnTo>
                <a:lnTo>
                  <a:pt x="6223" y="16255"/>
                </a:lnTo>
                <a:lnTo>
                  <a:pt x="2412" y="20446"/>
                </a:lnTo>
                <a:lnTo>
                  <a:pt x="0" y="21462"/>
                </a:lnTo>
                <a:lnTo>
                  <a:pt x="6096" y="21462"/>
                </a:lnTo>
                <a:lnTo>
                  <a:pt x="9525" y="18033"/>
                </a:lnTo>
                <a:lnTo>
                  <a:pt x="10922" y="14731"/>
                </a:lnTo>
                <a:lnTo>
                  <a:pt x="10922" y="6603"/>
                </a:lnTo>
                <a:lnTo>
                  <a:pt x="9652" y="3301"/>
                </a:lnTo>
                <a:lnTo>
                  <a:pt x="635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 txBox="1"/>
          <p:nvPr/>
        </p:nvSpPr>
        <p:spPr>
          <a:xfrm>
            <a:off x="531540" y="1982359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98216" y="1987439"/>
            <a:ext cx="992505" cy="323215"/>
          </a:xfrm>
          <a:custGeom>
            <a:avLst/>
            <a:gdLst/>
            <a:ahLst/>
            <a:cxnLst/>
            <a:rect l="l" t="t" r="r" b="b"/>
            <a:pathLst>
              <a:path w="992505" h="323214">
                <a:moveTo>
                  <a:pt x="0" y="323088"/>
                </a:moveTo>
                <a:lnTo>
                  <a:pt x="992123" y="323088"/>
                </a:lnTo>
                <a:lnTo>
                  <a:pt x="992123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91481" y="1171701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1" y="1446402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1" y="1720722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8215" y="2440812"/>
            <a:ext cx="992505" cy="205740"/>
          </a:xfrm>
          <a:custGeom>
            <a:avLst/>
            <a:gdLst/>
            <a:ahLst/>
            <a:cxnLst/>
            <a:rect l="l" t="t" r="r" b="b"/>
            <a:pathLst>
              <a:path w="992505" h="205739">
                <a:moveTo>
                  <a:pt x="0" y="205739"/>
                </a:moveTo>
                <a:lnTo>
                  <a:pt x="992123" y="205739"/>
                </a:lnTo>
                <a:lnTo>
                  <a:pt x="992123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8215" y="2765425"/>
            <a:ext cx="992505" cy="204470"/>
          </a:xfrm>
          <a:custGeom>
            <a:avLst/>
            <a:gdLst/>
            <a:ahLst/>
            <a:cxnLst/>
            <a:rect l="l" t="t" r="r" b="b"/>
            <a:pathLst>
              <a:path w="992505" h="204469">
                <a:moveTo>
                  <a:pt x="0" y="204216"/>
                </a:moveTo>
                <a:lnTo>
                  <a:pt x="992123" y="204216"/>
                </a:lnTo>
                <a:lnTo>
                  <a:pt x="992123" y="0"/>
                </a:lnTo>
                <a:lnTo>
                  <a:pt x="0" y="0"/>
                </a:lnTo>
                <a:lnTo>
                  <a:pt x="0" y="2042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1630" y="167093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212" y="1237614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8255" y="259839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8255" y="2562689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5283" y="2577972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271" y="0"/>
                </a:lnTo>
                <a:lnTo>
                  <a:pt x="6222" y="1269"/>
                </a:lnTo>
                <a:lnTo>
                  <a:pt x="1269" y="6223"/>
                </a:lnTo>
                <a:lnTo>
                  <a:pt x="0" y="9525"/>
                </a:lnTo>
                <a:lnTo>
                  <a:pt x="0" y="13715"/>
                </a:lnTo>
                <a:lnTo>
                  <a:pt x="3682" y="13715"/>
                </a:lnTo>
                <a:lnTo>
                  <a:pt x="3682" y="10160"/>
                </a:lnTo>
                <a:lnTo>
                  <a:pt x="4571" y="7619"/>
                </a:lnTo>
                <a:lnTo>
                  <a:pt x="8000" y="4063"/>
                </a:lnTo>
                <a:lnTo>
                  <a:pt x="10287" y="3175"/>
                </a:lnTo>
                <a:lnTo>
                  <a:pt x="22732" y="3175"/>
                </a:lnTo>
                <a:lnTo>
                  <a:pt x="19812" y="888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5951" y="2581147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9143" y="2031"/>
                </a:lnTo>
                <a:lnTo>
                  <a:pt x="10794" y="3429"/>
                </a:lnTo>
                <a:lnTo>
                  <a:pt x="11556" y="5333"/>
                </a:lnTo>
                <a:lnTo>
                  <a:pt x="11556" y="10160"/>
                </a:lnTo>
                <a:lnTo>
                  <a:pt x="10794" y="11937"/>
                </a:lnTo>
                <a:lnTo>
                  <a:pt x="7492" y="14731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4"/>
                </a:lnTo>
                <a:lnTo>
                  <a:pt x="10540" y="20955"/>
                </a:lnTo>
                <a:lnTo>
                  <a:pt x="12318" y="22351"/>
                </a:lnTo>
                <a:lnTo>
                  <a:pt x="13103" y="24256"/>
                </a:lnTo>
                <a:lnTo>
                  <a:pt x="13207" y="29844"/>
                </a:lnTo>
                <a:lnTo>
                  <a:pt x="12191" y="32004"/>
                </a:lnTo>
                <a:lnTo>
                  <a:pt x="8000" y="35432"/>
                </a:lnTo>
                <a:lnTo>
                  <a:pt x="5460" y="36321"/>
                </a:lnTo>
                <a:lnTo>
                  <a:pt x="12445" y="36321"/>
                </a:lnTo>
                <a:lnTo>
                  <a:pt x="15493" y="33781"/>
                </a:lnTo>
                <a:lnTo>
                  <a:pt x="16890" y="30733"/>
                </a:lnTo>
                <a:lnTo>
                  <a:pt x="16890" y="24256"/>
                </a:lnTo>
                <a:lnTo>
                  <a:pt x="16128" y="22098"/>
                </a:lnTo>
                <a:lnTo>
                  <a:pt x="13334" y="18414"/>
                </a:lnTo>
                <a:lnTo>
                  <a:pt x="11303" y="17144"/>
                </a:lnTo>
                <a:lnTo>
                  <a:pt x="8381" y="16637"/>
                </a:lnTo>
                <a:lnTo>
                  <a:pt x="10540" y="16001"/>
                </a:lnTo>
                <a:lnTo>
                  <a:pt x="12318" y="14858"/>
                </a:lnTo>
                <a:lnTo>
                  <a:pt x="14731" y="11556"/>
                </a:lnTo>
                <a:lnTo>
                  <a:pt x="15366" y="9651"/>
                </a:lnTo>
                <a:lnTo>
                  <a:pt x="15366" y="4063"/>
                </a:lnTo>
                <a:lnTo>
                  <a:pt x="14096" y="1396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4394" y="2606547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683" y="0"/>
                </a:moveTo>
                <a:lnTo>
                  <a:pt x="0" y="0"/>
                </a:lnTo>
                <a:lnTo>
                  <a:pt x="0" y="5333"/>
                </a:lnTo>
                <a:lnTo>
                  <a:pt x="1143" y="8255"/>
                </a:lnTo>
                <a:lnTo>
                  <a:pt x="3810" y="10668"/>
                </a:lnTo>
                <a:lnTo>
                  <a:pt x="6604" y="12954"/>
                </a:lnTo>
                <a:lnTo>
                  <a:pt x="9906" y="14096"/>
                </a:lnTo>
                <a:lnTo>
                  <a:pt x="18288" y="14096"/>
                </a:lnTo>
                <a:lnTo>
                  <a:pt x="21717" y="12954"/>
                </a:lnTo>
                <a:lnTo>
                  <a:pt x="24003" y="10921"/>
                </a:lnTo>
                <a:lnTo>
                  <a:pt x="10921" y="10921"/>
                </a:lnTo>
                <a:lnTo>
                  <a:pt x="8382" y="10032"/>
                </a:lnTo>
                <a:lnTo>
                  <a:pt x="4699" y="6350"/>
                </a:lnTo>
                <a:lnTo>
                  <a:pt x="3683" y="3937"/>
                </a:lnTo>
                <a:lnTo>
                  <a:pt x="36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45636" y="2589275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7" y="0"/>
                </a:moveTo>
                <a:lnTo>
                  <a:pt x="888" y="0"/>
                </a:lnTo>
                <a:lnTo>
                  <a:pt x="11810" y="14605"/>
                </a:lnTo>
                <a:lnTo>
                  <a:pt x="0" y="30480"/>
                </a:lnTo>
                <a:lnTo>
                  <a:pt x="4571" y="30480"/>
                </a:lnTo>
                <a:lnTo>
                  <a:pt x="13969" y="17780"/>
                </a:lnTo>
                <a:lnTo>
                  <a:pt x="18796" y="17780"/>
                </a:lnTo>
                <a:lnTo>
                  <a:pt x="16382" y="14605"/>
                </a:lnTo>
                <a:lnTo>
                  <a:pt x="18668" y="11557"/>
                </a:lnTo>
                <a:lnTo>
                  <a:pt x="14350" y="11557"/>
                </a:lnTo>
                <a:lnTo>
                  <a:pt x="558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9987" y="2589275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8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59606" y="2607055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826" y="0"/>
                </a:moveTo>
                <a:lnTo>
                  <a:pt x="0" y="0"/>
                </a:lnTo>
                <a:lnTo>
                  <a:pt x="9652" y="12700"/>
                </a:lnTo>
                <a:lnTo>
                  <a:pt x="14478" y="12700"/>
                </a:lnTo>
                <a:lnTo>
                  <a:pt x="482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76878" y="2577972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398" y="0"/>
                </a:lnTo>
                <a:lnTo>
                  <a:pt x="6223" y="1269"/>
                </a:lnTo>
                <a:lnTo>
                  <a:pt x="1270" y="6223"/>
                </a:lnTo>
                <a:lnTo>
                  <a:pt x="0" y="9525"/>
                </a:lnTo>
                <a:lnTo>
                  <a:pt x="0" y="13715"/>
                </a:lnTo>
                <a:lnTo>
                  <a:pt x="3809" y="13715"/>
                </a:lnTo>
                <a:lnTo>
                  <a:pt x="3809" y="10160"/>
                </a:lnTo>
                <a:lnTo>
                  <a:pt x="4571" y="7619"/>
                </a:lnTo>
                <a:lnTo>
                  <a:pt x="8128" y="4063"/>
                </a:lnTo>
                <a:lnTo>
                  <a:pt x="10414" y="3175"/>
                </a:lnTo>
                <a:lnTo>
                  <a:pt x="22859" y="3175"/>
                </a:lnTo>
                <a:lnTo>
                  <a:pt x="19812" y="888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87673" y="2581147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7" y="3429"/>
                </a:lnTo>
                <a:lnTo>
                  <a:pt x="11429" y="5333"/>
                </a:lnTo>
                <a:lnTo>
                  <a:pt x="11429" y="10160"/>
                </a:lnTo>
                <a:lnTo>
                  <a:pt x="10667" y="11937"/>
                </a:lnTo>
                <a:lnTo>
                  <a:pt x="7365" y="14731"/>
                </a:lnTo>
                <a:lnTo>
                  <a:pt x="5460" y="15367"/>
                </a:lnTo>
                <a:lnTo>
                  <a:pt x="0" y="15367"/>
                </a:lnTo>
                <a:lnTo>
                  <a:pt x="0" y="18542"/>
                </a:lnTo>
                <a:lnTo>
                  <a:pt x="6095" y="18542"/>
                </a:lnTo>
                <a:lnTo>
                  <a:pt x="8635" y="19304"/>
                </a:lnTo>
                <a:lnTo>
                  <a:pt x="10413" y="20955"/>
                </a:lnTo>
                <a:lnTo>
                  <a:pt x="12191" y="22351"/>
                </a:lnTo>
                <a:lnTo>
                  <a:pt x="12976" y="24256"/>
                </a:lnTo>
                <a:lnTo>
                  <a:pt x="13081" y="29844"/>
                </a:lnTo>
                <a:lnTo>
                  <a:pt x="12064" y="32004"/>
                </a:lnTo>
                <a:lnTo>
                  <a:pt x="8000" y="35432"/>
                </a:lnTo>
                <a:lnTo>
                  <a:pt x="5460" y="36321"/>
                </a:lnTo>
                <a:lnTo>
                  <a:pt x="12318" y="36321"/>
                </a:lnTo>
                <a:lnTo>
                  <a:pt x="15366" y="33781"/>
                </a:lnTo>
                <a:lnTo>
                  <a:pt x="16763" y="30733"/>
                </a:lnTo>
                <a:lnTo>
                  <a:pt x="16763" y="24256"/>
                </a:lnTo>
                <a:lnTo>
                  <a:pt x="16128" y="22098"/>
                </a:lnTo>
                <a:lnTo>
                  <a:pt x="13334" y="18414"/>
                </a:lnTo>
                <a:lnTo>
                  <a:pt x="11175" y="17144"/>
                </a:lnTo>
                <a:lnTo>
                  <a:pt x="8254" y="16637"/>
                </a:lnTo>
                <a:lnTo>
                  <a:pt x="10540" y="16001"/>
                </a:lnTo>
                <a:lnTo>
                  <a:pt x="12191" y="14858"/>
                </a:lnTo>
                <a:lnTo>
                  <a:pt x="14604" y="11556"/>
                </a:lnTo>
                <a:lnTo>
                  <a:pt x="15239" y="9651"/>
                </a:lnTo>
                <a:lnTo>
                  <a:pt x="15239" y="4063"/>
                </a:lnTo>
                <a:lnTo>
                  <a:pt x="13969" y="1396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75955" y="2606547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44" y="0"/>
                </a:moveTo>
                <a:lnTo>
                  <a:pt x="34" y="0"/>
                </a:lnTo>
                <a:lnTo>
                  <a:pt x="0" y="3937"/>
                </a:lnTo>
                <a:lnTo>
                  <a:pt x="10067" y="14096"/>
                </a:lnTo>
                <a:lnTo>
                  <a:pt x="18322" y="14096"/>
                </a:lnTo>
                <a:lnTo>
                  <a:pt x="21751" y="12954"/>
                </a:lnTo>
                <a:lnTo>
                  <a:pt x="24037" y="10921"/>
                </a:lnTo>
                <a:lnTo>
                  <a:pt x="10956" y="10921"/>
                </a:lnTo>
                <a:lnTo>
                  <a:pt x="8416" y="10032"/>
                </a:lnTo>
                <a:lnTo>
                  <a:pt x="4733" y="6350"/>
                </a:lnTo>
                <a:lnTo>
                  <a:pt x="3844" y="3937"/>
                </a:lnTo>
                <a:lnTo>
                  <a:pt x="3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25646" y="2588386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161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19"/>
                </a:lnTo>
                <a:lnTo>
                  <a:pt x="0" y="11430"/>
                </a:lnTo>
                <a:lnTo>
                  <a:pt x="0" y="20828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4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2"/>
                </a:lnTo>
                <a:lnTo>
                  <a:pt x="23114" y="29082"/>
                </a:lnTo>
                <a:lnTo>
                  <a:pt x="11303" y="29082"/>
                </a:lnTo>
                <a:lnTo>
                  <a:pt x="8636" y="27812"/>
                </a:lnTo>
                <a:lnTo>
                  <a:pt x="6603" y="25400"/>
                </a:lnTo>
                <a:lnTo>
                  <a:pt x="4699" y="22860"/>
                </a:lnTo>
                <a:lnTo>
                  <a:pt x="3809" y="19812"/>
                </a:lnTo>
                <a:lnTo>
                  <a:pt x="3809" y="12446"/>
                </a:lnTo>
                <a:lnTo>
                  <a:pt x="4699" y="9398"/>
                </a:lnTo>
                <a:lnTo>
                  <a:pt x="6603" y="6857"/>
                </a:lnTo>
                <a:lnTo>
                  <a:pt x="8636" y="4444"/>
                </a:lnTo>
                <a:lnTo>
                  <a:pt x="11303" y="3175"/>
                </a:lnTo>
                <a:lnTo>
                  <a:pt x="23494" y="3175"/>
                </a:lnTo>
                <a:lnTo>
                  <a:pt x="20955" y="888"/>
                </a:lnTo>
                <a:lnTo>
                  <a:pt x="1816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42537" y="2591561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603" y="0"/>
                </a:moveTo>
                <a:lnTo>
                  <a:pt x="0" y="0"/>
                </a:lnTo>
                <a:lnTo>
                  <a:pt x="1778" y="635"/>
                </a:lnTo>
                <a:lnTo>
                  <a:pt x="4699" y="3048"/>
                </a:lnTo>
                <a:lnTo>
                  <a:pt x="5715" y="4825"/>
                </a:lnTo>
                <a:lnTo>
                  <a:pt x="6350" y="7366"/>
                </a:lnTo>
                <a:lnTo>
                  <a:pt x="10033" y="7366"/>
                </a:lnTo>
                <a:lnTo>
                  <a:pt x="9652" y="4063"/>
                </a:lnTo>
                <a:lnTo>
                  <a:pt x="8381" y="1397"/>
                </a:lnTo>
                <a:lnTo>
                  <a:pt x="66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42410" y="2608833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3" y="0"/>
                </a:moveTo>
                <a:lnTo>
                  <a:pt x="6730" y="0"/>
                </a:lnTo>
                <a:lnTo>
                  <a:pt x="6350" y="2666"/>
                </a:lnTo>
                <a:lnTo>
                  <a:pt x="5333" y="4699"/>
                </a:lnTo>
                <a:lnTo>
                  <a:pt x="1904" y="7874"/>
                </a:lnTo>
                <a:lnTo>
                  <a:pt x="0" y="8635"/>
                </a:lnTo>
                <a:lnTo>
                  <a:pt x="6350" y="8635"/>
                </a:lnTo>
                <a:lnTo>
                  <a:pt x="8508" y="6731"/>
                </a:lnTo>
                <a:lnTo>
                  <a:pt x="9905" y="3809"/>
                </a:lnTo>
                <a:lnTo>
                  <a:pt x="10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56507" y="2588386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19"/>
                </a:lnTo>
                <a:lnTo>
                  <a:pt x="0" y="11430"/>
                </a:lnTo>
                <a:lnTo>
                  <a:pt x="0" y="20828"/>
                </a:lnTo>
                <a:lnTo>
                  <a:pt x="1269" y="24637"/>
                </a:lnTo>
                <a:lnTo>
                  <a:pt x="4053" y="27812"/>
                </a:lnTo>
                <a:lnTo>
                  <a:pt x="6730" y="30734"/>
                </a:lnTo>
                <a:lnTo>
                  <a:pt x="10159" y="32257"/>
                </a:lnTo>
                <a:lnTo>
                  <a:pt x="17525" y="32257"/>
                </a:lnTo>
                <a:lnTo>
                  <a:pt x="20065" y="31496"/>
                </a:lnTo>
                <a:lnTo>
                  <a:pt x="22351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60"/>
                </a:lnTo>
                <a:lnTo>
                  <a:pt x="3809" y="19812"/>
                </a:lnTo>
                <a:lnTo>
                  <a:pt x="3809" y="12446"/>
                </a:lnTo>
                <a:lnTo>
                  <a:pt x="4698" y="9398"/>
                </a:lnTo>
                <a:lnTo>
                  <a:pt x="8635" y="4444"/>
                </a:lnTo>
                <a:lnTo>
                  <a:pt x="11175" y="3175"/>
                </a:lnTo>
                <a:lnTo>
                  <a:pt x="23875" y="3175"/>
                </a:lnTo>
                <a:lnTo>
                  <a:pt x="22351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74287" y="2591561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540" y="1269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7"/>
                </a:lnTo>
                <a:lnTo>
                  <a:pt x="6477" y="19557"/>
                </a:lnTo>
                <a:lnTo>
                  <a:pt x="2540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6858" y="25400"/>
                </a:lnTo>
                <a:lnTo>
                  <a:pt x="8509" y="23368"/>
                </a:lnTo>
                <a:lnTo>
                  <a:pt x="9525" y="20955"/>
                </a:lnTo>
                <a:lnTo>
                  <a:pt x="10668" y="18415"/>
                </a:lnTo>
                <a:lnTo>
                  <a:pt x="11303" y="15748"/>
                </a:lnTo>
                <a:lnTo>
                  <a:pt x="11303" y="8255"/>
                </a:lnTo>
                <a:lnTo>
                  <a:pt x="9906" y="4444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94861" y="2588386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843" y="0"/>
                </a:moveTo>
                <a:lnTo>
                  <a:pt x="7619" y="0"/>
                </a:lnTo>
                <a:lnTo>
                  <a:pt x="5587" y="635"/>
                </a:lnTo>
                <a:lnTo>
                  <a:pt x="2031" y="2921"/>
                </a:lnTo>
                <a:lnTo>
                  <a:pt x="762" y="4318"/>
                </a:lnTo>
                <a:lnTo>
                  <a:pt x="0" y="6096"/>
                </a:lnTo>
                <a:lnTo>
                  <a:pt x="2412" y="6096"/>
                </a:lnTo>
                <a:lnTo>
                  <a:pt x="2793" y="5587"/>
                </a:lnTo>
                <a:lnTo>
                  <a:pt x="4190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668" y="3175"/>
                </a:lnTo>
                <a:lnTo>
                  <a:pt x="16637" y="888"/>
                </a:lnTo>
                <a:lnTo>
                  <a:pt x="1384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91051" y="2589275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698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07053" y="2591561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2"/>
                </a:lnTo>
                <a:lnTo>
                  <a:pt x="4445" y="3810"/>
                </a:lnTo>
                <a:lnTo>
                  <a:pt x="5207" y="5968"/>
                </a:lnTo>
                <a:lnTo>
                  <a:pt x="5207" y="28193"/>
                </a:lnTo>
                <a:lnTo>
                  <a:pt x="8890" y="28193"/>
                </a:lnTo>
                <a:lnTo>
                  <a:pt x="8890" y="4444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19499" y="2589275"/>
            <a:ext cx="17780" cy="30480"/>
          </a:xfrm>
          <a:custGeom>
            <a:avLst/>
            <a:gdLst/>
            <a:ahLst/>
            <a:cxnLst/>
            <a:rect l="l" t="t" r="r" b="b"/>
            <a:pathLst>
              <a:path w="17780" h="30480">
                <a:moveTo>
                  <a:pt x="4190" y="0"/>
                </a:moveTo>
                <a:lnTo>
                  <a:pt x="0" y="0"/>
                </a:lnTo>
                <a:lnTo>
                  <a:pt x="11937" y="30480"/>
                </a:lnTo>
                <a:lnTo>
                  <a:pt x="15875" y="30480"/>
                </a:lnTo>
                <a:lnTo>
                  <a:pt x="17271" y="26670"/>
                </a:lnTo>
                <a:lnTo>
                  <a:pt x="13843" y="26670"/>
                </a:lnTo>
                <a:lnTo>
                  <a:pt x="419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33469" y="2589275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52392" y="2613532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3" y="0"/>
                </a:moveTo>
                <a:lnTo>
                  <a:pt x="381" y="0"/>
                </a:lnTo>
                <a:lnTo>
                  <a:pt x="381" y="6222"/>
                </a:lnTo>
                <a:lnTo>
                  <a:pt x="2793" y="6222"/>
                </a:lnTo>
                <a:lnTo>
                  <a:pt x="2681" y="8127"/>
                </a:lnTo>
                <a:lnTo>
                  <a:pt x="2540" y="8762"/>
                </a:lnTo>
                <a:lnTo>
                  <a:pt x="1975" y="9778"/>
                </a:lnTo>
                <a:lnTo>
                  <a:pt x="1523" y="10794"/>
                </a:lnTo>
                <a:lnTo>
                  <a:pt x="888" y="11429"/>
                </a:lnTo>
                <a:lnTo>
                  <a:pt x="0" y="11810"/>
                </a:lnTo>
                <a:lnTo>
                  <a:pt x="0" y="14350"/>
                </a:lnTo>
                <a:lnTo>
                  <a:pt x="1778" y="13842"/>
                </a:lnTo>
                <a:lnTo>
                  <a:pt x="3047" y="12826"/>
                </a:lnTo>
                <a:lnTo>
                  <a:pt x="4825" y="9778"/>
                </a:lnTo>
                <a:lnTo>
                  <a:pt x="5333" y="8127"/>
                </a:lnTo>
                <a:lnTo>
                  <a:pt x="53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85793" y="2578353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40" h="41910">
                <a:moveTo>
                  <a:pt x="14731" y="0"/>
                </a:moveTo>
                <a:lnTo>
                  <a:pt x="11556" y="0"/>
                </a:lnTo>
                <a:lnTo>
                  <a:pt x="11303" y="2031"/>
                </a:lnTo>
                <a:lnTo>
                  <a:pt x="10794" y="3556"/>
                </a:lnTo>
                <a:lnTo>
                  <a:pt x="10160" y="4699"/>
                </a:lnTo>
                <a:lnTo>
                  <a:pt x="9398" y="5842"/>
                </a:lnTo>
                <a:lnTo>
                  <a:pt x="8381" y="6604"/>
                </a:lnTo>
                <a:lnTo>
                  <a:pt x="6985" y="7112"/>
                </a:lnTo>
                <a:lnTo>
                  <a:pt x="5714" y="7619"/>
                </a:lnTo>
                <a:lnTo>
                  <a:pt x="3301" y="8000"/>
                </a:lnTo>
                <a:lnTo>
                  <a:pt x="0" y="8000"/>
                </a:lnTo>
                <a:lnTo>
                  <a:pt x="0" y="10668"/>
                </a:lnTo>
                <a:lnTo>
                  <a:pt x="10922" y="10668"/>
                </a:lnTo>
                <a:lnTo>
                  <a:pt x="10922" y="41401"/>
                </a:lnTo>
                <a:lnTo>
                  <a:pt x="14731" y="41401"/>
                </a:lnTo>
                <a:lnTo>
                  <a:pt x="14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16273" y="2577972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4" y="0"/>
                </a:moveTo>
                <a:lnTo>
                  <a:pt x="8889" y="0"/>
                </a:lnTo>
                <a:lnTo>
                  <a:pt x="5714" y="1269"/>
                </a:lnTo>
                <a:lnTo>
                  <a:pt x="3301" y="3810"/>
                </a:lnTo>
                <a:lnTo>
                  <a:pt x="1015" y="6476"/>
                </a:lnTo>
                <a:lnTo>
                  <a:pt x="0" y="9906"/>
                </a:lnTo>
                <a:lnTo>
                  <a:pt x="0" y="14731"/>
                </a:lnTo>
                <a:lnTo>
                  <a:pt x="3682" y="14731"/>
                </a:lnTo>
                <a:lnTo>
                  <a:pt x="3809" y="10540"/>
                </a:lnTo>
                <a:lnTo>
                  <a:pt x="4571" y="7874"/>
                </a:lnTo>
                <a:lnTo>
                  <a:pt x="7874" y="4063"/>
                </a:lnTo>
                <a:lnTo>
                  <a:pt x="10159" y="3175"/>
                </a:lnTo>
                <a:lnTo>
                  <a:pt x="22606" y="3175"/>
                </a:lnTo>
                <a:lnTo>
                  <a:pt x="20193" y="1015"/>
                </a:lnTo>
                <a:lnTo>
                  <a:pt x="171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15257" y="2581147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2" y="0"/>
                </a:moveTo>
                <a:lnTo>
                  <a:pt x="16764" y="0"/>
                </a:lnTo>
                <a:lnTo>
                  <a:pt x="19050" y="762"/>
                </a:lnTo>
                <a:lnTo>
                  <a:pt x="22479" y="3937"/>
                </a:lnTo>
                <a:lnTo>
                  <a:pt x="23368" y="5968"/>
                </a:lnTo>
                <a:lnTo>
                  <a:pt x="23368" y="11049"/>
                </a:lnTo>
                <a:lnTo>
                  <a:pt x="22479" y="13335"/>
                </a:lnTo>
                <a:lnTo>
                  <a:pt x="20828" y="15239"/>
                </a:lnTo>
                <a:lnTo>
                  <a:pt x="19304" y="17144"/>
                </a:lnTo>
                <a:lnTo>
                  <a:pt x="16256" y="19557"/>
                </a:lnTo>
                <a:lnTo>
                  <a:pt x="0" y="35560"/>
                </a:lnTo>
                <a:lnTo>
                  <a:pt x="0" y="38607"/>
                </a:lnTo>
                <a:lnTo>
                  <a:pt x="27305" y="38607"/>
                </a:lnTo>
                <a:lnTo>
                  <a:pt x="27305" y="35179"/>
                </a:lnTo>
                <a:lnTo>
                  <a:pt x="4191" y="35179"/>
                </a:lnTo>
                <a:lnTo>
                  <a:pt x="4444" y="33527"/>
                </a:lnTo>
                <a:lnTo>
                  <a:pt x="5461" y="32004"/>
                </a:lnTo>
                <a:lnTo>
                  <a:pt x="8509" y="28701"/>
                </a:lnTo>
                <a:lnTo>
                  <a:pt x="11049" y="26669"/>
                </a:lnTo>
                <a:lnTo>
                  <a:pt x="19558" y="21589"/>
                </a:lnTo>
                <a:lnTo>
                  <a:pt x="22733" y="18923"/>
                </a:lnTo>
                <a:lnTo>
                  <a:pt x="24511" y="16510"/>
                </a:lnTo>
                <a:lnTo>
                  <a:pt x="26289" y="13969"/>
                </a:lnTo>
                <a:lnTo>
                  <a:pt x="27050" y="11556"/>
                </a:lnTo>
                <a:lnTo>
                  <a:pt x="27178" y="4952"/>
                </a:lnTo>
                <a:lnTo>
                  <a:pt x="25908" y="2158"/>
                </a:lnTo>
                <a:lnTo>
                  <a:pt x="236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48277" y="2577972"/>
            <a:ext cx="24765" cy="43180"/>
          </a:xfrm>
          <a:custGeom>
            <a:avLst/>
            <a:gdLst/>
            <a:ahLst/>
            <a:cxnLst/>
            <a:rect l="l" t="t" r="r" b="b"/>
            <a:pathLst>
              <a:path w="24765" h="43180">
                <a:moveTo>
                  <a:pt x="17780" y="0"/>
                </a:moveTo>
                <a:lnTo>
                  <a:pt x="10668" y="0"/>
                </a:lnTo>
                <a:lnTo>
                  <a:pt x="7747" y="1015"/>
                </a:lnTo>
                <a:lnTo>
                  <a:pt x="2921" y="4699"/>
                </a:lnTo>
                <a:lnTo>
                  <a:pt x="1651" y="7238"/>
                </a:lnTo>
                <a:lnTo>
                  <a:pt x="8509" y="19557"/>
                </a:lnTo>
                <a:lnTo>
                  <a:pt x="5715" y="20193"/>
                </a:lnTo>
                <a:lnTo>
                  <a:pt x="3683" y="21462"/>
                </a:lnTo>
                <a:lnTo>
                  <a:pt x="762" y="25526"/>
                </a:lnTo>
                <a:lnTo>
                  <a:pt x="127" y="27558"/>
                </a:lnTo>
                <a:lnTo>
                  <a:pt x="0" y="34162"/>
                </a:lnTo>
                <a:lnTo>
                  <a:pt x="1270" y="37083"/>
                </a:lnTo>
                <a:lnTo>
                  <a:pt x="6604" y="41529"/>
                </a:lnTo>
                <a:lnTo>
                  <a:pt x="10033" y="42671"/>
                </a:lnTo>
                <a:lnTo>
                  <a:pt x="18542" y="42671"/>
                </a:lnTo>
                <a:lnTo>
                  <a:pt x="22098" y="41656"/>
                </a:lnTo>
                <a:lnTo>
                  <a:pt x="24511" y="39496"/>
                </a:lnTo>
                <a:lnTo>
                  <a:pt x="11176" y="39496"/>
                </a:lnTo>
                <a:lnTo>
                  <a:pt x="8636" y="38735"/>
                </a:lnTo>
                <a:lnTo>
                  <a:pt x="4699" y="35432"/>
                </a:lnTo>
                <a:lnTo>
                  <a:pt x="3810" y="33146"/>
                </a:lnTo>
                <a:lnTo>
                  <a:pt x="3810" y="27431"/>
                </a:lnTo>
                <a:lnTo>
                  <a:pt x="4699" y="25273"/>
                </a:lnTo>
                <a:lnTo>
                  <a:pt x="6477" y="23621"/>
                </a:lnTo>
                <a:lnTo>
                  <a:pt x="8382" y="21970"/>
                </a:lnTo>
                <a:lnTo>
                  <a:pt x="10922" y="21208"/>
                </a:lnTo>
                <a:lnTo>
                  <a:pt x="24638" y="21208"/>
                </a:lnTo>
                <a:lnTo>
                  <a:pt x="22860" y="20193"/>
                </a:lnTo>
                <a:lnTo>
                  <a:pt x="20066" y="19557"/>
                </a:lnTo>
                <a:lnTo>
                  <a:pt x="22352" y="18795"/>
                </a:lnTo>
                <a:lnTo>
                  <a:pt x="23368" y="18161"/>
                </a:lnTo>
                <a:lnTo>
                  <a:pt x="11430" y="18161"/>
                </a:lnTo>
                <a:lnTo>
                  <a:pt x="9398" y="17399"/>
                </a:lnTo>
                <a:lnTo>
                  <a:pt x="6223" y="14605"/>
                </a:lnTo>
                <a:lnTo>
                  <a:pt x="5334" y="12826"/>
                </a:lnTo>
                <a:lnTo>
                  <a:pt x="5461" y="8127"/>
                </a:lnTo>
                <a:lnTo>
                  <a:pt x="6223" y="6476"/>
                </a:lnTo>
                <a:lnTo>
                  <a:pt x="9652" y="3810"/>
                </a:lnTo>
                <a:lnTo>
                  <a:pt x="11811" y="3175"/>
                </a:lnTo>
                <a:lnTo>
                  <a:pt x="23749" y="3175"/>
                </a:lnTo>
                <a:lnTo>
                  <a:pt x="20828" y="1015"/>
                </a:lnTo>
                <a:lnTo>
                  <a:pt x="1778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65295" y="2581147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59" h="15239">
                <a:moveTo>
                  <a:pt x="6731" y="0"/>
                </a:moveTo>
                <a:lnTo>
                  <a:pt x="0" y="0"/>
                </a:lnTo>
                <a:lnTo>
                  <a:pt x="2159" y="635"/>
                </a:lnTo>
                <a:lnTo>
                  <a:pt x="3810" y="2031"/>
                </a:lnTo>
                <a:lnTo>
                  <a:pt x="5334" y="3175"/>
                </a:lnTo>
                <a:lnTo>
                  <a:pt x="6223" y="4952"/>
                </a:lnTo>
                <a:lnTo>
                  <a:pt x="6096" y="9651"/>
                </a:lnTo>
                <a:lnTo>
                  <a:pt x="5461" y="11430"/>
                </a:lnTo>
                <a:lnTo>
                  <a:pt x="2412" y="14224"/>
                </a:lnTo>
                <a:lnTo>
                  <a:pt x="127" y="14986"/>
                </a:lnTo>
                <a:lnTo>
                  <a:pt x="6350" y="14986"/>
                </a:lnTo>
                <a:lnTo>
                  <a:pt x="6985" y="14605"/>
                </a:lnTo>
                <a:lnTo>
                  <a:pt x="8128" y="12954"/>
                </a:lnTo>
                <a:lnTo>
                  <a:pt x="9398" y="11302"/>
                </a:lnTo>
                <a:lnTo>
                  <a:pt x="9906" y="9651"/>
                </a:lnTo>
                <a:lnTo>
                  <a:pt x="9906" y="4063"/>
                </a:lnTo>
                <a:lnTo>
                  <a:pt x="8762" y="1524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65803" y="2599181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7112" y="0"/>
                </a:moveTo>
                <a:lnTo>
                  <a:pt x="126" y="0"/>
                </a:lnTo>
                <a:lnTo>
                  <a:pt x="2666" y="889"/>
                </a:lnTo>
                <a:lnTo>
                  <a:pt x="6476" y="4191"/>
                </a:lnTo>
                <a:lnTo>
                  <a:pt x="7365" y="6223"/>
                </a:lnTo>
                <a:lnTo>
                  <a:pt x="7365" y="11937"/>
                </a:lnTo>
                <a:lnTo>
                  <a:pt x="6350" y="14224"/>
                </a:lnTo>
                <a:lnTo>
                  <a:pt x="4444" y="15875"/>
                </a:lnTo>
                <a:lnTo>
                  <a:pt x="2666" y="17526"/>
                </a:lnTo>
                <a:lnTo>
                  <a:pt x="0" y="18287"/>
                </a:lnTo>
                <a:lnTo>
                  <a:pt x="6984" y="18287"/>
                </a:lnTo>
                <a:lnTo>
                  <a:pt x="9778" y="16002"/>
                </a:lnTo>
                <a:lnTo>
                  <a:pt x="11175" y="12954"/>
                </a:lnTo>
                <a:lnTo>
                  <a:pt x="11175" y="6223"/>
                </a:lnTo>
                <a:lnTo>
                  <a:pt x="10413" y="3937"/>
                </a:lnTo>
                <a:lnTo>
                  <a:pt x="7493" y="254"/>
                </a:lnTo>
                <a:lnTo>
                  <a:pt x="7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18255" y="27043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18255" y="266785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042283" y="2684654"/>
            <a:ext cx="106680" cy="426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13493" y="2769768"/>
            <a:ext cx="563917" cy="187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18255" y="30228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18255" y="29863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36187" y="3003168"/>
            <a:ext cx="121919" cy="53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3493" y="2451251"/>
            <a:ext cx="563917" cy="82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8255" y="238580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8255" y="234933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42283" y="2366138"/>
            <a:ext cx="106680" cy="42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50031" y="2132735"/>
            <a:ext cx="827379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84068" y="2084577"/>
            <a:ext cx="1026794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conv3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2700" marR="730250">
              <a:lnSpc>
                <a:spcPts val="2770"/>
              </a:lnSpc>
              <a:spcBef>
                <a:spcPts val="31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v2  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50031" y="290664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2"/>
                </a:lnTo>
                <a:lnTo>
                  <a:pt x="1396" y="7619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7"/>
                </a:lnTo>
                <a:lnTo>
                  <a:pt x="7200" y="30987"/>
                </a:lnTo>
                <a:lnTo>
                  <a:pt x="10909" y="32385"/>
                </a:lnTo>
                <a:lnTo>
                  <a:pt x="19545" y="32385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3"/>
                </a:lnTo>
                <a:lnTo>
                  <a:pt x="10248" y="23494"/>
                </a:lnTo>
                <a:lnTo>
                  <a:pt x="9055" y="21717"/>
                </a:lnTo>
                <a:lnTo>
                  <a:pt x="8458" y="19304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80"/>
                </a:lnTo>
                <a:lnTo>
                  <a:pt x="22961" y="1016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67443" y="2912998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7"/>
                </a:lnTo>
                <a:lnTo>
                  <a:pt x="3454" y="2286"/>
                </a:lnTo>
                <a:lnTo>
                  <a:pt x="4114" y="3556"/>
                </a:lnTo>
                <a:lnTo>
                  <a:pt x="4381" y="5334"/>
                </a:lnTo>
                <a:lnTo>
                  <a:pt x="12649" y="5334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67316" y="2926460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6"/>
                </a:lnTo>
                <a:lnTo>
                  <a:pt x="1498" y="5842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84144" y="290664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7"/>
                </a:lnTo>
                <a:lnTo>
                  <a:pt x="1435" y="7493"/>
                </a:lnTo>
                <a:lnTo>
                  <a:pt x="0" y="11430"/>
                </a:lnTo>
                <a:lnTo>
                  <a:pt x="25" y="21209"/>
                </a:lnTo>
                <a:lnTo>
                  <a:pt x="1435" y="25018"/>
                </a:lnTo>
                <a:lnTo>
                  <a:pt x="4292" y="28067"/>
                </a:lnTo>
                <a:lnTo>
                  <a:pt x="7200" y="30987"/>
                </a:lnTo>
                <a:lnTo>
                  <a:pt x="11061" y="32385"/>
                </a:lnTo>
                <a:lnTo>
                  <a:pt x="20612" y="32385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3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4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7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02368" y="2912998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7"/>
                </a:lnTo>
                <a:lnTo>
                  <a:pt x="4444" y="4444"/>
                </a:lnTo>
                <a:lnTo>
                  <a:pt x="5003" y="6604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3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9"/>
                </a:lnTo>
                <a:lnTo>
                  <a:pt x="13538" y="5080"/>
                </a:lnTo>
                <a:lnTo>
                  <a:pt x="12064" y="1143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29610" y="2906648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1"/>
                </a:lnTo>
                <a:lnTo>
                  <a:pt x="3975" y="1397"/>
                </a:lnTo>
                <a:lnTo>
                  <a:pt x="2311" y="2159"/>
                </a:lnTo>
                <a:lnTo>
                  <a:pt x="990" y="3429"/>
                </a:lnTo>
                <a:lnTo>
                  <a:pt x="0" y="5080"/>
                </a:lnTo>
                <a:lnTo>
                  <a:pt x="19735" y="5080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21342" y="2907410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1"/>
                </a:lnTo>
                <a:lnTo>
                  <a:pt x="8458" y="30861"/>
                </a:lnTo>
                <a:lnTo>
                  <a:pt x="8458" y="11556"/>
                </a:lnTo>
                <a:lnTo>
                  <a:pt x="8953" y="9398"/>
                </a:lnTo>
                <a:lnTo>
                  <a:pt x="9956" y="8000"/>
                </a:lnTo>
                <a:lnTo>
                  <a:pt x="11010" y="6604"/>
                </a:lnTo>
                <a:lnTo>
                  <a:pt x="12712" y="5842"/>
                </a:lnTo>
                <a:lnTo>
                  <a:pt x="28460" y="5842"/>
                </a:lnTo>
                <a:lnTo>
                  <a:pt x="28003" y="4318"/>
                </a:lnTo>
                <a:lnTo>
                  <a:pt x="8064" y="4318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8296" y="2913252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4"/>
                </a:lnTo>
                <a:lnTo>
                  <a:pt x="2159" y="1905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53676" y="2907410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1"/>
                </a:lnTo>
                <a:lnTo>
                  <a:pt x="19913" y="30861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69107" y="290741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88665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29" y="7620"/>
                </a:lnTo>
                <a:lnTo>
                  <a:pt x="3975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20516" y="2918370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45904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42" y="7620"/>
                </a:lnTo>
                <a:lnTo>
                  <a:pt x="398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50031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3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6"/>
                </a:lnTo>
                <a:lnTo>
                  <a:pt x="9017" y="11303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6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67380" y="2811906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1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67240" y="2825622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2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84017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6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02165" y="2811906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6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29292" y="2805429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6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21063" y="2806318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37954" y="2812287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53270" y="2806318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68637" y="2806318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88119" y="2795142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3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19843" y="281742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42957" y="2794380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42068" y="2801746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9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80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50031" y="2489580"/>
            <a:ext cx="222377" cy="1446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18255" y="196593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18255" y="193022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042283" y="1945512"/>
            <a:ext cx="106680" cy="44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13493" y="1600859"/>
            <a:ext cx="563917" cy="189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18255" y="1536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18255" y="150046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042283" y="1517270"/>
            <a:ext cx="106680" cy="42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13493" y="1177187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18255" y="111173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8255" y="107526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042283" y="1092074"/>
            <a:ext cx="106680" cy="426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13493" y="646835"/>
            <a:ext cx="563917" cy="3994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50031" y="1197228"/>
            <a:ext cx="830427" cy="27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50031" y="1625472"/>
            <a:ext cx="827379" cy="2757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17087" y="985394"/>
            <a:ext cx="85343" cy="4267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17087" y="884808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17087" y="782700"/>
            <a:ext cx="86868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12159" y="2029293"/>
            <a:ext cx="565251" cy="8379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531540" y="2005075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67554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10" dirty="0"/>
              <a:t>析</a:t>
            </a:r>
            <a:r>
              <a:rPr spc="-5" dirty="0"/>
              <a:t>——VGG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91482" y="1148985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2" y="1423305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2" y="1698006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2120" y="1135523"/>
            <a:ext cx="990600" cy="321945"/>
          </a:xfrm>
          <a:custGeom>
            <a:avLst/>
            <a:gdLst/>
            <a:ahLst/>
            <a:cxnLst/>
            <a:rect l="l" t="t" r="r" b="b"/>
            <a:pathLst>
              <a:path w="990600" h="321944">
                <a:moveTo>
                  <a:pt x="0" y="321564"/>
                </a:moveTo>
                <a:lnTo>
                  <a:pt x="990600" y="321564"/>
                </a:lnTo>
                <a:lnTo>
                  <a:pt x="990600" y="0"/>
                </a:lnTo>
                <a:lnTo>
                  <a:pt x="0" y="0"/>
                </a:lnTo>
                <a:lnTo>
                  <a:pt x="0" y="32156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8216" y="1568339"/>
            <a:ext cx="992505" cy="323215"/>
          </a:xfrm>
          <a:custGeom>
            <a:avLst/>
            <a:gdLst/>
            <a:ahLst/>
            <a:cxnLst/>
            <a:rect l="l" t="t" r="r" b="b"/>
            <a:pathLst>
              <a:path w="992505" h="323214">
                <a:moveTo>
                  <a:pt x="0" y="323088"/>
                </a:moveTo>
                <a:lnTo>
                  <a:pt x="992123" y="323088"/>
                </a:lnTo>
                <a:lnTo>
                  <a:pt x="992123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1630" y="1648349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212" y="121489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3493" y="2535846"/>
            <a:ext cx="563917" cy="809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8256" y="268223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8256" y="264576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2284" y="2662571"/>
            <a:ext cx="106680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3493" y="2747685"/>
            <a:ext cx="563917" cy="1876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8256" y="30007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8256" y="29642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36188" y="2981087"/>
            <a:ext cx="121919" cy="53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3493" y="2429169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18256" y="236372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18256" y="232725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42284" y="2344055"/>
            <a:ext cx="106680" cy="42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0032" y="2110653"/>
            <a:ext cx="827379" cy="1876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84068" y="2061861"/>
            <a:ext cx="1026794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conv3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2700" marR="730250">
              <a:lnSpc>
                <a:spcPts val="2770"/>
              </a:lnSpc>
              <a:spcBef>
                <a:spcPts val="31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v2  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0032" y="2884567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1"/>
                </a:lnTo>
                <a:lnTo>
                  <a:pt x="1396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6"/>
                </a:lnTo>
                <a:lnTo>
                  <a:pt x="7200" y="30987"/>
                </a:lnTo>
                <a:lnTo>
                  <a:pt x="10909" y="32384"/>
                </a:lnTo>
                <a:lnTo>
                  <a:pt x="19545" y="32384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2"/>
                </a:lnTo>
                <a:lnTo>
                  <a:pt x="10248" y="23494"/>
                </a:lnTo>
                <a:lnTo>
                  <a:pt x="9055" y="21716"/>
                </a:lnTo>
                <a:lnTo>
                  <a:pt x="8458" y="19303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79"/>
                </a:lnTo>
                <a:lnTo>
                  <a:pt x="22961" y="1015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7443" y="2890917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6"/>
                </a:lnTo>
                <a:lnTo>
                  <a:pt x="3454" y="2286"/>
                </a:lnTo>
                <a:lnTo>
                  <a:pt x="4114" y="3555"/>
                </a:lnTo>
                <a:lnTo>
                  <a:pt x="4381" y="5333"/>
                </a:lnTo>
                <a:lnTo>
                  <a:pt x="12649" y="5333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7316" y="2904379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5"/>
                </a:lnTo>
                <a:lnTo>
                  <a:pt x="1498" y="5841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4144" y="2884567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6"/>
                </a:lnTo>
                <a:lnTo>
                  <a:pt x="1435" y="7492"/>
                </a:lnTo>
                <a:lnTo>
                  <a:pt x="0" y="11429"/>
                </a:lnTo>
                <a:lnTo>
                  <a:pt x="25" y="21208"/>
                </a:lnTo>
                <a:lnTo>
                  <a:pt x="1435" y="25018"/>
                </a:lnTo>
                <a:lnTo>
                  <a:pt x="4292" y="28066"/>
                </a:lnTo>
                <a:lnTo>
                  <a:pt x="7200" y="30987"/>
                </a:lnTo>
                <a:lnTo>
                  <a:pt x="11061" y="32384"/>
                </a:lnTo>
                <a:lnTo>
                  <a:pt x="20612" y="32384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2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3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6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02368" y="2890917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6"/>
                </a:lnTo>
                <a:lnTo>
                  <a:pt x="4444" y="4444"/>
                </a:lnTo>
                <a:lnTo>
                  <a:pt x="5003" y="6603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2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8"/>
                </a:lnTo>
                <a:lnTo>
                  <a:pt x="13538" y="5079"/>
                </a:lnTo>
                <a:lnTo>
                  <a:pt x="12064" y="1142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9610" y="2884567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0"/>
                </a:lnTo>
                <a:lnTo>
                  <a:pt x="3975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79"/>
                </a:lnTo>
                <a:lnTo>
                  <a:pt x="19735" y="5079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1342" y="2885329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0"/>
                </a:lnTo>
                <a:lnTo>
                  <a:pt x="8458" y="30860"/>
                </a:lnTo>
                <a:lnTo>
                  <a:pt x="8458" y="11556"/>
                </a:lnTo>
                <a:lnTo>
                  <a:pt x="8953" y="9397"/>
                </a:lnTo>
                <a:lnTo>
                  <a:pt x="9956" y="8000"/>
                </a:lnTo>
                <a:lnTo>
                  <a:pt x="11010" y="6603"/>
                </a:lnTo>
                <a:lnTo>
                  <a:pt x="12712" y="5841"/>
                </a:lnTo>
                <a:lnTo>
                  <a:pt x="28460" y="5841"/>
                </a:lnTo>
                <a:lnTo>
                  <a:pt x="28003" y="4317"/>
                </a:lnTo>
                <a:lnTo>
                  <a:pt x="8064" y="4317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8297" y="2891171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5"/>
                </a:lnTo>
                <a:lnTo>
                  <a:pt x="2159" y="1904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3676" y="2885329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0"/>
                </a:lnTo>
                <a:lnTo>
                  <a:pt x="19913" y="30860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9107" y="2885329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8665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29" y="7619"/>
                </a:lnTo>
                <a:lnTo>
                  <a:pt x="3975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20516" y="2896289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5904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42" y="7619"/>
                </a:lnTo>
                <a:lnTo>
                  <a:pt x="3987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50032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6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0871" y="33020"/>
                </a:lnTo>
                <a:lnTo>
                  <a:pt x="19469" y="33020"/>
                </a:lnTo>
                <a:lnTo>
                  <a:pt x="22809" y="31876"/>
                </a:lnTo>
                <a:lnTo>
                  <a:pt x="28028" y="27559"/>
                </a:lnTo>
                <a:lnTo>
                  <a:pt x="28486" y="26670"/>
                </a:lnTo>
                <a:lnTo>
                  <a:pt x="13182" y="26670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7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7380" y="2789825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67240" y="2803541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1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4017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20"/>
                </a:lnTo>
                <a:lnTo>
                  <a:pt x="0" y="11684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1010" y="33020"/>
                </a:lnTo>
                <a:lnTo>
                  <a:pt x="20523" y="33020"/>
                </a:lnTo>
                <a:lnTo>
                  <a:pt x="24358" y="31496"/>
                </a:lnTo>
                <a:lnTo>
                  <a:pt x="29146" y="26670"/>
                </a:lnTo>
                <a:lnTo>
                  <a:pt x="13512" y="26670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8"/>
                </a:lnTo>
                <a:lnTo>
                  <a:pt x="9093" y="10668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02165" y="2789825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4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7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29292" y="2783348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7"/>
                </a:lnTo>
                <a:lnTo>
                  <a:pt x="19659" y="5207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21063" y="2784237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9"/>
                </a:lnTo>
                <a:lnTo>
                  <a:pt x="8432" y="31369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9"/>
                </a:lnTo>
                <a:lnTo>
                  <a:pt x="28346" y="5969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37954" y="2790206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4"/>
                </a:lnTo>
                <a:lnTo>
                  <a:pt x="3009" y="3048"/>
                </a:lnTo>
                <a:lnTo>
                  <a:pt x="3428" y="4952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53270" y="278423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9"/>
                </a:lnTo>
                <a:lnTo>
                  <a:pt x="19837" y="31369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8637" y="2784237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8119" y="2773061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4"/>
                </a:lnTo>
                <a:lnTo>
                  <a:pt x="10515" y="4952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5"/>
                </a:lnTo>
                <a:lnTo>
                  <a:pt x="18834" y="42545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9843" y="2795341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42957" y="2772299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5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5"/>
                </a:lnTo>
                <a:lnTo>
                  <a:pt x="8026" y="17145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3"/>
                </a:lnTo>
                <a:lnTo>
                  <a:pt x="10934" y="8255"/>
                </a:lnTo>
                <a:lnTo>
                  <a:pt x="12560" y="7365"/>
                </a:lnTo>
                <a:lnTo>
                  <a:pt x="28422" y="7365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70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42068" y="2779665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5"/>
                </a:lnTo>
                <a:lnTo>
                  <a:pt x="21145" y="3048"/>
                </a:lnTo>
                <a:lnTo>
                  <a:pt x="21716" y="4699"/>
                </a:lnTo>
                <a:lnTo>
                  <a:pt x="21716" y="8128"/>
                </a:lnTo>
                <a:lnTo>
                  <a:pt x="16065" y="14859"/>
                </a:lnTo>
                <a:lnTo>
                  <a:pt x="0" y="33147"/>
                </a:lnTo>
                <a:lnTo>
                  <a:pt x="0" y="35941"/>
                </a:lnTo>
                <a:lnTo>
                  <a:pt x="30340" y="35941"/>
                </a:lnTo>
                <a:lnTo>
                  <a:pt x="30340" y="28448"/>
                </a:lnTo>
                <a:lnTo>
                  <a:pt x="10807" y="28448"/>
                </a:lnTo>
                <a:lnTo>
                  <a:pt x="11531" y="27432"/>
                </a:lnTo>
                <a:lnTo>
                  <a:pt x="12496" y="26289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7"/>
                </a:lnTo>
                <a:lnTo>
                  <a:pt x="24256" y="17780"/>
                </a:lnTo>
                <a:lnTo>
                  <a:pt x="26898" y="15367"/>
                </a:lnTo>
                <a:lnTo>
                  <a:pt x="28155" y="13208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2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50032" y="2467499"/>
            <a:ext cx="222377" cy="1446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8256" y="19438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8256" y="1908147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42284" y="1923431"/>
            <a:ext cx="106680" cy="441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13493" y="1578777"/>
            <a:ext cx="563917" cy="1891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18256" y="15148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18256" y="14783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42284" y="1495187"/>
            <a:ext cx="106680" cy="42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13493" y="1155106"/>
            <a:ext cx="563917" cy="1876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18256" y="10896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18256" y="105318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42284" y="1069991"/>
            <a:ext cx="106680" cy="426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3493" y="624754"/>
            <a:ext cx="563917" cy="3994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50032" y="1175147"/>
            <a:ext cx="830427" cy="274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50032" y="1603391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17088" y="963311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17088" y="862727"/>
            <a:ext cx="85343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17088" y="760619"/>
            <a:ext cx="86868" cy="426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12160" y="204368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18256" y="20133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909188" y="2024015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271" y="0"/>
                </a:lnTo>
                <a:lnTo>
                  <a:pt x="6223" y="1270"/>
                </a:lnTo>
                <a:lnTo>
                  <a:pt x="1270" y="6223"/>
                </a:lnTo>
                <a:lnTo>
                  <a:pt x="0" y="9525"/>
                </a:lnTo>
                <a:lnTo>
                  <a:pt x="0" y="13716"/>
                </a:lnTo>
                <a:lnTo>
                  <a:pt x="3683" y="13716"/>
                </a:lnTo>
                <a:lnTo>
                  <a:pt x="3683" y="10160"/>
                </a:lnTo>
                <a:lnTo>
                  <a:pt x="4571" y="7620"/>
                </a:lnTo>
                <a:lnTo>
                  <a:pt x="8000" y="4064"/>
                </a:lnTo>
                <a:lnTo>
                  <a:pt x="10287" y="3175"/>
                </a:lnTo>
                <a:lnTo>
                  <a:pt x="22733" y="3175"/>
                </a:lnTo>
                <a:lnTo>
                  <a:pt x="19812" y="889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919856" y="2027190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5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8" y="3428"/>
                </a:lnTo>
                <a:lnTo>
                  <a:pt x="11556" y="5334"/>
                </a:lnTo>
                <a:lnTo>
                  <a:pt x="11556" y="10160"/>
                </a:lnTo>
                <a:lnTo>
                  <a:pt x="10668" y="11938"/>
                </a:lnTo>
                <a:lnTo>
                  <a:pt x="7493" y="14732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3"/>
                </a:lnTo>
                <a:lnTo>
                  <a:pt x="10413" y="20954"/>
                </a:lnTo>
                <a:lnTo>
                  <a:pt x="12191" y="22351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5" y="32003"/>
                </a:lnTo>
                <a:lnTo>
                  <a:pt x="8000" y="35433"/>
                </a:lnTo>
                <a:lnTo>
                  <a:pt x="5460" y="36322"/>
                </a:lnTo>
                <a:lnTo>
                  <a:pt x="12446" y="36322"/>
                </a:lnTo>
                <a:lnTo>
                  <a:pt x="15493" y="33782"/>
                </a:lnTo>
                <a:lnTo>
                  <a:pt x="16763" y="30734"/>
                </a:lnTo>
                <a:lnTo>
                  <a:pt x="16763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175" y="17145"/>
                </a:lnTo>
                <a:lnTo>
                  <a:pt x="8381" y="16637"/>
                </a:lnTo>
                <a:lnTo>
                  <a:pt x="10540" y="16001"/>
                </a:lnTo>
                <a:lnTo>
                  <a:pt x="12191" y="14859"/>
                </a:lnTo>
                <a:lnTo>
                  <a:pt x="14731" y="11557"/>
                </a:lnTo>
                <a:lnTo>
                  <a:pt x="15366" y="9651"/>
                </a:lnTo>
                <a:lnTo>
                  <a:pt x="15366" y="4064"/>
                </a:lnTo>
                <a:lnTo>
                  <a:pt x="14096" y="1397"/>
                </a:lnTo>
                <a:lnTo>
                  <a:pt x="120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908265" y="2052590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717" y="0"/>
                </a:moveTo>
                <a:lnTo>
                  <a:pt x="34" y="0"/>
                </a:lnTo>
                <a:lnTo>
                  <a:pt x="0" y="3937"/>
                </a:lnTo>
                <a:lnTo>
                  <a:pt x="9940" y="14097"/>
                </a:lnTo>
                <a:lnTo>
                  <a:pt x="18322" y="14097"/>
                </a:lnTo>
                <a:lnTo>
                  <a:pt x="21624" y="12953"/>
                </a:lnTo>
                <a:lnTo>
                  <a:pt x="24037" y="10922"/>
                </a:lnTo>
                <a:lnTo>
                  <a:pt x="10956" y="10922"/>
                </a:lnTo>
                <a:lnTo>
                  <a:pt x="8416" y="10033"/>
                </a:lnTo>
                <a:lnTo>
                  <a:pt x="4733" y="6350"/>
                </a:lnTo>
                <a:lnTo>
                  <a:pt x="3717" y="3937"/>
                </a:lnTo>
                <a:lnTo>
                  <a:pt x="371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939414" y="2035318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8" y="0"/>
                </a:moveTo>
                <a:lnTo>
                  <a:pt x="889" y="0"/>
                </a:lnTo>
                <a:lnTo>
                  <a:pt x="11938" y="14605"/>
                </a:lnTo>
                <a:lnTo>
                  <a:pt x="0" y="30480"/>
                </a:lnTo>
                <a:lnTo>
                  <a:pt x="4572" y="30480"/>
                </a:lnTo>
                <a:lnTo>
                  <a:pt x="14097" y="17780"/>
                </a:lnTo>
                <a:lnTo>
                  <a:pt x="18796" y="17780"/>
                </a:lnTo>
                <a:lnTo>
                  <a:pt x="16510" y="14605"/>
                </a:lnTo>
                <a:lnTo>
                  <a:pt x="18669" y="11557"/>
                </a:lnTo>
                <a:lnTo>
                  <a:pt x="14351" y="11557"/>
                </a:lnTo>
                <a:lnTo>
                  <a:pt x="558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53765" y="2035318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7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953511" y="2053098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698" y="0"/>
                </a:moveTo>
                <a:lnTo>
                  <a:pt x="0" y="0"/>
                </a:lnTo>
                <a:lnTo>
                  <a:pt x="9651" y="12700"/>
                </a:lnTo>
                <a:lnTo>
                  <a:pt x="14350" y="12700"/>
                </a:lnTo>
                <a:lnTo>
                  <a:pt x="469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970656" y="2024015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397" y="0"/>
                </a:lnTo>
                <a:lnTo>
                  <a:pt x="6222" y="1270"/>
                </a:lnTo>
                <a:lnTo>
                  <a:pt x="1396" y="6223"/>
                </a:lnTo>
                <a:lnTo>
                  <a:pt x="127" y="9525"/>
                </a:lnTo>
                <a:lnTo>
                  <a:pt x="0" y="13716"/>
                </a:lnTo>
                <a:lnTo>
                  <a:pt x="3809" y="13716"/>
                </a:lnTo>
                <a:lnTo>
                  <a:pt x="3809" y="10160"/>
                </a:lnTo>
                <a:lnTo>
                  <a:pt x="4699" y="7620"/>
                </a:lnTo>
                <a:lnTo>
                  <a:pt x="8128" y="4064"/>
                </a:lnTo>
                <a:lnTo>
                  <a:pt x="10413" y="3175"/>
                </a:lnTo>
                <a:lnTo>
                  <a:pt x="22859" y="3175"/>
                </a:lnTo>
                <a:lnTo>
                  <a:pt x="19812" y="889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981451" y="2027190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5" y="0"/>
                </a:moveTo>
                <a:lnTo>
                  <a:pt x="5207" y="0"/>
                </a:lnTo>
                <a:lnTo>
                  <a:pt x="7365" y="635"/>
                </a:lnTo>
                <a:lnTo>
                  <a:pt x="10668" y="3428"/>
                </a:lnTo>
                <a:lnTo>
                  <a:pt x="11557" y="5334"/>
                </a:lnTo>
                <a:lnTo>
                  <a:pt x="11557" y="10160"/>
                </a:lnTo>
                <a:lnTo>
                  <a:pt x="10668" y="11938"/>
                </a:lnTo>
                <a:lnTo>
                  <a:pt x="7493" y="14732"/>
                </a:lnTo>
                <a:lnTo>
                  <a:pt x="5461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3" y="18542"/>
                </a:lnTo>
                <a:lnTo>
                  <a:pt x="8636" y="19303"/>
                </a:lnTo>
                <a:lnTo>
                  <a:pt x="10414" y="20954"/>
                </a:lnTo>
                <a:lnTo>
                  <a:pt x="12192" y="22351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5" y="32003"/>
                </a:lnTo>
                <a:lnTo>
                  <a:pt x="8001" y="35433"/>
                </a:lnTo>
                <a:lnTo>
                  <a:pt x="5461" y="36322"/>
                </a:lnTo>
                <a:lnTo>
                  <a:pt x="12318" y="36322"/>
                </a:lnTo>
                <a:lnTo>
                  <a:pt x="15367" y="33782"/>
                </a:lnTo>
                <a:lnTo>
                  <a:pt x="16764" y="30734"/>
                </a:lnTo>
                <a:lnTo>
                  <a:pt x="16764" y="24257"/>
                </a:lnTo>
                <a:lnTo>
                  <a:pt x="16129" y="22098"/>
                </a:lnTo>
                <a:lnTo>
                  <a:pt x="13335" y="18415"/>
                </a:lnTo>
                <a:lnTo>
                  <a:pt x="11176" y="17145"/>
                </a:lnTo>
                <a:lnTo>
                  <a:pt x="8382" y="16637"/>
                </a:lnTo>
                <a:lnTo>
                  <a:pt x="10540" y="16001"/>
                </a:lnTo>
                <a:lnTo>
                  <a:pt x="12192" y="14859"/>
                </a:lnTo>
                <a:lnTo>
                  <a:pt x="14605" y="11557"/>
                </a:lnTo>
                <a:lnTo>
                  <a:pt x="15240" y="9651"/>
                </a:lnTo>
                <a:lnTo>
                  <a:pt x="15240" y="4064"/>
                </a:lnTo>
                <a:lnTo>
                  <a:pt x="14096" y="1397"/>
                </a:lnTo>
                <a:lnTo>
                  <a:pt x="120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969767" y="2052590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10" y="0"/>
                </a:moveTo>
                <a:lnTo>
                  <a:pt x="0" y="0"/>
                </a:lnTo>
                <a:lnTo>
                  <a:pt x="0" y="5334"/>
                </a:lnTo>
                <a:lnTo>
                  <a:pt x="1270" y="8254"/>
                </a:lnTo>
                <a:lnTo>
                  <a:pt x="3937" y="10668"/>
                </a:lnTo>
                <a:lnTo>
                  <a:pt x="6604" y="12953"/>
                </a:lnTo>
                <a:lnTo>
                  <a:pt x="10033" y="14097"/>
                </a:lnTo>
                <a:lnTo>
                  <a:pt x="18288" y="14097"/>
                </a:lnTo>
                <a:lnTo>
                  <a:pt x="21717" y="12953"/>
                </a:lnTo>
                <a:lnTo>
                  <a:pt x="24003" y="10922"/>
                </a:lnTo>
                <a:lnTo>
                  <a:pt x="10921" y="10922"/>
                </a:lnTo>
                <a:lnTo>
                  <a:pt x="8509" y="10033"/>
                </a:lnTo>
                <a:lnTo>
                  <a:pt x="4699" y="6350"/>
                </a:lnTo>
                <a:lnTo>
                  <a:pt x="3810" y="3937"/>
                </a:lnTo>
                <a:lnTo>
                  <a:pt x="381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019424" y="2034429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034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3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1"/>
                </a:lnTo>
                <a:lnTo>
                  <a:pt x="23113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59"/>
                </a:lnTo>
                <a:lnTo>
                  <a:pt x="3809" y="19811"/>
                </a:lnTo>
                <a:lnTo>
                  <a:pt x="3809" y="12446"/>
                </a:lnTo>
                <a:lnTo>
                  <a:pt x="4698" y="9398"/>
                </a:lnTo>
                <a:lnTo>
                  <a:pt x="6603" y="6857"/>
                </a:lnTo>
                <a:lnTo>
                  <a:pt x="8635" y="4445"/>
                </a:lnTo>
                <a:lnTo>
                  <a:pt x="11303" y="3175"/>
                </a:lnTo>
                <a:lnTo>
                  <a:pt x="23494" y="3175"/>
                </a:lnTo>
                <a:lnTo>
                  <a:pt x="20954" y="888"/>
                </a:lnTo>
                <a:lnTo>
                  <a:pt x="1803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036188" y="2037604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731" y="0"/>
                </a:moveTo>
                <a:lnTo>
                  <a:pt x="0" y="0"/>
                </a:lnTo>
                <a:lnTo>
                  <a:pt x="1905" y="634"/>
                </a:lnTo>
                <a:lnTo>
                  <a:pt x="4825" y="3048"/>
                </a:lnTo>
                <a:lnTo>
                  <a:pt x="5842" y="4825"/>
                </a:lnTo>
                <a:lnTo>
                  <a:pt x="6350" y="7365"/>
                </a:lnTo>
                <a:lnTo>
                  <a:pt x="10159" y="7365"/>
                </a:lnTo>
                <a:lnTo>
                  <a:pt x="9778" y="4063"/>
                </a:lnTo>
                <a:lnTo>
                  <a:pt x="8509" y="1397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036188" y="2054876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4" y="0"/>
                </a:moveTo>
                <a:lnTo>
                  <a:pt x="6731" y="0"/>
                </a:lnTo>
                <a:lnTo>
                  <a:pt x="6350" y="2666"/>
                </a:lnTo>
                <a:lnTo>
                  <a:pt x="5334" y="4699"/>
                </a:lnTo>
                <a:lnTo>
                  <a:pt x="3556" y="6223"/>
                </a:lnTo>
                <a:lnTo>
                  <a:pt x="1905" y="7874"/>
                </a:lnTo>
                <a:lnTo>
                  <a:pt x="0" y="8635"/>
                </a:lnTo>
                <a:lnTo>
                  <a:pt x="6350" y="8635"/>
                </a:lnTo>
                <a:lnTo>
                  <a:pt x="8381" y="6730"/>
                </a:lnTo>
                <a:lnTo>
                  <a:pt x="9778" y="3809"/>
                </a:lnTo>
                <a:lnTo>
                  <a:pt x="1041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050158" y="2034429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730" y="1524"/>
                </a:lnTo>
                <a:lnTo>
                  <a:pt x="1396" y="7620"/>
                </a:lnTo>
                <a:lnTo>
                  <a:pt x="0" y="11429"/>
                </a:lnTo>
                <a:lnTo>
                  <a:pt x="0" y="20827"/>
                </a:lnTo>
                <a:lnTo>
                  <a:pt x="1396" y="24637"/>
                </a:lnTo>
                <a:lnTo>
                  <a:pt x="6730" y="30733"/>
                </a:lnTo>
                <a:lnTo>
                  <a:pt x="10286" y="32257"/>
                </a:lnTo>
                <a:lnTo>
                  <a:pt x="17525" y="32257"/>
                </a:lnTo>
                <a:lnTo>
                  <a:pt x="20192" y="31496"/>
                </a:lnTo>
                <a:lnTo>
                  <a:pt x="22478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762" y="27812"/>
                </a:lnTo>
                <a:lnTo>
                  <a:pt x="6730" y="25400"/>
                </a:lnTo>
                <a:lnTo>
                  <a:pt x="4825" y="22859"/>
                </a:lnTo>
                <a:lnTo>
                  <a:pt x="3809" y="19811"/>
                </a:lnTo>
                <a:lnTo>
                  <a:pt x="3809" y="12446"/>
                </a:lnTo>
                <a:lnTo>
                  <a:pt x="4825" y="9398"/>
                </a:lnTo>
                <a:lnTo>
                  <a:pt x="6603" y="6984"/>
                </a:lnTo>
                <a:lnTo>
                  <a:pt x="8762" y="4445"/>
                </a:lnTo>
                <a:lnTo>
                  <a:pt x="11303" y="3175"/>
                </a:lnTo>
                <a:lnTo>
                  <a:pt x="23875" y="3175"/>
                </a:lnTo>
                <a:lnTo>
                  <a:pt x="22478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067938" y="2037604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667" y="1270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6"/>
                </a:lnTo>
                <a:lnTo>
                  <a:pt x="6477" y="19557"/>
                </a:lnTo>
                <a:lnTo>
                  <a:pt x="2667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11303" y="15748"/>
                </a:lnTo>
                <a:lnTo>
                  <a:pt x="11303" y="8254"/>
                </a:lnTo>
                <a:lnTo>
                  <a:pt x="10033" y="4445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088639" y="2034429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716" y="0"/>
                </a:moveTo>
                <a:lnTo>
                  <a:pt x="7493" y="0"/>
                </a:lnTo>
                <a:lnTo>
                  <a:pt x="5588" y="634"/>
                </a:lnTo>
                <a:lnTo>
                  <a:pt x="3683" y="1777"/>
                </a:lnTo>
                <a:lnTo>
                  <a:pt x="1905" y="2921"/>
                </a:lnTo>
                <a:lnTo>
                  <a:pt x="635" y="4318"/>
                </a:lnTo>
                <a:lnTo>
                  <a:pt x="0" y="6096"/>
                </a:lnTo>
                <a:lnTo>
                  <a:pt x="2286" y="6096"/>
                </a:lnTo>
                <a:lnTo>
                  <a:pt x="2667" y="5587"/>
                </a:lnTo>
                <a:lnTo>
                  <a:pt x="4191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542" y="3175"/>
                </a:lnTo>
                <a:lnTo>
                  <a:pt x="16510" y="888"/>
                </a:lnTo>
                <a:lnTo>
                  <a:pt x="1371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084702" y="2035318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825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100704" y="2037604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1"/>
                </a:lnTo>
                <a:lnTo>
                  <a:pt x="3175" y="2285"/>
                </a:lnTo>
                <a:lnTo>
                  <a:pt x="4571" y="3809"/>
                </a:lnTo>
                <a:lnTo>
                  <a:pt x="5207" y="5969"/>
                </a:lnTo>
                <a:lnTo>
                  <a:pt x="5207" y="28194"/>
                </a:lnTo>
                <a:lnTo>
                  <a:pt x="8890" y="28194"/>
                </a:lnTo>
                <a:lnTo>
                  <a:pt x="8890" y="4445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113277" y="2035318"/>
            <a:ext cx="17145" cy="30480"/>
          </a:xfrm>
          <a:custGeom>
            <a:avLst/>
            <a:gdLst/>
            <a:ahLst/>
            <a:cxnLst/>
            <a:rect l="l" t="t" r="r" b="b"/>
            <a:pathLst>
              <a:path w="17144" h="30480">
                <a:moveTo>
                  <a:pt x="4063" y="0"/>
                </a:moveTo>
                <a:lnTo>
                  <a:pt x="0" y="0"/>
                </a:lnTo>
                <a:lnTo>
                  <a:pt x="11810" y="30480"/>
                </a:lnTo>
                <a:lnTo>
                  <a:pt x="15747" y="30480"/>
                </a:lnTo>
                <a:lnTo>
                  <a:pt x="17144" y="26670"/>
                </a:lnTo>
                <a:lnTo>
                  <a:pt x="13715" y="26670"/>
                </a:lnTo>
                <a:lnTo>
                  <a:pt x="40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127120" y="2035318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146043" y="2059575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4" y="0"/>
                </a:moveTo>
                <a:lnTo>
                  <a:pt x="381" y="0"/>
                </a:lnTo>
                <a:lnTo>
                  <a:pt x="381" y="6223"/>
                </a:lnTo>
                <a:lnTo>
                  <a:pt x="2793" y="6223"/>
                </a:lnTo>
                <a:lnTo>
                  <a:pt x="2681" y="8127"/>
                </a:lnTo>
                <a:lnTo>
                  <a:pt x="2540" y="8762"/>
                </a:lnTo>
                <a:lnTo>
                  <a:pt x="1975" y="9778"/>
                </a:lnTo>
                <a:lnTo>
                  <a:pt x="1523" y="10794"/>
                </a:lnTo>
                <a:lnTo>
                  <a:pt x="888" y="11429"/>
                </a:lnTo>
                <a:lnTo>
                  <a:pt x="0" y="11810"/>
                </a:lnTo>
                <a:lnTo>
                  <a:pt x="0" y="14350"/>
                </a:lnTo>
                <a:lnTo>
                  <a:pt x="1778" y="13842"/>
                </a:lnTo>
                <a:lnTo>
                  <a:pt x="3047" y="12826"/>
                </a:lnTo>
                <a:lnTo>
                  <a:pt x="4825" y="9778"/>
                </a:lnTo>
                <a:lnTo>
                  <a:pt x="5334" y="8127"/>
                </a:lnTo>
                <a:lnTo>
                  <a:pt x="533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176777" y="2024015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5" y="0"/>
                </a:moveTo>
                <a:lnTo>
                  <a:pt x="9017" y="0"/>
                </a:lnTo>
                <a:lnTo>
                  <a:pt x="5715" y="1270"/>
                </a:lnTo>
                <a:lnTo>
                  <a:pt x="3302" y="3810"/>
                </a:lnTo>
                <a:lnTo>
                  <a:pt x="1143" y="6476"/>
                </a:lnTo>
                <a:lnTo>
                  <a:pt x="0" y="9905"/>
                </a:lnTo>
                <a:lnTo>
                  <a:pt x="0" y="14732"/>
                </a:lnTo>
                <a:lnTo>
                  <a:pt x="3683" y="14732"/>
                </a:lnTo>
                <a:lnTo>
                  <a:pt x="3810" y="10541"/>
                </a:lnTo>
                <a:lnTo>
                  <a:pt x="4699" y="7874"/>
                </a:lnTo>
                <a:lnTo>
                  <a:pt x="7874" y="4064"/>
                </a:lnTo>
                <a:lnTo>
                  <a:pt x="10160" y="3175"/>
                </a:lnTo>
                <a:lnTo>
                  <a:pt x="22606" y="3175"/>
                </a:lnTo>
                <a:lnTo>
                  <a:pt x="20193" y="1016"/>
                </a:lnTo>
                <a:lnTo>
                  <a:pt x="1714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75761" y="2027190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1" y="0"/>
                </a:moveTo>
                <a:lnTo>
                  <a:pt x="16890" y="0"/>
                </a:lnTo>
                <a:lnTo>
                  <a:pt x="19050" y="762"/>
                </a:lnTo>
                <a:lnTo>
                  <a:pt x="22478" y="3937"/>
                </a:lnTo>
                <a:lnTo>
                  <a:pt x="23368" y="5969"/>
                </a:lnTo>
                <a:lnTo>
                  <a:pt x="23368" y="11049"/>
                </a:lnTo>
                <a:lnTo>
                  <a:pt x="22478" y="13335"/>
                </a:lnTo>
                <a:lnTo>
                  <a:pt x="20827" y="15240"/>
                </a:lnTo>
                <a:lnTo>
                  <a:pt x="19303" y="17145"/>
                </a:lnTo>
                <a:lnTo>
                  <a:pt x="16256" y="19558"/>
                </a:lnTo>
                <a:lnTo>
                  <a:pt x="0" y="35560"/>
                </a:lnTo>
                <a:lnTo>
                  <a:pt x="0" y="38608"/>
                </a:lnTo>
                <a:lnTo>
                  <a:pt x="27305" y="38608"/>
                </a:lnTo>
                <a:lnTo>
                  <a:pt x="27305" y="35178"/>
                </a:lnTo>
                <a:lnTo>
                  <a:pt x="4190" y="35178"/>
                </a:lnTo>
                <a:lnTo>
                  <a:pt x="4571" y="33527"/>
                </a:lnTo>
                <a:lnTo>
                  <a:pt x="5461" y="32003"/>
                </a:lnTo>
                <a:lnTo>
                  <a:pt x="8508" y="28701"/>
                </a:lnTo>
                <a:lnTo>
                  <a:pt x="11049" y="26670"/>
                </a:lnTo>
                <a:lnTo>
                  <a:pt x="19557" y="21590"/>
                </a:lnTo>
                <a:lnTo>
                  <a:pt x="22732" y="18923"/>
                </a:lnTo>
                <a:lnTo>
                  <a:pt x="24511" y="16510"/>
                </a:lnTo>
                <a:lnTo>
                  <a:pt x="26288" y="13970"/>
                </a:lnTo>
                <a:lnTo>
                  <a:pt x="27050" y="11557"/>
                </a:lnTo>
                <a:lnTo>
                  <a:pt x="27177" y="4952"/>
                </a:lnTo>
                <a:lnTo>
                  <a:pt x="25907" y="2159"/>
                </a:lnTo>
                <a:lnTo>
                  <a:pt x="2362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209924" y="2025031"/>
            <a:ext cx="25400" cy="21590"/>
          </a:xfrm>
          <a:custGeom>
            <a:avLst/>
            <a:gdLst/>
            <a:ahLst/>
            <a:cxnLst/>
            <a:rect l="l" t="t" r="r" b="b"/>
            <a:pathLst>
              <a:path w="25400" h="21589">
                <a:moveTo>
                  <a:pt x="24892" y="0"/>
                </a:moveTo>
                <a:lnTo>
                  <a:pt x="4190" y="0"/>
                </a:lnTo>
                <a:lnTo>
                  <a:pt x="0" y="21335"/>
                </a:lnTo>
                <a:lnTo>
                  <a:pt x="3175" y="21335"/>
                </a:lnTo>
                <a:lnTo>
                  <a:pt x="4318" y="19684"/>
                </a:lnTo>
                <a:lnTo>
                  <a:pt x="5714" y="18542"/>
                </a:lnTo>
                <a:lnTo>
                  <a:pt x="7365" y="17652"/>
                </a:lnTo>
                <a:lnTo>
                  <a:pt x="8381" y="17272"/>
                </a:lnTo>
                <a:lnTo>
                  <a:pt x="4190" y="17272"/>
                </a:lnTo>
                <a:lnTo>
                  <a:pt x="6731" y="3301"/>
                </a:lnTo>
                <a:lnTo>
                  <a:pt x="24892" y="3301"/>
                </a:lnTo>
                <a:lnTo>
                  <a:pt x="2489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14115" y="2038366"/>
            <a:ext cx="18415" cy="4445"/>
          </a:xfrm>
          <a:custGeom>
            <a:avLst/>
            <a:gdLst/>
            <a:ahLst/>
            <a:cxnLst/>
            <a:rect l="l" t="t" r="r" b="b"/>
            <a:pathLst>
              <a:path w="18415" h="4444">
                <a:moveTo>
                  <a:pt x="13081" y="0"/>
                </a:moveTo>
                <a:lnTo>
                  <a:pt x="7112" y="0"/>
                </a:lnTo>
                <a:lnTo>
                  <a:pt x="5461" y="381"/>
                </a:lnTo>
                <a:lnTo>
                  <a:pt x="2412" y="1650"/>
                </a:lnTo>
                <a:lnTo>
                  <a:pt x="1016" y="2667"/>
                </a:lnTo>
                <a:lnTo>
                  <a:pt x="0" y="3937"/>
                </a:lnTo>
                <a:lnTo>
                  <a:pt x="4191" y="3937"/>
                </a:lnTo>
                <a:lnTo>
                  <a:pt x="4826" y="3556"/>
                </a:lnTo>
                <a:lnTo>
                  <a:pt x="6477" y="3175"/>
                </a:lnTo>
                <a:lnTo>
                  <a:pt x="18161" y="3175"/>
                </a:lnTo>
                <a:lnTo>
                  <a:pt x="16383" y="1270"/>
                </a:lnTo>
                <a:lnTo>
                  <a:pt x="1308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225418" y="2041541"/>
            <a:ext cx="11430" cy="22225"/>
          </a:xfrm>
          <a:custGeom>
            <a:avLst/>
            <a:gdLst/>
            <a:ahLst/>
            <a:cxnLst/>
            <a:rect l="l" t="t" r="r" b="b"/>
            <a:pathLst>
              <a:path w="11430" h="22225">
                <a:moveTo>
                  <a:pt x="6857" y="0"/>
                </a:moveTo>
                <a:lnTo>
                  <a:pt x="0" y="0"/>
                </a:lnTo>
                <a:lnTo>
                  <a:pt x="2539" y="1016"/>
                </a:lnTo>
                <a:lnTo>
                  <a:pt x="6604" y="5079"/>
                </a:lnTo>
                <a:lnTo>
                  <a:pt x="7619" y="7620"/>
                </a:lnTo>
                <a:lnTo>
                  <a:pt x="7619" y="13843"/>
                </a:lnTo>
                <a:lnTo>
                  <a:pt x="6604" y="16510"/>
                </a:lnTo>
                <a:lnTo>
                  <a:pt x="2667" y="20954"/>
                </a:lnTo>
                <a:lnTo>
                  <a:pt x="254" y="21971"/>
                </a:lnTo>
                <a:lnTo>
                  <a:pt x="6350" y="21971"/>
                </a:lnTo>
                <a:lnTo>
                  <a:pt x="10032" y="18415"/>
                </a:lnTo>
                <a:lnTo>
                  <a:pt x="11430" y="15113"/>
                </a:lnTo>
                <a:lnTo>
                  <a:pt x="11430" y="6858"/>
                </a:lnTo>
                <a:lnTo>
                  <a:pt x="10159" y="3428"/>
                </a:lnTo>
                <a:lnTo>
                  <a:pt x="685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208781" y="2053987"/>
            <a:ext cx="23495" cy="12700"/>
          </a:xfrm>
          <a:custGeom>
            <a:avLst/>
            <a:gdLst/>
            <a:ahLst/>
            <a:cxnLst/>
            <a:rect l="l" t="t" r="r" b="b"/>
            <a:pathLst>
              <a:path w="23494" h="12700">
                <a:moveTo>
                  <a:pt x="3682" y="0"/>
                </a:moveTo>
                <a:lnTo>
                  <a:pt x="0" y="0"/>
                </a:lnTo>
                <a:lnTo>
                  <a:pt x="126" y="3937"/>
                </a:lnTo>
                <a:lnTo>
                  <a:pt x="1524" y="7112"/>
                </a:lnTo>
                <a:lnTo>
                  <a:pt x="6604" y="11556"/>
                </a:lnTo>
                <a:lnTo>
                  <a:pt x="9779" y="12700"/>
                </a:lnTo>
                <a:lnTo>
                  <a:pt x="17652" y="12700"/>
                </a:lnTo>
                <a:lnTo>
                  <a:pt x="21081" y="11429"/>
                </a:lnTo>
                <a:lnTo>
                  <a:pt x="22987" y="9525"/>
                </a:lnTo>
                <a:lnTo>
                  <a:pt x="11049" y="9525"/>
                </a:lnTo>
                <a:lnTo>
                  <a:pt x="8636" y="8636"/>
                </a:lnTo>
                <a:lnTo>
                  <a:pt x="6604" y="6985"/>
                </a:lnTo>
                <a:lnTo>
                  <a:pt x="4825" y="5206"/>
                </a:lnTo>
                <a:lnTo>
                  <a:pt x="3810" y="2794"/>
                </a:lnTo>
                <a:lnTo>
                  <a:pt x="368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242055" y="2024015"/>
            <a:ext cx="24130" cy="43180"/>
          </a:xfrm>
          <a:custGeom>
            <a:avLst/>
            <a:gdLst/>
            <a:ahLst/>
            <a:cxnLst/>
            <a:rect l="l" t="t" r="r" b="b"/>
            <a:pathLst>
              <a:path w="24130" h="43180">
                <a:moveTo>
                  <a:pt x="18542" y="0"/>
                </a:moveTo>
                <a:lnTo>
                  <a:pt x="9906" y="0"/>
                </a:lnTo>
                <a:lnTo>
                  <a:pt x="6222" y="1904"/>
                </a:lnTo>
                <a:lnTo>
                  <a:pt x="1143" y="9778"/>
                </a:lnTo>
                <a:lnTo>
                  <a:pt x="0" y="14732"/>
                </a:lnTo>
                <a:lnTo>
                  <a:pt x="5461" y="41021"/>
                </a:lnTo>
                <a:lnTo>
                  <a:pt x="9143" y="42672"/>
                </a:lnTo>
                <a:lnTo>
                  <a:pt x="18542" y="42672"/>
                </a:lnTo>
                <a:lnTo>
                  <a:pt x="21843" y="41401"/>
                </a:lnTo>
                <a:lnTo>
                  <a:pt x="23749" y="39497"/>
                </a:lnTo>
                <a:lnTo>
                  <a:pt x="11556" y="39497"/>
                </a:lnTo>
                <a:lnTo>
                  <a:pt x="8889" y="38608"/>
                </a:lnTo>
                <a:lnTo>
                  <a:pt x="5333" y="34798"/>
                </a:lnTo>
                <a:lnTo>
                  <a:pt x="4444" y="32258"/>
                </a:lnTo>
                <a:lnTo>
                  <a:pt x="4444" y="25653"/>
                </a:lnTo>
                <a:lnTo>
                  <a:pt x="5333" y="22987"/>
                </a:lnTo>
                <a:lnTo>
                  <a:pt x="6603" y="21717"/>
                </a:lnTo>
                <a:lnTo>
                  <a:pt x="3682" y="21717"/>
                </a:lnTo>
                <a:lnTo>
                  <a:pt x="3809" y="15494"/>
                </a:lnTo>
                <a:lnTo>
                  <a:pt x="4699" y="11175"/>
                </a:lnTo>
                <a:lnTo>
                  <a:pt x="8508" y="4825"/>
                </a:lnTo>
                <a:lnTo>
                  <a:pt x="11430" y="3175"/>
                </a:lnTo>
                <a:lnTo>
                  <a:pt x="24002" y="3175"/>
                </a:lnTo>
                <a:lnTo>
                  <a:pt x="21589" y="1016"/>
                </a:lnTo>
                <a:lnTo>
                  <a:pt x="1854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259581" y="2027190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59" h="8255">
                <a:moveTo>
                  <a:pt x="6476" y="0"/>
                </a:moveTo>
                <a:lnTo>
                  <a:pt x="0" y="0"/>
                </a:lnTo>
                <a:lnTo>
                  <a:pt x="1905" y="762"/>
                </a:lnTo>
                <a:lnTo>
                  <a:pt x="4952" y="3555"/>
                </a:lnTo>
                <a:lnTo>
                  <a:pt x="5968" y="5461"/>
                </a:lnTo>
                <a:lnTo>
                  <a:pt x="6223" y="7747"/>
                </a:lnTo>
                <a:lnTo>
                  <a:pt x="9906" y="7747"/>
                </a:lnTo>
                <a:lnTo>
                  <a:pt x="9525" y="4191"/>
                </a:lnTo>
                <a:lnTo>
                  <a:pt x="8255" y="1524"/>
                </a:lnTo>
                <a:lnTo>
                  <a:pt x="647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245865" y="2038874"/>
            <a:ext cx="20320" cy="6985"/>
          </a:xfrm>
          <a:custGeom>
            <a:avLst/>
            <a:gdLst/>
            <a:ahLst/>
            <a:cxnLst/>
            <a:rect l="l" t="t" r="r" b="b"/>
            <a:pathLst>
              <a:path w="20319" h="6985">
                <a:moveTo>
                  <a:pt x="15112" y="0"/>
                </a:moveTo>
                <a:lnTo>
                  <a:pt x="8762" y="0"/>
                </a:lnTo>
                <a:lnTo>
                  <a:pt x="6477" y="634"/>
                </a:lnTo>
                <a:lnTo>
                  <a:pt x="4445" y="1904"/>
                </a:lnTo>
                <a:lnTo>
                  <a:pt x="2540" y="3048"/>
                </a:lnTo>
                <a:lnTo>
                  <a:pt x="1016" y="4699"/>
                </a:lnTo>
                <a:lnTo>
                  <a:pt x="0" y="6857"/>
                </a:lnTo>
                <a:lnTo>
                  <a:pt x="2793" y="6857"/>
                </a:lnTo>
                <a:lnTo>
                  <a:pt x="5461" y="4190"/>
                </a:lnTo>
                <a:lnTo>
                  <a:pt x="7874" y="3175"/>
                </a:lnTo>
                <a:lnTo>
                  <a:pt x="20193" y="3175"/>
                </a:lnTo>
                <a:lnTo>
                  <a:pt x="18415" y="1269"/>
                </a:lnTo>
                <a:lnTo>
                  <a:pt x="15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259708" y="2042049"/>
            <a:ext cx="11430" cy="21590"/>
          </a:xfrm>
          <a:custGeom>
            <a:avLst/>
            <a:gdLst/>
            <a:ahLst/>
            <a:cxnLst/>
            <a:rect l="l" t="t" r="r" b="b"/>
            <a:pathLst>
              <a:path w="11430" h="21589">
                <a:moveTo>
                  <a:pt x="6350" y="0"/>
                </a:moveTo>
                <a:lnTo>
                  <a:pt x="127" y="0"/>
                </a:lnTo>
                <a:lnTo>
                  <a:pt x="2540" y="1015"/>
                </a:lnTo>
                <a:lnTo>
                  <a:pt x="4318" y="3048"/>
                </a:lnTo>
                <a:lnTo>
                  <a:pt x="6223" y="5079"/>
                </a:lnTo>
                <a:lnTo>
                  <a:pt x="7112" y="7619"/>
                </a:lnTo>
                <a:lnTo>
                  <a:pt x="7112" y="13842"/>
                </a:lnTo>
                <a:lnTo>
                  <a:pt x="6223" y="16255"/>
                </a:lnTo>
                <a:lnTo>
                  <a:pt x="2412" y="20446"/>
                </a:lnTo>
                <a:lnTo>
                  <a:pt x="0" y="21462"/>
                </a:lnTo>
                <a:lnTo>
                  <a:pt x="6096" y="21462"/>
                </a:lnTo>
                <a:lnTo>
                  <a:pt x="9525" y="18033"/>
                </a:lnTo>
                <a:lnTo>
                  <a:pt x="10922" y="14731"/>
                </a:lnTo>
                <a:lnTo>
                  <a:pt x="10922" y="6603"/>
                </a:lnTo>
                <a:lnTo>
                  <a:pt x="9652" y="3301"/>
                </a:lnTo>
                <a:lnTo>
                  <a:pt x="635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531540" y="1982359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498216" y="1987439"/>
            <a:ext cx="992505" cy="323215"/>
          </a:xfrm>
          <a:custGeom>
            <a:avLst/>
            <a:gdLst/>
            <a:ahLst/>
            <a:cxnLst/>
            <a:rect l="l" t="t" r="r" b="b"/>
            <a:pathLst>
              <a:path w="992505" h="323214">
                <a:moveTo>
                  <a:pt x="0" y="323088"/>
                </a:moveTo>
                <a:lnTo>
                  <a:pt x="992123" y="323088"/>
                </a:lnTo>
                <a:lnTo>
                  <a:pt x="992123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91481" y="1171701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1" y="1446402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1" y="1720722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2119" y="744600"/>
            <a:ext cx="990600" cy="321945"/>
          </a:xfrm>
          <a:custGeom>
            <a:avLst/>
            <a:gdLst/>
            <a:ahLst/>
            <a:cxnLst/>
            <a:rect l="l" t="t" r="r" b="b"/>
            <a:pathLst>
              <a:path w="990600" h="321944">
                <a:moveTo>
                  <a:pt x="0" y="321563"/>
                </a:moveTo>
                <a:lnTo>
                  <a:pt x="990600" y="321563"/>
                </a:lnTo>
                <a:lnTo>
                  <a:pt x="990600" y="0"/>
                </a:lnTo>
                <a:lnTo>
                  <a:pt x="0" y="0"/>
                </a:lnTo>
                <a:lnTo>
                  <a:pt x="0" y="321563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1630" y="167093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12" y="1237614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3493" y="2557927"/>
            <a:ext cx="563917" cy="809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8255" y="27043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8255" y="266785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42283" y="2684654"/>
            <a:ext cx="106680" cy="42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3493" y="2769768"/>
            <a:ext cx="563917" cy="18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8255" y="30228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8255" y="29863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36187" y="3003168"/>
            <a:ext cx="121919" cy="53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3493" y="2451251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8255" y="238580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18255" y="234933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42283" y="2366138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0031" y="2132735"/>
            <a:ext cx="827379" cy="1876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4068" y="2084577"/>
            <a:ext cx="1026794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conv3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2700" marR="730250">
              <a:lnSpc>
                <a:spcPts val="2770"/>
              </a:lnSpc>
              <a:spcBef>
                <a:spcPts val="31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v2  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0031" y="290664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2"/>
                </a:lnTo>
                <a:lnTo>
                  <a:pt x="1396" y="7619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7"/>
                </a:lnTo>
                <a:lnTo>
                  <a:pt x="7200" y="30987"/>
                </a:lnTo>
                <a:lnTo>
                  <a:pt x="10909" y="32385"/>
                </a:lnTo>
                <a:lnTo>
                  <a:pt x="19545" y="32385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3"/>
                </a:lnTo>
                <a:lnTo>
                  <a:pt x="10248" y="23494"/>
                </a:lnTo>
                <a:lnTo>
                  <a:pt x="9055" y="21717"/>
                </a:lnTo>
                <a:lnTo>
                  <a:pt x="8458" y="19304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80"/>
                </a:lnTo>
                <a:lnTo>
                  <a:pt x="22961" y="1016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67443" y="2912998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7"/>
                </a:lnTo>
                <a:lnTo>
                  <a:pt x="3454" y="2286"/>
                </a:lnTo>
                <a:lnTo>
                  <a:pt x="4114" y="3556"/>
                </a:lnTo>
                <a:lnTo>
                  <a:pt x="4381" y="5334"/>
                </a:lnTo>
                <a:lnTo>
                  <a:pt x="12649" y="5334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7316" y="2926460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6"/>
                </a:lnTo>
                <a:lnTo>
                  <a:pt x="1498" y="5842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4144" y="290664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7"/>
                </a:lnTo>
                <a:lnTo>
                  <a:pt x="1435" y="7493"/>
                </a:lnTo>
                <a:lnTo>
                  <a:pt x="0" y="11430"/>
                </a:lnTo>
                <a:lnTo>
                  <a:pt x="25" y="21209"/>
                </a:lnTo>
                <a:lnTo>
                  <a:pt x="1435" y="25018"/>
                </a:lnTo>
                <a:lnTo>
                  <a:pt x="4292" y="28067"/>
                </a:lnTo>
                <a:lnTo>
                  <a:pt x="7200" y="30987"/>
                </a:lnTo>
                <a:lnTo>
                  <a:pt x="11061" y="32385"/>
                </a:lnTo>
                <a:lnTo>
                  <a:pt x="20612" y="32385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3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4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7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02368" y="2912998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7"/>
                </a:lnTo>
                <a:lnTo>
                  <a:pt x="4444" y="4444"/>
                </a:lnTo>
                <a:lnTo>
                  <a:pt x="5003" y="6604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3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9"/>
                </a:lnTo>
                <a:lnTo>
                  <a:pt x="13538" y="5080"/>
                </a:lnTo>
                <a:lnTo>
                  <a:pt x="12064" y="1143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29610" y="2906648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1"/>
                </a:lnTo>
                <a:lnTo>
                  <a:pt x="3975" y="1397"/>
                </a:lnTo>
                <a:lnTo>
                  <a:pt x="2311" y="2159"/>
                </a:lnTo>
                <a:lnTo>
                  <a:pt x="990" y="3429"/>
                </a:lnTo>
                <a:lnTo>
                  <a:pt x="0" y="5080"/>
                </a:lnTo>
                <a:lnTo>
                  <a:pt x="19735" y="5080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1342" y="2907410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1"/>
                </a:lnTo>
                <a:lnTo>
                  <a:pt x="8458" y="30861"/>
                </a:lnTo>
                <a:lnTo>
                  <a:pt x="8458" y="11556"/>
                </a:lnTo>
                <a:lnTo>
                  <a:pt x="8953" y="9398"/>
                </a:lnTo>
                <a:lnTo>
                  <a:pt x="9956" y="8000"/>
                </a:lnTo>
                <a:lnTo>
                  <a:pt x="11010" y="6604"/>
                </a:lnTo>
                <a:lnTo>
                  <a:pt x="12712" y="5842"/>
                </a:lnTo>
                <a:lnTo>
                  <a:pt x="28460" y="5842"/>
                </a:lnTo>
                <a:lnTo>
                  <a:pt x="28003" y="4318"/>
                </a:lnTo>
                <a:lnTo>
                  <a:pt x="8064" y="4318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8296" y="2913252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4"/>
                </a:lnTo>
                <a:lnTo>
                  <a:pt x="2159" y="1905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53676" y="2907410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1"/>
                </a:lnTo>
                <a:lnTo>
                  <a:pt x="19913" y="30861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9107" y="290741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8665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29" y="7620"/>
                </a:lnTo>
                <a:lnTo>
                  <a:pt x="3975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20516" y="2918370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5904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42" y="7620"/>
                </a:lnTo>
                <a:lnTo>
                  <a:pt x="398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50031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3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6"/>
                </a:lnTo>
                <a:lnTo>
                  <a:pt x="9017" y="11303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6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67380" y="2811906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1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7240" y="2825622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2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84017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6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2165" y="2811906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6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29292" y="2805429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6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21063" y="2806318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37954" y="2812287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3270" y="2806318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8637" y="2806318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88119" y="2795142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3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9843" y="281742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42957" y="2794380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42068" y="2801746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9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80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50031" y="2489580"/>
            <a:ext cx="222377" cy="1446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8255" y="196593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8255" y="193022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42283" y="1945512"/>
            <a:ext cx="106680" cy="44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13493" y="1600859"/>
            <a:ext cx="563917" cy="1891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18255" y="1536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18255" y="150046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42283" y="1517270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3493" y="1177187"/>
            <a:ext cx="563917" cy="1876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18255" y="111173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18255" y="107526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042283" y="1092074"/>
            <a:ext cx="106680" cy="42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3493" y="646835"/>
            <a:ext cx="563917" cy="3994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50031" y="1197228"/>
            <a:ext cx="830427" cy="274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50031" y="1625472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17087" y="985394"/>
            <a:ext cx="85343" cy="4267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17087" y="884808"/>
            <a:ext cx="85343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17087" y="782700"/>
            <a:ext cx="86868" cy="426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12159" y="2029293"/>
            <a:ext cx="565251" cy="8379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531540" y="2005075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67554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10" dirty="0"/>
              <a:t>析</a:t>
            </a:r>
            <a:r>
              <a:rPr spc="-5" dirty="0"/>
              <a:t>——VGG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91482" y="1148985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2" y="1423305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2" y="1698006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482" y="1972326"/>
            <a:ext cx="23990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卷积层均采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的卷积核及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激活函数；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2120" y="1135523"/>
            <a:ext cx="990600" cy="321945"/>
          </a:xfrm>
          <a:custGeom>
            <a:avLst/>
            <a:gdLst/>
            <a:ahLst/>
            <a:cxnLst/>
            <a:rect l="l" t="t" r="r" b="b"/>
            <a:pathLst>
              <a:path w="990600" h="321944">
                <a:moveTo>
                  <a:pt x="0" y="321564"/>
                </a:moveTo>
                <a:lnTo>
                  <a:pt x="990600" y="321564"/>
                </a:lnTo>
                <a:lnTo>
                  <a:pt x="990600" y="0"/>
                </a:lnTo>
                <a:lnTo>
                  <a:pt x="0" y="0"/>
                </a:lnTo>
                <a:lnTo>
                  <a:pt x="0" y="32156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8216" y="1568339"/>
            <a:ext cx="992505" cy="323215"/>
          </a:xfrm>
          <a:custGeom>
            <a:avLst/>
            <a:gdLst/>
            <a:ahLst/>
            <a:cxnLst/>
            <a:rect l="l" t="t" r="r" b="b"/>
            <a:pathLst>
              <a:path w="992505" h="323214">
                <a:moveTo>
                  <a:pt x="0" y="323088"/>
                </a:moveTo>
                <a:lnTo>
                  <a:pt x="992123" y="323088"/>
                </a:lnTo>
                <a:lnTo>
                  <a:pt x="992123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8216" y="2418731"/>
            <a:ext cx="992505" cy="205740"/>
          </a:xfrm>
          <a:custGeom>
            <a:avLst/>
            <a:gdLst/>
            <a:ahLst/>
            <a:cxnLst/>
            <a:rect l="l" t="t" r="r" b="b"/>
            <a:pathLst>
              <a:path w="992505" h="205739">
                <a:moveTo>
                  <a:pt x="0" y="205739"/>
                </a:moveTo>
                <a:lnTo>
                  <a:pt x="992123" y="205739"/>
                </a:lnTo>
                <a:lnTo>
                  <a:pt x="992123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8216" y="2743343"/>
            <a:ext cx="992505" cy="204470"/>
          </a:xfrm>
          <a:custGeom>
            <a:avLst/>
            <a:gdLst/>
            <a:ahLst/>
            <a:cxnLst/>
            <a:rect l="l" t="t" r="r" b="b"/>
            <a:pathLst>
              <a:path w="992505" h="204469">
                <a:moveTo>
                  <a:pt x="0" y="204215"/>
                </a:moveTo>
                <a:lnTo>
                  <a:pt x="992123" y="204215"/>
                </a:lnTo>
                <a:lnTo>
                  <a:pt x="992123" y="0"/>
                </a:lnTo>
                <a:lnTo>
                  <a:pt x="0" y="0"/>
                </a:lnTo>
                <a:lnTo>
                  <a:pt x="0" y="20421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3212" y="2061861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630" y="1648349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212" y="121489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8256" y="257631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8256" y="254060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15284" y="2555891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271" y="0"/>
                </a:lnTo>
                <a:lnTo>
                  <a:pt x="6222" y="1270"/>
                </a:lnTo>
                <a:lnTo>
                  <a:pt x="1269" y="6223"/>
                </a:lnTo>
                <a:lnTo>
                  <a:pt x="0" y="9525"/>
                </a:lnTo>
                <a:lnTo>
                  <a:pt x="0" y="13716"/>
                </a:lnTo>
                <a:lnTo>
                  <a:pt x="3682" y="13716"/>
                </a:lnTo>
                <a:lnTo>
                  <a:pt x="3682" y="10160"/>
                </a:lnTo>
                <a:lnTo>
                  <a:pt x="4571" y="7620"/>
                </a:lnTo>
                <a:lnTo>
                  <a:pt x="8000" y="4064"/>
                </a:lnTo>
                <a:lnTo>
                  <a:pt x="10287" y="3175"/>
                </a:lnTo>
                <a:lnTo>
                  <a:pt x="22732" y="3175"/>
                </a:lnTo>
                <a:lnTo>
                  <a:pt x="19812" y="889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5952" y="2559066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9143" y="2032"/>
                </a:lnTo>
                <a:lnTo>
                  <a:pt x="10794" y="3428"/>
                </a:lnTo>
                <a:lnTo>
                  <a:pt x="11556" y="5334"/>
                </a:lnTo>
                <a:lnTo>
                  <a:pt x="11556" y="10160"/>
                </a:lnTo>
                <a:lnTo>
                  <a:pt x="10794" y="11938"/>
                </a:lnTo>
                <a:lnTo>
                  <a:pt x="7492" y="14732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3"/>
                </a:lnTo>
                <a:lnTo>
                  <a:pt x="10540" y="20955"/>
                </a:lnTo>
                <a:lnTo>
                  <a:pt x="12318" y="22352"/>
                </a:lnTo>
                <a:lnTo>
                  <a:pt x="13103" y="24257"/>
                </a:lnTo>
                <a:lnTo>
                  <a:pt x="13207" y="29845"/>
                </a:lnTo>
                <a:lnTo>
                  <a:pt x="12191" y="32004"/>
                </a:lnTo>
                <a:lnTo>
                  <a:pt x="8000" y="35433"/>
                </a:lnTo>
                <a:lnTo>
                  <a:pt x="5460" y="36322"/>
                </a:lnTo>
                <a:lnTo>
                  <a:pt x="12445" y="36322"/>
                </a:lnTo>
                <a:lnTo>
                  <a:pt x="15493" y="33782"/>
                </a:lnTo>
                <a:lnTo>
                  <a:pt x="16890" y="30734"/>
                </a:lnTo>
                <a:lnTo>
                  <a:pt x="16890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303" y="17145"/>
                </a:lnTo>
                <a:lnTo>
                  <a:pt x="8381" y="16637"/>
                </a:lnTo>
                <a:lnTo>
                  <a:pt x="10540" y="16001"/>
                </a:lnTo>
                <a:lnTo>
                  <a:pt x="12318" y="14859"/>
                </a:lnTo>
                <a:lnTo>
                  <a:pt x="14731" y="11557"/>
                </a:lnTo>
                <a:lnTo>
                  <a:pt x="15366" y="9651"/>
                </a:lnTo>
                <a:lnTo>
                  <a:pt x="15366" y="4064"/>
                </a:lnTo>
                <a:lnTo>
                  <a:pt x="14096" y="1397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4395" y="2584466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683" y="0"/>
                </a:moveTo>
                <a:lnTo>
                  <a:pt x="0" y="0"/>
                </a:lnTo>
                <a:lnTo>
                  <a:pt x="0" y="5333"/>
                </a:lnTo>
                <a:lnTo>
                  <a:pt x="1143" y="8254"/>
                </a:lnTo>
                <a:lnTo>
                  <a:pt x="3810" y="10667"/>
                </a:lnTo>
                <a:lnTo>
                  <a:pt x="6604" y="12953"/>
                </a:lnTo>
                <a:lnTo>
                  <a:pt x="9906" y="14096"/>
                </a:lnTo>
                <a:lnTo>
                  <a:pt x="18288" y="14096"/>
                </a:lnTo>
                <a:lnTo>
                  <a:pt x="21717" y="12953"/>
                </a:lnTo>
                <a:lnTo>
                  <a:pt x="24003" y="10921"/>
                </a:lnTo>
                <a:lnTo>
                  <a:pt x="10921" y="10921"/>
                </a:lnTo>
                <a:lnTo>
                  <a:pt x="8382" y="10032"/>
                </a:lnTo>
                <a:lnTo>
                  <a:pt x="4699" y="6350"/>
                </a:lnTo>
                <a:lnTo>
                  <a:pt x="3683" y="3937"/>
                </a:lnTo>
                <a:lnTo>
                  <a:pt x="36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45637" y="2567194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7" y="0"/>
                </a:moveTo>
                <a:lnTo>
                  <a:pt x="888" y="0"/>
                </a:lnTo>
                <a:lnTo>
                  <a:pt x="11810" y="14605"/>
                </a:lnTo>
                <a:lnTo>
                  <a:pt x="0" y="30480"/>
                </a:lnTo>
                <a:lnTo>
                  <a:pt x="4571" y="30480"/>
                </a:lnTo>
                <a:lnTo>
                  <a:pt x="13969" y="17780"/>
                </a:lnTo>
                <a:lnTo>
                  <a:pt x="18796" y="17780"/>
                </a:lnTo>
                <a:lnTo>
                  <a:pt x="16382" y="14605"/>
                </a:lnTo>
                <a:lnTo>
                  <a:pt x="18668" y="11557"/>
                </a:lnTo>
                <a:lnTo>
                  <a:pt x="14350" y="11557"/>
                </a:lnTo>
                <a:lnTo>
                  <a:pt x="558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59988" y="2567194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8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59607" y="2584974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826" y="0"/>
                </a:moveTo>
                <a:lnTo>
                  <a:pt x="0" y="0"/>
                </a:lnTo>
                <a:lnTo>
                  <a:pt x="9652" y="12700"/>
                </a:lnTo>
                <a:lnTo>
                  <a:pt x="14478" y="12700"/>
                </a:lnTo>
                <a:lnTo>
                  <a:pt x="482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76879" y="2555891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398" y="0"/>
                </a:lnTo>
                <a:lnTo>
                  <a:pt x="6223" y="1270"/>
                </a:lnTo>
                <a:lnTo>
                  <a:pt x="1270" y="6223"/>
                </a:lnTo>
                <a:lnTo>
                  <a:pt x="0" y="9525"/>
                </a:lnTo>
                <a:lnTo>
                  <a:pt x="0" y="13716"/>
                </a:lnTo>
                <a:lnTo>
                  <a:pt x="3809" y="13716"/>
                </a:lnTo>
                <a:lnTo>
                  <a:pt x="3809" y="10160"/>
                </a:lnTo>
                <a:lnTo>
                  <a:pt x="4571" y="7620"/>
                </a:lnTo>
                <a:lnTo>
                  <a:pt x="8128" y="4064"/>
                </a:lnTo>
                <a:lnTo>
                  <a:pt x="10414" y="3175"/>
                </a:lnTo>
                <a:lnTo>
                  <a:pt x="22859" y="3175"/>
                </a:lnTo>
                <a:lnTo>
                  <a:pt x="19812" y="889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87674" y="2559066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7" y="3428"/>
                </a:lnTo>
                <a:lnTo>
                  <a:pt x="11429" y="5334"/>
                </a:lnTo>
                <a:lnTo>
                  <a:pt x="11429" y="10160"/>
                </a:lnTo>
                <a:lnTo>
                  <a:pt x="10667" y="11938"/>
                </a:lnTo>
                <a:lnTo>
                  <a:pt x="7365" y="14732"/>
                </a:lnTo>
                <a:lnTo>
                  <a:pt x="5460" y="15367"/>
                </a:lnTo>
                <a:lnTo>
                  <a:pt x="0" y="15367"/>
                </a:lnTo>
                <a:lnTo>
                  <a:pt x="0" y="18542"/>
                </a:lnTo>
                <a:lnTo>
                  <a:pt x="6095" y="18542"/>
                </a:lnTo>
                <a:lnTo>
                  <a:pt x="8635" y="19303"/>
                </a:lnTo>
                <a:lnTo>
                  <a:pt x="10413" y="20955"/>
                </a:lnTo>
                <a:lnTo>
                  <a:pt x="12191" y="22352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4" y="32004"/>
                </a:lnTo>
                <a:lnTo>
                  <a:pt x="8000" y="35433"/>
                </a:lnTo>
                <a:lnTo>
                  <a:pt x="5460" y="36322"/>
                </a:lnTo>
                <a:lnTo>
                  <a:pt x="12318" y="36322"/>
                </a:lnTo>
                <a:lnTo>
                  <a:pt x="15366" y="33782"/>
                </a:lnTo>
                <a:lnTo>
                  <a:pt x="16763" y="30734"/>
                </a:lnTo>
                <a:lnTo>
                  <a:pt x="16763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175" y="17145"/>
                </a:lnTo>
                <a:lnTo>
                  <a:pt x="8254" y="16637"/>
                </a:lnTo>
                <a:lnTo>
                  <a:pt x="10540" y="16001"/>
                </a:lnTo>
                <a:lnTo>
                  <a:pt x="12191" y="14859"/>
                </a:lnTo>
                <a:lnTo>
                  <a:pt x="14604" y="11557"/>
                </a:lnTo>
                <a:lnTo>
                  <a:pt x="15239" y="9651"/>
                </a:lnTo>
                <a:lnTo>
                  <a:pt x="15239" y="4064"/>
                </a:lnTo>
                <a:lnTo>
                  <a:pt x="13969" y="1397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75956" y="2584466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44" y="0"/>
                </a:moveTo>
                <a:lnTo>
                  <a:pt x="34" y="0"/>
                </a:lnTo>
                <a:lnTo>
                  <a:pt x="0" y="3937"/>
                </a:lnTo>
                <a:lnTo>
                  <a:pt x="10067" y="14096"/>
                </a:lnTo>
                <a:lnTo>
                  <a:pt x="18322" y="14096"/>
                </a:lnTo>
                <a:lnTo>
                  <a:pt x="21751" y="12953"/>
                </a:lnTo>
                <a:lnTo>
                  <a:pt x="24037" y="10921"/>
                </a:lnTo>
                <a:lnTo>
                  <a:pt x="10956" y="10921"/>
                </a:lnTo>
                <a:lnTo>
                  <a:pt x="8416" y="10032"/>
                </a:lnTo>
                <a:lnTo>
                  <a:pt x="4733" y="6350"/>
                </a:lnTo>
                <a:lnTo>
                  <a:pt x="3844" y="3937"/>
                </a:lnTo>
                <a:lnTo>
                  <a:pt x="3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25647" y="2566305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161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3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1"/>
                </a:lnTo>
                <a:lnTo>
                  <a:pt x="23114" y="29082"/>
                </a:lnTo>
                <a:lnTo>
                  <a:pt x="11303" y="29082"/>
                </a:lnTo>
                <a:lnTo>
                  <a:pt x="8636" y="27812"/>
                </a:lnTo>
                <a:lnTo>
                  <a:pt x="6603" y="25400"/>
                </a:lnTo>
                <a:lnTo>
                  <a:pt x="4699" y="22859"/>
                </a:lnTo>
                <a:lnTo>
                  <a:pt x="3809" y="19812"/>
                </a:lnTo>
                <a:lnTo>
                  <a:pt x="3809" y="12446"/>
                </a:lnTo>
                <a:lnTo>
                  <a:pt x="4699" y="9398"/>
                </a:lnTo>
                <a:lnTo>
                  <a:pt x="6603" y="6857"/>
                </a:lnTo>
                <a:lnTo>
                  <a:pt x="8636" y="4445"/>
                </a:lnTo>
                <a:lnTo>
                  <a:pt x="11303" y="3175"/>
                </a:lnTo>
                <a:lnTo>
                  <a:pt x="23494" y="3175"/>
                </a:lnTo>
                <a:lnTo>
                  <a:pt x="20955" y="888"/>
                </a:lnTo>
                <a:lnTo>
                  <a:pt x="1816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42538" y="2569480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603" y="0"/>
                </a:moveTo>
                <a:lnTo>
                  <a:pt x="0" y="0"/>
                </a:lnTo>
                <a:lnTo>
                  <a:pt x="1778" y="634"/>
                </a:lnTo>
                <a:lnTo>
                  <a:pt x="4699" y="3048"/>
                </a:lnTo>
                <a:lnTo>
                  <a:pt x="5715" y="4825"/>
                </a:lnTo>
                <a:lnTo>
                  <a:pt x="6350" y="7365"/>
                </a:lnTo>
                <a:lnTo>
                  <a:pt x="10033" y="7365"/>
                </a:lnTo>
                <a:lnTo>
                  <a:pt x="9652" y="4063"/>
                </a:lnTo>
                <a:lnTo>
                  <a:pt x="8381" y="1397"/>
                </a:lnTo>
                <a:lnTo>
                  <a:pt x="66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42411" y="2586752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3" y="0"/>
                </a:moveTo>
                <a:lnTo>
                  <a:pt x="6730" y="0"/>
                </a:lnTo>
                <a:lnTo>
                  <a:pt x="6350" y="2667"/>
                </a:lnTo>
                <a:lnTo>
                  <a:pt x="5333" y="4699"/>
                </a:lnTo>
                <a:lnTo>
                  <a:pt x="1904" y="7874"/>
                </a:lnTo>
                <a:lnTo>
                  <a:pt x="0" y="8636"/>
                </a:lnTo>
                <a:lnTo>
                  <a:pt x="6350" y="8636"/>
                </a:lnTo>
                <a:lnTo>
                  <a:pt x="8508" y="6731"/>
                </a:lnTo>
                <a:lnTo>
                  <a:pt x="9905" y="3810"/>
                </a:lnTo>
                <a:lnTo>
                  <a:pt x="10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56508" y="2566305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0" y="30733"/>
                </a:lnTo>
                <a:lnTo>
                  <a:pt x="10159" y="32257"/>
                </a:lnTo>
                <a:lnTo>
                  <a:pt x="17525" y="32257"/>
                </a:lnTo>
                <a:lnTo>
                  <a:pt x="20065" y="31495"/>
                </a:lnTo>
                <a:lnTo>
                  <a:pt x="22351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59"/>
                </a:lnTo>
                <a:lnTo>
                  <a:pt x="3809" y="19812"/>
                </a:lnTo>
                <a:lnTo>
                  <a:pt x="3809" y="12446"/>
                </a:lnTo>
                <a:lnTo>
                  <a:pt x="4698" y="9398"/>
                </a:lnTo>
                <a:lnTo>
                  <a:pt x="8635" y="4445"/>
                </a:lnTo>
                <a:lnTo>
                  <a:pt x="11175" y="3175"/>
                </a:lnTo>
                <a:lnTo>
                  <a:pt x="23875" y="3175"/>
                </a:lnTo>
                <a:lnTo>
                  <a:pt x="22351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74288" y="2569480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540" y="1270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7"/>
                </a:lnTo>
                <a:lnTo>
                  <a:pt x="6477" y="19557"/>
                </a:lnTo>
                <a:lnTo>
                  <a:pt x="2540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6858" y="25400"/>
                </a:lnTo>
                <a:lnTo>
                  <a:pt x="8509" y="23367"/>
                </a:lnTo>
                <a:lnTo>
                  <a:pt x="9525" y="20954"/>
                </a:lnTo>
                <a:lnTo>
                  <a:pt x="10668" y="18414"/>
                </a:lnTo>
                <a:lnTo>
                  <a:pt x="11303" y="15748"/>
                </a:lnTo>
                <a:lnTo>
                  <a:pt x="11303" y="8254"/>
                </a:lnTo>
                <a:lnTo>
                  <a:pt x="9906" y="4445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94862" y="2566305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843" y="0"/>
                </a:moveTo>
                <a:lnTo>
                  <a:pt x="7619" y="0"/>
                </a:lnTo>
                <a:lnTo>
                  <a:pt x="5587" y="634"/>
                </a:lnTo>
                <a:lnTo>
                  <a:pt x="2031" y="2921"/>
                </a:lnTo>
                <a:lnTo>
                  <a:pt x="762" y="4318"/>
                </a:lnTo>
                <a:lnTo>
                  <a:pt x="0" y="6096"/>
                </a:lnTo>
                <a:lnTo>
                  <a:pt x="2412" y="6096"/>
                </a:lnTo>
                <a:lnTo>
                  <a:pt x="2793" y="5587"/>
                </a:lnTo>
                <a:lnTo>
                  <a:pt x="4190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668" y="3175"/>
                </a:lnTo>
                <a:lnTo>
                  <a:pt x="16637" y="888"/>
                </a:lnTo>
                <a:lnTo>
                  <a:pt x="1384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91052" y="2567194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698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07054" y="2569480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1"/>
                </a:lnTo>
                <a:lnTo>
                  <a:pt x="4445" y="3809"/>
                </a:lnTo>
                <a:lnTo>
                  <a:pt x="5207" y="5969"/>
                </a:lnTo>
                <a:lnTo>
                  <a:pt x="5207" y="28193"/>
                </a:lnTo>
                <a:lnTo>
                  <a:pt x="8890" y="28193"/>
                </a:lnTo>
                <a:lnTo>
                  <a:pt x="8890" y="4445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19500" y="2567194"/>
            <a:ext cx="17780" cy="30480"/>
          </a:xfrm>
          <a:custGeom>
            <a:avLst/>
            <a:gdLst/>
            <a:ahLst/>
            <a:cxnLst/>
            <a:rect l="l" t="t" r="r" b="b"/>
            <a:pathLst>
              <a:path w="17780" h="30480">
                <a:moveTo>
                  <a:pt x="4190" y="0"/>
                </a:moveTo>
                <a:lnTo>
                  <a:pt x="0" y="0"/>
                </a:lnTo>
                <a:lnTo>
                  <a:pt x="11937" y="30480"/>
                </a:lnTo>
                <a:lnTo>
                  <a:pt x="15875" y="30480"/>
                </a:lnTo>
                <a:lnTo>
                  <a:pt x="17271" y="26670"/>
                </a:lnTo>
                <a:lnTo>
                  <a:pt x="13843" y="26670"/>
                </a:lnTo>
                <a:lnTo>
                  <a:pt x="419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33470" y="2567194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52393" y="2591451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3" y="0"/>
                </a:moveTo>
                <a:lnTo>
                  <a:pt x="381" y="0"/>
                </a:lnTo>
                <a:lnTo>
                  <a:pt x="381" y="6223"/>
                </a:lnTo>
                <a:lnTo>
                  <a:pt x="2793" y="6223"/>
                </a:lnTo>
                <a:lnTo>
                  <a:pt x="2681" y="8128"/>
                </a:lnTo>
                <a:lnTo>
                  <a:pt x="2540" y="8762"/>
                </a:lnTo>
                <a:lnTo>
                  <a:pt x="1975" y="9779"/>
                </a:lnTo>
                <a:lnTo>
                  <a:pt x="1523" y="10795"/>
                </a:lnTo>
                <a:lnTo>
                  <a:pt x="888" y="11430"/>
                </a:lnTo>
                <a:lnTo>
                  <a:pt x="0" y="11811"/>
                </a:lnTo>
                <a:lnTo>
                  <a:pt x="0" y="14350"/>
                </a:lnTo>
                <a:lnTo>
                  <a:pt x="1778" y="13843"/>
                </a:lnTo>
                <a:lnTo>
                  <a:pt x="3047" y="12827"/>
                </a:lnTo>
                <a:lnTo>
                  <a:pt x="4825" y="9779"/>
                </a:lnTo>
                <a:lnTo>
                  <a:pt x="5333" y="8128"/>
                </a:lnTo>
                <a:lnTo>
                  <a:pt x="53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85794" y="2556272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40" h="41910">
                <a:moveTo>
                  <a:pt x="14731" y="0"/>
                </a:moveTo>
                <a:lnTo>
                  <a:pt x="11556" y="0"/>
                </a:lnTo>
                <a:lnTo>
                  <a:pt x="11303" y="2031"/>
                </a:lnTo>
                <a:lnTo>
                  <a:pt x="10794" y="3555"/>
                </a:lnTo>
                <a:lnTo>
                  <a:pt x="10160" y="4698"/>
                </a:lnTo>
                <a:lnTo>
                  <a:pt x="9398" y="5841"/>
                </a:lnTo>
                <a:lnTo>
                  <a:pt x="8381" y="6603"/>
                </a:lnTo>
                <a:lnTo>
                  <a:pt x="6985" y="7111"/>
                </a:lnTo>
                <a:lnTo>
                  <a:pt x="5714" y="7619"/>
                </a:lnTo>
                <a:lnTo>
                  <a:pt x="3301" y="8000"/>
                </a:lnTo>
                <a:lnTo>
                  <a:pt x="0" y="8000"/>
                </a:lnTo>
                <a:lnTo>
                  <a:pt x="0" y="10667"/>
                </a:lnTo>
                <a:lnTo>
                  <a:pt x="10922" y="10667"/>
                </a:lnTo>
                <a:lnTo>
                  <a:pt x="10922" y="41401"/>
                </a:lnTo>
                <a:lnTo>
                  <a:pt x="14731" y="41401"/>
                </a:lnTo>
                <a:lnTo>
                  <a:pt x="14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16274" y="2555891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4" y="0"/>
                </a:moveTo>
                <a:lnTo>
                  <a:pt x="8889" y="0"/>
                </a:lnTo>
                <a:lnTo>
                  <a:pt x="5714" y="1270"/>
                </a:lnTo>
                <a:lnTo>
                  <a:pt x="3301" y="3810"/>
                </a:lnTo>
                <a:lnTo>
                  <a:pt x="1015" y="6476"/>
                </a:lnTo>
                <a:lnTo>
                  <a:pt x="0" y="9906"/>
                </a:lnTo>
                <a:lnTo>
                  <a:pt x="0" y="14732"/>
                </a:lnTo>
                <a:lnTo>
                  <a:pt x="3682" y="14732"/>
                </a:lnTo>
                <a:lnTo>
                  <a:pt x="3809" y="10541"/>
                </a:lnTo>
                <a:lnTo>
                  <a:pt x="4571" y="7874"/>
                </a:lnTo>
                <a:lnTo>
                  <a:pt x="7874" y="4064"/>
                </a:lnTo>
                <a:lnTo>
                  <a:pt x="10159" y="3175"/>
                </a:lnTo>
                <a:lnTo>
                  <a:pt x="22606" y="3175"/>
                </a:lnTo>
                <a:lnTo>
                  <a:pt x="20193" y="1016"/>
                </a:lnTo>
                <a:lnTo>
                  <a:pt x="171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15258" y="2559066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2" y="0"/>
                </a:moveTo>
                <a:lnTo>
                  <a:pt x="16764" y="0"/>
                </a:lnTo>
                <a:lnTo>
                  <a:pt x="19050" y="762"/>
                </a:lnTo>
                <a:lnTo>
                  <a:pt x="22479" y="3937"/>
                </a:lnTo>
                <a:lnTo>
                  <a:pt x="23368" y="5969"/>
                </a:lnTo>
                <a:lnTo>
                  <a:pt x="23368" y="11049"/>
                </a:lnTo>
                <a:lnTo>
                  <a:pt x="22479" y="13335"/>
                </a:lnTo>
                <a:lnTo>
                  <a:pt x="20828" y="15240"/>
                </a:lnTo>
                <a:lnTo>
                  <a:pt x="19304" y="17145"/>
                </a:lnTo>
                <a:lnTo>
                  <a:pt x="16256" y="19558"/>
                </a:lnTo>
                <a:lnTo>
                  <a:pt x="0" y="35560"/>
                </a:lnTo>
                <a:lnTo>
                  <a:pt x="0" y="38608"/>
                </a:lnTo>
                <a:lnTo>
                  <a:pt x="27305" y="38608"/>
                </a:lnTo>
                <a:lnTo>
                  <a:pt x="27305" y="35179"/>
                </a:lnTo>
                <a:lnTo>
                  <a:pt x="4191" y="35179"/>
                </a:lnTo>
                <a:lnTo>
                  <a:pt x="4444" y="33528"/>
                </a:lnTo>
                <a:lnTo>
                  <a:pt x="5461" y="32004"/>
                </a:lnTo>
                <a:lnTo>
                  <a:pt x="8509" y="28702"/>
                </a:lnTo>
                <a:lnTo>
                  <a:pt x="11049" y="26670"/>
                </a:lnTo>
                <a:lnTo>
                  <a:pt x="19558" y="21590"/>
                </a:lnTo>
                <a:lnTo>
                  <a:pt x="22733" y="18923"/>
                </a:lnTo>
                <a:lnTo>
                  <a:pt x="24511" y="16510"/>
                </a:lnTo>
                <a:lnTo>
                  <a:pt x="26289" y="13970"/>
                </a:lnTo>
                <a:lnTo>
                  <a:pt x="27050" y="11557"/>
                </a:lnTo>
                <a:lnTo>
                  <a:pt x="27178" y="4952"/>
                </a:lnTo>
                <a:lnTo>
                  <a:pt x="25908" y="2159"/>
                </a:lnTo>
                <a:lnTo>
                  <a:pt x="236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48278" y="2555891"/>
            <a:ext cx="24765" cy="43180"/>
          </a:xfrm>
          <a:custGeom>
            <a:avLst/>
            <a:gdLst/>
            <a:ahLst/>
            <a:cxnLst/>
            <a:rect l="l" t="t" r="r" b="b"/>
            <a:pathLst>
              <a:path w="24765" h="43180">
                <a:moveTo>
                  <a:pt x="17780" y="0"/>
                </a:moveTo>
                <a:lnTo>
                  <a:pt x="10668" y="0"/>
                </a:lnTo>
                <a:lnTo>
                  <a:pt x="7747" y="1016"/>
                </a:lnTo>
                <a:lnTo>
                  <a:pt x="2921" y="4699"/>
                </a:lnTo>
                <a:lnTo>
                  <a:pt x="1651" y="7239"/>
                </a:lnTo>
                <a:lnTo>
                  <a:pt x="8509" y="19558"/>
                </a:lnTo>
                <a:lnTo>
                  <a:pt x="5715" y="20193"/>
                </a:lnTo>
                <a:lnTo>
                  <a:pt x="3683" y="21463"/>
                </a:lnTo>
                <a:lnTo>
                  <a:pt x="762" y="25527"/>
                </a:lnTo>
                <a:lnTo>
                  <a:pt x="127" y="27559"/>
                </a:lnTo>
                <a:lnTo>
                  <a:pt x="0" y="34163"/>
                </a:lnTo>
                <a:lnTo>
                  <a:pt x="1270" y="37084"/>
                </a:lnTo>
                <a:lnTo>
                  <a:pt x="6604" y="41529"/>
                </a:lnTo>
                <a:lnTo>
                  <a:pt x="10033" y="42672"/>
                </a:lnTo>
                <a:lnTo>
                  <a:pt x="18542" y="42672"/>
                </a:lnTo>
                <a:lnTo>
                  <a:pt x="22098" y="41656"/>
                </a:lnTo>
                <a:lnTo>
                  <a:pt x="24511" y="39497"/>
                </a:lnTo>
                <a:lnTo>
                  <a:pt x="11176" y="39497"/>
                </a:lnTo>
                <a:lnTo>
                  <a:pt x="8636" y="38735"/>
                </a:lnTo>
                <a:lnTo>
                  <a:pt x="4699" y="35433"/>
                </a:lnTo>
                <a:lnTo>
                  <a:pt x="3810" y="33147"/>
                </a:lnTo>
                <a:lnTo>
                  <a:pt x="3810" y="27432"/>
                </a:lnTo>
                <a:lnTo>
                  <a:pt x="4699" y="25273"/>
                </a:lnTo>
                <a:lnTo>
                  <a:pt x="6477" y="23622"/>
                </a:lnTo>
                <a:lnTo>
                  <a:pt x="8382" y="21971"/>
                </a:lnTo>
                <a:lnTo>
                  <a:pt x="10922" y="21209"/>
                </a:lnTo>
                <a:lnTo>
                  <a:pt x="24638" y="21209"/>
                </a:lnTo>
                <a:lnTo>
                  <a:pt x="22860" y="20193"/>
                </a:lnTo>
                <a:lnTo>
                  <a:pt x="20066" y="19558"/>
                </a:lnTo>
                <a:lnTo>
                  <a:pt x="22352" y="18796"/>
                </a:lnTo>
                <a:lnTo>
                  <a:pt x="23368" y="18161"/>
                </a:lnTo>
                <a:lnTo>
                  <a:pt x="11430" y="18161"/>
                </a:lnTo>
                <a:lnTo>
                  <a:pt x="9398" y="17399"/>
                </a:lnTo>
                <a:lnTo>
                  <a:pt x="6223" y="14604"/>
                </a:lnTo>
                <a:lnTo>
                  <a:pt x="5334" y="12826"/>
                </a:lnTo>
                <a:lnTo>
                  <a:pt x="5461" y="8127"/>
                </a:lnTo>
                <a:lnTo>
                  <a:pt x="6223" y="6476"/>
                </a:lnTo>
                <a:lnTo>
                  <a:pt x="9652" y="3810"/>
                </a:lnTo>
                <a:lnTo>
                  <a:pt x="11811" y="3175"/>
                </a:lnTo>
                <a:lnTo>
                  <a:pt x="23749" y="3175"/>
                </a:lnTo>
                <a:lnTo>
                  <a:pt x="20828" y="1016"/>
                </a:lnTo>
                <a:lnTo>
                  <a:pt x="1778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65296" y="2559066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59" h="15239">
                <a:moveTo>
                  <a:pt x="6731" y="0"/>
                </a:moveTo>
                <a:lnTo>
                  <a:pt x="0" y="0"/>
                </a:lnTo>
                <a:lnTo>
                  <a:pt x="2159" y="635"/>
                </a:lnTo>
                <a:lnTo>
                  <a:pt x="3810" y="2032"/>
                </a:lnTo>
                <a:lnTo>
                  <a:pt x="5334" y="3175"/>
                </a:lnTo>
                <a:lnTo>
                  <a:pt x="6223" y="4952"/>
                </a:lnTo>
                <a:lnTo>
                  <a:pt x="6096" y="9651"/>
                </a:lnTo>
                <a:lnTo>
                  <a:pt x="5461" y="11429"/>
                </a:lnTo>
                <a:lnTo>
                  <a:pt x="2412" y="14224"/>
                </a:lnTo>
                <a:lnTo>
                  <a:pt x="127" y="14986"/>
                </a:lnTo>
                <a:lnTo>
                  <a:pt x="6350" y="14986"/>
                </a:lnTo>
                <a:lnTo>
                  <a:pt x="6985" y="14604"/>
                </a:lnTo>
                <a:lnTo>
                  <a:pt x="8128" y="12953"/>
                </a:lnTo>
                <a:lnTo>
                  <a:pt x="9398" y="11302"/>
                </a:lnTo>
                <a:lnTo>
                  <a:pt x="9906" y="9651"/>
                </a:lnTo>
                <a:lnTo>
                  <a:pt x="9906" y="4064"/>
                </a:lnTo>
                <a:lnTo>
                  <a:pt x="8762" y="1524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65804" y="2577100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7112" y="0"/>
                </a:moveTo>
                <a:lnTo>
                  <a:pt x="126" y="0"/>
                </a:lnTo>
                <a:lnTo>
                  <a:pt x="2666" y="888"/>
                </a:lnTo>
                <a:lnTo>
                  <a:pt x="6476" y="4190"/>
                </a:lnTo>
                <a:lnTo>
                  <a:pt x="7365" y="6222"/>
                </a:lnTo>
                <a:lnTo>
                  <a:pt x="7365" y="11937"/>
                </a:lnTo>
                <a:lnTo>
                  <a:pt x="6350" y="14223"/>
                </a:lnTo>
                <a:lnTo>
                  <a:pt x="4444" y="15874"/>
                </a:lnTo>
                <a:lnTo>
                  <a:pt x="2666" y="17525"/>
                </a:lnTo>
                <a:lnTo>
                  <a:pt x="0" y="18287"/>
                </a:lnTo>
                <a:lnTo>
                  <a:pt x="6984" y="18287"/>
                </a:lnTo>
                <a:lnTo>
                  <a:pt x="9778" y="16001"/>
                </a:lnTo>
                <a:lnTo>
                  <a:pt x="11175" y="12953"/>
                </a:lnTo>
                <a:lnTo>
                  <a:pt x="11175" y="6222"/>
                </a:lnTo>
                <a:lnTo>
                  <a:pt x="10413" y="3936"/>
                </a:lnTo>
                <a:lnTo>
                  <a:pt x="7493" y="253"/>
                </a:lnTo>
                <a:lnTo>
                  <a:pt x="7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18256" y="268223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18256" y="264576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42284" y="2662571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3493" y="2747685"/>
            <a:ext cx="563917" cy="187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8256" y="30007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8256" y="29642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36188" y="2981087"/>
            <a:ext cx="121919" cy="53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3493" y="2429169"/>
            <a:ext cx="563917" cy="82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8256" y="236372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8256" y="232725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42284" y="2344055"/>
            <a:ext cx="106680" cy="42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50032" y="2110653"/>
            <a:ext cx="827379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4068" y="2406285"/>
            <a:ext cx="1026794" cy="84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conv2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50032" y="2884567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1"/>
                </a:lnTo>
                <a:lnTo>
                  <a:pt x="1396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6"/>
                </a:lnTo>
                <a:lnTo>
                  <a:pt x="7200" y="30987"/>
                </a:lnTo>
                <a:lnTo>
                  <a:pt x="10909" y="32384"/>
                </a:lnTo>
                <a:lnTo>
                  <a:pt x="19545" y="32384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2"/>
                </a:lnTo>
                <a:lnTo>
                  <a:pt x="10248" y="23494"/>
                </a:lnTo>
                <a:lnTo>
                  <a:pt x="9055" y="21716"/>
                </a:lnTo>
                <a:lnTo>
                  <a:pt x="8458" y="19303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79"/>
                </a:lnTo>
                <a:lnTo>
                  <a:pt x="22961" y="1015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67443" y="2890917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6"/>
                </a:lnTo>
                <a:lnTo>
                  <a:pt x="3454" y="2286"/>
                </a:lnTo>
                <a:lnTo>
                  <a:pt x="4114" y="3555"/>
                </a:lnTo>
                <a:lnTo>
                  <a:pt x="4381" y="5333"/>
                </a:lnTo>
                <a:lnTo>
                  <a:pt x="12649" y="5333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7316" y="2904379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5"/>
                </a:lnTo>
                <a:lnTo>
                  <a:pt x="1498" y="5841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84144" y="2884567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6"/>
                </a:lnTo>
                <a:lnTo>
                  <a:pt x="1435" y="7492"/>
                </a:lnTo>
                <a:lnTo>
                  <a:pt x="0" y="11429"/>
                </a:lnTo>
                <a:lnTo>
                  <a:pt x="25" y="21208"/>
                </a:lnTo>
                <a:lnTo>
                  <a:pt x="1435" y="25018"/>
                </a:lnTo>
                <a:lnTo>
                  <a:pt x="4292" y="28066"/>
                </a:lnTo>
                <a:lnTo>
                  <a:pt x="7200" y="30987"/>
                </a:lnTo>
                <a:lnTo>
                  <a:pt x="11061" y="32384"/>
                </a:lnTo>
                <a:lnTo>
                  <a:pt x="20612" y="32384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2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3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6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02368" y="2890917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6"/>
                </a:lnTo>
                <a:lnTo>
                  <a:pt x="4444" y="4444"/>
                </a:lnTo>
                <a:lnTo>
                  <a:pt x="5003" y="6603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2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8"/>
                </a:lnTo>
                <a:lnTo>
                  <a:pt x="13538" y="5079"/>
                </a:lnTo>
                <a:lnTo>
                  <a:pt x="12064" y="1142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9610" y="2884567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0"/>
                </a:lnTo>
                <a:lnTo>
                  <a:pt x="3975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79"/>
                </a:lnTo>
                <a:lnTo>
                  <a:pt x="19735" y="5079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21342" y="2885329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0"/>
                </a:lnTo>
                <a:lnTo>
                  <a:pt x="8458" y="30860"/>
                </a:lnTo>
                <a:lnTo>
                  <a:pt x="8458" y="11556"/>
                </a:lnTo>
                <a:lnTo>
                  <a:pt x="8953" y="9397"/>
                </a:lnTo>
                <a:lnTo>
                  <a:pt x="9956" y="8000"/>
                </a:lnTo>
                <a:lnTo>
                  <a:pt x="11010" y="6603"/>
                </a:lnTo>
                <a:lnTo>
                  <a:pt x="12712" y="5841"/>
                </a:lnTo>
                <a:lnTo>
                  <a:pt x="28460" y="5841"/>
                </a:lnTo>
                <a:lnTo>
                  <a:pt x="28003" y="4317"/>
                </a:lnTo>
                <a:lnTo>
                  <a:pt x="8064" y="4317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38297" y="2891171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5"/>
                </a:lnTo>
                <a:lnTo>
                  <a:pt x="2159" y="1904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53676" y="2885329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0"/>
                </a:lnTo>
                <a:lnTo>
                  <a:pt x="19913" y="30860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69107" y="2885329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88665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29" y="7619"/>
                </a:lnTo>
                <a:lnTo>
                  <a:pt x="3975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20516" y="2896289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45904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42" y="7619"/>
                </a:lnTo>
                <a:lnTo>
                  <a:pt x="3987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50032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6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0871" y="33020"/>
                </a:lnTo>
                <a:lnTo>
                  <a:pt x="19469" y="33020"/>
                </a:lnTo>
                <a:lnTo>
                  <a:pt x="22809" y="31876"/>
                </a:lnTo>
                <a:lnTo>
                  <a:pt x="28028" y="27559"/>
                </a:lnTo>
                <a:lnTo>
                  <a:pt x="28486" y="26670"/>
                </a:lnTo>
                <a:lnTo>
                  <a:pt x="13182" y="26670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7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67380" y="2789825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67240" y="2803541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1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4017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20"/>
                </a:lnTo>
                <a:lnTo>
                  <a:pt x="0" y="11684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1010" y="33020"/>
                </a:lnTo>
                <a:lnTo>
                  <a:pt x="20523" y="33020"/>
                </a:lnTo>
                <a:lnTo>
                  <a:pt x="24358" y="31496"/>
                </a:lnTo>
                <a:lnTo>
                  <a:pt x="29146" y="26670"/>
                </a:lnTo>
                <a:lnTo>
                  <a:pt x="13512" y="26670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8"/>
                </a:lnTo>
                <a:lnTo>
                  <a:pt x="9093" y="10668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02165" y="2789825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4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7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9292" y="2783348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7"/>
                </a:lnTo>
                <a:lnTo>
                  <a:pt x="19659" y="5207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21063" y="2784237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9"/>
                </a:lnTo>
                <a:lnTo>
                  <a:pt x="8432" y="31369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9"/>
                </a:lnTo>
                <a:lnTo>
                  <a:pt x="28346" y="5969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37954" y="2790206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4"/>
                </a:lnTo>
                <a:lnTo>
                  <a:pt x="3009" y="3048"/>
                </a:lnTo>
                <a:lnTo>
                  <a:pt x="3428" y="4952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53270" y="278423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9"/>
                </a:lnTo>
                <a:lnTo>
                  <a:pt x="19837" y="31369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68637" y="2784237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88119" y="2773061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4"/>
                </a:lnTo>
                <a:lnTo>
                  <a:pt x="10515" y="4952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5"/>
                </a:lnTo>
                <a:lnTo>
                  <a:pt x="18834" y="42545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19843" y="2795341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42957" y="2772299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5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5"/>
                </a:lnTo>
                <a:lnTo>
                  <a:pt x="8026" y="17145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3"/>
                </a:lnTo>
                <a:lnTo>
                  <a:pt x="10934" y="8255"/>
                </a:lnTo>
                <a:lnTo>
                  <a:pt x="12560" y="7365"/>
                </a:lnTo>
                <a:lnTo>
                  <a:pt x="28422" y="7365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70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42068" y="2779665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5"/>
                </a:lnTo>
                <a:lnTo>
                  <a:pt x="21145" y="3048"/>
                </a:lnTo>
                <a:lnTo>
                  <a:pt x="21716" y="4699"/>
                </a:lnTo>
                <a:lnTo>
                  <a:pt x="21716" y="8128"/>
                </a:lnTo>
                <a:lnTo>
                  <a:pt x="16065" y="14859"/>
                </a:lnTo>
                <a:lnTo>
                  <a:pt x="0" y="33147"/>
                </a:lnTo>
                <a:lnTo>
                  <a:pt x="0" y="35941"/>
                </a:lnTo>
                <a:lnTo>
                  <a:pt x="30340" y="35941"/>
                </a:lnTo>
                <a:lnTo>
                  <a:pt x="30340" y="28448"/>
                </a:lnTo>
                <a:lnTo>
                  <a:pt x="10807" y="28448"/>
                </a:lnTo>
                <a:lnTo>
                  <a:pt x="11531" y="27432"/>
                </a:lnTo>
                <a:lnTo>
                  <a:pt x="12496" y="26289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7"/>
                </a:lnTo>
                <a:lnTo>
                  <a:pt x="24256" y="17780"/>
                </a:lnTo>
                <a:lnTo>
                  <a:pt x="26898" y="15367"/>
                </a:lnTo>
                <a:lnTo>
                  <a:pt x="28155" y="13208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2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50032" y="2467499"/>
            <a:ext cx="222377" cy="1446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18256" y="19438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18256" y="1908147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042284" y="1923431"/>
            <a:ext cx="106680" cy="44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13493" y="1578777"/>
            <a:ext cx="563917" cy="189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18256" y="15148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8256" y="14783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042284" y="1495187"/>
            <a:ext cx="106680" cy="42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13493" y="1155106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18256" y="10896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8256" y="105318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042284" y="1069991"/>
            <a:ext cx="106680" cy="426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13493" y="624754"/>
            <a:ext cx="563917" cy="3994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50032" y="1175147"/>
            <a:ext cx="830427" cy="27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50032" y="1603391"/>
            <a:ext cx="827379" cy="2757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17088" y="963311"/>
            <a:ext cx="85343" cy="426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17088" y="862727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7088" y="760619"/>
            <a:ext cx="86868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12160" y="204368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18256" y="201330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09188" y="2024015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271" y="0"/>
                </a:lnTo>
                <a:lnTo>
                  <a:pt x="6223" y="1270"/>
                </a:lnTo>
                <a:lnTo>
                  <a:pt x="1270" y="6223"/>
                </a:lnTo>
                <a:lnTo>
                  <a:pt x="0" y="9525"/>
                </a:lnTo>
                <a:lnTo>
                  <a:pt x="0" y="13716"/>
                </a:lnTo>
                <a:lnTo>
                  <a:pt x="3683" y="13716"/>
                </a:lnTo>
                <a:lnTo>
                  <a:pt x="3683" y="10160"/>
                </a:lnTo>
                <a:lnTo>
                  <a:pt x="4571" y="7620"/>
                </a:lnTo>
                <a:lnTo>
                  <a:pt x="8000" y="4064"/>
                </a:lnTo>
                <a:lnTo>
                  <a:pt x="10287" y="3175"/>
                </a:lnTo>
                <a:lnTo>
                  <a:pt x="22733" y="3175"/>
                </a:lnTo>
                <a:lnTo>
                  <a:pt x="19812" y="889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19856" y="2027190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5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8" y="3428"/>
                </a:lnTo>
                <a:lnTo>
                  <a:pt x="11556" y="5334"/>
                </a:lnTo>
                <a:lnTo>
                  <a:pt x="11556" y="10160"/>
                </a:lnTo>
                <a:lnTo>
                  <a:pt x="10668" y="11938"/>
                </a:lnTo>
                <a:lnTo>
                  <a:pt x="7493" y="14732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3"/>
                </a:lnTo>
                <a:lnTo>
                  <a:pt x="10413" y="20954"/>
                </a:lnTo>
                <a:lnTo>
                  <a:pt x="12191" y="22351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5" y="32003"/>
                </a:lnTo>
                <a:lnTo>
                  <a:pt x="8000" y="35433"/>
                </a:lnTo>
                <a:lnTo>
                  <a:pt x="5460" y="36322"/>
                </a:lnTo>
                <a:lnTo>
                  <a:pt x="12446" y="36322"/>
                </a:lnTo>
                <a:lnTo>
                  <a:pt x="15493" y="33782"/>
                </a:lnTo>
                <a:lnTo>
                  <a:pt x="16763" y="30734"/>
                </a:lnTo>
                <a:lnTo>
                  <a:pt x="16763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175" y="17145"/>
                </a:lnTo>
                <a:lnTo>
                  <a:pt x="8381" y="16637"/>
                </a:lnTo>
                <a:lnTo>
                  <a:pt x="10540" y="16001"/>
                </a:lnTo>
                <a:lnTo>
                  <a:pt x="12191" y="14859"/>
                </a:lnTo>
                <a:lnTo>
                  <a:pt x="14731" y="11557"/>
                </a:lnTo>
                <a:lnTo>
                  <a:pt x="15366" y="9651"/>
                </a:lnTo>
                <a:lnTo>
                  <a:pt x="15366" y="4064"/>
                </a:lnTo>
                <a:lnTo>
                  <a:pt x="14096" y="1397"/>
                </a:lnTo>
                <a:lnTo>
                  <a:pt x="120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08265" y="2052590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717" y="0"/>
                </a:moveTo>
                <a:lnTo>
                  <a:pt x="34" y="0"/>
                </a:lnTo>
                <a:lnTo>
                  <a:pt x="0" y="3937"/>
                </a:lnTo>
                <a:lnTo>
                  <a:pt x="9940" y="14097"/>
                </a:lnTo>
                <a:lnTo>
                  <a:pt x="18322" y="14097"/>
                </a:lnTo>
                <a:lnTo>
                  <a:pt x="21624" y="12953"/>
                </a:lnTo>
                <a:lnTo>
                  <a:pt x="24037" y="10922"/>
                </a:lnTo>
                <a:lnTo>
                  <a:pt x="10956" y="10922"/>
                </a:lnTo>
                <a:lnTo>
                  <a:pt x="8416" y="10033"/>
                </a:lnTo>
                <a:lnTo>
                  <a:pt x="4733" y="6350"/>
                </a:lnTo>
                <a:lnTo>
                  <a:pt x="3717" y="3937"/>
                </a:lnTo>
                <a:lnTo>
                  <a:pt x="371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39414" y="2035318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8" y="0"/>
                </a:moveTo>
                <a:lnTo>
                  <a:pt x="889" y="0"/>
                </a:lnTo>
                <a:lnTo>
                  <a:pt x="11938" y="14605"/>
                </a:lnTo>
                <a:lnTo>
                  <a:pt x="0" y="30480"/>
                </a:lnTo>
                <a:lnTo>
                  <a:pt x="4572" y="30480"/>
                </a:lnTo>
                <a:lnTo>
                  <a:pt x="14097" y="17780"/>
                </a:lnTo>
                <a:lnTo>
                  <a:pt x="18796" y="17780"/>
                </a:lnTo>
                <a:lnTo>
                  <a:pt x="16510" y="14605"/>
                </a:lnTo>
                <a:lnTo>
                  <a:pt x="18669" y="11557"/>
                </a:lnTo>
                <a:lnTo>
                  <a:pt x="14351" y="11557"/>
                </a:lnTo>
                <a:lnTo>
                  <a:pt x="558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53765" y="2035318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7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53511" y="2053098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698" y="0"/>
                </a:moveTo>
                <a:lnTo>
                  <a:pt x="0" y="0"/>
                </a:lnTo>
                <a:lnTo>
                  <a:pt x="9651" y="12700"/>
                </a:lnTo>
                <a:lnTo>
                  <a:pt x="14350" y="12700"/>
                </a:lnTo>
                <a:lnTo>
                  <a:pt x="469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970656" y="2024015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397" y="0"/>
                </a:lnTo>
                <a:lnTo>
                  <a:pt x="6222" y="1270"/>
                </a:lnTo>
                <a:lnTo>
                  <a:pt x="1396" y="6223"/>
                </a:lnTo>
                <a:lnTo>
                  <a:pt x="127" y="9525"/>
                </a:lnTo>
                <a:lnTo>
                  <a:pt x="0" y="13716"/>
                </a:lnTo>
                <a:lnTo>
                  <a:pt x="3809" y="13716"/>
                </a:lnTo>
                <a:lnTo>
                  <a:pt x="3809" y="10160"/>
                </a:lnTo>
                <a:lnTo>
                  <a:pt x="4699" y="7620"/>
                </a:lnTo>
                <a:lnTo>
                  <a:pt x="8128" y="4064"/>
                </a:lnTo>
                <a:lnTo>
                  <a:pt x="10413" y="3175"/>
                </a:lnTo>
                <a:lnTo>
                  <a:pt x="22859" y="3175"/>
                </a:lnTo>
                <a:lnTo>
                  <a:pt x="19812" y="889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81451" y="2027190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5" y="0"/>
                </a:moveTo>
                <a:lnTo>
                  <a:pt x="5207" y="0"/>
                </a:lnTo>
                <a:lnTo>
                  <a:pt x="7365" y="635"/>
                </a:lnTo>
                <a:lnTo>
                  <a:pt x="10668" y="3428"/>
                </a:lnTo>
                <a:lnTo>
                  <a:pt x="11557" y="5334"/>
                </a:lnTo>
                <a:lnTo>
                  <a:pt x="11557" y="10160"/>
                </a:lnTo>
                <a:lnTo>
                  <a:pt x="10668" y="11938"/>
                </a:lnTo>
                <a:lnTo>
                  <a:pt x="7493" y="14732"/>
                </a:lnTo>
                <a:lnTo>
                  <a:pt x="5461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3" y="18542"/>
                </a:lnTo>
                <a:lnTo>
                  <a:pt x="8636" y="19303"/>
                </a:lnTo>
                <a:lnTo>
                  <a:pt x="10414" y="20954"/>
                </a:lnTo>
                <a:lnTo>
                  <a:pt x="12192" y="22351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5" y="32003"/>
                </a:lnTo>
                <a:lnTo>
                  <a:pt x="8001" y="35433"/>
                </a:lnTo>
                <a:lnTo>
                  <a:pt x="5461" y="36322"/>
                </a:lnTo>
                <a:lnTo>
                  <a:pt x="12318" y="36322"/>
                </a:lnTo>
                <a:lnTo>
                  <a:pt x="15367" y="33782"/>
                </a:lnTo>
                <a:lnTo>
                  <a:pt x="16764" y="30734"/>
                </a:lnTo>
                <a:lnTo>
                  <a:pt x="16764" y="24257"/>
                </a:lnTo>
                <a:lnTo>
                  <a:pt x="16129" y="22098"/>
                </a:lnTo>
                <a:lnTo>
                  <a:pt x="13335" y="18415"/>
                </a:lnTo>
                <a:lnTo>
                  <a:pt x="11176" y="17145"/>
                </a:lnTo>
                <a:lnTo>
                  <a:pt x="8382" y="16637"/>
                </a:lnTo>
                <a:lnTo>
                  <a:pt x="10540" y="16001"/>
                </a:lnTo>
                <a:lnTo>
                  <a:pt x="12192" y="14859"/>
                </a:lnTo>
                <a:lnTo>
                  <a:pt x="14605" y="11557"/>
                </a:lnTo>
                <a:lnTo>
                  <a:pt x="15240" y="9651"/>
                </a:lnTo>
                <a:lnTo>
                  <a:pt x="15240" y="4064"/>
                </a:lnTo>
                <a:lnTo>
                  <a:pt x="14096" y="1397"/>
                </a:lnTo>
                <a:lnTo>
                  <a:pt x="1206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969767" y="2052590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10" y="0"/>
                </a:moveTo>
                <a:lnTo>
                  <a:pt x="0" y="0"/>
                </a:lnTo>
                <a:lnTo>
                  <a:pt x="0" y="5334"/>
                </a:lnTo>
                <a:lnTo>
                  <a:pt x="1270" y="8254"/>
                </a:lnTo>
                <a:lnTo>
                  <a:pt x="3937" y="10668"/>
                </a:lnTo>
                <a:lnTo>
                  <a:pt x="6604" y="12953"/>
                </a:lnTo>
                <a:lnTo>
                  <a:pt x="10033" y="14097"/>
                </a:lnTo>
                <a:lnTo>
                  <a:pt x="18288" y="14097"/>
                </a:lnTo>
                <a:lnTo>
                  <a:pt x="21717" y="12953"/>
                </a:lnTo>
                <a:lnTo>
                  <a:pt x="24003" y="10922"/>
                </a:lnTo>
                <a:lnTo>
                  <a:pt x="10921" y="10922"/>
                </a:lnTo>
                <a:lnTo>
                  <a:pt x="8509" y="10033"/>
                </a:lnTo>
                <a:lnTo>
                  <a:pt x="4699" y="6350"/>
                </a:lnTo>
                <a:lnTo>
                  <a:pt x="3810" y="3937"/>
                </a:lnTo>
                <a:lnTo>
                  <a:pt x="381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19424" y="2034429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034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3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1"/>
                </a:lnTo>
                <a:lnTo>
                  <a:pt x="23113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59"/>
                </a:lnTo>
                <a:lnTo>
                  <a:pt x="3809" y="19811"/>
                </a:lnTo>
                <a:lnTo>
                  <a:pt x="3809" y="12446"/>
                </a:lnTo>
                <a:lnTo>
                  <a:pt x="4698" y="9398"/>
                </a:lnTo>
                <a:lnTo>
                  <a:pt x="6603" y="6857"/>
                </a:lnTo>
                <a:lnTo>
                  <a:pt x="8635" y="4445"/>
                </a:lnTo>
                <a:lnTo>
                  <a:pt x="11303" y="3175"/>
                </a:lnTo>
                <a:lnTo>
                  <a:pt x="23494" y="3175"/>
                </a:lnTo>
                <a:lnTo>
                  <a:pt x="20954" y="888"/>
                </a:lnTo>
                <a:lnTo>
                  <a:pt x="1803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036188" y="2037604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731" y="0"/>
                </a:moveTo>
                <a:lnTo>
                  <a:pt x="0" y="0"/>
                </a:lnTo>
                <a:lnTo>
                  <a:pt x="1905" y="634"/>
                </a:lnTo>
                <a:lnTo>
                  <a:pt x="4825" y="3048"/>
                </a:lnTo>
                <a:lnTo>
                  <a:pt x="5842" y="4825"/>
                </a:lnTo>
                <a:lnTo>
                  <a:pt x="6350" y="7365"/>
                </a:lnTo>
                <a:lnTo>
                  <a:pt x="10159" y="7365"/>
                </a:lnTo>
                <a:lnTo>
                  <a:pt x="9778" y="4063"/>
                </a:lnTo>
                <a:lnTo>
                  <a:pt x="8509" y="1397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036188" y="2054876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4" y="0"/>
                </a:moveTo>
                <a:lnTo>
                  <a:pt x="6731" y="0"/>
                </a:lnTo>
                <a:lnTo>
                  <a:pt x="6350" y="2666"/>
                </a:lnTo>
                <a:lnTo>
                  <a:pt x="5334" y="4699"/>
                </a:lnTo>
                <a:lnTo>
                  <a:pt x="3556" y="6223"/>
                </a:lnTo>
                <a:lnTo>
                  <a:pt x="1905" y="7874"/>
                </a:lnTo>
                <a:lnTo>
                  <a:pt x="0" y="8635"/>
                </a:lnTo>
                <a:lnTo>
                  <a:pt x="6350" y="8635"/>
                </a:lnTo>
                <a:lnTo>
                  <a:pt x="8381" y="6730"/>
                </a:lnTo>
                <a:lnTo>
                  <a:pt x="9778" y="3809"/>
                </a:lnTo>
                <a:lnTo>
                  <a:pt x="1041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050158" y="2034429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730" y="1524"/>
                </a:lnTo>
                <a:lnTo>
                  <a:pt x="1396" y="7620"/>
                </a:lnTo>
                <a:lnTo>
                  <a:pt x="0" y="11429"/>
                </a:lnTo>
                <a:lnTo>
                  <a:pt x="0" y="20827"/>
                </a:lnTo>
                <a:lnTo>
                  <a:pt x="1396" y="24637"/>
                </a:lnTo>
                <a:lnTo>
                  <a:pt x="6730" y="30733"/>
                </a:lnTo>
                <a:lnTo>
                  <a:pt x="10286" y="32257"/>
                </a:lnTo>
                <a:lnTo>
                  <a:pt x="17525" y="32257"/>
                </a:lnTo>
                <a:lnTo>
                  <a:pt x="20192" y="31496"/>
                </a:lnTo>
                <a:lnTo>
                  <a:pt x="22478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762" y="27812"/>
                </a:lnTo>
                <a:lnTo>
                  <a:pt x="6730" y="25400"/>
                </a:lnTo>
                <a:lnTo>
                  <a:pt x="4825" y="22859"/>
                </a:lnTo>
                <a:lnTo>
                  <a:pt x="3809" y="19811"/>
                </a:lnTo>
                <a:lnTo>
                  <a:pt x="3809" y="12446"/>
                </a:lnTo>
                <a:lnTo>
                  <a:pt x="4825" y="9398"/>
                </a:lnTo>
                <a:lnTo>
                  <a:pt x="6603" y="6984"/>
                </a:lnTo>
                <a:lnTo>
                  <a:pt x="8762" y="4445"/>
                </a:lnTo>
                <a:lnTo>
                  <a:pt x="11303" y="3175"/>
                </a:lnTo>
                <a:lnTo>
                  <a:pt x="23875" y="3175"/>
                </a:lnTo>
                <a:lnTo>
                  <a:pt x="22478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067938" y="2037604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667" y="1270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6"/>
                </a:lnTo>
                <a:lnTo>
                  <a:pt x="6477" y="19557"/>
                </a:lnTo>
                <a:lnTo>
                  <a:pt x="2667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11303" y="15748"/>
                </a:lnTo>
                <a:lnTo>
                  <a:pt x="11303" y="8254"/>
                </a:lnTo>
                <a:lnTo>
                  <a:pt x="10033" y="4445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088639" y="2034429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716" y="0"/>
                </a:moveTo>
                <a:lnTo>
                  <a:pt x="7493" y="0"/>
                </a:lnTo>
                <a:lnTo>
                  <a:pt x="5588" y="634"/>
                </a:lnTo>
                <a:lnTo>
                  <a:pt x="3683" y="1777"/>
                </a:lnTo>
                <a:lnTo>
                  <a:pt x="1905" y="2921"/>
                </a:lnTo>
                <a:lnTo>
                  <a:pt x="635" y="4318"/>
                </a:lnTo>
                <a:lnTo>
                  <a:pt x="0" y="6096"/>
                </a:lnTo>
                <a:lnTo>
                  <a:pt x="2286" y="6096"/>
                </a:lnTo>
                <a:lnTo>
                  <a:pt x="2667" y="5587"/>
                </a:lnTo>
                <a:lnTo>
                  <a:pt x="4191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542" y="3175"/>
                </a:lnTo>
                <a:lnTo>
                  <a:pt x="16510" y="888"/>
                </a:lnTo>
                <a:lnTo>
                  <a:pt x="1371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084702" y="2035318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825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100704" y="2037604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1"/>
                </a:lnTo>
                <a:lnTo>
                  <a:pt x="3175" y="2285"/>
                </a:lnTo>
                <a:lnTo>
                  <a:pt x="4571" y="3809"/>
                </a:lnTo>
                <a:lnTo>
                  <a:pt x="5207" y="5969"/>
                </a:lnTo>
                <a:lnTo>
                  <a:pt x="5207" y="28194"/>
                </a:lnTo>
                <a:lnTo>
                  <a:pt x="8890" y="28194"/>
                </a:lnTo>
                <a:lnTo>
                  <a:pt x="8890" y="4445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13277" y="2035318"/>
            <a:ext cx="17145" cy="30480"/>
          </a:xfrm>
          <a:custGeom>
            <a:avLst/>
            <a:gdLst/>
            <a:ahLst/>
            <a:cxnLst/>
            <a:rect l="l" t="t" r="r" b="b"/>
            <a:pathLst>
              <a:path w="17144" h="30480">
                <a:moveTo>
                  <a:pt x="4063" y="0"/>
                </a:moveTo>
                <a:lnTo>
                  <a:pt x="0" y="0"/>
                </a:lnTo>
                <a:lnTo>
                  <a:pt x="11810" y="30480"/>
                </a:lnTo>
                <a:lnTo>
                  <a:pt x="15747" y="30480"/>
                </a:lnTo>
                <a:lnTo>
                  <a:pt x="17144" y="26670"/>
                </a:lnTo>
                <a:lnTo>
                  <a:pt x="13715" y="26670"/>
                </a:lnTo>
                <a:lnTo>
                  <a:pt x="40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127120" y="2035318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146043" y="2059575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4" y="0"/>
                </a:moveTo>
                <a:lnTo>
                  <a:pt x="381" y="0"/>
                </a:lnTo>
                <a:lnTo>
                  <a:pt x="381" y="6223"/>
                </a:lnTo>
                <a:lnTo>
                  <a:pt x="2793" y="6223"/>
                </a:lnTo>
                <a:lnTo>
                  <a:pt x="2681" y="8127"/>
                </a:lnTo>
                <a:lnTo>
                  <a:pt x="2540" y="8762"/>
                </a:lnTo>
                <a:lnTo>
                  <a:pt x="1975" y="9778"/>
                </a:lnTo>
                <a:lnTo>
                  <a:pt x="1523" y="10794"/>
                </a:lnTo>
                <a:lnTo>
                  <a:pt x="888" y="11429"/>
                </a:lnTo>
                <a:lnTo>
                  <a:pt x="0" y="11810"/>
                </a:lnTo>
                <a:lnTo>
                  <a:pt x="0" y="14350"/>
                </a:lnTo>
                <a:lnTo>
                  <a:pt x="1778" y="13842"/>
                </a:lnTo>
                <a:lnTo>
                  <a:pt x="3047" y="12826"/>
                </a:lnTo>
                <a:lnTo>
                  <a:pt x="4825" y="9778"/>
                </a:lnTo>
                <a:lnTo>
                  <a:pt x="5334" y="8127"/>
                </a:lnTo>
                <a:lnTo>
                  <a:pt x="533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176777" y="2024015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5" y="0"/>
                </a:moveTo>
                <a:lnTo>
                  <a:pt x="9017" y="0"/>
                </a:lnTo>
                <a:lnTo>
                  <a:pt x="5715" y="1270"/>
                </a:lnTo>
                <a:lnTo>
                  <a:pt x="3302" y="3810"/>
                </a:lnTo>
                <a:lnTo>
                  <a:pt x="1143" y="6476"/>
                </a:lnTo>
                <a:lnTo>
                  <a:pt x="0" y="9905"/>
                </a:lnTo>
                <a:lnTo>
                  <a:pt x="0" y="14732"/>
                </a:lnTo>
                <a:lnTo>
                  <a:pt x="3683" y="14732"/>
                </a:lnTo>
                <a:lnTo>
                  <a:pt x="3810" y="10541"/>
                </a:lnTo>
                <a:lnTo>
                  <a:pt x="4699" y="7874"/>
                </a:lnTo>
                <a:lnTo>
                  <a:pt x="7874" y="4064"/>
                </a:lnTo>
                <a:lnTo>
                  <a:pt x="10160" y="3175"/>
                </a:lnTo>
                <a:lnTo>
                  <a:pt x="22606" y="3175"/>
                </a:lnTo>
                <a:lnTo>
                  <a:pt x="20193" y="1016"/>
                </a:lnTo>
                <a:lnTo>
                  <a:pt x="1714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175761" y="2027190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1" y="0"/>
                </a:moveTo>
                <a:lnTo>
                  <a:pt x="16890" y="0"/>
                </a:lnTo>
                <a:lnTo>
                  <a:pt x="19050" y="762"/>
                </a:lnTo>
                <a:lnTo>
                  <a:pt x="22478" y="3937"/>
                </a:lnTo>
                <a:lnTo>
                  <a:pt x="23368" y="5969"/>
                </a:lnTo>
                <a:lnTo>
                  <a:pt x="23368" y="11049"/>
                </a:lnTo>
                <a:lnTo>
                  <a:pt x="22478" y="13335"/>
                </a:lnTo>
                <a:lnTo>
                  <a:pt x="20827" y="15240"/>
                </a:lnTo>
                <a:lnTo>
                  <a:pt x="19303" y="17145"/>
                </a:lnTo>
                <a:lnTo>
                  <a:pt x="16256" y="19558"/>
                </a:lnTo>
                <a:lnTo>
                  <a:pt x="0" y="35560"/>
                </a:lnTo>
                <a:lnTo>
                  <a:pt x="0" y="38608"/>
                </a:lnTo>
                <a:lnTo>
                  <a:pt x="27305" y="38608"/>
                </a:lnTo>
                <a:lnTo>
                  <a:pt x="27305" y="35178"/>
                </a:lnTo>
                <a:lnTo>
                  <a:pt x="4190" y="35178"/>
                </a:lnTo>
                <a:lnTo>
                  <a:pt x="4571" y="33527"/>
                </a:lnTo>
                <a:lnTo>
                  <a:pt x="5461" y="32003"/>
                </a:lnTo>
                <a:lnTo>
                  <a:pt x="8508" y="28701"/>
                </a:lnTo>
                <a:lnTo>
                  <a:pt x="11049" y="26670"/>
                </a:lnTo>
                <a:lnTo>
                  <a:pt x="19557" y="21590"/>
                </a:lnTo>
                <a:lnTo>
                  <a:pt x="22732" y="18923"/>
                </a:lnTo>
                <a:lnTo>
                  <a:pt x="24511" y="16510"/>
                </a:lnTo>
                <a:lnTo>
                  <a:pt x="26288" y="13970"/>
                </a:lnTo>
                <a:lnTo>
                  <a:pt x="27050" y="11557"/>
                </a:lnTo>
                <a:lnTo>
                  <a:pt x="27177" y="4952"/>
                </a:lnTo>
                <a:lnTo>
                  <a:pt x="25907" y="2159"/>
                </a:lnTo>
                <a:lnTo>
                  <a:pt x="2362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209924" y="2025031"/>
            <a:ext cx="25400" cy="21590"/>
          </a:xfrm>
          <a:custGeom>
            <a:avLst/>
            <a:gdLst/>
            <a:ahLst/>
            <a:cxnLst/>
            <a:rect l="l" t="t" r="r" b="b"/>
            <a:pathLst>
              <a:path w="25400" h="21589">
                <a:moveTo>
                  <a:pt x="24892" y="0"/>
                </a:moveTo>
                <a:lnTo>
                  <a:pt x="4190" y="0"/>
                </a:lnTo>
                <a:lnTo>
                  <a:pt x="0" y="21335"/>
                </a:lnTo>
                <a:lnTo>
                  <a:pt x="3175" y="21335"/>
                </a:lnTo>
                <a:lnTo>
                  <a:pt x="4318" y="19684"/>
                </a:lnTo>
                <a:lnTo>
                  <a:pt x="5714" y="18542"/>
                </a:lnTo>
                <a:lnTo>
                  <a:pt x="7365" y="17652"/>
                </a:lnTo>
                <a:lnTo>
                  <a:pt x="8381" y="17272"/>
                </a:lnTo>
                <a:lnTo>
                  <a:pt x="4190" y="17272"/>
                </a:lnTo>
                <a:lnTo>
                  <a:pt x="6731" y="3301"/>
                </a:lnTo>
                <a:lnTo>
                  <a:pt x="24892" y="3301"/>
                </a:lnTo>
                <a:lnTo>
                  <a:pt x="2489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1214115" y="2038366"/>
            <a:ext cx="18415" cy="4445"/>
          </a:xfrm>
          <a:custGeom>
            <a:avLst/>
            <a:gdLst/>
            <a:ahLst/>
            <a:cxnLst/>
            <a:rect l="l" t="t" r="r" b="b"/>
            <a:pathLst>
              <a:path w="18415" h="4444">
                <a:moveTo>
                  <a:pt x="13081" y="0"/>
                </a:moveTo>
                <a:lnTo>
                  <a:pt x="7112" y="0"/>
                </a:lnTo>
                <a:lnTo>
                  <a:pt x="5461" y="381"/>
                </a:lnTo>
                <a:lnTo>
                  <a:pt x="2412" y="1650"/>
                </a:lnTo>
                <a:lnTo>
                  <a:pt x="1016" y="2667"/>
                </a:lnTo>
                <a:lnTo>
                  <a:pt x="0" y="3937"/>
                </a:lnTo>
                <a:lnTo>
                  <a:pt x="4191" y="3937"/>
                </a:lnTo>
                <a:lnTo>
                  <a:pt x="4826" y="3556"/>
                </a:lnTo>
                <a:lnTo>
                  <a:pt x="6477" y="3175"/>
                </a:lnTo>
                <a:lnTo>
                  <a:pt x="18161" y="3175"/>
                </a:lnTo>
                <a:lnTo>
                  <a:pt x="16383" y="1270"/>
                </a:lnTo>
                <a:lnTo>
                  <a:pt x="1308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225418" y="2041541"/>
            <a:ext cx="11430" cy="22225"/>
          </a:xfrm>
          <a:custGeom>
            <a:avLst/>
            <a:gdLst/>
            <a:ahLst/>
            <a:cxnLst/>
            <a:rect l="l" t="t" r="r" b="b"/>
            <a:pathLst>
              <a:path w="11430" h="22225">
                <a:moveTo>
                  <a:pt x="6857" y="0"/>
                </a:moveTo>
                <a:lnTo>
                  <a:pt x="0" y="0"/>
                </a:lnTo>
                <a:lnTo>
                  <a:pt x="2539" y="1016"/>
                </a:lnTo>
                <a:lnTo>
                  <a:pt x="6604" y="5079"/>
                </a:lnTo>
                <a:lnTo>
                  <a:pt x="7619" y="7620"/>
                </a:lnTo>
                <a:lnTo>
                  <a:pt x="7619" y="13843"/>
                </a:lnTo>
                <a:lnTo>
                  <a:pt x="6604" y="16510"/>
                </a:lnTo>
                <a:lnTo>
                  <a:pt x="2667" y="20954"/>
                </a:lnTo>
                <a:lnTo>
                  <a:pt x="254" y="21971"/>
                </a:lnTo>
                <a:lnTo>
                  <a:pt x="6350" y="21971"/>
                </a:lnTo>
                <a:lnTo>
                  <a:pt x="10032" y="18415"/>
                </a:lnTo>
                <a:lnTo>
                  <a:pt x="11430" y="15113"/>
                </a:lnTo>
                <a:lnTo>
                  <a:pt x="11430" y="6858"/>
                </a:lnTo>
                <a:lnTo>
                  <a:pt x="10159" y="3428"/>
                </a:lnTo>
                <a:lnTo>
                  <a:pt x="685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208781" y="2053987"/>
            <a:ext cx="23495" cy="12700"/>
          </a:xfrm>
          <a:custGeom>
            <a:avLst/>
            <a:gdLst/>
            <a:ahLst/>
            <a:cxnLst/>
            <a:rect l="l" t="t" r="r" b="b"/>
            <a:pathLst>
              <a:path w="23494" h="12700">
                <a:moveTo>
                  <a:pt x="3682" y="0"/>
                </a:moveTo>
                <a:lnTo>
                  <a:pt x="0" y="0"/>
                </a:lnTo>
                <a:lnTo>
                  <a:pt x="126" y="3937"/>
                </a:lnTo>
                <a:lnTo>
                  <a:pt x="1524" y="7112"/>
                </a:lnTo>
                <a:lnTo>
                  <a:pt x="6604" y="11556"/>
                </a:lnTo>
                <a:lnTo>
                  <a:pt x="9779" y="12700"/>
                </a:lnTo>
                <a:lnTo>
                  <a:pt x="17652" y="12700"/>
                </a:lnTo>
                <a:lnTo>
                  <a:pt x="21081" y="11429"/>
                </a:lnTo>
                <a:lnTo>
                  <a:pt x="22987" y="9525"/>
                </a:lnTo>
                <a:lnTo>
                  <a:pt x="11049" y="9525"/>
                </a:lnTo>
                <a:lnTo>
                  <a:pt x="8636" y="8636"/>
                </a:lnTo>
                <a:lnTo>
                  <a:pt x="6604" y="6985"/>
                </a:lnTo>
                <a:lnTo>
                  <a:pt x="4825" y="5206"/>
                </a:lnTo>
                <a:lnTo>
                  <a:pt x="3810" y="2794"/>
                </a:lnTo>
                <a:lnTo>
                  <a:pt x="368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242055" y="2024015"/>
            <a:ext cx="24130" cy="43180"/>
          </a:xfrm>
          <a:custGeom>
            <a:avLst/>
            <a:gdLst/>
            <a:ahLst/>
            <a:cxnLst/>
            <a:rect l="l" t="t" r="r" b="b"/>
            <a:pathLst>
              <a:path w="24130" h="43180">
                <a:moveTo>
                  <a:pt x="18542" y="0"/>
                </a:moveTo>
                <a:lnTo>
                  <a:pt x="9906" y="0"/>
                </a:lnTo>
                <a:lnTo>
                  <a:pt x="6222" y="1904"/>
                </a:lnTo>
                <a:lnTo>
                  <a:pt x="1143" y="9778"/>
                </a:lnTo>
                <a:lnTo>
                  <a:pt x="0" y="14732"/>
                </a:lnTo>
                <a:lnTo>
                  <a:pt x="5461" y="41021"/>
                </a:lnTo>
                <a:lnTo>
                  <a:pt x="9143" y="42672"/>
                </a:lnTo>
                <a:lnTo>
                  <a:pt x="18542" y="42672"/>
                </a:lnTo>
                <a:lnTo>
                  <a:pt x="21843" y="41401"/>
                </a:lnTo>
                <a:lnTo>
                  <a:pt x="23749" y="39497"/>
                </a:lnTo>
                <a:lnTo>
                  <a:pt x="11556" y="39497"/>
                </a:lnTo>
                <a:lnTo>
                  <a:pt x="8889" y="38608"/>
                </a:lnTo>
                <a:lnTo>
                  <a:pt x="5333" y="34798"/>
                </a:lnTo>
                <a:lnTo>
                  <a:pt x="4444" y="32258"/>
                </a:lnTo>
                <a:lnTo>
                  <a:pt x="4444" y="25653"/>
                </a:lnTo>
                <a:lnTo>
                  <a:pt x="5333" y="22987"/>
                </a:lnTo>
                <a:lnTo>
                  <a:pt x="6603" y="21717"/>
                </a:lnTo>
                <a:lnTo>
                  <a:pt x="3682" y="21717"/>
                </a:lnTo>
                <a:lnTo>
                  <a:pt x="3809" y="15494"/>
                </a:lnTo>
                <a:lnTo>
                  <a:pt x="4699" y="11175"/>
                </a:lnTo>
                <a:lnTo>
                  <a:pt x="8508" y="4825"/>
                </a:lnTo>
                <a:lnTo>
                  <a:pt x="11430" y="3175"/>
                </a:lnTo>
                <a:lnTo>
                  <a:pt x="24002" y="3175"/>
                </a:lnTo>
                <a:lnTo>
                  <a:pt x="21589" y="1016"/>
                </a:lnTo>
                <a:lnTo>
                  <a:pt x="1854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259581" y="2027190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59" h="8255">
                <a:moveTo>
                  <a:pt x="6476" y="0"/>
                </a:moveTo>
                <a:lnTo>
                  <a:pt x="0" y="0"/>
                </a:lnTo>
                <a:lnTo>
                  <a:pt x="1905" y="762"/>
                </a:lnTo>
                <a:lnTo>
                  <a:pt x="4952" y="3555"/>
                </a:lnTo>
                <a:lnTo>
                  <a:pt x="5968" y="5461"/>
                </a:lnTo>
                <a:lnTo>
                  <a:pt x="6223" y="7747"/>
                </a:lnTo>
                <a:lnTo>
                  <a:pt x="9906" y="7747"/>
                </a:lnTo>
                <a:lnTo>
                  <a:pt x="9525" y="4191"/>
                </a:lnTo>
                <a:lnTo>
                  <a:pt x="8255" y="1524"/>
                </a:lnTo>
                <a:lnTo>
                  <a:pt x="647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245865" y="2038874"/>
            <a:ext cx="20320" cy="6985"/>
          </a:xfrm>
          <a:custGeom>
            <a:avLst/>
            <a:gdLst/>
            <a:ahLst/>
            <a:cxnLst/>
            <a:rect l="l" t="t" r="r" b="b"/>
            <a:pathLst>
              <a:path w="20319" h="6985">
                <a:moveTo>
                  <a:pt x="15112" y="0"/>
                </a:moveTo>
                <a:lnTo>
                  <a:pt x="8762" y="0"/>
                </a:lnTo>
                <a:lnTo>
                  <a:pt x="6477" y="634"/>
                </a:lnTo>
                <a:lnTo>
                  <a:pt x="4445" y="1904"/>
                </a:lnTo>
                <a:lnTo>
                  <a:pt x="2540" y="3048"/>
                </a:lnTo>
                <a:lnTo>
                  <a:pt x="1016" y="4699"/>
                </a:lnTo>
                <a:lnTo>
                  <a:pt x="0" y="6857"/>
                </a:lnTo>
                <a:lnTo>
                  <a:pt x="2793" y="6857"/>
                </a:lnTo>
                <a:lnTo>
                  <a:pt x="5461" y="4190"/>
                </a:lnTo>
                <a:lnTo>
                  <a:pt x="7874" y="3175"/>
                </a:lnTo>
                <a:lnTo>
                  <a:pt x="20193" y="3175"/>
                </a:lnTo>
                <a:lnTo>
                  <a:pt x="18415" y="1269"/>
                </a:lnTo>
                <a:lnTo>
                  <a:pt x="15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259708" y="2042049"/>
            <a:ext cx="11430" cy="21590"/>
          </a:xfrm>
          <a:custGeom>
            <a:avLst/>
            <a:gdLst/>
            <a:ahLst/>
            <a:cxnLst/>
            <a:rect l="l" t="t" r="r" b="b"/>
            <a:pathLst>
              <a:path w="11430" h="21589">
                <a:moveTo>
                  <a:pt x="6350" y="0"/>
                </a:moveTo>
                <a:lnTo>
                  <a:pt x="127" y="0"/>
                </a:lnTo>
                <a:lnTo>
                  <a:pt x="2540" y="1015"/>
                </a:lnTo>
                <a:lnTo>
                  <a:pt x="4318" y="3048"/>
                </a:lnTo>
                <a:lnTo>
                  <a:pt x="6223" y="5079"/>
                </a:lnTo>
                <a:lnTo>
                  <a:pt x="7112" y="7619"/>
                </a:lnTo>
                <a:lnTo>
                  <a:pt x="7112" y="13842"/>
                </a:lnTo>
                <a:lnTo>
                  <a:pt x="6223" y="16255"/>
                </a:lnTo>
                <a:lnTo>
                  <a:pt x="2412" y="20446"/>
                </a:lnTo>
                <a:lnTo>
                  <a:pt x="0" y="21462"/>
                </a:lnTo>
                <a:lnTo>
                  <a:pt x="6096" y="21462"/>
                </a:lnTo>
                <a:lnTo>
                  <a:pt x="9525" y="18033"/>
                </a:lnTo>
                <a:lnTo>
                  <a:pt x="10922" y="14731"/>
                </a:lnTo>
                <a:lnTo>
                  <a:pt x="10922" y="6603"/>
                </a:lnTo>
                <a:lnTo>
                  <a:pt x="9652" y="3301"/>
                </a:lnTo>
                <a:lnTo>
                  <a:pt x="635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531540" y="1982359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498216" y="1987439"/>
            <a:ext cx="992505" cy="323215"/>
          </a:xfrm>
          <a:custGeom>
            <a:avLst/>
            <a:gdLst/>
            <a:ahLst/>
            <a:cxnLst/>
            <a:rect l="l" t="t" r="r" b="b"/>
            <a:pathLst>
              <a:path w="992505" h="323214">
                <a:moveTo>
                  <a:pt x="0" y="323088"/>
                </a:moveTo>
                <a:lnTo>
                  <a:pt x="992123" y="323088"/>
                </a:lnTo>
                <a:lnTo>
                  <a:pt x="992123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91481" y="1171701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1" y="1446402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1" y="1720722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481" y="1995042"/>
            <a:ext cx="262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所有卷积层均采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的卷积核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及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激活函数；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481" y="2269362"/>
            <a:ext cx="2912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池化层均采用最大池化，其窗口大小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、步长为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0991" y="1492884"/>
            <a:ext cx="990600" cy="90170"/>
          </a:xfrm>
          <a:custGeom>
            <a:avLst/>
            <a:gdLst/>
            <a:ahLst/>
            <a:cxnLst/>
            <a:rect l="l" t="t" r="r" b="b"/>
            <a:pathLst>
              <a:path w="990600" h="90169">
                <a:moveTo>
                  <a:pt x="0" y="89916"/>
                </a:moveTo>
                <a:lnTo>
                  <a:pt x="990599" y="89916"/>
                </a:lnTo>
                <a:lnTo>
                  <a:pt x="99059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2515" y="2338704"/>
            <a:ext cx="992505" cy="90170"/>
          </a:xfrm>
          <a:custGeom>
            <a:avLst/>
            <a:gdLst/>
            <a:ahLst/>
            <a:cxnLst/>
            <a:rect l="l" t="t" r="r" b="b"/>
            <a:pathLst>
              <a:path w="992505" h="90169">
                <a:moveTo>
                  <a:pt x="0" y="89916"/>
                </a:moveTo>
                <a:lnTo>
                  <a:pt x="992123" y="89916"/>
                </a:lnTo>
                <a:lnTo>
                  <a:pt x="992123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0991" y="1919604"/>
            <a:ext cx="990600" cy="90170"/>
          </a:xfrm>
          <a:custGeom>
            <a:avLst/>
            <a:gdLst/>
            <a:ahLst/>
            <a:cxnLst/>
            <a:rect l="l" t="t" r="r" b="b"/>
            <a:pathLst>
              <a:path w="990600" h="90169">
                <a:moveTo>
                  <a:pt x="0" y="89916"/>
                </a:moveTo>
                <a:lnTo>
                  <a:pt x="990599" y="89916"/>
                </a:lnTo>
                <a:lnTo>
                  <a:pt x="99059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5563" y="2657220"/>
            <a:ext cx="992505" cy="90170"/>
          </a:xfrm>
          <a:custGeom>
            <a:avLst/>
            <a:gdLst/>
            <a:ahLst/>
            <a:cxnLst/>
            <a:rect l="l" t="t" r="r" b="b"/>
            <a:pathLst>
              <a:path w="992505" h="90169">
                <a:moveTo>
                  <a:pt x="0" y="89916"/>
                </a:moveTo>
                <a:lnTo>
                  <a:pt x="992124" y="89916"/>
                </a:lnTo>
                <a:lnTo>
                  <a:pt x="992124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0991" y="1064640"/>
            <a:ext cx="990600" cy="90170"/>
          </a:xfrm>
          <a:custGeom>
            <a:avLst/>
            <a:gdLst/>
            <a:ahLst/>
            <a:cxnLst/>
            <a:rect l="l" t="t" r="r" b="b"/>
            <a:pathLst>
              <a:path w="990600" h="90169">
                <a:moveTo>
                  <a:pt x="0" y="89915"/>
                </a:moveTo>
                <a:lnTo>
                  <a:pt x="990599" y="89915"/>
                </a:lnTo>
                <a:lnTo>
                  <a:pt x="990599" y="0"/>
                </a:lnTo>
                <a:lnTo>
                  <a:pt x="0" y="0"/>
                </a:lnTo>
                <a:lnTo>
                  <a:pt x="0" y="8991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3212" y="2084577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30" y="167093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212" y="1237614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8255" y="259839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8255" y="2562689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5283" y="2577972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271" y="0"/>
                </a:lnTo>
                <a:lnTo>
                  <a:pt x="6222" y="1269"/>
                </a:lnTo>
                <a:lnTo>
                  <a:pt x="1269" y="6223"/>
                </a:lnTo>
                <a:lnTo>
                  <a:pt x="0" y="9525"/>
                </a:lnTo>
                <a:lnTo>
                  <a:pt x="0" y="13715"/>
                </a:lnTo>
                <a:lnTo>
                  <a:pt x="3682" y="13715"/>
                </a:lnTo>
                <a:lnTo>
                  <a:pt x="3682" y="10160"/>
                </a:lnTo>
                <a:lnTo>
                  <a:pt x="4571" y="7619"/>
                </a:lnTo>
                <a:lnTo>
                  <a:pt x="8000" y="4063"/>
                </a:lnTo>
                <a:lnTo>
                  <a:pt x="10287" y="3175"/>
                </a:lnTo>
                <a:lnTo>
                  <a:pt x="22732" y="3175"/>
                </a:lnTo>
                <a:lnTo>
                  <a:pt x="19812" y="888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25951" y="2581147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9143" y="2031"/>
                </a:lnTo>
                <a:lnTo>
                  <a:pt x="10794" y="3429"/>
                </a:lnTo>
                <a:lnTo>
                  <a:pt x="11556" y="5333"/>
                </a:lnTo>
                <a:lnTo>
                  <a:pt x="11556" y="10160"/>
                </a:lnTo>
                <a:lnTo>
                  <a:pt x="10794" y="11937"/>
                </a:lnTo>
                <a:lnTo>
                  <a:pt x="7492" y="14731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4"/>
                </a:lnTo>
                <a:lnTo>
                  <a:pt x="10540" y="20955"/>
                </a:lnTo>
                <a:lnTo>
                  <a:pt x="12318" y="22351"/>
                </a:lnTo>
                <a:lnTo>
                  <a:pt x="13103" y="24256"/>
                </a:lnTo>
                <a:lnTo>
                  <a:pt x="13207" y="29844"/>
                </a:lnTo>
                <a:lnTo>
                  <a:pt x="12191" y="32004"/>
                </a:lnTo>
                <a:lnTo>
                  <a:pt x="8000" y="35432"/>
                </a:lnTo>
                <a:lnTo>
                  <a:pt x="5460" y="36321"/>
                </a:lnTo>
                <a:lnTo>
                  <a:pt x="12445" y="36321"/>
                </a:lnTo>
                <a:lnTo>
                  <a:pt x="15493" y="33781"/>
                </a:lnTo>
                <a:lnTo>
                  <a:pt x="16890" y="30733"/>
                </a:lnTo>
                <a:lnTo>
                  <a:pt x="16890" y="24256"/>
                </a:lnTo>
                <a:lnTo>
                  <a:pt x="16128" y="22098"/>
                </a:lnTo>
                <a:lnTo>
                  <a:pt x="13334" y="18414"/>
                </a:lnTo>
                <a:lnTo>
                  <a:pt x="11303" y="17144"/>
                </a:lnTo>
                <a:lnTo>
                  <a:pt x="8381" y="16637"/>
                </a:lnTo>
                <a:lnTo>
                  <a:pt x="10540" y="16001"/>
                </a:lnTo>
                <a:lnTo>
                  <a:pt x="12318" y="14858"/>
                </a:lnTo>
                <a:lnTo>
                  <a:pt x="14731" y="11556"/>
                </a:lnTo>
                <a:lnTo>
                  <a:pt x="15366" y="9651"/>
                </a:lnTo>
                <a:lnTo>
                  <a:pt x="15366" y="4063"/>
                </a:lnTo>
                <a:lnTo>
                  <a:pt x="14096" y="1396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4394" y="2606547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683" y="0"/>
                </a:moveTo>
                <a:lnTo>
                  <a:pt x="0" y="0"/>
                </a:lnTo>
                <a:lnTo>
                  <a:pt x="0" y="5333"/>
                </a:lnTo>
                <a:lnTo>
                  <a:pt x="1143" y="8255"/>
                </a:lnTo>
                <a:lnTo>
                  <a:pt x="3810" y="10668"/>
                </a:lnTo>
                <a:lnTo>
                  <a:pt x="6604" y="12954"/>
                </a:lnTo>
                <a:lnTo>
                  <a:pt x="9906" y="14096"/>
                </a:lnTo>
                <a:lnTo>
                  <a:pt x="18288" y="14096"/>
                </a:lnTo>
                <a:lnTo>
                  <a:pt x="21717" y="12954"/>
                </a:lnTo>
                <a:lnTo>
                  <a:pt x="24003" y="10921"/>
                </a:lnTo>
                <a:lnTo>
                  <a:pt x="10921" y="10921"/>
                </a:lnTo>
                <a:lnTo>
                  <a:pt x="8382" y="10032"/>
                </a:lnTo>
                <a:lnTo>
                  <a:pt x="4699" y="6350"/>
                </a:lnTo>
                <a:lnTo>
                  <a:pt x="3683" y="3937"/>
                </a:lnTo>
                <a:lnTo>
                  <a:pt x="36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45636" y="2589275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7" y="0"/>
                </a:moveTo>
                <a:lnTo>
                  <a:pt x="888" y="0"/>
                </a:lnTo>
                <a:lnTo>
                  <a:pt x="11810" y="14605"/>
                </a:lnTo>
                <a:lnTo>
                  <a:pt x="0" y="30480"/>
                </a:lnTo>
                <a:lnTo>
                  <a:pt x="4571" y="30480"/>
                </a:lnTo>
                <a:lnTo>
                  <a:pt x="13969" y="17780"/>
                </a:lnTo>
                <a:lnTo>
                  <a:pt x="18796" y="17780"/>
                </a:lnTo>
                <a:lnTo>
                  <a:pt x="16382" y="14605"/>
                </a:lnTo>
                <a:lnTo>
                  <a:pt x="18668" y="11557"/>
                </a:lnTo>
                <a:lnTo>
                  <a:pt x="14350" y="11557"/>
                </a:lnTo>
                <a:lnTo>
                  <a:pt x="558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59987" y="2589275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8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59606" y="2607055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826" y="0"/>
                </a:moveTo>
                <a:lnTo>
                  <a:pt x="0" y="0"/>
                </a:lnTo>
                <a:lnTo>
                  <a:pt x="9652" y="12700"/>
                </a:lnTo>
                <a:lnTo>
                  <a:pt x="14478" y="12700"/>
                </a:lnTo>
                <a:lnTo>
                  <a:pt x="482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76878" y="2577972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398" y="0"/>
                </a:lnTo>
                <a:lnTo>
                  <a:pt x="6223" y="1269"/>
                </a:lnTo>
                <a:lnTo>
                  <a:pt x="1270" y="6223"/>
                </a:lnTo>
                <a:lnTo>
                  <a:pt x="0" y="9525"/>
                </a:lnTo>
                <a:lnTo>
                  <a:pt x="0" y="13715"/>
                </a:lnTo>
                <a:lnTo>
                  <a:pt x="3809" y="13715"/>
                </a:lnTo>
                <a:lnTo>
                  <a:pt x="3809" y="10160"/>
                </a:lnTo>
                <a:lnTo>
                  <a:pt x="4571" y="7619"/>
                </a:lnTo>
                <a:lnTo>
                  <a:pt x="8128" y="4063"/>
                </a:lnTo>
                <a:lnTo>
                  <a:pt x="10414" y="3175"/>
                </a:lnTo>
                <a:lnTo>
                  <a:pt x="22859" y="3175"/>
                </a:lnTo>
                <a:lnTo>
                  <a:pt x="19812" y="888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87673" y="2581147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7" y="3429"/>
                </a:lnTo>
                <a:lnTo>
                  <a:pt x="11429" y="5333"/>
                </a:lnTo>
                <a:lnTo>
                  <a:pt x="11429" y="10160"/>
                </a:lnTo>
                <a:lnTo>
                  <a:pt x="10667" y="11937"/>
                </a:lnTo>
                <a:lnTo>
                  <a:pt x="7365" y="14731"/>
                </a:lnTo>
                <a:lnTo>
                  <a:pt x="5460" y="15367"/>
                </a:lnTo>
                <a:lnTo>
                  <a:pt x="0" y="15367"/>
                </a:lnTo>
                <a:lnTo>
                  <a:pt x="0" y="18542"/>
                </a:lnTo>
                <a:lnTo>
                  <a:pt x="6095" y="18542"/>
                </a:lnTo>
                <a:lnTo>
                  <a:pt x="8635" y="19304"/>
                </a:lnTo>
                <a:lnTo>
                  <a:pt x="10413" y="20955"/>
                </a:lnTo>
                <a:lnTo>
                  <a:pt x="12191" y="22351"/>
                </a:lnTo>
                <a:lnTo>
                  <a:pt x="12976" y="24256"/>
                </a:lnTo>
                <a:lnTo>
                  <a:pt x="13081" y="29844"/>
                </a:lnTo>
                <a:lnTo>
                  <a:pt x="12064" y="32004"/>
                </a:lnTo>
                <a:lnTo>
                  <a:pt x="8000" y="35432"/>
                </a:lnTo>
                <a:lnTo>
                  <a:pt x="5460" y="36321"/>
                </a:lnTo>
                <a:lnTo>
                  <a:pt x="12318" y="36321"/>
                </a:lnTo>
                <a:lnTo>
                  <a:pt x="15366" y="33781"/>
                </a:lnTo>
                <a:lnTo>
                  <a:pt x="16763" y="30733"/>
                </a:lnTo>
                <a:lnTo>
                  <a:pt x="16763" y="24256"/>
                </a:lnTo>
                <a:lnTo>
                  <a:pt x="16128" y="22098"/>
                </a:lnTo>
                <a:lnTo>
                  <a:pt x="13334" y="18414"/>
                </a:lnTo>
                <a:lnTo>
                  <a:pt x="11175" y="17144"/>
                </a:lnTo>
                <a:lnTo>
                  <a:pt x="8254" y="16637"/>
                </a:lnTo>
                <a:lnTo>
                  <a:pt x="10540" y="16001"/>
                </a:lnTo>
                <a:lnTo>
                  <a:pt x="12191" y="14858"/>
                </a:lnTo>
                <a:lnTo>
                  <a:pt x="14604" y="11556"/>
                </a:lnTo>
                <a:lnTo>
                  <a:pt x="15239" y="9651"/>
                </a:lnTo>
                <a:lnTo>
                  <a:pt x="15239" y="4063"/>
                </a:lnTo>
                <a:lnTo>
                  <a:pt x="13969" y="1396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75955" y="2606547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44" y="0"/>
                </a:moveTo>
                <a:lnTo>
                  <a:pt x="34" y="0"/>
                </a:lnTo>
                <a:lnTo>
                  <a:pt x="0" y="3937"/>
                </a:lnTo>
                <a:lnTo>
                  <a:pt x="10067" y="14096"/>
                </a:lnTo>
                <a:lnTo>
                  <a:pt x="18322" y="14096"/>
                </a:lnTo>
                <a:lnTo>
                  <a:pt x="21751" y="12954"/>
                </a:lnTo>
                <a:lnTo>
                  <a:pt x="24037" y="10921"/>
                </a:lnTo>
                <a:lnTo>
                  <a:pt x="10956" y="10921"/>
                </a:lnTo>
                <a:lnTo>
                  <a:pt x="8416" y="10032"/>
                </a:lnTo>
                <a:lnTo>
                  <a:pt x="4733" y="6350"/>
                </a:lnTo>
                <a:lnTo>
                  <a:pt x="3844" y="3937"/>
                </a:lnTo>
                <a:lnTo>
                  <a:pt x="3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25646" y="2588386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161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19"/>
                </a:lnTo>
                <a:lnTo>
                  <a:pt x="0" y="11430"/>
                </a:lnTo>
                <a:lnTo>
                  <a:pt x="0" y="20828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4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2"/>
                </a:lnTo>
                <a:lnTo>
                  <a:pt x="23114" y="29082"/>
                </a:lnTo>
                <a:lnTo>
                  <a:pt x="11303" y="29082"/>
                </a:lnTo>
                <a:lnTo>
                  <a:pt x="8636" y="27812"/>
                </a:lnTo>
                <a:lnTo>
                  <a:pt x="6603" y="25400"/>
                </a:lnTo>
                <a:lnTo>
                  <a:pt x="4699" y="22860"/>
                </a:lnTo>
                <a:lnTo>
                  <a:pt x="3809" y="19812"/>
                </a:lnTo>
                <a:lnTo>
                  <a:pt x="3809" y="12446"/>
                </a:lnTo>
                <a:lnTo>
                  <a:pt x="4699" y="9398"/>
                </a:lnTo>
                <a:lnTo>
                  <a:pt x="6603" y="6857"/>
                </a:lnTo>
                <a:lnTo>
                  <a:pt x="8636" y="4444"/>
                </a:lnTo>
                <a:lnTo>
                  <a:pt x="11303" y="3175"/>
                </a:lnTo>
                <a:lnTo>
                  <a:pt x="23494" y="3175"/>
                </a:lnTo>
                <a:lnTo>
                  <a:pt x="20955" y="888"/>
                </a:lnTo>
                <a:lnTo>
                  <a:pt x="1816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42537" y="2591561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603" y="0"/>
                </a:moveTo>
                <a:lnTo>
                  <a:pt x="0" y="0"/>
                </a:lnTo>
                <a:lnTo>
                  <a:pt x="1778" y="635"/>
                </a:lnTo>
                <a:lnTo>
                  <a:pt x="4699" y="3048"/>
                </a:lnTo>
                <a:lnTo>
                  <a:pt x="5715" y="4825"/>
                </a:lnTo>
                <a:lnTo>
                  <a:pt x="6350" y="7366"/>
                </a:lnTo>
                <a:lnTo>
                  <a:pt x="10033" y="7366"/>
                </a:lnTo>
                <a:lnTo>
                  <a:pt x="9652" y="4063"/>
                </a:lnTo>
                <a:lnTo>
                  <a:pt x="8381" y="1397"/>
                </a:lnTo>
                <a:lnTo>
                  <a:pt x="66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42410" y="2608833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3" y="0"/>
                </a:moveTo>
                <a:lnTo>
                  <a:pt x="6730" y="0"/>
                </a:lnTo>
                <a:lnTo>
                  <a:pt x="6350" y="2666"/>
                </a:lnTo>
                <a:lnTo>
                  <a:pt x="5333" y="4699"/>
                </a:lnTo>
                <a:lnTo>
                  <a:pt x="1904" y="7874"/>
                </a:lnTo>
                <a:lnTo>
                  <a:pt x="0" y="8635"/>
                </a:lnTo>
                <a:lnTo>
                  <a:pt x="6350" y="8635"/>
                </a:lnTo>
                <a:lnTo>
                  <a:pt x="8508" y="6731"/>
                </a:lnTo>
                <a:lnTo>
                  <a:pt x="9905" y="3809"/>
                </a:lnTo>
                <a:lnTo>
                  <a:pt x="10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56507" y="2588386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19"/>
                </a:lnTo>
                <a:lnTo>
                  <a:pt x="0" y="11430"/>
                </a:lnTo>
                <a:lnTo>
                  <a:pt x="0" y="20828"/>
                </a:lnTo>
                <a:lnTo>
                  <a:pt x="1269" y="24637"/>
                </a:lnTo>
                <a:lnTo>
                  <a:pt x="4053" y="27812"/>
                </a:lnTo>
                <a:lnTo>
                  <a:pt x="6730" y="30734"/>
                </a:lnTo>
                <a:lnTo>
                  <a:pt x="10159" y="32257"/>
                </a:lnTo>
                <a:lnTo>
                  <a:pt x="17525" y="32257"/>
                </a:lnTo>
                <a:lnTo>
                  <a:pt x="20065" y="31496"/>
                </a:lnTo>
                <a:lnTo>
                  <a:pt x="22351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60"/>
                </a:lnTo>
                <a:lnTo>
                  <a:pt x="3809" y="19812"/>
                </a:lnTo>
                <a:lnTo>
                  <a:pt x="3809" y="12446"/>
                </a:lnTo>
                <a:lnTo>
                  <a:pt x="4698" y="9398"/>
                </a:lnTo>
                <a:lnTo>
                  <a:pt x="8635" y="4444"/>
                </a:lnTo>
                <a:lnTo>
                  <a:pt x="11175" y="3175"/>
                </a:lnTo>
                <a:lnTo>
                  <a:pt x="23875" y="3175"/>
                </a:lnTo>
                <a:lnTo>
                  <a:pt x="22351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74287" y="2591561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540" y="1269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7"/>
                </a:lnTo>
                <a:lnTo>
                  <a:pt x="6477" y="19557"/>
                </a:lnTo>
                <a:lnTo>
                  <a:pt x="2540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6858" y="25400"/>
                </a:lnTo>
                <a:lnTo>
                  <a:pt x="8509" y="23368"/>
                </a:lnTo>
                <a:lnTo>
                  <a:pt x="9525" y="20955"/>
                </a:lnTo>
                <a:lnTo>
                  <a:pt x="10668" y="18415"/>
                </a:lnTo>
                <a:lnTo>
                  <a:pt x="11303" y="15748"/>
                </a:lnTo>
                <a:lnTo>
                  <a:pt x="11303" y="8255"/>
                </a:lnTo>
                <a:lnTo>
                  <a:pt x="9906" y="4444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94861" y="2588386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843" y="0"/>
                </a:moveTo>
                <a:lnTo>
                  <a:pt x="7619" y="0"/>
                </a:lnTo>
                <a:lnTo>
                  <a:pt x="5587" y="635"/>
                </a:lnTo>
                <a:lnTo>
                  <a:pt x="2031" y="2921"/>
                </a:lnTo>
                <a:lnTo>
                  <a:pt x="762" y="4318"/>
                </a:lnTo>
                <a:lnTo>
                  <a:pt x="0" y="6096"/>
                </a:lnTo>
                <a:lnTo>
                  <a:pt x="2412" y="6096"/>
                </a:lnTo>
                <a:lnTo>
                  <a:pt x="2793" y="5587"/>
                </a:lnTo>
                <a:lnTo>
                  <a:pt x="4190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668" y="3175"/>
                </a:lnTo>
                <a:lnTo>
                  <a:pt x="16637" y="888"/>
                </a:lnTo>
                <a:lnTo>
                  <a:pt x="1384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91051" y="2589275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698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07053" y="2591561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2"/>
                </a:lnTo>
                <a:lnTo>
                  <a:pt x="4445" y="3810"/>
                </a:lnTo>
                <a:lnTo>
                  <a:pt x="5207" y="5968"/>
                </a:lnTo>
                <a:lnTo>
                  <a:pt x="5207" y="28193"/>
                </a:lnTo>
                <a:lnTo>
                  <a:pt x="8890" y="28193"/>
                </a:lnTo>
                <a:lnTo>
                  <a:pt x="8890" y="4444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19499" y="2589275"/>
            <a:ext cx="17780" cy="30480"/>
          </a:xfrm>
          <a:custGeom>
            <a:avLst/>
            <a:gdLst/>
            <a:ahLst/>
            <a:cxnLst/>
            <a:rect l="l" t="t" r="r" b="b"/>
            <a:pathLst>
              <a:path w="17780" h="30480">
                <a:moveTo>
                  <a:pt x="4190" y="0"/>
                </a:moveTo>
                <a:lnTo>
                  <a:pt x="0" y="0"/>
                </a:lnTo>
                <a:lnTo>
                  <a:pt x="11937" y="30480"/>
                </a:lnTo>
                <a:lnTo>
                  <a:pt x="15875" y="30480"/>
                </a:lnTo>
                <a:lnTo>
                  <a:pt x="17271" y="26670"/>
                </a:lnTo>
                <a:lnTo>
                  <a:pt x="13843" y="26670"/>
                </a:lnTo>
                <a:lnTo>
                  <a:pt x="419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33469" y="2589275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52392" y="2613532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3" y="0"/>
                </a:moveTo>
                <a:lnTo>
                  <a:pt x="381" y="0"/>
                </a:lnTo>
                <a:lnTo>
                  <a:pt x="381" y="6222"/>
                </a:lnTo>
                <a:lnTo>
                  <a:pt x="2793" y="6222"/>
                </a:lnTo>
                <a:lnTo>
                  <a:pt x="2681" y="8127"/>
                </a:lnTo>
                <a:lnTo>
                  <a:pt x="2540" y="8762"/>
                </a:lnTo>
                <a:lnTo>
                  <a:pt x="1975" y="9778"/>
                </a:lnTo>
                <a:lnTo>
                  <a:pt x="1523" y="10794"/>
                </a:lnTo>
                <a:lnTo>
                  <a:pt x="888" y="11429"/>
                </a:lnTo>
                <a:lnTo>
                  <a:pt x="0" y="11810"/>
                </a:lnTo>
                <a:lnTo>
                  <a:pt x="0" y="14350"/>
                </a:lnTo>
                <a:lnTo>
                  <a:pt x="1778" y="13842"/>
                </a:lnTo>
                <a:lnTo>
                  <a:pt x="3047" y="12826"/>
                </a:lnTo>
                <a:lnTo>
                  <a:pt x="4825" y="9778"/>
                </a:lnTo>
                <a:lnTo>
                  <a:pt x="5333" y="8127"/>
                </a:lnTo>
                <a:lnTo>
                  <a:pt x="53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85793" y="2578353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40" h="41910">
                <a:moveTo>
                  <a:pt x="14731" y="0"/>
                </a:moveTo>
                <a:lnTo>
                  <a:pt x="11556" y="0"/>
                </a:lnTo>
                <a:lnTo>
                  <a:pt x="11303" y="2031"/>
                </a:lnTo>
                <a:lnTo>
                  <a:pt x="10794" y="3556"/>
                </a:lnTo>
                <a:lnTo>
                  <a:pt x="10160" y="4699"/>
                </a:lnTo>
                <a:lnTo>
                  <a:pt x="9398" y="5842"/>
                </a:lnTo>
                <a:lnTo>
                  <a:pt x="8381" y="6604"/>
                </a:lnTo>
                <a:lnTo>
                  <a:pt x="6985" y="7112"/>
                </a:lnTo>
                <a:lnTo>
                  <a:pt x="5714" y="7619"/>
                </a:lnTo>
                <a:lnTo>
                  <a:pt x="3301" y="8000"/>
                </a:lnTo>
                <a:lnTo>
                  <a:pt x="0" y="8000"/>
                </a:lnTo>
                <a:lnTo>
                  <a:pt x="0" y="10668"/>
                </a:lnTo>
                <a:lnTo>
                  <a:pt x="10922" y="10668"/>
                </a:lnTo>
                <a:lnTo>
                  <a:pt x="10922" y="41401"/>
                </a:lnTo>
                <a:lnTo>
                  <a:pt x="14731" y="41401"/>
                </a:lnTo>
                <a:lnTo>
                  <a:pt x="14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16273" y="2577972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4" y="0"/>
                </a:moveTo>
                <a:lnTo>
                  <a:pt x="8889" y="0"/>
                </a:lnTo>
                <a:lnTo>
                  <a:pt x="5714" y="1269"/>
                </a:lnTo>
                <a:lnTo>
                  <a:pt x="3301" y="3810"/>
                </a:lnTo>
                <a:lnTo>
                  <a:pt x="1015" y="6476"/>
                </a:lnTo>
                <a:lnTo>
                  <a:pt x="0" y="9906"/>
                </a:lnTo>
                <a:lnTo>
                  <a:pt x="0" y="14731"/>
                </a:lnTo>
                <a:lnTo>
                  <a:pt x="3682" y="14731"/>
                </a:lnTo>
                <a:lnTo>
                  <a:pt x="3809" y="10540"/>
                </a:lnTo>
                <a:lnTo>
                  <a:pt x="4571" y="7874"/>
                </a:lnTo>
                <a:lnTo>
                  <a:pt x="7874" y="4063"/>
                </a:lnTo>
                <a:lnTo>
                  <a:pt x="10159" y="3175"/>
                </a:lnTo>
                <a:lnTo>
                  <a:pt x="22606" y="3175"/>
                </a:lnTo>
                <a:lnTo>
                  <a:pt x="20193" y="1015"/>
                </a:lnTo>
                <a:lnTo>
                  <a:pt x="171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15257" y="2581147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2" y="0"/>
                </a:moveTo>
                <a:lnTo>
                  <a:pt x="16764" y="0"/>
                </a:lnTo>
                <a:lnTo>
                  <a:pt x="19050" y="762"/>
                </a:lnTo>
                <a:lnTo>
                  <a:pt x="22479" y="3937"/>
                </a:lnTo>
                <a:lnTo>
                  <a:pt x="23368" y="5968"/>
                </a:lnTo>
                <a:lnTo>
                  <a:pt x="23368" y="11049"/>
                </a:lnTo>
                <a:lnTo>
                  <a:pt x="22479" y="13335"/>
                </a:lnTo>
                <a:lnTo>
                  <a:pt x="20828" y="15239"/>
                </a:lnTo>
                <a:lnTo>
                  <a:pt x="19304" y="17144"/>
                </a:lnTo>
                <a:lnTo>
                  <a:pt x="16256" y="19557"/>
                </a:lnTo>
                <a:lnTo>
                  <a:pt x="0" y="35560"/>
                </a:lnTo>
                <a:lnTo>
                  <a:pt x="0" y="38607"/>
                </a:lnTo>
                <a:lnTo>
                  <a:pt x="27305" y="38607"/>
                </a:lnTo>
                <a:lnTo>
                  <a:pt x="27305" y="35179"/>
                </a:lnTo>
                <a:lnTo>
                  <a:pt x="4191" y="35179"/>
                </a:lnTo>
                <a:lnTo>
                  <a:pt x="4444" y="33527"/>
                </a:lnTo>
                <a:lnTo>
                  <a:pt x="5461" y="32004"/>
                </a:lnTo>
                <a:lnTo>
                  <a:pt x="8509" y="28701"/>
                </a:lnTo>
                <a:lnTo>
                  <a:pt x="11049" y="26669"/>
                </a:lnTo>
                <a:lnTo>
                  <a:pt x="19558" y="21589"/>
                </a:lnTo>
                <a:lnTo>
                  <a:pt x="22733" y="18923"/>
                </a:lnTo>
                <a:lnTo>
                  <a:pt x="24511" y="16510"/>
                </a:lnTo>
                <a:lnTo>
                  <a:pt x="26289" y="13969"/>
                </a:lnTo>
                <a:lnTo>
                  <a:pt x="27050" y="11556"/>
                </a:lnTo>
                <a:lnTo>
                  <a:pt x="27178" y="4952"/>
                </a:lnTo>
                <a:lnTo>
                  <a:pt x="25908" y="2158"/>
                </a:lnTo>
                <a:lnTo>
                  <a:pt x="236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8277" y="2577972"/>
            <a:ext cx="24765" cy="43180"/>
          </a:xfrm>
          <a:custGeom>
            <a:avLst/>
            <a:gdLst/>
            <a:ahLst/>
            <a:cxnLst/>
            <a:rect l="l" t="t" r="r" b="b"/>
            <a:pathLst>
              <a:path w="24765" h="43180">
                <a:moveTo>
                  <a:pt x="17780" y="0"/>
                </a:moveTo>
                <a:lnTo>
                  <a:pt x="10668" y="0"/>
                </a:lnTo>
                <a:lnTo>
                  <a:pt x="7747" y="1015"/>
                </a:lnTo>
                <a:lnTo>
                  <a:pt x="2921" y="4699"/>
                </a:lnTo>
                <a:lnTo>
                  <a:pt x="1651" y="7238"/>
                </a:lnTo>
                <a:lnTo>
                  <a:pt x="8509" y="19557"/>
                </a:lnTo>
                <a:lnTo>
                  <a:pt x="5715" y="20193"/>
                </a:lnTo>
                <a:lnTo>
                  <a:pt x="3683" y="21462"/>
                </a:lnTo>
                <a:lnTo>
                  <a:pt x="762" y="25526"/>
                </a:lnTo>
                <a:lnTo>
                  <a:pt x="127" y="27558"/>
                </a:lnTo>
                <a:lnTo>
                  <a:pt x="0" y="34162"/>
                </a:lnTo>
                <a:lnTo>
                  <a:pt x="1270" y="37083"/>
                </a:lnTo>
                <a:lnTo>
                  <a:pt x="6604" y="41529"/>
                </a:lnTo>
                <a:lnTo>
                  <a:pt x="10033" y="42671"/>
                </a:lnTo>
                <a:lnTo>
                  <a:pt x="18542" y="42671"/>
                </a:lnTo>
                <a:lnTo>
                  <a:pt x="22098" y="41656"/>
                </a:lnTo>
                <a:lnTo>
                  <a:pt x="24511" y="39496"/>
                </a:lnTo>
                <a:lnTo>
                  <a:pt x="11176" y="39496"/>
                </a:lnTo>
                <a:lnTo>
                  <a:pt x="8636" y="38735"/>
                </a:lnTo>
                <a:lnTo>
                  <a:pt x="4699" y="35432"/>
                </a:lnTo>
                <a:lnTo>
                  <a:pt x="3810" y="33146"/>
                </a:lnTo>
                <a:lnTo>
                  <a:pt x="3810" y="27431"/>
                </a:lnTo>
                <a:lnTo>
                  <a:pt x="4699" y="25273"/>
                </a:lnTo>
                <a:lnTo>
                  <a:pt x="6477" y="23621"/>
                </a:lnTo>
                <a:lnTo>
                  <a:pt x="8382" y="21970"/>
                </a:lnTo>
                <a:lnTo>
                  <a:pt x="10922" y="21208"/>
                </a:lnTo>
                <a:lnTo>
                  <a:pt x="24638" y="21208"/>
                </a:lnTo>
                <a:lnTo>
                  <a:pt x="22860" y="20193"/>
                </a:lnTo>
                <a:lnTo>
                  <a:pt x="20066" y="19557"/>
                </a:lnTo>
                <a:lnTo>
                  <a:pt x="22352" y="18795"/>
                </a:lnTo>
                <a:lnTo>
                  <a:pt x="23368" y="18161"/>
                </a:lnTo>
                <a:lnTo>
                  <a:pt x="11430" y="18161"/>
                </a:lnTo>
                <a:lnTo>
                  <a:pt x="9398" y="17399"/>
                </a:lnTo>
                <a:lnTo>
                  <a:pt x="6223" y="14605"/>
                </a:lnTo>
                <a:lnTo>
                  <a:pt x="5334" y="12826"/>
                </a:lnTo>
                <a:lnTo>
                  <a:pt x="5461" y="8127"/>
                </a:lnTo>
                <a:lnTo>
                  <a:pt x="6223" y="6476"/>
                </a:lnTo>
                <a:lnTo>
                  <a:pt x="9652" y="3810"/>
                </a:lnTo>
                <a:lnTo>
                  <a:pt x="11811" y="3175"/>
                </a:lnTo>
                <a:lnTo>
                  <a:pt x="23749" y="3175"/>
                </a:lnTo>
                <a:lnTo>
                  <a:pt x="20828" y="1015"/>
                </a:lnTo>
                <a:lnTo>
                  <a:pt x="1778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65295" y="2581147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59" h="15239">
                <a:moveTo>
                  <a:pt x="6731" y="0"/>
                </a:moveTo>
                <a:lnTo>
                  <a:pt x="0" y="0"/>
                </a:lnTo>
                <a:lnTo>
                  <a:pt x="2159" y="635"/>
                </a:lnTo>
                <a:lnTo>
                  <a:pt x="3810" y="2031"/>
                </a:lnTo>
                <a:lnTo>
                  <a:pt x="5334" y="3175"/>
                </a:lnTo>
                <a:lnTo>
                  <a:pt x="6223" y="4952"/>
                </a:lnTo>
                <a:lnTo>
                  <a:pt x="6096" y="9651"/>
                </a:lnTo>
                <a:lnTo>
                  <a:pt x="5461" y="11430"/>
                </a:lnTo>
                <a:lnTo>
                  <a:pt x="2412" y="14224"/>
                </a:lnTo>
                <a:lnTo>
                  <a:pt x="127" y="14986"/>
                </a:lnTo>
                <a:lnTo>
                  <a:pt x="6350" y="14986"/>
                </a:lnTo>
                <a:lnTo>
                  <a:pt x="6985" y="14605"/>
                </a:lnTo>
                <a:lnTo>
                  <a:pt x="8128" y="12954"/>
                </a:lnTo>
                <a:lnTo>
                  <a:pt x="9398" y="11302"/>
                </a:lnTo>
                <a:lnTo>
                  <a:pt x="9906" y="9651"/>
                </a:lnTo>
                <a:lnTo>
                  <a:pt x="9906" y="4063"/>
                </a:lnTo>
                <a:lnTo>
                  <a:pt x="8762" y="1524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65803" y="2599181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7112" y="0"/>
                </a:moveTo>
                <a:lnTo>
                  <a:pt x="126" y="0"/>
                </a:lnTo>
                <a:lnTo>
                  <a:pt x="2666" y="889"/>
                </a:lnTo>
                <a:lnTo>
                  <a:pt x="6476" y="4191"/>
                </a:lnTo>
                <a:lnTo>
                  <a:pt x="7365" y="6223"/>
                </a:lnTo>
                <a:lnTo>
                  <a:pt x="7365" y="11937"/>
                </a:lnTo>
                <a:lnTo>
                  <a:pt x="6350" y="14224"/>
                </a:lnTo>
                <a:lnTo>
                  <a:pt x="4444" y="15875"/>
                </a:lnTo>
                <a:lnTo>
                  <a:pt x="2666" y="17526"/>
                </a:lnTo>
                <a:lnTo>
                  <a:pt x="0" y="18287"/>
                </a:lnTo>
                <a:lnTo>
                  <a:pt x="6984" y="18287"/>
                </a:lnTo>
                <a:lnTo>
                  <a:pt x="9778" y="16002"/>
                </a:lnTo>
                <a:lnTo>
                  <a:pt x="11175" y="12954"/>
                </a:lnTo>
                <a:lnTo>
                  <a:pt x="11175" y="6223"/>
                </a:lnTo>
                <a:lnTo>
                  <a:pt x="10413" y="3937"/>
                </a:lnTo>
                <a:lnTo>
                  <a:pt x="7493" y="254"/>
                </a:lnTo>
                <a:lnTo>
                  <a:pt x="7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18255" y="27043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8255" y="266785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42283" y="2684654"/>
            <a:ext cx="106680" cy="426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3493" y="2769768"/>
            <a:ext cx="563917" cy="187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8255" y="30228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8255" y="29863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36187" y="3003168"/>
            <a:ext cx="121919" cy="53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3493" y="2451251"/>
            <a:ext cx="563917" cy="82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8255" y="238580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8255" y="234933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42283" y="2366138"/>
            <a:ext cx="106680" cy="42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0031" y="2132735"/>
            <a:ext cx="827379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84068" y="2429001"/>
            <a:ext cx="1026794" cy="84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conv2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50031" y="290664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2"/>
                </a:lnTo>
                <a:lnTo>
                  <a:pt x="1396" y="7619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7"/>
                </a:lnTo>
                <a:lnTo>
                  <a:pt x="7200" y="30987"/>
                </a:lnTo>
                <a:lnTo>
                  <a:pt x="10909" y="32385"/>
                </a:lnTo>
                <a:lnTo>
                  <a:pt x="19545" y="32385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3"/>
                </a:lnTo>
                <a:lnTo>
                  <a:pt x="10248" y="23494"/>
                </a:lnTo>
                <a:lnTo>
                  <a:pt x="9055" y="21717"/>
                </a:lnTo>
                <a:lnTo>
                  <a:pt x="8458" y="19304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80"/>
                </a:lnTo>
                <a:lnTo>
                  <a:pt x="22961" y="1016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67443" y="2912998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7"/>
                </a:lnTo>
                <a:lnTo>
                  <a:pt x="3454" y="2286"/>
                </a:lnTo>
                <a:lnTo>
                  <a:pt x="4114" y="3556"/>
                </a:lnTo>
                <a:lnTo>
                  <a:pt x="4381" y="5334"/>
                </a:lnTo>
                <a:lnTo>
                  <a:pt x="12649" y="5334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67316" y="2926460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6"/>
                </a:lnTo>
                <a:lnTo>
                  <a:pt x="1498" y="5842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84144" y="290664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7"/>
                </a:lnTo>
                <a:lnTo>
                  <a:pt x="1435" y="7493"/>
                </a:lnTo>
                <a:lnTo>
                  <a:pt x="0" y="11430"/>
                </a:lnTo>
                <a:lnTo>
                  <a:pt x="25" y="21209"/>
                </a:lnTo>
                <a:lnTo>
                  <a:pt x="1435" y="25018"/>
                </a:lnTo>
                <a:lnTo>
                  <a:pt x="4292" y="28067"/>
                </a:lnTo>
                <a:lnTo>
                  <a:pt x="7200" y="30987"/>
                </a:lnTo>
                <a:lnTo>
                  <a:pt x="11061" y="32385"/>
                </a:lnTo>
                <a:lnTo>
                  <a:pt x="20612" y="32385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3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4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7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2368" y="2912998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7"/>
                </a:lnTo>
                <a:lnTo>
                  <a:pt x="4444" y="4444"/>
                </a:lnTo>
                <a:lnTo>
                  <a:pt x="5003" y="6604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3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9"/>
                </a:lnTo>
                <a:lnTo>
                  <a:pt x="13538" y="5080"/>
                </a:lnTo>
                <a:lnTo>
                  <a:pt x="12064" y="1143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29610" y="2906648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1"/>
                </a:lnTo>
                <a:lnTo>
                  <a:pt x="3975" y="1397"/>
                </a:lnTo>
                <a:lnTo>
                  <a:pt x="2311" y="2159"/>
                </a:lnTo>
                <a:lnTo>
                  <a:pt x="990" y="3429"/>
                </a:lnTo>
                <a:lnTo>
                  <a:pt x="0" y="5080"/>
                </a:lnTo>
                <a:lnTo>
                  <a:pt x="19735" y="5080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21342" y="2907410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1"/>
                </a:lnTo>
                <a:lnTo>
                  <a:pt x="8458" y="30861"/>
                </a:lnTo>
                <a:lnTo>
                  <a:pt x="8458" y="11556"/>
                </a:lnTo>
                <a:lnTo>
                  <a:pt x="8953" y="9398"/>
                </a:lnTo>
                <a:lnTo>
                  <a:pt x="9956" y="8000"/>
                </a:lnTo>
                <a:lnTo>
                  <a:pt x="11010" y="6604"/>
                </a:lnTo>
                <a:lnTo>
                  <a:pt x="12712" y="5842"/>
                </a:lnTo>
                <a:lnTo>
                  <a:pt x="28460" y="5842"/>
                </a:lnTo>
                <a:lnTo>
                  <a:pt x="28003" y="4318"/>
                </a:lnTo>
                <a:lnTo>
                  <a:pt x="8064" y="4318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38296" y="2913252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4"/>
                </a:lnTo>
                <a:lnTo>
                  <a:pt x="2159" y="1905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53676" y="2907410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1"/>
                </a:lnTo>
                <a:lnTo>
                  <a:pt x="19913" y="30861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9107" y="290741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8665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29" y="7620"/>
                </a:lnTo>
                <a:lnTo>
                  <a:pt x="3975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20516" y="2918370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5904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42" y="7620"/>
                </a:lnTo>
                <a:lnTo>
                  <a:pt x="398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50031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3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6"/>
                </a:lnTo>
                <a:lnTo>
                  <a:pt x="9017" y="11303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6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7380" y="2811906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1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7240" y="2825622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2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4017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6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02165" y="2811906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6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29292" y="2805429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6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21063" y="2806318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37954" y="2812287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53270" y="2806318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68637" y="2806318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88119" y="2795142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3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19843" y="281742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42957" y="2794380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42068" y="2801746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9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80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50031" y="2489580"/>
            <a:ext cx="222377" cy="1446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18255" y="196593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18255" y="193022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042283" y="1945512"/>
            <a:ext cx="106680" cy="44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3493" y="1600859"/>
            <a:ext cx="563917" cy="189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18255" y="1536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18255" y="150046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042283" y="1517270"/>
            <a:ext cx="106680" cy="42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3493" y="1177187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18255" y="111173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18255" y="107526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042283" y="1092074"/>
            <a:ext cx="106680" cy="426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13493" y="646835"/>
            <a:ext cx="563917" cy="3994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50031" y="1197228"/>
            <a:ext cx="830427" cy="27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50031" y="1625472"/>
            <a:ext cx="827379" cy="2757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7087" y="985394"/>
            <a:ext cx="85343" cy="4267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17087" y="884808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17087" y="782700"/>
            <a:ext cx="86868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12159" y="2029293"/>
            <a:ext cx="565251" cy="8379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531540" y="2005075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91481" y="1171701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1" y="1446402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1" y="1720722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481" y="1995042"/>
            <a:ext cx="262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所有卷积层均采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的卷积核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及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激活函数；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481" y="2269362"/>
            <a:ext cx="29127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池化层均采用最大池化，其窗口大小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、步长为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0991" y="1492884"/>
            <a:ext cx="990600" cy="90170"/>
          </a:xfrm>
          <a:custGeom>
            <a:avLst/>
            <a:gdLst/>
            <a:ahLst/>
            <a:cxnLst/>
            <a:rect l="l" t="t" r="r" b="b"/>
            <a:pathLst>
              <a:path w="990600" h="90169">
                <a:moveTo>
                  <a:pt x="0" y="89916"/>
                </a:moveTo>
                <a:lnTo>
                  <a:pt x="990599" y="89916"/>
                </a:lnTo>
                <a:lnTo>
                  <a:pt x="99059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2515" y="2338704"/>
            <a:ext cx="992505" cy="90170"/>
          </a:xfrm>
          <a:custGeom>
            <a:avLst/>
            <a:gdLst/>
            <a:ahLst/>
            <a:cxnLst/>
            <a:rect l="l" t="t" r="r" b="b"/>
            <a:pathLst>
              <a:path w="992505" h="90169">
                <a:moveTo>
                  <a:pt x="0" y="89916"/>
                </a:moveTo>
                <a:lnTo>
                  <a:pt x="992123" y="89916"/>
                </a:lnTo>
                <a:lnTo>
                  <a:pt x="992123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0991" y="1919604"/>
            <a:ext cx="990600" cy="90170"/>
          </a:xfrm>
          <a:custGeom>
            <a:avLst/>
            <a:gdLst/>
            <a:ahLst/>
            <a:cxnLst/>
            <a:rect l="l" t="t" r="r" b="b"/>
            <a:pathLst>
              <a:path w="990600" h="90169">
                <a:moveTo>
                  <a:pt x="0" y="89916"/>
                </a:moveTo>
                <a:lnTo>
                  <a:pt x="990599" y="89916"/>
                </a:lnTo>
                <a:lnTo>
                  <a:pt x="990599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5563" y="2657220"/>
            <a:ext cx="992505" cy="90170"/>
          </a:xfrm>
          <a:custGeom>
            <a:avLst/>
            <a:gdLst/>
            <a:ahLst/>
            <a:cxnLst/>
            <a:rect l="l" t="t" r="r" b="b"/>
            <a:pathLst>
              <a:path w="992505" h="90169">
                <a:moveTo>
                  <a:pt x="0" y="89916"/>
                </a:moveTo>
                <a:lnTo>
                  <a:pt x="992124" y="89916"/>
                </a:lnTo>
                <a:lnTo>
                  <a:pt x="992124" y="0"/>
                </a:lnTo>
                <a:lnTo>
                  <a:pt x="0" y="0"/>
                </a:lnTo>
                <a:lnTo>
                  <a:pt x="0" y="8991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0991" y="1064640"/>
            <a:ext cx="990600" cy="90170"/>
          </a:xfrm>
          <a:custGeom>
            <a:avLst/>
            <a:gdLst/>
            <a:ahLst/>
            <a:cxnLst/>
            <a:rect l="l" t="t" r="r" b="b"/>
            <a:pathLst>
              <a:path w="990600" h="90169">
                <a:moveTo>
                  <a:pt x="0" y="89915"/>
                </a:moveTo>
                <a:lnTo>
                  <a:pt x="990599" y="89915"/>
                </a:lnTo>
                <a:lnTo>
                  <a:pt x="990599" y="0"/>
                </a:lnTo>
                <a:lnTo>
                  <a:pt x="0" y="0"/>
                </a:lnTo>
                <a:lnTo>
                  <a:pt x="0" y="8991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3212" y="2084577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30" y="167093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212" y="1237614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8255" y="259839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8255" y="2562689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5283" y="2577972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271" y="0"/>
                </a:lnTo>
                <a:lnTo>
                  <a:pt x="6222" y="1269"/>
                </a:lnTo>
                <a:lnTo>
                  <a:pt x="1269" y="6223"/>
                </a:lnTo>
                <a:lnTo>
                  <a:pt x="0" y="9525"/>
                </a:lnTo>
                <a:lnTo>
                  <a:pt x="0" y="13715"/>
                </a:lnTo>
                <a:lnTo>
                  <a:pt x="3682" y="13715"/>
                </a:lnTo>
                <a:lnTo>
                  <a:pt x="3682" y="10160"/>
                </a:lnTo>
                <a:lnTo>
                  <a:pt x="4571" y="7619"/>
                </a:lnTo>
                <a:lnTo>
                  <a:pt x="8000" y="4063"/>
                </a:lnTo>
                <a:lnTo>
                  <a:pt x="10287" y="3175"/>
                </a:lnTo>
                <a:lnTo>
                  <a:pt x="22732" y="3175"/>
                </a:lnTo>
                <a:lnTo>
                  <a:pt x="19812" y="888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25951" y="2581147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9143" y="2031"/>
                </a:lnTo>
                <a:lnTo>
                  <a:pt x="10794" y="3429"/>
                </a:lnTo>
                <a:lnTo>
                  <a:pt x="11556" y="5333"/>
                </a:lnTo>
                <a:lnTo>
                  <a:pt x="11556" y="10160"/>
                </a:lnTo>
                <a:lnTo>
                  <a:pt x="10794" y="11937"/>
                </a:lnTo>
                <a:lnTo>
                  <a:pt x="7492" y="14731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4"/>
                </a:lnTo>
                <a:lnTo>
                  <a:pt x="10540" y="20955"/>
                </a:lnTo>
                <a:lnTo>
                  <a:pt x="12318" y="22351"/>
                </a:lnTo>
                <a:lnTo>
                  <a:pt x="13103" y="24256"/>
                </a:lnTo>
                <a:lnTo>
                  <a:pt x="13207" y="29844"/>
                </a:lnTo>
                <a:lnTo>
                  <a:pt x="12191" y="32004"/>
                </a:lnTo>
                <a:lnTo>
                  <a:pt x="8000" y="35432"/>
                </a:lnTo>
                <a:lnTo>
                  <a:pt x="5460" y="36321"/>
                </a:lnTo>
                <a:lnTo>
                  <a:pt x="12445" y="36321"/>
                </a:lnTo>
                <a:lnTo>
                  <a:pt x="15493" y="33781"/>
                </a:lnTo>
                <a:lnTo>
                  <a:pt x="16890" y="30733"/>
                </a:lnTo>
                <a:lnTo>
                  <a:pt x="16890" y="24256"/>
                </a:lnTo>
                <a:lnTo>
                  <a:pt x="16128" y="22098"/>
                </a:lnTo>
                <a:lnTo>
                  <a:pt x="13334" y="18414"/>
                </a:lnTo>
                <a:lnTo>
                  <a:pt x="11303" y="17144"/>
                </a:lnTo>
                <a:lnTo>
                  <a:pt x="8381" y="16637"/>
                </a:lnTo>
                <a:lnTo>
                  <a:pt x="10540" y="16001"/>
                </a:lnTo>
                <a:lnTo>
                  <a:pt x="12318" y="14858"/>
                </a:lnTo>
                <a:lnTo>
                  <a:pt x="14731" y="11556"/>
                </a:lnTo>
                <a:lnTo>
                  <a:pt x="15366" y="9651"/>
                </a:lnTo>
                <a:lnTo>
                  <a:pt x="15366" y="4063"/>
                </a:lnTo>
                <a:lnTo>
                  <a:pt x="14096" y="1396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4394" y="2606547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683" y="0"/>
                </a:moveTo>
                <a:lnTo>
                  <a:pt x="0" y="0"/>
                </a:lnTo>
                <a:lnTo>
                  <a:pt x="0" y="5333"/>
                </a:lnTo>
                <a:lnTo>
                  <a:pt x="1143" y="8255"/>
                </a:lnTo>
                <a:lnTo>
                  <a:pt x="3810" y="10668"/>
                </a:lnTo>
                <a:lnTo>
                  <a:pt x="6604" y="12954"/>
                </a:lnTo>
                <a:lnTo>
                  <a:pt x="9906" y="14096"/>
                </a:lnTo>
                <a:lnTo>
                  <a:pt x="18288" y="14096"/>
                </a:lnTo>
                <a:lnTo>
                  <a:pt x="21717" y="12954"/>
                </a:lnTo>
                <a:lnTo>
                  <a:pt x="24003" y="10921"/>
                </a:lnTo>
                <a:lnTo>
                  <a:pt x="10921" y="10921"/>
                </a:lnTo>
                <a:lnTo>
                  <a:pt x="8382" y="10032"/>
                </a:lnTo>
                <a:lnTo>
                  <a:pt x="4699" y="6350"/>
                </a:lnTo>
                <a:lnTo>
                  <a:pt x="3683" y="3937"/>
                </a:lnTo>
                <a:lnTo>
                  <a:pt x="36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45636" y="2589275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7" y="0"/>
                </a:moveTo>
                <a:lnTo>
                  <a:pt x="888" y="0"/>
                </a:lnTo>
                <a:lnTo>
                  <a:pt x="11810" y="14605"/>
                </a:lnTo>
                <a:lnTo>
                  <a:pt x="0" y="30480"/>
                </a:lnTo>
                <a:lnTo>
                  <a:pt x="4571" y="30480"/>
                </a:lnTo>
                <a:lnTo>
                  <a:pt x="13969" y="17780"/>
                </a:lnTo>
                <a:lnTo>
                  <a:pt x="18796" y="17780"/>
                </a:lnTo>
                <a:lnTo>
                  <a:pt x="16382" y="14605"/>
                </a:lnTo>
                <a:lnTo>
                  <a:pt x="18668" y="11557"/>
                </a:lnTo>
                <a:lnTo>
                  <a:pt x="14350" y="11557"/>
                </a:lnTo>
                <a:lnTo>
                  <a:pt x="558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59987" y="2589275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8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59606" y="2607055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826" y="0"/>
                </a:moveTo>
                <a:lnTo>
                  <a:pt x="0" y="0"/>
                </a:lnTo>
                <a:lnTo>
                  <a:pt x="9652" y="12700"/>
                </a:lnTo>
                <a:lnTo>
                  <a:pt x="14478" y="12700"/>
                </a:lnTo>
                <a:lnTo>
                  <a:pt x="482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76878" y="2577972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398" y="0"/>
                </a:lnTo>
                <a:lnTo>
                  <a:pt x="6223" y="1269"/>
                </a:lnTo>
                <a:lnTo>
                  <a:pt x="1270" y="6223"/>
                </a:lnTo>
                <a:lnTo>
                  <a:pt x="0" y="9525"/>
                </a:lnTo>
                <a:lnTo>
                  <a:pt x="0" y="13715"/>
                </a:lnTo>
                <a:lnTo>
                  <a:pt x="3809" y="13715"/>
                </a:lnTo>
                <a:lnTo>
                  <a:pt x="3809" y="10160"/>
                </a:lnTo>
                <a:lnTo>
                  <a:pt x="4571" y="7619"/>
                </a:lnTo>
                <a:lnTo>
                  <a:pt x="8128" y="4063"/>
                </a:lnTo>
                <a:lnTo>
                  <a:pt x="10414" y="3175"/>
                </a:lnTo>
                <a:lnTo>
                  <a:pt x="22859" y="3175"/>
                </a:lnTo>
                <a:lnTo>
                  <a:pt x="19812" y="888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87673" y="2581147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7" y="3429"/>
                </a:lnTo>
                <a:lnTo>
                  <a:pt x="11429" y="5333"/>
                </a:lnTo>
                <a:lnTo>
                  <a:pt x="11429" y="10160"/>
                </a:lnTo>
                <a:lnTo>
                  <a:pt x="10667" y="11937"/>
                </a:lnTo>
                <a:lnTo>
                  <a:pt x="7365" y="14731"/>
                </a:lnTo>
                <a:lnTo>
                  <a:pt x="5460" y="15367"/>
                </a:lnTo>
                <a:lnTo>
                  <a:pt x="0" y="15367"/>
                </a:lnTo>
                <a:lnTo>
                  <a:pt x="0" y="18542"/>
                </a:lnTo>
                <a:lnTo>
                  <a:pt x="6095" y="18542"/>
                </a:lnTo>
                <a:lnTo>
                  <a:pt x="8635" y="19304"/>
                </a:lnTo>
                <a:lnTo>
                  <a:pt x="10413" y="20955"/>
                </a:lnTo>
                <a:lnTo>
                  <a:pt x="12191" y="22351"/>
                </a:lnTo>
                <a:lnTo>
                  <a:pt x="12976" y="24256"/>
                </a:lnTo>
                <a:lnTo>
                  <a:pt x="13081" y="29844"/>
                </a:lnTo>
                <a:lnTo>
                  <a:pt x="12064" y="32004"/>
                </a:lnTo>
                <a:lnTo>
                  <a:pt x="8000" y="35432"/>
                </a:lnTo>
                <a:lnTo>
                  <a:pt x="5460" y="36321"/>
                </a:lnTo>
                <a:lnTo>
                  <a:pt x="12318" y="36321"/>
                </a:lnTo>
                <a:lnTo>
                  <a:pt x="15366" y="33781"/>
                </a:lnTo>
                <a:lnTo>
                  <a:pt x="16763" y="30733"/>
                </a:lnTo>
                <a:lnTo>
                  <a:pt x="16763" y="24256"/>
                </a:lnTo>
                <a:lnTo>
                  <a:pt x="16128" y="22098"/>
                </a:lnTo>
                <a:lnTo>
                  <a:pt x="13334" y="18414"/>
                </a:lnTo>
                <a:lnTo>
                  <a:pt x="11175" y="17144"/>
                </a:lnTo>
                <a:lnTo>
                  <a:pt x="8254" y="16637"/>
                </a:lnTo>
                <a:lnTo>
                  <a:pt x="10540" y="16001"/>
                </a:lnTo>
                <a:lnTo>
                  <a:pt x="12191" y="14858"/>
                </a:lnTo>
                <a:lnTo>
                  <a:pt x="14604" y="11556"/>
                </a:lnTo>
                <a:lnTo>
                  <a:pt x="15239" y="9651"/>
                </a:lnTo>
                <a:lnTo>
                  <a:pt x="15239" y="4063"/>
                </a:lnTo>
                <a:lnTo>
                  <a:pt x="13969" y="1396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75955" y="2606547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44" y="0"/>
                </a:moveTo>
                <a:lnTo>
                  <a:pt x="34" y="0"/>
                </a:lnTo>
                <a:lnTo>
                  <a:pt x="0" y="3937"/>
                </a:lnTo>
                <a:lnTo>
                  <a:pt x="10067" y="14096"/>
                </a:lnTo>
                <a:lnTo>
                  <a:pt x="18322" y="14096"/>
                </a:lnTo>
                <a:lnTo>
                  <a:pt x="21751" y="12954"/>
                </a:lnTo>
                <a:lnTo>
                  <a:pt x="24037" y="10921"/>
                </a:lnTo>
                <a:lnTo>
                  <a:pt x="10956" y="10921"/>
                </a:lnTo>
                <a:lnTo>
                  <a:pt x="8416" y="10032"/>
                </a:lnTo>
                <a:lnTo>
                  <a:pt x="4733" y="6350"/>
                </a:lnTo>
                <a:lnTo>
                  <a:pt x="3844" y="3937"/>
                </a:lnTo>
                <a:lnTo>
                  <a:pt x="3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25646" y="2588386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161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19"/>
                </a:lnTo>
                <a:lnTo>
                  <a:pt x="0" y="11430"/>
                </a:lnTo>
                <a:lnTo>
                  <a:pt x="0" y="20828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4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2"/>
                </a:lnTo>
                <a:lnTo>
                  <a:pt x="23114" y="29082"/>
                </a:lnTo>
                <a:lnTo>
                  <a:pt x="11303" y="29082"/>
                </a:lnTo>
                <a:lnTo>
                  <a:pt x="8636" y="27812"/>
                </a:lnTo>
                <a:lnTo>
                  <a:pt x="6603" y="25400"/>
                </a:lnTo>
                <a:lnTo>
                  <a:pt x="4699" y="22860"/>
                </a:lnTo>
                <a:lnTo>
                  <a:pt x="3809" y="19812"/>
                </a:lnTo>
                <a:lnTo>
                  <a:pt x="3809" y="12446"/>
                </a:lnTo>
                <a:lnTo>
                  <a:pt x="4699" y="9398"/>
                </a:lnTo>
                <a:lnTo>
                  <a:pt x="6603" y="6857"/>
                </a:lnTo>
                <a:lnTo>
                  <a:pt x="8636" y="4444"/>
                </a:lnTo>
                <a:lnTo>
                  <a:pt x="11303" y="3175"/>
                </a:lnTo>
                <a:lnTo>
                  <a:pt x="23494" y="3175"/>
                </a:lnTo>
                <a:lnTo>
                  <a:pt x="20955" y="888"/>
                </a:lnTo>
                <a:lnTo>
                  <a:pt x="1816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42537" y="2591561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603" y="0"/>
                </a:moveTo>
                <a:lnTo>
                  <a:pt x="0" y="0"/>
                </a:lnTo>
                <a:lnTo>
                  <a:pt x="1778" y="635"/>
                </a:lnTo>
                <a:lnTo>
                  <a:pt x="4699" y="3048"/>
                </a:lnTo>
                <a:lnTo>
                  <a:pt x="5715" y="4825"/>
                </a:lnTo>
                <a:lnTo>
                  <a:pt x="6350" y="7366"/>
                </a:lnTo>
                <a:lnTo>
                  <a:pt x="10033" y="7366"/>
                </a:lnTo>
                <a:lnTo>
                  <a:pt x="9652" y="4063"/>
                </a:lnTo>
                <a:lnTo>
                  <a:pt x="8381" y="1397"/>
                </a:lnTo>
                <a:lnTo>
                  <a:pt x="66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42410" y="2608833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3" y="0"/>
                </a:moveTo>
                <a:lnTo>
                  <a:pt x="6730" y="0"/>
                </a:lnTo>
                <a:lnTo>
                  <a:pt x="6350" y="2666"/>
                </a:lnTo>
                <a:lnTo>
                  <a:pt x="5333" y="4699"/>
                </a:lnTo>
                <a:lnTo>
                  <a:pt x="1904" y="7874"/>
                </a:lnTo>
                <a:lnTo>
                  <a:pt x="0" y="8635"/>
                </a:lnTo>
                <a:lnTo>
                  <a:pt x="6350" y="8635"/>
                </a:lnTo>
                <a:lnTo>
                  <a:pt x="8508" y="6731"/>
                </a:lnTo>
                <a:lnTo>
                  <a:pt x="9905" y="3809"/>
                </a:lnTo>
                <a:lnTo>
                  <a:pt x="10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56507" y="2588386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19"/>
                </a:lnTo>
                <a:lnTo>
                  <a:pt x="0" y="11430"/>
                </a:lnTo>
                <a:lnTo>
                  <a:pt x="0" y="20828"/>
                </a:lnTo>
                <a:lnTo>
                  <a:pt x="1269" y="24637"/>
                </a:lnTo>
                <a:lnTo>
                  <a:pt x="4053" y="27812"/>
                </a:lnTo>
                <a:lnTo>
                  <a:pt x="6730" y="30734"/>
                </a:lnTo>
                <a:lnTo>
                  <a:pt x="10159" y="32257"/>
                </a:lnTo>
                <a:lnTo>
                  <a:pt x="17525" y="32257"/>
                </a:lnTo>
                <a:lnTo>
                  <a:pt x="20065" y="31496"/>
                </a:lnTo>
                <a:lnTo>
                  <a:pt x="22351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60"/>
                </a:lnTo>
                <a:lnTo>
                  <a:pt x="3809" y="19812"/>
                </a:lnTo>
                <a:lnTo>
                  <a:pt x="3809" y="12446"/>
                </a:lnTo>
                <a:lnTo>
                  <a:pt x="4698" y="9398"/>
                </a:lnTo>
                <a:lnTo>
                  <a:pt x="8635" y="4444"/>
                </a:lnTo>
                <a:lnTo>
                  <a:pt x="11175" y="3175"/>
                </a:lnTo>
                <a:lnTo>
                  <a:pt x="23875" y="3175"/>
                </a:lnTo>
                <a:lnTo>
                  <a:pt x="22351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74287" y="2591561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540" y="1269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7"/>
                </a:lnTo>
                <a:lnTo>
                  <a:pt x="6477" y="19557"/>
                </a:lnTo>
                <a:lnTo>
                  <a:pt x="2540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6858" y="25400"/>
                </a:lnTo>
                <a:lnTo>
                  <a:pt x="8509" y="23368"/>
                </a:lnTo>
                <a:lnTo>
                  <a:pt x="9525" y="20955"/>
                </a:lnTo>
                <a:lnTo>
                  <a:pt x="10668" y="18415"/>
                </a:lnTo>
                <a:lnTo>
                  <a:pt x="11303" y="15748"/>
                </a:lnTo>
                <a:lnTo>
                  <a:pt x="11303" y="8255"/>
                </a:lnTo>
                <a:lnTo>
                  <a:pt x="9906" y="4444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94861" y="2588386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843" y="0"/>
                </a:moveTo>
                <a:lnTo>
                  <a:pt x="7619" y="0"/>
                </a:lnTo>
                <a:lnTo>
                  <a:pt x="5587" y="635"/>
                </a:lnTo>
                <a:lnTo>
                  <a:pt x="2031" y="2921"/>
                </a:lnTo>
                <a:lnTo>
                  <a:pt x="762" y="4318"/>
                </a:lnTo>
                <a:lnTo>
                  <a:pt x="0" y="6096"/>
                </a:lnTo>
                <a:lnTo>
                  <a:pt x="2412" y="6096"/>
                </a:lnTo>
                <a:lnTo>
                  <a:pt x="2793" y="5587"/>
                </a:lnTo>
                <a:lnTo>
                  <a:pt x="4190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668" y="3175"/>
                </a:lnTo>
                <a:lnTo>
                  <a:pt x="16637" y="888"/>
                </a:lnTo>
                <a:lnTo>
                  <a:pt x="1384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91051" y="2589275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698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07053" y="2591561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2"/>
                </a:lnTo>
                <a:lnTo>
                  <a:pt x="4445" y="3810"/>
                </a:lnTo>
                <a:lnTo>
                  <a:pt x="5207" y="5968"/>
                </a:lnTo>
                <a:lnTo>
                  <a:pt x="5207" y="28193"/>
                </a:lnTo>
                <a:lnTo>
                  <a:pt x="8890" y="28193"/>
                </a:lnTo>
                <a:lnTo>
                  <a:pt x="8890" y="4444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19499" y="2589275"/>
            <a:ext cx="17780" cy="30480"/>
          </a:xfrm>
          <a:custGeom>
            <a:avLst/>
            <a:gdLst/>
            <a:ahLst/>
            <a:cxnLst/>
            <a:rect l="l" t="t" r="r" b="b"/>
            <a:pathLst>
              <a:path w="17780" h="30480">
                <a:moveTo>
                  <a:pt x="4190" y="0"/>
                </a:moveTo>
                <a:lnTo>
                  <a:pt x="0" y="0"/>
                </a:lnTo>
                <a:lnTo>
                  <a:pt x="11937" y="30480"/>
                </a:lnTo>
                <a:lnTo>
                  <a:pt x="15875" y="30480"/>
                </a:lnTo>
                <a:lnTo>
                  <a:pt x="17271" y="26670"/>
                </a:lnTo>
                <a:lnTo>
                  <a:pt x="13843" y="26670"/>
                </a:lnTo>
                <a:lnTo>
                  <a:pt x="419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33469" y="2589275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52392" y="2613532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3" y="0"/>
                </a:moveTo>
                <a:lnTo>
                  <a:pt x="381" y="0"/>
                </a:lnTo>
                <a:lnTo>
                  <a:pt x="381" y="6222"/>
                </a:lnTo>
                <a:lnTo>
                  <a:pt x="2793" y="6222"/>
                </a:lnTo>
                <a:lnTo>
                  <a:pt x="2681" y="8127"/>
                </a:lnTo>
                <a:lnTo>
                  <a:pt x="2540" y="8762"/>
                </a:lnTo>
                <a:lnTo>
                  <a:pt x="1975" y="9778"/>
                </a:lnTo>
                <a:lnTo>
                  <a:pt x="1523" y="10794"/>
                </a:lnTo>
                <a:lnTo>
                  <a:pt x="888" y="11429"/>
                </a:lnTo>
                <a:lnTo>
                  <a:pt x="0" y="11810"/>
                </a:lnTo>
                <a:lnTo>
                  <a:pt x="0" y="14350"/>
                </a:lnTo>
                <a:lnTo>
                  <a:pt x="1778" y="13842"/>
                </a:lnTo>
                <a:lnTo>
                  <a:pt x="3047" y="12826"/>
                </a:lnTo>
                <a:lnTo>
                  <a:pt x="4825" y="9778"/>
                </a:lnTo>
                <a:lnTo>
                  <a:pt x="5333" y="8127"/>
                </a:lnTo>
                <a:lnTo>
                  <a:pt x="53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85793" y="2578353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40" h="41910">
                <a:moveTo>
                  <a:pt x="14731" y="0"/>
                </a:moveTo>
                <a:lnTo>
                  <a:pt x="11556" y="0"/>
                </a:lnTo>
                <a:lnTo>
                  <a:pt x="11303" y="2031"/>
                </a:lnTo>
                <a:lnTo>
                  <a:pt x="10794" y="3556"/>
                </a:lnTo>
                <a:lnTo>
                  <a:pt x="10160" y="4699"/>
                </a:lnTo>
                <a:lnTo>
                  <a:pt x="9398" y="5842"/>
                </a:lnTo>
                <a:lnTo>
                  <a:pt x="8381" y="6604"/>
                </a:lnTo>
                <a:lnTo>
                  <a:pt x="6985" y="7112"/>
                </a:lnTo>
                <a:lnTo>
                  <a:pt x="5714" y="7619"/>
                </a:lnTo>
                <a:lnTo>
                  <a:pt x="3301" y="8000"/>
                </a:lnTo>
                <a:lnTo>
                  <a:pt x="0" y="8000"/>
                </a:lnTo>
                <a:lnTo>
                  <a:pt x="0" y="10668"/>
                </a:lnTo>
                <a:lnTo>
                  <a:pt x="10922" y="10668"/>
                </a:lnTo>
                <a:lnTo>
                  <a:pt x="10922" y="41401"/>
                </a:lnTo>
                <a:lnTo>
                  <a:pt x="14731" y="41401"/>
                </a:lnTo>
                <a:lnTo>
                  <a:pt x="14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16273" y="2577972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4" y="0"/>
                </a:moveTo>
                <a:lnTo>
                  <a:pt x="8889" y="0"/>
                </a:lnTo>
                <a:lnTo>
                  <a:pt x="5714" y="1269"/>
                </a:lnTo>
                <a:lnTo>
                  <a:pt x="3301" y="3810"/>
                </a:lnTo>
                <a:lnTo>
                  <a:pt x="1015" y="6476"/>
                </a:lnTo>
                <a:lnTo>
                  <a:pt x="0" y="9906"/>
                </a:lnTo>
                <a:lnTo>
                  <a:pt x="0" y="14731"/>
                </a:lnTo>
                <a:lnTo>
                  <a:pt x="3682" y="14731"/>
                </a:lnTo>
                <a:lnTo>
                  <a:pt x="3809" y="10540"/>
                </a:lnTo>
                <a:lnTo>
                  <a:pt x="4571" y="7874"/>
                </a:lnTo>
                <a:lnTo>
                  <a:pt x="7874" y="4063"/>
                </a:lnTo>
                <a:lnTo>
                  <a:pt x="10159" y="3175"/>
                </a:lnTo>
                <a:lnTo>
                  <a:pt x="22606" y="3175"/>
                </a:lnTo>
                <a:lnTo>
                  <a:pt x="20193" y="1015"/>
                </a:lnTo>
                <a:lnTo>
                  <a:pt x="171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15257" y="2581147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2" y="0"/>
                </a:moveTo>
                <a:lnTo>
                  <a:pt x="16764" y="0"/>
                </a:lnTo>
                <a:lnTo>
                  <a:pt x="19050" y="762"/>
                </a:lnTo>
                <a:lnTo>
                  <a:pt x="22479" y="3937"/>
                </a:lnTo>
                <a:lnTo>
                  <a:pt x="23368" y="5968"/>
                </a:lnTo>
                <a:lnTo>
                  <a:pt x="23368" y="11049"/>
                </a:lnTo>
                <a:lnTo>
                  <a:pt x="22479" y="13335"/>
                </a:lnTo>
                <a:lnTo>
                  <a:pt x="20828" y="15239"/>
                </a:lnTo>
                <a:lnTo>
                  <a:pt x="19304" y="17144"/>
                </a:lnTo>
                <a:lnTo>
                  <a:pt x="16256" y="19557"/>
                </a:lnTo>
                <a:lnTo>
                  <a:pt x="0" y="35560"/>
                </a:lnTo>
                <a:lnTo>
                  <a:pt x="0" y="38607"/>
                </a:lnTo>
                <a:lnTo>
                  <a:pt x="27305" y="38607"/>
                </a:lnTo>
                <a:lnTo>
                  <a:pt x="27305" y="35179"/>
                </a:lnTo>
                <a:lnTo>
                  <a:pt x="4191" y="35179"/>
                </a:lnTo>
                <a:lnTo>
                  <a:pt x="4444" y="33527"/>
                </a:lnTo>
                <a:lnTo>
                  <a:pt x="5461" y="32004"/>
                </a:lnTo>
                <a:lnTo>
                  <a:pt x="8509" y="28701"/>
                </a:lnTo>
                <a:lnTo>
                  <a:pt x="11049" y="26669"/>
                </a:lnTo>
                <a:lnTo>
                  <a:pt x="19558" y="21589"/>
                </a:lnTo>
                <a:lnTo>
                  <a:pt x="22733" y="18923"/>
                </a:lnTo>
                <a:lnTo>
                  <a:pt x="24511" y="16510"/>
                </a:lnTo>
                <a:lnTo>
                  <a:pt x="26289" y="13969"/>
                </a:lnTo>
                <a:lnTo>
                  <a:pt x="27050" y="11556"/>
                </a:lnTo>
                <a:lnTo>
                  <a:pt x="27178" y="4952"/>
                </a:lnTo>
                <a:lnTo>
                  <a:pt x="25908" y="2158"/>
                </a:lnTo>
                <a:lnTo>
                  <a:pt x="236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8277" y="2577972"/>
            <a:ext cx="24765" cy="43180"/>
          </a:xfrm>
          <a:custGeom>
            <a:avLst/>
            <a:gdLst/>
            <a:ahLst/>
            <a:cxnLst/>
            <a:rect l="l" t="t" r="r" b="b"/>
            <a:pathLst>
              <a:path w="24765" h="43180">
                <a:moveTo>
                  <a:pt x="17780" y="0"/>
                </a:moveTo>
                <a:lnTo>
                  <a:pt x="10668" y="0"/>
                </a:lnTo>
                <a:lnTo>
                  <a:pt x="7747" y="1015"/>
                </a:lnTo>
                <a:lnTo>
                  <a:pt x="2921" y="4699"/>
                </a:lnTo>
                <a:lnTo>
                  <a:pt x="1651" y="7238"/>
                </a:lnTo>
                <a:lnTo>
                  <a:pt x="8509" y="19557"/>
                </a:lnTo>
                <a:lnTo>
                  <a:pt x="5715" y="20193"/>
                </a:lnTo>
                <a:lnTo>
                  <a:pt x="3683" y="21462"/>
                </a:lnTo>
                <a:lnTo>
                  <a:pt x="762" y="25526"/>
                </a:lnTo>
                <a:lnTo>
                  <a:pt x="127" y="27558"/>
                </a:lnTo>
                <a:lnTo>
                  <a:pt x="0" y="34162"/>
                </a:lnTo>
                <a:lnTo>
                  <a:pt x="1270" y="37083"/>
                </a:lnTo>
                <a:lnTo>
                  <a:pt x="6604" y="41529"/>
                </a:lnTo>
                <a:lnTo>
                  <a:pt x="10033" y="42671"/>
                </a:lnTo>
                <a:lnTo>
                  <a:pt x="18542" y="42671"/>
                </a:lnTo>
                <a:lnTo>
                  <a:pt x="22098" y="41656"/>
                </a:lnTo>
                <a:lnTo>
                  <a:pt x="24511" y="39496"/>
                </a:lnTo>
                <a:lnTo>
                  <a:pt x="11176" y="39496"/>
                </a:lnTo>
                <a:lnTo>
                  <a:pt x="8636" y="38735"/>
                </a:lnTo>
                <a:lnTo>
                  <a:pt x="4699" y="35432"/>
                </a:lnTo>
                <a:lnTo>
                  <a:pt x="3810" y="33146"/>
                </a:lnTo>
                <a:lnTo>
                  <a:pt x="3810" y="27431"/>
                </a:lnTo>
                <a:lnTo>
                  <a:pt x="4699" y="25273"/>
                </a:lnTo>
                <a:lnTo>
                  <a:pt x="6477" y="23621"/>
                </a:lnTo>
                <a:lnTo>
                  <a:pt x="8382" y="21970"/>
                </a:lnTo>
                <a:lnTo>
                  <a:pt x="10922" y="21208"/>
                </a:lnTo>
                <a:lnTo>
                  <a:pt x="24638" y="21208"/>
                </a:lnTo>
                <a:lnTo>
                  <a:pt x="22860" y="20193"/>
                </a:lnTo>
                <a:lnTo>
                  <a:pt x="20066" y="19557"/>
                </a:lnTo>
                <a:lnTo>
                  <a:pt x="22352" y="18795"/>
                </a:lnTo>
                <a:lnTo>
                  <a:pt x="23368" y="18161"/>
                </a:lnTo>
                <a:lnTo>
                  <a:pt x="11430" y="18161"/>
                </a:lnTo>
                <a:lnTo>
                  <a:pt x="9398" y="17399"/>
                </a:lnTo>
                <a:lnTo>
                  <a:pt x="6223" y="14605"/>
                </a:lnTo>
                <a:lnTo>
                  <a:pt x="5334" y="12826"/>
                </a:lnTo>
                <a:lnTo>
                  <a:pt x="5461" y="8127"/>
                </a:lnTo>
                <a:lnTo>
                  <a:pt x="6223" y="6476"/>
                </a:lnTo>
                <a:lnTo>
                  <a:pt x="9652" y="3810"/>
                </a:lnTo>
                <a:lnTo>
                  <a:pt x="11811" y="3175"/>
                </a:lnTo>
                <a:lnTo>
                  <a:pt x="23749" y="3175"/>
                </a:lnTo>
                <a:lnTo>
                  <a:pt x="20828" y="1015"/>
                </a:lnTo>
                <a:lnTo>
                  <a:pt x="1778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65295" y="2581147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59" h="15239">
                <a:moveTo>
                  <a:pt x="6731" y="0"/>
                </a:moveTo>
                <a:lnTo>
                  <a:pt x="0" y="0"/>
                </a:lnTo>
                <a:lnTo>
                  <a:pt x="2159" y="635"/>
                </a:lnTo>
                <a:lnTo>
                  <a:pt x="3810" y="2031"/>
                </a:lnTo>
                <a:lnTo>
                  <a:pt x="5334" y="3175"/>
                </a:lnTo>
                <a:lnTo>
                  <a:pt x="6223" y="4952"/>
                </a:lnTo>
                <a:lnTo>
                  <a:pt x="6096" y="9651"/>
                </a:lnTo>
                <a:lnTo>
                  <a:pt x="5461" y="11430"/>
                </a:lnTo>
                <a:lnTo>
                  <a:pt x="2412" y="14224"/>
                </a:lnTo>
                <a:lnTo>
                  <a:pt x="127" y="14986"/>
                </a:lnTo>
                <a:lnTo>
                  <a:pt x="6350" y="14986"/>
                </a:lnTo>
                <a:lnTo>
                  <a:pt x="6985" y="14605"/>
                </a:lnTo>
                <a:lnTo>
                  <a:pt x="8128" y="12954"/>
                </a:lnTo>
                <a:lnTo>
                  <a:pt x="9398" y="11302"/>
                </a:lnTo>
                <a:lnTo>
                  <a:pt x="9906" y="9651"/>
                </a:lnTo>
                <a:lnTo>
                  <a:pt x="9906" y="4063"/>
                </a:lnTo>
                <a:lnTo>
                  <a:pt x="8762" y="1524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65803" y="2599181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7112" y="0"/>
                </a:moveTo>
                <a:lnTo>
                  <a:pt x="126" y="0"/>
                </a:lnTo>
                <a:lnTo>
                  <a:pt x="2666" y="889"/>
                </a:lnTo>
                <a:lnTo>
                  <a:pt x="6476" y="4191"/>
                </a:lnTo>
                <a:lnTo>
                  <a:pt x="7365" y="6223"/>
                </a:lnTo>
                <a:lnTo>
                  <a:pt x="7365" y="11937"/>
                </a:lnTo>
                <a:lnTo>
                  <a:pt x="6350" y="14224"/>
                </a:lnTo>
                <a:lnTo>
                  <a:pt x="4444" y="15875"/>
                </a:lnTo>
                <a:lnTo>
                  <a:pt x="2666" y="17526"/>
                </a:lnTo>
                <a:lnTo>
                  <a:pt x="0" y="18287"/>
                </a:lnTo>
                <a:lnTo>
                  <a:pt x="6984" y="18287"/>
                </a:lnTo>
                <a:lnTo>
                  <a:pt x="9778" y="16002"/>
                </a:lnTo>
                <a:lnTo>
                  <a:pt x="11175" y="12954"/>
                </a:lnTo>
                <a:lnTo>
                  <a:pt x="11175" y="6223"/>
                </a:lnTo>
                <a:lnTo>
                  <a:pt x="10413" y="3937"/>
                </a:lnTo>
                <a:lnTo>
                  <a:pt x="7493" y="254"/>
                </a:lnTo>
                <a:lnTo>
                  <a:pt x="7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18255" y="27043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8255" y="266785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42283" y="2684654"/>
            <a:ext cx="106680" cy="426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3493" y="2769768"/>
            <a:ext cx="563917" cy="187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8255" y="30228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8255" y="29863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36187" y="3003168"/>
            <a:ext cx="121919" cy="53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3493" y="2451251"/>
            <a:ext cx="563917" cy="82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8255" y="238580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8255" y="234933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42283" y="2366138"/>
            <a:ext cx="106680" cy="42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0031" y="2132735"/>
            <a:ext cx="827379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84068" y="2429001"/>
            <a:ext cx="1026794" cy="84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conv2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50031" y="290664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2"/>
                </a:lnTo>
                <a:lnTo>
                  <a:pt x="1396" y="7619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7"/>
                </a:lnTo>
                <a:lnTo>
                  <a:pt x="7200" y="30987"/>
                </a:lnTo>
                <a:lnTo>
                  <a:pt x="10909" y="32385"/>
                </a:lnTo>
                <a:lnTo>
                  <a:pt x="19545" y="32385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3"/>
                </a:lnTo>
                <a:lnTo>
                  <a:pt x="10248" y="23494"/>
                </a:lnTo>
                <a:lnTo>
                  <a:pt x="9055" y="21717"/>
                </a:lnTo>
                <a:lnTo>
                  <a:pt x="8458" y="19304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80"/>
                </a:lnTo>
                <a:lnTo>
                  <a:pt x="22961" y="1016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67443" y="2912998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7"/>
                </a:lnTo>
                <a:lnTo>
                  <a:pt x="3454" y="2286"/>
                </a:lnTo>
                <a:lnTo>
                  <a:pt x="4114" y="3556"/>
                </a:lnTo>
                <a:lnTo>
                  <a:pt x="4381" y="5334"/>
                </a:lnTo>
                <a:lnTo>
                  <a:pt x="12649" y="5334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67316" y="2926460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6"/>
                </a:lnTo>
                <a:lnTo>
                  <a:pt x="1498" y="5842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84144" y="290664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7"/>
                </a:lnTo>
                <a:lnTo>
                  <a:pt x="1435" y="7493"/>
                </a:lnTo>
                <a:lnTo>
                  <a:pt x="0" y="11430"/>
                </a:lnTo>
                <a:lnTo>
                  <a:pt x="25" y="21209"/>
                </a:lnTo>
                <a:lnTo>
                  <a:pt x="1435" y="25018"/>
                </a:lnTo>
                <a:lnTo>
                  <a:pt x="4292" y="28067"/>
                </a:lnTo>
                <a:lnTo>
                  <a:pt x="7200" y="30987"/>
                </a:lnTo>
                <a:lnTo>
                  <a:pt x="11061" y="32385"/>
                </a:lnTo>
                <a:lnTo>
                  <a:pt x="20612" y="32385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3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4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7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2368" y="2912998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7"/>
                </a:lnTo>
                <a:lnTo>
                  <a:pt x="4444" y="4444"/>
                </a:lnTo>
                <a:lnTo>
                  <a:pt x="5003" y="6604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3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9"/>
                </a:lnTo>
                <a:lnTo>
                  <a:pt x="13538" y="5080"/>
                </a:lnTo>
                <a:lnTo>
                  <a:pt x="12064" y="1143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29610" y="2906648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1"/>
                </a:lnTo>
                <a:lnTo>
                  <a:pt x="3975" y="1397"/>
                </a:lnTo>
                <a:lnTo>
                  <a:pt x="2311" y="2159"/>
                </a:lnTo>
                <a:lnTo>
                  <a:pt x="990" y="3429"/>
                </a:lnTo>
                <a:lnTo>
                  <a:pt x="0" y="5080"/>
                </a:lnTo>
                <a:lnTo>
                  <a:pt x="19735" y="5080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21342" y="2907410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1"/>
                </a:lnTo>
                <a:lnTo>
                  <a:pt x="8458" y="30861"/>
                </a:lnTo>
                <a:lnTo>
                  <a:pt x="8458" y="11556"/>
                </a:lnTo>
                <a:lnTo>
                  <a:pt x="8953" y="9398"/>
                </a:lnTo>
                <a:lnTo>
                  <a:pt x="9956" y="8000"/>
                </a:lnTo>
                <a:lnTo>
                  <a:pt x="11010" y="6604"/>
                </a:lnTo>
                <a:lnTo>
                  <a:pt x="12712" y="5842"/>
                </a:lnTo>
                <a:lnTo>
                  <a:pt x="28460" y="5842"/>
                </a:lnTo>
                <a:lnTo>
                  <a:pt x="28003" y="4318"/>
                </a:lnTo>
                <a:lnTo>
                  <a:pt x="8064" y="4318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38296" y="2913252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4"/>
                </a:lnTo>
                <a:lnTo>
                  <a:pt x="2159" y="1905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53676" y="2907410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1"/>
                </a:lnTo>
                <a:lnTo>
                  <a:pt x="19913" y="30861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9107" y="290741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8665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29" y="7620"/>
                </a:lnTo>
                <a:lnTo>
                  <a:pt x="3975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20516" y="2918370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5904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42" y="7620"/>
                </a:lnTo>
                <a:lnTo>
                  <a:pt x="398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50031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3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6"/>
                </a:lnTo>
                <a:lnTo>
                  <a:pt x="9017" y="11303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6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7380" y="2811906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1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7240" y="2825622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2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4017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6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02165" y="2811906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6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29292" y="2805429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6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21063" y="2806318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37954" y="2812287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53270" y="2806318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68637" y="2806318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88119" y="2795142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3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19843" y="281742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42957" y="2794380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42068" y="2801746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9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80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50031" y="2489580"/>
            <a:ext cx="222377" cy="1446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18255" y="196593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18255" y="193022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042283" y="1945512"/>
            <a:ext cx="106680" cy="44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3493" y="1600859"/>
            <a:ext cx="563917" cy="189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18255" y="1536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18255" y="150046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042283" y="1517270"/>
            <a:ext cx="106680" cy="42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3493" y="1177187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18255" y="111173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18255" y="107526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042283" y="1092074"/>
            <a:ext cx="106680" cy="426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13493" y="646835"/>
            <a:ext cx="563917" cy="3994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50031" y="1197228"/>
            <a:ext cx="830427" cy="27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50031" y="1625472"/>
            <a:ext cx="827379" cy="2757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7087" y="985394"/>
            <a:ext cx="85343" cy="4267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17087" y="884808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17087" y="782700"/>
            <a:ext cx="86868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12159" y="2029293"/>
            <a:ext cx="565251" cy="8379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531540" y="2005075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67554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10" dirty="0"/>
              <a:t>析</a:t>
            </a:r>
            <a:r>
              <a:rPr spc="-5" dirty="0"/>
              <a:t>——VGG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91482" y="1148985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2" y="1423305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2" y="1698006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482" y="1972326"/>
            <a:ext cx="262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所有卷积层均采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的卷积核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及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激活函数；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482" y="2246646"/>
            <a:ext cx="3255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所有的池化层都采用最大池化，其窗口大小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、步长为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1482" y="2520966"/>
            <a:ext cx="388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经过一次池化操作，其后卷积层的卷积核个数就增加一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倍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，直至到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达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8216" y="1778651"/>
            <a:ext cx="992505" cy="208915"/>
          </a:xfrm>
          <a:custGeom>
            <a:avLst/>
            <a:gdLst/>
            <a:ahLst/>
            <a:cxnLst/>
            <a:rect l="l" t="t" r="r" b="b"/>
            <a:pathLst>
              <a:path w="992505" h="208914">
                <a:moveTo>
                  <a:pt x="0" y="208788"/>
                </a:moveTo>
                <a:lnTo>
                  <a:pt x="992123" y="208788"/>
                </a:lnTo>
                <a:lnTo>
                  <a:pt x="992123" y="0"/>
                </a:lnTo>
                <a:lnTo>
                  <a:pt x="0" y="0"/>
                </a:lnTo>
                <a:lnTo>
                  <a:pt x="0" y="208788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8216" y="2526935"/>
            <a:ext cx="992505" cy="195580"/>
          </a:xfrm>
          <a:custGeom>
            <a:avLst/>
            <a:gdLst/>
            <a:ahLst/>
            <a:cxnLst/>
            <a:rect l="l" t="t" r="r" b="b"/>
            <a:pathLst>
              <a:path w="992505" h="195580">
                <a:moveTo>
                  <a:pt x="0" y="195072"/>
                </a:moveTo>
                <a:lnTo>
                  <a:pt x="992123" y="195072"/>
                </a:lnTo>
                <a:lnTo>
                  <a:pt x="992123" y="0"/>
                </a:lnTo>
                <a:lnTo>
                  <a:pt x="0" y="0"/>
                </a:lnTo>
                <a:lnTo>
                  <a:pt x="0" y="19507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4068" y="2406285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212" y="2061861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630" y="1648349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212" y="121489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8256" y="257631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FAE3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8256" y="254060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5284" y="2555891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3" y="0"/>
                </a:moveTo>
                <a:lnTo>
                  <a:pt x="9271" y="0"/>
                </a:lnTo>
                <a:lnTo>
                  <a:pt x="6222" y="1270"/>
                </a:lnTo>
                <a:lnTo>
                  <a:pt x="1269" y="6223"/>
                </a:lnTo>
                <a:lnTo>
                  <a:pt x="0" y="9525"/>
                </a:lnTo>
                <a:lnTo>
                  <a:pt x="0" y="13716"/>
                </a:lnTo>
                <a:lnTo>
                  <a:pt x="3682" y="13716"/>
                </a:lnTo>
                <a:lnTo>
                  <a:pt x="3682" y="10160"/>
                </a:lnTo>
                <a:lnTo>
                  <a:pt x="4571" y="7620"/>
                </a:lnTo>
                <a:lnTo>
                  <a:pt x="8000" y="4064"/>
                </a:lnTo>
                <a:lnTo>
                  <a:pt x="10287" y="3175"/>
                </a:lnTo>
                <a:lnTo>
                  <a:pt x="22732" y="3175"/>
                </a:lnTo>
                <a:lnTo>
                  <a:pt x="19812" y="889"/>
                </a:lnTo>
                <a:lnTo>
                  <a:pt x="167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25952" y="2559066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9143" y="2032"/>
                </a:lnTo>
                <a:lnTo>
                  <a:pt x="10794" y="3428"/>
                </a:lnTo>
                <a:lnTo>
                  <a:pt x="11556" y="5334"/>
                </a:lnTo>
                <a:lnTo>
                  <a:pt x="11556" y="10160"/>
                </a:lnTo>
                <a:lnTo>
                  <a:pt x="10794" y="11938"/>
                </a:lnTo>
                <a:lnTo>
                  <a:pt x="7492" y="14732"/>
                </a:lnTo>
                <a:lnTo>
                  <a:pt x="5587" y="15367"/>
                </a:lnTo>
                <a:lnTo>
                  <a:pt x="0" y="15367"/>
                </a:lnTo>
                <a:lnTo>
                  <a:pt x="0" y="18542"/>
                </a:lnTo>
                <a:lnTo>
                  <a:pt x="6222" y="18542"/>
                </a:lnTo>
                <a:lnTo>
                  <a:pt x="8635" y="19303"/>
                </a:lnTo>
                <a:lnTo>
                  <a:pt x="10540" y="20955"/>
                </a:lnTo>
                <a:lnTo>
                  <a:pt x="12318" y="22352"/>
                </a:lnTo>
                <a:lnTo>
                  <a:pt x="13103" y="24257"/>
                </a:lnTo>
                <a:lnTo>
                  <a:pt x="13207" y="29845"/>
                </a:lnTo>
                <a:lnTo>
                  <a:pt x="12191" y="32004"/>
                </a:lnTo>
                <a:lnTo>
                  <a:pt x="8000" y="35433"/>
                </a:lnTo>
                <a:lnTo>
                  <a:pt x="5460" y="36322"/>
                </a:lnTo>
                <a:lnTo>
                  <a:pt x="12445" y="36322"/>
                </a:lnTo>
                <a:lnTo>
                  <a:pt x="15493" y="33782"/>
                </a:lnTo>
                <a:lnTo>
                  <a:pt x="16890" y="30734"/>
                </a:lnTo>
                <a:lnTo>
                  <a:pt x="16890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303" y="17145"/>
                </a:lnTo>
                <a:lnTo>
                  <a:pt x="8381" y="16637"/>
                </a:lnTo>
                <a:lnTo>
                  <a:pt x="10540" y="16001"/>
                </a:lnTo>
                <a:lnTo>
                  <a:pt x="12318" y="14859"/>
                </a:lnTo>
                <a:lnTo>
                  <a:pt x="14731" y="11557"/>
                </a:lnTo>
                <a:lnTo>
                  <a:pt x="15366" y="9651"/>
                </a:lnTo>
                <a:lnTo>
                  <a:pt x="15366" y="4064"/>
                </a:lnTo>
                <a:lnTo>
                  <a:pt x="14096" y="1397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4395" y="2584466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683" y="0"/>
                </a:moveTo>
                <a:lnTo>
                  <a:pt x="0" y="0"/>
                </a:lnTo>
                <a:lnTo>
                  <a:pt x="0" y="5333"/>
                </a:lnTo>
                <a:lnTo>
                  <a:pt x="1143" y="8254"/>
                </a:lnTo>
                <a:lnTo>
                  <a:pt x="3810" y="10667"/>
                </a:lnTo>
                <a:lnTo>
                  <a:pt x="6604" y="12953"/>
                </a:lnTo>
                <a:lnTo>
                  <a:pt x="9906" y="14096"/>
                </a:lnTo>
                <a:lnTo>
                  <a:pt x="18288" y="14096"/>
                </a:lnTo>
                <a:lnTo>
                  <a:pt x="21717" y="12953"/>
                </a:lnTo>
                <a:lnTo>
                  <a:pt x="24003" y="10921"/>
                </a:lnTo>
                <a:lnTo>
                  <a:pt x="10921" y="10921"/>
                </a:lnTo>
                <a:lnTo>
                  <a:pt x="8382" y="10032"/>
                </a:lnTo>
                <a:lnTo>
                  <a:pt x="4699" y="6350"/>
                </a:lnTo>
                <a:lnTo>
                  <a:pt x="3683" y="3937"/>
                </a:lnTo>
                <a:lnTo>
                  <a:pt x="368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45637" y="2567194"/>
            <a:ext cx="19050" cy="30480"/>
          </a:xfrm>
          <a:custGeom>
            <a:avLst/>
            <a:gdLst/>
            <a:ahLst/>
            <a:cxnLst/>
            <a:rect l="l" t="t" r="r" b="b"/>
            <a:pathLst>
              <a:path w="19050" h="30480">
                <a:moveTo>
                  <a:pt x="5587" y="0"/>
                </a:moveTo>
                <a:lnTo>
                  <a:pt x="888" y="0"/>
                </a:lnTo>
                <a:lnTo>
                  <a:pt x="11810" y="14605"/>
                </a:lnTo>
                <a:lnTo>
                  <a:pt x="0" y="30480"/>
                </a:lnTo>
                <a:lnTo>
                  <a:pt x="4571" y="30480"/>
                </a:lnTo>
                <a:lnTo>
                  <a:pt x="13969" y="17780"/>
                </a:lnTo>
                <a:lnTo>
                  <a:pt x="18796" y="17780"/>
                </a:lnTo>
                <a:lnTo>
                  <a:pt x="16382" y="14605"/>
                </a:lnTo>
                <a:lnTo>
                  <a:pt x="18668" y="11557"/>
                </a:lnTo>
                <a:lnTo>
                  <a:pt x="14350" y="11557"/>
                </a:lnTo>
                <a:lnTo>
                  <a:pt x="558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59988" y="2567194"/>
            <a:ext cx="13335" cy="12065"/>
          </a:xfrm>
          <a:custGeom>
            <a:avLst/>
            <a:gdLst/>
            <a:ahLst/>
            <a:cxnLst/>
            <a:rect l="l" t="t" r="r" b="b"/>
            <a:pathLst>
              <a:path w="13334" h="12064">
                <a:moveTo>
                  <a:pt x="13208" y="0"/>
                </a:moveTo>
                <a:lnTo>
                  <a:pt x="8509" y="0"/>
                </a:lnTo>
                <a:lnTo>
                  <a:pt x="0" y="11557"/>
                </a:lnTo>
                <a:lnTo>
                  <a:pt x="4318" y="11557"/>
                </a:lnTo>
                <a:lnTo>
                  <a:pt x="132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59607" y="2584974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4826" y="0"/>
                </a:moveTo>
                <a:lnTo>
                  <a:pt x="0" y="0"/>
                </a:lnTo>
                <a:lnTo>
                  <a:pt x="9652" y="12700"/>
                </a:lnTo>
                <a:lnTo>
                  <a:pt x="14478" y="12700"/>
                </a:lnTo>
                <a:lnTo>
                  <a:pt x="482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76879" y="2555891"/>
            <a:ext cx="22860" cy="13970"/>
          </a:xfrm>
          <a:custGeom>
            <a:avLst/>
            <a:gdLst/>
            <a:ahLst/>
            <a:cxnLst/>
            <a:rect l="l" t="t" r="r" b="b"/>
            <a:pathLst>
              <a:path w="22859" h="13969">
                <a:moveTo>
                  <a:pt x="16764" y="0"/>
                </a:moveTo>
                <a:lnTo>
                  <a:pt x="9398" y="0"/>
                </a:lnTo>
                <a:lnTo>
                  <a:pt x="6223" y="1270"/>
                </a:lnTo>
                <a:lnTo>
                  <a:pt x="1270" y="6223"/>
                </a:lnTo>
                <a:lnTo>
                  <a:pt x="0" y="9525"/>
                </a:lnTo>
                <a:lnTo>
                  <a:pt x="0" y="13716"/>
                </a:lnTo>
                <a:lnTo>
                  <a:pt x="3809" y="13716"/>
                </a:lnTo>
                <a:lnTo>
                  <a:pt x="3809" y="10160"/>
                </a:lnTo>
                <a:lnTo>
                  <a:pt x="4571" y="7620"/>
                </a:lnTo>
                <a:lnTo>
                  <a:pt x="8128" y="4064"/>
                </a:lnTo>
                <a:lnTo>
                  <a:pt x="10414" y="3175"/>
                </a:lnTo>
                <a:lnTo>
                  <a:pt x="22859" y="3175"/>
                </a:lnTo>
                <a:lnTo>
                  <a:pt x="19812" y="889"/>
                </a:lnTo>
                <a:lnTo>
                  <a:pt x="167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87674" y="2559066"/>
            <a:ext cx="17145" cy="36830"/>
          </a:xfrm>
          <a:custGeom>
            <a:avLst/>
            <a:gdLst/>
            <a:ahLst/>
            <a:cxnLst/>
            <a:rect l="l" t="t" r="r" b="b"/>
            <a:pathLst>
              <a:path w="17144" h="36830">
                <a:moveTo>
                  <a:pt x="12064" y="0"/>
                </a:moveTo>
                <a:lnTo>
                  <a:pt x="5206" y="0"/>
                </a:lnTo>
                <a:lnTo>
                  <a:pt x="7365" y="635"/>
                </a:lnTo>
                <a:lnTo>
                  <a:pt x="10667" y="3428"/>
                </a:lnTo>
                <a:lnTo>
                  <a:pt x="11429" y="5334"/>
                </a:lnTo>
                <a:lnTo>
                  <a:pt x="11429" y="10160"/>
                </a:lnTo>
                <a:lnTo>
                  <a:pt x="10667" y="11938"/>
                </a:lnTo>
                <a:lnTo>
                  <a:pt x="7365" y="14732"/>
                </a:lnTo>
                <a:lnTo>
                  <a:pt x="5460" y="15367"/>
                </a:lnTo>
                <a:lnTo>
                  <a:pt x="0" y="15367"/>
                </a:lnTo>
                <a:lnTo>
                  <a:pt x="0" y="18542"/>
                </a:lnTo>
                <a:lnTo>
                  <a:pt x="6095" y="18542"/>
                </a:lnTo>
                <a:lnTo>
                  <a:pt x="8635" y="19303"/>
                </a:lnTo>
                <a:lnTo>
                  <a:pt x="10413" y="20955"/>
                </a:lnTo>
                <a:lnTo>
                  <a:pt x="12191" y="22352"/>
                </a:lnTo>
                <a:lnTo>
                  <a:pt x="12976" y="24257"/>
                </a:lnTo>
                <a:lnTo>
                  <a:pt x="13081" y="29845"/>
                </a:lnTo>
                <a:lnTo>
                  <a:pt x="12064" y="32004"/>
                </a:lnTo>
                <a:lnTo>
                  <a:pt x="8000" y="35433"/>
                </a:lnTo>
                <a:lnTo>
                  <a:pt x="5460" y="36322"/>
                </a:lnTo>
                <a:lnTo>
                  <a:pt x="12318" y="36322"/>
                </a:lnTo>
                <a:lnTo>
                  <a:pt x="15366" y="33782"/>
                </a:lnTo>
                <a:lnTo>
                  <a:pt x="16763" y="30734"/>
                </a:lnTo>
                <a:lnTo>
                  <a:pt x="16763" y="24257"/>
                </a:lnTo>
                <a:lnTo>
                  <a:pt x="16128" y="22098"/>
                </a:lnTo>
                <a:lnTo>
                  <a:pt x="13334" y="18415"/>
                </a:lnTo>
                <a:lnTo>
                  <a:pt x="11175" y="17145"/>
                </a:lnTo>
                <a:lnTo>
                  <a:pt x="8254" y="16637"/>
                </a:lnTo>
                <a:lnTo>
                  <a:pt x="10540" y="16001"/>
                </a:lnTo>
                <a:lnTo>
                  <a:pt x="12191" y="14859"/>
                </a:lnTo>
                <a:lnTo>
                  <a:pt x="14604" y="11557"/>
                </a:lnTo>
                <a:lnTo>
                  <a:pt x="15239" y="9651"/>
                </a:lnTo>
                <a:lnTo>
                  <a:pt x="15239" y="4064"/>
                </a:lnTo>
                <a:lnTo>
                  <a:pt x="13969" y="1397"/>
                </a:lnTo>
                <a:lnTo>
                  <a:pt x="1206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75956" y="2584466"/>
            <a:ext cx="24130" cy="14604"/>
          </a:xfrm>
          <a:custGeom>
            <a:avLst/>
            <a:gdLst/>
            <a:ahLst/>
            <a:cxnLst/>
            <a:rect l="l" t="t" r="r" b="b"/>
            <a:pathLst>
              <a:path w="24130" h="14605">
                <a:moveTo>
                  <a:pt x="3844" y="0"/>
                </a:moveTo>
                <a:lnTo>
                  <a:pt x="34" y="0"/>
                </a:lnTo>
                <a:lnTo>
                  <a:pt x="0" y="3937"/>
                </a:lnTo>
                <a:lnTo>
                  <a:pt x="10067" y="14096"/>
                </a:lnTo>
                <a:lnTo>
                  <a:pt x="18322" y="14096"/>
                </a:lnTo>
                <a:lnTo>
                  <a:pt x="21751" y="12953"/>
                </a:lnTo>
                <a:lnTo>
                  <a:pt x="24037" y="10921"/>
                </a:lnTo>
                <a:lnTo>
                  <a:pt x="10956" y="10921"/>
                </a:lnTo>
                <a:lnTo>
                  <a:pt x="8416" y="10032"/>
                </a:lnTo>
                <a:lnTo>
                  <a:pt x="4733" y="6350"/>
                </a:lnTo>
                <a:lnTo>
                  <a:pt x="3844" y="3937"/>
                </a:lnTo>
                <a:lnTo>
                  <a:pt x="3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25647" y="2566305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8161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1" y="30733"/>
                </a:lnTo>
                <a:lnTo>
                  <a:pt x="10159" y="32257"/>
                </a:lnTo>
                <a:lnTo>
                  <a:pt x="17906" y="32257"/>
                </a:lnTo>
                <a:lnTo>
                  <a:pt x="20700" y="31241"/>
                </a:lnTo>
                <a:lnTo>
                  <a:pt x="23114" y="29082"/>
                </a:lnTo>
                <a:lnTo>
                  <a:pt x="11303" y="29082"/>
                </a:lnTo>
                <a:lnTo>
                  <a:pt x="8636" y="27812"/>
                </a:lnTo>
                <a:lnTo>
                  <a:pt x="6603" y="25400"/>
                </a:lnTo>
                <a:lnTo>
                  <a:pt x="4699" y="22859"/>
                </a:lnTo>
                <a:lnTo>
                  <a:pt x="3809" y="19812"/>
                </a:lnTo>
                <a:lnTo>
                  <a:pt x="3809" y="12446"/>
                </a:lnTo>
                <a:lnTo>
                  <a:pt x="4699" y="9398"/>
                </a:lnTo>
                <a:lnTo>
                  <a:pt x="6603" y="6857"/>
                </a:lnTo>
                <a:lnTo>
                  <a:pt x="8636" y="4445"/>
                </a:lnTo>
                <a:lnTo>
                  <a:pt x="11303" y="3175"/>
                </a:lnTo>
                <a:lnTo>
                  <a:pt x="23494" y="3175"/>
                </a:lnTo>
                <a:lnTo>
                  <a:pt x="20955" y="888"/>
                </a:lnTo>
                <a:lnTo>
                  <a:pt x="1816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42538" y="2569480"/>
            <a:ext cx="10160" cy="7620"/>
          </a:xfrm>
          <a:custGeom>
            <a:avLst/>
            <a:gdLst/>
            <a:ahLst/>
            <a:cxnLst/>
            <a:rect l="l" t="t" r="r" b="b"/>
            <a:pathLst>
              <a:path w="10159" h="7619">
                <a:moveTo>
                  <a:pt x="6603" y="0"/>
                </a:moveTo>
                <a:lnTo>
                  <a:pt x="0" y="0"/>
                </a:lnTo>
                <a:lnTo>
                  <a:pt x="1778" y="634"/>
                </a:lnTo>
                <a:lnTo>
                  <a:pt x="4699" y="3048"/>
                </a:lnTo>
                <a:lnTo>
                  <a:pt x="5715" y="4825"/>
                </a:lnTo>
                <a:lnTo>
                  <a:pt x="6350" y="7365"/>
                </a:lnTo>
                <a:lnTo>
                  <a:pt x="10033" y="7365"/>
                </a:lnTo>
                <a:lnTo>
                  <a:pt x="9652" y="4063"/>
                </a:lnTo>
                <a:lnTo>
                  <a:pt x="8381" y="1397"/>
                </a:lnTo>
                <a:lnTo>
                  <a:pt x="660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42411" y="2586752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10413" y="0"/>
                </a:moveTo>
                <a:lnTo>
                  <a:pt x="6730" y="0"/>
                </a:lnTo>
                <a:lnTo>
                  <a:pt x="6350" y="2667"/>
                </a:lnTo>
                <a:lnTo>
                  <a:pt x="5333" y="4699"/>
                </a:lnTo>
                <a:lnTo>
                  <a:pt x="1904" y="7874"/>
                </a:lnTo>
                <a:lnTo>
                  <a:pt x="0" y="8636"/>
                </a:lnTo>
                <a:lnTo>
                  <a:pt x="6350" y="8636"/>
                </a:lnTo>
                <a:lnTo>
                  <a:pt x="8508" y="6731"/>
                </a:lnTo>
                <a:lnTo>
                  <a:pt x="9905" y="3810"/>
                </a:lnTo>
                <a:lnTo>
                  <a:pt x="1041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56508" y="2566305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8922" y="0"/>
                </a:moveTo>
                <a:lnTo>
                  <a:pt x="10159" y="0"/>
                </a:lnTo>
                <a:lnTo>
                  <a:pt x="6603" y="1524"/>
                </a:lnTo>
                <a:lnTo>
                  <a:pt x="1269" y="7620"/>
                </a:lnTo>
                <a:lnTo>
                  <a:pt x="0" y="11429"/>
                </a:lnTo>
                <a:lnTo>
                  <a:pt x="0" y="20827"/>
                </a:lnTo>
                <a:lnTo>
                  <a:pt x="1269" y="24637"/>
                </a:lnTo>
                <a:lnTo>
                  <a:pt x="4053" y="27812"/>
                </a:lnTo>
                <a:lnTo>
                  <a:pt x="6730" y="30733"/>
                </a:lnTo>
                <a:lnTo>
                  <a:pt x="10159" y="32257"/>
                </a:lnTo>
                <a:lnTo>
                  <a:pt x="17525" y="32257"/>
                </a:lnTo>
                <a:lnTo>
                  <a:pt x="20065" y="31495"/>
                </a:lnTo>
                <a:lnTo>
                  <a:pt x="22351" y="30099"/>
                </a:lnTo>
                <a:lnTo>
                  <a:pt x="23875" y="29082"/>
                </a:lnTo>
                <a:lnTo>
                  <a:pt x="11303" y="29082"/>
                </a:lnTo>
                <a:lnTo>
                  <a:pt x="8635" y="27812"/>
                </a:lnTo>
                <a:lnTo>
                  <a:pt x="6603" y="25400"/>
                </a:lnTo>
                <a:lnTo>
                  <a:pt x="4698" y="22859"/>
                </a:lnTo>
                <a:lnTo>
                  <a:pt x="3809" y="19812"/>
                </a:lnTo>
                <a:lnTo>
                  <a:pt x="3809" y="12446"/>
                </a:lnTo>
                <a:lnTo>
                  <a:pt x="4698" y="9398"/>
                </a:lnTo>
                <a:lnTo>
                  <a:pt x="8635" y="4445"/>
                </a:lnTo>
                <a:lnTo>
                  <a:pt x="11175" y="3175"/>
                </a:lnTo>
                <a:lnTo>
                  <a:pt x="23875" y="3175"/>
                </a:lnTo>
                <a:lnTo>
                  <a:pt x="22351" y="1524"/>
                </a:lnTo>
                <a:lnTo>
                  <a:pt x="189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74288" y="2569480"/>
            <a:ext cx="11430" cy="26034"/>
          </a:xfrm>
          <a:custGeom>
            <a:avLst/>
            <a:gdLst/>
            <a:ahLst/>
            <a:cxnLst/>
            <a:rect l="l" t="t" r="r" b="b"/>
            <a:pathLst>
              <a:path w="11430" h="26035">
                <a:moveTo>
                  <a:pt x="6096" y="0"/>
                </a:moveTo>
                <a:lnTo>
                  <a:pt x="0" y="0"/>
                </a:lnTo>
                <a:lnTo>
                  <a:pt x="2540" y="1270"/>
                </a:lnTo>
                <a:lnTo>
                  <a:pt x="4445" y="3682"/>
                </a:lnTo>
                <a:lnTo>
                  <a:pt x="6477" y="6350"/>
                </a:lnTo>
                <a:lnTo>
                  <a:pt x="7493" y="9271"/>
                </a:lnTo>
                <a:lnTo>
                  <a:pt x="7493" y="16637"/>
                </a:lnTo>
                <a:lnTo>
                  <a:pt x="6477" y="19557"/>
                </a:lnTo>
                <a:lnTo>
                  <a:pt x="2540" y="24637"/>
                </a:lnTo>
                <a:lnTo>
                  <a:pt x="0" y="25907"/>
                </a:lnTo>
                <a:lnTo>
                  <a:pt x="6096" y="25907"/>
                </a:lnTo>
                <a:lnTo>
                  <a:pt x="6858" y="25400"/>
                </a:lnTo>
                <a:lnTo>
                  <a:pt x="8509" y="23367"/>
                </a:lnTo>
                <a:lnTo>
                  <a:pt x="9525" y="20954"/>
                </a:lnTo>
                <a:lnTo>
                  <a:pt x="10668" y="18414"/>
                </a:lnTo>
                <a:lnTo>
                  <a:pt x="11303" y="15748"/>
                </a:lnTo>
                <a:lnTo>
                  <a:pt x="11303" y="8254"/>
                </a:lnTo>
                <a:lnTo>
                  <a:pt x="9906" y="4445"/>
                </a:lnTo>
                <a:lnTo>
                  <a:pt x="609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94862" y="2566305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3843" y="0"/>
                </a:moveTo>
                <a:lnTo>
                  <a:pt x="7619" y="0"/>
                </a:lnTo>
                <a:lnTo>
                  <a:pt x="5587" y="634"/>
                </a:lnTo>
                <a:lnTo>
                  <a:pt x="2031" y="2921"/>
                </a:lnTo>
                <a:lnTo>
                  <a:pt x="762" y="4318"/>
                </a:lnTo>
                <a:lnTo>
                  <a:pt x="0" y="6096"/>
                </a:lnTo>
                <a:lnTo>
                  <a:pt x="2412" y="6096"/>
                </a:lnTo>
                <a:lnTo>
                  <a:pt x="2793" y="5587"/>
                </a:lnTo>
                <a:lnTo>
                  <a:pt x="4190" y="4699"/>
                </a:lnTo>
                <a:lnTo>
                  <a:pt x="5715" y="3682"/>
                </a:lnTo>
                <a:lnTo>
                  <a:pt x="7493" y="3175"/>
                </a:lnTo>
                <a:lnTo>
                  <a:pt x="18668" y="3175"/>
                </a:lnTo>
                <a:lnTo>
                  <a:pt x="16637" y="888"/>
                </a:lnTo>
                <a:lnTo>
                  <a:pt x="1384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91052" y="2567194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3809" y="0"/>
                </a:moveTo>
                <a:lnTo>
                  <a:pt x="0" y="0"/>
                </a:lnTo>
                <a:lnTo>
                  <a:pt x="0" y="30480"/>
                </a:lnTo>
                <a:lnTo>
                  <a:pt x="3809" y="30480"/>
                </a:lnTo>
                <a:lnTo>
                  <a:pt x="3809" y="11049"/>
                </a:lnTo>
                <a:lnTo>
                  <a:pt x="4063" y="9398"/>
                </a:lnTo>
                <a:lnTo>
                  <a:pt x="4698" y="7747"/>
                </a:lnTo>
                <a:lnTo>
                  <a:pt x="5460" y="6096"/>
                </a:lnTo>
                <a:lnTo>
                  <a:pt x="6222" y="5207"/>
                </a:lnTo>
                <a:lnTo>
                  <a:pt x="3809" y="5207"/>
                </a:lnTo>
                <a:lnTo>
                  <a:pt x="3809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07054" y="2569480"/>
            <a:ext cx="8890" cy="28575"/>
          </a:xfrm>
          <a:custGeom>
            <a:avLst/>
            <a:gdLst/>
            <a:ahLst/>
            <a:cxnLst/>
            <a:rect l="l" t="t" r="r" b="b"/>
            <a:pathLst>
              <a:path w="8890" h="28575">
                <a:moveTo>
                  <a:pt x="6477" y="0"/>
                </a:moveTo>
                <a:lnTo>
                  <a:pt x="0" y="0"/>
                </a:lnTo>
                <a:lnTo>
                  <a:pt x="1905" y="761"/>
                </a:lnTo>
                <a:lnTo>
                  <a:pt x="4445" y="3809"/>
                </a:lnTo>
                <a:lnTo>
                  <a:pt x="5207" y="5969"/>
                </a:lnTo>
                <a:lnTo>
                  <a:pt x="5207" y="28193"/>
                </a:lnTo>
                <a:lnTo>
                  <a:pt x="8890" y="28193"/>
                </a:lnTo>
                <a:lnTo>
                  <a:pt x="8890" y="4445"/>
                </a:lnTo>
                <a:lnTo>
                  <a:pt x="8001" y="1650"/>
                </a:lnTo>
                <a:lnTo>
                  <a:pt x="647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19500" y="2567194"/>
            <a:ext cx="17780" cy="30480"/>
          </a:xfrm>
          <a:custGeom>
            <a:avLst/>
            <a:gdLst/>
            <a:ahLst/>
            <a:cxnLst/>
            <a:rect l="l" t="t" r="r" b="b"/>
            <a:pathLst>
              <a:path w="17780" h="30480">
                <a:moveTo>
                  <a:pt x="4190" y="0"/>
                </a:moveTo>
                <a:lnTo>
                  <a:pt x="0" y="0"/>
                </a:lnTo>
                <a:lnTo>
                  <a:pt x="11937" y="30480"/>
                </a:lnTo>
                <a:lnTo>
                  <a:pt x="15875" y="30480"/>
                </a:lnTo>
                <a:lnTo>
                  <a:pt x="17271" y="26670"/>
                </a:lnTo>
                <a:lnTo>
                  <a:pt x="13843" y="26670"/>
                </a:lnTo>
                <a:lnTo>
                  <a:pt x="419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33470" y="2567194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4" h="26669">
                <a:moveTo>
                  <a:pt x="13335" y="0"/>
                </a:moveTo>
                <a:lnTo>
                  <a:pt x="9525" y="0"/>
                </a:lnTo>
                <a:lnTo>
                  <a:pt x="0" y="26670"/>
                </a:lnTo>
                <a:lnTo>
                  <a:pt x="3302" y="26670"/>
                </a:lnTo>
                <a:lnTo>
                  <a:pt x="133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52393" y="2591451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5" h="14605">
                <a:moveTo>
                  <a:pt x="5333" y="0"/>
                </a:moveTo>
                <a:lnTo>
                  <a:pt x="381" y="0"/>
                </a:lnTo>
                <a:lnTo>
                  <a:pt x="381" y="6223"/>
                </a:lnTo>
                <a:lnTo>
                  <a:pt x="2793" y="6223"/>
                </a:lnTo>
                <a:lnTo>
                  <a:pt x="2681" y="8128"/>
                </a:lnTo>
                <a:lnTo>
                  <a:pt x="2540" y="8762"/>
                </a:lnTo>
                <a:lnTo>
                  <a:pt x="1975" y="9779"/>
                </a:lnTo>
                <a:lnTo>
                  <a:pt x="1523" y="10795"/>
                </a:lnTo>
                <a:lnTo>
                  <a:pt x="888" y="11430"/>
                </a:lnTo>
                <a:lnTo>
                  <a:pt x="0" y="11811"/>
                </a:lnTo>
                <a:lnTo>
                  <a:pt x="0" y="14350"/>
                </a:lnTo>
                <a:lnTo>
                  <a:pt x="1778" y="13843"/>
                </a:lnTo>
                <a:lnTo>
                  <a:pt x="3047" y="12827"/>
                </a:lnTo>
                <a:lnTo>
                  <a:pt x="4825" y="9779"/>
                </a:lnTo>
                <a:lnTo>
                  <a:pt x="5333" y="8128"/>
                </a:lnTo>
                <a:lnTo>
                  <a:pt x="53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85794" y="2556272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40" h="41910">
                <a:moveTo>
                  <a:pt x="14731" y="0"/>
                </a:moveTo>
                <a:lnTo>
                  <a:pt x="11556" y="0"/>
                </a:lnTo>
                <a:lnTo>
                  <a:pt x="11303" y="2031"/>
                </a:lnTo>
                <a:lnTo>
                  <a:pt x="10794" y="3555"/>
                </a:lnTo>
                <a:lnTo>
                  <a:pt x="10160" y="4698"/>
                </a:lnTo>
                <a:lnTo>
                  <a:pt x="9398" y="5841"/>
                </a:lnTo>
                <a:lnTo>
                  <a:pt x="8381" y="6603"/>
                </a:lnTo>
                <a:lnTo>
                  <a:pt x="6985" y="7111"/>
                </a:lnTo>
                <a:lnTo>
                  <a:pt x="5714" y="7619"/>
                </a:lnTo>
                <a:lnTo>
                  <a:pt x="3301" y="8000"/>
                </a:lnTo>
                <a:lnTo>
                  <a:pt x="0" y="8000"/>
                </a:lnTo>
                <a:lnTo>
                  <a:pt x="0" y="10667"/>
                </a:lnTo>
                <a:lnTo>
                  <a:pt x="10922" y="10667"/>
                </a:lnTo>
                <a:lnTo>
                  <a:pt x="10922" y="41401"/>
                </a:lnTo>
                <a:lnTo>
                  <a:pt x="14731" y="41401"/>
                </a:lnTo>
                <a:lnTo>
                  <a:pt x="14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16274" y="2555891"/>
            <a:ext cx="22860" cy="15240"/>
          </a:xfrm>
          <a:custGeom>
            <a:avLst/>
            <a:gdLst/>
            <a:ahLst/>
            <a:cxnLst/>
            <a:rect l="l" t="t" r="r" b="b"/>
            <a:pathLst>
              <a:path w="22859" h="15239">
                <a:moveTo>
                  <a:pt x="17144" y="0"/>
                </a:moveTo>
                <a:lnTo>
                  <a:pt x="8889" y="0"/>
                </a:lnTo>
                <a:lnTo>
                  <a:pt x="5714" y="1270"/>
                </a:lnTo>
                <a:lnTo>
                  <a:pt x="3301" y="3810"/>
                </a:lnTo>
                <a:lnTo>
                  <a:pt x="1015" y="6476"/>
                </a:lnTo>
                <a:lnTo>
                  <a:pt x="0" y="9906"/>
                </a:lnTo>
                <a:lnTo>
                  <a:pt x="0" y="14732"/>
                </a:lnTo>
                <a:lnTo>
                  <a:pt x="3682" y="14732"/>
                </a:lnTo>
                <a:lnTo>
                  <a:pt x="3809" y="10541"/>
                </a:lnTo>
                <a:lnTo>
                  <a:pt x="4571" y="7874"/>
                </a:lnTo>
                <a:lnTo>
                  <a:pt x="7874" y="4064"/>
                </a:lnTo>
                <a:lnTo>
                  <a:pt x="10159" y="3175"/>
                </a:lnTo>
                <a:lnTo>
                  <a:pt x="22606" y="3175"/>
                </a:lnTo>
                <a:lnTo>
                  <a:pt x="20193" y="1016"/>
                </a:lnTo>
                <a:lnTo>
                  <a:pt x="171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15258" y="2559066"/>
            <a:ext cx="27305" cy="38735"/>
          </a:xfrm>
          <a:custGeom>
            <a:avLst/>
            <a:gdLst/>
            <a:ahLst/>
            <a:cxnLst/>
            <a:rect l="l" t="t" r="r" b="b"/>
            <a:pathLst>
              <a:path w="27305" h="38735">
                <a:moveTo>
                  <a:pt x="23622" y="0"/>
                </a:moveTo>
                <a:lnTo>
                  <a:pt x="16764" y="0"/>
                </a:lnTo>
                <a:lnTo>
                  <a:pt x="19050" y="762"/>
                </a:lnTo>
                <a:lnTo>
                  <a:pt x="22479" y="3937"/>
                </a:lnTo>
                <a:lnTo>
                  <a:pt x="23368" y="5969"/>
                </a:lnTo>
                <a:lnTo>
                  <a:pt x="23368" y="11049"/>
                </a:lnTo>
                <a:lnTo>
                  <a:pt x="22479" y="13335"/>
                </a:lnTo>
                <a:lnTo>
                  <a:pt x="20828" y="15240"/>
                </a:lnTo>
                <a:lnTo>
                  <a:pt x="19304" y="17145"/>
                </a:lnTo>
                <a:lnTo>
                  <a:pt x="16256" y="19558"/>
                </a:lnTo>
                <a:lnTo>
                  <a:pt x="0" y="35560"/>
                </a:lnTo>
                <a:lnTo>
                  <a:pt x="0" y="38608"/>
                </a:lnTo>
                <a:lnTo>
                  <a:pt x="27305" y="38608"/>
                </a:lnTo>
                <a:lnTo>
                  <a:pt x="27305" y="35179"/>
                </a:lnTo>
                <a:lnTo>
                  <a:pt x="4191" y="35179"/>
                </a:lnTo>
                <a:lnTo>
                  <a:pt x="4444" y="33528"/>
                </a:lnTo>
                <a:lnTo>
                  <a:pt x="5461" y="32004"/>
                </a:lnTo>
                <a:lnTo>
                  <a:pt x="8509" y="28702"/>
                </a:lnTo>
                <a:lnTo>
                  <a:pt x="11049" y="26670"/>
                </a:lnTo>
                <a:lnTo>
                  <a:pt x="19558" y="21590"/>
                </a:lnTo>
                <a:lnTo>
                  <a:pt x="22733" y="18923"/>
                </a:lnTo>
                <a:lnTo>
                  <a:pt x="24511" y="16510"/>
                </a:lnTo>
                <a:lnTo>
                  <a:pt x="26289" y="13970"/>
                </a:lnTo>
                <a:lnTo>
                  <a:pt x="27050" y="11557"/>
                </a:lnTo>
                <a:lnTo>
                  <a:pt x="27178" y="4952"/>
                </a:lnTo>
                <a:lnTo>
                  <a:pt x="25908" y="2159"/>
                </a:lnTo>
                <a:lnTo>
                  <a:pt x="2362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8278" y="2555891"/>
            <a:ext cx="24765" cy="43180"/>
          </a:xfrm>
          <a:custGeom>
            <a:avLst/>
            <a:gdLst/>
            <a:ahLst/>
            <a:cxnLst/>
            <a:rect l="l" t="t" r="r" b="b"/>
            <a:pathLst>
              <a:path w="24765" h="43180">
                <a:moveTo>
                  <a:pt x="17780" y="0"/>
                </a:moveTo>
                <a:lnTo>
                  <a:pt x="10668" y="0"/>
                </a:lnTo>
                <a:lnTo>
                  <a:pt x="7747" y="1016"/>
                </a:lnTo>
                <a:lnTo>
                  <a:pt x="2921" y="4699"/>
                </a:lnTo>
                <a:lnTo>
                  <a:pt x="1651" y="7239"/>
                </a:lnTo>
                <a:lnTo>
                  <a:pt x="8509" y="19558"/>
                </a:lnTo>
                <a:lnTo>
                  <a:pt x="5715" y="20193"/>
                </a:lnTo>
                <a:lnTo>
                  <a:pt x="3683" y="21463"/>
                </a:lnTo>
                <a:lnTo>
                  <a:pt x="762" y="25527"/>
                </a:lnTo>
                <a:lnTo>
                  <a:pt x="127" y="27559"/>
                </a:lnTo>
                <a:lnTo>
                  <a:pt x="0" y="34163"/>
                </a:lnTo>
                <a:lnTo>
                  <a:pt x="1270" y="37084"/>
                </a:lnTo>
                <a:lnTo>
                  <a:pt x="6604" y="41529"/>
                </a:lnTo>
                <a:lnTo>
                  <a:pt x="10033" y="42672"/>
                </a:lnTo>
                <a:lnTo>
                  <a:pt x="18542" y="42672"/>
                </a:lnTo>
                <a:lnTo>
                  <a:pt x="22098" y="41656"/>
                </a:lnTo>
                <a:lnTo>
                  <a:pt x="24511" y="39497"/>
                </a:lnTo>
                <a:lnTo>
                  <a:pt x="11176" y="39497"/>
                </a:lnTo>
                <a:lnTo>
                  <a:pt x="8636" y="38735"/>
                </a:lnTo>
                <a:lnTo>
                  <a:pt x="4699" y="35433"/>
                </a:lnTo>
                <a:lnTo>
                  <a:pt x="3810" y="33147"/>
                </a:lnTo>
                <a:lnTo>
                  <a:pt x="3810" y="27432"/>
                </a:lnTo>
                <a:lnTo>
                  <a:pt x="4699" y="25273"/>
                </a:lnTo>
                <a:lnTo>
                  <a:pt x="6477" y="23622"/>
                </a:lnTo>
                <a:lnTo>
                  <a:pt x="8382" y="21971"/>
                </a:lnTo>
                <a:lnTo>
                  <a:pt x="10922" y="21209"/>
                </a:lnTo>
                <a:lnTo>
                  <a:pt x="24638" y="21209"/>
                </a:lnTo>
                <a:lnTo>
                  <a:pt x="22860" y="20193"/>
                </a:lnTo>
                <a:lnTo>
                  <a:pt x="20066" y="19558"/>
                </a:lnTo>
                <a:lnTo>
                  <a:pt x="22352" y="18796"/>
                </a:lnTo>
                <a:lnTo>
                  <a:pt x="23368" y="18161"/>
                </a:lnTo>
                <a:lnTo>
                  <a:pt x="11430" y="18161"/>
                </a:lnTo>
                <a:lnTo>
                  <a:pt x="9398" y="17399"/>
                </a:lnTo>
                <a:lnTo>
                  <a:pt x="6223" y="14604"/>
                </a:lnTo>
                <a:lnTo>
                  <a:pt x="5334" y="12826"/>
                </a:lnTo>
                <a:lnTo>
                  <a:pt x="5461" y="8127"/>
                </a:lnTo>
                <a:lnTo>
                  <a:pt x="6223" y="6476"/>
                </a:lnTo>
                <a:lnTo>
                  <a:pt x="9652" y="3810"/>
                </a:lnTo>
                <a:lnTo>
                  <a:pt x="11811" y="3175"/>
                </a:lnTo>
                <a:lnTo>
                  <a:pt x="23749" y="3175"/>
                </a:lnTo>
                <a:lnTo>
                  <a:pt x="20828" y="1016"/>
                </a:lnTo>
                <a:lnTo>
                  <a:pt x="1778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65296" y="2559066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59" h="15239">
                <a:moveTo>
                  <a:pt x="6731" y="0"/>
                </a:moveTo>
                <a:lnTo>
                  <a:pt x="0" y="0"/>
                </a:lnTo>
                <a:lnTo>
                  <a:pt x="2159" y="635"/>
                </a:lnTo>
                <a:lnTo>
                  <a:pt x="3810" y="2032"/>
                </a:lnTo>
                <a:lnTo>
                  <a:pt x="5334" y="3175"/>
                </a:lnTo>
                <a:lnTo>
                  <a:pt x="6223" y="4952"/>
                </a:lnTo>
                <a:lnTo>
                  <a:pt x="6096" y="9651"/>
                </a:lnTo>
                <a:lnTo>
                  <a:pt x="5461" y="11429"/>
                </a:lnTo>
                <a:lnTo>
                  <a:pt x="2412" y="14224"/>
                </a:lnTo>
                <a:lnTo>
                  <a:pt x="127" y="14986"/>
                </a:lnTo>
                <a:lnTo>
                  <a:pt x="6350" y="14986"/>
                </a:lnTo>
                <a:lnTo>
                  <a:pt x="6985" y="14604"/>
                </a:lnTo>
                <a:lnTo>
                  <a:pt x="8128" y="12953"/>
                </a:lnTo>
                <a:lnTo>
                  <a:pt x="9398" y="11302"/>
                </a:lnTo>
                <a:lnTo>
                  <a:pt x="9906" y="9651"/>
                </a:lnTo>
                <a:lnTo>
                  <a:pt x="9906" y="4064"/>
                </a:lnTo>
                <a:lnTo>
                  <a:pt x="8762" y="1524"/>
                </a:lnTo>
                <a:lnTo>
                  <a:pt x="6731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65804" y="2577100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7112" y="0"/>
                </a:moveTo>
                <a:lnTo>
                  <a:pt x="126" y="0"/>
                </a:lnTo>
                <a:lnTo>
                  <a:pt x="2666" y="888"/>
                </a:lnTo>
                <a:lnTo>
                  <a:pt x="6476" y="4190"/>
                </a:lnTo>
                <a:lnTo>
                  <a:pt x="7365" y="6222"/>
                </a:lnTo>
                <a:lnTo>
                  <a:pt x="7365" y="11937"/>
                </a:lnTo>
                <a:lnTo>
                  <a:pt x="6350" y="14223"/>
                </a:lnTo>
                <a:lnTo>
                  <a:pt x="4444" y="15874"/>
                </a:lnTo>
                <a:lnTo>
                  <a:pt x="2666" y="17525"/>
                </a:lnTo>
                <a:lnTo>
                  <a:pt x="0" y="18287"/>
                </a:lnTo>
                <a:lnTo>
                  <a:pt x="6984" y="18287"/>
                </a:lnTo>
                <a:lnTo>
                  <a:pt x="9778" y="16001"/>
                </a:lnTo>
                <a:lnTo>
                  <a:pt x="11175" y="12953"/>
                </a:lnTo>
                <a:lnTo>
                  <a:pt x="11175" y="6222"/>
                </a:lnTo>
                <a:lnTo>
                  <a:pt x="10413" y="3936"/>
                </a:lnTo>
                <a:lnTo>
                  <a:pt x="7493" y="253"/>
                </a:lnTo>
                <a:lnTo>
                  <a:pt x="71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18256" y="268223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18256" y="264576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42284" y="2662571"/>
            <a:ext cx="106680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3493" y="2747685"/>
            <a:ext cx="563917" cy="187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8256" y="30007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8256" y="29642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36188" y="2981087"/>
            <a:ext cx="121919" cy="53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3493" y="2429169"/>
            <a:ext cx="563917" cy="82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8256" y="236372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8256" y="2327252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42284" y="2344055"/>
            <a:ext cx="106680" cy="42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50032" y="2110653"/>
            <a:ext cx="827379" cy="187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84068" y="2758329"/>
            <a:ext cx="1026794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50032" y="2884567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1"/>
                </a:lnTo>
                <a:lnTo>
                  <a:pt x="1396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6"/>
                </a:lnTo>
                <a:lnTo>
                  <a:pt x="7200" y="30987"/>
                </a:lnTo>
                <a:lnTo>
                  <a:pt x="10909" y="32384"/>
                </a:lnTo>
                <a:lnTo>
                  <a:pt x="19545" y="32384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2"/>
                </a:lnTo>
                <a:lnTo>
                  <a:pt x="10248" y="23494"/>
                </a:lnTo>
                <a:lnTo>
                  <a:pt x="9055" y="21716"/>
                </a:lnTo>
                <a:lnTo>
                  <a:pt x="8458" y="19303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79"/>
                </a:lnTo>
                <a:lnTo>
                  <a:pt x="22961" y="1015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7443" y="2890917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6"/>
                </a:lnTo>
                <a:lnTo>
                  <a:pt x="3454" y="2286"/>
                </a:lnTo>
                <a:lnTo>
                  <a:pt x="4114" y="3555"/>
                </a:lnTo>
                <a:lnTo>
                  <a:pt x="4381" y="5333"/>
                </a:lnTo>
                <a:lnTo>
                  <a:pt x="12649" y="5333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67316" y="2904379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5"/>
                </a:lnTo>
                <a:lnTo>
                  <a:pt x="1498" y="5841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84144" y="2884567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6"/>
                </a:lnTo>
                <a:lnTo>
                  <a:pt x="1435" y="7492"/>
                </a:lnTo>
                <a:lnTo>
                  <a:pt x="0" y="11429"/>
                </a:lnTo>
                <a:lnTo>
                  <a:pt x="25" y="21208"/>
                </a:lnTo>
                <a:lnTo>
                  <a:pt x="1435" y="25018"/>
                </a:lnTo>
                <a:lnTo>
                  <a:pt x="4292" y="28066"/>
                </a:lnTo>
                <a:lnTo>
                  <a:pt x="7200" y="30987"/>
                </a:lnTo>
                <a:lnTo>
                  <a:pt x="11061" y="32384"/>
                </a:lnTo>
                <a:lnTo>
                  <a:pt x="20612" y="32384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2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3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6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02368" y="2890917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6"/>
                </a:lnTo>
                <a:lnTo>
                  <a:pt x="4444" y="4444"/>
                </a:lnTo>
                <a:lnTo>
                  <a:pt x="5003" y="6603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2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8"/>
                </a:lnTo>
                <a:lnTo>
                  <a:pt x="13538" y="5079"/>
                </a:lnTo>
                <a:lnTo>
                  <a:pt x="12064" y="1142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29610" y="2884567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0"/>
                </a:lnTo>
                <a:lnTo>
                  <a:pt x="3975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79"/>
                </a:lnTo>
                <a:lnTo>
                  <a:pt x="19735" y="5079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21342" y="2885329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0"/>
                </a:lnTo>
                <a:lnTo>
                  <a:pt x="8458" y="30860"/>
                </a:lnTo>
                <a:lnTo>
                  <a:pt x="8458" y="11556"/>
                </a:lnTo>
                <a:lnTo>
                  <a:pt x="8953" y="9397"/>
                </a:lnTo>
                <a:lnTo>
                  <a:pt x="9956" y="8000"/>
                </a:lnTo>
                <a:lnTo>
                  <a:pt x="11010" y="6603"/>
                </a:lnTo>
                <a:lnTo>
                  <a:pt x="12712" y="5841"/>
                </a:lnTo>
                <a:lnTo>
                  <a:pt x="28460" y="5841"/>
                </a:lnTo>
                <a:lnTo>
                  <a:pt x="28003" y="4317"/>
                </a:lnTo>
                <a:lnTo>
                  <a:pt x="8064" y="4317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8297" y="2891171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5"/>
                </a:lnTo>
                <a:lnTo>
                  <a:pt x="2159" y="1904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53676" y="2885329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0"/>
                </a:lnTo>
                <a:lnTo>
                  <a:pt x="19913" y="30860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69107" y="2885329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88665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29" y="7619"/>
                </a:lnTo>
                <a:lnTo>
                  <a:pt x="3975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20516" y="2896289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45904" y="2874407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3"/>
                </a:lnTo>
                <a:lnTo>
                  <a:pt x="10553" y="4825"/>
                </a:lnTo>
                <a:lnTo>
                  <a:pt x="8559" y="6223"/>
                </a:lnTo>
                <a:lnTo>
                  <a:pt x="6642" y="7619"/>
                </a:lnTo>
                <a:lnTo>
                  <a:pt x="3987" y="8254"/>
                </a:lnTo>
                <a:lnTo>
                  <a:pt x="0" y="8254"/>
                </a:lnTo>
                <a:lnTo>
                  <a:pt x="0" y="14731"/>
                </a:lnTo>
                <a:lnTo>
                  <a:pt x="10452" y="14731"/>
                </a:lnTo>
                <a:lnTo>
                  <a:pt x="10452" y="41782"/>
                </a:lnTo>
                <a:lnTo>
                  <a:pt x="18910" y="41782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50032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6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0871" y="33020"/>
                </a:lnTo>
                <a:lnTo>
                  <a:pt x="19469" y="33020"/>
                </a:lnTo>
                <a:lnTo>
                  <a:pt x="22809" y="31876"/>
                </a:lnTo>
                <a:lnTo>
                  <a:pt x="28028" y="27559"/>
                </a:lnTo>
                <a:lnTo>
                  <a:pt x="28486" y="26670"/>
                </a:lnTo>
                <a:lnTo>
                  <a:pt x="13182" y="26670"/>
                </a:lnTo>
                <a:lnTo>
                  <a:pt x="11468" y="25781"/>
                </a:lnTo>
                <a:lnTo>
                  <a:pt x="10210" y="24002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5"/>
                </a:lnTo>
                <a:lnTo>
                  <a:pt x="9017" y="11302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7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67380" y="2789825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0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7240" y="2803541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1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84017" y="2783348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20"/>
                </a:lnTo>
                <a:lnTo>
                  <a:pt x="0" y="11684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6"/>
                </a:lnTo>
                <a:lnTo>
                  <a:pt x="11010" y="33020"/>
                </a:lnTo>
                <a:lnTo>
                  <a:pt x="20523" y="33020"/>
                </a:lnTo>
                <a:lnTo>
                  <a:pt x="24358" y="31496"/>
                </a:lnTo>
                <a:lnTo>
                  <a:pt x="29146" y="26670"/>
                </a:lnTo>
                <a:lnTo>
                  <a:pt x="13512" y="26670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8"/>
                </a:lnTo>
                <a:lnTo>
                  <a:pt x="9093" y="10668"/>
                </a:lnTo>
                <a:lnTo>
                  <a:pt x="11734" y="7365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02165" y="2789825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4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5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7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29292" y="2783348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7"/>
                </a:lnTo>
                <a:lnTo>
                  <a:pt x="19659" y="5207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21063" y="2784237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9"/>
                </a:lnTo>
                <a:lnTo>
                  <a:pt x="8432" y="31369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9"/>
                </a:lnTo>
                <a:lnTo>
                  <a:pt x="28346" y="5969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37954" y="2790206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4"/>
                </a:lnTo>
                <a:lnTo>
                  <a:pt x="3009" y="3048"/>
                </a:lnTo>
                <a:lnTo>
                  <a:pt x="3428" y="4952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53270" y="2784237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9"/>
                </a:lnTo>
                <a:lnTo>
                  <a:pt x="19837" y="31369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68637" y="2784237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88119" y="2773061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4"/>
                </a:lnTo>
                <a:lnTo>
                  <a:pt x="10515" y="4952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5"/>
                </a:lnTo>
                <a:lnTo>
                  <a:pt x="18834" y="42545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19843" y="2795341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42957" y="2772299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5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5"/>
                </a:lnTo>
                <a:lnTo>
                  <a:pt x="8026" y="17145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3"/>
                </a:lnTo>
                <a:lnTo>
                  <a:pt x="10934" y="8255"/>
                </a:lnTo>
                <a:lnTo>
                  <a:pt x="12560" y="7365"/>
                </a:lnTo>
                <a:lnTo>
                  <a:pt x="28422" y="7365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70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42068" y="2779665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5"/>
                </a:lnTo>
                <a:lnTo>
                  <a:pt x="21145" y="3048"/>
                </a:lnTo>
                <a:lnTo>
                  <a:pt x="21716" y="4699"/>
                </a:lnTo>
                <a:lnTo>
                  <a:pt x="21716" y="8128"/>
                </a:lnTo>
                <a:lnTo>
                  <a:pt x="16065" y="14859"/>
                </a:lnTo>
                <a:lnTo>
                  <a:pt x="0" y="33147"/>
                </a:lnTo>
                <a:lnTo>
                  <a:pt x="0" y="35941"/>
                </a:lnTo>
                <a:lnTo>
                  <a:pt x="30340" y="35941"/>
                </a:lnTo>
                <a:lnTo>
                  <a:pt x="30340" y="28448"/>
                </a:lnTo>
                <a:lnTo>
                  <a:pt x="10807" y="28448"/>
                </a:lnTo>
                <a:lnTo>
                  <a:pt x="11531" y="27432"/>
                </a:lnTo>
                <a:lnTo>
                  <a:pt x="12496" y="26289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7"/>
                </a:lnTo>
                <a:lnTo>
                  <a:pt x="24256" y="17780"/>
                </a:lnTo>
                <a:lnTo>
                  <a:pt x="26898" y="15367"/>
                </a:lnTo>
                <a:lnTo>
                  <a:pt x="28155" y="13208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2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50032" y="2467499"/>
            <a:ext cx="222377" cy="1446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18256" y="19438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18256" y="1908147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042284" y="1923431"/>
            <a:ext cx="106680" cy="44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13493" y="1578777"/>
            <a:ext cx="563917" cy="189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18256" y="151485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18256" y="147838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042284" y="1495187"/>
            <a:ext cx="106680" cy="42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13493" y="1155106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18256" y="108965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18256" y="1053188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042284" y="1069991"/>
            <a:ext cx="106680" cy="426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813493" y="624754"/>
            <a:ext cx="563917" cy="3994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50032" y="1175147"/>
            <a:ext cx="830427" cy="27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50032" y="1603391"/>
            <a:ext cx="827379" cy="2757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17088" y="963311"/>
            <a:ext cx="85343" cy="4267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17088" y="862727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17088" y="760619"/>
            <a:ext cx="86868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12160" y="2007212"/>
            <a:ext cx="565251" cy="8379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531540" y="1982359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498216" y="2211467"/>
            <a:ext cx="992505" cy="208915"/>
          </a:xfrm>
          <a:custGeom>
            <a:avLst/>
            <a:gdLst/>
            <a:ahLst/>
            <a:cxnLst/>
            <a:rect l="l" t="t" r="r" b="b"/>
            <a:pathLst>
              <a:path w="992505" h="208914">
                <a:moveTo>
                  <a:pt x="0" y="208788"/>
                </a:moveTo>
                <a:lnTo>
                  <a:pt x="992123" y="208788"/>
                </a:lnTo>
                <a:lnTo>
                  <a:pt x="992123" y="0"/>
                </a:lnTo>
                <a:lnTo>
                  <a:pt x="0" y="0"/>
                </a:lnTo>
                <a:lnTo>
                  <a:pt x="0" y="208788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132" y="389966"/>
            <a:ext cx="268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经典网络</a:t>
            </a:r>
            <a:r>
              <a:rPr spc="-15" dirty="0"/>
              <a:t>解</a:t>
            </a:r>
            <a:r>
              <a:rPr spc="5" dirty="0"/>
              <a:t>析</a:t>
            </a:r>
            <a:r>
              <a:rPr spc="-10" dirty="0"/>
              <a:t>——VGG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91481" y="1171701"/>
            <a:ext cx="312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481" y="1446402"/>
            <a:ext cx="137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个卷积层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个全连接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481" y="1720722"/>
            <a:ext cx="33134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conv1,…,conv5，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每一段中卷积层的卷积核个数均相同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481" y="1995042"/>
            <a:ext cx="262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所有卷积层均采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的卷积核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及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e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L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激活函数；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481" y="2269362"/>
            <a:ext cx="3255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所有的池化层都采用最大池化，其窗口大小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、步长为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1481" y="2543682"/>
            <a:ext cx="388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经过一次池化操作，其后卷积层的卷积核个数就增加一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倍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，直至到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达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spc="5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481" y="2818002"/>
            <a:ext cx="1827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全连接层中也使用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D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p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u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策略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2119" y="744600"/>
            <a:ext cx="990600" cy="321945"/>
          </a:xfrm>
          <a:custGeom>
            <a:avLst/>
            <a:gdLst/>
            <a:ahLst/>
            <a:cxnLst/>
            <a:rect l="l" t="t" r="r" b="b"/>
            <a:pathLst>
              <a:path w="990600" h="321944">
                <a:moveTo>
                  <a:pt x="0" y="321563"/>
                </a:moveTo>
                <a:lnTo>
                  <a:pt x="990600" y="321563"/>
                </a:lnTo>
                <a:lnTo>
                  <a:pt x="990600" y="0"/>
                </a:lnTo>
                <a:lnTo>
                  <a:pt x="0" y="0"/>
                </a:lnTo>
                <a:lnTo>
                  <a:pt x="0" y="321563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4068" y="2429001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068" y="2781045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212" y="2084577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30" y="1670938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212" y="1237614"/>
            <a:ext cx="301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900" dirty="0">
                <a:latin typeface="Calibri" panose="020F0502020204030204"/>
                <a:cs typeface="Calibri" panose="020F0502020204030204"/>
              </a:rPr>
              <a:t>o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900" dirty="0">
                <a:latin typeface="Calibri" panose="020F0502020204030204"/>
                <a:cs typeface="Calibri" panose="020F0502020204030204"/>
              </a:rPr>
              <a:t>v5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3493" y="2557927"/>
            <a:ext cx="563917" cy="809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8255" y="270431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8255" y="266785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42283" y="2684654"/>
            <a:ext cx="106680" cy="426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13493" y="2769768"/>
            <a:ext cx="563917" cy="18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8255" y="30228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8255" y="298636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6"/>
                </a:moveTo>
                <a:lnTo>
                  <a:pt x="554393" y="72936"/>
                </a:lnTo>
                <a:lnTo>
                  <a:pt x="554393" y="0"/>
                </a:lnTo>
                <a:lnTo>
                  <a:pt x="0" y="0"/>
                </a:lnTo>
                <a:lnTo>
                  <a:pt x="0" y="72936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36187" y="3003168"/>
            <a:ext cx="121919" cy="53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13493" y="2451251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18255" y="238580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18255" y="2349333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42283" y="2366138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0031" y="2132735"/>
            <a:ext cx="827379" cy="1876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87851" y="3106038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0031" y="290664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608" y="0"/>
                </a:moveTo>
                <a:lnTo>
                  <a:pt x="10845" y="0"/>
                </a:lnTo>
                <a:lnTo>
                  <a:pt x="7035" y="1524"/>
                </a:lnTo>
                <a:lnTo>
                  <a:pt x="4178" y="4572"/>
                </a:lnTo>
                <a:lnTo>
                  <a:pt x="1396" y="7619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5"/>
                </a:lnTo>
                <a:lnTo>
                  <a:pt x="4279" y="28067"/>
                </a:lnTo>
                <a:lnTo>
                  <a:pt x="7200" y="30987"/>
                </a:lnTo>
                <a:lnTo>
                  <a:pt x="10909" y="32385"/>
                </a:lnTo>
                <a:lnTo>
                  <a:pt x="19545" y="32385"/>
                </a:lnTo>
                <a:lnTo>
                  <a:pt x="22898" y="31368"/>
                </a:lnTo>
                <a:lnTo>
                  <a:pt x="28130" y="27050"/>
                </a:lnTo>
                <a:lnTo>
                  <a:pt x="28587" y="26162"/>
                </a:lnTo>
                <a:lnTo>
                  <a:pt x="13233" y="26162"/>
                </a:lnTo>
                <a:lnTo>
                  <a:pt x="11506" y="25273"/>
                </a:lnTo>
                <a:lnTo>
                  <a:pt x="10248" y="23494"/>
                </a:lnTo>
                <a:lnTo>
                  <a:pt x="9055" y="21717"/>
                </a:lnTo>
                <a:lnTo>
                  <a:pt x="8458" y="19304"/>
                </a:lnTo>
                <a:lnTo>
                  <a:pt x="8458" y="13462"/>
                </a:lnTo>
                <a:lnTo>
                  <a:pt x="9055" y="11049"/>
                </a:lnTo>
                <a:lnTo>
                  <a:pt x="10248" y="9143"/>
                </a:lnTo>
                <a:lnTo>
                  <a:pt x="11506" y="7238"/>
                </a:lnTo>
                <a:lnTo>
                  <a:pt x="13296" y="6350"/>
                </a:lnTo>
                <a:lnTo>
                  <a:pt x="29032" y="6350"/>
                </a:lnTo>
                <a:lnTo>
                  <a:pt x="28397" y="5080"/>
                </a:lnTo>
                <a:lnTo>
                  <a:pt x="22961" y="1016"/>
                </a:lnTo>
                <a:lnTo>
                  <a:pt x="1960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67443" y="2912998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620" y="0"/>
                </a:moveTo>
                <a:lnTo>
                  <a:pt x="0" y="0"/>
                </a:lnTo>
                <a:lnTo>
                  <a:pt x="1396" y="507"/>
                </a:lnTo>
                <a:lnTo>
                  <a:pt x="2387" y="1397"/>
                </a:lnTo>
                <a:lnTo>
                  <a:pt x="3454" y="2286"/>
                </a:lnTo>
                <a:lnTo>
                  <a:pt x="4114" y="3556"/>
                </a:lnTo>
                <a:lnTo>
                  <a:pt x="4381" y="5334"/>
                </a:lnTo>
                <a:lnTo>
                  <a:pt x="12649" y="5334"/>
                </a:lnTo>
                <a:lnTo>
                  <a:pt x="12445" y="1650"/>
                </a:lnTo>
                <a:lnTo>
                  <a:pt x="116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67316" y="2926460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66" y="0"/>
                </a:moveTo>
                <a:lnTo>
                  <a:pt x="4813" y="0"/>
                </a:lnTo>
                <a:lnTo>
                  <a:pt x="4546" y="2031"/>
                </a:lnTo>
                <a:lnTo>
                  <a:pt x="3809" y="3556"/>
                </a:lnTo>
                <a:lnTo>
                  <a:pt x="1498" y="5842"/>
                </a:lnTo>
                <a:lnTo>
                  <a:pt x="0" y="6350"/>
                </a:lnTo>
                <a:lnTo>
                  <a:pt x="11303" y="6350"/>
                </a:lnTo>
                <a:lnTo>
                  <a:pt x="12446" y="4063"/>
                </a:lnTo>
                <a:lnTo>
                  <a:pt x="1296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4144" y="290664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0675" y="0"/>
                </a:moveTo>
                <a:lnTo>
                  <a:pt x="10985" y="0"/>
                </a:lnTo>
                <a:lnTo>
                  <a:pt x="7137" y="1397"/>
                </a:lnTo>
                <a:lnTo>
                  <a:pt x="1435" y="7493"/>
                </a:lnTo>
                <a:lnTo>
                  <a:pt x="0" y="11430"/>
                </a:lnTo>
                <a:lnTo>
                  <a:pt x="25" y="21209"/>
                </a:lnTo>
                <a:lnTo>
                  <a:pt x="1435" y="25018"/>
                </a:lnTo>
                <a:lnTo>
                  <a:pt x="4292" y="28067"/>
                </a:lnTo>
                <a:lnTo>
                  <a:pt x="7200" y="30987"/>
                </a:lnTo>
                <a:lnTo>
                  <a:pt x="11061" y="32385"/>
                </a:lnTo>
                <a:lnTo>
                  <a:pt x="20612" y="32385"/>
                </a:lnTo>
                <a:lnTo>
                  <a:pt x="24460" y="30987"/>
                </a:lnTo>
                <a:lnTo>
                  <a:pt x="29260" y="26162"/>
                </a:lnTo>
                <a:lnTo>
                  <a:pt x="13576" y="26162"/>
                </a:lnTo>
                <a:lnTo>
                  <a:pt x="11785" y="25273"/>
                </a:lnTo>
                <a:lnTo>
                  <a:pt x="9131" y="21970"/>
                </a:lnTo>
                <a:lnTo>
                  <a:pt x="8470" y="19557"/>
                </a:lnTo>
                <a:lnTo>
                  <a:pt x="8470" y="12954"/>
                </a:lnTo>
                <a:lnTo>
                  <a:pt x="9131" y="10413"/>
                </a:lnTo>
                <a:lnTo>
                  <a:pt x="10464" y="8889"/>
                </a:lnTo>
                <a:lnTo>
                  <a:pt x="11785" y="7112"/>
                </a:lnTo>
                <a:lnTo>
                  <a:pt x="13576" y="6350"/>
                </a:lnTo>
                <a:lnTo>
                  <a:pt x="29222" y="6350"/>
                </a:lnTo>
                <a:lnTo>
                  <a:pt x="27381" y="4444"/>
                </a:lnTo>
                <a:lnTo>
                  <a:pt x="24523" y="1397"/>
                </a:lnTo>
                <a:lnTo>
                  <a:pt x="2067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2368" y="2912998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98" y="0"/>
                </a:moveTo>
                <a:lnTo>
                  <a:pt x="126" y="0"/>
                </a:lnTo>
                <a:lnTo>
                  <a:pt x="1981" y="888"/>
                </a:lnTo>
                <a:lnTo>
                  <a:pt x="3187" y="2667"/>
                </a:lnTo>
                <a:lnTo>
                  <a:pt x="4444" y="4444"/>
                </a:lnTo>
                <a:lnTo>
                  <a:pt x="5003" y="6604"/>
                </a:lnTo>
                <a:lnTo>
                  <a:pt x="5041" y="13207"/>
                </a:lnTo>
                <a:lnTo>
                  <a:pt x="4406" y="15493"/>
                </a:lnTo>
                <a:lnTo>
                  <a:pt x="3086" y="17144"/>
                </a:lnTo>
                <a:lnTo>
                  <a:pt x="1816" y="18923"/>
                </a:lnTo>
                <a:lnTo>
                  <a:pt x="0" y="19812"/>
                </a:lnTo>
                <a:lnTo>
                  <a:pt x="11036" y="19812"/>
                </a:lnTo>
                <a:lnTo>
                  <a:pt x="12064" y="18795"/>
                </a:lnTo>
                <a:lnTo>
                  <a:pt x="13538" y="14859"/>
                </a:lnTo>
                <a:lnTo>
                  <a:pt x="13538" y="5080"/>
                </a:lnTo>
                <a:lnTo>
                  <a:pt x="12064" y="1143"/>
                </a:lnTo>
                <a:lnTo>
                  <a:pt x="1099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9610" y="2906648"/>
            <a:ext cx="20320" cy="5080"/>
          </a:xfrm>
          <a:custGeom>
            <a:avLst/>
            <a:gdLst/>
            <a:ahLst/>
            <a:cxnLst/>
            <a:rect l="l" t="t" r="r" b="b"/>
            <a:pathLst>
              <a:path w="20320" h="5080">
                <a:moveTo>
                  <a:pt x="13271" y="0"/>
                </a:moveTo>
                <a:lnTo>
                  <a:pt x="7429" y="0"/>
                </a:lnTo>
                <a:lnTo>
                  <a:pt x="5638" y="381"/>
                </a:lnTo>
                <a:lnTo>
                  <a:pt x="3975" y="1397"/>
                </a:lnTo>
                <a:lnTo>
                  <a:pt x="2311" y="2159"/>
                </a:lnTo>
                <a:lnTo>
                  <a:pt x="990" y="3429"/>
                </a:lnTo>
                <a:lnTo>
                  <a:pt x="0" y="5080"/>
                </a:lnTo>
                <a:lnTo>
                  <a:pt x="19735" y="5080"/>
                </a:lnTo>
                <a:lnTo>
                  <a:pt x="16116" y="888"/>
                </a:lnTo>
                <a:lnTo>
                  <a:pt x="1327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21342" y="2907410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64" y="0"/>
                </a:moveTo>
                <a:lnTo>
                  <a:pt x="0" y="0"/>
                </a:lnTo>
                <a:lnTo>
                  <a:pt x="0" y="30861"/>
                </a:lnTo>
                <a:lnTo>
                  <a:pt x="8458" y="30861"/>
                </a:lnTo>
                <a:lnTo>
                  <a:pt x="8458" y="11556"/>
                </a:lnTo>
                <a:lnTo>
                  <a:pt x="8953" y="9398"/>
                </a:lnTo>
                <a:lnTo>
                  <a:pt x="9956" y="8000"/>
                </a:lnTo>
                <a:lnTo>
                  <a:pt x="11010" y="6604"/>
                </a:lnTo>
                <a:lnTo>
                  <a:pt x="12712" y="5842"/>
                </a:lnTo>
                <a:lnTo>
                  <a:pt x="28460" y="5842"/>
                </a:lnTo>
                <a:lnTo>
                  <a:pt x="28003" y="4318"/>
                </a:lnTo>
                <a:lnTo>
                  <a:pt x="8064" y="4318"/>
                </a:lnTo>
                <a:lnTo>
                  <a:pt x="80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38296" y="2913252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506" y="0"/>
                </a:moveTo>
                <a:lnTo>
                  <a:pt x="0" y="0"/>
                </a:lnTo>
                <a:lnTo>
                  <a:pt x="1358" y="634"/>
                </a:lnTo>
                <a:lnTo>
                  <a:pt x="2159" y="1905"/>
                </a:lnTo>
                <a:lnTo>
                  <a:pt x="3022" y="3175"/>
                </a:lnTo>
                <a:lnTo>
                  <a:pt x="3454" y="4952"/>
                </a:lnTo>
                <a:lnTo>
                  <a:pt x="3454" y="25018"/>
                </a:lnTo>
                <a:lnTo>
                  <a:pt x="11912" y="25018"/>
                </a:lnTo>
                <a:lnTo>
                  <a:pt x="11912" y="1524"/>
                </a:lnTo>
                <a:lnTo>
                  <a:pt x="1150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53676" y="2907410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64" y="0"/>
                </a:moveTo>
                <a:lnTo>
                  <a:pt x="0" y="0"/>
                </a:lnTo>
                <a:lnTo>
                  <a:pt x="10553" y="30861"/>
                </a:lnTo>
                <a:lnTo>
                  <a:pt x="19913" y="30861"/>
                </a:lnTo>
                <a:lnTo>
                  <a:pt x="23228" y="21081"/>
                </a:lnTo>
                <a:lnTo>
                  <a:pt x="15328" y="21081"/>
                </a:lnTo>
                <a:lnTo>
                  <a:pt x="886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9107" y="290741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935" y="0"/>
                </a:moveTo>
                <a:lnTo>
                  <a:pt x="6477" y="0"/>
                </a:lnTo>
                <a:lnTo>
                  <a:pt x="0" y="21081"/>
                </a:lnTo>
                <a:lnTo>
                  <a:pt x="7797" y="21081"/>
                </a:lnTo>
                <a:lnTo>
                  <a:pt x="1493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88665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34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29" y="7620"/>
                </a:lnTo>
                <a:lnTo>
                  <a:pt x="3975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20516" y="2918370"/>
            <a:ext cx="18415" cy="7620"/>
          </a:xfrm>
          <a:custGeom>
            <a:avLst/>
            <a:gdLst/>
            <a:ahLst/>
            <a:cxnLst/>
            <a:rect l="l" t="t" r="r" b="b"/>
            <a:pathLst>
              <a:path w="18415" h="7619">
                <a:moveTo>
                  <a:pt x="0" y="7201"/>
                </a:moveTo>
                <a:lnTo>
                  <a:pt x="17816" y="7201"/>
                </a:lnTo>
                <a:lnTo>
                  <a:pt x="17816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5904" y="2896488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910" y="0"/>
                </a:moveTo>
                <a:lnTo>
                  <a:pt x="12141" y="0"/>
                </a:lnTo>
                <a:lnTo>
                  <a:pt x="11747" y="2794"/>
                </a:lnTo>
                <a:lnTo>
                  <a:pt x="10553" y="4826"/>
                </a:lnTo>
                <a:lnTo>
                  <a:pt x="8559" y="6223"/>
                </a:lnTo>
                <a:lnTo>
                  <a:pt x="6642" y="7620"/>
                </a:lnTo>
                <a:lnTo>
                  <a:pt x="398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52" y="14732"/>
                </a:lnTo>
                <a:lnTo>
                  <a:pt x="10452" y="41783"/>
                </a:lnTo>
                <a:lnTo>
                  <a:pt x="18910" y="41783"/>
                </a:lnTo>
                <a:lnTo>
                  <a:pt x="1891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0031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699"/>
                </a:lnTo>
                <a:lnTo>
                  <a:pt x="1384" y="7747"/>
                </a:lnTo>
                <a:lnTo>
                  <a:pt x="0" y="11937"/>
                </a:lnTo>
                <a:lnTo>
                  <a:pt x="0" y="21717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0871" y="33019"/>
                </a:lnTo>
                <a:lnTo>
                  <a:pt x="19469" y="33019"/>
                </a:lnTo>
                <a:lnTo>
                  <a:pt x="22809" y="31876"/>
                </a:lnTo>
                <a:lnTo>
                  <a:pt x="28028" y="27558"/>
                </a:lnTo>
                <a:lnTo>
                  <a:pt x="28486" y="26669"/>
                </a:lnTo>
                <a:lnTo>
                  <a:pt x="13182" y="26669"/>
                </a:lnTo>
                <a:lnTo>
                  <a:pt x="11468" y="25781"/>
                </a:lnTo>
                <a:lnTo>
                  <a:pt x="10210" y="24003"/>
                </a:lnTo>
                <a:lnTo>
                  <a:pt x="9017" y="22098"/>
                </a:lnTo>
                <a:lnTo>
                  <a:pt x="8420" y="19685"/>
                </a:lnTo>
                <a:lnTo>
                  <a:pt x="8420" y="13716"/>
                </a:lnTo>
                <a:lnTo>
                  <a:pt x="9017" y="11303"/>
                </a:lnTo>
                <a:lnTo>
                  <a:pt x="10210" y="9398"/>
                </a:lnTo>
                <a:lnTo>
                  <a:pt x="11468" y="7493"/>
                </a:lnTo>
                <a:lnTo>
                  <a:pt x="13246" y="6476"/>
                </a:lnTo>
                <a:lnTo>
                  <a:pt x="28917" y="6476"/>
                </a:lnTo>
                <a:lnTo>
                  <a:pt x="28282" y="5206"/>
                </a:lnTo>
                <a:lnTo>
                  <a:pt x="22872" y="1016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67380" y="2811906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69" y="0"/>
                </a:moveTo>
                <a:lnTo>
                  <a:pt x="0" y="0"/>
                </a:lnTo>
                <a:lnTo>
                  <a:pt x="1384" y="508"/>
                </a:lnTo>
                <a:lnTo>
                  <a:pt x="2374" y="1524"/>
                </a:lnTo>
                <a:lnTo>
                  <a:pt x="3441" y="2286"/>
                </a:lnTo>
                <a:lnTo>
                  <a:pt x="4102" y="3683"/>
                </a:lnTo>
                <a:lnTo>
                  <a:pt x="4368" y="5461"/>
                </a:lnTo>
                <a:lnTo>
                  <a:pt x="12598" y="5461"/>
                </a:lnTo>
                <a:lnTo>
                  <a:pt x="12395" y="1651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67240" y="2825622"/>
            <a:ext cx="13335" cy="6985"/>
          </a:xfrm>
          <a:custGeom>
            <a:avLst/>
            <a:gdLst/>
            <a:ahLst/>
            <a:cxnLst/>
            <a:rect l="l" t="t" r="r" b="b"/>
            <a:pathLst>
              <a:path w="13334" h="6985">
                <a:moveTo>
                  <a:pt x="12928" y="0"/>
                </a:moveTo>
                <a:lnTo>
                  <a:pt x="4800" y="0"/>
                </a:lnTo>
                <a:lnTo>
                  <a:pt x="4533" y="2031"/>
                </a:lnTo>
                <a:lnTo>
                  <a:pt x="3809" y="3682"/>
                </a:lnTo>
                <a:lnTo>
                  <a:pt x="1498" y="5842"/>
                </a:lnTo>
                <a:lnTo>
                  <a:pt x="0" y="6476"/>
                </a:lnTo>
                <a:lnTo>
                  <a:pt x="11277" y="6476"/>
                </a:lnTo>
                <a:lnTo>
                  <a:pt x="12407" y="4190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84017" y="2805429"/>
            <a:ext cx="29209" cy="33020"/>
          </a:xfrm>
          <a:custGeom>
            <a:avLst/>
            <a:gdLst/>
            <a:ahLst/>
            <a:cxnLst/>
            <a:rect l="l" t="t" r="r" b="b"/>
            <a:pathLst>
              <a:path w="29209" h="33019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619"/>
                </a:lnTo>
                <a:lnTo>
                  <a:pt x="0" y="11683"/>
                </a:lnTo>
                <a:lnTo>
                  <a:pt x="25" y="21589"/>
                </a:lnTo>
                <a:lnTo>
                  <a:pt x="1422" y="25526"/>
                </a:lnTo>
                <a:lnTo>
                  <a:pt x="4267" y="28575"/>
                </a:lnTo>
                <a:lnTo>
                  <a:pt x="7175" y="31495"/>
                </a:lnTo>
                <a:lnTo>
                  <a:pt x="11010" y="33019"/>
                </a:lnTo>
                <a:lnTo>
                  <a:pt x="20523" y="33019"/>
                </a:lnTo>
                <a:lnTo>
                  <a:pt x="24358" y="31495"/>
                </a:lnTo>
                <a:lnTo>
                  <a:pt x="29146" y="26669"/>
                </a:lnTo>
                <a:lnTo>
                  <a:pt x="13512" y="26669"/>
                </a:lnTo>
                <a:lnTo>
                  <a:pt x="11734" y="25781"/>
                </a:lnTo>
                <a:lnTo>
                  <a:pt x="9093" y="22351"/>
                </a:lnTo>
                <a:lnTo>
                  <a:pt x="8420" y="19938"/>
                </a:lnTo>
                <a:lnTo>
                  <a:pt x="8420" y="13207"/>
                </a:lnTo>
                <a:lnTo>
                  <a:pt x="9093" y="10668"/>
                </a:lnTo>
                <a:lnTo>
                  <a:pt x="11734" y="7366"/>
                </a:lnTo>
                <a:lnTo>
                  <a:pt x="13512" y="6476"/>
                </a:lnTo>
                <a:lnTo>
                  <a:pt x="29108" y="6476"/>
                </a:lnTo>
                <a:lnTo>
                  <a:pt x="27266" y="4572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02165" y="2811906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60" y="0"/>
                </a:moveTo>
                <a:lnTo>
                  <a:pt x="127" y="0"/>
                </a:lnTo>
                <a:lnTo>
                  <a:pt x="1981" y="1016"/>
                </a:lnTo>
                <a:lnTo>
                  <a:pt x="3175" y="2793"/>
                </a:lnTo>
                <a:lnTo>
                  <a:pt x="4432" y="4572"/>
                </a:lnTo>
                <a:lnTo>
                  <a:pt x="4991" y="6731"/>
                </a:lnTo>
                <a:lnTo>
                  <a:pt x="5016" y="13462"/>
                </a:lnTo>
                <a:lnTo>
                  <a:pt x="4394" y="15748"/>
                </a:lnTo>
                <a:lnTo>
                  <a:pt x="3073" y="17526"/>
                </a:lnTo>
                <a:lnTo>
                  <a:pt x="1816" y="19304"/>
                </a:lnTo>
                <a:lnTo>
                  <a:pt x="0" y="20193"/>
                </a:lnTo>
                <a:lnTo>
                  <a:pt x="10998" y="20193"/>
                </a:lnTo>
                <a:lnTo>
                  <a:pt x="12026" y="19050"/>
                </a:lnTo>
                <a:lnTo>
                  <a:pt x="13487" y="15112"/>
                </a:lnTo>
                <a:lnTo>
                  <a:pt x="13487" y="5206"/>
                </a:lnTo>
                <a:lnTo>
                  <a:pt x="12026" y="1143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29292" y="2805429"/>
            <a:ext cx="19685" cy="5715"/>
          </a:xfrm>
          <a:custGeom>
            <a:avLst/>
            <a:gdLst/>
            <a:ahLst/>
            <a:cxnLst/>
            <a:rect l="l" t="t" r="r" b="b"/>
            <a:pathLst>
              <a:path w="19684" h="5714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556"/>
                </a:lnTo>
                <a:lnTo>
                  <a:pt x="0" y="5206"/>
                </a:lnTo>
                <a:lnTo>
                  <a:pt x="19659" y="5206"/>
                </a:lnTo>
                <a:lnTo>
                  <a:pt x="16065" y="1016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21063" y="2806318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8039" y="0"/>
                </a:moveTo>
                <a:lnTo>
                  <a:pt x="0" y="0"/>
                </a:lnTo>
                <a:lnTo>
                  <a:pt x="0" y="31368"/>
                </a:lnTo>
                <a:lnTo>
                  <a:pt x="8432" y="31368"/>
                </a:lnTo>
                <a:lnTo>
                  <a:pt x="8432" y="11684"/>
                </a:lnTo>
                <a:lnTo>
                  <a:pt x="8928" y="9525"/>
                </a:lnTo>
                <a:lnTo>
                  <a:pt x="10972" y="6604"/>
                </a:lnTo>
                <a:lnTo>
                  <a:pt x="12661" y="5968"/>
                </a:lnTo>
                <a:lnTo>
                  <a:pt x="28346" y="5968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7954" y="2812287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953"/>
                </a:lnTo>
                <a:lnTo>
                  <a:pt x="3428" y="25400"/>
                </a:lnTo>
                <a:lnTo>
                  <a:pt x="11861" y="25400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53270" y="2806318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5" h="31750">
                <a:moveTo>
                  <a:pt x="8826" y="0"/>
                </a:moveTo>
                <a:lnTo>
                  <a:pt x="0" y="0"/>
                </a:lnTo>
                <a:lnTo>
                  <a:pt x="10515" y="31368"/>
                </a:lnTo>
                <a:lnTo>
                  <a:pt x="19837" y="31368"/>
                </a:lnTo>
                <a:lnTo>
                  <a:pt x="23139" y="21336"/>
                </a:lnTo>
                <a:lnTo>
                  <a:pt x="15265" y="21336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68637" y="2806318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84" y="0"/>
                </a:moveTo>
                <a:lnTo>
                  <a:pt x="6451" y="0"/>
                </a:lnTo>
                <a:lnTo>
                  <a:pt x="0" y="21336"/>
                </a:lnTo>
                <a:lnTo>
                  <a:pt x="7772" y="21336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8119" y="2795142"/>
            <a:ext cx="19050" cy="42545"/>
          </a:xfrm>
          <a:custGeom>
            <a:avLst/>
            <a:gdLst/>
            <a:ahLst/>
            <a:cxnLst/>
            <a:rect l="l" t="t" r="r" b="b"/>
            <a:pathLst>
              <a:path w="19050" h="42544">
                <a:moveTo>
                  <a:pt x="18834" y="0"/>
                </a:moveTo>
                <a:lnTo>
                  <a:pt x="12090" y="0"/>
                </a:lnTo>
                <a:lnTo>
                  <a:pt x="11696" y="2793"/>
                </a:lnTo>
                <a:lnTo>
                  <a:pt x="10515" y="4953"/>
                </a:lnTo>
                <a:lnTo>
                  <a:pt x="8521" y="6350"/>
                </a:lnTo>
                <a:lnTo>
                  <a:pt x="6603" y="7747"/>
                </a:lnTo>
                <a:lnTo>
                  <a:pt x="3962" y="8509"/>
                </a:lnTo>
                <a:lnTo>
                  <a:pt x="0" y="8509"/>
                </a:lnTo>
                <a:lnTo>
                  <a:pt x="0" y="14986"/>
                </a:lnTo>
                <a:lnTo>
                  <a:pt x="10413" y="14986"/>
                </a:lnTo>
                <a:lnTo>
                  <a:pt x="10413" y="42544"/>
                </a:lnTo>
                <a:lnTo>
                  <a:pt x="18834" y="42544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9843" y="281742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79" h="7619">
                <a:moveTo>
                  <a:pt x="0" y="7311"/>
                </a:moveTo>
                <a:lnTo>
                  <a:pt x="17746" y="7311"/>
                </a:lnTo>
                <a:lnTo>
                  <a:pt x="17746" y="0"/>
                </a:lnTo>
                <a:lnTo>
                  <a:pt x="0" y="0"/>
                </a:lnTo>
                <a:lnTo>
                  <a:pt x="0" y="731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42957" y="2794380"/>
            <a:ext cx="28575" cy="17145"/>
          </a:xfrm>
          <a:custGeom>
            <a:avLst/>
            <a:gdLst/>
            <a:ahLst/>
            <a:cxnLst/>
            <a:rect l="l" t="t" r="r" b="b"/>
            <a:pathLst>
              <a:path w="28575" h="17144">
                <a:moveTo>
                  <a:pt x="19100" y="0"/>
                </a:moveTo>
                <a:lnTo>
                  <a:pt x="10515" y="0"/>
                </a:lnTo>
                <a:lnTo>
                  <a:pt x="6845" y="1524"/>
                </a:lnTo>
                <a:lnTo>
                  <a:pt x="4064" y="4444"/>
                </a:lnTo>
                <a:lnTo>
                  <a:pt x="1358" y="7493"/>
                </a:lnTo>
                <a:lnTo>
                  <a:pt x="0" y="11430"/>
                </a:lnTo>
                <a:lnTo>
                  <a:pt x="0" y="17144"/>
                </a:lnTo>
                <a:lnTo>
                  <a:pt x="8026" y="17144"/>
                </a:lnTo>
                <a:lnTo>
                  <a:pt x="8089" y="14097"/>
                </a:lnTo>
                <a:lnTo>
                  <a:pt x="8686" y="11684"/>
                </a:lnTo>
                <a:lnTo>
                  <a:pt x="9817" y="10032"/>
                </a:lnTo>
                <a:lnTo>
                  <a:pt x="10934" y="8255"/>
                </a:lnTo>
                <a:lnTo>
                  <a:pt x="12560" y="7366"/>
                </a:lnTo>
                <a:lnTo>
                  <a:pt x="28422" y="7366"/>
                </a:lnTo>
                <a:lnTo>
                  <a:pt x="27889" y="6223"/>
                </a:lnTo>
                <a:lnTo>
                  <a:pt x="25184" y="3810"/>
                </a:lnTo>
                <a:lnTo>
                  <a:pt x="22478" y="1269"/>
                </a:lnTo>
                <a:lnTo>
                  <a:pt x="191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42068" y="2801746"/>
            <a:ext cx="30480" cy="36195"/>
          </a:xfrm>
          <a:custGeom>
            <a:avLst/>
            <a:gdLst/>
            <a:ahLst/>
            <a:cxnLst/>
            <a:rect l="l" t="t" r="r" b="b"/>
            <a:pathLst>
              <a:path w="30479" h="36194">
                <a:moveTo>
                  <a:pt x="29311" y="0"/>
                </a:moveTo>
                <a:lnTo>
                  <a:pt x="17411" y="0"/>
                </a:lnTo>
                <a:lnTo>
                  <a:pt x="18897" y="634"/>
                </a:lnTo>
                <a:lnTo>
                  <a:pt x="21145" y="3047"/>
                </a:lnTo>
                <a:lnTo>
                  <a:pt x="21716" y="4699"/>
                </a:lnTo>
                <a:lnTo>
                  <a:pt x="21716" y="8127"/>
                </a:lnTo>
                <a:lnTo>
                  <a:pt x="16065" y="14858"/>
                </a:lnTo>
                <a:lnTo>
                  <a:pt x="0" y="33146"/>
                </a:lnTo>
                <a:lnTo>
                  <a:pt x="0" y="35940"/>
                </a:lnTo>
                <a:lnTo>
                  <a:pt x="30340" y="35940"/>
                </a:lnTo>
                <a:lnTo>
                  <a:pt x="30340" y="28447"/>
                </a:lnTo>
                <a:lnTo>
                  <a:pt x="10807" y="28447"/>
                </a:lnTo>
                <a:lnTo>
                  <a:pt x="11531" y="27431"/>
                </a:lnTo>
                <a:lnTo>
                  <a:pt x="12496" y="26288"/>
                </a:lnTo>
                <a:lnTo>
                  <a:pt x="15265" y="23749"/>
                </a:lnTo>
                <a:lnTo>
                  <a:pt x="17373" y="22225"/>
                </a:lnTo>
                <a:lnTo>
                  <a:pt x="20218" y="20446"/>
                </a:lnTo>
                <a:lnTo>
                  <a:pt x="24256" y="17780"/>
                </a:lnTo>
                <a:lnTo>
                  <a:pt x="26898" y="15366"/>
                </a:lnTo>
                <a:lnTo>
                  <a:pt x="28155" y="13207"/>
                </a:lnTo>
                <a:lnTo>
                  <a:pt x="29476" y="11049"/>
                </a:lnTo>
                <a:lnTo>
                  <a:pt x="30137" y="8636"/>
                </a:lnTo>
                <a:lnTo>
                  <a:pt x="30137" y="2031"/>
                </a:lnTo>
                <a:lnTo>
                  <a:pt x="2931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50031" y="2489580"/>
            <a:ext cx="222377" cy="1446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8255" y="1965937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8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18255" y="1930228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8"/>
                </a:moveTo>
                <a:lnTo>
                  <a:pt x="554393" y="71418"/>
                </a:lnTo>
                <a:lnTo>
                  <a:pt x="554393" y="0"/>
                </a:lnTo>
                <a:lnTo>
                  <a:pt x="0" y="0"/>
                </a:lnTo>
                <a:lnTo>
                  <a:pt x="0" y="71418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42283" y="1945512"/>
            <a:ext cx="106680" cy="44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13493" y="1600859"/>
            <a:ext cx="563917" cy="1891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8255" y="153693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8255" y="150046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042283" y="1517270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13493" y="1177187"/>
            <a:ext cx="563917" cy="1876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18255" y="111173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18255" y="1075269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042283" y="1092074"/>
            <a:ext cx="106680" cy="42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13493" y="646835"/>
            <a:ext cx="563917" cy="3994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50031" y="1197228"/>
            <a:ext cx="830427" cy="274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50031" y="1625472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17087" y="985394"/>
            <a:ext cx="85343" cy="4267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17087" y="884808"/>
            <a:ext cx="85343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17087" y="782700"/>
            <a:ext cx="86868" cy="426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12159" y="2029293"/>
            <a:ext cx="565251" cy="8379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31540" y="2005075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589" y="367554"/>
            <a:ext cx="72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4" y="883555"/>
            <a:ext cx="15792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588" y="389966"/>
            <a:ext cx="7258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2" y="906271"/>
            <a:ext cx="4130427" cy="46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589" y="367554"/>
            <a:ext cx="72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6191" y="2698004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464" y="193714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4" h="195580">
                <a:moveTo>
                  <a:pt x="0" y="0"/>
                </a:moveTo>
                <a:lnTo>
                  <a:pt x="192024" y="0"/>
                </a:lnTo>
                <a:lnTo>
                  <a:pt x="192024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9488" y="193714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5" h="195580">
                <a:moveTo>
                  <a:pt x="0" y="0"/>
                </a:moveTo>
                <a:lnTo>
                  <a:pt x="192024" y="0"/>
                </a:lnTo>
                <a:lnTo>
                  <a:pt x="192024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1512" y="193714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7464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9488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1512" y="213221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7464" y="2328815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9488" y="2328815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1512" y="2328815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72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822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025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6227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5277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44798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4678" y="174131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4678" y="193790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4678" y="2132981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4678" y="2329577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4678" y="252617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4678" y="272276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02404" y="193714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92904" y="193714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5" h="195580">
                <a:moveTo>
                  <a:pt x="0" y="0"/>
                </a:moveTo>
                <a:lnTo>
                  <a:pt x="192023" y="0"/>
                </a:lnTo>
                <a:lnTo>
                  <a:pt x="192023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84928" y="193714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02404" y="213221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92904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3" y="0"/>
                </a:lnTo>
                <a:lnTo>
                  <a:pt x="192023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84928" y="213221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02404" y="2328815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92904" y="2328815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3" y="0"/>
                </a:lnTo>
                <a:lnTo>
                  <a:pt x="192023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84928" y="2328815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11142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0316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9366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8569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7619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76821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08094" y="1741313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08094" y="1937909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08094" y="2132981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808094" y="2329577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808094" y="2526173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08094" y="2722769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11748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29985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2048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1251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80453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99503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187057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26938" y="174131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26938" y="193790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26938" y="2132981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26938" y="2329577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26938" y="252617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226938" y="272276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016247" y="2727849"/>
            <a:ext cx="23221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8105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第一次卷积	第二次卷积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222250">
              <a:lnSpc>
                <a:spcPct val="100000"/>
              </a:lnSpc>
            </a:pPr>
            <a:r>
              <a:rPr sz="1100" b="1" spc="-5" dirty="0">
                <a:latin typeface="Arial" panose="020B0604020202020204"/>
                <a:cs typeface="Arial" panose="020B0604020202020204"/>
              </a:rPr>
              <a:t>2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3x3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卷积核串联，感受野为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5x5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164966" y="1945529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6"/>
                </a:moveTo>
                <a:lnTo>
                  <a:pt x="0" y="0"/>
                </a:lnTo>
              </a:path>
            </a:pathLst>
          </a:custGeom>
          <a:ln w="19049">
            <a:solidFill>
              <a:srgbClr val="244E11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37534" y="2332625"/>
            <a:ext cx="1056640" cy="167640"/>
          </a:xfrm>
          <a:custGeom>
            <a:avLst/>
            <a:gdLst/>
            <a:ahLst/>
            <a:cxnLst/>
            <a:rect l="l" t="t" r="r" b="b"/>
            <a:pathLst>
              <a:path w="1056639" h="167639">
                <a:moveTo>
                  <a:pt x="1056132" y="0"/>
                </a:moveTo>
                <a:lnTo>
                  <a:pt x="0" y="167639"/>
                </a:lnTo>
              </a:path>
            </a:pathLst>
          </a:custGeom>
          <a:ln w="19050">
            <a:solidFill>
              <a:srgbClr val="244E11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568570" y="1945529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6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580762" y="2335673"/>
            <a:ext cx="1016635" cy="184785"/>
          </a:xfrm>
          <a:custGeom>
            <a:avLst/>
            <a:gdLst/>
            <a:ahLst/>
            <a:cxnLst/>
            <a:rect l="l" t="t" r="r" b="b"/>
            <a:pathLst>
              <a:path w="1016635" h="184785">
                <a:moveTo>
                  <a:pt x="1016508" y="0"/>
                </a:moveTo>
                <a:lnTo>
                  <a:pt x="0" y="184403"/>
                </a:lnTo>
              </a:path>
            </a:pathLst>
          </a:custGeom>
          <a:ln w="19049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701924" y="883555"/>
            <a:ext cx="4013200" cy="46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42731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2772" y="1960752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13272" y="1960752"/>
            <a:ext cx="192405" cy="193675"/>
          </a:xfrm>
          <a:custGeom>
            <a:avLst/>
            <a:gdLst/>
            <a:ahLst/>
            <a:cxnLst/>
            <a:rect l="l" t="t" r="r" b="b"/>
            <a:pathLst>
              <a:path w="192404" h="193675">
                <a:moveTo>
                  <a:pt x="0" y="193547"/>
                </a:moveTo>
                <a:lnTo>
                  <a:pt x="192024" y="193547"/>
                </a:lnTo>
                <a:lnTo>
                  <a:pt x="192024" y="0"/>
                </a:lnTo>
                <a:lnTo>
                  <a:pt x="0" y="0"/>
                </a:lnTo>
                <a:lnTo>
                  <a:pt x="0" y="193547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05296" y="1960752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22772" y="2157348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05296" y="2157348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4" h="195580">
                <a:moveTo>
                  <a:pt x="0" y="0"/>
                </a:moveTo>
                <a:lnTo>
                  <a:pt x="192024" y="0"/>
                </a:lnTo>
                <a:lnTo>
                  <a:pt x="192024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22772" y="2352420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13272" y="2352420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05296" y="2352420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20588" y="389966"/>
            <a:ext cx="7258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191" y="2720720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7463" y="1959228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4" h="195580">
                <a:moveTo>
                  <a:pt x="0" y="0"/>
                </a:moveTo>
                <a:lnTo>
                  <a:pt x="192024" y="0"/>
                </a:lnTo>
                <a:lnTo>
                  <a:pt x="192024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9487" y="1959228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5" h="195580">
                <a:moveTo>
                  <a:pt x="0" y="0"/>
                </a:moveTo>
                <a:lnTo>
                  <a:pt x="192024" y="0"/>
                </a:lnTo>
                <a:lnTo>
                  <a:pt x="192024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1511" y="1959228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7463" y="2154300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9487" y="2154300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61511" y="2154300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7463" y="2350896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9487" y="2350896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4" y="0"/>
                </a:lnTo>
                <a:lnTo>
                  <a:pt x="192024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61511" y="2350896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7725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8225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0249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2273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52773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44797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4677" y="1763394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4677" y="1959990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4677" y="2155062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4677" y="2351658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4677" y="2548254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4677" y="2744850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92903" y="2154300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3" y="0"/>
                </a:lnTo>
                <a:lnTo>
                  <a:pt x="192023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002403" y="1959228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92903" y="1959228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5" h="195580">
                <a:moveTo>
                  <a:pt x="0" y="0"/>
                </a:moveTo>
                <a:lnTo>
                  <a:pt x="192023" y="0"/>
                </a:lnTo>
                <a:lnTo>
                  <a:pt x="192023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84927" y="1959228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02403" y="2154300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84927" y="2154300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02403" y="2350896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92903" y="2350896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3" y="0"/>
                </a:lnTo>
                <a:lnTo>
                  <a:pt x="192023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84927" y="2350896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5"/>
                </a:lnTo>
                <a:lnTo>
                  <a:pt x="0" y="196595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11141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003165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193665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385689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576189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768213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808093" y="1763394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08093" y="1959990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808093" y="2155062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808093" y="2351658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808093" y="2548254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08093" y="2744850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11747" y="2154300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29985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20485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12510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804534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995034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187057" y="1760346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7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226937" y="1763394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226937" y="1959990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226937" y="2155062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226937" y="2351658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26937" y="2548254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26937" y="2744850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164965" y="1967610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5"/>
                </a:moveTo>
                <a:lnTo>
                  <a:pt x="0" y="0"/>
                </a:lnTo>
              </a:path>
            </a:pathLst>
          </a:custGeom>
          <a:ln w="19050">
            <a:solidFill>
              <a:srgbClr val="244E11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137533" y="2354706"/>
            <a:ext cx="1056640" cy="167640"/>
          </a:xfrm>
          <a:custGeom>
            <a:avLst/>
            <a:gdLst/>
            <a:ahLst/>
            <a:cxnLst/>
            <a:rect l="l" t="t" r="r" b="b"/>
            <a:pathLst>
              <a:path w="1056639" h="167639">
                <a:moveTo>
                  <a:pt x="1056132" y="0"/>
                </a:moveTo>
                <a:lnTo>
                  <a:pt x="0" y="167640"/>
                </a:lnTo>
              </a:path>
            </a:pathLst>
          </a:custGeom>
          <a:ln w="19050">
            <a:solidFill>
              <a:srgbClr val="244E11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568569" y="1967610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5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580761" y="2357754"/>
            <a:ext cx="1016635" cy="184785"/>
          </a:xfrm>
          <a:custGeom>
            <a:avLst/>
            <a:gdLst/>
            <a:ahLst/>
            <a:cxnLst/>
            <a:rect l="l" t="t" r="r" b="b"/>
            <a:pathLst>
              <a:path w="1016635" h="184785">
                <a:moveTo>
                  <a:pt x="1016508" y="0"/>
                </a:moveTo>
                <a:lnTo>
                  <a:pt x="0" y="184404"/>
                </a:lnTo>
              </a:path>
            </a:pathLst>
          </a:custGeom>
          <a:ln w="19049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058023" y="2163444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676261" y="1769490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866761" y="1769490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058785" y="1769490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249285" y="1769490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441310" y="1769490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633334" y="1769490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673213" y="1771014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673213" y="1967610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673213" y="2164206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673213" y="2359278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673213" y="2555875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673213" y="2752470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798435" y="2758566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第三次卷积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991985" y="1967610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5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004178" y="2357754"/>
            <a:ext cx="1016635" cy="184785"/>
          </a:xfrm>
          <a:custGeom>
            <a:avLst/>
            <a:gdLst/>
            <a:ahLst/>
            <a:cxnLst/>
            <a:rect l="l" t="t" r="r" b="b"/>
            <a:pathLst>
              <a:path w="1016635" h="184785">
                <a:moveTo>
                  <a:pt x="1016508" y="0"/>
                </a:moveTo>
                <a:lnTo>
                  <a:pt x="0" y="184404"/>
                </a:lnTo>
              </a:path>
            </a:pathLst>
          </a:custGeom>
          <a:ln w="19049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701923" y="906271"/>
            <a:ext cx="4013200" cy="46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642731" y="328216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016246" y="2750565"/>
            <a:ext cx="23221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8105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第一次卷积	第二次卷积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222250">
              <a:lnSpc>
                <a:spcPct val="100000"/>
              </a:lnSpc>
            </a:pPr>
            <a:r>
              <a:rPr sz="1100" b="1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3x3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卷积核串联，感受野为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7x7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2772" y="1938671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13272" y="1938671"/>
            <a:ext cx="192405" cy="193675"/>
          </a:xfrm>
          <a:custGeom>
            <a:avLst/>
            <a:gdLst/>
            <a:ahLst/>
            <a:cxnLst/>
            <a:rect l="l" t="t" r="r" b="b"/>
            <a:pathLst>
              <a:path w="192404" h="193675">
                <a:moveTo>
                  <a:pt x="0" y="193548"/>
                </a:moveTo>
                <a:lnTo>
                  <a:pt x="192024" y="193548"/>
                </a:lnTo>
                <a:lnTo>
                  <a:pt x="192024" y="0"/>
                </a:lnTo>
                <a:lnTo>
                  <a:pt x="0" y="0"/>
                </a:lnTo>
                <a:lnTo>
                  <a:pt x="0" y="193548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05296" y="1938671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22772" y="213526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05296" y="213526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4" h="195580">
                <a:moveTo>
                  <a:pt x="0" y="0"/>
                </a:moveTo>
                <a:lnTo>
                  <a:pt x="192024" y="0"/>
                </a:lnTo>
                <a:lnTo>
                  <a:pt x="192024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22772" y="233033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13272" y="233033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05296" y="233033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20589" y="367554"/>
            <a:ext cx="72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191" y="2698004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7464" y="193714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4" h="195580">
                <a:moveTo>
                  <a:pt x="0" y="0"/>
                </a:moveTo>
                <a:lnTo>
                  <a:pt x="192024" y="0"/>
                </a:lnTo>
                <a:lnTo>
                  <a:pt x="192024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9488" y="193714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5" h="195580">
                <a:moveTo>
                  <a:pt x="0" y="0"/>
                </a:moveTo>
                <a:lnTo>
                  <a:pt x="192024" y="0"/>
                </a:lnTo>
                <a:lnTo>
                  <a:pt x="192024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1512" y="193714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7464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9488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61512" y="213221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7464" y="2328815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9488" y="2328815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61512" y="2328815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772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822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025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227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5277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44798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4678" y="174131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4678" y="193790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4678" y="2132981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4678" y="2329577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4678" y="252617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4678" y="272276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92904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3" y="0"/>
                </a:lnTo>
                <a:lnTo>
                  <a:pt x="192023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002404" y="193714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92904" y="1937147"/>
            <a:ext cx="192405" cy="195580"/>
          </a:xfrm>
          <a:custGeom>
            <a:avLst/>
            <a:gdLst/>
            <a:ahLst/>
            <a:cxnLst/>
            <a:rect l="l" t="t" r="r" b="b"/>
            <a:pathLst>
              <a:path w="192405" h="195580">
                <a:moveTo>
                  <a:pt x="0" y="0"/>
                </a:moveTo>
                <a:lnTo>
                  <a:pt x="192023" y="0"/>
                </a:lnTo>
                <a:lnTo>
                  <a:pt x="192023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84928" y="1937147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1"/>
                </a:lnTo>
                <a:lnTo>
                  <a:pt x="0" y="19507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02404" y="213221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84928" y="2132219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02404" y="2328815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92904" y="2328815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5" h="196850">
                <a:moveTo>
                  <a:pt x="0" y="0"/>
                </a:moveTo>
                <a:lnTo>
                  <a:pt x="192023" y="0"/>
                </a:lnTo>
                <a:lnTo>
                  <a:pt x="192023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84928" y="2328815"/>
            <a:ext cx="190500" cy="196850"/>
          </a:xfrm>
          <a:custGeom>
            <a:avLst/>
            <a:gdLst/>
            <a:ahLst/>
            <a:cxnLst/>
            <a:rect l="l" t="t" r="r" b="b"/>
            <a:pathLst>
              <a:path w="190500" h="196850">
                <a:moveTo>
                  <a:pt x="0" y="0"/>
                </a:moveTo>
                <a:lnTo>
                  <a:pt x="190500" y="0"/>
                </a:lnTo>
                <a:lnTo>
                  <a:pt x="19050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11142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00316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19366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38569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57619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76821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808094" y="1741313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08094" y="1937909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808094" y="2132981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808094" y="2329577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808094" y="2526173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808094" y="2722769"/>
            <a:ext cx="963294" cy="0"/>
          </a:xfrm>
          <a:custGeom>
            <a:avLst/>
            <a:gdLst/>
            <a:ahLst/>
            <a:cxnLst/>
            <a:rect l="l" t="t" r="r" b="b"/>
            <a:pathLst>
              <a:path w="963294">
                <a:moveTo>
                  <a:pt x="0" y="0"/>
                </a:moveTo>
                <a:lnTo>
                  <a:pt x="963168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11748" y="2132219"/>
            <a:ext cx="192405" cy="196850"/>
          </a:xfrm>
          <a:custGeom>
            <a:avLst/>
            <a:gdLst/>
            <a:ahLst/>
            <a:cxnLst/>
            <a:rect l="l" t="t" r="r" b="b"/>
            <a:pathLst>
              <a:path w="192404" h="196850">
                <a:moveTo>
                  <a:pt x="0" y="0"/>
                </a:moveTo>
                <a:lnTo>
                  <a:pt x="192024" y="0"/>
                </a:lnTo>
                <a:lnTo>
                  <a:pt x="192024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29985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20486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12510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80453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995034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187057" y="1738265"/>
            <a:ext cx="0" cy="986155"/>
          </a:xfrm>
          <a:custGeom>
            <a:avLst/>
            <a:gdLst/>
            <a:ahLst/>
            <a:cxnLst/>
            <a:rect l="l" t="t" r="r" b="b"/>
            <a:pathLst>
              <a:path h="986155">
                <a:moveTo>
                  <a:pt x="0" y="0"/>
                </a:moveTo>
                <a:lnTo>
                  <a:pt x="0" y="986028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226938" y="174131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226938" y="193790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226938" y="2132981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226938" y="2329577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26938" y="252617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26938" y="272276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164966" y="1945529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6"/>
                </a:moveTo>
                <a:lnTo>
                  <a:pt x="0" y="0"/>
                </a:lnTo>
              </a:path>
            </a:pathLst>
          </a:custGeom>
          <a:ln w="19049">
            <a:solidFill>
              <a:srgbClr val="244E11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137534" y="2332625"/>
            <a:ext cx="1056640" cy="167640"/>
          </a:xfrm>
          <a:custGeom>
            <a:avLst/>
            <a:gdLst/>
            <a:ahLst/>
            <a:cxnLst/>
            <a:rect l="l" t="t" r="r" b="b"/>
            <a:pathLst>
              <a:path w="1056639" h="167639">
                <a:moveTo>
                  <a:pt x="1056132" y="0"/>
                </a:moveTo>
                <a:lnTo>
                  <a:pt x="0" y="167639"/>
                </a:lnTo>
              </a:path>
            </a:pathLst>
          </a:custGeom>
          <a:ln w="19050">
            <a:solidFill>
              <a:srgbClr val="244E11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568570" y="1945529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6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580762" y="2335673"/>
            <a:ext cx="1016635" cy="184785"/>
          </a:xfrm>
          <a:custGeom>
            <a:avLst/>
            <a:gdLst/>
            <a:ahLst/>
            <a:cxnLst/>
            <a:rect l="l" t="t" r="r" b="b"/>
            <a:pathLst>
              <a:path w="1016635" h="184785">
                <a:moveTo>
                  <a:pt x="1016508" y="0"/>
                </a:moveTo>
                <a:lnTo>
                  <a:pt x="0" y="184403"/>
                </a:lnTo>
              </a:path>
            </a:pathLst>
          </a:custGeom>
          <a:ln w="19049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058024" y="2141363"/>
            <a:ext cx="190500" cy="195580"/>
          </a:xfrm>
          <a:custGeom>
            <a:avLst/>
            <a:gdLst/>
            <a:ahLst/>
            <a:cxnLst/>
            <a:rect l="l" t="t" r="r" b="b"/>
            <a:pathLst>
              <a:path w="190500" h="195580">
                <a:moveTo>
                  <a:pt x="0" y="0"/>
                </a:moveTo>
                <a:lnTo>
                  <a:pt x="190500" y="0"/>
                </a:lnTo>
                <a:lnTo>
                  <a:pt x="190500" y="195072"/>
                </a:lnTo>
                <a:lnTo>
                  <a:pt x="0" y="19507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676262" y="1747409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866762" y="1747409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058786" y="1747409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249286" y="1747409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441310" y="1747409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633334" y="1747409"/>
            <a:ext cx="0" cy="984885"/>
          </a:xfrm>
          <a:custGeom>
            <a:avLst/>
            <a:gdLst/>
            <a:ahLst/>
            <a:cxnLst/>
            <a:rect l="l" t="t" r="r" b="b"/>
            <a:pathLst>
              <a:path h="984885">
                <a:moveTo>
                  <a:pt x="0" y="0"/>
                </a:moveTo>
                <a:lnTo>
                  <a:pt x="0" y="984503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673213" y="174893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673213" y="194552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673213" y="2142125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673213" y="2337197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673213" y="2533793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673213" y="2730389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64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798436" y="2735850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第三次卷积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991986" y="1945529"/>
            <a:ext cx="1028700" cy="196850"/>
          </a:xfrm>
          <a:custGeom>
            <a:avLst/>
            <a:gdLst/>
            <a:ahLst/>
            <a:cxnLst/>
            <a:rect l="l" t="t" r="r" b="b"/>
            <a:pathLst>
              <a:path w="1028700" h="196850">
                <a:moveTo>
                  <a:pt x="1028700" y="196596"/>
                </a:moveTo>
                <a:lnTo>
                  <a:pt x="0" y="0"/>
                </a:lnTo>
              </a:path>
            </a:pathLst>
          </a:custGeom>
          <a:ln w="19049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004178" y="2335673"/>
            <a:ext cx="1016635" cy="184785"/>
          </a:xfrm>
          <a:custGeom>
            <a:avLst/>
            <a:gdLst/>
            <a:ahLst/>
            <a:cxnLst/>
            <a:rect l="l" t="t" r="r" b="b"/>
            <a:pathLst>
              <a:path w="1016635" h="184785">
                <a:moveTo>
                  <a:pt x="1016508" y="0"/>
                </a:moveTo>
                <a:lnTo>
                  <a:pt x="0" y="184403"/>
                </a:lnTo>
              </a:path>
            </a:pathLst>
          </a:custGeom>
          <a:ln w="19049">
            <a:solidFill>
              <a:srgbClr val="66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701924" y="883555"/>
            <a:ext cx="4265930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联构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强、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250557" y="458359"/>
            <a:ext cx="530225" cy="106045"/>
          </a:xfrm>
          <a:custGeom>
            <a:avLst/>
            <a:gdLst/>
            <a:ahLst/>
            <a:cxnLst/>
            <a:rect l="l" t="t" r="r" b="b"/>
            <a:pathLst>
              <a:path w="530225" h="106045">
                <a:moveTo>
                  <a:pt x="496442" y="0"/>
                </a:moveTo>
                <a:lnTo>
                  <a:pt x="494918" y="4318"/>
                </a:lnTo>
                <a:lnTo>
                  <a:pt x="501062" y="7008"/>
                </a:lnTo>
                <a:lnTo>
                  <a:pt x="506349" y="10699"/>
                </a:lnTo>
                <a:lnTo>
                  <a:pt x="520572" y="52450"/>
                </a:lnTo>
                <a:lnTo>
                  <a:pt x="520190" y="61813"/>
                </a:lnTo>
                <a:lnTo>
                  <a:pt x="501169" y="98960"/>
                </a:lnTo>
                <a:lnTo>
                  <a:pt x="495172" y="101600"/>
                </a:lnTo>
                <a:lnTo>
                  <a:pt x="496442" y="105918"/>
                </a:lnTo>
                <a:lnTo>
                  <a:pt x="525349" y="79944"/>
                </a:lnTo>
                <a:lnTo>
                  <a:pt x="530225" y="52958"/>
                </a:lnTo>
                <a:lnTo>
                  <a:pt x="529677" y="43297"/>
                </a:lnTo>
                <a:lnTo>
                  <a:pt x="510857" y="6858"/>
                </a:lnTo>
                <a:lnTo>
                  <a:pt x="504138" y="2809"/>
                </a:lnTo>
                <a:lnTo>
                  <a:pt x="496442" y="0"/>
                </a:lnTo>
                <a:close/>
              </a:path>
              <a:path w="530225" h="106045">
                <a:moveTo>
                  <a:pt x="33781" y="0"/>
                </a:moveTo>
                <a:lnTo>
                  <a:pt x="4929" y="26116"/>
                </a:lnTo>
                <a:lnTo>
                  <a:pt x="0" y="52958"/>
                </a:lnTo>
                <a:lnTo>
                  <a:pt x="545" y="62747"/>
                </a:lnTo>
                <a:lnTo>
                  <a:pt x="19303" y="99171"/>
                </a:lnTo>
                <a:lnTo>
                  <a:pt x="33781" y="105918"/>
                </a:lnTo>
                <a:lnTo>
                  <a:pt x="35051" y="101600"/>
                </a:lnTo>
                <a:lnTo>
                  <a:pt x="29055" y="98960"/>
                </a:lnTo>
                <a:lnTo>
                  <a:pt x="23844" y="95250"/>
                </a:lnTo>
                <a:lnTo>
                  <a:pt x="9651" y="52450"/>
                </a:lnTo>
                <a:lnTo>
                  <a:pt x="10052" y="43297"/>
                </a:lnTo>
                <a:lnTo>
                  <a:pt x="29162" y="7008"/>
                </a:lnTo>
                <a:lnTo>
                  <a:pt x="35305" y="4318"/>
                </a:lnTo>
                <a:lnTo>
                  <a:pt x="33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4275957" y="418481"/>
            <a:ext cx="1323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3 × 3 × C × C × 3 =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20" dirty="0">
                <a:latin typeface="Cambria Math" panose="02040503050406030204"/>
                <a:cs typeface="Cambria Math" panose="02040503050406030204"/>
              </a:rPr>
              <a:t>27𝐶</a:t>
            </a:r>
            <a:r>
              <a:rPr sz="975" spc="30" baseline="26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261480" y="807101"/>
            <a:ext cx="530225" cy="106045"/>
          </a:xfrm>
          <a:custGeom>
            <a:avLst/>
            <a:gdLst/>
            <a:ahLst/>
            <a:cxnLst/>
            <a:rect l="l" t="t" r="r" b="b"/>
            <a:pathLst>
              <a:path w="530225" h="106044">
                <a:moveTo>
                  <a:pt x="496443" y="0"/>
                </a:moveTo>
                <a:lnTo>
                  <a:pt x="494919" y="4317"/>
                </a:lnTo>
                <a:lnTo>
                  <a:pt x="501062" y="6937"/>
                </a:lnTo>
                <a:lnTo>
                  <a:pt x="506349" y="10604"/>
                </a:lnTo>
                <a:lnTo>
                  <a:pt x="520573" y="52324"/>
                </a:lnTo>
                <a:lnTo>
                  <a:pt x="520190" y="61686"/>
                </a:lnTo>
                <a:lnTo>
                  <a:pt x="501169" y="98833"/>
                </a:lnTo>
                <a:lnTo>
                  <a:pt x="495173" y="101473"/>
                </a:lnTo>
                <a:lnTo>
                  <a:pt x="496443" y="105790"/>
                </a:lnTo>
                <a:lnTo>
                  <a:pt x="525349" y="79873"/>
                </a:lnTo>
                <a:lnTo>
                  <a:pt x="530225" y="52958"/>
                </a:lnTo>
                <a:lnTo>
                  <a:pt x="529677" y="43241"/>
                </a:lnTo>
                <a:lnTo>
                  <a:pt x="510905" y="6746"/>
                </a:lnTo>
                <a:lnTo>
                  <a:pt x="504156" y="2736"/>
                </a:lnTo>
                <a:lnTo>
                  <a:pt x="496443" y="0"/>
                </a:lnTo>
                <a:close/>
              </a:path>
              <a:path w="530225" h="106044">
                <a:moveTo>
                  <a:pt x="33782" y="0"/>
                </a:moveTo>
                <a:lnTo>
                  <a:pt x="4929" y="26044"/>
                </a:lnTo>
                <a:lnTo>
                  <a:pt x="0" y="52958"/>
                </a:lnTo>
                <a:lnTo>
                  <a:pt x="545" y="62676"/>
                </a:lnTo>
                <a:lnTo>
                  <a:pt x="19304" y="99059"/>
                </a:lnTo>
                <a:lnTo>
                  <a:pt x="33782" y="105790"/>
                </a:lnTo>
                <a:lnTo>
                  <a:pt x="35052" y="101473"/>
                </a:lnTo>
                <a:lnTo>
                  <a:pt x="29055" y="98833"/>
                </a:lnTo>
                <a:lnTo>
                  <a:pt x="23844" y="95123"/>
                </a:lnTo>
                <a:lnTo>
                  <a:pt x="9652" y="52324"/>
                </a:lnTo>
                <a:lnTo>
                  <a:pt x="10043" y="43241"/>
                </a:lnTo>
                <a:lnTo>
                  <a:pt x="29162" y="6937"/>
                </a:lnTo>
                <a:lnTo>
                  <a:pt x="35306" y="4317"/>
                </a:lnTo>
                <a:lnTo>
                  <a:pt x="33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4287006" y="767096"/>
            <a:ext cx="11258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7 × 7 × C × C =</a:t>
            </a:r>
            <a:r>
              <a:rPr sz="900" spc="-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20" dirty="0">
                <a:latin typeface="Cambria Math" panose="02040503050406030204"/>
                <a:cs typeface="Cambria Math" panose="02040503050406030204"/>
              </a:rPr>
              <a:t>49𝐶</a:t>
            </a:r>
            <a:r>
              <a:rPr sz="975" spc="30" baseline="26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016247" y="2727849"/>
            <a:ext cx="23221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8105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第一次卷积	第二次卷积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222250">
              <a:lnSpc>
                <a:spcPct val="100000"/>
              </a:lnSpc>
            </a:pPr>
            <a:r>
              <a:rPr sz="1100" b="1" spc="-5" dirty="0">
                <a:latin typeface="Arial" panose="020B0604020202020204"/>
                <a:cs typeface="Arial" panose="020B0604020202020204"/>
              </a:rPr>
              <a:t>3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3x3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卷积核串联，感受野为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7x7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911" y="1936750"/>
            <a:ext cx="22561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假设卷积层输入和输出的特征图个数均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三个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×</a:t>
            </a:r>
            <a:r>
              <a:rPr sz="9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的卷积串联参数个数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1911" y="2759709"/>
            <a:ext cx="16840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的卷积层卷积参数个数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0588" y="389966"/>
            <a:ext cx="7258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923" y="906271"/>
            <a:ext cx="4265930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联构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强、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少。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61199" y="2591688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70928" y="2591688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0655" y="2591688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8" y="0"/>
                </a:lnTo>
                <a:lnTo>
                  <a:pt x="109728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61199" y="2702940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0655" y="2702940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61199" y="2815716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70928" y="2815716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80655" y="2815716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35091" y="2590164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5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4819" y="2590164"/>
            <a:ext cx="108585" cy="113030"/>
          </a:xfrm>
          <a:custGeom>
            <a:avLst/>
            <a:gdLst/>
            <a:ahLst/>
            <a:cxnLst/>
            <a:rect l="l" t="t" r="r" b="b"/>
            <a:pathLst>
              <a:path w="108585" h="113030">
                <a:moveTo>
                  <a:pt x="0" y="0"/>
                </a:moveTo>
                <a:lnTo>
                  <a:pt x="108203" y="0"/>
                </a:lnTo>
                <a:lnTo>
                  <a:pt x="108203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53024" y="2590164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35091" y="2702940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5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44819" y="2702940"/>
            <a:ext cx="108585" cy="111760"/>
          </a:xfrm>
          <a:custGeom>
            <a:avLst/>
            <a:gdLst/>
            <a:ahLst/>
            <a:cxnLst/>
            <a:rect l="l" t="t" r="r" b="b"/>
            <a:pathLst>
              <a:path w="108585" h="111760">
                <a:moveTo>
                  <a:pt x="0" y="0"/>
                </a:moveTo>
                <a:lnTo>
                  <a:pt x="108203" y="0"/>
                </a:lnTo>
                <a:lnTo>
                  <a:pt x="108203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53024" y="2702940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5091" y="2814192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5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44819" y="2814192"/>
            <a:ext cx="108585" cy="113030"/>
          </a:xfrm>
          <a:custGeom>
            <a:avLst/>
            <a:gdLst/>
            <a:ahLst/>
            <a:cxnLst/>
            <a:rect l="l" t="t" r="r" b="b"/>
            <a:pathLst>
              <a:path w="108585" h="113030">
                <a:moveTo>
                  <a:pt x="0" y="0"/>
                </a:moveTo>
                <a:lnTo>
                  <a:pt x="108203" y="0"/>
                </a:lnTo>
                <a:lnTo>
                  <a:pt x="108203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53024" y="2814192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26125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35853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45581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53785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63513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73241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24602" y="247815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24602" y="25909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24602" y="27037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24602" y="2814954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24602" y="292773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24602" y="304050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48907" y="2590164"/>
            <a:ext cx="327659" cy="336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39941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49669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59397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69125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77329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87057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38417" y="247815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38417" y="25909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38417" y="27037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38417" y="2814954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38417" y="292773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38417" y="304050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484114" y="3047745"/>
            <a:ext cx="1671955" cy="263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95"/>
              </a:spcBef>
              <a:tabLst>
                <a:tab pos="1215390" algn="l"/>
              </a:tabLst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	</a:t>
            </a:r>
            <a:r>
              <a:rPr sz="1050" spc="-7" baseline="8000" dirty="0">
                <a:latin typeface="黑体" panose="02010609060101010101" charset="-122"/>
                <a:cs typeface="黑体" panose="02010609060101010101" charset="-122"/>
              </a:rPr>
              <a:t>第一次</a:t>
            </a:r>
            <a:r>
              <a:rPr sz="1050" spc="7" baseline="8000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50" spc="-7" baseline="8000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1050" baseline="8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669403" y="2702940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450710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560437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670166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779893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889622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999349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450710" y="247815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450710" y="25909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50710" y="27037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450710" y="2814954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450710" y="292773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450710" y="304050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4516496" y="3037712"/>
            <a:ext cx="469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第二次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269610" y="2595498"/>
            <a:ext cx="589915" cy="113030"/>
          </a:xfrm>
          <a:custGeom>
            <a:avLst/>
            <a:gdLst/>
            <a:ahLst/>
            <a:cxnLst/>
            <a:rect l="l" t="t" r="r" b="b"/>
            <a:pathLst>
              <a:path w="589914" h="113030">
                <a:moveTo>
                  <a:pt x="589788" y="112775"/>
                </a:moveTo>
                <a:lnTo>
                  <a:pt x="0" y="0"/>
                </a:lnTo>
              </a:path>
            </a:pathLst>
          </a:custGeom>
          <a:ln w="19050">
            <a:solidFill>
              <a:srgbClr val="244E1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55893" y="2818002"/>
            <a:ext cx="603885" cy="94615"/>
          </a:xfrm>
          <a:custGeom>
            <a:avLst/>
            <a:gdLst/>
            <a:ahLst/>
            <a:cxnLst/>
            <a:rect l="l" t="t" r="r" b="b"/>
            <a:pathLst>
              <a:path w="603885" h="94614">
                <a:moveTo>
                  <a:pt x="603503" y="0"/>
                </a:moveTo>
                <a:lnTo>
                  <a:pt x="0" y="94487"/>
                </a:lnTo>
              </a:path>
            </a:pathLst>
          </a:custGeom>
          <a:ln w="19050">
            <a:solidFill>
              <a:srgbClr val="244E1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072757" y="2595498"/>
            <a:ext cx="589915" cy="113030"/>
          </a:xfrm>
          <a:custGeom>
            <a:avLst/>
            <a:gdLst/>
            <a:ahLst/>
            <a:cxnLst/>
            <a:rect l="l" t="t" r="r" b="b"/>
            <a:pathLst>
              <a:path w="589914" h="113030">
                <a:moveTo>
                  <a:pt x="589788" y="112775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080378" y="2818002"/>
            <a:ext cx="582295" cy="106680"/>
          </a:xfrm>
          <a:custGeom>
            <a:avLst/>
            <a:gdLst/>
            <a:ahLst/>
            <a:cxnLst/>
            <a:rect l="l" t="t" r="r" b="b"/>
            <a:pathLst>
              <a:path w="582295" h="106680">
                <a:moveTo>
                  <a:pt x="582168" y="0"/>
                </a:moveTo>
                <a:lnTo>
                  <a:pt x="0" y="10668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496935" y="2707512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78241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387969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497697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607425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715629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825357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276717" y="248272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276717" y="2595498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276717" y="270827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276717" y="28195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276717" y="29323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276717" y="3045078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5343773" y="3042284"/>
            <a:ext cx="469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第三次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888097" y="2595498"/>
            <a:ext cx="588645" cy="113030"/>
          </a:xfrm>
          <a:custGeom>
            <a:avLst/>
            <a:gdLst/>
            <a:ahLst/>
            <a:cxnLst/>
            <a:rect l="l" t="t" r="r" b="b"/>
            <a:pathLst>
              <a:path w="588645" h="113030">
                <a:moveTo>
                  <a:pt x="588263" y="112775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894193" y="2818002"/>
            <a:ext cx="582295" cy="106680"/>
          </a:xfrm>
          <a:custGeom>
            <a:avLst/>
            <a:gdLst/>
            <a:ahLst/>
            <a:cxnLst/>
            <a:rect l="l" t="t" r="r" b="b"/>
            <a:pathLst>
              <a:path w="582295" h="106680">
                <a:moveTo>
                  <a:pt x="582167" y="0"/>
                </a:moveTo>
                <a:lnTo>
                  <a:pt x="0" y="10668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589" y="367554"/>
            <a:ext cx="72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4" y="883555"/>
            <a:ext cx="4265930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联构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强、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少。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8720" y="2467880"/>
            <a:ext cx="530860" cy="106045"/>
          </a:xfrm>
          <a:custGeom>
            <a:avLst/>
            <a:gdLst/>
            <a:ahLst/>
            <a:cxnLst/>
            <a:rect l="l" t="t" r="r" b="b"/>
            <a:pathLst>
              <a:path w="530860" h="106044">
                <a:moveTo>
                  <a:pt x="496569" y="0"/>
                </a:moveTo>
                <a:lnTo>
                  <a:pt x="495046" y="4318"/>
                </a:lnTo>
                <a:lnTo>
                  <a:pt x="501187" y="6937"/>
                </a:lnTo>
                <a:lnTo>
                  <a:pt x="506460" y="10604"/>
                </a:lnTo>
                <a:lnTo>
                  <a:pt x="520700" y="52324"/>
                </a:lnTo>
                <a:lnTo>
                  <a:pt x="520297" y="61686"/>
                </a:lnTo>
                <a:lnTo>
                  <a:pt x="501223" y="98833"/>
                </a:lnTo>
                <a:lnTo>
                  <a:pt x="495173" y="101473"/>
                </a:lnTo>
                <a:lnTo>
                  <a:pt x="496569" y="105790"/>
                </a:lnTo>
                <a:lnTo>
                  <a:pt x="525422" y="79873"/>
                </a:lnTo>
                <a:lnTo>
                  <a:pt x="530352" y="52958"/>
                </a:lnTo>
                <a:lnTo>
                  <a:pt x="529804" y="43241"/>
                </a:lnTo>
                <a:lnTo>
                  <a:pt x="510936" y="6746"/>
                </a:lnTo>
                <a:lnTo>
                  <a:pt x="504211" y="2736"/>
                </a:lnTo>
                <a:lnTo>
                  <a:pt x="496569" y="0"/>
                </a:lnTo>
                <a:close/>
              </a:path>
              <a:path w="530860" h="106044">
                <a:moveTo>
                  <a:pt x="33781" y="0"/>
                </a:moveTo>
                <a:lnTo>
                  <a:pt x="4929" y="26044"/>
                </a:lnTo>
                <a:lnTo>
                  <a:pt x="0" y="52958"/>
                </a:lnTo>
                <a:lnTo>
                  <a:pt x="547" y="62676"/>
                </a:lnTo>
                <a:lnTo>
                  <a:pt x="19367" y="99059"/>
                </a:lnTo>
                <a:lnTo>
                  <a:pt x="33781" y="105790"/>
                </a:lnTo>
                <a:lnTo>
                  <a:pt x="35179" y="101473"/>
                </a:lnTo>
                <a:lnTo>
                  <a:pt x="29128" y="98833"/>
                </a:lnTo>
                <a:lnTo>
                  <a:pt x="23923" y="95123"/>
                </a:lnTo>
                <a:lnTo>
                  <a:pt x="9652" y="52324"/>
                </a:lnTo>
                <a:lnTo>
                  <a:pt x="10063" y="43241"/>
                </a:lnTo>
                <a:lnTo>
                  <a:pt x="29182" y="6937"/>
                </a:lnTo>
                <a:lnTo>
                  <a:pt x="35306" y="4318"/>
                </a:lnTo>
                <a:lnTo>
                  <a:pt x="3378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1911" y="1913779"/>
            <a:ext cx="2256155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假设卷积层输入和输出的特征图个数均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三个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×</a:t>
            </a:r>
            <a:r>
              <a:rPr sz="9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的卷积串联参数个数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71120" algn="ctr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3 × 3 × C × C × 3 =</a:t>
            </a:r>
            <a:r>
              <a:rPr sz="900" spc="4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27𝐶</a:t>
            </a:r>
            <a:r>
              <a:rPr sz="975" spc="30" baseline="2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6086" y="2995692"/>
            <a:ext cx="530225" cy="106045"/>
          </a:xfrm>
          <a:custGeom>
            <a:avLst/>
            <a:gdLst/>
            <a:ahLst/>
            <a:cxnLst/>
            <a:rect l="l" t="t" r="r" b="b"/>
            <a:pathLst>
              <a:path w="530225" h="106044">
                <a:moveTo>
                  <a:pt x="496443" y="0"/>
                </a:moveTo>
                <a:lnTo>
                  <a:pt x="494919" y="4317"/>
                </a:lnTo>
                <a:lnTo>
                  <a:pt x="501062" y="7008"/>
                </a:lnTo>
                <a:lnTo>
                  <a:pt x="506349" y="10699"/>
                </a:lnTo>
                <a:lnTo>
                  <a:pt x="520572" y="52450"/>
                </a:lnTo>
                <a:lnTo>
                  <a:pt x="520190" y="61757"/>
                </a:lnTo>
                <a:lnTo>
                  <a:pt x="501169" y="98958"/>
                </a:lnTo>
                <a:lnTo>
                  <a:pt x="495172" y="101600"/>
                </a:lnTo>
                <a:lnTo>
                  <a:pt x="496443" y="105917"/>
                </a:lnTo>
                <a:lnTo>
                  <a:pt x="525349" y="79926"/>
                </a:lnTo>
                <a:lnTo>
                  <a:pt x="530225" y="52958"/>
                </a:lnTo>
                <a:lnTo>
                  <a:pt x="529677" y="43295"/>
                </a:lnTo>
                <a:lnTo>
                  <a:pt x="510857" y="6842"/>
                </a:lnTo>
                <a:lnTo>
                  <a:pt x="504138" y="2807"/>
                </a:lnTo>
                <a:lnTo>
                  <a:pt x="496443" y="0"/>
                </a:lnTo>
                <a:close/>
              </a:path>
              <a:path w="530225" h="106044">
                <a:moveTo>
                  <a:pt x="33781" y="0"/>
                </a:moveTo>
                <a:lnTo>
                  <a:pt x="4875" y="26062"/>
                </a:lnTo>
                <a:lnTo>
                  <a:pt x="0" y="52958"/>
                </a:lnTo>
                <a:lnTo>
                  <a:pt x="545" y="62694"/>
                </a:lnTo>
                <a:lnTo>
                  <a:pt x="19303" y="99123"/>
                </a:lnTo>
                <a:lnTo>
                  <a:pt x="33781" y="105917"/>
                </a:lnTo>
                <a:lnTo>
                  <a:pt x="35051" y="101600"/>
                </a:lnTo>
                <a:lnTo>
                  <a:pt x="29001" y="98958"/>
                </a:lnTo>
                <a:lnTo>
                  <a:pt x="23796" y="95234"/>
                </a:lnTo>
                <a:lnTo>
                  <a:pt x="9651" y="52450"/>
                </a:lnTo>
                <a:lnTo>
                  <a:pt x="10053" y="43295"/>
                </a:lnTo>
                <a:lnTo>
                  <a:pt x="29108" y="7008"/>
                </a:lnTo>
                <a:lnTo>
                  <a:pt x="35178" y="4317"/>
                </a:lnTo>
                <a:lnTo>
                  <a:pt x="33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1911" y="2736993"/>
            <a:ext cx="1684020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的卷积层卷积参数个数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521335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7 × 7 × C × C =</a:t>
            </a:r>
            <a:r>
              <a:rPr sz="9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20" dirty="0">
                <a:latin typeface="Cambria Math" panose="02040503050406030204"/>
                <a:cs typeface="Cambria Math" panose="02040503050406030204"/>
              </a:rPr>
              <a:t>49𝐶</a:t>
            </a:r>
            <a:r>
              <a:rPr sz="975" spc="30" baseline="26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61199" y="2569607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70928" y="2569607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0656" y="2569607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61199" y="2680859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0656" y="2680859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61199" y="2793635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70928" y="2793635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80656" y="2793635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35092" y="2568083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5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4820" y="2568083"/>
            <a:ext cx="108585" cy="113030"/>
          </a:xfrm>
          <a:custGeom>
            <a:avLst/>
            <a:gdLst/>
            <a:ahLst/>
            <a:cxnLst/>
            <a:rect l="l" t="t" r="r" b="b"/>
            <a:pathLst>
              <a:path w="108585" h="113030">
                <a:moveTo>
                  <a:pt x="0" y="0"/>
                </a:moveTo>
                <a:lnTo>
                  <a:pt x="108203" y="0"/>
                </a:lnTo>
                <a:lnTo>
                  <a:pt x="108203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53024" y="2568083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35092" y="2680859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5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44820" y="2680859"/>
            <a:ext cx="108585" cy="111760"/>
          </a:xfrm>
          <a:custGeom>
            <a:avLst/>
            <a:gdLst/>
            <a:ahLst/>
            <a:cxnLst/>
            <a:rect l="l" t="t" r="r" b="b"/>
            <a:pathLst>
              <a:path w="108585" h="111760">
                <a:moveTo>
                  <a:pt x="0" y="0"/>
                </a:moveTo>
                <a:lnTo>
                  <a:pt x="108203" y="0"/>
                </a:lnTo>
                <a:lnTo>
                  <a:pt x="108203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53024" y="2680859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5092" y="2792111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5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44820" y="2792111"/>
            <a:ext cx="108585" cy="113030"/>
          </a:xfrm>
          <a:custGeom>
            <a:avLst/>
            <a:gdLst/>
            <a:ahLst/>
            <a:cxnLst/>
            <a:rect l="l" t="t" r="r" b="b"/>
            <a:pathLst>
              <a:path w="108585" h="113030">
                <a:moveTo>
                  <a:pt x="0" y="0"/>
                </a:moveTo>
                <a:lnTo>
                  <a:pt x="108203" y="0"/>
                </a:lnTo>
                <a:lnTo>
                  <a:pt x="108203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53024" y="2792111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26126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35854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45582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53785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63513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73242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24602" y="245606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24602" y="256884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24602" y="2681621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24602" y="2792873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24602" y="290564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24602" y="301842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48907" y="2568083"/>
            <a:ext cx="327659" cy="336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39942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49669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59398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69125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77330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87057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38418" y="245606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38418" y="256884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38418" y="2681621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38418" y="2792873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38418" y="290564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38418" y="301842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69404" y="2680859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450710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560437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670166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779893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889622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999349" y="245454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450710" y="245606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450710" y="256884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450710" y="2681621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50710" y="2792873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450710" y="290564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450710" y="301842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516496" y="3014996"/>
            <a:ext cx="469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第二次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269610" y="2573417"/>
            <a:ext cx="589915" cy="113030"/>
          </a:xfrm>
          <a:custGeom>
            <a:avLst/>
            <a:gdLst/>
            <a:ahLst/>
            <a:cxnLst/>
            <a:rect l="l" t="t" r="r" b="b"/>
            <a:pathLst>
              <a:path w="589914" h="113030">
                <a:moveTo>
                  <a:pt x="589788" y="112776"/>
                </a:moveTo>
                <a:lnTo>
                  <a:pt x="0" y="0"/>
                </a:lnTo>
              </a:path>
            </a:pathLst>
          </a:custGeom>
          <a:ln w="19049">
            <a:solidFill>
              <a:srgbClr val="244E1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55893" y="2795921"/>
            <a:ext cx="603885" cy="94615"/>
          </a:xfrm>
          <a:custGeom>
            <a:avLst/>
            <a:gdLst/>
            <a:ahLst/>
            <a:cxnLst/>
            <a:rect l="l" t="t" r="r" b="b"/>
            <a:pathLst>
              <a:path w="603885" h="94614">
                <a:moveTo>
                  <a:pt x="603503" y="0"/>
                </a:moveTo>
                <a:lnTo>
                  <a:pt x="0" y="94487"/>
                </a:lnTo>
              </a:path>
            </a:pathLst>
          </a:custGeom>
          <a:ln w="19050">
            <a:solidFill>
              <a:srgbClr val="244E1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072757" y="2573417"/>
            <a:ext cx="589915" cy="113030"/>
          </a:xfrm>
          <a:custGeom>
            <a:avLst/>
            <a:gdLst/>
            <a:ahLst/>
            <a:cxnLst/>
            <a:rect l="l" t="t" r="r" b="b"/>
            <a:pathLst>
              <a:path w="589914" h="113030">
                <a:moveTo>
                  <a:pt x="589788" y="112776"/>
                </a:moveTo>
                <a:lnTo>
                  <a:pt x="0" y="0"/>
                </a:lnTo>
              </a:path>
            </a:pathLst>
          </a:custGeom>
          <a:ln w="19049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080378" y="2795921"/>
            <a:ext cx="582295" cy="106680"/>
          </a:xfrm>
          <a:custGeom>
            <a:avLst/>
            <a:gdLst/>
            <a:ahLst/>
            <a:cxnLst/>
            <a:rect l="l" t="t" r="r" b="b"/>
            <a:pathLst>
              <a:path w="582295" h="106680">
                <a:moveTo>
                  <a:pt x="582168" y="0"/>
                </a:moveTo>
                <a:lnTo>
                  <a:pt x="0" y="106679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496936" y="2685431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278242" y="245911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387969" y="245911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497698" y="245911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07425" y="245911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715630" y="245911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825357" y="245911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276718" y="2460641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276718" y="2573417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276718" y="2686193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276718" y="279744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276718" y="2910221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276718" y="3022997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5343774" y="3019568"/>
            <a:ext cx="469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第三次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888098" y="2573417"/>
            <a:ext cx="588645" cy="113030"/>
          </a:xfrm>
          <a:custGeom>
            <a:avLst/>
            <a:gdLst/>
            <a:ahLst/>
            <a:cxnLst/>
            <a:rect l="l" t="t" r="r" b="b"/>
            <a:pathLst>
              <a:path w="588645" h="113030">
                <a:moveTo>
                  <a:pt x="588263" y="112776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894193" y="2795921"/>
            <a:ext cx="582295" cy="106680"/>
          </a:xfrm>
          <a:custGeom>
            <a:avLst/>
            <a:gdLst/>
            <a:ahLst/>
            <a:cxnLst/>
            <a:rect l="l" t="t" r="r" b="b"/>
            <a:pathLst>
              <a:path w="582295" h="106680">
                <a:moveTo>
                  <a:pt x="582167" y="0"/>
                </a:moveTo>
                <a:lnTo>
                  <a:pt x="0" y="106679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2484115" y="3025029"/>
            <a:ext cx="16719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95"/>
              </a:spcBef>
              <a:tabLst>
                <a:tab pos="1215390" algn="l"/>
              </a:tabLst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	</a:t>
            </a:r>
            <a:r>
              <a:rPr sz="1050" spc="-7" baseline="8000" dirty="0">
                <a:latin typeface="黑体" panose="02010609060101010101" charset="-122"/>
                <a:cs typeface="黑体" panose="02010609060101010101" charset="-122"/>
              </a:rPr>
              <a:t>第一次</a:t>
            </a:r>
            <a:r>
              <a:rPr sz="1050" spc="7" baseline="8000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50" spc="-7" baseline="8000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1050" baseline="8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588" y="389966"/>
            <a:ext cx="7258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3" y="906271"/>
            <a:ext cx="4265930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1：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优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势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6223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寸卷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核串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得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到与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同的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感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使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串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联构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深、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线性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强、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数也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少。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8719" y="2489961"/>
            <a:ext cx="530860" cy="106045"/>
          </a:xfrm>
          <a:custGeom>
            <a:avLst/>
            <a:gdLst/>
            <a:ahLst/>
            <a:cxnLst/>
            <a:rect l="l" t="t" r="r" b="b"/>
            <a:pathLst>
              <a:path w="530860" h="106044">
                <a:moveTo>
                  <a:pt x="496569" y="0"/>
                </a:moveTo>
                <a:lnTo>
                  <a:pt x="495046" y="4318"/>
                </a:lnTo>
                <a:lnTo>
                  <a:pt x="501187" y="6937"/>
                </a:lnTo>
                <a:lnTo>
                  <a:pt x="506460" y="10604"/>
                </a:lnTo>
                <a:lnTo>
                  <a:pt x="520700" y="52324"/>
                </a:lnTo>
                <a:lnTo>
                  <a:pt x="520297" y="61686"/>
                </a:lnTo>
                <a:lnTo>
                  <a:pt x="501223" y="98833"/>
                </a:lnTo>
                <a:lnTo>
                  <a:pt x="495173" y="101473"/>
                </a:lnTo>
                <a:lnTo>
                  <a:pt x="496569" y="105791"/>
                </a:lnTo>
                <a:lnTo>
                  <a:pt x="525422" y="79873"/>
                </a:lnTo>
                <a:lnTo>
                  <a:pt x="530352" y="52959"/>
                </a:lnTo>
                <a:lnTo>
                  <a:pt x="529804" y="43241"/>
                </a:lnTo>
                <a:lnTo>
                  <a:pt x="510936" y="6746"/>
                </a:lnTo>
                <a:lnTo>
                  <a:pt x="504211" y="2736"/>
                </a:lnTo>
                <a:lnTo>
                  <a:pt x="496569" y="0"/>
                </a:lnTo>
                <a:close/>
              </a:path>
              <a:path w="530860" h="106044">
                <a:moveTo>
                  <a:pt x="33781" y="0"/>
                </a:moveTo>
                <a:lnTo>
                  <a:pt x="4929" y="26044"/>
                </a:lnTo>
                <a:lnTo>
                  <a:pt x="0" y="52959"/>
                </a:lnTo>
                <a:lnTo>
                  <a:pt x="547" y="62676"/>
                </a:lnTo>
                <a:lnTo>
                  <a:pt x="19367" y="99060"/>
                </a:lnTo>
                <a:lnTo>
                  <a:pt x="33781" y="105791"/>
                </a:lnTo>
                <a:lnTo>
                  <a:pt x="35179" y="101473"/>
                </a:lnTo>
                <a:lnTo>
                  <a:pt x="29128" y="98833"/>
                </a:lnTo>
                <a:lnTo>
                  <a:pt x="23923" y="95122"/>
                </a:lnTo>
                <a:lnTo>
                  <a:pt x="9652" y="52324"/>
                </a:lnTo>
                <a:lnTo>
                  <a:pt x="10063" y="43241"/>
                </a:lnTo>
                <a:lnTo>
                  <a:pt x="29182" y="6937"/>
                </a:lnTo>
                <a:lnTo>
                  <a:pt x="35306" y="4318"/>
                </a:lnTo>
                <a:lnTo>
                  <a:pt x="33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1911" y="1936750"/>
            <a:ext cx="2256155" cy="67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假设卷积层输入和输出的特征图个数均</a:t>
            </a: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C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三个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×</a:t>
            </a:r>
            <a:r>
              <a:rPr sz="9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-1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的卷积串联参数个数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71120" algn="ctr">
              <a:lnSpc>
                <a:spcPct val="100000"/>
              </a:lnSpc>
              <a:spcBef>
                <a:spcPts val="81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3 × 3 × C × C × 3 =</a:t>
            </a:r>
            <a:r>
              <a:rPr sz="9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20" dirty="0">
                <a:latin typeface="Cambria Math" panose="02040503050406030204"/>
                <a:cs typeface="Cambria Math" panose="02040503050406030204"/>
              </a:rPr>
              <a:t>27𝐶</a:t>
            </a:r>
            <a:r>
              <a:rPr sz="975" spc="30" baseline="26000" dirty="0"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6085" y="3017773"/>
            <a:ext cx="530225" cy="106045"/>
          </a:xfrm>
          <a:custGeom>
            <a:avLst/>
            <a:gdLst/>
            <a:ahLst/>
            <a:cxnLst/>
            <a:rect l="l" t="t" r="r" b="b"/>
            <a:pathLst>
              <a:path w="530225" h="106044">
                <a:moveTo>
                  <a:pt x="496443" y="0"/>
                </a:moveTo>
                <a:lnTo>
                  <a:pt x="494919" y="4318"/>
                </a:lnTo>
                <a:lnTo>
                  <a:pt x="501062" y="7008"/>
                </a:lnTo>
                <a:lnTo>
                  <a:pt x="506349" y="10699"/>
                </a:lnTo>
                <a:lnTo>
                  <a:pt x="520572" y="52450"/>
                </a:lnTo>
                <a:lnTo>
                  <a:pt x="520190" y="61757"/>
                </a:lnTo>
                <a:lnTo>
                  <a:pt x="501169" y="98958"/>
                </a:lnTo>
                <a:lnTo>
                  <a:pt x="495172" y="101600"/>
                </a:lnTo>
                <a:lnTo>
                  <a:pt x="496443" y="105918"/>
                </a:lnTo>
                <a:lnTo>
                  <a:pt x="525349" y="79926"/>
                </a:lnTo>
                <a:lnTo>
                  <a:pt x="530225" y="52959"/>
                </a:lnTo>
                <a:lnTo>
                  <a:pt x="529677" y="43295"/>
                </a:lnTo>
                <a:lnTo>
                  <a:pt x="510857" y="6842"/>
                </a:lnTo>
                <a:lnTo>
                  <a:pt x="504138" y="2807"/>
                </a:lnTo>
                <a:lnTo>
                  <a:pt x="496443" y="0"/>
                </a:lnTo>
                <a:close/>
              </a:path>
              <a:path w="530225" h="106044">
                <a:moveTo>
                  <a:pt x="33781" y="0"/>
                </a:moveTo>
                <a:lnTo>
                  <a:pt x="4875" y="26062"/>
                </a:lnTo>
                <a:lnTo>
                  <a:pt x="0" y="52959"/>
                </a:lnTo>
                <a:lnTo>
                  <a:pt x="545" y="62694"/>
                </a:lnTo>
                <a:lnTo>
                  <a:pt x="19303" y="99123"/>
                </a:lnTo>
                <a:lnTo>
                  <a:pt x="33781" y="105918"/>
                </a:lnTo>
                <a:lnTo>
                  <a:pt x="35051" y="101600"/>
                </a:lnTo>
                <a:lnTo>
                  <a:pt x="29001" y="98958"/>
                </a:lnTo>
                <a:lnTo>
                  <a:pt x="23796" y="95234"/>
                </a:lnTo>
                <a:lnTo>
                  <a:pt x="9651" y="52450"/>
                </a:lnTo>
                <a:lnTo>
                  <a:pt x="10053" y="43295"/>
                </a:lnTo>
                <a:lnTo>
                  <a:pt x="29108" y="7008"/>
                </a:lnTo>
                <a:lnTo>
                  <a:pt x="35178" y="4318"/>
                </a:lnTo>
                <a:lnTo>
                  <a:pt x="3378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1911" y="2759709"/>
            <a:ext cx="1684020" cy="38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900" spc="-5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的卷积层卷积参数个数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521335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7 × 7 × C × C =</a:t>
            </a:r>
            <a:r>
              <a:rPr sz="900" spc="-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9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49𝐶</a:t>
            </a:r>
            <a:r>
              <a:rPr sz="975" spc="30" baseline="2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endParaRPr sz="975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1199" y="2591688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70928" y="2591688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0655" y="2591688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8" y="0"/>
                </a:lnTo>
                <a:lnTo>
                  <a:pt x="109728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61199" y="2702940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80655" y="2702940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1199" y="2815716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70928" y="2815716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80655" y="2815716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35091" y="2590164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5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44819" y="2590164"/>
            <a:ext cx="108585" cy="113030"/>
          </a:xfrm>
          <a:custGeom>
            <a:avLst/>
            <a:gdLst/>
            <a:ahLst/>
            <a:cxnLst/>
            <a:rect l="l" t="t" r="r" b="b"/>
            <a:pathLst>
              <a:path w="108585" h="113030">
                <a:moveTo>
                  <a:pt x="0" y="0"/>
                </a:moveTo>
                <a:lnTo>
                  <a:pt x="108203" y="0"/>
                </a:lnTo>
                <a:lnTo>
                  <a:pt x="108203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53024" y="2590164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35091" y="2702940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5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44819" y="2702940"/>
            <a:ext cx="108585" cy="111760"/>
          </a:xfrm>
          <a:custGeom>
            <a:avLst/>
            <a:gdLst/>
            <a:ahLst/>
            <a:cxnLst/>
            <a:rect l="l" t="t" r="r" b="b"/>
            <a:pathLst>
              <a:path w="108585" h="111760">
                <a:moveTo>
                  <a:pt x="0" y="0"/>
                </a:moveTo>
                <a:lnTo>
                  <a:pt x="108203" y="0"/>
                </a:lnTo>
                <a:lnTo>
                  <a:pt x="108203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53024" y="2702940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35091" y="2814192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5" h="113030">
                <a:moveTo>
                  <a:pt x="0" y="0"/>
                </a:moveTo>
                <a:lnTo>
                  <a:pt x="109728" y="0"/>
                </a:lnTo>
                <a:lnTo>
                  <a:pt x="109728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44819" y="2814192"/>
            <a:ext cx="108585" cy="113030"/>
          </a:xfrm>
          <a:custGeom>
            <a:avLst/>
            <a:gdLst/>
            <a:ahLst/>
            <a:cxnLst/>
            <a:rect l="l" t="t" r="r" b="b"/>
            <a:pathLst>
              <a:path w="108585" h="113030">
                <a:moveTo>
                  <a:pt x="0" y="0"/>
                </a:moveTo>
                <a:lnTo>
                  <a:pt x="108203" y="0"/>
                </a:lnTo>
                <a:lnTo>
                  <a:pt x="108203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53024" y="2814192"/>
            <a:ext cx="109855" cy="113030"/>
          </a:xfrm>
          <a:custGeom>
            <a:avLst/>
            <a:gdLst/>
            <a:ahLst/>
            <a:cxnLst/>
            <a:rect l="l" t="t" r="r" b="b"/>
            <a:pathLst>
              <a:path w="109854" h="113030">
                <a:moveTo>
                  <a:pt x="0" y="0"/>
                </a:moveTo>
                <a:lnTo>
                  <a:pt x="109727" y="0"/>
                </a:lnTo>
                <a:lnTo>
                  <a:pt x="109727" y="112775"/>
                </a:lnTo>
                <a:lnTo>
                  <a:pt x="0" y="112775"/>
                </a:lnTo>
                <a:lnTo>
                  <a:pt x="0" y="0"/>
                </a:lnTo>
                <a:close/>
              </a:path>
            </a:pathLst>
          </a:custGeom>
          <a:solidFill>
            <a:srgbClr val="D9E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26125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35853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45581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53785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63513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73241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24602" y="247815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24602" y="25909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24602" y="27037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24602" y="2814954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24602" y="292773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24602" y="304050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48907" y="2590164"/>
            <a:ext cx="327659" cy="336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39941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749669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859397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69125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077329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87057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38417" y="247815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38417" y="25909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38417" y="27037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38417" y="2814954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38417" y="292773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38417" y="304050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484114" y="3047745"/>
            <a:ext cx="1671955" cy="263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95"/>
              </a:spcBef>
              <a:tabLst>
                <a:tab pos="1215390" algn="l"/>
              </a:tabLst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输入	</a:t>
            </a:r>
            <a:r>
              <a:rPr sz="1050" spc="-7" baseline="8000" dirty="0">
                <a:latin typeface="黑体" panose="02010609060101010101" charset="-122"/>
                <a:cs typeface="黑体" panose="02010609060101010101" charset="-122"/>
              </a:rPr>
              <a:t>第一次</a:t>
            </a:r>
            <a:r>
              <a:rPr sz="1050" spc="7" baseline="8000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50" spc="-7" baseline="8000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1050" baseline="8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669403" y="2702940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8" y="0"/>
                </a:lnTo>
                <a:lnTo>
                  <a:pt x="109728" y="111251"/>
                </a:lnTo>
                <a:lnTo>
                  <a:pt x="0" y="111251"/>
                </a:lnTo>
                <a:lnTo>
                  <a:pt x="0" y="0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450710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560437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670166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779893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89622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999349" y="2476626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79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50710" y="247815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450710" y="25909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450710" y="27037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450710" y="2814954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450710" y="2927730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450710" y="304050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3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4516496" y="3037712"/>
            <a:ext cx="469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第二次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269610" y="2595498"/>
            <a:ext cx="589915" cy="113030"/>
          </a:xfrm>
          <a:custGeom>
            <a:avLst/>
            <a:gdLst/>
            <a:ahLst/>
            <a:cxnLst/>
            <a:rect l="l" t="t" r="r" b="b"/>
            <a:pathLst>
              <a:path w="589914" h="113030">
                <a:moveTo>
                  <a:pt x="589788" y="112775"/>
                </a:moveTo>
                <a:lnTo>
                  <a:pt x="0" y="0"/>
                </a:lnTo>
              </a:path>
            </a:pathLst>
          </a:custGeom>
          <a:ln w="19050">
            <a:solidFill>
              <a:srgbClr val="244E1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255893" y="2818002"/>
            <a:ext cx="603885" cy="94615"/>
          </a:xfrm>
          <a:custGeom>
            <a:avLst/>
            <a:gdLst/>
            <a:ahLst/>
            <a:cxnLst/>
            <a:rect l="l" t="t" r="r" b="b"/>
            <a:pathLst>
              <a:path w="603885" h="94614">
                <a:moveTo>
                  <a:pt x="603503" y="0"/>
                </a:moveTo>
                <a:lnTo>
                  <a:pt x="0" y="94487"/>
                </a:lnTo>
              </a:path>
            </a:pathLst>
          </a:custGeom>
          <a:ln w="19050">
            <a:solidFill>
              <a:srgbClr val="244E1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072757" y="2595498"/>
            <a:ext cx="589915" cy="113030"/>
          </a:xfrm>
          <a:custGeom>
            <a:avLst/>
            <a:gdLst/>
            <a:ahLst/>
            <a:cxnLst/>
            <a:rect l="l" t="t" r="r" b="b"/>
            <a:pathLst>
              <a:path w="589914" h="113030">
                <a:moveTo>
                  <a:pt x="589788" y="112775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080378" y="2818002"/>
            <a:ext cx="582295" cy="106680"/>
          </a:xfrm>
          <a:custGeom>
            <a:avLst/>
            <a:gdLst/>
            <a:ahLst/>
            <a:cxnLst/>
            <a:rect l="l" t="t" r="r" b="b"/>
            <a:pathLst>
              <a:path w="582295" h="106680">
                <a:moveTo>
                  <a:pt x="582168" y="0"/>
                </a:moveTo>
                <a:lnTo>
                  <a:pt x="0" y="10668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496935" y="2707512"/>
            <a:ext cx="109855" cy="111760"/>
          </a:xfrm>
          <a:custGeom>
            <a:avLst/>
            <a:gdLst/>
            <a:ahLst/>
            <a:cxnLst/>
            <a:rect l="l" t="t" r="r" b="b"/>
            <a:pathLst>
              <a:path w="109854" h="111760">
                <a:moveTo>
                  <a:pt x="0" y="0"/>
                </a:moveTo>
                <a:lnTo>
                  <a:pt x="109727" y="0"/>
                </a:lnTo>
                <a:lnTo>
                  <a:pt x="109727" y="111252"/>
                </a:lnTo>
                <a:lnTo>
                  <a:pt x="0" y="111252"/>
                </a:lnTo>
                <a:lnTo>
                  <a:pt x="0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278241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387969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497697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07425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715629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825357" y="2481198"/>
            <a:ext cx="0" cy="563880"/>
          </a:xfrm>
          <a:custGeom>
            <a:avLst/>
            <a:gdLst/>
            <a:ahLst/>
            <a:cxnLst/>
            <a:rect l="l" t="t" r="r" b="b"/>
            <a:pathLst>
              <a:path h="563880">
                <a:moveTo>
                  <a:pt x="0" y="0"/>
                </a:moveTo>
                <a:lnTo>
                  <a:pt x="0" y="56388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276717" y="248272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276717" y="2595498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276717" y="2708275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276717" y="2819526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276717" y="2932302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276717" y="3045078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1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5343773" y="3042284"/>
            <a:ext cx="469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第三次</a:t>
            </a:r>
            <a:r>
              <a:rPr sz="700" spc="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7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888097" y="2595498"/>
            <a:ext cx="588645" cy="113030"/>
          </a:xfrm>
          <a:custGeom>
            <a:avLst/>
            <a:gdLst/>
            <a:ahLst/>
            <a:cxnLst/>
            <a:rect l="l" t="t" r="r" b="b"/>
            <a:pathLst>
              <a:path w="588645" h="113030">
                <a:moveTo>
                  <a:pt x="588263" y="112775"/>
                </a:moveTo>
                <a:lnTo>
                  <a:pt x="0" y="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894193" y="2818002"/>
            <a:ext cx="582295" cy="106680"/>
          </a:xfrm>
          <a:custGeom>
            <a:avLst/>
            <a:gdLst/>
            <a:ahLst/>
            <a:cxnLst/>
            <a:rect l="l" t="t" r="r" b="b"/>
            <a:pathLst>
              <a:path w="582295" h="106680">
                <a:moveTo>
                  <a:pt x="582167" y="0"/>
                </a:moveTo>
                <a:lnTo>
                  <a:pt x="0" y="106680"/>
                </a:lnTo>
              </a:path>
            </a:pathLst>
          </a:custGeom>
          <a:ln w="19050">
            <a:solidFill>
              <a:srgbClr val="66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4" y="367554"/>
            <a:ext cx="4169410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090" algn="ct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2：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10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里，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次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倍？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3" y="389966"/>
            <a:ext cx="4169410" cy="1331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725" algn="ct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2：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10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里，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次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倍？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1.</a:t>
            </a:r>
            <a:r>
              <a:rPr sz="1000" spc="-15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小特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显存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4" y="367554"/>
            <a:ext cx="4770120" cy="155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2：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10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里，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次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倍？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显存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加卷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有助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学习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构特</a:t>
            </a:r>
            <a:r>
              <a:rPr sz="10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增加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数量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及内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消耗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3" y="389966"/>
            <a:ext cx="4770120" cy="1788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2：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10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里，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次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倍？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显存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加卷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学习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多的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构特</a:t>
            </a:r>
            <a:r>
              <a:rPr sz="1000" spc="1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增加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及内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消耗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减一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的设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识别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度与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储、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算开销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4" y="367554"/>
            <a:ext cx="4770120" cy="1788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2：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10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四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段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里，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经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次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倍？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化操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可以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减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小特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寸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，降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显存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用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加卷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核个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有助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学习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更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多的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构特</a:t>
            </a:r>
            <a:r>
              <a:rPr sz="1000" spc="1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增加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络参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数量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及内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消耗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减一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的设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衡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识别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度与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存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储、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算开销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4" y="2623709"/>
            <a:ext cx="18046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最终提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升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了网</a:t>
            </a:r>
            <a:r>
              <a:rPr sz="14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络性</a:t>
            </a:r>
            <a:r>
              <a:rPr sz="1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能！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3" y="389966"/>
            <a:ext cx="2790190" cy="679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165" algn="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R="5080" algn="r">
              <a:lnSpc>
                <a:spcPct val="100000"/>
              </a:lnSpc>
              <a:spcBef>
                <a:spcPts val="143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1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512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4" y="367554"/>
            <a:ext cx="3056255" cy="1330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1365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3：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1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512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1.</a:t>
            </a:r>
            <a:r>
              <a:rPr sz="1000" spc="-19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含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102M参数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占总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74%；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3" y="389966"/>
            <a:ext cx="3056255" cy="1560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1365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3：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1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512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102M参数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占总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74%；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征图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乘积；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4" y="367554"/>
            <a:ext cx="2790190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0" algn="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9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R="5080" algn="r">
              <a:lnSpc>
                <a:spcPct val="100000"/>
              </a:lnSpc>
              <a:spcBef>
                <a:spcPts val="1425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1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512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4" y="1215813"/>
            <a:ext cx="3056255" cy="711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102M参数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占总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74%；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征图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乘积；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0682" y="425111"/>
            <a:ext cx="180340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将最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至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1024，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0682" y="874493"/>
            <a:ext cx="1941830" cy="57531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7*7*1024*4096 </a:t>
            </a: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200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205,520,896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≈</a:t>
            </a:r>
            <a:r>
              <a:rPr sz="1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200M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923" y="389966"/>
            <a:ext cx="2790190" cy="679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165" algn="r">
              <a:lnSpc>
                <a:spcPct val="100000"/>
              </a:lnSpc>
              <a:spcBef>
                <a:spcPts val="95"/>
              </a:spcBef>
            </a:pP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思</a:t>
            </a:r>
            <a:r>
              <a:rPr sz="2200" b="1" spc="-9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200" b="1" spc="-15" dirty="0">
                <a:latin typeface="黑体" panose="02010609060101010101" charset="-122"/>
                <a:cs typeface="黑体" panose="02010609060101010101" charset="-122"/>
              </a:rPr>
              <a:t>考</a:t>
            </a:r>
            <a:endParaRPr sz="2200">
              <a:latin typeface="黑体" panose="02010609060101010101" charset="-122"/>
              <a:cs typeface="黑体" panose="02010609060101010101" charset="-122"/>
            </a:endParaRPr>
          </a:p>
          <a:p>
            <a:pPr marR="5080" algn="r">
              <a:lnSpc>
                <a:spcPct val="100000"/>
              </a:lnSpc>
              <a:spcBef>
                <a:spcPts val="1430"/>
              </a:spcBef>
            </a:pP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什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么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15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900" b="1" dirty="0">
                <a:latin typeface="黑体" panose="02010609060101010101" charset="-122"/>
                <a:cs typeface="黑体" panose="02010609060101010101" charset="-122"/>
              </a:rPr>
              <a:t>512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再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900" b="1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b="1" spc="-5" dirty="0">
                <a:latin typeface="黑体" panose="02010609060101010101" charset="-122"/>
                <a:cs typeface="黑体" panose="02010609060101010101" charset="-122"/>
              </a:rPr>
              <a:t>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923" y="1238529"/>
            <a:ext cx="3056255" cy="939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答：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第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连接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含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102M参数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占总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74%；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参数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征图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尺寸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个数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乘积；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容易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拟合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且不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被训练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0682" y="447144"/>
            <a:ext cx="1804035" cy="4838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将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最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增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至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1024，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一层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数个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0682" y="898270"/>
            <a:ext cx="1941195" cy="5740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7*7*1024*4096 =</a:t>
            </a:r>
            <a:r>
              <a:rPr sz="12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latin typeface="Calibri" panose="020F0502020204030204"/>
                <a:cs typeface="Calibri" panose="020F0502020204030204"/>
              </a:rPr>
              <a:t>205,520,896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latin typeface="Cambria Math" panose="02040503050406030204"/>
                <a:cs typeface="Cambria Math" panose="02040503050406030204"/>
              </a:rPr>
              <a:t>≈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200M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044" y="126127"/>
            <a:ext cx="1620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微软雅黑" panose="020B0503020204020204" charset="-122"/>
                <a:cs typeface="微软雅黑" panose="020B0503020204020204" charset="-122"/>
              </a:rPr>
              <a:t>GoogLeNet</a:t>
            </a:r>
            <a:endParaRPr spc="-1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8" y="2941446"/>
            <a:ext cx="793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6730" algn="l"/>
              </a:tabLst>
            </a:pPr>
            <a:r>
              <a:rPr sz="1350" spc="-15" baseline="3000" dirty="0">
                <a:latin typeface="Calibri" panose="020F0502020204030204"/>
                <a:cs typeface="Calibri" panose="020F0502020204030204"/>
              </a:rPr>
              <a:t>A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l</a:t>
            </a:r>
            <a:r>
              <a:rPr sz="1350" spc="-30" baseline="3000" dirty="0">
                <a:latin typeface="Calibri" panose="020F0502020204030204"/>
                <a:cs typeface="Calibri" panose="020F0502020204030204"/>
              </a:rPr>
              <a:t>e</a:t>
            </a:r>
            <a:r>
              <a:rPr sz="1350" spc="-15" baseline="3000" dirty="0">
                <a:latin typeface="Calibri" panose="020F0502020204030204"/>
                <a:cs typeface="Calibri" panose="020F0502020204030204"/>
              </a:rPr>
              <a:t>x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Ne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t	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8774" y="389966"/>
            <a:ext cx="2828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大赛</a:t>
            </a:r>
            <a:r>
              <a:rPr spc="-10" dirty="0"/>
              <a:t>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4" name="object 4"/>
          <p:cNvSpPr/>
          <p:nvPr/>
        </p:nvSpPr>
        <p:spPr>
          <a:xfrm>
            <a:off x="496691" y="1063116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12637" y="2019464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3683" y="2968118"/>
            <a:ext cx="225552" cy="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5643" y="2971164"/>
            <a:ext cx="309371" cy="51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64787" y="3064130"/>
            <a:ext cx="291084" cy="487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80328" y="2968116"/>
            <a:ext cx="254508" cy="153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81823" y="2968116"/>
            <a:ext cx="516636" cy="640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26860" y="2968118"/>
            <a:ext cx="289560" cy="518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02347" y="2966592"/>
            <a:ext cx="222503" cy="1539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59581" y="2465996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5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8554" y="2469863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4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66233" y="2469006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2"/>
                </a:moveTo>
                <a:lnTo>
                  <a:pt x="440436" y="134112"/>
                </a:lnTo>
                <a:lnTo>
                  <a:pt x="440436" y="0"/>
                </a:lnTo>
                <a:lnTo>
                  <a:pt x="0" y="0"/>
                </a:lnTo>
                <a:lnTo>
                  <a:pt x="0" y="134112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49565" y="2469864"/>
            <a:ext cx="45529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09717" y="2023998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2"/>
                </a:moveTo>
                <a:lnTo>
                  <a:pt x="440435" y="134112"/>
                </a:lnTo>
                <a:lnTo>
                  <a:pt x="440435" y="0"/>
                </a:lnTo>
                <a:lnTo>
                  <a:pt x="0" y="0"/>
                </a:lnTo>
                <a:lnTo>
                  <a:pt x="0" y="134112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618480" y="2034666"/>
            <a:ext cx="3746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34481" y="2028824"/>
            <a:ext cx="360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7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92113" y="1213230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16369" y="1213230"/>
            <a:ext cx="441959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42149" y="1213230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5979" y="2681606"/>
            <a:ext cx="82296" cy="807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69943" y="2681606"/>
            <a:ext cx="82295" cy="807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42383" y="2657222"/>
            <a:ext cx="83819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16347" y="2657222"/>
            <a:ext cx="82295" cy="807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78119" y="2562732"/>
            <a:ext cx="83819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73419" y="2544446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01663" y="1468502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57340" y="1468502"/>
            <a:ext cx="82296" cy="807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45019" y="1468502"/>
            <a:ext cx="82296" cy="807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59225" y="2723514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31665" y="2699130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6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05630" y="2699130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79593" y="2603118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41365" y="2586354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10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36666" y="1510410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764910" y="1510410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20585" y="15104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41009" y="1713102"/>
            <a:ext cx="539750" cy="1417320"/>
          </a:xfrm>
          <a:custGeom>
            <a:avLst/>
            <a:gdLst/>
            <a:ahLst/>
            <a:cxnLst/>
            <a:rect l="l" t="t" r="r" b="b"/>
            <a:pathLst>
              <a:path w="539750" h="1417320">
                <a:moveTo>
                  <a:pt x="0" y="1417066"/>
                </a:moveTo>
                <a:lnTo>
                  <a:pt x="539305" y="1417066"/>
                </a:lnTo>
                <a:lnTo>
                  <a:pt x="539305" y="0"/>
                </a:lnTo>
                <a:lnTo>
                  <a:pt x="0" y="0"/>
                </a:lnTo>
                <a:lnTo>
                  <a:pt x="0" y="1417066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538340" y="2949828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571994" y="2954146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981823" y="2945256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4"/>
                </a:moveTo>
                <a:lnTo>
                  <a:pt x="580644" y="184404"/>
                </a:lnTo>
                <a:lnTo>
                  <a:pt x="58064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067294" y="2964814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131431" y="2952876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4"/>
                </a:moveTo>
                <a:lnTo>
                  <a:pt x="405384" y="184404"/>
                </a:lnTo>
                <a:lnTo>
                  <a:pt x="405384" y="0"/>
                </a:lnTo>
                <a:lnTo>
                  <a:pt x="0" y="0"/>
                </a:lnTo>
                <a:lnTo>
                  <a:pt x="0" y="184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894705" y="1481073"/>
            <a:ext cx="371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2014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455158" y="2021331"/>
            <a:ext cx="753745" cy="314960"/>
          </a:xfrm>
          <a:custGeom>
            <a:avLst/>
            <a:gdLst/>
            <a:ahLst/>
            <a:cxnLst/>
            <a:rect l="l" t="t" r="r" b="b"/>
            <a:pathLst>
              <a:path w="753744" h="314960">
                <a:moveTo>
                  <a:pt x="668261" y="287898"/>
                </a:moveTo>
                <a:lnTo>
                  <a:pt x="657860" y="314452"/>
                </a:lnTo>
                <a:lnTo>
                  <a:pt x="753364" y="305816"/>
                </a:lnTo>
                <a:lnTo>
                  <a:pt x="741888" y="293116"/>
                </a:lnTo>
                <a:lnTo>
                  <a:pt x="681608" y="293116"/>
                </a:lnTo>
                <a:lnTo>
                  <a:pt x="668261" y="287898"/>
                </a:lnTo>
                <a:close/>
              </a:path>
              <a:path w="753744" h="314960">
                <a:moveTo>
                  <a:pt x="678704" y="261239"/>
                </a:moveTo>
                <a:lnTo>
                  <a:pt x="668261" y="287898"/>
                </a:lnTo>
                <a:lnTo>
                  <a:pt x="681608" y="293116"/>
                </a:lnTo>
                <a:lnTo>
                  <a:pt x="692023" y="266446"/>
                </a:lnTo>
                <a:lnTo>
                  <a:pt x="678704" y="261239"/>
                </a:lnTo>
                <a:close/>
              </a:path>
              <a:path w="753744" h="314960">
                <a:moveTo>
                  <a:pt x="689102" y="234696"/>
                </a:moveTo>
                <a:lnTo>
                  <a:pt x="678704" y="261239"/>
                </a:lnTo>
                <a:lnTo>
                  <a:pt x="692023" y="266446"/>
                </a:lnTo>
                <a:lnTo>
                  <a:pt x="681608" y="293116"/>
                </a:lnTo>
                <a:lnTo>
                  <a:pt x="741888" y="293116"/>
                </a:lnTo>
                <a:lnTo>
                  <a:pt x="689102" y="234696"/>
                </a:lnTo>
                <a:close/>
              </a:path>
              <a:path w="753744" h="314960">
                <a:moveTo>
                  <a:pt x="10414" y="0"/>
                </a:moveTo>
                <a:lnTo>
                  <a:pt x="0" y="26670"/>
                </a:lnTo>
                <a:lnTo>
                  <a:pt x="668261" y="287898"/>
                </a:lnTo>
                <a:lnTo>
                  <a:pt x="678704" y="261239"/>
                </a:lnTo>
                <a:lnTo>
                  <a:pt x="104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484114" y="2960623"/>
            <a:ext cx="1850389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  <a:tab pos="1693545" algn="l"/>
              </a:tabLst>
            </a:pPr>
            <a:r>
              <a:rPr sz="9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	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1350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oo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gleNe</a:t>
            </a:r>
            <a:r>
              <a:rPr sz="1350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  </a:t>
            </a:r>
            <a:r>
              <a:rPr sz="1350" spc="15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5" baseline="6000" dirty="0">
                <a:latin typeface="Calibri" panose="020F0502020204030204"/>
                <a:cs typeface="Calibri" panose="020F0502020204030204"/>
              </a:rPr>
              <a:t>R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esNe</a:t>
            </a:r>
            <a:r>
              <a:rPr sz="1350" baseline="6000" dirty="0">
                <a:latin typeface="Calibri" panose="020F0502020204030204"/>
                <a:cs typeface="Calibri" panose="020F0502020204030204"/>
              </a:rPr>
              <a:t>t	</a:t>
            </a:r>
            <a:r>
              <a:rPr sz="1350" spc="7" baseline="3000" dirty="0">
                <a:latin typeface="Calibri" panose="020F0502020204030204"/>
                <a:cs typeface="Calibri" panose="020F0502020204030204"/>
              </a:rPr>
              <a:t>T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-S</a:t>
            </a:r>
            <a:endParaRPr sz="1350" baseline="3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9" y="291415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1794" y="2918349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8775" y="367554"/>
            <a:ext cx="2828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</a:t>
            </a:r>
            <a:r>
              <a:rPr spc="-10" dirty="0"/>
              <a:t>赛历年冠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5" name="object 5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2638" y="1997383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80328" y="2946035"/>
            <a:ext cx="254508" cy="153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81824" y="2946035"/>
            <a:ext cx="516636" cy="64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26860" y="2946035"/>
            <a:ext cx="289560" cy="518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02348" y="2944511"/>
            <a:ext cx="222503" cy="1539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9582" y="2443915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8555" y="2447782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66234" y="2446925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6" y="134111"/>
                </a:lnTo>
                <a:lnTo>
                  <a:pt x="440436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49565" y="2447782"/>
            <a:ext cx="45529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09718" y="2001917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5" y="134111"/>
                </a:lnTo>
                <a:lnTo>
                  <a:pt x="440435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18481" y="2011950"/>
            <a:ext cx="3746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34482" y="2005854"/>
            <a:ext cx="360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7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92113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16369" y="1191149"/>
            <a:ext cx="441959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42149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41010" y="1691021"/>
            <a:ext cx="539750" cy="1417320"/>
          </a:xfrm>
          <a:custGeom>
            <a:avLst/>
            <a:gdLst/>
            <a:ahLst/>
            <a:cxnLst/>
            <a:rect l="l" t="t" r="r" b="b"/>
            <a:pathLst>
              <a:path w="539750" h="1417320">
                <a:moveTo>
                  <a:pt x="0" y="1417066"/>
                </a:moveTo>
                <a:lnTo>
                  <a:pt x="539305" y="1417066"/>
                </a:lnTo>
                <a:lnTo>
                  <a:pt x="539305" y="0"/>
                </a:lnTo>
                <a:lnTo>
                  <a:pt x="0" y="0"/>
                </a:lnTo>
                <a:lnTo>
                  <a:pt x="0" y="1417066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38340" y="2927747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571994" y="2931557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81824" y="2923175"/>
            <a:ext cx="581025" cy="184785"/>
          </a:xfrm>
          <a:custGeom>
            <a:avLst/>
            <a:gdLst/>
            <a:ahLst/>
            <a:cxnLst/>
            <a:rect l="l" t="t" r="r" b="b"/>
            <a:pathLst>
              <a:path w="581025" h="184785">
                <a:moveTo>
                  <a:pt x="0" y="184403"/>
                </a:moveTo>
                <a:lnTo>
                  <a:pt x="580644" y="184403"/>
                </a:lnTo>
                <a:lnTo>
                  <a:pt x="58064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067294" y="2942225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131431" y="2930795"/>
            <a:ext cx="405765" cy="184785"/>
          </a:xfrm>
          <a:custGeom>
            <a:avLst/>
            <a:gdLst/>
            <a:ahLst/>
            <a:cxnLst/>
            <a:rect l="l" t="t" r="r" b="b"/>
            <a:pathLst>
              <a:path w="405764" h="184785">
                <a:moveTo>
                  <a:pt x="0" y="184403"/>
                </a:moveTo>
                <a:lnTo>
                  <a:pt x="405384" y="184403"/>
                </a:lnTo>
                <a:lnTo>
                  <a:pt x="40538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165087" y="2933970"/>
            <a:ext cx="169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T</a:t>
            </a:r>
            <a:r>
              <a:rPr sz="900" dirty="0">
                <a:latin typeface="Calibri" panose="020F0502020204030204"/>
                <a:cs typeface="Calibri" panose="020F0502020204030204"/>
              </a:rPr>
              <a:t>-S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94706" y="1458357"/>
            <a:ext cx="371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2014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年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455159" y="1999250"/>
            <a:ext cx="753745" cy="314960"/>
          </a:xfrm>
          <a:custGeom>
            <a:avLst/>
            <a:gdLst/>
            <a:ahLst/>
            <a:cxnLst/>
            <a:rect l="l" t="t" r="r" b="b"/>
            <a:pathLst>
              <a:path w="753744" h="314960">
                <a:moveTo>
                  <a:pt x="668261" y="287898"/>
                </a:moveTo>
                <a:lnTo>
                  <a:pt x="657860" y="314451"/>
                </a:lnTo>
                <a:lnTo>
                  <a:pt x="753364" y="305815"/>
                </a:lnTo>
                <a:lnTo>
                  <a:pt x="741888" y="293115"/>
                </a:lnTo>
                <a:lnTo>
                  <a:pt x="681608" y="293115"/>
                </a:lnTo>
                <a:lnTo>
                  <a:pt x="668261" y="287898"/>
                </a:lnTo>
                <a:close/>
              </a:path>
              <a:path w="753744" h="314960">
                <a:moveTo>
                  <a:pt x="678704" y="261239"/>
                </a:moveTo>
                <a:lnTo>
                  <a:pt x="668261" y="287898"/>
                </a:lnTo>
                <a:lnTo>
                  <a:pt x="681608" y="293115"/>
                </a:lnTo>
                <a:lnTo>
                  <a:pt x="692023" y="266445"/>
                </a:lnTo>
                <a:lnTo>
                  <a:pt x="678704" y="261239"/>
                </a:lnTo>
                <a:close/>
              </a:path>
              <a:path w="753744" h="314960">
                <a:moveTo>
                  <a:pt x="689102" y="234695"/>
                </a:moveTo>
                <a:lnTo>
                  <a:pt x="678704" y="261239"/>
                </a:lnTo>
                <a:lnTo>
                  <a:pt x="692023" y="266445"/>
                </a:lnTo>
                <a:lnTo>
                  <a:pt x="681608" y="293115"/>
                </a:lnTo>
                <a:lnTo>
                  <a:pt x="741888" y="293115"/>
                </a:lnTo>
                <a:lnTo>
                  <a:pt x="689102" y="234695"/>
                </a:lnTo>
                <a:close/>
              </a:path>
              <a:path w="753744" h="314960">
                <a:moveTo>
                  <a:pt x="10414" y="0"/>
                </a:moveTo>
                <a:lnTo>
                  <a:pt x="0" y="26669"/>
                </a:lnTo>
                <a:lnTo>
                  <a:pt x="668261" y="287898"/>
                </a:lnTo>
                <a:lnTo>
                  <a:pt x="678704" y="261239"/>
                </a:lnTo>
                <a:lnTo>
                  <a:pt x="104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484115" y="2937907"/>
            <a:ext cx="1580515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</a:tabLst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VGG	</a:t>
            </a: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GoogleNet</a:t>
            </a:r>
            <a:r>
              <a:rPr sz="1350" spc="262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ResNet</a:t>
            </a:r>
            <a:endParaRPr sz="1350" baseline="6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6097" y="865759"/>
            <a:ext cx="1232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创新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228" y="202835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098" y="843042"/>
            <a:ext cx="394779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创新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种Inception结构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它能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留输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息；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02" y="781193"/>
            <a:ext cx="658495" cy="198120"/>
          </a:xfrm>
          <a:custGeom>
            <a:avLst/>
            <a:gdLst/>
            <a:ahLst/>
            <a:cxnLst/>
            <a:rect l="l" t="t" r="r" b="b"/>
            <a:pathLst>
              <a:path w="658494" h="198119">
                <a:moveTo>
                  <a:pt x="0" y="198120"/>
                </a:moveTo>
                <a:lnTo>
                  <a:pt x="658368" y="198120"/>
                </a:lnTo>
                <a:lnTo>
                  <a:pt x="658368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3802" y="1098185"/>
            <a:ext cx="658495" cy="198120"/>
          </a:xfrm>
          <a:custGeom>
            <a:avLst/>
            <a:gdLst/>
            <a:ahLst/>
            <a:cxnLst/>
            <a:rect l="l" t="t" r="r" b="b"/>
            <a:pathLst>
              <a:path w="658494" h="198119">
                <a:moveTo>
                  <a:pt x="0" y="198120"/>
                </a:moveTo>
                <a:lnTo>
                  <a:pt x="658368" y="198120"/>
                </a:lnTo>
                <a:lnTo>
                  <a:pt x="658368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8290" y="1348121"/>
            <a:ext cx="658495" cy="198120"/>
          </a:xfrm>
          <a:custGeom>
            <a:avLst/>
            <a:gdLst/>
            <a:ahLst/>
            <a:cxnLst/>
            <a:rect l="l" t="t" r="r" b="b"/>
            <a:pathLst>
              <a:path w="658494" h="198119">
                <a:moveTo>
                  <a:pt x="0" y="198120"/>
                </a:moveTo>
                <a:lnTo>
                  <a:pt x="658368" y="198120"/>
                </a:lnTo>
                <a:lnTo>
                  <a:pt x="658368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2986" y="2658761"/>
            <a:ext cx="660400" cy="198120"/>
          </a:xfrm>
          <a:custGeom>
            <a:avLst/>
            <a:gdLst/>
            <a:ahLst/>
            <a:cxnLst/>
            <a:rect l="l" t="t" r="r" b="b"/>
            <a:pathLst>
              <a:path w="660400" h="198119">
                <a:moveTo>
                  <a:pt x="0" y="198120"/>
                </a:moveTo>
                <a:lnTo>
                  <a:pt x="659892" y="198120"/>
                </a:lnTo>
                <a:lnTo>
                  <a:pt x="659892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2986" y="2408825"/>
            <a:ext cx="660400" cy="198120"/>
          </a:xfrm>
          <a:custGeom>
            <a:avLst/>
            <a:gdLst/>
            <a:ahLst/>
            <a:cxnLst/>
            <a:rect l="l" t="t" r="r" b="b"/>
            <a:pathLst>
              <a:path w="660400" h="198119">
                <a:moveTo>
                  <a:pt x="0" y="198119"/>
                </a:moveTo>
                <a:lnTo>
                  <a:pt x="659892" y="198119"/>
                </a:lnTo>
                <a:lnTo>
                  <a:pt x="659892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2986" y="2093357"/>
            <a:ext cx="660400" cy="198120"/>
          </a:xfrm>
          <a:custGeom>
            <a:avLst/>
            <a:gdLst/>
            <a:ahLst/>
            <a:cxnLst/>
            <a:rect l="l" t="t" r="r" b="b"/>
            <a:pathLst>
              <a:path w="660400" h="198119">
                <a:moveTo>
                  <a:pt x="0" y="198120"/>
                </a:moveTo>
                <a:lnTo>
                  <a:pt x="659892" y="198120"/>
                </a:lnTo>
                <a:lnTo>
                  <a:pt x="659892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1442" y="1841897"/>
            <a:ext cx="658495" cy="198120"/>
          </a:xfrm>
          <a:custGeom>
            <a:avLst/>
            <a:gdLst/>
            <a:ahLst/>
            <a:cxnLst/>
            <a:rect l="l" t="t" r="r" b="b"/>
            <a:pathLst>
              <a:path w="658494" h="198119">
                <a:moveTo>
                  <a:pt x="0" y="198120"/>
                </a:moveTo>
                <a:lnTo>
                  <a:pt x="658368" y="198120"/>
                </a:lnTo>
                <a:lnTo>
                  <a:pt x="658368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8290" y="1591961"/>
            <a:ext cx="658495" cy="198120"/>
          </a:xfrm>
          <a:custGeom>
            <a:avLst/>
            <a:gdLst/>
            <a:ahLst/>
            <a:cxnLst/>
            <a:rect l="l" t="t" r="r" b="b"/>
            <a:pathLst>
              <a:path w="658494" h="198119">
                <a:moveTo>
                  <a:pt x="0" y="198120"/>
                </a:moveTo>
                <a:lnTo>
                  <a:pt x="658368" y="198120"/>
                </a:lnTo>
                <a:lnTo>
                  <a:pt x="658368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3802" y="516017"/>
            <a:ext cx="658495" cy="198120"/>
          </a:xfrm>
          <a:custGeom>
            <a:avLst/>
            <a:gdLst/>
            <a:ahLst/>
            <a:cxnLst/>
            <a:rect l="l" t="t" r="r" b="b"/>
            <a:pathLst>
              <a:path w="658494" h="198120">
                <a:moveTo>
                  <a:pt x="0" y="198120"/>
                </a:moveTo>
                <a:lnTo>
                  <a:pt x="658368" y="198120"/>
                </a:lnTo>
                <a:lnTo>
                  <a:pt x="658368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227" y="224916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097" y="865759"/>
            <a:ext cx="4069715" cy="1320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创新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种Inception结构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它能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留输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信号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特征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息；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"/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掉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两个全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接层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并采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了平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池化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计使得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84785">
              <a:lnSpc>
                <a:spcPct val="100000"/>
              </a:lnSpc>
            </a:pP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有500万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数，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了12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倍；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5325" y="432942"/>
            <a:ext cx="660400" cy="79375"/>
          </a:xfrm>
          <a:custGeom>
            <a:avLst/>
            <a:gdLst/>
            <a:ahLst/>
            <a:cxnLst/>
            <a:rect l="l" t="t" r="r" b="b"/>
            <a:pathLst>
              <a:path w="660400" h="79375">
                <a:moveTo>
                  <a:pt x="0" y="79248"/>
                </a:moveTo>
                <a:lnTo>
                  <a:pt x="659892" y="79248"/>
                </a:lnTo>
                <a:lnTo>
                  <a:pt x="659892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228" y="202835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098" y="843042"/>
            <a:ext cx="413385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创新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点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种Inception结构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它能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留输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信号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多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特征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息；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"/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去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掉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AlexNet的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两个全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接层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并采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了平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池化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这一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计使得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"/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84785">
              <a:lnSpc>
                <a:spcPct val="100000"/>
              </a:lnSpc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有500万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数，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了12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倍；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 marL="184785" indent="-172085">
              <a:lnSpc>
                <a:spcPct val="100000"/>
              </a:lnSpc>
              <a:spcBef>
                <a:spcPts val="650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部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引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辅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助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服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消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0562" y="1596533"/>
            <a:ext cx="268605" cy="486409"/>
          </a:xfrm>
          <a:custGeom>
            <a:avLst/>
            <a:gdLst/>
            <a:ahLst/>
            <a:cxnLst/>
            <a:rect l="l" t="t" r="r" b="b"/>
            <a:pathLst>
              <a:path w="268605" h="486410">
                <a:moveTo>
                  <a:pt x="0" y="486155"/>
                </a:moveTo>
                <a:lnTo>
                  <a:pt x="268224" y="486155"/>
                </a:lnTo>
                <a:lnTo>
                  <a:pt x="268224" y="0"/>
                </a:lnTo>
                <a:lnTo>
                  <a:pt x="0" y="0"/>
                </a:lnTo>
                <a:lnTo>
                  <a:pt x="0" y="486155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55594" y="837581"/>
            <a:ext cx="268605" cy="486409"/>
          </a:xfrm>
          <a:custGeom>
            <a:avLst/>
            <a:gdLst/>
            <a:ahLst/>
            <a:cxnLst/>
            <a:rect l="l" t="t" r="r" b="b"/>
            <a:pathLst>
              <a:path w="268605" h="486409">
                <a:moveTo>
                  <a:pt x="0" y="486155"/>
                </a:moveTo>
                <a:lnTo>
                  <a:pt x="268224" y="486155"/>
                </a:lnTo>
                <a:lnTo>
                  <a:pt x="268224" y="0"/>
                </a:lnTo>
                <a:lnTo>
                  <a:pt x="0" y="0"/>
                </a:lnTo>
                <a:lnTo>
                  <a:pt x="0" y="486155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4265" y="2492400"/>
            <a:ext cx="563917" cy="824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9027" y="263954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9027" y="2603837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23055" y="2619120"/>
            <a:ext cx="106680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4265" y="2704236"/>
            <a:ext cx="563917" cy="189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99027" y="295806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9027" y="2922353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16959" y="2937638"/>
            <a:ext cx="121920" cy="533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94265" y="2385719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9027" y="232179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9027" y="228532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23055" y="2300606"/>
            <a:ext cx="106680" cy="441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0803" y="2068722"/>
            <a:ext cx="827379" cy="1876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68369" y="3041395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0803" y="28426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469" y="0"/>
                </a:moveTo>
                <a:lnTo>
                  <a:pt x="10769" y="0"/>
                </a:lnTo>
                <a:lnTo>
                  <a:pt x="6984" y="1524"/>
                </a:lnTo>
                <a:lnTo>
                  <a:pt x="4152" y="4571"/>
                </a:lnTo>
                <a:lnTo>
                  <a:pt x="1384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54" y="28067"/>
                </a:lnTo>
                <a:lnTo>
                  <a:pt x="7150" y="30987"/>
                </a:lnTo>
                <a:lnTo>
                  <a:pt x="10833" y="32384"/>
                </a:lnTo>
                <a:lnTo>
                  <a:pt x="19405" y="32384"/>
                </a:lnTo>
                <a:lnTo>
                  <a:pt x="22733" y="31368"/>
                </a:lnTo>
                <a:lnTo>
                  <a:pt x="27940" y="27050"/>
                </a:lnTo>
                <a:lnTo>
                  <a:pt x="28384" y="26162"/>
                </a:lnTo>
                <a:lnTo>
                  <a:pt x="13144" y="26162"/>
                </a:lnTo>
                <a:lnTo>
                  <a:pt x="11430" y="25272"/>
                </a:lnTo>
                <a:lnTo>
                  <a:pt x="10172" y="23494"/>
                </a:lnTo>
                <a:lnTo>
                  <a:pt x="8991" y="21717"/>
                </a:lnTo>
                <a:lnTo>
                  <a:pt x="8394" y="19303"/>
                </a:lnTo>
                <a:lnTo>
                  <a:pt x="8394" y="13462"/>
                </a:lnTo>
                <a:lnTo>
                  <a:pt x="8991" y="11049"/>
                </a:lnTo>
                <a:lnTo>
                  <a:pt x="10172" y="9143"/>
                </a:lnTo>
                <a:lnTo>
                  <a:pt x="11430" y="7238"/>
                </a:lnTo>
                <a:lnTo>
                  <a:pt x="13208" y="6350"/>
                </a:lnTo>
                <a:lnTo>
                  <a:pt x="28816" y="6350"/>
                </a:lnTo>
                <a:lnTo>
                  <a:pt x="28193" y="5080"/>
                </a:lnTo>
                <a:lnTo>
                  <a:pt x="22796" y="1015"/>
                </a:lnTo>
                <a:lnTo>
                  <a:pt x="194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8101" y="2848990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18" y="0"/>
                </a:moveTo>
                <a:lnTo>
                  <a:pt x="0" y="0"/>
                </a:lnTo>
                <a:lnTo>
                  <a:pt x="1384" y="507"/>
                </a:lnTo>
                <a:lnTo>
                  <a:pt x="2362" y="1396"/>
                </a:lnTo>
                <a:lnTo>
                  <a:pt x="3416" y="2286"/>
                </a:lnTo>
                <a:lnTo>
                  <a:pt x="4076" y="3556"/>
                </a:lnTo>
                <a:lnTo>
                  <a:pt x="4343" y="5333"/>
                </a:lnTo>
                <a:lnTo>
                  <a:pt x="12547" y="5333"/>
                </a:lnTo>
                <a:lnTo>
                  <a:pt x="12344" y="1650"/>
                </a:lnTo>
                <a:lnTo>
                  <a:pt x="115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7961" y="2862452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890" y="0"/>
                </a:moveTo>
                <a:lnTo>
                  <a:pt x="4787" y="0"/>
                </a:lnTo>
                <a:lnTo>
                  <a:pt x="4521" y="2031"/>
                </a:lnTo>
                <a:lnTo>
                  <a:pt x="3784" y="3556"/>
                </a:lnTo>
                <a:lnTo>
                  <a:pt x="1485" y="5841"/>
                </a:lnTo>
                <a:lnTo>
                  <a:pt x="0" y="6350"/>
                </a:lnTo>
                <a:lnTo>
                  <a:pt x="11226" y="6350"/>
                </a:lnTo>
                <a:lnTo>
                  <a:pt x="12357" y="4063"/>
                </a:lnTo>
                <a:lnTo>
                  <a:pt x="1289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4674" y="28426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20523" y="0"/>
                </a:moveTo>
                <a:lnTo>
                  <a:pt x="10909" y="0"/>
                </a:lnTo>
                <a:lnTo>
                  <a:pt x="7086" y="1396"/>
                </a:lnTo>
                <a:lnTo>
                  <a:pt x="1422" y="7493"/>
                </a:lnTo>
                <a:lnTo>
                  <a:pt x="0" y="11430"/>
                </a:lnTo>
                <a:lnTo>
                  <a:pt x="25" y="21208"/>
                </a:lnTo>
                <a:lnTo>
                  <a:pt x="1422" y="25018"/>
                </a:lnTo>
                <a:lnTo>
                  <a:pt x="4254" y="28067"/>
                </a:lnTo>
                <a:lnTo>
                  <a:pt x="7150" y="30987"/>
                </a:lnTo>
                <a:lnTo>
                  <a:pt x="10972" y="32384"/>
                </a:lnTo>
                <a:lnTo>
                  <a:pt x="20472" y="32384"/>
                </a:lnTo>
                <a:lnTo>
                  <a:pt x="24282" y="30987"/>
                </a:lnTo>
                <a:lnTo>
                  <a:pt x="29057" y="26162"/>
                </a:lnTo>
                <a:lnTo>
                  <a:pt x="13474" y="26162"/>
                </a:lnTo>
                <a:lnTo>
                  <a:pt x="11696" y="25272"/>
                </a:lnTo>
                <a:lnTo>
                  <a:pt x="9067" y="21970"/>
                </a:lnTo>
                <a:lnTo>
                  <a:pt x="8407" y="19557"/>
                </a:lnTo>
                <a:lnTo>
                  <a:pt x="8407" y="12953"/>
                </a:lnTo>
                <a:lnTo>
                  <a:pt x="9067" y="10413"/>
                </a:lnTo>
                <a:lnTo>
                  <a:pt x="10388" y="8889"/>
                </a:lnTo>
                <a:lnTo>
                  <a:pt x="11696" y="7112"/>
                </a:lnTo>
                <a:lnTo>
                  <a:pt x="13474" y="6350"/>
                </a:lnTo>
                <a:lnTo>
                  <a:pt x="29019" y="6350"/>
                </a:lnTo>
                <a:lnTo>
                  <a:pt x="27178" y="4444"/>
                </a:lnTo>
                <a:lnTo>
                  <a:pt x="24345" y="1396"/>
                </a:lnTo>
                <a:lnTo>
                  <a:pt x="2052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2772" y="2848990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21" y="0"/>
                </a:moveTo>
                <a:lnTo>
                  <a:pt x="127" y="0"/>
                </a:lnTo>
                <a:lnTo>
                  <a:pt x="1968" y="888"/>
                </a:lnTo>
                <a:lnTo>
                  <a:pt x="3162" y="2667"/>
                </a:lnTo>
                <a:lnTo>
                  <a:pt x="4406" y="4444"/>
                </a:lnTo>
                <a:lnTo>
                  <a:pt x="4965" y="6603"/>
                </a:lnTo>
                <a:lnTo>
                  <a:pt x="5003" y="13207"/>
                </a:lnTo>
                <a:lnTo>
                  <a:pt x="4368" y="15493"/>
                </a:lnTo>
                <a:lnTo>
                  <a:pt x="3060" y="17144"/>
                </a:lnTo>
                <a:lnTo>
                  <a:pt x="1803" y="18922"/>
                </a:lnTo>
                <a:lnTo>
                  <a:pt x="0" y="19812"/>
                </a:lnTo>
                <a:lnTo>
                  <a:pt x="10960" y="19812"/>
                </a:lnTo>
                <a:lnTo>
                  <a:pt x="11988" y="18795"/>
                </a:lnTo>
                <a:lnTo>
                  <a:pt x="13436" y="14858"/>
                </a:lnTo>
                <a:lnTo>
                  <a:pt x="13436" y="5080"/>
                </a:lnTo>
                <a:lnTo>
                  <a:pt x="11988" y="1143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9810" y="2842640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182" y="0"/>
                </a:moveTo>
                <a:lnTo>
                  <a:pt x="7378" y="0"/>
                </a:lnTo>
                <a:lnTo>
                  <a:pt x="5600" y="381"/>
                </a:lnTo>
                <a:lnTo>
                  <a:pt x="3962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80"/>
                </a:lnTo>
                <a:lnTo>
                  <a:pt x="19596" y="5080"/>
                </a:lnTo>
                <a:lnTo>
                  <a:pt x="19570" y="4952"/>
                </a:lnTo>
                <a:lnTo>
                  <a:pt x="16014" y="888"/>
                </a:lnTo>
                <a:lnTo>
                  <a:pt x="131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1606" y="2843402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13" y="0"/>
                </a:moveTo>
                <a:lnTo>
                  <a:pt x="0" y="0"/>
                </a:lnTo>
                <a:lnTo>
                  <a:pt x="0" y="30860"/>
                </a:lnTo>
                <a:lnTo>
                  <a:pt x="8407" y="30860"/>
                </a:lnTo>
                <a:lnTo>
                  <a:pt x="8407" y="11556"/>
                </a:lnTo>
                <a:lnTo>
                  <a:pt x="8902" y="9397"/>
                </a:lnTo>
                <a:lnTo>
                  <a:pt x="9880" y="8000"/>
                </a:lnTo>
                <a:lnTo>
                  <a:pt x="10934" y="6603"/>
                </a:lnTo>
                <a:lnTo>
                  <a:pt x="12623" y="5841"/>
                </a:lnTo>
                <a:lnTo>
                  <a:pt x="28257" y="5841"/>
                </a:lnTo>
                <a:lnTo>
                  <a:pt x="27800" y="4318"/>
                </a:lnTo>
                <a:lnTo>
                  <a:pt x="8013" y="4318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8446" y="2849244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17" y="0"/>
                </a:moveTo>
                <a:lnTo>
                  <a:pt x="0" y="0"/>
                </a:lnTo>
                <a:lnTo>
                  <a:pt x="1346" y="635"/>
                </a:lnTo>
                <a:lnTo>
                  <a:pt x="2133" y="1905"/>
                </a:lnTo>
                <a:lnTo>
                  <a:pt x="2997" y="3175"/>
                </a:lnTo>
                <a:lnTo>
                  <a:pt x="3428" y="4953"/>
                </a:lnTo>
                <a:lnTo>
                  <a:pt x="3428" y="25018"/>
                </a:lnTo>
                <a:lnTo>
                  <a:pt x="11823" y="25018"/>
                </a:lnTo>
                <a:lnTo>
                  <a:pt x="11823" y="1524"/>
                </a:lnTo>
                <a:lnTo>
                  <a:pt x="1141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3712" y="2843402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01" y="0"/>
                </a:moveTo>
                <a:lnTo>
                  <a:pt x="0" y="0"/>
                </a:lnTo>
                <a:lnTo>
                  <a:pt x="10477" y="30860"/>
                </a:lnTo>
                <a:lnTo>
                  <a:pt x="19773" y="30860"/>
                </a:lnTo>
                <a:lnTo>
                  <a:pt x="23063" y="21081"/>
                </a:lnTo>
                <a:lnTo>
                  <a:pt x="15227" y="21081"/>
                </a:lnTo>
                <a:lnTo>
                  <a:pt x="88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9040" y="2843402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20" y="0"/>
                </a:moveTo>
                <a:lnTo>
                  <a:pt x="6426" y="0"/>
                </a:lnTo>
                <a:lnTo>
                  <a:pt x="0" y="21081"/>
                </a:lnTo>
                <a:lnTo>
                  <a:pt x="7734" y="21081"/>
                </a:lnTo>
                <a:lnTo>
                  <a:pt x="148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8446" y="2832480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83" y="0"/>
                </a:moveTo>
                <a:lnTo>
                  <a:pt x="12065" y="0"/>
                </a:lnTo>
                <a:lnTo>
                  <a:pt x="11658" y="2793"/>
                </a:lnTo>
                <a:lnTo>
                  <a:pt x="10477" y="4825"/>
                </a:lnTo>
                <a:lnTo>
                  <a:pt x="8496" y="6223"/>
                </a:lnTo>
                <a:lnTo>
                  <a:pt x="6591" y="7619"/>
                </a:lnTo>
                <a:lnTo>
                  <a:pt x="3962" y="8255"/>
                </a:lnTo>
                <a:lnTo>
                  <a:pt x="0" y="8255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2"/>
                </a:lnTo>
                <a:lnTo>
                  <a:pt x="18783" y="41782"/>
                </a:lnTo>
                <a:lnTo>
                  <a:pt x="187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00082" y="285436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201"/>
                </a:moveTo>
                <a:lnTo>
                  <a:pt x="17691" y="7201"/>
                </a:lnTo>
                <a:lnTo>
                  <a:pt x="17691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25240" y="2832480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96" y="0"/>
                </a:moveTo>
                <a:lnTo>
                  <a:pt x="12065" y="0"/>
                </a:lnTo>
                <a:lnTo>
                  <a:pt x="11684" y="2793"/>
                </a:lnTo>
                <a:lnTo>
                  <a:pt x="10540" y="4825"/>
                </a:lnTo>
                <a:lnTo>
                  <a:pt x="8509" y="6223"/>
                </a:lnTo>
                <a:lnTo>
                  <a:pt x="6603" y="7619"/>
                </a:lnTo>
                <a:lnTo>
                  <a:pt x="3937" y="8255"/>
                </a:lnTo>
                <a:lnTo>
                  <a:pt x="0" y="8255"/>
                </a:lnTo>
                <a:lnTo>
                  <a:pt x="0" y="14731"/>
                </a:lnTo>
                <a:lnTo>
                  <a:pt x="10414" y="14731"/>
                </a:lnTo>
                <a:lnTo>
                  <a:pt x="10414" y="41782"/>
                </a:lnTo>
                <a:lnTo>
                  <a:pt x="18796" y="41782"/>
                </a:lnTo>
                <a:lnTo>
                  <a:pt x="1879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0803" y="27410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571"/>
                </a:lnTo>
                <a:lnTo>
                  <a:pt x="1384" y="7493"/>
                </a:lnTo>
                <a:lnTo>
                  <a:pt x="0" y="11430"/>
                </a:lnTo>
                <a:lnTo>
                  <a:pt x="0" y="20955"/>
                </a:lnTo>
                <a:lnTo>
                  <a:pt x="1422" y="24637"/>
                </a:lnTo>
                <a:lnTo>
                  <a:pt x="4267" y="27558"/>
                </a:lnTo>
                <a:lnTo>
                  <a:pt x="7175" y="30480"/>
                </a:lnTo>
                <a:lnTo>
                  <a:pt x="10871" y="31876"/>
                </a:lnTo>
                <a:lnTo>
                  <a:pt x="19469" y="31876"/>
                </a:lnTo>
                <a:lnTo>
                  <a:pt x="22809" y="30861"/>
                </a:lnTo>
                <a:lnTo>
                  <a:pt x="28028" y="26543"/>
                </a:lnTo>
                <a:lnTo>
                  <a:pt x="28486" y="25653"/>
                </a:lnTo>
                <a:lnTo>
                  <a:pt x="13182" y="25653"/>
                </a:lnTo>
                <a:lnTo>
                  <a:pt x="11468" y="24892"/>
                </a:lnTo>
                <a:lnTo>
                  <a:pt x="10210" y="23113"/>
                </a:lnTo>
                <a:lnTo>
                  <a:pt x="9017" y="21336"/>
                </a:lnTo>
                <a:lnTo>
                  <a:pt x="8420" y="19050"/>
                </a:lnTo>
                <a:lnTo>
                  <a:pt x="8420" y="13207"/>
                </a:lnTo>
                <a:lnTo>
                  <a:pt x="9017" y="10921"/>
                </a:lnTo>
                <a:lnTo>
                  <a:pt x="10210" y="9017"/>
                </a:lnTo>
                <a:lnTo>
                  <a:pt x="11468" y="7238"/>
                </a:lnTo>
                <a:lnTo>
                  <a:pt x="13246" y="6350"/>
                </a:lnTo>
                <a:lnTo>
                  <a:pt x="28917" y="6350"/>
                </a:lnTo>
                <a:lnTo>
                  <a:pt x="28282" y="5080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48152" y="2747390"/>
            <a:ext cx="12700" cy="5080"/>
          </a:xfrm>
          <a:custGeom>
            <a:avLst/>
            <a:gdLst/>
            <a:ahLst/>
            <a:cxnLst/>
            <a:rect l="l" t="t" r="r" b="b"/>
            <a:pathLst>
              <a:path w="12700" h="5080">
                <a:moveTo>
                  <a:pt x="11569" y="0"/>
                </a:moveTo>
                <a:lnTo>
                  <a:pt x="0" y="0"/>
                </a:lnTo>
                <a:lnTo>
                  <a:pt x="1384" y="381"/>
                </a:lnTo>
                <a:lnTo>
                  <a:pt x="2374" y="1269"/>
                </a:lnTo>
                <a:lnTo>
                  <a:pt x="3441" y="2158"/>
                </a:lnTo>
                <a:lnTo>
                  <a:pt x="4102" y="3428"/>
                </a:lnTo>
                <a:lnTo>
                  <a:pt x="4368" y="5080"/>
                </a:lnTo>
                <a:lnTo>
                  <a:pt x="12598" y="5080"/>
                </a:lnTo>
                <a:lnTo>
                  <a:pt x="12395" y="1524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8012" y="2760598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28" y="0"/>
                </a:moveTo>
                <a:lnTo>
                  <a:pt x="4800" y="0"/>
                </a:lnTo>
                <a:lnTo>
                  <a:pt x="4533" y="1905"/>
                </a:lnTo>
                <a:lnTo>
                  <a:pt x="3809" y="3429"/>
                </a:lnTo>
                <a:lnTo>
                  <a:pt x="1498" y="5587"/>
                </a:lnTo>
                <a:lnTo>
                  <a:pt x="0" y="6095"/>
                </a:lnTo>
                <a:lnTo>
                  <a:pt x="11277" y="6095"/>
                </a:lnTo>
                <a:lnTo>
                  <a:pt x="12407" y="3937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4789" y="27410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365"/>
                </a:lnTo>
                <a:lnTo>
                  <a:pt x="0" y="11175"/>
                </a:lnTo>
                <a:lnTo>
                  <a:pt x="25" y="20827"/>
                </a:lnTo>
                <a:lnTo>
                  <a:pt x="1422" y="24637"/>
                </a:lnTo>
                <a:lnTo>
                  <a:pt x="4267" y="27558"/>
                </a:lnTo>
                <a:lnTo>
                  <a:pt x="7175" y="30480"/>
                </a:lnTo>
                <a:lnTo>
                  <a:pt x="11010" y="31876"/>
                </a:lnTo>
                <a:lnTo>
                  <a:pt x="20523" y="31876"/>
                </a:lnTo>
                <a:lnTo>
                  <a:pt x="24358" y="30480"/>
                </a:lnTo>
                <a:lnTo>
                  <a:pt x="29146" y="25653"/>
                </a:lnTo>
                <a:lnTo>
                  <a:pt x="13512" y="25653"/>
                </a:lnTo>
                <a:lnTo>
                  <a:pt x="11734" y="24892"/>
                </a:lnTo>
                <a:lnTo>
                  <a:pt x="9093" y="21589"/>
                </a:lnTo>
                <a:lnTo>
                  <a:pt x="8420" y="19176"/>
                </a:lnTo>
                <a:lnTo>
                  <a:pt x="8420" y="12700"/>
                </a:lnTo>
                <a:lnTo>
                  <a:pt x="9093" y="10287"/>
                </a:lnTo>
                <a:lnTo>
                  <a:pt x="10414" y="8762"/>
                </a:lnTo>
                <a:lnTo>
                  <a:pt x="11734" y="7112"/>
                </a:lnTo>
                <a:lnTo>
                  <a:pt x="13512" y="6350"/>
                </a:lnTo>
                <a:lnTo>
                  <a:pt x="29108" y="6350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2937" y="2747390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70" h="19685">
                <a:moveTo>
                  <a:pt x="10960" y="0"/>
                </a:moveTo>
                <a:lnTo>
                  <a:pt x="127" y="0"/>
                </a:lnTo>
                <a:lnTo>
                  <a:pt x="1981" y="888"/>
                </a:lnTo>
                <a:lnTo>
                  <a:pt x="4432" y="4318"/>
                </a:lnTo>
                <a:lnTo>
                  <a:pt x="4991" y="6350"/>
                </a:lnTo>
                <a:lnTo>
                  <a:pt x="5016" y="12826"/>
                </a:lnTo>
                <a:lnTo>
                  <a:pt x="4394" y="15112"/>
                </a:lnTo>
                <a:lnTo>
                  <a:pt x="3073" y="16763"/>
                </a:lnTo>
                <a:lnTo>
                  <a:pt x="1816" y="18542"/>
                </a:lnTo>
                <a:lnTo>
                  <a:pt x="0" y="19303"/>
                </a:lnTo>
                <a:lnTo>
                  <a:pt x="10998" y="19303"/>
                </a:lnTo>
                <a:lnTo>
                  <a:pt x="12026" y="18287"/>
                </a:lnTo>
                <a:lnTo>
                  <a:pt x="13487" y="14477"/>
                </a:lnTo>
                <a:lnTo>
                  <a:pt x="13487" y="4825"/>
                </a:lnTo>
                <a:lnTo>
                  <a:pt x="12026" y="1015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0064" y="2741040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428"/>
                </a:lnTo>
                <a:lnTo>
                  <a:pt x="0" y="5080"/>
                </a:lnTo>
                <a:lnTo>
                  <a:pt x="19659" y="5080"/>
                </a:lnTo>
                <a:lnTo>
                  <a:pt x="19634" y="4952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01835" y="2741802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80">
                <a:moveTo>
                  <a:pt x="8039" y="0"/>
                </a:moveTo>
                <a:lnTo>
                  <a:pt x="0" y="0"/>
                </a:lnTo>
                <a:lnTo>
                  <a:pt x="0" y="30352"/>
                </a:lnTo>
                <a:lnTo>
                  <a:pt x="8432" y="30352"/>
                </a:lnTo>
                <a:lnTo>
                  <a:pt x="8432" y="11302"/>
                </a:lnTo>
                <a:lnTo>
                  <a:pt x="8928" y="9270"/>
                </a:lnTo>
                <a:lnTo>
                  <a:pt x="9918" y="7874"/>
                </a:lnTo>
                <a:lnTo>
                  <a:pt x="10972" y="6476"/>
                </a:lnTo>
                <a:lnTo>
                  <a:pt x="12661" y="5841"/>
                </a:lnTo>
                <a:lnTo>
                  <a:pt x="28346" y="5841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18726" y="2747644"/>
            <a:ext cx="12065" cy="24765"/>
          </a:xfrm>
          <a:custGeom>
            <a:avLst/>
            <a:gdLst/>
            <a:ahLst/>
            <a:cxnLst/>
            <a:rect l="l" t="t" r="r" b="b"/>
            <a:pathLst>
              <a:path w="12065" h="24764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826"/>
                </a:lnTo>
                <a:lnTo>
                  <a:pt x="3428" y="24511"/>
                </a:lnTo>
                <a:lnTo>
                  <a:pt x="11861" y="24511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34042" y="2741802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80">
                <a:moveTo>
                  <a:pt x="8826" y="0"/>
                </a:moveTo>
                <a:lnTo>
                  <a:pt x="0" y="0"/>
                </a:lnTo>
                <a:lnTo>
                  <a:pt x="10515" y="30352"/>
                </a:lnTo>
                <a:lnTo>
                  <a:pt x="19837" y="30352"/>
                </a:lnTo>
                <a:lnTo>
                  <a:pt x="23139" y="20700"/>
                </a:lnTo>
                <a:lnTo>
                  <a:pt x="15265" y="20700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9409" y="2741802"/>
            <a:ext cx="15240" cy="20955"/>
          </a:xfrm>
          <a:custGeom>
            <a:avLst/>
            <a:gdLst/>
            <a:ahLst/>
            <a:cxnLst/>
            <a:rect l="l" t="t" r="r" b="b"/>
            <a:pathLst>
              <a:path w="15240" h="20955">
                <a:moveTo>
                  <a:pt x="14884" y="0"/>
                </a:moveTo>
                <a:lnTo>
                  <a:pt x="6451" y="0"/>
                </a:lnTo>
                <a:lnTo>
                  <a:pt x="0" y="20700"/>
                </a:lnTo>
                <a:lnTo>
                  <a:pt x="7772" y="20700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8891" y="2731134"/>
            <a:ext cx="19050" cy="41275"/>
          </a:xfrm>
          <a:custGeom>
            <a:avLst/>
            <a:gdLst/>
            <a:ahLst/>
            <a:cxnLst/>
            <a:rect l="l" t="t" r="r" b="b"/>
            <a:pathLst>
              <a:path w="19050" h="41275">
                <a:moveTo>
                  <a:pt x="18834" y="0"/>
                </a:moveTo>
                <a:lnTo>
                  <a:pt x="12090" y="0"/>
                </a:lnTo>
                <a:lnTo>
                  <a:pt x="11696" y="2667"/>
                </a:lnTo>
                <a:lnTo>
                  <a:pt x="10515" y="4699"/>
                </a:lnTo>
                <a:lnTo>
                  <a:pt x="8521" y="6095"/>
                </a:lnTo>
                <a:lnTo>
                  <a:pt x="6603" y="7493"/>
                </a:lnTo>
                <a:lnTo>
                  <a:pt x="3962" y="8127"/>
                </a:lnTo>
                <a:lnTo>
                  <a:pt x="0" y="8127"/>
                </a:lnTo>
                <a:lnTo>
                  <a:pt x="0" y="14477"/>
                </a:lnTo>
                <a:lnTo>
                  <a:pt x="10413" y="14477"/>
                </a:lnTo>
                <a:lnTo>
                  <a:pt x="10413" y="41020"/>
                </a:lnTo>
                <a:lnTo>
                  <a:pt x="18834" y="41020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00615" y="2752650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059"/>
                </a:moveTo>
                <a:lnTo>
                  <a:pt x="17746" y="7059"/>
                </a:lnTo>
                <a:lnTo>
                  <a:pt x="17746" y="0"/>
                </a:lnTo>
                <a:lnTo>
                  <a:pt x="0" y="0"/>
                </a:lnTo>
                <a:lnTo>
                  <a:pt x="0" y="705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23716" y="2730372"/>
            <a:ext cx="28575" cy="16510"/>
          </a:xfrm>
          <a:custGeom>
            <a:avLst/>
            <a:gdLst/>
            <a:ahLst/>
            <a:cxnLst/>
            <a:rect l="l" t="t" r="r" b="b"/>
            <a:pathLst>
              <a:path w="28575" h="16510">
                <a:moveTo>
                  <a:pt x="19177" y="0"/>
                </a:moveTo>
                <a:lnTo>
                  <a:pt x="10541" y="0"/>
                </a:lnTo>
                <a:lnTo>
                  <a:pt x="6858" y="1396"/>
                </a:lnTo>
                <a:lnTo>
                  <a:pt x="4064" y="4318"/>
                </a:lnTo>
                <a:lnTo>
                  <a:pt x="1396" y="7238"/>
                </a:lnTo>
                <a:lnTo>
                  <a:pt x="0" y="11049"/>
                </a:lnTo>
                <a:lnTo>
                  <a:pt x="0" y="16510"/>
                </a:lnTo>
                <a:lnTo>
                  <a:pt x="8001" y="16510"/>
                </a:lnTo>
                <a:lnTo>
                  <a:pt x="8128" y="13588"/>
                </a:lnTo>
                <a:lnTo>
                  <a:pt x="8763" y="11302"/>
                </a:lnTo>
                <a:lnTo>
                  <a:pt x="9779" y="9651"/>
                </a:lnTo>
                <a:lnTo>
                  <a:pt x="10921" y="8000"/>
                </a:lnTo>
                <a:lnTo>
                  <a:pt x="12573" y="7112"/>
                </a:lnTo>
                <a:lnTo>
                  <a:pt x="28448" y="7112"/>
                </a:lnTo>
                <a:lnTo>
                  <a:pt x="27940" y="5968"/>
                </a:lnTo>
                <a:lnTo>
                  <a:pt x="25146" y="3682"/>
                </a:lnTo>
                <a:lnTo>
                  <a:pt x="22479" y="1269"/>
                </a:lnTo>
                <a:lnTo>
                  <a:pt x="1917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22827" y="2737484"/>
            <a:ext cx="30480" cy="34925"/>
          </a:xfrm>
          <a:custGeom>
            <a:avLst/>
            <a:gdLst/>
            <a:ahLst/>
            <a:cxnLst/>
            <a:rect l="l" t="t" r="r" b="b"/>
            <a:pathLst>
              <a:path w="30480" h="34925">
                <a:moveTo>
                  <a:pt x="29337" y="0"/>
                </a:moveTo>
                <a:lnTo>
                  <a:pt x="17399" y="0"/>
                </a:lnTo>
                <a:lnTo>
                  <a:pt x="18922" y="634"/>
                </a:lnTo>
                <a:lnTo>
                  <a:pt x="21209" y="2920"/>
                </a:lnTo>
                <a:lnTo>
                  <a:pt x="21716" y="4444"/>
                </a:lnTo>
                <a:lnTo>
                  <a:pt x="21716" y="7874"/>
                </a:lnTo>
                <a:lnTo>
                  <a:pt x="21209" y="9270"/>
                </a:lnTo>
                <a:lnTo>
                  <a:pt x="19431" y="11811"/>
                </a:lnTo>
                <a:lnTo>
                  <a:pt x="18034" y="13081"/>
                </a:lnTo>
                <a:lnTo>
                  <a:pt x="16128" y="14350"/>
                </a:lnTo>
                <a:lnTo>
                  <a:pt x="0" y="32003"/>
                </a:lnTo>
                <a:lnTo>
                  <a:pt x="0" y="34670"/>
                </a:lnTo>
                <a:lnTo>
                  <a:pt x="30353" y="34670"/>
                </a:lnTo>
                <a:lnTo>
                  <a:pt x="30353" y="27558"/>
                </a:lnTo>
                <a:lnTo>
                  <a:pt x="10794" y="27558"/>
                </a:lnTo>
                <a:lnTo>
                  <a:pt x="11556" y="26415"/>
                </a:lnTo>
                <a:lnTo>
                  <a:pt x="13843" y="24130"/>
                </a:lnTo>
                <a:lnTo>
                  <a:pt x="15240" y="22987"/>
                </a:lnTo>
                <a:lnTo>
                  <a:pt x="17399" y="21462"/>
                </a:lnTo>
                <a:lnTo>
                  <a:pt x="20193" y="19812"/>
                </a:lnTo>
                <a:lnTo>
                  <a:pt x="24256" y="17144"/>
                </a:lnTo>
                <a:lnTo>
                  <a:pt x="26924" y="14858"/>
                </a:lnTo>
                <a:lnTo>
                  <a:pt x="28193" y="12826"/>
                </a:lnTo>
                <a:lnTo>
                  <a:pt x="29463" y="10668"/>
                </a:lnTo>
                <a:lnTo>
                  <a:pt x="30099" y="8255"/>
                </a:lnTo>
                <a:lnTo>
                  <a:pt x="30099" y="1905"/>
                </a:lnTo>
                <a:lnTo>
                  <a:pt x="2933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30803" y="2425572"/>
            <a:ext cx="222377" cy="1446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99027" y="190117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99027" y="1864701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23055" y="1881506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94265" y="1536851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99027" y="147292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99027" y="1436457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23055" y="1451736"/>
            <a:ext cx="106680" cy="44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94265" y="1111655"/>
            <a:ext cx="563917" cy="1891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99027" y="104773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99027" y="1011261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23055" y="1026542"/>
            <a:ext cx="106680" cy="441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94265" y="581303"/>
            <a:ext cx="563917" cy="4009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0803" y="1239900"/>
            <a:ext cx="828903" cy="1675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0803" y="1559940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30803" y="114388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4">
                <a:moveTo>
                  <a:pt x="19494" y="0"/>
                </a:moveTo>
                <a:lnTo>
                  <a:pt x="10782" y="0"/>
                </a:lnTo>
                <a:lnTo>
                  <a:pt x="6984" y="1524"/>
                </a:lnTo>
                <a:lnTo>
                  <a:pt x="4152" y="4572"/>
                </a:lnTo>
                <a:lnTo>
                  <a:pt x="1384" y="7493"/>
                </a:lnTo>
                <a:lnTo>
                  <a:pt x="0" y="11430"/>
                </a:lnTo>
                <a:lnTo>
                  <a:pt x="0" y="20955"/>
                </a:lnTo>
                <a:lnTo>
                  <a:pt x="1422" y="24637"/>
                </a:lnTo>
                <a:lnTo>
                  <a:pt x="4254" y="27559"/>
                </a:lnTo>
                <a:lnTo>
                  <a:pt x="7150" y="30480"/>
                </a:lnTo>
                <a:lnTo>
                  <a:pt x="10845" y="31876"/>
                </a:lnTo>
                <a:lnTo>
                  <a:pt x="19431" y="31876"/>
                </a:lnTo>
                <a:lnTo>
                  <a:pt x="22758" y="30861"/>
                </a:lnTo>
                <a:lnTo>
                  <a:pt x="27978" y="26543"/>
                </a:lnTo>
                <a:lnTo>
                  <a:pt x="28422" y="25654"/>
                </a:lnTo>
                <a:lnTo>
                  <a:pt x="13157" y="25654"/>
                </a:lnTo>
                <a:lnTo>
                  <a:pt x="11442" y="24892"/>
                </a:lnTo>
                <a:lnTo>
                  <a:pt x="10185" y="23113"/>
                </a:lnTo>
                <a:lnTo>
                  <a:pt x="9004" y="21336"/>
                </a:lnTo>
                <a:lnTo>
                  <a:pt x="8407" y="19050"/>
                </a:lnTo>
                <a:lnTo>
                  <a:pt x="8407" y="13208"/>
                </a:lnTo>
                <a:lnTo>
                  <a:pt x="9004" y="10922"/>
                </a:lnTo>
                <a:lnTo>
                  <a:pt x="10185" y="9017"/>
                </a:lnTo>
                <a:lnTo>
                  <a:pt x="11442" y="7238"/>
                </a:lnTo>
                <a:lnTo>
                  <a:pt x="13220" y="6350"/>
                </a:lnTo>
                <a:lnTo>
                  <a:pt x="28854" y="6350"/>
                </a:lnTo>
                <a:lnTo>
                  <a:pt x="28232" y="5080"/>
                </a:lnTo>
                <a:lnTo>
                  <a:pt x="22821" y="1016"/>
                </a:lnTo>
                <a:lnTo>
                  <a:pt x="194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48114" y="1150238"/>
            <a:ext cx="12700" cy="5080"/>
          </a:xfrm>
          <a:custGeom>
            <a:avLst/>
            <a:gdLst/>
            <a:ahLst/>
            <a:cxnLst/>
            <a:rect l="l" t="t" r="r" b="b"/>
            <a:pathLst>
              <a:path w="12700" h="5080">
                <a:moveTo>
                  <a:pt x="11544" y="0"/>
                </a:moveTo>
                <a:lnTo>
                  <a:pt x="0" y="0"/>
                </a:lnTo>
                <a:lnTo>
                  <a:pt x="1396" y="381"/>
                </a:lnTo>
                <a:lnTo>
                  <a:pt x="2374" y="1270"/>
                </a:lnTo>
                <a:lnTo>
                  <a:pt x="3441" y="2159"/>
                </a:lnTo>
                <a:lnTo>
                  <a:pt x="4089" y="3429"/>
                </a:lnTo>
                <a:lnTo>
                  <a:pt x="4356" y="5080"/>
                </a:lnTo>
                <a:lnTo>
                  <a:pt x="12573" y="5080"/>
                </a:lnTo>
                <a:lnTo>
                  <a:pt x="12369" y="1524"/>
                </a:lnTo>
                <a:lnTo>
                  <a:pt x="1154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47987" y="1163446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03" y="0"/>
                </a:moveTo>
                <a:lnTo>
                  <a:pt x="4787" y="0"/>
                </a:lnTo>
                <a:lnTo>
                  <a:pt x="4521" y="1904"/>
                </a:lnTo>
                <a:lnTo>
                  <a:pt x="3797" y="3428"/>
                </a:lnTo>
                <a:lnTo>
                  <a:pt x="1485" y="5587"/>
                </a:lnTo>
                <a:lnTo>
                  <a:pt x="0" y="6096"/>
                </a:lnTo>
                <a:lnTo>
                  <a:pt x="11239" y="6096"/>
                </a:lnTo>
                <a:lnTo>
                  <a:pt x="12369" y="3937"/>
                </a:lnTo>
                <a:lnTo>
                  <a:pt x="1290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64725" y="114388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4">
                <a:moveTo>
                  <a:pt x="20548" y="0"/>
                </a:moveTo>
                <a:lnTo>
                  <a:pt x="10921" y="0"/>
                </a:lnTo>
                <a:lnTo>
                  <a:pt x="7086" y="1524"/>
                </a:lnTo>
                <a:lnTo>
                  <a:pt x="1422" y="7366"/>
                </a:lnTo>
                <a:lnTo>
                  <a:pt x="0" y="11175"/>
                </a:lnTo>
                <a:lnTo>
                  <a:pt x="25" y="20827"/>
                </a:lnTo>
                <a:lnTo>
                  <a:pt x="1422" y="24637"/>
                </a:lnTo>
                <a:lnTo>
                  <a:pt x="4254" y="27559"/>
                </a:lnTo>
                <a:lnTo>
                  <a:pt x="7150" y="30480"/>
                </a:lnTo>
                <a:lnTo>
                  <a:pt x="10985" y="31876"/>
                </a:lnTo>
                <a:lnTo>
                  <a:pt x="20485" y="31876"/>
                </a:lnTo>
                <a:lnTo>
                  <a:pt x="24307" y="30480"/>
                </a:lnTo>
                <a:lnTo>
                  <a:pt x="29082" y="25654"/>
                </a:lnTo>
                <a:lnTo>
                  <a:pt x="13487" y="25654"/>
                </a:lnTo>
                <a:lnTo>
                  <a:pt x="11709" y="24892"/>
                </a:lnTo>
                <a:lnTo>
                  <a:pt x="9067" y="21589"/>
                </a:lnTo>
                <a:lnTo>
                  <a:pt x="8407" y="19176"/>
                </a:lnTo>
                <a:lnTo>
                  <a:pt x="8407" y="12700"/>
                </a:lnTo>
                <a:lnTo>
                  <a:pt x="9067" y="10287"/>
                </a:lnTo>
                <a:lnTo>
                  <a:pt x="10388" y="8762"/>
                </a:lnTo>
                <a:lnTo>
                  <a:pt x="11709" y="7112"/>
                </a:lnTo>
                <a:lnTo>
                  <a:pt x="13487" y="6350"/>
                </a:lnTo>
                <a:lnTo>
                  <a:pt x="29044" y="6350"/>
                </a:lnTo>
                <a:lnTo>
                  <a:pt x="24371" y="1524"/>
                </a:lnTo>
                <a:lnTo>
                  <a:pt x="2054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82835" y="1150238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70" h="19684">
                <a:moveTo>
                  <a:pt x="10934" y="0"/>
                </a:moveTo>
                <a:lnTo>
                  <a:pt x="126" y="0"/>
                </a:lnTo>
                <a:lnTo>
                  <a:pt x="1981" y="888"/>
                </a:lnTo>
                <a:lnTo>
                  <a:pt x="4419" y="4318"/>
                </a:lnTo>
                <a:lnTo>
                  <a:pt x="4978" y="6350"/>
                </a:lnTo>
                <a:lnTo>
                  <a:pt x="5016" y="12826"/>
                </a:lnTo>
                <a:lnTo>
                  <a:pt x="4381" y="15112"/>
                </a:lnTo>
                <a:lnTo>
                  <a:pt x="3060" y="16763"/>
                </a:lnTo>
                <a:lnTo>
                  <a:pt x="1816" y="18542"/>
                </a:lnTo>
                <a:lnTo>
                  <a:pt x="0" y="19304"/>
                </a:lnTo>
                <a:lnTo>
                  <a:pt x="10972" y="19304"/>
                </a:lnTo>
                <a:lnTo>
                  <a:pt x="12001" y="18287"/>
                </a:lnTo>
                <a:lnTo>
                  <a:pt x="13462" y="14477"/>
                </a:lnTo>
                <a:lnTo>
                  <a:pt x="13462" y="4825"/>
                </a:lnTo>
                <a:lnTo>
                  <a:pt x="12001" y="1016"/>
                </a:lnTo>
                <a:lnTo>
                  <a:pt x="109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09912" y="1143888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195" y="0"/>
                </a:moveTo>
                <a:lnTo>
                  <a:pt x="7391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429"/>
                </a:lnTo>
                <a:lnTo>
                  <a:pt x="0" y="5080"/>
                </a:lnTo>
                <a:lnTo>
                  <a:pt x="19634" y="5080"/>
                </a:lnTo>
                <a:lnTo>
                  <a:pt x="19596" y="4952"/>
                </a:lnTo>
                <a:lnTo>
                  <a:pt x="16027" y="1016"/>
                </a:lnTo>
                <a:lnTo>
                  <a:pt x="1319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01708" y="1144650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80">
                <a:moveTo>
                  <a:pt x="8013" y="0"/>
                </a:moveTo>
                <a:lnTo>
                  <a:pt x="0" y="0"/>
                </a:lnTo>
                <a:lnTo>
                  <a:pt x="0" y="30352"/>
                </a:lnTo>
                <a:lnTo>
                  <a:pt x="8407" y="30352"/>
                </a:lnTo>
                <a:lnTo>
                  <a:pt x="8407" y="11302"/>
                </a:lnTo>
                <a:lnTo>
                  <a:pt x="8902" y="9271"/>
                </a:lnTo>
                <a:lnTo>
                  <a:pt x="9893" y="7874"/>
                </a:lnTo>
                <a:lnTo>
                  <a:pt x="10947" y="6476"/>
                </a:lnTo>
                <a:lnTo>
                  <a:pt x="12623" y="5842"/>
                </a:lnTo>
                <a:lnTo>
                  <a:pt x="28282" y="5842"/>
                </a:lnTo>
                <a:lnTo>
                  <a:pt x="27838" y="4318"/>
                </a:lnTo>
                <a:lnTo>
                  <a:pt x="8013" y="4318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18560" y="1150492"/>
            <a:ext cx="12065" cy="24765"/>
          </a:xfrm>
          <a:custGeom>
            <a:avLst/>
            <a:gdLst/>
            <a:ahLst/>
            <a:cxnLst/>
            <a:rect l="l" t="t" r="r" b="b"/>
            <a:pathLst>
              <a:path w="12065" h="24765">
                <a:moveTo>
                  <a:pt x="11429" y="0"/>
                </a:moveTo>
                <a:lnTo>
                  <a:pt x="0" y="0"/>
                </a:lnTo>
                <a:lnTo>
                  <a:pt x="1346" y="634"/>
                </a:lnTo>
                <a:lnTo>
                  <a:pt x="2146" y="1904"/>
                </a:lnTo>
                <a:lnTo>
                  <a:pt x="2997" y="3047"/>
                </a:lnTo>
                <a:lnTo>
                  <a:pt x="3428" y="4825"/>
                </a:lnTo>
                <a:lnTo>
                  <a:pt x="3428" y="24510"/>
                </a:lnTo>
                <a:lnTo>
                  <a:pt x="11836" y="24510"/>
                </a:lnTo>
                <a:lnTo>
                  <a:pt x="11836" y="1396"/>
                </a:lnTo>
                <a:lnTo>
                  <a:pt x="1142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33851" y="1144650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80">
                <a:moveTo>
                  <a:pt x="8813" y="0"/>
                </a:moveTo>
                <a:lnTo>
                  <a:pt x="0" y="0"/>
                </a:lnTo>
                <a:lnTo>
                  <a:pt x="10490" y="30352"/>
                </a:lnTo>
                <a:lnTo>
                  <a:pt x="19786" y="30352"/>
                </a:lnTo>
                <a:lnTo>
                  <a:pt x="23088" y="20700"/>
                </a:lnTo>
                <a:lnTo>
                  <a:pt x="15240" y="20700"/>
                </a:lnTo>
                <a:lnTo>
                  <a:pt x="88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49193" y="1144650"/>
            <a:ext cx="15240" cy="20955"/>
          </a:xfrm>
          <a:custGeom>
            <a:avLst/>
            <a:gdLst/>
            <a:ahLst/>
            <a:cxnLst/>
            <a:rect l="l" t="t" r="r" b="b"/>
            <a:pathLst>
              <a:path w="15240" h="20955">
                <a:moveTo>
                  <a:pt x="14846" y="0"/>
                </a:moveTo>
                <a:lnTo>
                  <a:pt x="6426" y="0"/>
                </a:lnTo>
                <a:lnTo>
                  <a:pt x="0" y="20700"/>
                </a:lnTo>
                <a:lnTo>
                  <a:pt x="7746" y="20700"/>
                </a:lnTo>
                <a:lnTo>
                  <a:pt x="1484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66643" y="1133982"/>
            <a:ext cx="28575" cy="22860"/>
          </a:xfrm>
          <a:custGeom>
            <a:avLst/>
            <a:gdLst/>
            <a:ahLst/>
            <a:cxnLst/>
            <a:rect l="l" t="t" r="r" b="b"/>
            <a:pathLst>
              <a:path w="28575" h="22859">
                <a:moveTo>
                  <a:pt x="27216" y="0"/>
                </a:moveTo>
                <a:lnTo>
                  <a:pt x="4064" y="0"/>
                </a:lnTo>
                <a:lnTo>
                  <a:pt x="0" y="22732"/>
                </a:lnTo>
                <a:lnTo>
                  <a:pt x="7531" y="22732"/>
                </a:lnTo>
                <a:lnTo>
                  <a:pt x="8293" y="21589"/>
                </a:lnTo>
                <a:lnTo>
                  <a:pt x="9182" y="20700"/>
                </a:lnTo>
                <a:lnTo>
                  <a:pt x="10096" y="20192"/>
                </a:lnTo>
                <a:lnTo>
                  <a:pt x="11087" y="19685"/>
                </a:lnTo>
                <a:lnTo>
                  <a:pt x="12344" y="19430"/>
                </a:lnTo>
                <a:lnTo>
                  <a:pt x="27978" y="19430"/>
                </a:lnTo>
                <a:lnTo>
                  <a:pt x="25831" y="17144"/>
                </a:lnTo>
                <a:lnTo>
                  <a:pt x="25146" y="16255"/>
                </a:lnTo>
                <a:lnTo>
                  <a:pt x="8420" y="16255"/>
                </a:lnTo>
                <a:lnTo>
                  <a:pt x="10096" y="6857"/>
                </a:lnTo>
                <a:lnTo>
                  <a:pt x="27216" y="6857"/>
                </a:lnTo>
                <a:lnTo>
                  <a:pt x="2721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75164" y="1147190"/>
            <a:ext cx="17145" cy="3175"/>
          </a:xfrm>
          <a:custGeom>
            <a:avLst/>
            <a:gdLst/>
            <a:ahLst/>
            <a:cxnLst/>
            <a:rect l="l" t="t" r="r" b="b"/>
            <a:pathLst>
              <a:path w="17145" h="3175">
                <a:moveTo>
                  <a:pt x="11937" y="0"/>
                </a:moveTo>
                <a:lnTo>
                  <a:pt x="6324" y="0"/>
                </a:lnTo>
                <a:lnTo>
                  <a:pt x="4775" y="254"/>
                </a:lnTo>
                <a:lnTo>
                  <a:pt x="3454" y="762"/>
                </a:lnTo>
                <a:lnTo>
                  <a:pt x="2209" y="1270"/>
                </a:lnTo>
                <a:lnTo>
                  <a:pt x="1054" y="2032"/>
                </a:lnTo>
                <a:lnTo>
                  <a:pt x="0" y="3048"/>
                </a:lnTo>
                <a:lnTo>
                  <a:pt x="16624" y="3048"/>
                </a:lnTo>
                <a:lnTo>
                  <a:pt x="15011" y="1270"/>
                </a:lnTo>
                <a:lnTo>
                  <a:pt x="1193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82556" y="1153413"/>
            <a:ext cx="13970" cy="15875"/>
          </a:xfrm>
          <a:custGeom>
            <a:avLst/>
            <a:gdLst/>
            <a:ahLst/>
            <a:cxnLst/>
            <a:rect l="l" t="t" r="r" b="b"/>
            <a:pathLst>
              <a:path w="13970" h="15875">
                <a:moveTo>
                  <a:pt x="12065" y="0"/>
                </a:moveTo>
                <a:lnTo>
                  <a:pt x="63" y="0"/>
                </a:lnTo>
                <a:lnTo>
                  <a:pt x="1778" y="762"/>
                </a:lnTo>
                <a:lnTo>
                  <a:pt x="3060" y="2159"/>
                </a:lnTo>
                <a:lnTo>
                  <a:pt x="4406" y="3556"/>
                </a:lnTo>
                <a:lnTo>
                  <a:pt x="5080" y="5334"/>
                </a:lnTo>
                <a:lnTo>
                  <a:pt x="5080" y="9779"/>
                </a:lnTo>
                <a:lnTo>
                  <a:pt x="4381" y="11684"/>
                </a:lnTo>
                <a:lnTo>
                  <a:pt x="1676" y="14732"/>
                </a:lnTo>
                <a:lnTo>
                  <a:pt x="0" y="15494"/>
                </a:lnTo>
                <a:lnTo>
                  <a:pt x="11658" y="15494"/>
                </a:lnTo>
                <a:lnTo>
                  <a:pt x="12001" y="15112"/>
                </a:lnTo>
                <a:lnTo>
                  <a:pt x="13487" y="11684"/>
                </a:lnTo>
                <a:lnTo>
                  <a:pt x="13462" y="3556"/>
                </a:lnTo>
                <a:lnTo>
                  <a:pt x="12293" y="254"/>
                </a:lnTo>
                <a:lnTo>
                  <a:pt x="1206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65360" y="1162811"/>
            <a:ext cx="29209" cy="13335"/>
          </a:xfrm>
          <a:custGeom>
            <a:avLst/>
            <a:gdLst/>
            <a:ahLst/>
            <a:cxnLst/>
            <a:rect l="l" t="t" r="r" b="b"/>
            <a:pathLst>
              <a:path w="29209" h="13334">
                <a:moveTo>
                  <a:pt x="8407" y="0"/>
                </a:moveTo>
                <a:lnTo>
                  <a:pt x="0" y="0"/>
                </a:lnTo>
                <a:lnTo>
                  <a:pt x="139" y="4063"/>
                </a:lnTo>
                <a:lnTo>
                  <a:pt x="1612" y="7238"/>
                </a:lnTo>
                <a:lnTo>
                  <a:pt x="4457" y="9525"/>
                </a:lnTo>
                <a:lnTo>
                  <a:pt x="7353" y="11811"/>
                </a:lnTo>
                <a:lnTo>
                  <a:pt x="11049" y="12953"/>
                </a:lnTo>
                <a:lnTo>
                  <a:pt x="19761" y="12953"/>
                </a:lnTo>
                <a:lnTo>
                  <a:pt x="23317" y="11557"/>
                </a:lnTo>
                <a:lnTo>
                  <a:pt x="26225" y="8636"/>
                </a:lnTo>
                <a:lnTo>
                  <a:pt x="28854" y="6096"/>
                </a:lnTo>
                <a:lnTo>
                  <a:pt x="13296" y="6096"/>
                </a:lnTo>
                <a:lnTo>
                  <a:pt x="11747" y="5587"/>
                </a:lnTo>
                <a:lnTo>
                  <a:pt x="10490" y="4445"/>
                </a:lnTo>
                <a:lnTo>
                  <a:pt x="9309" y="3301"/>
                </a:lnTo>
                <a:lnTo>
                  <a:pt x="8610" y="1904"/>
                </a:lnTo>
                <a:lnTo>
                  <a:pt x="840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00298" y="1155497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060"/>
                </a:moveTo>
                <a:lnTo>
                  <a:pt x="17713" y="7060"/>
                </a:lnTo>
                <a:lnTo>
                  <a:pt x="17713" y="0"/>
                </a:lnTo>
                <a:lnTo>
                  <a:pt x="0" y="0"/>
                </a:lnTo>
                <a:lnTo>
                  <a:pt x="0" y="706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23208" y="1133220"/>
            <a:ext cx="27940" cy="14604"/>
          </a:xfrm>
          <a:custGeom>
            <a:avLst/>
            <a:gdLst/>
            <a:ahLst/>
            <a:cxnLst/>
            <a:rect l="l" t="t" r="r" b="b"/>
            <a:pathLst>
              <a:path w="27940" h="14605">
                <a:moveTo>
                  <a:pt x="18034" y="0"/>
                </a:moveTo>
                <a:lnTo>
                  <a:pt x="10032" y="0"/>
                </a:lnTo>
                <a:lnTo>
                  <a:pt x="6731" y="1269"/>
                </a:lnTo>
                <a:lnTo>
                  <a:pt x="1524" y="6350"/>
                </a:lnTo>
                <a:lnTo>
                  <a:pt x="127" y="9778"/>
                </a:lnTo>
                <a:lnTo>
                  <a:pt x="0" y="14097"/>
                </a:lnTo>
                <a:lnTo>
                  <a:pt x="8000" y="14097"/>
                </a:lnTo>
                <a:lnTo>
                  <a:pt x="8000" y="11684"/>
                </a:lnTo>
                <a:lnTo>
                  <a:pt x="8509" y="9905"/>
                </a:lnTo>
                <a:lnTo>
                  <a:pt x="10921" y="7365"/>
                </a:lnTo>
                <a:lnTo>
                  <a:pt x="12446" y="6730"/>
                </a:lnTo>
                <a:lnTo>
                  <a:pt x="27431" y="6730"/>
                </a:lnTo>
                <a:lnTo>
                  <a:pt x="26796" y="5334"/>
                </a:lnTo>
                <a:lnTo>
                  <a:pt x="24003" y="3175"/>
                </a:lnTo>
                <a:lnTo>
                  <a:pt x="21335" y="1015"/>
                </a:lnTo>
                <a:lnTo>
                  <a:pt x="180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38448" y="1139951"/>
            <a:ext cx="13335" cy="10795"/>
          </a:xfrm>
          <a:custGeom>
            <a:avLst/>
            <a:gdLst/>
            <a:ahLst/>
            <a:cxnLst/>
            <a:rect l="l" t="t" r="r" b="b"/>
            <a:pathLst>
              <a:path w="13334" h="10794">
                <a:moveTo>
                  <a:pt x="12191" y="0"/>
                </a:moveTo>
                <a:lnTo>
                  <a:pt x="762" y="0"/>
                </a:lnTo>
                <a:lnTo>
                  <a:pt x="2159" y="508"/>
                </a:lnTo>
                <a:lnTo>
                  <a:pt x="3175" y="1650"/>
                </a:lnTo>
                <a:lnTo>
                  <a:pt x="4317" y="2539"/>
                </a:lnTo>
                <a:lnTo>
                  <a:pt x="4953" y="3937"/>
                </a:lnTo>
                <a:lnTo>
                  <a:pt x="4953" y="7112"/>
                </a:lnTo>
                <a:lnTo>
                  <a:pt x="4317" y="8382"/>
                </a:lnTo>
                <a:lnTo>
                  <a:pt x="1778" y="10287"/>
                </a:lnTo>
                <a:lnTo>
                  <a:pt x="0" y="10668"/>
                </a:lnTo>
                <a:lnTo>
                  <a:pt x="10794" y="10668"/>
                </a:lnTo>
                <a:lnTo>
                  <a:pt x="12445" y="8382"/>
                </a:lnTo>
                <a:lnTo>
                  <a:pt x="12953" y="6604"/>
                </a:lnTo>
                <a:lnTo>
                  <a:pt x="12953" y="1397"/>
                </a:lnTo>
                <a:lnTo>
                  <a:pt x="121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34638" y="1150619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4605" y="0"/>
                </a:moveTo>
                <a:lnTo>
                  <a:pt x="0" y="0"/>
                </a:lnTo>
                <a:lnTo>
                  <a:pt x="0" y="5841"/>
                </a:lnTo>
                <a:lnTo>
                  <a:pt x="4191" y="5841"/>
                </a:lnTo>
                <a:lnTo>
                  <a:pt x="6477" y="6350"/>
                </a:lnTo>
                <a:lnTo>
                  <a:pt x="7620" y="7365"/>
                </a:lnTo>
                <a:lnTo>
                  <a:pt x="8890" y="8381"/>
                </a:lnTo>
                <a:lnTo>
                  <a:pt x="9525" y="9905"/>
                </a:lnTo>
                <a:lnTo>
                  <a:pt x="9525" y="13715"/>
                </a:lnTo>
                <a:lnTo>
                  <a:pt x="8890" y="15239"/>
                </a:lnTo>
                <a:lnTo>
                  <a:pt x="7620" y="16510"/>
                </a:lnTo>
                <a:lnTo>
                  <a:pt x="6350" y="17652"/>
                </a:lnTo>
                <a:lnTo>
                  <a:pt x="4699" y="18287"/>
                </a:lnTo>
                <a:lnTo>
                  <a:pt x="17145" y="18287"/>
                </a:lnTo>
                <a:lnTo>
                  <a:pt x="18288" y="15748"/>
                </a:lnTo>
                <a:lnTo>
                  <a:pt x="18288" y="9398"/>
                </a:lnTo>
                <a:lnTo>
                  <a:pt x="17653" y="7492"/>
                </a:lnTo>
                <a:lnTo>
                  <a:pt x="16383" y="5841"/>
                </a:lnTo>
                <a:lnTo>
                  <a:pt x="15113" y="4063"/>
                </a:lnTo>
                <a:lnTo>
                  <a:pt x="13335" y="2920"/>
                </a:lnTo>
                <a:lnTo>
                  <a:pt x="11049" y="2412"/>
                </a:lnTo>
                <a:lnTo>
                  <a:pt x="12827" y="1777"/>
                </a:lnTo>
                <a:lnTo>
                  <a:pt x="14224" y="635"/>
                </a:lnTo>
                <a:lnTo>
                  <a:pt x="1460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22192" y="1160906"/>
            <a:ext cx="29845" cy="15240"/>
          </a:xfrm>
          <a:custGeom>
            <a:avLst/>
            <a:gdLst/>
            <a:ahLst/>
            <a:cxnLst/>
            <a:rect l="l" t="t" r="r" b="b"/>
            <a:pathLst>
              <a:path w="29844" h="15240">
                <a:moveTo>
                  <a:pt x="8000" y="0"/>
                </a:moveTo>
                <a:lnTo>
                  <a:pt x="0" y="0"/>
                </a:lnTo>
                <a:lnTo>
                  <a:pt x="0" y="4952"/>
                </a:lnTo>
                <a:lnTo>
                  <a:pt x="1396" y="8381"/>
                </a:lnTo>
                <a:lnTo>
                  <a:pt x="4190" y="11049"/>
                </a:lnTo>
                <a:lnTo>
                  <a:pt x="6984" y="13588"/>
                </a:lnTo>
                <a:lnTo>
                  <a:pt x="10668" y="14858"/>
                </a:lnTo>
                <a:lnTo>
                  <a:pt x="19684" y="14858"/>
                </a:lnTo>
                <a:lnTo>
                  <a:pt x="23368" y="13588"/>
                </a:lnTo>
                <a:lnTo>
                  <a:pt x="29337" y="8636"/>
                </a:lnTo>
                <a:lnTo>
                  <a:pt x="29590" y="8000"/>
                </a:lnTo>
                <a:lnTo>
                  <a:pt x="13081" y="8000"/>
                </a:lnTo>
                <a:lnTo>
                  <a:pt x="11303" y="7365"/>
                </a:lnTo>
                <a:lnTo>
                  <a:pt x="10032" y="5968"/>
                </a:lnTo>
                <a:lnTo>
                  <a:pt x="8762" y="4444"/>
                </a:lnTo>
                <a:lnTo>
                  <a:pt x="8128" y="2539"/>
                </a:lnTo>
                <a:lnTo>
                  <a:pt x="80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97859" y="921386"/>
            <a:ext cx="85343" cy="4267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97859" y="819278"/>
            <a:ext cx="85343" cy="4267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97859" y="717168"/>
            <a:ext cx="85343" cy="4419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92931" y="1965280"/>
            <a:ext cx="565251" cy="838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612007" y="1940178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959224" y="908938"/>
            <a:ext cx="1750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串联结构（如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VGG）</a:t>
            </a: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存在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59224" y="809539"/>
            <a:ext cx="32797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串联结构（如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）存在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后面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只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处理 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层输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;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前层因</a:t>
            </a:r>
            <a:r>
              <a:rPr sz="1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些原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（比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感受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限制） 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丢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要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无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法找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4265" y="2470318"/>
            <a:ext cx="563917" cy="8246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99028" y="2617465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9028" y="2581756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23056" y="2597039"/>
            <a:ext cx="106680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94265" y="2682153"/>
            <a:ext cx="563917" cy="1891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9028" y="2935981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9028" y="2900272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6960" y="2915555"/>
            <a:ext cx="121920" cy="53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4265" y="2363638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9028" y="229971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99028" y="2263244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23056" y="2278523"/>
            <a:ext cx="106680" cy="441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0804" y="2046640"/>
            <a:ext cx="827379" cy="1876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68370" y="3018425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0804" y="2820559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469" y="0"/>
                </a:moveTo>
                <a:lnTo>
                  <a:pt x="10769" y="0"/>
                </a:lnTo>
                <a:lnTo>
                  <a:pt x="6984" y="1524"/>
                </a:lnTo>
                <a:lnTo>
                  <a:pt x="4152" y="4572"/>
                </a:lnTo>
                <a:lnTo>
                  <a:pt x="1384" y="7620"/>
                </a:lnTo>
                <a:lnTo>
                  <a:pt x="0" y="11684"/>
                </a:lnTo>
                <a:lnTo>
                  <a:pt x="0" y="21336"/>
                </a:lnTo>
                <a:lnTo>
                  <a:pt x="1422" y="25146"/>
                </a:lnTo>
                <a:lnTo>
                  <a:pt x="4254" y="28066"/>
                </a:lnTo>
                <a:lnTo>
                  <a:pt x="7150" y="30987"/>
                </a:lnTo>
                <a:lnTo>
                  <a:pt x="10833" y="32385"/>
                </a:lnTo>
                <a:lnTo>
                  <a:pt x="19405" y="32385"/>
                </a:lnTo>
                <a:lnTo>
                  <a:pt x="22733" y="31369"/>
                </a:lnTo>
                <a:lnTo>
                  <a:pt x="27940" y="27050"/>
                </a:lnTo>
                <a:lnTo>
                  <a:pt x="28384" y="26162"/>
                </a:lnTo>
                <a:lnTo>
                  <a:pt x="13144" y="26162"/>
                </a:lnTo>
                <a:lnTo>
                  <a:pt x="11430" y="25273"/>
                </a:lnTo>
                <a:lnTo>
                  <a:pt x="10172" y="23495"/>
                </a:lnTo>
                <a:lnTo>
                  <a:pt x="8991" y="21716"/>
                </a:lnTo>
                <a:lnTo>
                  <a:pt x="8394" y="19303"/>
                </a:lnTo>
                <a:lnTo>
                  <a:pt x="8394" y="13462"/>
                </a:lnTo>
                <a:lnTo>
                  <a:pt x="8991" y="11049"/>
                </a:lnTo>
                <a:lnTo>
                  <a:pt x="10172" y="9144"/>
                </a:lnTo>
                <a:lnTo>
                  <a:pt x="11430" y="7238"/>
                </a:lnTo>
                <a:lnTo>
                  <a:pt x="13208" y="6350"/>
                </a:lnTo>
                <a:lnTo>
                  <a:pt x="28816" y="6350"/>
                </a:lnTo>
                <a:lnTo>
                  <a:pt x="28193" y="5079"/>
                </a:lnTo>
                <a:lnTo>
                  <a:pt x="22796" y="1015"/>
                </a:lnTo>
                <a:lnTo>
                  <a:pt x="194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8101" y="2826909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18" y="0"/>
                </a:moveTo>
                <a:lnTo>
                  <a:pt x="0" y="0"/>
                </a:lnTo>
                <a:lnTo>
                  <a:pt x="1384" y="508"/>
                </a:lnTo>
                <a:lnTo>
                  <a:pt x="2362" y="1397"/>
                </a:lnTo>
                <a:lnTo>
                  <a:pt x="3416" y="2286"/>
                </a:lnTo>
                <a:lnTo>
                  <a:pt x="4076" y="3555"/>
                </a:lnTo>
                <a:lnTo>
                  <a:pt x="4343" y="5334"/>
                </a:lnTo>
                <a:lnTo>
                  <a:pt x="12547" y="5334"/>
                </a:lnTo>
                <a:lnTo>
                  <a:pt x="12344" y="1650"/>
                </a:lnTo>
                <a:lnTo>
                  <a:pt x="115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7961" y="2840371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890" y="0"/>
                </a:moveTo>
                <a:lnTo>
                  <a:pt x="4787" y="0"/>
                </a:lnTo>
                <a:lnTo>
                  <a:pt x="4521" y="2032"/>
                </a:lnTo>
                <a:lnTo>
                  <a:pt x="3784" y="3555"/>
                </a:lnTo>
                <a:lnTo>
                  <a:pt x="1485" y="5841"/>
                </a:lnTo>
                <a:lnTo>
                  <a:pt x="0" y="6350"/>
                </a:lnTo>
                <a:lnTo>
                  <a:pt x="11226" y="6350"/>
                </a:lnTo>
                <a:lnTo>
                  <a:pt x="12357" y="4063"/>
                </a:lnTo>
                <a:lnTo>
                  <a:pt x="1289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4674" y="2820559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20523" y="0"/>
                </a:moveTo>
                <a:lnTo>
                  <a:pt x="10909" y="0"/>
                </a:lnTo>
                <a:lnTo>
                  <a:pt x="7086" y="1397"/>
                </a:lnTo>
                <a:lnTo>
                  <a:pt x="1422" y="7492"/>
                </a:lnTo>
                <a:lnTo>
                  <a:pt x="0" y="11429"/>
                </a:lnTo>
                <a:lnTo>
                  <a:pt x="25" y="21209"/>
                </a:lnTo>
                <a:lnTo>
                  <a:pt x="1422" y="25019"/>
                </a:lnTo>
                <a:lnTo>
                  <a:pt x="4254" y="28066"/>
                </a:lnTo>
                <a:lnTo>
                  <a:pt x="7150" y="30987"/>
                </a:lnTo>
                <a:lnTo>
                  <a:pt x="10972" y="32385"/>
                </a:lnTo>
                <a:lnTo>
                  <a:pt x="20472" y="32385"/>
                </a:lnTo>
                <a:lnTo>
                  <a:pt x="24282" y="30987"/>
                </a:lnTo>
                <a:lnTo>
                  <a:pt x="29057" y="26162"/>
                </a:lnTo>
                <a:lnTo>
                  <a:pt x="13474" y="26162"/>
                </a:lnTo>
                <a:lnTo>
                  <a:pt x="11696" y="25273"/>
                </a:lnTo>
                <a:lnTo>
                  <a:pt x="9067" y="21971"/>
                </a:lnTo>
                <a:lnTo>
                  <a:pt x="8407" y="19558"/>
                </a:lnTo>
                <a:lnTo>
                  <a:pt x="8407" y="12953"/>
                </a:lnTo>
                <a:lnTo>
                  <a:pt x="9067" y="10413"/>
                </a:lnTo>
                <a:lnTo>
                  <a:pt x="10388" y="8889"/>
                </a:lnTo>
                <a:lnTo>
                  <a:pt x="11696" y="7112"/>
                </a:lnTo>
                <a:lnTo>
                  <a:pt x="13474" y="6350"/>
                </a:lnTo>
                <a:lnTo>
                  <a:pt x="29019" y="6350"/>
                </a:lnTo>
                <a:lnTo>
                  <a:pt x="27178" y="4445"/>
                </a:lnTo>
                <a:lnTo>
                  <a:pt x="24345" y="1397"/>
                </a:lnTo>
                <a:lnTo>
                  <a:pt x="2052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2772" y="2826909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21" y="0"/>
                </a:moveTo>
                <a:lnTo>
                  <a:pt x="127" y="0"/>
                </a:lnTo>
                <a:lnTo>
                  <a:pt x="1968" y="888"/>
                </a:lnTo>
                <a:lnTo>
                  <a:pt x="3162" y="2666"/>
                </a:lnTo>
                <a:lnTo>
                  <a:pt x="4406" y="4445"/>
                </a:lnTo>
                <a:lnTo>
                  <a:pt x="4965" y="6603"/>
                </a:lnTo>
                <a:lnTo>
                  <a:pt x="5003" y="13208"/>
                </a:lnTo>
                <a:lnTo>
                  <a:pt x="4368" y="15494"/>
                </a:lnTo>
                <a:lnTo>
                  <a:pt x="3060" y="17145"/>
                </a:lnTo>
                <a:lnTo>
                  <a:pt x="1803" y="18923"/>
                </a:lnTo>
                <a:lnTo>
                  <a:pt x="0" y="19812"/>
                </a:lnTo>
                <a:lnTo>
                  <a:pt x="10960" y="19812"/>
                </a:lnTo>
                <a:lnTo>
                  <a:pt x="11988" y="18796"/>
                </a:lnTo>
                <a:lnTo>
                  <a:pt x="13436" y="14859"/>
                </a:lnTo>
                <a:lnTo>
                  <a:pt x="13436" y="5079"/>
                </a:lnTo>
                <a:lnTo>
                  <a:pt x="11988" y="1142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9810" y="2820559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182" y="0"/>
                </a:moveTo>
                <a:lnTo>
                  <a:pt x="7378" y="0"/>
                </a:lnTo>
                <a:lnTo>
                  <a:pt x="5600" y="380"/>
                </a:lnTo>
                <a:lnTo>
                  <a:pt x="3962" y="1397"/>
                </a:lnTo>
                <a:lnTo>
                  <a:pt x="2311" y="2159"/>
                </a:lnTo>
                <a:lnTo>
                  <a:pt x="990" y="3428"/>
                </a:lnTo>
                <a:lnTo>
                  <a:pt x="0" y="5079"/>
                </a:lnTo>
                <a:lnTo>
                  <a:pt x="19596" y="5079"/>
                </a:lnTo>
                <a:lnTo>
                  <a:pt x="16014" y="888"/>
                </a:lnTo>
                <a:lnTo>
                  <a:pt x="131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1606" y="2821321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13" y="0"/>
                </a:moveTo>
                <a:lnTo>
                  <a:pt x="0" y="0"/>
                </a:lnTo>
                <a:lnTo>
                  <a:pt x="0" y="30861"/>
                </a:lnTo>
                <a:lnTo>
                  <a:pt x="8407" y="30861"/>
                </a:lnTo>
                <a:lnTo>
                  <a:pt x="8407" y="11557"/>
                </a:lnTo>
                <a:lnTo>
                  <a:pt x="8902" y="9398"/>
                </a:lnTo>
                <a:lnTo>
                  <a:pt x="9880" y="8000"/>
                </a:lnTo>
                <a:lnTo>
                  <a:pt x="10934" y="6603"/>
                </a:lnTo>
                <a:lnTo>
                  <a:pt x="12623" y="5841"/>
                </a:lnTo>
                <a:lnTo>
                  <a:pt x="28257" y="5841"/>
                </a:lnTo>
                <a:lnTo>
                  <a:pt x="27800" y="4317"/>
                </a:lnTo>
                <a:lnTo>
                  <a:pt x="8013" y="4317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8446" y="2827163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17" y="0"/>
                </a:moveTo>
                <a:lnTo>
                  <a:pt x="0" y="0"/>
                </a:lnTo>
                <a:lnTo>
                  <a:pt x="1346" y="635"/>
                </a:lnTo>
                <a:lnTo>
                  <a:pt x="2133" y="1905"/>
                </a:lnTo>
                <a:lnTo>
                  <a:pt x="2997" y="3175"/>
                </a:lnTo>
                <a:lnTo>
                  <a:pt x="3428" y="4953"/>
                </a:lnTo>
                <a:lnTo>
                  <a:pt x="3428" y="25019"/>
                </a:lnTo>
                <a:lnTo>
                  <a:pt x="11823" y="25019"/>
                </a:lnTo>
                <a:lnTo>
                  <a:pt x="11823" y="1524"/>
                </a:lnTo>
                <a:lnTo>
                  <a:pt x="1141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3712" y="2821321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01" y="0"/>
                </a:moveTo>
                <a:lnTo>
                  <a:pt x="0" y="0"/>
                </a:lnTo>
                <a:lnTo>
                  <a:pt x="10477" y="30861"/>
                </a:lnTo>
                <a:lnTo>
                  <a:pt x="19773" y="30861"/>
                </a:lnTo>
                <a:lnTo>
                  <a:pt x="23063" y="21082"/>
                </a:lnTo>
                <a:lnTo>
                  <a:pt x="15227" y="21082"/>
                </a:lnTo>
                <a:lnTo>
                  <a:pt x="88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9041" y="2821321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20" y="0"/>
                </a:moveTo>
                <a:lnTo>
                  <a:pt x="6426" y="0"/>
                </a:lnTo>
                <a:lnTo>
                  <a:pt x="0" y="21082"/>
                </a:lnTo>
                <a:lnTo>
                  <a:pt x="7734" y="21082"/>
                </a:lnTo>
                <a:lnTo>
                  <a:pt x="148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8446" y="2810399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83" y="0"/>
                </a:moveTo>
                <a:lnTo>
                  <a:pt x="12065" y="0"/>
                </a:lnTo>
                <a:lnTo>
                  <a:pt x="11658" y="2794"/>
                </a:lnTo>
                <a:lnTo>
                  <a:pt x="10477" y="4825"/>
                </a:lnTo>
                <a:lnTo>
                  <a:pt x="8496" y="6223"/>
                </a:lnTo>
                <a:lnTo>
                  <a:pt x="6591" y="7620"/>
                </a:lnTo>
                <a:lnTo>
                  <a:pt x="3962" y="8255"/>
                </a:lnTo>
                <a:lnTo>
                  <a:pt x="0" y="8255"/>
                </a:lnTo>
                <a:lnTo>
                  <a:pt x="0" y="14732"/>
                </a:lnTo>
                <a:lnTo>
                  <a:pt x="10375" y="14732"/>
                </a:lnTo>
                <a:lnTo>
                  <a:pt x="10375" y="41783"/>
                </a:lnTo>
                <a:lnTo>
                  <a:pt x="18783" y="41783"/>
                </a:lnTo>
                <a:lnTo>
                  <a:pt x="187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00082" y="2832281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201"/>
                </a:moveTo>
                <a:lnTo>
                  <a:pt x="17691" y="7201"/>
                </a:lnTo>
                <a:lnTo>
                  <a:pt x="17691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25241" y="2810399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96" y="0"/>
                </a:moveTo>
                <a:lnTo>
                  <a:pt x="12065" y="0"/>
                </a:lnTo>
                <a:lnTo>
                  <a:pt x="11684" y="2794"/>
                </a:lnTo>
                <a:lnTo>
                  <a:pt x="10540" y="4825"/>
                </a:lnTo>
                <a:lnTo>
                  <a:pt x="8509" y="6223"/>
                </a:lnTo>
                <a:lnTo>
                  <a:pt x="6603" y="7620"/>
                </a:lnTo>
                <a:lnTo>
                  <a:pt x="3937" y="8255"/>
                </a:lnTo>
                <a:lnTo>
                  <a:pt x="0" y="8255"/>
                </a:lnTo>
                <a:lnTo>
                  <a:pt x="0" y="14732"/>
                </a:lnTo>
                <a:lnTo>
                  <a:pt x="10414" y="14732"/>
                </a:lnTo>
                <a:lnTo>
                  <a:pt x="10414" y="41783"/>
                </a:lnTo>
                <a:lnTo>
                  <a:pt x="18796" y="41783"/>
                </a:lnTo>
                <a:lnTo>
                  <a:pt x="1879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0804" y="2718959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572"/>
                </a:lnTo>
                <a:lnTo>
                  <a:pt x="1384" y="7492"/>
                </a:lnTo>
                <a:lnTo>
                  <a:pt x="0" y="11429"/>
                </a:lnTo>
                <a:lnTo>
                  <a:pt x="0" y="20954"/>
                </a:lnTo>
                <a:lnTo>
                  <a:pt x="1422" y="24637"/>
                </a:lnTo>
                <a:lnTo>
                  <a:pt x="4267" y="27559"/>
                </a:lnTo>
                <a:lnTo>
                  <a:pt x="7175" y="30479"/>
                </a:lnTo>
                <a:lnTo>
                  <a:pt x="10871" y="31876"/>
                </a:lnTo>
                <a:lnTo>
                  <a:pt x="19469" y="31876"/>
                </a:lnTo>
                <a:lnTo>
                  <a:pt x="22809" y="30861"/>
                </a:lnTo>
                <a:lnTo>
                  <a:pt x="28028" y="26542"/>
                </a:lnTo>
                <a:lnTo>
                  <a:pt x="28486" y="25653"/>
                </a:lnTo>
                <a:lnTo>
                  <a:pt x="13182" y="25653"/>
                </a:lnTo>
                <a:lnTo>
                  <a:pt x="11468" y="24891"/>
                </a:lnTo>
                <a:lnTo>
                  <a:pt x="10210" y="23113"/>
                </a:lnTo>
                <a:lnTo>
                  <a:pt x="9017" y="21336"/>
                </a:lnTo>
                <a:lnTo>
                  <a:pt x="8420" y="19050"/>
                </a:lnTo>
                <a:lnTo>
                  <a:pt x="8420" y="13208"/>
                </a:lnTo>
                <a:lnTo>
                  <a:pt x="9017" y="10922"/>
                </a:lnTo>
                <a:lnTo>
                  <a:pt x="10210" y="9016"/>
                </a:lnTo>
                <a:lnTo>
                  <a:pt x="11468" y="7238"/>
                </a:lnTo>
                <a:lnTo>
                  <a:pt x="13246" y="6350"/>
                </a:lnTo>
                <a:lnTo>
                  <a:pt x="28917" y="6350"/>
                </a:lnTo>
                <a:lnTo>
                  <a:pt x="28282" y="5079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48152" y="2725309"/>
            <a:ext cx="12700" cy="5080"/>
          </a:xfrm>
          <a:custGeom>
            <a:avLst/>
            <a:gdLst/>
            <a:ahLst/>
            <a:cxnLst/>
            <a:rect l="l" t="t" r="r" b="b"/>
            <a:pathLst>
              <a:path w="12700" h="5080">
                <a:moveTo>
                  <a:pt x="11569" y="0"/>
                </a:moveTo>
                <a:lnTo>
                  <a:pt x="0" y="0"/>
                </a:lnTo>
                <a:lnTo>
                  <a:pt x="1384" y="380"/>
                </a:lnTo>
                <a:lnTo>
                  <a:pt x="2374" y="1270"/>
                </a:lnTo>
                <a:lnTo>
                  <a:pt x="3441" y="2159"/>
                </a:lnTo>
                <a:lnTo>
                  <a:pt x="4102" y="3428"/>
                </a:lnTo>
                <a:lnTo>
                  <a:pt x="4368" y="5079"/>
                </a:lnTo>
                <a:lnTo>
                  <a:pt x="12598" y="5079"/>
                </a:lnTo>
                <a:lnTo>
                  <a:pt x="12395" y="1524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48012" y="2738517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28" y="0"/>
                </a:moveTo>
                <a:lnTo>
                  <a:pt x="4800" y="0"/>
                </a:lnTo>
                <a:lnTo>
                  <a:pt x="4533" y="1904"/>
                </a:lnTo>
                <a:lnTo>
                  <a:pt x="3809" y="3428"/>
                </a:lnTo>
                <a:lnTo>
                  <a:pt x="1498" y="5587"/>
                </a:lnTo>
                <a:lnTo>
                  <a:pt x="0" y="6095"/>
                </a:lnTo>
                <a:lnTo>
                  <a:pt x="11277" y="6095"/>
                </a:lnTo>
                <a:lnTo>
                  <a:pt x="12407" y="3937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64789" y="2718959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365"/>
                </a:lnTo>
                <a:lnTo>
                  <a:pt x="0" y="11175"/>
                </a:lnTo>
                <a:lnTo>
                  <a:pt x="25" y="20827"/>
                </a:lnTo>
                <a:lnTo>
                  <a:pt x="1422" y="24637"/>
                </a:lnTo>
                <a:lnTo>
                  <a:pt x="4267" y="27559"/>
                </a:lnTo>
                <a:lnTo>
                  <a:pt x="7175" y="30479"/>
                </a:lnTo>
                <a:lnTo>
                  <a:pt x="11010" y="31876"/>
                </a:lnTo>
                <a:lnTo>
                  <a:pt x="20523" y="31876"/>
                </a:lnTo>
                <a:lnTo>
                  <a:pt x="24358" y="30479"/>
                </a:lnTo>
                <a:lnTo>
                  <a:pt x="29146" y="25653"/>
                </a:lnTo>
                <a:lnTo>
                  <a:pt x="13512" y="25653"/>
                </a:lnTo>
                <a:lnTo>
                  <a:pt x="11734" y="24891"/>
                </a:lnTo>
                <a:lnTo>
                  <a:pt x="9093" y="21589"/>
                </a:lnTo>
                <a:lnTo>
                  <a:pt x="8420" y="19176"/>
                </a:lnTo>
                <a:lnTo>
                  <a:pt x="8420" y="12700"/>
                </a:lnTo>
                <a:lnTo>
                  <a:pt x="9093" y="10287"/>
                </a:lnTo>
                <a:lnTo>
                  <a:pt x="10414" y="8762"/>
                </a:lnTo>
                <a:lnTo>
                  <a:pt x="11734" y="7112"/>
                </a:lnTo>
                <a:lnTo>
                  <a:pt x="13512" y="6350"/>
                </a:lnTo>
                <a:lnTo>
                  <a:pt x="29108" y="6350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82937" y="2725309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70" h="19685">
                <a:moveTo>
                  <a:pt x="10960" y="0"/>
                </a:moveTo>
                <a:lnTo>
                  <a:pt x="127" y="0"/>
                </a:lnTo>
                <a:lnTo>
                  <a:pt x="1981" y="888"/>
                </a:lnTo>
                <a:lnTo>
                  <a:pt x="4432" y="4317"/>
                </a:lnTo>
                <a:lnTo>
                  <a:pt x="4991" y="6350"/>
                </a:lnTo>
                <a:lnTo>
                  <a:pt x="5016" y="12826"/>
                </a:lnTo>
                <a:lnTo>
                  <a:pt x="4394" y="15112"/>
                </a:lnTo>
                <a:lnTo>
                  <a:pt x="3073" y="16763"/>
                </a:lnTo>
                <a:lnTo>
                  <a:pt x="1816" y="18541"/>
                </a:lnTo>
                <a:lnTo>
                  <a:pt x="0" y="19303"/>
                </a:lnTo>
                <a:lnTo>
                  <a:pt x="10998" y="19303"/>
                </a:lnTo>
                <a:lnTo>
                  <a:pt x="12026" y="18287"/>
                </a:lnTo>
                <a:lnTo>
                  <a:pt x="13487" y="14477"/>
                </a:lnTo>
                <a:lnTo>
                  <a:pt x="13487" y="4825"/>
                </a:lnTo>
                <a:lnTo>
                  <a:pt x="12026" y="1015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0064" y="2718959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220" y="0"/>
                </a:moveTo>
                <a:lnTo>
                  <a:pt x="7404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428"/>
                </a:lnTo>
                <a:lnTo>
                  <a:pt x="0" y="5079"/>
                </a:lnTo>
                <a:lnTo>
                  <a:pt x="19659" y="5079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01835" y="2719721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80">
                <a:moveTo>
                  <a:pt x="8039" y="0"/>
                </a:moveTo>
                <a:lnTo>
                  <a:pt x="0" y="0"/>
                </a:lnTo>
                <a:lnTo>
                  <a:pt x="0" y="30352"/>
                </a:lnTo>
                <a:lnTo>
                  <a:pt x="8432" y="30352"/>
                </a:lnTo>
                <a:lnTo>
                  <a:pt x="8432" y="11302"/>
                </a:lnTo>
                <a:lnTo>
                  <a:pt x="8928" y="9271"/>
                </a:lnTo>
                <a:lnTo>
                  <a:pt x="9918" y="7874"/>
                </a:lnTo>
                <a:lnTo>
                  <a:pt x="10972" y="6476"/>
                </a:lnTo>
                <a:lnTo>
                  <a:pt x="12661" y="5841"/>
                </a:lnTo>
                <a:lnTo>
                  <a:pt x="28346" y="5841"/>
                </a:lnTo>
                <a:lnTo>
                  <a:pt x="27889" y="4317"/>
                </a:lnTo>
                <a:lnTo>
                  <a:pt x="8039" y="4317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18726" y="2725563"/>
            <a:ext cx="12065" cy="24765"/>
          </a:xfrm>
          <a:custGeom>
            <a:avLst/>
            <a:gdLst/>
            <a:ahLst/>
            <a:cxnLst/>
            <a:rect l="l" t="t" r="r" b="b"/>
            <a:pathLst>
              <a:path w="12065" h="24764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825"/>
                </a:lnTo>
                <a:lnTo>
                  <a:pt x="3428" y="24511"/>
                </a:lnTo>
                <a:lnTo>
                  <a:pt x="11861" y="24511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34042" y="2719721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80">
                <a:moveTo>
                  <a:pt x="8826" y="0"/>
                </a:moveTo>
                <a:lnTo>
                  <a:pt x="0" y="0"/>
                </a:lnTo>
                <a:lnTo>
                  <a:pt x="10515" y="30352"/>
                </a:lnTo>
                <a:lnTo>
                  <a:pt x="19837" y="30352"/>
                </a:lnTo>
                <a:lnTo>
                  <a:pt x="23139" y="20700"/>
                </a:lnTo>
                <a:lnTo>
                  <a:pt x="15265" y="20700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9409" y="2719721"/>
            <a:ext cx="15240" cy="20955"/>
          </a:xfrm>
          <a:custGeom>
            <a:avLst/>
            <a:gdLst/>
            <a:ahLst/>
            <a:cxnLst/>
            <a:rect l="l" t="t" r="r" b="b"/>
            <a:pathLst>
              <a:path w="15240" h="20955">
                <a:moveTo>
                  <a:pt x="14884" y="0"/>
                </a:moveTo>
                <a:lnTo>
                  <a:pt x="6451" y="0"/>
                </a:lnTo>
                <a:lnTo>
                  <a:pt x="0" y="20700"/>
                </a:lnTo>
                <a:lnTo>
                  <a:pt x="7772" y="20700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68891" y="2709053"/>
            <a:ext cx="19050" cy="41275"/>
          </a:xfrm>
          <a:custGeom>
            <a:avLst/>
            <a:gdLst/>
            <a:ahLst/>
            <a:cxnLst/>
            <a:rect l="l" t="t" r="r" b="b"/>
            <a:pathLst>
              <a:path w="19050" h="41275">
                <a:moveTo>
                  <a:pt x="18834" y="0"/>
                </a:moveTo>
                <a:lnTo>
                  <a:pt x="12090" y="0"/>
                </a:lnTo>
                <a:lnTo>
                  <a:pt x="11696" y="2666"/>
                </a:lnTo>
                <a:lnTo>
                  <a:pt x="10515" y="4698"/>
                </a:lnTo>
                <a:lnTo>
                  <a:pt x="8521" y="6095"/>
                </a:lnTo>
                <a:lnTo>
                  <a:pt x="6603" y="7492"/>
                </a:lnTo>
                <a:lnTo>
                  <a:pt x="3962" y="8127"/>
                </a:lnTo>
                <a:lnTo>
                  <a:pt x="0" y="8127"/>
                </a:lnTo>
                <a:lnTo>
                  <a:pt x="0" y="14477"/>
                </a:lnTo>
                <a:lnTo>
                  <a:pt x="10413" y="14477"/>
                </a:lnTo>
                <a:lnTo>
                  <a:pt x="10413" y="41020"/>
                </a:lnTo>
                <a:lnTo>
                  <a:pt x="18834" y="41020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0615" y="2730569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059"/>
                </a:moveTo>
                <a:lnTo>
                  <a:pt x="17746" y="7059"/>
                </a:lnTo>
                <a:lnTo>
                  <a:pt x="17746" y="0"/>
                </a:lnTo>
                <a:lnTo>
                  <a:pt x="0" y="0"/>
                </a:lnTo>
                <a:lnTo>
                  <a:pt x="0" y="705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23717" y="2708291"/>
            <a:ext cx="28575" cy="16510"/>
          </a:xfrm>
          <a:custGeom>
            <a:avLst/>
            <a:gdLst/>
            <a:ahLst/>
            <a:cxnLst/>
            <a:rect l="l" t="t" r="r" b="b"/>
            <a:pathLst>
              <a:path w="28575" h="16510">
                <a:moveTo>
                  <a:pt x="19177" y="0"/>
                </a:moveTo>
                <a:lnTo>
                  <a:pt x="10541" y="0"/>
                </a:lnTo>
                <a:lnTo>
                  <a:pt x="6858" y="1396"/>
                </a:lnTo>
                <a:lnTo>
                  <a:pt x="4064" y="4317"/>
                </a:lnTo>
                <a:lnTo>
                  <a:pt x="1396" y="7238"/>
                </a:lnTo>
                <a:lnTo>
                  <a:pt x="0" y="11048"/>
                </a:lnTo>
                <a:lnTo>
                  <a:pt x="0" y="16509"/>
                </a:lnTo>
                <a:lnTo>
                  <a:pt x="8001" y="16509"/>
                </a:lnTo>
                <a:lnTo>
                  <a:pt x="8128" y="13588"/>
                </a:lnTo>
                <a:lnTo>
                  <a:pt x="8763" y="11302"/>
                </a:lnTo>
                <a:lnTo>
                  <a:pt x="9779" y="9651"/>
                </a:lnTo>
                <a:lnTo>
                  <a:pt x="10921" y="8000"/>
                </a:lnTo>
                <a:lnTo>
                  <a:pt x="12573" y="7112"/>
                </a:lnTo>
                <a:lnTo>
                  <a:pt x="28448" y="7112"/>
                </a:lnTo>
                <a:lnTo>
                  <a:pt x="27940" y="5968"/>
                </a:lnTo>
                <a:lnTo>
                  <a:pt x="25146" y="3682"/>
                </a:lnTo>
                <a:lnTo>
                  <a:pt x="22479" y="1269"/>
                </a:lnTo>
                <a:lnTo>
                  <a:pt x="1917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22828" y="2715403"/>
            <a:ext cx="30480" cy="34925"/>
          </a:xfrm>
          <a:custGeom>
            <a:avLst/>
            <a:gdLst/>
            <a:ahLst/>
            <a:cxnLst/>
            <a:rect l="l" t="t" r="r" b="b"/>
            <a:pathLst>
              <a:path w="30480" h="34925">
                <a:moveTo>
                  <a:pt x="29337" y="0"/>
                </a:moveTo>
                <a:lnTo>
                  <a:pt x="17399" y="0"/>
                </a:lnTo>
                <a:lnTo>
                  <a:pt x="18922" y="634"/>
                </a:lnTo>
                <a:lnTo>
                  <a:pt x="21209" y="2920"/>
                </a:lnTo>
                <a:lnTo>
                  <a:pt x="21716" y="4444"/>
                </a:lnTo>
                <a:lnTo>
                  <a:pt x="21716" y="7873"/>
                </a:lnTo>
                <a:lnTo>
                  <a:pt x="21209" y="9270"/>
                </a:lnTo>
                <a:lnTo>
                  <a:pt x="19431" y="11810"/>
                </a:lnTo>
                <a:lnTo>
                  <a:pt x="18034" y="13080"/>
                </a:lnTo>
                <a:lnTo>
                  <a:pt x="16128" y="14350"/>
                </a:lnTo>
                <a:lnTo>
                  <a:pt x="0" y="32003"/>
                </a:lnTo>
                <a:lnTo>
                  <a:pt x="0" y="34670"/>
                </a:lnTo>
                <a:lnTo>
                  <a:pt x="30353" y="34670"/>
                </a:lnTo>
                <a:lnTo>
                  <a:pt x="30353" y="27558"/>
                </a:lnTo>
                <a:lnTo>
                  <a:pt x="10794" y="27558"/>
                </a:lnTo>
                <a:lnTo>
                  <a:pt x="11556" y="26415"/>
                </a:lnTo>
                <a:lnTo>
                  <a:pt x="13843" y="24129"/>
                </a:lnTo>
                <a:lnTo>
                  <a:pt x="15240" y="22986"/>
                </a:lnTo>
                <a:lnTo>
                  <a:pt x="17399" y="21462"/>
                </a:lnTo>
                <a:lnTo>
                  <a:pt x="20193" y="19811"/>
                </a:lnTo>
                <a:lnTo>
                  <a:pt x="24256" y="17144"/>
                </a:lnTo>
                <a:lnTo>
                  <a:pt x="26924" y="14858"/>
                </a:lnTo>
                <a:lnTo>
                  <a:pt x="28193" y="12826"/>
                </a:lnTo>
                <a:lnTo>
                  <a:pt x="29463" y="10667"/>
                </a:lnTo>
                <a:lnTo>
                  <a:pt x="30099" y="8254"/>
                </a:lnTo>
                <a:lnTo>
                  <a:pt x="30099" y="1904"/>
                </a:lnTo>
                <a:lnTo>
                  <a:pt x="2933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0804" y="2403491"/>
            <a:ext cx="222377" cy="1446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99028" y="187908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99028" y="184262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23056" y="1859423"/>
            <a:ext cx="106680" cy="42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94265" y="1514770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99028" y="145084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99028" y="1414376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23056" y="1429655"/>
            <a:ext cx="106680" cy="441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94265" y="1089573"/>
            <a:ext cx="563917" cy="1891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99028" y="1025648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99028" y="989180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23056" y="1004459"/>
            <a:ext cx="106680" cy="441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94265" y="559222"/>
            <a:ext cx="563917" cy="4009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30804" y="1217819"/>
            <a:ext cx="828903" cy="1675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30804" y="1537859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0804" y="1121807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4">
                <a:moveTo>
                  <a:pt x="19494" y="0"/>
                </a:moveTo>
                <a:lnTo>
                  <a:pt x="10782" y="0"/>
                </a:lnTo>
                <a:lnTo>
                  <a:pt x="6984" y="1524"/>
                </a:lnTo>
                <a:lnTo>
                  <a:pt x="4152" y="4572"/>
                </a:lnTo>
                <a:lnTo>
                  <a:pt x="1384" y="7493"/>
                </a:lnTo>
                <a:lnTo>
                  <a:pt x="0" y="11429"/>
                </a:lnTo>
                <a:lnTo>
                  <a:pt x="0" y="20954"/>
                </a:lnTo>
                <a:lnTo>
                  <a:pt x="1422" y="24637"/>
                </a:lnTo>
                <a:lnTo>
                  <a:pt x="4254" y="27558"/>
                </a:lnTo>
                <a:lnTo>
                  <a:pt x="7150" y="30479"/>
                </a:lnTo>
                <a:lnTo>
                  <a:pt x="10845" y="31876"/>
                </a:lnTo>
                <a:lnTo>
                  <a:pt x="19431" y="31876"/>
                </a:lnTo>
                <a:lnTo>
                  <a:pt x="22758" y="30860"/>
                </a:lnTo>
                <a:lnTo>
                  <a:pt x="27978" y="26543"/>
                </a:lnTo>
                <a:lnTo>
                  <a:pt x="28422" y="25653"/>
                </a:lnTo>
                <a:lnTo>
                  <a:pt x="13157" y="25653"/>
                </a:lnTo>
                <a:lnTo>
                  <a:pt x="11442" y="24892"/>
                </a:lnTo>
                <a:lnTo>
                  <a:pt x="10185" y="23113"/>
                </a:lnTo>
                <a:lnTo>
                  <a:pt x="9004" y="21335"/>
                </a:lnTo>
                <a:lnTo>
                  <a:pt x="8407" y="19050"/>
                </a:lnTo>
                <a:lnTo>
                  <a:pt x="8407" y="13207"/>
                </a:lnTo>
                <a:lnTo>
                  <a:pt x="9004" y="10922"/>
                </a:lnTo>
                <a:lnTo>
                  <a:pt x="10185" y="9017"/>
                </a:lnTo>
                <a:lnTo>
                  <a:pt x="11442" y="7238"/>
                </a:lnTo>
                <a:lnTo>
                  <a:pt x="13220" y="6350"/>
                </a:lnTo>
                <a:lnTo>
                  <a:pt x="28854" y="6350"/>
                </a:lnTo>
                <a:lnTo>
                  <a:pt x="28232" y="5079"/>
                </a:lnTo>
                <a:lnTo>
                  <a:pt x="22821" y="1016"/>
                </a:lnTo>
                <a:lnTo>
                  <a:pt x="194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48114" y="1128157"/>
            <a:ext cx="12700" cy="5080"/>
          </a:xfrm>
          <a:custGeom>
            <a:avLst/>
            <a:gdLst/>
            <a:ahLst/>
            <a:cxnLst/>
            <a:rect l="l" t="t" r="r" b="b"/>
            <a:pathLst>
              <a:path w="12700" h="5080">
                <a:moveTo>
                  <a:pt x="11544" y="0"/>
                </a:moveTo>
                <a:lnTo>
                  <a:pt x="0" y="0"/>
                </a:lnTo>
                <a:lnTo>
                  <a:pt x="1396" y="380"/>
                </a:lnTo>
                <a:lnTo>
                  <a:pt x="2374" y="1270"/>
                </a:lnTo>
                <a:lnTo>
                  <a:pt x="3441" y="2158"/>
                </a:lnTo>
                <a:lnTo>
                  <a:pt x="4089" y="3428"/>
                </a:lnTo>
                <a:lnTo>
                  <a:pt x="4356" y="5079"/>
                </a:lnTo>
                <a:lnTo>
                  <a:pt x="12573" y="5079"/>
                </a:lnTo>
                <a:lnTo>
                  <a:pt x="12369" y="1524"/>
                </a:lnTo>
                <a:lnTo>
                  <a:pt x="1154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47987" y="1141365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03" y="0"/>
                </a:moveTo>
                <a:lnTo>
                  <a:pt x="4787" y="0"/>
                </a:lnTo>
                <a:lnTo>
                  <a:pt x="4521" y="1904"/>
                </a:lnTo>
                <a:lnTo>
                  <a:pt x="3797" y="3428"/>
                </a:lnTo>
                <a:lnTo>
                  <a:pt x="1485" y="5588"/>
                </a:lnTo>
                <a:lnTo>
                  <a:pt x="0" y="6096"/>
                </a:lnTo>
                <a:lnTo>
                  <a:pt x="11239" y="6096"/>
                </a:lnTo>
                <a:lnTo>
                  <a:pt x="12369" y="3937"/>
                </a:lnTo>
                <a:lnTo>
                  <a:pt x="1290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4725" y="1121807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4">
                <a:moveTo>
                  <a:pt x="20548" y="0"/>
                </a:moveTo>
                <a:lnTo>
                  <a:pt x="10921" y="0"/>
                </a:lnTo>
                <a:lnTo>
                  <a:pt x="7086" y="1524"/>
                </a:lnTo>
                <a:lnTo>
                  <a:pt x="1422" y="7366"/>
                </a:lnTo>
                <a:lnTo>
                  <a:pt x="0" y="11175"/>
                </a:lnTo>
                <a:lnTo>
                  <a:pt x="25" y="20827"/>
                </a:lnTo>
                <a:lnTo>
                  <a:pt x="1422" y="24637"/>
                </a:lnTo>
                <a:lnTo>
                  <a:pt x="4254" y="27558"/>
                </a:lnTo>
                <a:lnTo>
                  <a:pt x="7150" y="30479"/>
                </a:lnTo>
                <a:lnTo>
                  <a:pt x="10985" y="31876"/>
                </a:lnTo>
                <a:lnTo>
                  <a:pt x="20485" y="31876"/>
                </a:lnTo>
                <a:lnTo>
                  <a:pt x="24307" y="30479"/>
                </a:lnTo>
                <a:lnTo>
                  <a:pt x="29082" y="25653"/>
                </a:lnTo>
                <a:lnTo>
                  <a:pt x="13487" y="25653"/>
                </a:lnTo>
                <a:lnTo>
                  <a:pt x="11709" y="24892"/>
                </a:lnTo>
                <a:lnTo>
                  <a:pt x="9067" y="21590"/>
                </a:lnTo>
                <a:lnTo>
                  <a:pt x="8407" y="19176"/>
                </a:lnTo>
                <a:lnTo>
                  <a:pt x="8407" y="12700"/>
                </a:lnTo>
                <a:lnTo>
                  <a:pt x="9067" y="10286"/>
                </a:lnTo>
                <a:lnTo>
                  <a:pt x="10388" y="8762"/>
                </a:lnTo>
                <a:lnTo>
                  <a:pt x="11709" y="7111"/>
                </a:lnTo>
                <a:lnTo>
                  <a:pt x="13487" y="6350"/>
                </a:lnTo>
                <a:lnTo>
                  <a:pt x="29044" y="6350"/>
                </a:lnTo>
                <a:lnTo>
                  <a:pt x="24371" y="1524"/>
                </a:lnTo>
                <a:lnTo>
                  <a:pt x="2054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2835" y="1128157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70" h="19684">
                <a:moveTo>
                  <a:pt x="10934" y="0"/>
                </a:moveTo>
                <a:lnTo>
                  <a:pt x="126" y="0"/>
                </a:lnTo>
                <a:lnTo>
                  <a:pt x="1981" y="888"/>
                </a:lnTo>
                <a:lnTo>
                  <a:pt x="4419" y="4318"/>
                </a:lnTo>
                <a:lnTo>
                  <a:pt x="4978" y="6350"/>
                </a:lnTo>
                <a:lnTo>
                  <a:pt x="5016" y="12826"/>
                </a:lnTo>
                <a:lnTo>
                  <a:pt x="4381" y="15112"/>
                </a:lnTo>
                <a:lnTo>
                  <a:pt x="3060" y="16763"/>
                </a:lnTo>
                <a:lnTo>
                  <a:pt x="1816" y="18542"/>
                </a:lnTo>
                <a:lnTo>
                  <a:pt x="0" y="19303"/>
                </a:lnTo>
                <a:lnTo>
                  <a:pt x="10972" y="19303"/>
                </a:lnTo>
                <a:lnTo>
                  <a:pt x="12001" y="18287"/>
                </a:lnTo>
                <a:lnTo>
                  <a:pt x="13462" y="14477"/>
                </a:lnTo>
                <a:lnTo>
                  <a:pt x="13462" y="4825"/>
                </a:lnTo>
                <a:lnTo>
                  <a:pt x="12001" y="1016"/>
                </a:lnTo>
                <a:lnTo>
                  <a:pt x="109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09912" y="1121807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195" y="0"/>
                </a:moveTo>
                <a:lnTo>
                  <a:pt x="7391" y="0"/>
                </a:lnTo>
                <a:lnTo>
                  <a:pt x="5613" y="507"/>
                </a:lnTo>
                <a:lnTo>
                  <a:pt x="2311" y="2285"/>
                </a:lnTo>
                <a:lnTo>
                  <a:pt x="990" y="3428"/>
                </a:lnTo>
                <a:lnTo>
                  <a:pt x="0" y="5079"/>
                </a:lnTo>
                <a:lnTo>
                  <a:pt x="19634" y="5079"/>
                </a:lnTo>
                <a:lnTo>
                  <a:pt x="16027" y="1016"/>
                </a:lnTo>
                <a:lnTo>
                  <a:pt x="1319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01708" y="1122569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80">
                <a:moveTo>
                  <a:pt x="8013" y="0"/>
                </a:moveTo>
                <a:lnTo>
                  <a:pt x="0" y="0"/>
                </a:lnTo>
                <a:lnTo>
                  <a:pt x="0" y="30353"/>
                </a:lnTo>
                <a:lnTo>
                  <a:pt x="8407" y="30353"/>
                </a:lnTo>
                <a:lnTo>
                  <a:pt x="8407" y="11303"/>
                </a:lnTo>
                <a:lnTo>
                  <a:pt x="8902" y="9271"/>
                </a:lnTo>
                <a:lnTo>
                  <a:pt x="9893" y="7874"/>
                </a:lnTo>
                <a:lnTo>
                  <a:pt x="10947" y="6476"/>
                </a:lnTo>
                <a:lnTo>
                  <a:pt x="12623" y="5842"/>
                </a:lnTo>
                <a:lnTo>
                  <a:pt x="28282" y="5842"/>
                </a:lnTo>
                <a:lnTo>
                  <a:pt x="27838" y="4318"/>
                </a:lnTo>
                <a:lnTo>
                  <a:pt x="8013" y="4318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18561" y="1128411"/>
            <a:ext cx="12065" cy="24765"/>
          </a:xfrm>
          <a:custGeom>
            <a:avLst/>
            <a:gdLst/>
            <a:ahLst/>
            <a:cxnLst/>
            <a:rect l="l" t="t" r="r" b="b"/>
            <a:pathLst>
              <a:path w="12065" h="24765">
                <a:moveTo>
                  <a:pt x="11429" y="0"/>
                </a:moveTo>
                <a:lnTo>
                  <a:pt x="0" y="0"/>
                </a:lnTo>
                <a:lnTo>
                  <a:pt x="1346" y="634"/>
                </a:lnTo>
                <a:lnTo>
                  <a:pt x="2146" y="1904"/>
                </a:lnTo>
                <a:lnTo>
                  <a:pt x="2997" y="3048"/>
                </a:lnTo>
                <a:lnTo>
                  <a:pt x="3428" y="4825"/>
                </a:lnTo>
                <a:lnTo>
                  <a:pt x="3428" y="24511"/>
                </a:lnTo>
                <a:lnTo>
                  <a:pt x="11836" y="24511"/>
                </a:lnTo>
                <a:lnTo>
                  <a:pt x="11836" y="1397"/>
                </a:lnTo>
                <a:lnTo>
                  <a:pt x="1142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33851" y="1122569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80">
                <a:moveTo>
                  <a:pt x="8813" y="0"/>
                </a:moveTo>
                <a:lnTo>
                  <a:pt x="0" y="0"/>
                </a:lnTo>
                <a:lnTo>
                  <a:pt x="10490" y="30353"/>
                </a:lnTo>
                <a:lnTo>
                  <a:pt x="19786" y="30353"/>
                </a:lnTo>
                <a:lnTo>
                  <a:pt x="23088" y="20700"/>
                </a:lnTo>
                <a:lnTo>
                  <a:pt x="15240" y="20700"/>
                </a:lnTo>
                <a:lnTo>
                  <a:pt x="88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49193" y="1122569"/>
            <a:ext cx="15240" cy="20955"/>
          </a:xfrm>
          <a:custGeom>
            <a:avLst/>
            <a:gdLst/>
            <a:ahLst/>
            <a:cxnLst/>
            <a:rect l="l" t="t" r="r" b="b"/>
            <a:pathLst>
              <a:path w="15240" h="20955">
                <a:moveTo>
                  <a:pt x="14846" y="0"/>
                </a:moveTo>
                <a:lnTo>
                  <a:pt x="6426" y="0"/>
                </a:lnTo>
                <a:lnTo>
                  <a:pt x="0" y="20700"/>
                </a:lnTo>
                <a:lnTo>
                  <a:pt x="7746" y="20700"/>
                </a:lnTo>
                <a:lnTo>
                  <a:pt x="1484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66643" y="1111901"/>
            <a:ext cx="28575" cy="22860"/>
          </a:xfrm>
          <a:custGeom>
            <a:avLst/>
            <a:gdLst/>
            <a:ahLst/>
            <a:cxnLst/>
            <a:rect l="l" t="t" r="r" b="b"/>
            <a:pathLst>
              <a:path w="28575" h="22859">
                <a:moveTo>
                  <a:pt x="27216" y="0"/>
                </a:moveTo>
                <a:lnTo>
                  <a:pt x="4064" y="0"/>
                </a:lnTo>
                <a:lnTo>
                  <a:pt x="0" y="22732"/>
                </a:lnTo>
                <a:lnTo>
                  <a:pt x="7531" y="22732"/>
                </a:lnTo>
                <a:lnTo>
                  <a:pt x="8293" y="21589"/>
                </a:lnTo>
                <a:lnTo>
                  <a:pt x="9182" y="20700"/>
                </a:lnTo>
                <a:lnTo>
                  <a:pt x="10096" y="20192"/>
                </a:lnTo>
                <a:lnTo>
                  <a:pt x="11087" y="19684"/>
                </a:lnTo>
                <a:lnTo>
                  <a:pt x="12344" y="19430"/>
                </a:lnTo>
                <a:lnTo>
                  <a:pt x="27978" y="19430"/>
                </a:lnTo>
                <a:lnTo>
                  <a:pt x="25831" y="17144"/>
                </a:lnTo>
                <a:lnTo>
                  <a:pt x="25146" y="16255"/>
                </a:lnTo>
                <a:lnTo>
                  <a:pt x="8420" y="16255"/>
                </a:lnTo>
                <a:lnTo>
                  <a:pt x="10096" y="6857"/>
                </a:lnTo>
                <a:lnTo>
                  <a:pt x="27216" y="6857"/>
                </a:lnTo>
                <a:lnTo>
                  <a:pt x="2721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75164" y="1125109"/>
            <a:ext cx="17145" cy="3175"/>
          </a:xfrm>
          <a:custGeom>
            <a:avLst/>
            <a:gdLst/>
            <a:ahLst/>
            <a:cxnLst/>
            <a:rect l="l" t="t" r="r" b="b"/>
            <a:pathLst>
              <a:path w="17145" h="3175">
                <a:moveTo>
                  <a:pt x="11937" y="0"/>
                </a:moveTo>
                <a:lnTo>
                  <a:pt x="6324" y="0"/>
                </a:lnTo>
                <a:lnTo>
                  <a:pt x="4775" y="253"/>
                </a:lnTo>
                <a:lnTo>
                  <a:pt x="3454" y="761"/>
                </a:lnTo>
                <a:lnTo>
                  <a:pt x="2209" y="1270"/>
                </a:lnTo>
                <a:lnTo>
                  <a:pt x="1054" y="2031"/>
                </a:lnTo>
                <a:lnTo>
                  <a:pt x="0" y="3048"/>
                </a:lnTo>
                <a:lnTo>
                  <a:pt x="16624" y="3048"/>
                </a:lnTo>
                <a:lnTo>
                  <a:pt x="15011" y="1270"/>
                </a:lnTo>
                <a:lnTo>
                  <a:pt x="1193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82556" y="1131332"/>
            <a:ext cx="13970" cy="15875"/>
          </a:xfrm>
          <a:custGeom>
            <a:avLst/>
            <a:gdLst/>
            <a:ahLst/>
            <a:cxnLst/>
            <a:rect l="l" t="t" r="r" b="b"/>
            <a:pathLst>
              <a:path w="13970" h="15875">
                <a:moveTo>
                  <a:pt x="12065" y="0"/>
                </a:moveTo>
                <a:lnTo>
                  <a:pt x="63" y="0"/>
                </a:lnTo>
                <a:lnTo>
                  <a:pt x="1778" y="761"/>
                </a:lnTo>
                <a:lnTo>
                  <a:pt x="3060" y="2158"/>
                </a:lnTo>
                <a:lnTo>
                  <a:pt x="4406" y="3555"/>
                </a:lnTo>
                <a:lnTo>
                  <a:pt x="5080" y="5333"/>
                </a:lnTo>
                <a:lnTo>
                  <a:pt x="5080" y="9778"/>
                </a:lnTo>
                <a:lnTo>
                  <a:pt x="4381" y="11683"/>
                </a:lnTo>
                <a:lnTo>
                  <a:pt x="1676" y="14731"/>
                </a:lnTo>
                <a:lnTo>
                  <a:pt x="0" y="15494"/>
                </a:lnTo>
                <a:lnTo>
                  <a:pt x="11658" y="15494"/>
                </a:lnTo>
                <a:lnTo>
                  <a:pt x="12001" y="15112"/>
                </a:lnTo>
                <a:lnTo>
                  <a:pt x="13487" y="11683"/>
                </a:lnTo>
                <a:lnTo>
                  <a:pt x="13462" y="3555"/>
                </a:lnTo>
                <a:lnTo>
                  <a:pt x="12293" y="253"/>
                </a:lnTo>
                <a:lnTo>
                  <a:pt x="1206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65360" y="1140730"/>
            <a:ext cx="29209" cy="13335"/>
          </a:xfrm>
          <a:custGeom>
            <a:avLst/>
            <a:gdLst/>
            <a:ahLst/>
            <a:cxnLst/>
            <a:rect l="l" t="t" r="r" b="b"/>
            <a:pathLst>
              <a:path w="29209" h="13334">
                <a:moveTo>
                  <a:pt x="8407" y="0"/>
                </a:moveTo>
                <a:lnTo>
                  <a:pt x="0" y="0"/>
                </a:lnTo>
                <a:lnTo>
                  <a:pt x="139" y="4063"/>
                </a:lnTo>
                <a:lnTo>
                  <a:pt x="1612" y="7238"/>
                </a:lnTo>
                <a:lnTo>
                  <a:pt x="4457" y="9525"/>
                </a:lnTo>
                <a:lnTo>
                  <a:pt x="7353" y="11810"/>
                </a:lnTo>
                <a:lnTo>
                  <a:pt x="11049" y="12953"/>
                </a:lnTo>
                <a:lnTo>
                  <a:pt x="19761" y="12953"/>
                </a:lnTo>
                <a:lnTo>
                  <a:pt x="23317" y="11556"/>
                </a:lnTo>
                <a:lnTo>
                  <a:pt x="26225" y="8635"/>
                </a:lnTo>
                <a:lnTo>
                  <a:pt x="28854" y="6096"/>
                </a:lnTo>
                <a:lnTo>
                  <a:pt x="13296" y="6096"/>
                </a:lnTo>
                <a:lnTo>
                  <a:pt x="11747" y="5587"/>
                </a:lnTo>
                <a:lnTo>
                  <a:pt x="10490" y="4445"/>
                </a:lnTo>
                <a:lnTo>
                  <a:pt x="9309" y="3301"/>
                </a:lnTo>
                <a:lnTo>
                  <a:pt x="8610" y="1904"/>
                </a:lnTo>
                <a:lnTo>
                  <a:pt x="840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00298" y="1133417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059"/>
                </a:moveTo>
                <a:lnTo>
                  <a:pt x="17713" y="7059"/>
                </a:lnTo>
                <a:lnTo>
                  <a:pt x="17713" y="0"/>
                </a:lnTo>
                <a:lnTo>
                  <a:pt x="0" y="0"/>
                </a:lnTo>
                <a:lnTo>
                  <a:pt x="0" y="705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23209" y="1111139"/>
            <a:ext cx="27940" cy="14604"/>
          </a:xfrm>
          <a:custGeom>
            <a:avLst/>
            <a:gdLst/>
            <a:ahLst/>
            <a:cxnLst/>
            <a:rect l="l" t="t" r="r" b="b"/>
            <a:pathLst>
              <a:path w="27940" h="14605">
                <a:moveTo>
                  <a:pt x="18034" y="0"/>
                </a:moveTo>
                <a:lnTo>
                  <a:pt x="10032" y="0"/>
                </a:lnTo>
                <a:lnTo>
                  <a:pt x="6731" y="1270"/>
                </a:lnTo>
                <a:lnTo>
                  <a:pt x="1524" y="6350"/>
                </a:lnTo>
                <a:lnTo>
                  <a:pt x="127" y="9778"/>
                </a:lnTo>
                <a:lnTo>
                  <a:pt x="0" y="14097"/>
                </a:lnTo>
                <a:lnTo>
                  <a:pt x="8000" y="14097"/>
                </a:lnTo>
                <a:lnTo>
                  <a:pt x="8000" y="11684"/>
                </a:lnTo>
                <a:lnTo>
                  <a:pt x="8509" y="9905"/>
                </a:lnTo>
                <a:lnTo>
                  <a:pt x="10921" y="7366"/>
                </a:lnTo>
                <a:lnTo>
                  <a:pt x="12446" y="6730"/>
                </a:lnTo>
                <a:lnTo>
                  <a:pt x="27431" y="6730"/>
                </a:lnTo>
                <a:lnTo>
                  <a:pt x="26796" y="5334"/>
                </a:lnTo>
                <a:lnTo>
                  <a:pt x="24003" y="3175"/>
                </a:lnTo>
                <a:lnTo>
                  <a:pt x="21335" y="1016"/>
                </a:lnTo>
                <a:lnTo>
                  <a:pt x="180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38449" y="1117870"/>
            <a:ext cx="13335" cy="10795"/>
          </a:xfrm>
          <a:custGeom>
            <a:avLst/>
            <a:gdLst/>
            <a:ahLst/>
            <a:cxnLst/>
            <a:rect l="l" t="t" r="r" b="b"/>
            <a:pathLst>
              <a:path w="13334" h="10794">
                <a:moveTo>
                  <a:pt x="12191" y="0"/>
                </a:moveTo>
                <a:lnTo>
                  <a:pt x="762" y="0"/>
                </a:lnTo>
                <a:lnTo>
                  <a:pt x="2159" y="508"/>
                </a:lnTo>
                <a:lnTo>
                  <a:pt x="3175" y="1650"/>
                </a:lnTo>
                <a:lnTo>
                  <a:pt x="4317" y="2540"/>
                </a:lnTo>
                <a:lnTo>
                  <a:pt x="4953" y="3937"/>
                </a:lnTo>
                <a:lnTo>
                  <a:pt x="4953" y="7112"/>
                </a:lnTo>
                <a:lnTo>
                  <a:pt x="4317" y="8382"/>
                </a:lnTo>
                <a:lnTo>
                  <a:pt x="1778" y="10287"/>
                </a:lnTo>
                <a:lnTo>
                  <a:pt x="0" y="10668"/>
                </a:lnTo>
                <a:lnTo>
                  <a:pt x="10794" y="10668"/>
                </a:lnTo>
                <a:lnTo>
                  <a:pt x="12445" y="8382"/>
                </a:lnTo>
                <a:lnTo>
                  <a:pt x="12953" y="6604"/>
                </a:lnTo>
                <a:lnTo>
                  <a:pt x="12953" y="1397"/>
                </a:lnTo>
                <a:lnTo>
                  <a:pt x="121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34639" y="1128538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4605" y="0"/>
                </a:moveTo>
                <a:lnTo>
                  <a:pt x="0" y="0"/>
                </a:lnTo>
                <a:lnTo>
                  <a:pt x="0" y="5842"/>
                </a:lnTo>
                <a:lnTo>
                  <a:pt x="4191" y="5842"/>
                </a:lnTo>
                <a:lnTo>
                  <a:pt x="6477" y="6350"/>
                </a:lnTo>
                <a:lnTo>
                  <a:pt x="7620" y="7366"/>
                </a:lnTo>
                <a:lnTo>
                  <a:pt x="8890" y="8381"/>
                </a:lnTo>
                <a:lnTo>
                  <a:pt x="9525" y="9905"/>
                </a:lnTo>
                <a:lnTo>
                  <a:pt x="9525" y="13716"/>
                </a:lnTo>
                <a:lnTo>
                  <a:pt x="8890" y="15240"/>
                </a:lnTo>
                <a:lnTo>
                  <a:pt x="7620" y="16510"/>
                </a:lnTo>
                <a:lnTo>
                  <a:pt x="6350" y="17652"/>
                </a:lnTo>
                <a:lnTo>
                  <a:pt x="4699" y="18288"/>
                </a:lnTo>
                <a:lnTo>
                  <a:pt x="17145" y="18288"/>
                </a:lnTo>
                <a:lnTo>
                  <a:pt x="18288" y="15748"/>
                </a:lnTo>
                <a:lnTo>
                  <a:pt x="18288" y="9398"/>
                </a:lnTo>
                <a:lnTo>
                  <a:pt x="17653" y="7493"/>
                </a:lnTo>
                <a:lnTo>
                  <a:pt x="16383" y="5842"/>
                </a:lnTo>
                <a:lnTo>
                  <a:pt x="15113" y="4064"/>
                </a:lnTo>
                <a:lnTo>
                  <a:pt x="13335" y="2921"/>
                </a:lnTo>
                <a:lnTo>
                  <a:pt x="11049" y="2413"/>
                </a:lnTo>
                <a:lnTo>
                  <a:pt x="12827" y="1777"/>
                </a:lnTo>
                <a:lnTo>
                  <a:pt x="14224" y="635"/>
                </a:lnTo>
                <a:lnTo>
                  <a:pt x="1460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22193" y="1138825"/>
            <a:ext cx="29845" cy="15240"/>
          </a:xfrm>
          <a:custGeom>
            <a:avLst/>
            <a:gdLst/>
            <a:ahLst/>
            <a:cxnLst/>
            <a:rect l="l" t="t" r="r" b="b"/>
            <a:pathLst>
              <a:path w="29844" h="15240">
                <a:moveTo>
                  <a:pt x="8000" y="0"/>
                </a:moveTo>
                <a:lnTo>
                  <a:pt x="0" y="0"/>
                </a:lnTo>
                <a:lnTo>
                  <a:pt x="0" y="4952"/>
                </a:lnTo>
                <a:lnTo>
                  <a:pt x="1396" y="8381"/>
                </a:lnTo>
                <a:lnTo>
                  <a:pt x="4190" y="11049"/>
                </a:lnTo>
                <a:lnTo>
                  <a:pt x="6984" y="13588"/>
                </a:lnTo>
                <a:lnTo>
                  <a:pt x="10668" y="14858"/>
                </a:lnTo>
                <a:lnTo>
                  <a:pt x="19684" y="14858"/>
                </a:lnTo>
                <a:lnTo>
                  <a:pt x="23368" y="13588"/>
                </a:lnTo>
                <a:lnTo>
                  <a:pt x="29337" y="8635"/>
                </a:lnTo>
                <a:lnTo>
                  <a:pt x="29590" y="8000"/>
                </a:lnTo>
                <a:lnTo>
                  <a:pt x="13081" y="8000"/>
                </a:lnTo>
                <a:lnTo>
                  <a:pt x="11303" y="7365"/>
                </a:lnTo>
                <a:lnTo>
                  <a:pt x="10032" y="5968"/>
                </a:lnTo>
                <a:lnTo>
                  <a:pt x="8762" y="4444"/>
                </a:lnTo>
                <a:lnTo>
                  <a:pt x="8128" y="2539"/>
                </a:lnTo>
                <a:lnTo>
                  <a:pt x="80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97860" y="899303"/>
            <a:ext cx="85343" cy="4267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97860" y="797195"/>
            <a:ext cx="85343" cy="426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97860" y="695087"/>
            <a:ext cx="85343" cy="4419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92932" y="1943199"/>
            <a:ext cx="565251" cy="838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612008" y="1917462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59224" y="831748"/>
            <a:ext cx="327977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串联结构（如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）存在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后面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只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处理 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征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;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前层丢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重要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息，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层无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法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找回。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9224" y="2297302"/>
            <a:ext cx="3079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解决方案——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每一层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尽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量多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保留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入信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号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中的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4265" y="2492400"/>
            <a:ext cx="563917" cy="824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9027" y="263954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99027" y="2603837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23055" y="2619120"/>
            <a:ext cx="106680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4265" y="2704236"/>
            <a:ext cx="563917" cy="189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9027" y="2958062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141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99027" y="2922353"/>
            <a:ext cx="554990" cy="71755"/>
          </a:xfrm>
          <a:custGeom>
            <a:avLst/>
            <a:gdLst/>
            <a:ahLst/>
            <a:cxnLst/>
            <a:rect l="l" t="t" r="r" b="b"/>
            <a:pathLst>
              <a:path w="554990" h="71755">
                <a:moveTo>
                  <a:pt x="0" y="71417"/>
                </a:moveTo>
                <a:lnTo>
                  <a:pt x="554393" y="71417"/>
                </a:lnTo>
                <a:lnTo>
                  <a:pt x="554393" y="0"/>
                </a:lnTo>
                <a:lnTo>
                  <a:pt x="0" y="0"/>
                </a:lnTo>
                <a:lnTo>
                  <a:pt x="0" y="71417"/>
                </a:lnTo>
                <a:close/>
              </a:path>
            </a:pathLst>
          </a:custGeom>
          <a:ln w="9524">
            <a:solidFill>
              <a:srgbClr val="4343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16959" y="2937638"/>
            <a:ext cx="121920" cy="533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4265" y="2385719"/>
            <a:ext cx="563917" cy="82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99027" y="2321794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99027" y="2285325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23055" y="2300606"/>
            <a:ext cx="106680" cy="441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0803" y="2068722"/>
            <a:ext cx="827379" cy="1876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68369" y="3041395"/>
            <a:ext cx="3225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黑体" panose="02010609060101010101" charset="-122"/>
                <a:cs typeface="黑体" panose="02010609060101010101" charset="-122"/>
              </a:rPr>
              <a:t>VGG16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0803" y="28426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469" y="0"/>
                </a:moveTo>
                <a:lnTo>
                  <a:pt x="10769" y="0"/>
                </a:lnTo>
                <a:lnTo>
                  <a:pt x="6984" y="1524"/>
                </a:lnTo>
                <a:lnTo>
                  <a:pt x="4152" y="4571"/>
                </a:lnTo>
                <a:lnTo>
                  <a:pt x="1384" y="7619"/>
                </a:lnTo>
                <a:lnTo>
                  <a:pt x="0" y="11683"/>
                </a:lnTo>
                <a:lnTo>
                  <a:pt x="0" y="21336"/>
                </a:lnTo>
                <a:lnTo>
                  <a:pt x="1422" y="25145"/>
                </a:lnTo>
                <a:lnTo>
                  <a:pt x="4254" y="28067"/>
                </a:lnTo>
                <a:lnTo>
                  <a:pt x="7150" y="30987"/>
                </a:lnTo>
                <a:lnTo>
                  <a:pt x="10833" y="32384"/>
                </a:lnTo>
                <a:lnTo>
                  <a:pt x="19405" y="32384"/>
                </a:lnTo>
                <a:lnTo>
                  <a:pt x="22733" y="31368"/>
                </a:lnTo>
                <a:lnTo>
                  <a:pt x="27940" y="27050"/>
                </a:lnTo>
                <a:lnTo>
                  <a:pt x="28384" y="26162"/>
                </a:lnTo>
                <a:lnTo>
                  <a:pt x="13144" y="26162"/>
                </a:lnTo>
                <a:lnTo>
                  <a:pt x="11430" y="25272"/>
                </a:lnTo>
                <a:lnTo>
                  <a:pt x="10172" y="23494"/>
                </a:lnTo>
                <a:lnTo>
                  <a:pt x="8991" y="21717"/>
                </a:lnTo>
                <a:lnTo>
                  <a:pt x="8394" y="19303"/>
                </a:lnTo>
                <a:lnTo>
                  <a:pt x="8394" y="13462"/>
                </a:lnTo>
                <a:lnTo>
                  <a:pt x="8991" y="11049"/>
                </a:lnTo>
                <a:lnTo>
                  <a:pt x="10172" y="9143"/>
                </a:lnTo>
                <a:lnTo>
                  <a:pt x="11430" y="7238"/>
                </a:lnTo>
                <a:lnTo>
                  <a:pt x="13208" y="6350"/>
                </a:lnTo>
                <a:lnTo>
                  <a:pt x="28816" y="6350"/>
                </a:lnTo>
                <a:lnTo>
                  <a:pt x="28193" y="5080"/>
                </a:lnTo>
                <a:lnTo>
                  <a:pt x="22796" y="1015"/>
                </a:lnTo>
                <a:lnTo>
                  <a:pt x="194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8101" y="2848990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11518" y="0"/>
                </a:moveTo>
                <a:lnTo>
                  <a:pt x="0" y="0"/>
                </a:lnTo>
                <a:lnTo>
                  <a:pt x="1384" y="507"/>
                </a:lnTo>
                <a:lnTo>
                  <a:pt x="2362" y="1396"/>
                </a:lnTo>
                <a:lnTo>
                  <a:pt x="3416" y="2286"/>
                </a:lnTo>
                <a:lnTo>
                  <a:pt x="4076" y="3556"/>
                </a:lnTo>
                <a:lnTo>
                  <a:pt x="4343" y="5333"/>
                </a:lnTo>
                <a:lnTo>
                  <a:pt x="12547" y="5333"/>
                </a:lnTo>
                <a:lnTo>
                  <a:pt x="12344" y="1650"/>
                </a:lnTo>
                <a:lnTo>
                  <a:pt x="1151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7961" y="2862452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890" y="0"/>
                </a:moveTo>
                <a:lnTo>
                  <a:pt x="4787" y="0"/>
                </a:lnTo>
                <a:lnTo>
                  <a:pt x="4521" y="2031"/>
                </a:lnTo>
                <a:lnTo>
                  <a:pt x="3784" y="3556"/>
                </a:lnTo>
                <a:lnTo>
                  <a:pt x="1485" y="5841"/>
                </a:lnTo>
                <a:lnTo>
                  <a:pt x="0" y="6350"/>
                </a:lnTo>
                <a:lnTo>
                  <a:pt x="11226" y="6350"/>
                </a:lnTo>
                <a:lnTo>
                  <a:pt x="12357" y="4063"/>
                </a:lnTo>
                <a:lnTo>
                  <a:pt x="1289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4674" y="28426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20523" y="0"/>
                </a:moveTo>
                <a:lnTo>
                  <a:pt x="10909" y="0"/>
                </a:lnTo>
                <a:lnTo>
                  <a:pt x="7086" y="1396"/>
                </a:lnTo>
                <a:lnTo>
                  <a:pt x="1422" y="7493"/>
                </a:lnTo>
                <a:lnTo>
                  <a:pt x="0" y="11430"/>
                </a:lnTo>
                <a:lnTo>
                  <a:pt x="25" y="21208"/>
                </a:lnTo>
                <a:lnTo>
                  <a:pt x="1422" y="25018"/>
                </a:lnTo>
                <a:lnTo>
                  <a:pt x="4254" y="28067"/>
                </a:lnTo>
                <a:lnTo>
                  <a:pt x="7150" y="30987"/>
                </a:lnTo>
                <a:lnTo>
                  <a:pt x="10972" y="32384"/>
                </a:lnTo>
                <a:lnTo>
                  <a:pt x="20472" y="32384"/>
                </a:lnTo>
                <a:lnTo>
                  <a:pt x="24282" y="30987"/>
                </a:lnTo>
                <a:lnTo>
                  <a:pt x="29057" y="26162"/>
                </a:lnTo>
                <a:lnTo>
                  <a:pt x="13474" y="26162"/>
                </a:lnTo>
                <a:lnTo>
                  <a:pt x="11696" y="25272"/>
                </a:lnTo>
                <a:lnTo>
                  <a:pt x="9067" y="21970"/>
                </a:lnTo>
                <a:lnTo>
                  <a:pt x="8407" y="19557"/>
                </a:lnTo>
                <a:lnTo>
                  <a:pt x="8407" y="12953"/>
                </a:lnTo>
                <a:lnTo>
                  <a:pt x="9067" y="10413"/>
                </a:lnTo>
                <a:lnTo>
                  <a:pt x="10388" y="8889"/>
                </a:lnTo>
                <a:lnTo>
                  <a:pt x="11696" y="7112"/>
                </a:lnTo>
                <a:lnTo>
                  <a:pt x="13474" y="6350"/>
                </a:lnTo>
                <a:lnTo>
                  <a:pt x="29019" y="6350"/>
                </a:lnTo>
                <a:lnTo>
                  <a:pt x="27178" y="4444"/>
                </a:lnTo>
                <a:lnTo>
                  <a:pt x="24345" y="1396"/>
                </a:lnTo>
                <a:lnTo>
                  <a:pt x="2052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2772" y="2848990"/>
            <a:ext cx="13970" cy="20320"/>
          </a:xfrm>
          <a:custGeom>
            <a:avLst/>
            <a:gdLst/>
            <a:ahLst/>
            <a:cxnLst/>
            <a:rect l="l" t="t" r="r" b="b"/>
            <a:pathLst>
              <a:path w="13970" h="20319">
                <a:moveTo>
                  <a:pt x="10921" y="0"/>
                </a:moveTo>
                <a:lnTo>
                  <a:pt x="127" y="0"/>
                </a:lnTo>
                <a:lnTo>
                  <a:pt x="1968" y="888"/>
                </a:lnTo>
                <a:lnTo>
                  <a:pt x="3162" y="2667"/>
                </a:lnTo>
                <a:lnTo>
                  <a:pt x="4406" y="4444"/>
                </a:lnTo>
                <a:lnTo>
                  <a:pt x="4965" y="6603"/>
                </a:lnTo>
                <a:lnTo>
                  <a:pt x="5003" y="13207"/>
                </a:lnTo>
                <a:lnTo>
                  <a:pt x="4368" y="15493"/>
                </a:lnTo>
                <a:lnTo>
                  <a:pt x="3060" y="17144"/>
                </a:lnTo>
                <a:lnTo>
                  <a:pt x="1803" y="18922"/>
                </a:lnTo>
                <a:lnTo>
                  <a:pt x="0" y="19812"/>
                </a:lnTo>
                <a:lnTo>
                  <a:pt x="10960" y="19812"/>
                </a:lnTo>
                <a:lnTo>
                  <a:pt x="11988" y="18795"/>
                </a:lnTo>
                <a:lnTo>
                  <a:pt x="13436" y="14858"/>
                </a:lnTo>
                <a:lnTo>
                  <a:pt x="13436" y="5080"/>
                </a:lnTo>
                <a:lnTo>
                  <a:pt x="11988" y="1143"/>
                </a:lnTo>
                <a:lnTo>
                  <a:pt x="1092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9810" y="2842640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182" y="0"/>
                </a:moveTo>
                <a:lnTo>
                  <a:pt x="7378" y="0"/>
                </a:lnTo>
                <a:lnTo>
                  <a:pt x="5600" y="381"/>
                </a:lnTo>
                <a:lnTo>
                  <a:pt x="3962" y="1396"/>
                </a:lnTo>
                <a:lnTo>
                  <a:pt x="2311" y="2158"/>
                </a:lnTo>
                <a:lnTo>
                  <a:pt x="990" y="3428"/>
                </a:lnTo>
                <a:lnTo>
                  <a:pt x="0" y="5080"/>
                </a:lnTo>
                <a:lnTo>
                  <a:pt x="19596" y="5080"/>
                </a:lnTo>
                <a:lnTo>
                  <a:pt x="19570" y="4952"/>
                </a:lnTo>
                <a:lnTo>
                  <a:pt x="16014" y="888"/>
                </a:lnTo>
                <a:lnTo>
                  <a:pt x="1318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1606" y="2843402"/>
            <a:ext cx="28575" cy="31115"/>
          </a:xfrm>
          <a:custGeom>
            <a:avLst/>
            <a:gdLst/>
            <a:ahLst/>
            <a:cxnLst/>
            <a:rect l="l" t="t" r="r" b="b"/>
            <a:pathLst>
              <a:path w="28575" h="31114">
                <a:moveTo>
                  <a:pt x="8013" y="0"/>
                </a:moveTo>
                <a:lnTo>
                  <a:pt x="0" y="0"/>
                </a:lnTo>
                <a:lnTo>
                  <a:pt x="0" y="30860"/>
                </a:lnTo>
                <a:lnTo>
                  <a:pt x="8407" y="30860"/>
                </a:lnTo>
                <a:lnTo>
                  <a:pt x="8407" y="11556"/>
                </a:lnTo>
                <a:lnTo>
                  <a:pt x="8902" y="9397"/>
                </a:lnTo>
                <a:lnTo>
                  <a:pt x="9880" y="8000"/>
                </a:lnTo>
                <a:lnTo>
                  <a:pt x="10934" y="6603"/>
                </a:lnTo>
                <a:lnTo>
                  <a:pt x="12623" y="5841"/>
                </a:lnTo>
                <a:lnTo>
                  <a:pt x="28257" y="5841"/>
                </a:lnTo>
                <a:lnTo>
                  <a:pt x="27800" y="4318"/>
                </a:lnTo>
                <a:lnTo>
                  <a:pt x="8013" y="4318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8446" y="2849244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5" h="25400">
                <a:moveTo>
                  <a:pt x="11417" y="0"/>
                </a:moveTo>
                <a:lnTo>
                  <a:pt x="0" y="0"/>
                </a:lnTo>
                <a:lnTo>
                  <a:pt x="1346" y="635"/>
                </a:lnTo>
                <a:lnTo>
                  <a:pt x="2133" y="1905"/>
                </a:lnTo>
                <a:lnTo>
                  <a:pt x="2997" y="3175"/>
                </a:lnTo>
                <a:lnTo>
                  <a:pt x="3428" y="4953"/>
                </a:lnTo>
                <a:lnTo>
                  <a:pt x="3428" y="25018"/>
                </a:lnTo>
                <a:lnTo>
                  <a:pt x="11823" y="25018"/>
                </a:lnTo>
                <a:lnTo>
                  <a:pt x="11823" y="1524"/>
                </a:lnTo>
                <a:lnTo>
                  <a:pt x="1141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33712" y="2843402"/>
            <a:ext cx="23495" cy="31115"/>
          </a:xfrm>
          <a:custGeom>
            <a:avLst/>
            <a:gdLst/>
            <a:ahLst/>
            <a:cxnLst/>
            <a:rect l="l" t="t" r="r" b="b"/>
            <a:pathLst>
              <a:path w="23495" h="31114">
                <a:moveTo>
                  <a:pt x="8801" y="0"/>
                </a:moveTo>
                <a:lnTo>
                  <a:pt x="0" y="0"/>
                </a:lnTo>
                <a:lnTo>
                  <a:pt x="10477" y="30860"/>
                </a:lnTo>
                <a:lnTo>
                  <a:pt x="19773" y="30860"/>
                </a:lnTo>
                <a:lnTo>
                  <a:pt x="23063" y="21081"/>
                </a:lnTo>
                <a:lnTo>
                  <a:pt x="15227" y="21081"/>
                </a:lnTo>
                <a:lnTo>
                  <a:pt x="88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9040" y="2843402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40" h="21589">
                <a:moveTo>
                  <a:pt x="14820" y="0"/>
                </a:moveTo>
                <a:lnTo>
                  <a:pt x="6426" y="0"/>
                </a:lnTo>
                <a:lnTo>
                  <a:pt x="0" y="21081"/>
                </a:lnTo>
                <a:lnTo>
                  <a:pt x="7734" y="21081"/>
                </a:lnTo>
                <a:lnTo>
                  <a:pt x="148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8446" y="2832480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83" y="0"/>
                </a:moveTo>
                <a:lnTo>
                  <a:pt x="12065" y="0"/>
                </a:lnTo>
                <a:lnTo>
                  <a:pt x="11658" y="2793"/>
                </a:lnTo>
                <a:lnTo>
                  <a:pt x="10477" y="4825"/>
                </a:lnTo>
                <a:lnTo>
                  <a:pt x="8496" y="6223"/>
                </a:lnTo>
                <a:lnTo>
                  <a:pt x="6591" y="7619"/>
                </a:lnTo>
                <a:lnTo>
                  <a:pt x="3962" y="8255"/>
                </a:lnTo>
                <a:lnTo>
                  <a:pt x="0" y="8255"/>
                </a:lnTo>
                <a:lnTo>
                  <a:pt x="0" y="14731"/>
                </a:lnTo>
                <a:lnTo>
                  <a:pt x="10375" y="14731"/>
                </a:lnTo>
                <a:lnTo>
                  <a:pt x="10375" y="41782"/>
                </a:lnTo>
                <a:lnTo>
                  <a:pt x="18783" y="41782"/>
                </a:lnTo>
                <a:lnTo>
                  <a:pt x="1878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00082" y="2854362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201"/>
                </a:moveTo>
                <a:lnTo>
                  <a:pt x="17691" y="7201"/>
                </a:lnTo>
                <a:lnTo>
                  <a:pt x="17691" y="0"/>
                </a:lnTo>
                <a:lnTo>
                  <a:pt x="0" y="0"/>
                </a:lnTo>
                <a:lnTo>
                  <a:pt x="0" y="720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25240" y="2832480"/>
            <a:ext cx="19050" cy="41910"/>
          </a:xfrm>
          <a:custGeom>
            <a:avLst/>
            <a:gdLst/>
            <a:ahLst/>
            <a:cxnLst/>
            <a:rect l="l" t="t" r="r" b="b"/>
            <a:pathLst>
              <a:path w="19050" h="41910">
                <a:moveTo>
                  <a:pt x="18796" y="0"/>
                </a:moveTo>
                <a:lnTo>
                  <a:pt x="12065" y="0"/>
                </a:lnTo>
                <a:lnTo>
                  <a:pt x="11684" y="2793"/>
                </a:lnTo>
                <a:lnTo>
                  <a:pt x="10540" y="4825"/>
                </a:lnTo>
                <a:lnTo>
                  <a:pt x="8509" y="6223"/>
                </a:lnTo>
                <a:lnTo>
                  <a:pt x="6603" y="7619"/>
                </a:lnTo>
                <a:lnTo>
                  <a:pt x="3937" y="8255"/>
                </a:lnTo>
                <a:lnTo>
                  <a:pt x="0" y="8255"/>
                </a:lnTo>
                <a:lnTo>
                  <a:pt x="0" y="14731"/>
                </a:lnTo>
                <a:lnTo>
                  <a:pt x="10414" y="14731"/>
                </a:lnTo>
                <a:lnTo>
                  <a:pt x="10414" y="41782"/>
                </a:lnTo>
                <a:lnTo>
                  <a:pt x="18796" y="41782"/>
                </a:lnTo>
                <a:lnTo>
                  <a:pt x="1879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0803" y="27410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19532" y="0"/>
                </a:moveTo>
                <a:lnTo>
                  <a:pt x="10807" y="0"/>
                </a:lnTo>
                <a:lnTo>
                  <a:pt x="7010" y="1524"/>
                </a:lnTo>
                <a:lnTo>
                  <a:pt x="4165" y="4571"/>
                </a:lnTo>
                <a:lnTo>
                  <a:pt x="1384" y="7493"/>
                </a:lnTo>
                <a:lnTo>
                  <a:pt x="0" y="11430"/>
                </a:lnTo>
                <a:lnTo>
                  <a:pt x="0" y="20955"/>
                </a:lnTo>
                <a:lnTo>
                  <a:pt x="1422" y="24637"/>
                </a:lnTo>
                <a:lnTo>
                  <a:pt x="4267" y="27558"/>
                </a:lnTo>
                <a:lnTo>
                  <a:pt x="7175" y="30480"/>
                </a:lnTo>
                <a:lnTo>
                  <a:pt x="10871" y="31876"/>
                </a:lnTo>
                <a:lnTo>
                  <a:pt x="19469" y="31876"/>
                </a:lnTo>
                <a:lnTo>
                  <a:pt x="22809" y="30861"/>
                </a:lnTo>
                <a:lnTo>
                  <a:pt x="28028" y="26543"/>
                </a:lnTo>
                <a:lnTo>
                  <a:pt x="28486" y="25653"/>
                </a:lnTo>
                <a:lnTo>
                  <a:pt x="13182" y="25653"/>
                </a:lnTo>
                <a:lnTo>
                  <a:pt x="11468" y="24892"/>
                </a:lnTo>
                <a:lnTo>
                  <a:pt x="10210" y="23113"/>
                </a:lnTo>
                <a:lnTo>
                  <a:pt x="9017" y="21336"/>
                </a:lnTo>
                <a:lnTo>
                  <a:pt x="8420" y="19050"/>
                </a:lnTo>
                <a:lnTo>
                  <a:pt x="8420" y="13207"/>
                </a:lnTo>
                <a:lnTo>
                  <a:pt x="9017" y="10921"/>
                </a:lnTo>
                <a:lnTo>
                  <a:pt x="10210" y="9017"/>
                </a:lnTo>
                <a:lnTo>
                  <a:pt x="11468" y="7238"/>
                </a:lnTo>
                <a:lnTo>
                  <a:pt x="13246" y="6350"/>
                </a:lnTo>
                <a:lnTo>
                  <a:pt x="28917" y="6350"/>
                </a:lnTo>
                <a:lnTo>
                  <a:pt x="28282" y="5080"/>
                </a:lnTo>
                <a:lnTo>
                  <a:pt x="22872" y="1015"/>
                </a:lnTo>
                <a:lnTo>
                  <a:pt x="1953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48152" y="2747390"/>
            <a:ext cx="12700" cy="5080"/>
          </a:xfrm>
          <a:custGeom>
            <a:avLst/>
            <a:gdLst/>
            <a:ahLst/>
            <a:cxnLst/>
            <a:rect l="l" t="t" r="r" b="b"/>
            <a:pathLst>
              <a:path w="12700" h="5080">
                <a:moveTo>
                  <a:pt x="11569" y="0"/>
                </a:moveTo>
                <a:lnTo>
                  <a:pt x="0" y="0"/>
                </a:lnTo>
                <a:lnTo>
                  <a:pt x="1384" y="381"/>
                </a:lnTo>
                <a:lnTo>
                  <a:pt x="2374" y="1269"/>
                </a:lnTo>
                <a:lnTo>
                  <a:pt x="3441" y="2158"/>
                </a:lnTo>
                <a:lnTo>
                  <a:pt x="4102" y="3428"/>
                </a:lnTo>
                <a:lnTo>
                  <a:pt x="4368" y="5080"/>
                </a:lnTo>
                <a:lnTo>
                  <a:pt x="12598" y="5080"/>
                </a:lnTo>
                <a:lnTo>
                  <a:pt x="12395" y="1524"/>
                </a:lnTo>
                <a:lnTo>
                  <a:pt x="1156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8012" y="2760598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28" y="0"/>
                </a:moveTo>
                <a:lnTo>
                  <a:pt x="4800" y="0"/>
                </a:lnTo>
                <a:lnTo>
                  <a:pt x="4533" y="1905"/>
                </a:lnTo>
                <a:lnTo>
                  <a:pt x="3809" y="3429"/>
                </a:lnTo>
                <a:lnTo>
                  <a:pt x="1498" y="5587"/>
                </a:lnTo>
                <a:lnTo>
                  <a:pt x="0" y="6095"/>
                </a:lnTo>
                <a:lnTo>
                  <a:pt x="11277" y="6095"/>
                </a:lnTo>
                <a:lnTo>
                  <a:pt x="12407" y="3937"/>
                </a:lnTo>
                <a:lnTo>
                  <a:pt x="1292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4789" y="2741040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5">
                <a:moveTo>
                  <a:pt x="20586" y="0"/>
                </a:moveTo>
                <a:lnTo>
                  <a:pt x="10934" y="0"/>
                </a:lnTo>
                <a:lnTo>
                  <a:pt x="7099" y="1524"/>
                </a:lnTo>
                <a:lnTo>
                  <a:pt x="1422" y="7365"/>
                </a:lnTo>
                <a:lnTo>
                  <a:pt x="0" y="11175"/>
                </a:lnTo>
                <a:lnTo>
                  <a:pt x="25" y="20827"/>
                </a:lnTo>
                <a:lnTo>
                  <a:pt x="1422" y="24637"/>
                </a:lnTo>
                <a:lnTo>
                  <a:pt x="4267" y="27558"/>
                </a:lnTo>
                <a:lnTo>
                  <a:pt x="7175" y="30480"/>
                </a:lnTo>
                <a:lnTo>
                  <a:pt x="11010" y="31876"/>
                </a:lnTo>
                <a:lnTo>
                  <a:pt x="20523" y="31876"/>
                </a:lnTo>
                <a:lnTo>
                  <a:pt x="24358" y="30480"/>
                </a:lnTo>
                <a:lnTo>
                  <a:pt x="29146" y="25653"/>
                </a:lnTo>
                <a:lnTo>
                  <a:pt x="13512" y="25653"/>
                </a:lnTo>
                <a:lnTo>
                  <a:pt x="11734" y="24892"/>
                </a:lnTo>
                <a:lnTo>
                  <a:pt x="9093" y="21589"/>
                </a:lnTo>
                <a:lnTo>
                  <a:pt x="8420" y="19176"/>
                </a:lnTo>
                <a:lnTo>
                  <a:pt x="8420" y="12700"/>
                </a:lnTo>
                <a:lnTo>
                  <a:pt x="9093" y="10287"/>
                </a:lnTo>
                <a:lnTo>
                  <a:pt x="10414" y="8762"/>
                </a:lnTo>
                <a:lnTo>
                  <a:pt x="11734" y="7112"/>
                </a:lnTo>
                <a:lnTo>
                  <a:pt x="13512" y="6350"/>
                </a:lnTo>
                <a:lnTo>
                  <a:pt x="29108" y="6350"/>
                </a:lnTo>
                <a:lnTo>
                  <a:pt x="24422" y="1524"/>
                </a:lnTo>
                <a:lnTo>
                  <a:pt x="2058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82937" y="2747390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70" h="19685">
                <a:moveTo>
                  <a:pt x="10960" y="0"/>
                </a:moveTo>
                <a:lnTo>
                  <a:pt x="127" y="0"/>
                </a:lnTo>
                <a:lnTo>
                  <a:pt x="1981" y="888"/>
                </a:lnTo>
                <a:lnTo>
                  <a:pt x="4432" y="4318"/>
                </a:lnTo>
                <a:lnTo>
                  <a:pt x="4991" y="6350"/>
                </a:lnTo>
                <a:lnTo>
                  <a:pt x="5016" y="12826"/>
                </a:lnTo>
                <a:lnTo>
                  <a:pt x="4394" y="15112"/>
                </a:lnTo>
                <a:lnTo>
                  <a:pt x="3073" y="16763"/>
                </a:lnTo>
                <a:lnTo>
                  <a:pt x="1816" y="18542"/>
                </a:lnTo>
                <a:lnTo>
                  <a:pt x="0" y="19303"/>
                </a:lnTo>
                <a:lnTo>
                  <a:pt x="10998" y="19303"/>
                </a:lnTo>
                <a:lnTo>
                  <a:pt x="12026" y="18287"/>
                </a:lnTo>
                <a:lnTo>
                  <a:pt x="13487" y="14477"/>
                </a:lnTo>
                <a:lnTo>
                  <a:pt x="13487" y="4825"/>
                </a:lnTo>
                <a:lnTo>
                  <a:pt x="12026" y="1015"/>
                </a:lnTo>
                <a:lnTo>
                  <a:pt x="109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0064" y="2741040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220" y="0"/>
                </a:moveTo>
                <a:lnTo>
                  <a:pt x="7404" y="0"/>
                </a:lnTo>
                <a:lnTo>
                  <a:pt x="5613" y="507"/>
                </a:lnTo>
                <a:lnTo>
                  <a:pt x="2311" y="2286"/>
                </a:lnTo>
                <a:lnTo>
                  <a:pt x="990" y="3428"/>
                </a:lnTo>
                <a:lnTo>
                  <a:pt x="0" y="5080"/>
                </a:lnTo>
                <a:lnTo>
                  <a:pt x="19659" y="5080"/>
                </a:lnTo>
                <a:lnTo>
                  <a:pt x="19634" y="4952"/>
                </a:lnTo>
                <a:lnTo>
                  <a:pt x="16065" y="1015"/>
                </a:lnTo>
                <a:lnTo>
                  <a:pt x="1322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01835" y="2741802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80">
                <a:moveTo>
                  <a:pt x="8039" y="0"/>
                </a:moveTo>
                <a:lnTo>
                  <a:pt x="0" y="0"/>
                </a:lnTo>
                <a:lnTo>
                  <a:pt x="0" y="30352"/>
                </a:lnTo>
                <a:lnTo>
                  <a:pt x="8432" y="30352"/>
                </a:lnTo>
                <a:lnTo>
                  <a:pt x="8432" y="11302"/>
                </a:lnTo>
                <a:lnTo>
                  <a:pt x="8928" y="9270"/>
                </a:lnTo>
                <a:lnTo>
                  <a:pt x="9918" y="7874"/>
                </a:lnTo>
                <a:lnTo>
                  <a:pt x="10972" y="6476"/>
                </a:lnTo>
                <a:lnTo>
                  <a:pt x="12661" y="5841"/>
                </a:lnTo>
                <a:lnTo>
                  <a:pt x="28346" y="5841"/>
                </a:lnTo>
                <a:lnTo>
                  <a:pt x="27889" y="4318"/>
                </a:lnTo>
                <a:lnTo>
                  <a:pt x="8039" y="4318"/>
                </a:lnTo>
                <a:lnTo>
                  <a:pt x="803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8726" y="2747644"/>
            <a:ext cx="12065" cy="24765"/>
          </a:xfrm>
          <a:custGeom>
            <a:avLst/>
            <a:gdLst/>
            <a:ahLst/>
            <a:cxnLst/>
            <a:rect l="l" t="t" r="r" b="b"/>
            <a:pathLst>
              <a:path w="12065" h="24764">
                <a:moveTo>
                  <a:pt x="11455" y="0"/>
                </a:moveTo>
                <a:lnTo>
                  <a:pt x="0" y="0"/>
                </a:lnTo>
                <a:lnTo>
                  <a:pt x="1358" y="635"/>
                </a:lnTo>
                <a:lnTo>
                  <a:pt x="2146" y="1905"/>
                </a:lnTo>
                <a:lnTo>
                  <a:pt x="3009" y="3048"/>
                </a:lnTo>
                <a:lnTo>
                  <a:pt x="3428" y="4826"/>
                </a:lnTo>
                <a:lnTo>
                  <a:pt x="3428" y="24511"/>
                </a:lnTo>
                <a:lnTo>
                  <a:pt x="11861" y="24511"/>
                </a:lnTo>
                <a:lnTo>
                  <a:pt x="11861" y="1397"/>
                </a:lnTo>
                <a:lnTo>
                  <a:pt x="1145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4042" y="2741802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80">
                <a:moveTo>
                  <a:pt x="8826" y="0"/>
                </a:moveTo>
                <a:lnTo>
                  <a:pt x="0" y="0"/>
                </a:lnTo>
                <a:lnTo>
                  <a:pt x="10515" y="30352"/>
                </a:lnTo>
                <a:lnTo>
                  <a:pt x="19837" y="30352"/>
                </a:lnTo>
                <a:lnTo>
                  <a:pt x="23139" y="20700"/>
                </a:lnTo>
                <a:lnTo>
                  <a:pt x="15265" y="20700"/>
                </a:lnTo>
                <a:lnTo>
                  <a:pt x="882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9409" y="2741802"/>
            <a:ext cx="15240" cy="20955"/>
          </a:xfrm>
          <a:custGeom>
            <a:avLst/>
            <a:gdLst/>
            <a:ahLst/>
            <a:cxnLst/>
            <a:rect l="l" t="t" r="r" b="b"/>
            <a:pathLst>
              <a:path w="15240" h="20955">
                <a:moveTo>
                  <a:pt x="14884" y="0"/>
                </a:moveTo>
                <a:lnTo>
                  <a:pt x="6451" y="0"/>
                </a:lnTo>
                <a:lnTo>
                  <a:pt x="0" y="20700"/>
                </a:lnTo>
                <a:lnTo>
                  <a:pt x="7772" y="20700"/>
                </a:lnTo>
                <a:lnTo>
                  <a:pt x="1488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68891" y="2731134"/>
            <a:ext cx="19050" cy="41275"/>
          </a:xfrm>
          <a:custGeom>
            <a:avLst/>
            <a:gdLst/>
            <a:ahLst/>
            <a:cxnLst/>
            <a:rect l="l" t="t" r="r" b="b"/>
            <a:pathLst>
              <a:path w="19050" h="41275">
                <a:moveTo>
                  <a:pt x="18834" y="0"/>
                </a:moveTo>
                <a:lnTo>
                  <a:pt x="12090" y="0"/>
                </a:lnTo>
                <a:lnTo>
                  <a:pt x="11696" y="2667"/>
                </a:lnTo>
                <a:lnTo>
                  <a:pt x="10515" y="4699"/>
                </a:lnTo>
                <a:lnTo>
                  <a:pt x="8521" y="6095"/>
                </a:lnTo>
                <a:lnTo>
                  <a:pt x="6603" y="7493"/>
                </a:lnTo>
                <a:lnTo>
                  <a:pt x="3962" y="8127"/>
                </a:lnTo>
                <a:lnTo>
                  <a:pt x="0" y="8127"/>
                </a:lnTo>
                <a:lnTo>
                  <a:pt x="0" y="14477"/>
                </a:lnTo>
                <a:lnTo>
                  <a:pt x="10413" y="14477"/>
                </a:lnTo>
                <a:lnTo>
                  <a:pt x="10413" y="41020"/>
                </a:lnTo>
                <a:lnTo>
                  <a:pt x="18834" y="41020"/>
                </a:lnTo>
                <a:lnTo>
                  <a:pt x="188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0615" y="2752650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059"/>
                </a:moveTo>
                <a:lnTo>
                  <a:pt x="17746" y="7059"/>
                </a:lnTo>
                <a:lnTo>
                  <a:pt x="17746" y="0"/>
                </a:lnTo>
                <a:lnTo>
                  <a:pt x="0" y="0"/>
                </a:lnTo>
                <a:lnTo>
                  <a:pt x="0" y="705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23716" y="2730372"/>
            <a:ext cx="28575" cy="16510"/>
          </a:xfrm>
          <a:custGeom>
            <a:avLst/>
            <a:gdLst/>
            <a:ahLst/>
            <a:cxnLst/>
            <a:rect l="l" t="t" r="r" b="b"/>
            <a:pathLst>
              <a:path w="28575" h="16510">
                <a:moveTo>
                  <a:pt x="19177" y="0"/>
                </a:moveTo>
                <a:lnTo>
                  <a:pt x="10541" y="0"/>
                </a:lnTo>
                <a:lnTo>
                  <a:pt x="6858" y="1396"/>
                </a:lnTo>
                <a:lnTo>
                  <a:pt x="4064" y="4318"/>
                </a:lnTo>
                <a:lnTo>
                  <a:pt x="1396" y="7238"/>
                </a:lnTo>
                <a:lnTo>
                  <a:pt x="0" y="11049"/>
                </a:lnTo>
                <a:lnTo>
                  <a:pt x="0" y="16510"/>
                </a:lnTo>
                <a:lnTo>
                  <a:pt x="8001" y="16510"/>
                </a:lnTo>
                <a:lnTo>
                  <a:pt x="8128" y="13588"/>
                </a:lnTo>
                <a:lnTo>
                  <a:pt x="8763" y="11302"/>
                </a:lnTo>
                <a:lnTo>
                  <a:pt x="9779" y="9651"/>
                </a:lnTo>
                <a:lnTo>
                  <a:pt x="10921" y="8000"/>
                </a:lnTo>
                <a:lnTo>
                  <a:pt x="12573" y="7112"/>
                </a:lnTo>
                <a:lnTo>
                  <a:pt x="28448" y="7112"/>
                </a:lnTo>
                <a:lnTo>
                  <a:pt x="27940" y="5968"/>
                </a:lnTo>
                <a:lnTo>
                  <a:pt x="25146" y="3682"/>
                </a:lnTo>
                <a:lnTo>
                  <a:pt x="22479" y="1269"/>
                </a:lnTo>
                <a:lnTo>
                  <a:pt x="1917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22827" y="2737484"/>
            <a:ext cx="30480" cy="34925"/>
          </a:xfrm>
          <a:custGeom>
            <a:avLst/>
            <a:gdLst/>
            <a:ahLst/>
            <a:cxnLst/>
            <a:rect l="l" t="t" r="r" b="b"/>
            <a:pathLst>
              <a:path w="30480" h="34925">
                <a:moveTo>
                  <a:pt x="29337" y="0"/>
                </a:moveTo>
                <a:lnTo>
                  <a:pt x="17399" y="0"/>
                </a:lnTo>
                <a:lnTo>
                  <a:pt x="18922" y="634"/>
                </a:lnTo>
                <a:lnTo>
                  <a:pt x="21209" y="2920"/>
                </a:lnTo>
                <a:lnTo>
                  <a:pt x="21716" y="4444"/>
                </a:lnTo>
                <a:lnTo>
                  <a:pt x="21716" y="7874"/>
                </a:lnTo>
                <a:lnTo>
                  <a:pt x="21209" y="9270"/>
                </a:lnTo>
                <a:lnTo>
                  <a:pt x="19431" y="11811"/>
                </a:lnTo>
                <a:lnTo>
                  <a:pt x="18034" y="13081"/>
                </a:lnTo>
                <a:lnTo>
                  <a:pt x="16128" y="14350"/>
                </a:lnTo>
                <a:lnTo>
                  <a:pt x="0" y="32003"/>
                </a:lnTo>
                <a:lnTo>
                  <a:pt x="0" y="34670"/>
                </a:lnTo>
                <a:lnTo>
                  <a:pt x="30353" y="34670"/>
                </a:lnTo>
                <a:lnTo>
                  <a:pt x="30353" y="27558"/>
                </a:lnTo>
                <a:lnTo>
                  <a:pt x="10794" y="27558"/>
                </a:lnTo>
                <a:lnTo>
                  <a:pt x="11556" y="26415"/>
                </a:lnTo>
                <a:lnTo>
                  <a:pt x="13843" y="24130"/>
                </a:lnTo>
                <a:lnTo>
                  <a:pt x="15240" y="22987"/>
                </a:lnTo>
                <a:lnTo>
                  <a:pt x="17399" y="21462"/>
                </a:lnTo>
                <a:lnTo>
                  <a:pt x="20193" y="19812"/>
                </a:lnTo>
                <a:lnTo>
                  <a:pt x="24256" y="17144"/>
                </a:lnTo>
                <a:lnTo>
                  <a:pt x="26924" y="14858"/>
                </a:lnTo>
                <a:lnTo>
                  <a:pt x="28193" y="12826"/>
                </a:lnTo>
                <a:lnTo>
                  <a:pt x="29463" y="10668"/>
                </a:lnTo>
                <a:lnTo>
                  <a:pt x="30099" y="8255"/>
                </a:lnTo>
                <a:lnTo>
                  <a:pt x="30099" y="1905"/>
                </a:lnTo>
                <a:lnTo>
                  <a:pt x="2933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30803" y="2425572"/>
            <a:ext cx="222377" cy="1446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99027" y="190117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99027" y="1864701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23055" y="1881506"/>
            <a:ext cx="106680" cy="426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94265" y="1536851"/>
            <a:ext cx="563917" cy="1876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99027" y="1472926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99027" y="1436457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23055" y="1451736"/>
            <a:ext cx="106680" cy="441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94265" y="1111655"/>
            <a:ext cx="563917" cy="1891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99027" y="1047730"/>
            <a:ext cx="554990" cy="0"/>
          </a:xfrm>
          <a:custGeom>
            <a:avLst/>
            <a:gdLst/>
            <a:ahLst/>
            <a:cxnLst/>
            <a:rect l="l" t="t" r="r" b="b"/>
            <a:pathLst>
              <a:path w="554990">
                <a:moveTo>
                  <a:pt x="0" y="0"/>
                </a:moveTo>
                <a:lnTo>
                  <a:pt x="554393" y="0"/>
                </a:lnTo>
              </a:path>
            </a:pathLst>
          </a:custGeom>
          <a:ln w="72937">
            <a:solidFill>
              <a:srgbClr val="C7DAF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99027" y="1011261"/>
            <a:ext cx="554990" cy="73025"/>
          </a:xfrm>
          <a:custGeom>
            <a:avLst/>
            <a:gdLst/>
            <a:ahLst/>
            <a:cxnLst/>
            <a:rect l="l" t="t" r="r" b="b"/>
            <a:pathLst>
              <a:path w="554990" h="73025">
                <a:moveTo>
                  <a:pt x="0" y="72937"/>
                </a:moveTo>
                <a:lnTo>
                  <a:pt x="554393" y="72937"/>
                </a:lnTo>
                <a:lnTo>
                  <a:pt x="554393" y="0"/>
                </a:lnTo>
                <a:lnTo>
                  <a:pt x="0" y="0"/>
                </a:lnTo>
                <a:lnTo>
                  <a:pt x="0" y="72937"/>
                </a:lnTo>
                <a:close/>
              </a:path>
            </a:pathLst>
          </a:custGeom>
          <a:ln w="9524">
            <a:solidFill>
              <a:srgbClr val="4885E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23055" y="1026542"/>
            <a:ext cx="106680" cy="441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94265" y="581303"/>
            <a:ext cx="563917" cy="4009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30803" y="1239900"/>
            <a:ext cx="828903" cy="1675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0803" y="1559940"/>
            <a:ext cx="827379" cy="2757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30803" y="114388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4">
                <a:moveTo>
                  <a:pt x="19494" y="0"/>
                </a:moveTo>
                <a:lnTo>
                  <a:pt x="10782" y="0"/>
                </a:lnTo>
                <a:lnTo>
                  <a:pt x="6984" y="1524"/>
                </a:lnTo>
                <a:lnTo>
                  <a:pt x="4152" y="4572"/>
                </a:lnTo>
                <a:lnTo>
                  <a:pt x="1384" y="7493"/>
                </a:lnTo>
                <a:lnTo>
                  <a:pt x="0" y="11430"/>
                </a:lnTo>
                <a:lnTo>
                  <a:pt x="0" y="20955"/>
                </a:lnTo>
                <a:lnTo>
                  <a:pt x="1422" y="24637"/>
                </a:lnTo>
                <a:lnTo>
                  <a:pt x="4254" y="27559"/>
                </a:lnTo>
                <a:lnTo>
                  <a:pt x="7150" y="30480"/>
                </a:lnTo>
                <a:lnTo>
                  <a:pt x="10845" y="31876"/>
                </a:lnTo>
                <a:lnTo>
                  <a:pt x="19431" y="31876"/>
                </a:lnTo>
                <a:lnTo>
                  <a:pt x="22758" y="30861"/>
                </a:lnTo>
                <a:lnTo>
                  <a:pt x="27978" y="26543"/>
                </a:lnTo>
                <a:lnTo>
                  <a:pt x="28422" y="25654"/>
                </a:lnTo>
                <a:lnTo>
                  <a:pt x="13157" y="25654"/>
                </a:lnTo>
                <a:lnTo>
                  <a:pt x="11442" y="24892"/>
                </a:lnTo>
                <a:lnTo>
                  <a:pt x="10185" y="23113"/>
                </a:lnTo>
                <a:lnTo>
                  <a:pt x="9004" y="21336"/>
                </a:lnTo>
                <a:lnTo>
                  <a:pt x="8407" y="19050"/>
                </a:lnTo>
                <a:lnTo>
                  <a:pt x="8407" y="13208"/>
                </a:lnTo>
                <a:lnTo>
                  <a:pt x="9004" y="10922"/>
                </a:lnTo>
                <a:lnTo>
                  <a:pt x="10185" y="9017"/>
                </a:lnTo>
                <a:lnTo>
                  <a:pt x="11442" y="7238"/>
                </a:lnTo>
                <a:lnTo>
                  <a:pt x="13220" y="6350"/>
                </a:lnTo>
                <a:lnTo>
                  <a:pt x="28854" y="6350"/>
                </a:lnTo>
                <a:lnTo>
                  <a:pt x="28232" y="5080"/>
                </a:lnTo>
                <a:lnTo>
                  <a:pt x="22821" y="1016"/>
                </a:lnTo>
                <a:lnTo>
                  <a:pt x="1949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48114" y="1150238"/>
            <a:ext cx="12700" cy="5080"/>
          </a:xfrm>
          <a:custGeom>
            <a:avLst/>
            <a:gdLst/>
            <a:ahLst/>
            <a:cxnLst/>
            <a:rect l="l" t="t" r="r" b="b"/>
            <a:pathLst>
              <a:path w="12700" h="5080">
                <a:moveTo>
                  <a:pt x="11544" y="0"/>
                </a:moveTo>
                <a:lnTo>
                  <a:pt x="0" y="0"/>
                </a:lnTo>
                <a:lnTo>
                  <a:pt x="1396" y="381"/>
                </a:lnTo>
                <a:lnTo>
                  <a:pt x="2374" y="1270"/>
                </a:lnTo>
                <a:lnTo>
                  <a:pt x="3441" y="2159"/>
                </a:lnTo>
                <a:lnTo>
                  <a:pt x="4089" y="3429"/>
                </a:lnTo>
                <a:lnTo>
                  <a:pt x="4356" y="5080"/>
                </a:lnTo>
                <a:lnTo>
                  <a:pt x="12573" y="5080"/>
                </a:lnTo>
                <a:lnTo>
                  <a:pt x="12369" y="1524"/>
                </a:lnTo>
                <a:lnTo>
                  <a:pt x="1154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47987" y="1163446"/>
            <a:ext cx="13335" cy="6350"/>
          </a:xfrm>
          <a:custGeom>
            <a:avLst/>
            <a:gdLst/>
            <a:ahLst/>
            <a:cxnLst/>
            <a:rect l="l" t="t" r="r" b="b"/>
            <a:pathLst>
              <a:path w="13334" h="6350">
                <a:moveTo>
                  <a:pt x="12903" y="0"/>
                </a:moveTo>
                <a:lnTo>
                  <a:pt x="4787" y="0"/>
                </a:lnTo>
                <a:lnTo>
                  <a:pt x="4521" y="1904"/>
                </a:lnTo>
                <a:lnTo>
                  <a:pt x="3797" y="3428"/>
                </a:lnTo>
                <a:lnTo>
                  <a:pt x="1485" y="5587"/>
                </a:lnTo>
                <a:lnTo>
                  <a:pt x="0" y="6096"/>
                </a:lnTo>
                <a:lnTo>
                  <a:pt x="11239" y="6096"/>
                </a:lnTo>
                <a:lnTo>
                  <a:pt x="12369" y="3937"/>
                </a:lnTo>
                <a:lnTo>
                  <a:pt x="1290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64725" y="1143888"/>
            <a:ext cx="29209" cy="32384"/>
          </a:xfrm>
          <a:custGeom>
            <a:avLst/>
            <a:gdLst/>
            <a:ahLst/>
            <a:cxnLst/>
            <a:rect l="l" t="t" r="r" b="b"/>
            <a:pathLst>
              <a:path w="29209" h="32384">
                <a:moveTo>
                  <a:pt x="20548" y="0"/>
                </a:moveTo>
                <a:lnTo>
                  <a:pt x="10921" y="0"/>
                </a:lnTo>
                <a:lnTo>
                  <a:pt x="7086" y="1524"/>
                </a:lnTo>
                <a:lnTo>
                  <a:pt x="1422" y="7366"/>
                </a:lnTo>
                <a:lnTo>
                  <a:pt x="0" y="11175"/>
                </a:lnTo>
                <a:lnTo>
                  <a:pt x="25" y="20827"/>
                </a:lnTo>
                <a:lnTo>
                  <a:pt x="1422" y="24637"/>
                </a:lnTo>
                <a:lnTo>
                  <a:pt x="4254" y="27559"/>
                </a:lnTo>
                <a:lnTo>
                  <a:pt x="7150" y="30480"/>
                </a:lnTo>
                <a:lnTo>
                  <a:pt x="10985" y="31876"/>
                </a:lnTo>
                <a:lnTo>
                  <a:pt x="20485" y="31876"/>
                </a:lnTo>
                <a:lnTo>
                  <a:pt x="24307" y="30480"/>
                </a:lnTo>
                <a:lnTo>
                  <a:pt x="29082" y="25654"/>
                </a:lnTo>
                <a:lnTo>
                  <a:pt x="13487" y="25654"/>
                </a:lnTo>
                <a:lnTo>
                  <a:pt x="11709" y="24892"/>
                </a:lnTo>
                <a:lnTo>
                  <a:pt x="9067" y="21589"/>
                </a:lnTo>
                <a:lnTo>
                  <a:pt x="8407" y="19176"/>
                </a:lnTo>
                <a:lnTo>
                  <a:pt x="8407" y="12700"/>
                </a:lnTo>
                <a:lnTo>
                  <a:pt x="9067" y="10287"/>
                </a:lnTo>
                <a:lnTo>
                  <a:pt x="10388" y="8762"/>
                </a:lnTo>
                <a:lnTo>
                  <a:pt x="11709" y="7112"/>
                </a:lnTo>
                <a:lnTo>
                  <a:pt x="13487" y="6350"/>
                </a:lnTo>
                <a:lnTo>
                  <a:pt x="29044" y="6350"/>
                </a:lnTo>
                <a:lnTo>
                  <a:pt x="24371" y="1524"/>
                </a:lnTo>
                <a:lnTo>
                  <a:pt x="20548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82835" y="1150238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70" h="19684">
                <a:moveTo>
                  <a:pt x="10934" y="0"/>
                </a:moveTo>
                <a:lnTo>
                  <a:pt x="126" y="0"/>
                </a:lnTo>
                <a:lnTo>
                  <a:pt x="1981" y="888"/>
                </a:lnTo>
                <a:lnTo>
                  <a:pt x="4419" y="4318"/>
                </a:lnTo>
                <a:lnTo>
                  <a:pt x="4978" y="6350"/>
                </a:lnTo>
                <a:lnTo>
                  <a:pt x="5016" y="12826"/>
                </a:lnTo>
                <a:lnTo>
                  <a:pt x="4381" y="15112"/>
                </a:lnTo>
                <a:lnTo>
                  <a:pt x="3060" y="16763"/>
                </a:lnTo>
                <a:lnTo>
                  <a:pt x="1816" y="18542"/>
                </a:lnTo>
                <a:lnTo>
                  <a:pt x="0" y="19304"/>
                </a:lnTo>
                <a:lnTo>
                  <a:pt x="10972" y="19304"/>
                </a:lnTo>
                <a:lnTo>
                  <a:pt x="12001" y="18287"/>
                </a:lnTo>
                <a:lnTo>
                  <a:pt x="13462" y="14477"/>
                </a:lnTo>
                <a:lnTo>
                  <a:pt x="13462" y="4825"/>
                </a:lnTo>
                <a:lnTo>
                  <a:pt x="12001" y="1016"/>
                </a:lnTo>
                <a:lnTo>
                  <a:pt x="109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09912" y="1143888"/>
            <a:ext cx="19685" cy="5080"/>
          </a:xfrm>
          <a:custGeom>
            <a:avLst/>
            <a:gdLst/>
            <a:ahLst/>
            <a:cxnLst/>
            <a:rect l="l" t="t" r="r" b="b"/>
            <a:pathLst>
              <a:path w="19684" h="5080">
                <a:moveTo>
                  <a:pt x="13195" y="0"/>
                </a:moveTo>
                <a:lnTo>
                  <a:pt x="7391" y="0"/>
                </a:lnTo>
                <a:lnTo>
                  <a:pt x="5613" y="508"/>
                </a:lnTo>
                <a:lnTo>
                  <a:pt x="2311" y="2286"/>
                </a:lnTo>
                <a:lnTo>
                  <a:pt x="990" y="3429"/>
                </a:lnTo>
                <a:lnTo>
                  <a:pt x="0" y="5080"/>
                </a:lnTo>
                <a:lnTo>
                  <a:pt x="19634" y="5080"/>
                </a:lnTo>
                <a:lnTo>
                  <a:pt x="19596" y="4952"/>
                </a:lnTo>
                <a:lnTo>
                  <a:pt x="16027" y="1016"/>
                </a:lnTo>
                <a:lnTo>
                  <a:pt x="1319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01708" y="1144650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80">
                <a:moveTo>
                  <a:pt x="8013" y="0"/>
                </a:moveTo>
                <a:lnTo>
                  <a:pt x="0" y="0"/>
                </a:lnTo>
                <a:lnTo>
                  <a:pt x="0" y="30352"/>
                </a:lnTo>
                <a:lnTo>
                  <a:pt x="8407" y="30352"/>
                </a:lnTo>
                <a:lnTo>
                  <a:pt x="8407" y="11302"/>
                </a:lnTo>
                <a:lnTo>
                  <a:pt x="8902" y="9271"/>
                </a:lnTo>
                <a:lnTo>
                  <a:pt x="9893" y="7874"/>
                </a:lnTo>
                <a:lnTo>
                  <a:pt x="10947" y="6476"/>
                </a:lnTo>
                <a:lnTo>
                  <a:pt x="12623" y="5842"/>
                </a:lnTo>
                <a:lnTo>
                  <a:pt x="28282" y="5842"/>
                </a:lnTo>
                <a:lnTo>
                  <a:pt x="27838" y="4318"/>
                </a:lnTo>
                <a:lnTo>
                  <a:pt x="8013" y="4318"/>
                </a:lnTo>
                <a:lnTo>
                  <a:pt x="80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18560" y="1150492"/>
            <a:ext cx="12065" cy="24765"/>
          </a:xfrm>
          <a:custGeom>
            <a:avLst/>
            <a:gdLst/>
            <a:ahLst/>
            <a:cxnLst/>
            <a:rect l="l" t="t" r="r" b="b"/>
            <a:pathLst>
              <a:path w="12065" h="24765">
                <a:moveTo>
                  <a:pt x="11429" y="0"/>
                </a:moveTo>
                <a:lnTo>
                  <a:pt x="0" y="0"/>
                </a:lnTo>
                <a:lnTo>
                  <a:pt x="1346" y="634"/>
                </a:lnTo>
                <a:lnTo>
                  <a:pt x="2146" y="1904"/>
                </a:lnTo>
                <a:lnTo>
                  <a:pt x="2997" y="3047"/>
                </a:lnTo>
                <a:lnTo>
                  <a:pt x="3428" y="4825"/>
                </a:lnTo>
                <a:lnTo>
                  <a:pt x="3428" y="24510"/>
                </a:lnTo>
                <a:lnTo>
                  <a:pt x="11836" y="24510"/>
                </a:lnTo>
                <a:lnTo>
                  <a:pt x="11836" y="1396"/>
                </a:lnTo>
                <a:lnTo>
                  <a:pt x="1142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33851" y="1144650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5" h="30480">
                <a:moveTo>
                  <a:pt x="8813" y="0"/>
                </a:moveTo>
                <a:lnTo>
                  <a:pt x="0" y="0"/>
                </a:lnTo>
                <a:lnTo>
                  <a:pt x="10490" y="30352"/>
                </a:lnTo>
                <a:lnTo>
                  <a:pt x="19786" y="30352"/>
                </a:lnTo>
                <a:lnTo>
                  <a:pt x="23088" y="20700"/>
                </a:lnTo>
                <a:lnTo>
                  <a:pt x="15240" y="20700"/>
                </a:lnTo>
                <a:lnTo>
                  <a:pt x="8813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49193" y="1144650"/>
            <a:ext cx="15240" cy="20955"/>
          </a:xfrm>
          <a:custGeom>
            <a:avLst/>
            <a:gdLst/>
            <a:ahLst/>
            <a:cxnLst/>
            <a:rect l="l" t="t" r="r" b="b"/>
            <a:pathLst>
              <a:path w="15240" h="20955">
                <a:moveTo>
                  <a:pt x="14846" y="0"/>
                </a:moveTo>
                <a:lnTo>
                  <a:pt x="6426" y="0"/>
                </a:lnTo>
                <a:lnTo>
                  <a:pt x="0" y="20700"/>
                </a:lnTo>
                <a:lnTo>
                  <a:pt x="7746" y="20700"/>
                </a:lnTo>
                <a:lnTo>
                  <a:pt x="1484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66643" y="1133982"/>
            <a:ext cx="28575" cy="22860"/>
          </a:xfrm>
          <a:custGeom>
            <a:avLst/>
            <a:gdLst/>
            <a:ahLst/>
            <a:cxnLst/>
            <a:rect l="l" t="t" r="r" b="b"/>
            <a:pathLst>
              <a:path w="28575" h="22859">
                <a:moveTo>
                  <a:pt x="27216" y="0"/>
                </a:moveTo>
                <a:lnTo>
                  <a:pt x="4064" y="0"/>
                </a:lnTo>
                <a:lnTo>
                  <a:pt x="0" y="22732"/>
                </a:lnTo>
                <a:lnTo>
                  <a:pt x="7531" y="22732"/>
                </a:lnTo>
                <a:lnTo>
                  <a:pt x="8293" y="21589"/>
                </a:lnTo>
                <a:lnTo>
                  <a:pt x="9182" y="20700"/>
                </a:lnTo>
                <a:lnTo>
                  <a:pt x="10096" y="20192"/>
                </a:lnTo>
                <a:lnTo>
                  <a:pt x="11087" y="19685"/>
                </a:lnTo>
                <a:lnTo>
                  <a:pt x="12344" y="19430"/>
                </a:lnTo>
                <a:lnTo>
                  <a:pt x="27978" y="19430"/>
                </a:lnTo>
                <a:lnTo>
                  <a:pt x="25831" y="17144"/>
                </a:lnTo>
                <a:lnTo>
                  <a:pt x="25146" y="16255"/>
                </a:lnTo>
                <a:lnTo>
                  <a:pt x="8420" y="16255"/>
                </a:lnTo>
                <a:lnTo>
                  <a:pt x="10096" y="6857"/>
                </a:lnTo>
                <a:lnTo>
                  <a:pt x="27216" y="6857"/>
                </a:lnTo>
                <a:lnTo>
                  <a:pt x="2721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75164" y="1147190"/>
            <a:ext cx="17145" cy="3175"/>
          </a:xfrm>
          <a:custGeom>
            <a:avLst/>
            <a:gdLst/>
            <a:ahLst/>
            <a:cxnLst/>
            <a:rect l="l" t="t" r="r" b="b"/>
            <a:pathLst>
              <a:path w="17145" h="3175">
                <a:moveTo>
                  <a:pt x="11937" y="0"/>
                </a:moveTo>
                <a:lnTo>
                  <a:pt x="6324" y="0"/>
                </a:lnTo>
                <a:lnTo>
                  <a:pt x="4775" y="254"/>
                </a:lnTo>
                <a:lnTo>
                  <a:pt x="3454" y="762"/>
                </a:lnTo>
                <a:lnTo>
                  <a:pt x="2209" y="1270"/>
                </a:lnTo>
                <a:lnTo>
                  <a:pt x="1054" y="2032"/>
                </a:lnTo>
                <a:lnTo>
                  <a:pt x="0" y="3048"/>
                </a:lnTo>
                <a:lnTo>
                  <a:pt x="16624" y="3048"/>
                </a:lnTo>
                <a:lnTo>
                  <a:pt x="15011" y="1270"/>
                </a:lnTo>
                <a:lnTo>
                  <a:pt x="1193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82556" y="1153413"/>
            <a:ext cx="13970" cy="15875"/>
          </a:xfrm>
          <a:custGeom>
            <a:avLst/>
            <a:gdLst/>
            <a:ahLst/>
            <a:cxnLst/>
            <a:rect l="l" t="t" r="r" b="b"/>
            <a:pathLst>
              <a:path w="13970" h="15875">
                <a:moveTo>
                  <a:pt x="12065" y="0"/>
                </a:moveTo>
                <a:lnTo>
                  <a:pt x="63" y="0"/>
                </a:lnTo>
                <a:lnTo>
                  <a:pt x="1778" y="762"/>
                </a:lnTo>
                <a:lnTo>
                  <a:pt x="3060" y="2159"/>
                </a:lnTo>
                <a:lnTo>
                  <a:pt x="4406" y="3556"/>
                </a:lnTo>
                <a:lnTo>
                  <a:pt x="5080" y="5334"/>
                </a:lnTo>
                <a:lnTo>
                  <a:pt x="5080" y="9779"/>
                </a:lnTo>
                <a:lnTo>
                  <a:pt x="4381" y="11684"/>
                </a:lnTo>
                <a:lnTo>
                  <a:pt x="1676" y="14732"/>
                </a:lnTo>
                <a:lnTo>
                  <a:pt x="0" y="15494"/>
                </a:lnTo>
                <a:lnTo>
                  <a:pt x="11658" y="15494"/>
                </a:lnTo>
                <a:lnTo>
                  <a:pt x="12001" y="15112"/>
                </a:lnTo>
                <a:lnTo>
                  <a:pt x="13487" y="11684"/>
                </a:lnTo>
                <a:lnTo>
                  <a:pt x="13462" y="3556"/>
                </a:lnTo>
                <a:lnTo>
                  <a:pt x="12293" y="254"/>
                </a:lnTo>
                <a:lnTo>
                  <a:pt x="1206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65360" y="1162811"/>
            <a:ext cx="29209" cy="13335"/>
          </a:xfrm>
          <a:custGeom>
            <a:avLst/>
            <a:gdLst/>
            <a:ahLst/>
            <a:cxnLst/>
            <a:rect l="l" t="t" r="r" b="b"/>
            <a:pathLst>
              <a:path w="29209" h="13334">
                <a:moveTo>
                  <a:pt x="8407" y="0"/>
                </a:moveTo>
                <a:lnTo>
                  <a:pt x="0" y="0"/>
                </a:lnTo>
                <a:lnTo>
                  <a:pt x="139" y="4063"/>
                </a:lnTo>
                <a:lnTo>
                  <a:pt x="1612" y="7238"/>
                </a:lnTo>
                <a:lnTo>
                  <a:pt x="4457" y="9525"/>
                </a:lnTo>
                <a:lnTo>
                  <a:pt x="7353" y="11811"/>
                </a:lnTo>
                <a:lnTo>
                  <a:pt x="11049" y="12953"/>
                </a:lnTo>
                <a:lnTo>
                  <a:pt x="19761" y="12953"/>
                </a:lnTo>
                <a:lnTo>
                  <a:pt x="23317" y="11557"/>
                </a:lnTo>
                <a:lnTo>
                  <a:pt x="26225" y="8636"/>
                </a:lnTo>
                <a:lnTo>
                  <a:pt x="28854" y="6096"/>
                </a:lnTo>
                <a:lnTo>
                  <a:pt x="13296" y="6096"/>
                </a:lnTo>
                <a:lnTo>
                  <a:pt x="11747" y="5587"/>
                </a:lnTo>
                <a:lnTo>
                  <a:pt x="10490" y="4445"/>
                </a:lnTo>
                <a:lnTo>
                  <a:pt x="9309" y="3301"/>
                </a:lnTo>
                <a:lnTo>
                  <a:pt x="8610" y="1904"/>
                </a:lnTo>
                <a:lnTo>
                  <a:pt x="840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00298" y="1155497"/>
            <a:ext cx="17780" cy="7620"/>
          </a:xfrm>
          <a:custGeom>
            <a:avLst/>
            <a:gdLst/>
            <a:ahLst/>
            <a:cxnLst/>
            <a:rect l="l" t="t" r="r" b="b"/>
            <a:pathLst>
              <a:path w="17780" h="7619">
                <a:moveTo>
                  <a:pt x="0" y="7060"/>
                </a:moveTo>
                <a:lnTo>
                  <a:pt x="17713" y="7060"/>
                </a:lnTo>
                <a:lnTo>
                  <a:pt x="17713" y="0"/>
                </a:lnTo>
                <a:lnTo>
                  <a:pt x="0" y="0"/>
                </a:lnTo>
                <a:lnTo>
                  <a:pt x="0" y="706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23208" y="1133220"/>
            <a:ext cx="27940" cy="14604"/>
          </a:xfrm>
          <a:custGeom>
            <a:avLst/>
            <a:gdLst/>
            <a:ahLst/>
            <a:cxnLst/>
            <a:rect l="l" t="t" r="r" b="b"/>
            <a:pathLst>
              <a:path w="27940" h="14605">
                <a:moveTo>
                  <a:pt x="18034" y="0"/>
                </a:moveTo>
                <a:lnTo>
                  <a:pt x="10032" y="0"/>
                </a:lnTo>
                <a:lnTo>
                  <a:pt x="6731" y="1269"/>
                </a:lnTo>
                <a:lnTo>
                  <a:pt x="1524" y="6350"/>
                </a:lnTo>
                <a:lnTo>
                  <a:pt x="127" y="9778"/>
                </a:lnTo>
                <a:lnTo>
                  <a:pt x="0" y="14097"/>
                </a:lnTo>
                <a:lnTo>
                  <a:pt x="8000" y="14097"/>
                </a:lnTo>
                <a:lnTo>
                  <a:pt x="8000" y="11684"/>
                </a:lnTo>
                <a:lnTo>
                  <a:pt x="8509" y="9905"/>
                </a:lnTo>
                <a:lnTo>
                  <a:pt x="10921" y="7365"/>
                </a:lnTo>
                <a:lnTo>
                  <a:pt x="12446" y="6730"/>
                </a:lnTo>
                <a:lnTo>
                  <a:pt x="27431" y="6730"/>
                </a:lnTo>
                <a:lnTo>
                  <a:pt x="26796" y="5334"/>
                </a:lnTo>
                <a:lnTo>
                  <a:pt x="24003" y="3175"/>
                </a:lnTo>
                <a:lnTo>
                  <a:pt x="21335" y="1015"/>
                </a:lnTo>
                <a:lnTo>
                  <a:pt x="18034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38448" y="1139951"/>
            <a:ext cx="13335" cy="10795"/>
          </a:xfrm>
          <a:custGeom>
            <a:avLst/>
            <a:gdLst/>
            <a:ahLst/>
            <a:cxnLst/>
            <a:rect l="l" t="t" r="r" b="b"/>
            <a:pathLst>
              <a:path w="13334" h="10794">
                <a:moveTo>
                  <a:pt x="12191" y="0"/>
                </a:moveTo>
                <a:lnTo>
                  <a:pt x="762" y="0"/>
                </a:lnTo>
                <a:lnTo>
                  <a:pt x="2159" y="508"/>
                </a:lnTo>
                <a:lnTo>
                  <a:pt x="3175" y="1650"/>
                </a:lnTo>
                <a:lnTo>
                  <a:pt x="4317" y="2539"/>
                </a:lnTo>
                <a:lnTo>
                  <a:pt x="4953" y="3937"/>
                </a:lnTo>
                <a:lnTo>
                  <a:pt x="4953" y="7112"/>
                </a:lnTo>
                <a:lnTo>
                  <a:pt x="4317" y="8382"/>
                </a:lnTo>
                <a:lnTo>
                  <a:pt x="1778" y="10287"/>
                </a:lnTo>
                <a:lnTo>
                  <a:pt x="0" y="10668"/>
                </a:lnTo>
                <a:lnTo>
                  <a:pt x="10794" y="10668"/>
                </a:lnTo>
                <a:lnTo>
                  <a:pt x="12445" y="8382"/>
                </a:lnTo>
                <a:lnTo>
                  <a:pt x="12953" y="6604"/>
                </a:lnTo>
                <a:lnTo>
                  <a:pt x="12953" y="1397"/>
                </a:lnTo>
                <a:lnTo>
                  <a:pt x="1219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34638" y="1150619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4605" y="0"/>
                </a:moveTo>
                <a:lnTo>
                  <a:pt x="0" y="0"/>
                </a:lnTo>
                <a:lnTo>
                  <a:pt x="0" y="5841"/>
                </a:lnTo>
                <a:lnTo>
                  <a:pt x="4191" y="5841"/>
                </a:lnTo>
                <a:lnTo>
                  <a:pt x="6477" y="6350"/>
                </a:lnTo>
                <a:lnTo>
                  <a:pt x="7620" y="7365"/>
                </a:lnTo>
                <a:lnTo>
                  <a:pt x="8890" y="8381"/>
                </a:lnTo>
                <a:lnTo>
                  <a:pt x="9525" y="9905"/>
                </a:lnTo>
                <a:lnTo>
                  <a:pt x="9525" y="13715"/>
                </a:lnTo>
                <a:lnTo>
                  <a:pt x="8890" y="15239"/>
                </a:lnTo>
                <a:lnTo>
                  <a:pt x="7620" y="16510"/>
                </a:lnTo>
                <a:lnTo>
                  <a:pt x="6350" y="17652"/>
                </a:lnTo>
                <a:lnTo>
                  <a:pt x="4699" y="18287"/>
                </a:lnTo>
                <a:lnTo>
                  <a:pt x="17145" y="18287"/>
                </a:lnTo>
                <a:lnTo>
                  <a:pt x="18288" y="15748"/>
                </a:lnTo>
                <a:lnTo>
                  <a:pt x="18288" y="9398"/>
                </a:lnTo>
                <a:lnTo>
                  <a:pt x="17653" y="7492"/>
                </a:lnTo>
                <a:lnTo>
                  <a:pt x="16383" y="5841"/>
                </a:lnTo>
                <a:lnTo>
                  <a:pt x="15113" y="4063"/>
                </a:lnTo>
                <a:lnTo>
                  <a:pt x="13335" y="2920"/>
                </a:lnTo>
                <a:lnTo>
                  <a:pt x="11049" y="2412"/>
                </a:lnTo>
                <a:lnTo>
                  <a:pt x="12827" y="1777"/>
                </a:lnTo>
                <a:lnTo>
                  <a:pt x="14224" y="635"/>
                </a:lnTo>
                <a:lnTo>
                  <a:pt x="14605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22192" y="1160906"/>
            <a:ext cx="29845" cy="15240"/>
          </a:xfrm>
          <a:custGeom>
            <a:avLst/>
            <a:gdLst/>
            <a:ahLst/>
            <a:cxnLst/>
            <a:rect l="l" t="t" r="r" b="b"/>
            <a:pathLst>
              <a:path w="29844" h="15240">
                <a:moveTo>
                  <a:pt x="8000" y="0"/>
                </a:moveTo>
                <a:lnTo>
                  <a:pt x="0" y="0"/>
                </a:lnTo>
                <a:lnTo>
                  <a:pt x="0" y="4952"/>
                </a:lnTo>
                <a:lnTo>
                  <a:pt x="1396" y="8381"/>
                </a:lnTo>
                <a:lnTo>
                  <a:pt x="4190" y="11049"/>
                </a:lnTo>
                <a:lnTo>
                  <a:pt x="6984" y="13588"/>
                </a:lnTo>
                <a:lnTo>
                  <a:pt x="10668" y="14858"/>
                </a:lnTo>
                <a:lnTo>
                  <a:pt x="19684" y="14858"/>
                </a:lnTo>
                <a:lnTo>
                  <a:pt x="23368" y="13588"/>
                </a:lnTo>
                <a:lnTo>
                  <a:pt x="29337" y="8636"/>
                </a:lnTo>
                <a:lnTo>
                  <a:pt x="29590" y="8000"/>
                </a:lnTo>
                <a:lnTo>
                  <a:pt x="13081" y="8000"/>
                </a:lnTo>
                <a:lnTo>
                  <a:pt x="11303" y="7365"/>
                </a:lnTo>
                <a:lnTo>
                  <a:pt x="10032" y="5968"/>
                </a:lnTo>
                <a:lnTo>
                  <a:pt x="8762" y="4444"/>
                </a:lnTo>
                <a:lnTo>
                  <a:pt x="8128" y="2539"/>
                </a:lnTo>
                <a:lnTo>
                  <a:pt x="800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97859" y="921386"/>
            <a:ext cx="85343" cy="4267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97859" y="819278"/>
            <a:ext cx="85343" cy="4267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97859" y="717168"/>
            <a:ext cx="85343" cy="4419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92931" y="1965280"/>
            <a:ext cx="565251" cy="838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12007" y="1940178"/>
            <a:ext cx="2514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550" dirty="0">
                <a:latin typeface="Calibri" panose="020F0502020204030204"/>
                <a:cs typeface="Calibri" panose="020F0502020204030204"/>
              </a:rPr>
              <a:t>v</a:t>
            </a:r>
            <a:r>
              <a:rPr sz="550" spc="-5" dirty="0">
                <a:latin typeface="Calibri" panose="020F0502020204030204"/>
                <a:cs typeface="Calibri" panose="020F0502020204030204"/>
              </a:rPr>
              <a:t>3-</a:t>
            </a:r>
            <a:r>
              <a:rPr sz="550" dirty="0">
                <a:latin typeface="Calibri" panose="020F0502020204030204"/>
                <a:cs typeface="Calibri" panose="020F0502020204030204"/>
              </a:rPr>
              <a:t>3</a:t>
            </a:r>
            <a:endParaRPr sz="5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84521" y="969390"/>
            <a:ext cx="795655" cy="304800"/>
          </a:xfrm>
          <a:custGeom>
            <a:avLst/>
            <a:gdLst/>
            <a:ahLst/>
            <a:cxnLst/>
            <a:rect l="l" t="t" r="r" b="b"/>
            <a:pathLst>
              <a:path w="795655" h="304800">
                <a:moveTo>
                  <a:pt x="0" y="304800"/>
                </a:moveTo>
                <a:lnTo>
                  <a:pt x="795527" y="304800"/>
                </a:lnTo>
                <a:lnTo>
                  <a:pt x="7955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22138" y="951881"/>
            <a:ext cx="795655" cy="304800"/>
          </a:xfrm>
          <a:custGeom>
            <a:avLst/>
            <a:gdLst/>
            <a:ahLst/>
            <a:cxnLst/>
            <a:rect l="l" t="t" r="r" b="b"/>
            <a:pathLst>
              <a:path w="795654" h="304800">
                <a:moveTo>
                  <a:pt x="0" y="304800"/>
                </a:moveTo>
                <a:lnTo>
                  <a:pt x="795527" y="304800"/>
                </a:lnTo>
                <a:lnTo>
                  <a:pt x="7955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47561" y="978534"/>
            <a:ext cx="795655" cy="304800"/>
          </a:xfrm>
          <a:custGeom>
            <a:avLst/>
            <a:gdLst/>
            <a:ahLst/>
            <a:cxnLst/>
            <a:rect l="l" t="t" r="r" b="b"/>
            <a:pathLst>
              <a:path w="795654" h="304800">
                <a:moveTo>
                  <a:pt x="0" y="304800"/>
                </a:moveTo>
                <a:lnTo>
                  <a:pt x="795527" y="304800"/>
                </a:lnTo>
                <a:lnTo>
                  <a:pt x="7955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44030" y="956453"/>
            <a:ext cx="795655" cy="304800"/>
          </a:xfrm>
          <a:custGeom>
            <a:avLst/>
            <a:gdLst/>
            <a:ahLst/>
            <a:cxnLst/>
            <a:rect l="l" t="t" r="r" b="b"/>
            <a:pathLst>
              <a:path w="795654" h="304800">
                <a:moveTo>
                  <a:pt x="0" y="304800"/>
                </a:moveTo>
                <a:lnTo>
                  <a:pt x="795527" y="304800"/>
                </a:lnTo>
                <a:lnTo>
                  <a:pt x="7955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73241" y="650874"/>
            <a:ext cx="795655" cy="303530"/>
          </a:xfrm>
          <a:custGeom>
            <a:avLst/>
            <a:gdLst/>
            <a:ahLst/>
            <a:cxnLst/>
            <a:rect l="l" t="t" r="r" b="b"/>
            <a:pathLst>
              <a:path w="795654" h="303530">
                <a:moveTo>
                  <a:pt x="0" y="303275"/>
                </a:moveTo>
                <a:lnTo>
                  <a:pt x="795527" y="303275"/>
                </a:lnTo>
                <a:lnTo>
                  <a:pt x="795527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47561" y="978534"/>
            <a:ext cx="795655" cy="304800"/>
          </a:xfrm>
          <a:custGeom>
            <a:avLst/>
            <a:gdLst/>
            <a:ahLst/>
            <a:cxnLst/>
            <a:rect l="l" t="t" r="r" b="b"/>
            <a:pathLst>
              <a:path w="795654" h="304800">
                <a:moveTo>
                  <a:pt x="0" y="304800"/>
                </a:moveTo>
                <a:lnTo>
                  <a:pt x="795527" y="304800"/>
                </a:lnTo>
                <a:lnTo>
                  <a:pt x="7955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7" y="2283222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8" y="1949339"/>
            <a:ext cx="2830068" cy="1301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85790" y="2600849"/>
            <a:ext cx="1457325" cy="326390"/>
          </a:xfrm>
          <a:custGeom>
            <a:avLst/>
            <a:gdLst/>
            <a:ahLst/>
            <a:cxnLst/>
            <a:rect l="l" t="t" r="r" b="b"/>
            <a:pathLst>
              <a:path w="1457325" h="326389">
                <a:moveTo>
                  <a:pt x="0" y="326136"/>
                </a:moveTo>
                <a:lnTo>
                  <a:pt x="1456943" y="326136"/>
                </a:lnTo>
                <a:lnTo>
                  <a:pt x="1456943" y="0"/>
                </a:lnTo>
                <a:lnTo>
                  <a:pt x="0" y="0"/>
                </a:lnTo>
                <a:lnTo>
                  <a:pt x="0" y="32613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6" y="2305938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7" y="1971420"/>
            <a:ext cx="2830068" cy="1301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0061" y="2270886"/>
            <a:ext cx="795655" cy="304800"/>
          </a:xfrm>
          <a:custGeom>
            <a:avLst/>
            <a:gdLst/>
            <a:ahLst/>
            <a:cxnLst/>
            <a:rect l="l" t="t" r="r" b="b"/>
            <a:pathLst>
              <a:path w="795654" h="304800">
                <a:moveTo>
                  <a:pt x="0" y="304800"/>
                </a:moveTo>
                <a:lnTo>
                  <a:pt x="795527" y="304800"/>
                </a:lnTo>
                <a:lnTo>
                  <a:pt x="7955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7" y="2283222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8" y="1949339"/>
            <a:ext cx="2830068" cy="1301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6" y="2305938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7" y="1971420"/>
            <a:ext cx="2830068" cy="1301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894" y="1399556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894" y="1422272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8633" y="99225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894" y="1399556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8634" y="96953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2755" y="96458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894" y="1422272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8633" y="99225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2755" y="987297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6649" y="99923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894" y="1399556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8634" y="96953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2755" y="96458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6649" y="97626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4307" y="2087515"/>
            <a:ext cx="37103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1x1x256x64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+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3x3x256x128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+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5x5x256x32 =</a:t>
            </a:r>
            <a:r>
              <a:rPr sz="1000" spc="4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516,096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894" y="1422272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8633" y="99225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2755" y="987297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6649" y="99923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4306" y="2033422"/>
            <a:ext cx="3710304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1x1x256x64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+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3x3x256x128</a:t>
            </a:r>
            <a:r>
              <a:rPr sz="1000" spc="1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+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5x5x256x32 =</a:t>
            </a:r>
            <a:r>
              <a:rPr sz="1000" spc="4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516,096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28x28x516,096</a:t>
            </a:r>
            <a:r>
              <a:rPr sz="1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=</a:t>
            </a:r>
            <a:r>
              <a:rPr sz="100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404,619,264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7" y="2283222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8" y="1949339"/>
            <a:ext cx="2830068" cy="1301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2894" y="1399556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8634" y="96953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2755" y="96458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6649" y="97626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7142" y="1299632"/>
            <a:ext cx="136398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516,096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404,619,264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2215" y="2280285"/>
            <a:ext cx="4378960" cy="1062990"/>
          </a:xfrm>
        </p:spPr>
        <p:txBody>
          <a:bodyPr>
            <a:noAutofit/>
          </a:bodyPr>
          <a:p>
            <a:r>
              <a:rPr lang="zh-CN" altLang="en-US"/>
              <a:t>包含1*1的卷积</a:t>
            </a:r>
            <a:endParaRPr lang="zh-CN" altLang="en-US"/>
          </a:p>
          <a:p>
            <a:r>
              <a:rPr lang="zh-CN" altLang="en-US"/>
              <a:t>参数量：1*1*256*32+5*5*32*64=59392</a:t>
            </a:r>
            <a:endParaRPr lang="zh-CN" altLang="en-US"/>
          </a:p>
          <a:p>
            <a:r>
              <a:rPr lang="zh-CN" altLang="en-US"/>
              <a:t>连接数：（（1*1*256+1）*32*n*n+(5*5*32+1)*64*n*n）=59488*n*n</a:t>
            </a:r>
            <a:endParaRPr lang="zh-CN" altLang="en-US"/>
          </a:p>
          <a:p>
            <a:r>
              <a:rPr lang="zh-CN" altLang="en-US">
                <a:sym typeface="+mn-ea"/>
              </a:rPr>
              <a:t>不包含1*1的卷积，</a:t>
            </a:r>
            <a:endParaRPr lang="zh-CN" altLang="en-US"/>
          </a:p>
          <a:p>
            <a:r>
              <a:rPr lang="zh-CN" altLang="en-US">
                <a:sym typeface="+mn-ea"/>
              </a:rPr>
              <a:t>参数量：5*5*256*64=409600</a:t>
            </a:r>
            <a:endParaRPr lang="zh-CN" altLang="en-US"/>
          </a:p>
          <a:p>
            <a:r>
              <a:rPr lang="zh-CN" altLang="en-US">
                <a:sym typeface="+mn-ea"/>
              </a:rPr>
              <a:t>连接数：(5*5*256+1)*64*n*n=409664*n*n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93750" y="76200"/>
            <a:ext cx="4337050" cy="22040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6" y="2305938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7" y="1971420"/>
            <a:ext cx="2830068" cy="1301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2894" y="1422272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8633" y="99225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2755" y="987297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6649" y="99923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7141" y="1322837"/>
            <a:ext cx="1363980" cy="4826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516,096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404,619,264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7450" y="267195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96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77635" y="265760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90" y="203597"/>
            <a:ext cx="1034796" cy="32049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90" y="203597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1"/>
                </a:moveTo>
                <a:lnTo>
                  <a:pt x="1034796" y="3204971"/>
                </a:lnTo>
                <a:lnTo>
                  <a:pt x="1034796" y="0"/>
                </a:lnTo>
                <a:lnTo>
                  <a:pt x="0" y="0"/>
                </a:lnTo>
                <a:lnTo>
                  <a:pt x="0" y="3204971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7" y="2283222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8" y="1949339"/>
            <a:ext cx="2830068" cy="1301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20" y="647843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3" y="946674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2894" y="1399556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8634" y="96953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2755" y="96458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6649" y="97626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7142" y="1299632"/>
            <a:ext cx="136398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516,096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404,619,264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7450" y="2649236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96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77635" y="263488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7330" y="2748322"/>
            <a:ext cx="136398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168,448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132,063,232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9" y="225678"/>
            <a:ext cx="1034796" cy="32049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3989" y="225678"/>
            <a:ext cx="1035050" cy="3205480"/>
          </a:xfrm>
          <a:custGeom>
            <a:avLst/>
            <a:gdLst/>
            <a:ahLst/>
            <a:cxnLst/>
            <a:rect l="l" t="t" r="r" b="b"/>
            <a:pathLst>
              <a:path w="1035050" h="3205479">
                <a:moveTo>
                  <a:pt x="0" y="3204972"/>
                </a:moveTo>
                <a:lnTo>
                  <a:pt x="1034796" y="3204972"/>
                </a:lnTo>
                <a:lnTo>
                  <a:pt x="1034796" y="0"/>
                </a:lnTo>
                <a:lnTo>
                  <a:pt x="0" y="0"/>
                </a:lnTo>
                <a:lnTo>
                  <a:pt x="0" y="3204972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046" y="2305938"/>
            <a:ext cx="794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000" b="1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V1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6367" y="1971420"/>
            <a:ext cx="2830068" cy="1301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819" y="669924"/>
            <a:ext cx="2787396" cy="964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52" y="969390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n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cept</a:t>
            </a:r>
            <a:r>
              <a:rPr sz="1000" b="1" spc="5" dirty="0">
                <a:latin typeface="黑体" panose="02010609060101010101" charset="-122"/>
                <a:cs typeface="黑体" panose="02010609060101010101" charset="-122"/>
              </a:rPr>
              <a:t>i</a:t>
            </a:r>
            <a:r>
              <a:rPr sz="1000" b="1" spc="-5" dirty="0">
                <a:latin typeface="黑体" panose="02010609060101010101" charset="-122"/>
                <a:cs typeface="黑体" panose="02010609060101010101" charset="-122"/>
              </a:rPr>
              <a:t>o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n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905" algn="ctr">
              <a:lnSpc>
                <a:spcPct val="100000"/>
              </a:lnSpc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2894" y="1422272"/>
            <a:ext cx="659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28</a:t>
            </a:r>
            <a:r>
              <a:rPr sz="900" spc="-5" dirty="0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256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8633" y="99225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2755" y="987297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128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6649" y="99923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7141" y="1322837"/>
            <a:ext cx="1363980" cy="4826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数个数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516,096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404,619,264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7450" y="2671952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96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77635" y="265760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7329" y="2770354"/>
            <a:ext cx="1363980" cy="4838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168,448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总计算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r>
              <a:rPr sz="1000" spc="-5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1000" spc="-3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132,063,232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40725" y="1818258"/>
            <a:ext cx="768350" cy="1396365"/>
          </a:xfrm>
          <a:custGeom>
            <a:avLst/>
            <a:gdLst/>
            <a:ahLst/>
            <a:cxnLst/>
            <a:rect l="l" t="t" r="r" b="b"/>
            <a:pathLst>
              <a:path w="768350" h="1396364">
                <a:moveTo>
                  <a:pt x="0" y="1395983"/>
                </a:moveTo>
                <a:lnTo>
                  <a:pt x="768096" y="1395983"/>
                </a:lnTo>
                <a:lnTo>
                  <a:pt x="768096" y="0"/>
                </a:lnTo>
                <a:lnTo>
                  <a:pt x="0" y="0"/>
                </a:lnTo>
                <a:lnTo>
                  <a:pt x="0" y="1395983"/>
                </a:lnTo>
                <a:close/>
              </a:path>
            </a:pathLst>
          </a:custGeom>
          <a:ln w="4762">
            <a:solidFill>
              <a:srgbClr val="FF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74761" y="1798091"/>
            <a:ext cx="6610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参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数更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算效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、非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性 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表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达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力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也 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更强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843" y="3282162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2020/4/28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8445" y="2572147"/>
            <a:ext cx="19234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堆叠了9</a:t>
            </a:r>
            <a:r>
              <a:rPr sz="12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2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1200" spc="-8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V1</a:t>
            </a:r>
            <a:r>
              <a:rPr sz="12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17366" y="511445"/>
            <a:ext cx="3836035" cy="1640205"/>
          </a:xfrm>
          <a:custGeom>
            <a:avLst/>
            <a:gdLst/>
            <a:ahLst/>
            <a:cxnLst/>
            <a:rect l="l" t="t" r="r" b="b"/>
            <a:pathLst>
              <a:path w="3836035" h="1640205">
                <a:moveTo>
                  <a:pt x="0" y="1639824"/>
                </a:moveTo>
                <a:lnTo>
                  <a:pt x="3835907" y="1639824"/>
                </a:lnTo>
                <a:lnTo>
                  <a:pt x="3835907" y="0"/>
                </a:lnTo>
                <a:lnTo>
                  <a:pt x="0" y="0"/>
                </a:lnTo>
                <a:lnTo>
                  <a:pt x="0" y="1639824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83198" y="2232041"/>
            <a:ext cx="1982724" cy="911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83198" y="2232041"/>
            <a:ext cx="1983105" cy="911860"/>
          </a:xfrm>
          <a:custGeom>
            <a:avLst/>
            <a:gdLst/>
            <a:ahLst/>
            <a:cxnLst/>
            <a:rect l="l" t="t" r="r" b="b"/>
            <a:pathLst>
              <a:path w="1983104" h="911860">
                <a:moveTo>
                  <a:pt x="0" y="911352"/>
                </a:moveTo>
                <a:lnTo>
                  <a:pt x="1982724" y="911352"/>
                </a:lnTo>
                <a:lnTo>
                  <a:pt x="1982724" y="0"/>
                </a:lnTo>
                <a:lnTo>
                  <a:pt x="0" y="0"/>
                </a:lnTo>
                <a:lnTo>
                  <a:pt x="0" y="911352"/>
                </a:lnTo>
                <a:close/>
              </a:path>
            </a:pathLst>
          </a:custGeom>
          <a:ln w="4762">
            <a:solidFill>
              <a:srgbClr val="FF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96102" y="669941"/>
            <a:ext cx="541020" cy="1026160"/>
          </a:xfrm>
          <a:custGeom>
            <a:avLst/>
            <a:gdLst/>
            <a:ahLst/>
            <a:cxnLst/>
            <a:rect l="l" t="t" r="r" b="b"/>
            <a:pathLst>
              <a:path w="541020" h="1026160">
                <a:moveTo>
                  <a:pt x="0" y="1025651"/>
                </a:moveTo>
                <a:lnTo>
                  <a:pt x="541020" y="1025651"/>
                </a:lnTo>
                <a:lnTo>
                  <a:pt x="541020" y="0"/>
                </a:lnTo>
                <a:lnTo>
                  <a:pt x="0" y="0"/>
                </a:lnTo>
                <a:lnTo>
                  <a:pt x="0" y="1025651"/>
                </a:lnTo>
                <a:close/>
              </a:path>
            </a:pathLst>
          </a:custGeom>
          <a:ln w="19049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09665" y="1731534"/>
            <a:ext cx="345440" cy="610235"/>
          </a:xfrm>
          <a:custGeom>
            <a:avLst/>
            <a:gdLst/>
            <a:ahLst/>
            <a:cxnLst/>
            <a:rect l="l" t="t" r="r" b="b"/>
            <a:pathLst>
              <a:path w="345439" h="610235">
                <a:moveTo>
                  <a:pt x="87630" y="0"/>
                </a:moveTo>
                <a:lnTo>
                  <a:pt x="301625" y="503808"/>
                </a:lnTo>
                <a:lnTo>
                  <a:pt x="345439" y="485267"/>
                </a:lnTo>
                <a:lnTo>
                  <a:pt x="295021" y="610107"/>
                </a:lnTo>
                <a:lnTo>
                  <a:pt x="170180" y="559689"/>
                </a:lnTo>
                <a:lnTo>
                  <a:pt x="213995" y="541147"/>
                </a:lnTo>
                <a:lnTo>
                  <a:pt x="0" y="37210"/>
                </a:lnTo>
                <a:lnTo>
                  <a:pt x="8763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923" y="2135758"/>
            <a:ext cx="7162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输入：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减去均 值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224x224 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彩色图像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1174" y="1664334"/>
            <a:ext cx="57150" cy="469265"/>
          </a:xfrm>
          <a:custGeom>
            <a:avLst/>
            <a:gdLst/>
            <a:ahLst/>
            <a:cxnLst/>
            <a:rect l="l" t="t" r="r" b="b"/>
            <a:pathLst>
              <a:path w="57150" h="469264">
                <a:moveTo>
                  <a:pt x="38100" y="47625"/>
                </a:moveTo>
                <a:lnTo>
                  <a:pt x="19050" y="47625"/>
                </a:lnTo>
                <a:lnTo>
                  <a:pt x="19050" y="468883"/>
                </a:lnTo>
                <a:lnTo>
                  <a:pt x="38100" y="468883"/>
                </a:lnTo>
                <a:lnTo>
                  <a:pt x="38100" y="47625"/>
                </a:lnTo>
                <a:close/>
              </a:path>
              <a:path w="57150" h="469264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469264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56809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3"/>
                </a:moveTo>
                <a:lnTo>
                  <a:pt x="464820" y="481583"/>
                </a:lnTo>
                <a:lnTo>
                  <a:pt x="464820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43727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1"/>
                </a:lnTo>
                <a:lnTo>
                  <a:pt x="188722" y="561848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886599"/>
            <a:ext cx="832103" cy="18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886599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0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60450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57403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578751"/>
            <a:ext cx="544067" cy="1889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44663" y="2578751"/>
            <a:ext cx="544195" cy="189230"/>
          </a:xfrm>
          <a:prstGeom prst="rect">
            <a:avLst/>
          </a:prstGeom>
          <a:ln w="9525">
            <a:solidFill>
              <a:srgbClr val="E36C0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5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38340" y="2286130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88631" y="2283108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65772" y="2304431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565772" y="2304431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4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95312" y="1998120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92848" y="1987426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722743" y="2016395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96759" y="2190893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8"/>
                </a:lnTo>
                <a:lnTo>
                  <a:pt x="28575" y="113538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96759" y="2494169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3"/>
                </a:lnTo>
                <a:lnTo>
                  <a:pt x="28575" y="84963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768489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8"/>
                </a:lnTo>
                <a:lnTo>
                  <a:pt x="28575" y="118618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3076337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69">
                <a:moveTo>
                  <a:pt x="28575" y="35687"/>
                </a:moveTo>
                <a:lnTo>
                  <a:pt x="14350" y="35687"/>
                </a:lnTo>
                <a:lnTo>
                  <a:pt x="14350" y="153543"/>
                </a:lnTo>
                <a:lnTo>
                  <a:pt x="28575" y="153543"/>
                </a:lnTo>
                <a:lnTo>
                  <a:pt x="28575" y="35687"/>
                </a:lnTo>
                <a:close/>
              </a:path>
              <a:path w="43179" h="15366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5366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90334" y="1969913"/>
            <a:ext cx="1282065" cy="1188720"/>
          </a:xfrm>
          <a:custGeom>
            <a:avLst/>
            <a:gdLst/>
            <a:ahLst/>
            <a:cxnLst/>
            <a:rect l="l" t="t" r="r" b="b"/>
            <a:pathLst>
              <a:path w="1282064" h="1188720">
                <a:moveTo>
                  <a:pt x="0" y="1188720"/>
                </a:moveTo>
                <a:lnTo>
                  <a:pt x="1281684" y="1188720"/>
                </a:lnTo>
                <a:lnTo>
                  <a:pt x="1281684" y="0"/>
                </a:lnTo>
                <a:lnTo>
                  <a:pt x="0" y="0"/>
                </a:lnTo>
                <a:lnTo>
                  <a:pt x="0" y="1188720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45325" y="2987818"/>
            <a:ext cx="657225" cy="43180"/>
          </a:xfrm>
          <a:custGeom>
            <a:avLst/>
            <a:gdLst/>
            <a:ahLst/>
            <a:cxnLst/>
            <a:rect l="l" t="t" r="r" b="b"/>
            <a:pathLst>
              <a:path w="657225" h="43180">
                <a:moveTo>
                  <a:pt x="614045" y="0"/>
                </a:moveTo>
                <a:lnTo>
                  <a:pt x="614045" y="42925"/>
                </a:lnTo>
                <a:lnTo>
                  <a:pt x="642747" y="28575"/>
                </a:lnTo>
                <a:lnTo>
                  <a:pt x="621157" y="28575"/>
                </a:lnTo>
                <a:lnTo>
                  <a:pt x="621157" y="14350"/>
                </a:lnTo>
                <a:lnTo>
                  <a:pt x="642747" y="14350"/>
                </a:lnTo>
                <a:lnTo>
                  <a:pt x="614045" y="0"/>
                </a:lnTo>
                <a:close/>
              </a:path>
              <a:path w="657225" h="43180">
                <a:moveTo>
                  <a:pt x="614045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614045" y="28575"/>
                </a:lnTo>
                <a:lnTo>
                  <a:pt x="614045" y="14350"/>
                </a:lnTo>
                <a:close/>
              </a:path>
              <a:path w="657225" h="43180">
                <a:moveTo>
                  <a:pt x="642747" y="14350"/>
                </a:moveTo>
                <a:lnTo>
                  <a:pt x="621157" y="14350"/>
                </a:lnTo>
                <a:lnTo>
                  <a:pt x="621157" y="28575"/>
                </a:lnTo>
                <a:lnTo>
                  <a:pt x="642747" y="28575"/>
                </a:lnTo>
                <a:lnTo>
                  <a:pt x="656971" y="21462"/>
                </a:lnTo>
                <a:lnTo>
                  <a:pt x="642747" y="143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47486" y="2930033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平均池化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78890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4"/>
                </a:moveTo>
                <a:lnTo>
                  <a:pt x="464820" y="481584"/>
                </a:lnTo>
                <a:lnTo>
                  <a:pt x="464820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65808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0"/>
                </a:lnTo>
                <a:lnTo>
                  <a:pt x="188722" y="561847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908680"/>
            <a:ext cx="832103" cy="188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908680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5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82532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79484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600832"/>
            <a:ext cx="544067" cy="188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44663" y="2600832"/>
            <a:ext cx="544195" cy="189230"/>
          </a:xfrm>
          <a:prstGeom prst="rect">
            <a:avLst/>
          </a:prstGeom>
          <a:ln w="9525">
            <a:solidFill>
              <a:srgbClr val="E36C0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5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38340" y="2308212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88631" y="2305189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65772" y="2326512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565772" y="2326512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5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95311" y="2020201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92847" y="2009508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722743" y="2038476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96759" y="2212975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7"/>
                </a:lnTo>
                <a:lnTo>
                  <a:pt x="28575" y="113537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96759" y="2516250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2"/>
                </a:lnTo>
                <a:lnTo>
                  <a:pt x="28575" y="84962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790570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7"/>
                </a:lnTo>
                <a:lnTo>
                  <a:pt x="28575" y="118617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3098418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70">
                <a:moveTo>
                  <a:pt x="28575" y="35686"/>
                </a:moveTo>
                <a:lnTo>
                  <a:pt x="14350" y="35686"/>
                </a:lnTo>
                <a:lnTo>
                  <a:pt x="14350" y="153542"/>
                </a:lnTo>
                <a:lnTo>
                  <a:pt x="28575" y="153542"/>
                </a:lnTo>
                <a:lnTo>
                  <a:pt x="28575" y="35686"/>
                </a:lnTo>
                <a:close/>
              </a:path>
              <a:path w="43179" h="153670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153670">
                <a:moveTo>
                  <a:pt x="39359" y="35686"/>
                </a:moveTo>
                <a:lnTo>
                  <a:pt x="28575" y="35686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90334" y="1991994"/>
            <a:ext cx="1282065" cy="1188720"/>
          </a:xfrm>
          <a:custGeom>
            <a:avLst/>
            <a:gdLst/>
            <a:ahLst/>
            <a:cxnLst/>
            <a:rect l="l" t="t" r="r" b="b"/>
            <a:pathLst>
              <a:path w="1282064" h="1188720">
                <a:moveTo>
                  <a:pt x="0" y="1188719"/>
                </a:moveTo>
                <a:lnTo>
                  <a:pt x="1281684" y="1188719"/>
                </a:lnTo>
                <a:lnTo>
                  <a:pt x="1281684" y="0"/>
                </a:lnTo>
                <a:lnTo>
                  <a:pt x="0" y="0"/>
                </a:lnTo>
                <a:lnTo>
                  <a:pt x="0" y="1188719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188581" y="2662427"/>
            <a:ext cx="657225" cy="43180"/>
          </a:xfrm>
          <a:custGeom>
            <a:avLst/>
            <a:gdLst/>
            <a:ahLst/>
            <a:cxnLst/>
            <a:rect l="l" t="t" r="r" b="b"/>
            <a:pathLst>
              <a:path w="657225" h="43180">
                <a:moveTo>
                  <a:pt x="614044" y="0"/>
                </a:moveTo>
                <a:lnTo>
                  <a:pt x="614044" y="42925"/>
                </a:lnTo>
                <a:lnTo>
                  <a:pt x="642746" y="28575"/>
                </a:lnTo>
                <a:lnTo>
                  <a:pt x="621156" y="28575"/>
                </a:lnTo>
                <a:lnTo>
                  <a:pt x="621156" y="14350"/>
                </a:lnTo>
                <a:lnTo>
                  <a:pt x="642746" y="14350"/>
                </a:lnTo>
                <a:lnTo>
                  <a:pt x="614044" y="0"/>
                </a:lnTo>
                <a:close/>
              </a:path>
              <a:path w="657225" h="43180">
                <a:moveTo>
                  <a:pt x="614044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614044" y="28575"/>
                </a:lnTo>
                <a:lnTo>
                  <a:pt x="614044" y="14350"/>
                </a:lnTo>
                <a:close/>
              </a:path>
              <a:path w="657225" h="43180">
                <a:moveTo>
                  <a:pt x="642746" y="14350"/>
                </a:moveTo>
                <a:lnTo>
                  <a:pt x="621156" y="14350"/>
                </a:lnTo>
                <a:lnTo>
                  <a:pt x="621156" y="28575"/>
                </a:lnTo>
                <a:lnTo>
                  <a:pt x="642746" y="28575"/>
                </a:lnTo>
                <a:lnTo>
                  <a:pt x="656970" y="21462"/>
                </a:lnTo>
                <a:lnTo>
                  <a:pt x="642746" y="143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91377" y="2605150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分类层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56809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3"/>
                </a:moveTo>
                <a:lnTo>
                  <a:pt x="464820" y="481583"/>
                </a:lnTo>
                <a:lnTo>
                  <a:pt x="464820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43727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1"/>
                </a:lnTo>
                <a:lnTo>
                  <a:pt x="188722" y="561848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886599"/>
            <a:ext cx="832103" cy="18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886599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0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60450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57403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578751"/>
            <a:ext cx="544067" cy="1889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578751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6"/>
                </a:moveTo>
                <a:lnTo>
                  <a:pt x="544067" y="188976"/>
                </a:lnTo>
                <a:lnTo>
                  <a:pt x="544067" y="0"/>
                </a:lnTo>
                <a:lnTo>
                  <a:pt x="0" y="0"/>
                </a:lnTo>
                <a:lnTo>
                  <a:pt x="0" y="188976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69913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286130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283108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04431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04431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4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2" y="1998120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8" y="1987426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16395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190893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8"/>
                </a:lnTo>
                <a:lnTo>
                  <a:pt x="28575" y="113538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494169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3"/>
                </a:lnTo>
                <a:lnTo>
                  <a:pt x="28575" y="84963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68489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8"/>
                </a:lnTo>
                <a:lnTo>
                  <a:pt x="28575" y="118618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76337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69">
                <a:moveTo>
                  <a:pt x="28575" y="35687"/>
                </a:moveTo>
                <a:lnTo>
                  <a:pt x="14350" y="35687"/>
                </a:lnTo>
                <a:lnTo>
                  <a:pt x="14350" y="153543"/>
                </a:lnTo>
                <a:lnTo>
                  <a:pt x="28575" y="153543"/>
                </a:lnTo>
                <a:lnTo>
                  <a:pt x="28575" y="35687"/>
                </a:lnTo>
                <a:close/>
              </a:path>
              <a:path w="43179" h="15366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5366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60869" y="2622947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7"/>
                </a:lnTo>
                <a:lnTo>
                  <a:pt x="620267" y="201167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7"/>
                </a:lnTo>
                <a:lnTo>
                  <a:pt x="624458" y="187578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8"/>
                </a:lnTo>
                <a:lnTo>
                  <a:pt x="620267" y="201167"/>
                </a:lnTo>
                <a:lnTo>
                  <a:pt x="652814" y="201167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35369" y="251245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81723" y="3244231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150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78890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4"/>
                </a:moveTo>
                <a:lnTo>
                  <a:pt x="464820" y="481584"/>
                </a:lnTo>
                <a:lnTo>
                  <a:pt x="464820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65808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0"/>
                </a:lnTo>
                <a:lnTo>
                  <a:pt x="188722" y="561847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908680"/>
            <a:ext cx="832103" cy="188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908680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5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82532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79484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600832"/>
            <a:ext cx="544067" cy="188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600832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5"/>
                </a:moveTo>
                <a:lnTo>
                  <a:pt x="544067" y="188975"/>
                </a:lnTo>
                <a:lnTo>
                  <a:pt x="544067" y="0"/>
                </a:lnTo>
                <a:lnTo>
                  <a:pt x="0" y="0"/>
                </a:lnTo>
                <a:lnTo>
                  <a:pt x="0" y="188975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91994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5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308212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305189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26512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26512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5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1" y="2020201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7" y="2009508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38476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212975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7"/>
                </a:lnTo>
                <a:lnTo>
                  <a:pt x="28575" y="113537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516250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2"/>
                </a:lnTo>
                <a:lnTo>
                  <a:pt x="28575" y="84962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90570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7"/>
                </a:lnTo>
                <a:lnTo>
                  <a:pt x="28575" y="118617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98418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70">
                <a:moveTo>
                  <a:pt x="28575" y="35686"/>
                </a:moveTo>
                <a:lnTo>
                  <a:pt x="14350" y="35686"/>
                </a:lnTo>
                <a:lnTo>
                  <a:pt x="14350" y="153542"/>
                </a:lnTo>
                <a:lnTo>
                  <a:pt x="28575" y="153542"/>
                </a:lnTo>
                <a:lnTo>
                  <a:pt x="28575" y="35686"/>
                </a:lnTo>
                <a:close/>
              </a:path>
              <a:path w="43179" h="153670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153670">
                <a:moveTo>
                  <a:pt x="39359" y="35686"/>
                </a:moveTo>
                <a:lnTo>
                  <a:pt x="28575" y="35686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89503" y="2260473"/>
            <a:ext cx="2914015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64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VG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的第一个全连接层参数占了整个网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7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%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的参数，需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55575">
              <a:lnSpc>
                <a:spcPct val="100000"/>
              </a:lnSpc>
              <a:spcBef>
                <a:spcPts val="540"/>
              </a:spcBef>
            </a:pP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策略应对过拟合。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60869" y="2645028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8"/>
                </a:lnTo>
                <a:lnTo>
                  <a:pt x="620267" y="201168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8"/>
                </a:lnTo>
                <a:lnTo>
                  <a:pt x="624458" y="187579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9"/>
                </a:lnTo>
                <a:lnTo>
                  <a:pt x="620267" y="201168"/>
                </a:lnTo>
                <a:lnTo>
                  <a:pt x="652814" y="201168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635369" y="253542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81722" y="3266922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151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56809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3"/>
                </a:moveTo>
                <a:lnTo>
                  <a:pt x="464820" y="481583"/>
                </a:lnTo>
                <a:lnTo>
                  <a:pt x="464820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43727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1"/>
                </a:lnTo>
                <a:lnTo>
                  <a:pt x="188722" y="561848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886599"/>
            <a:ext cx="832103" cy="18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886599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0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60450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57403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578751"/>
            <a:ext cx="544067" cy="1889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578751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6"/>
                </a:moveTo>
                <a:lnTo>
                  <a:pt x="544067" y="188976"/>
                </a:lnTo>
                <a:lnTo>
                  <a:pt x="544067" y="0"/>
                </a:lnTo>
                <a:lnTo>
                  <a:pt x="0" y="0"/>
                </a:lnTo>
                <a:lnTo>
                  <a:pt x="0" y="188976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69913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286130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283108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04431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04431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4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2" y="1998120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8" y="1987426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16395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190893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8"/>
                </a:lnTo>
                <a:lnTo>
                  <a:pt x="28575" y="113538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494169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3"/>
                </a:lnTo>
                <a:lnTo>
                  <a:pt x="28575" y="84963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68489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8"/>
                </a:lnTo>
                <a:lnTo>
                  <a:pt x="28575" y="118618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76337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69">
                <a:moveTo>
                  <a:pt x="28575" y="35687"/>
                </a:moveTo>
                <a:lnTo>
                  <a:pt x="14350" y="35687"/>
                </a:lnTo>
                <a:lnTo>
                  <a:pt x="14350" y="153543"/>
                </a:lnTo>
                <a:lnTo>
                  <a:pt x="28575" y="153543"/>
                </a:lnTo>
                <a:lnTo>
                  <a:pt x="28575" y="35687"/>
                </a:lnTo>
                <a:close/>
              </a:path>
              <a:path w="43179" h="15366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5366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89504" y="2237757"/>
            <a:ext cx="3199130" cy="8483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64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VGG的第一个全连接层参数占了整个网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74%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的参数，需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55575">
              <a:lnSpc>
                <a:spcPct val="100000"/>
              </a:lnSpc>
              <a:spcBef>
                <a:spcPts val="540"/>
              </a:spcBef>
            </a:pP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策略应对过拟合。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55575" marR="5080" indent="-142875">
              <a:lnSpc>
                <a:spcPct val="15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采用平均池化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，GoogLeNet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的参数总量不到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500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万，  无须使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Dropout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策略。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60869" y="2622947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7"/>
                </a:lnTo>
                <a:lnTo>
                  <a:pt x="620267" y="201167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7"/>
                </a:lnTo>
                <a:lnTo>
                  <a:pt x="624458" y="187578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8"/>
                </a:lnTo>
                <a:lnTo>
                  <a:pt x="620267" y="201167"/>
                </a:lnTo>
                <a:lnTo>
                  <a:pt x="652814" y="201167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635369" y="251245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81723" y="3244231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152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6161" y="1626234"/>
            <a:ext cx="751840" cy="337185"/>
          </a:xfrm>
          <a:custGeom>
            <a:avLst/>
            <a:gdLst/>
            <a:ahLst/>
            <a:cxnLst/>
            <a:rect l="l" t="t" r="r" b="b"/>
            <a:pathLst>
              <a:path w="751839" h="337185">
                <a:moveTo>
                  <a:pt x="0" y="336804"/>
                </a:moveTo>
                <a:lnTo>
                  <a:pt x="751332" y="336804"/>
                </a:lnTo>
                <a:lnTo>
                  <a:pt x="751332" y="0"/>
                </a:lnTo>
                <a:lnTo>
                  <a:pt x="0" y="0"/>
                </a:lnTo>
                <a:lnTo>
                  <a:pt x="0" y="33680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4205" y="1836546"/>
            <a:ext cx="749935" cy="337185"/>
          </a:xfrm>
          <a:custGeom>
            <a:avLst/>
            <a:gdLst/>
            <a:ahLst/>
            <a:cxnLst/>
            <a:rect l="l" t="t" r="r" b="b"/>
            <a:pathLst>
              <a:path w="749935" h="337185">
                <a:moveTo>
                  <a:pt x="0" y="336804"/>
                </a:moveTo>
                <a:lnTo>
                  <a:pt x="749807" y="336804"/>
                </a:lnTo>
                <a:lnTo>
                  <a:pt x="749807" y="0"/>
                </a:lnTo>
                <a:lnTo>
                  <a:pt x="0" y="0"/>
                </a:lnTo>
                <a:lnTo>
                  <a:pt x="0" y="33680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70828" y="2407284"/>
            <a:ext cx="163067" cy="711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70828" y="2407284"/>
            <a:ext cx="163195" cy="71183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vert" wrap="square" lIns="0" tIns="2222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7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AveragePool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07047" y="2510929"/>
            <a:ext cx="215658" cy="520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84187" y="2532240"/>
            <a:ext cx="230886" cy="4762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34479" y="2529204"/>
            <a:ext cx="163067" cy="4663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34479" y="2529204"/>
            <a:ext cx="163195" cy="466725"/>
          </a:xfrm>
          <a:prstGeom prst="rect">
            <a:avLst/>
          </a:prstGeom>
          <a:ln w="9525">
            <a:solidFill>
              <a:srgbClr val="FFC000"/>
            </a:solidFill>
          </a:ln>
        </p:spPr>
        <p:txBody>
          <a:bodyPr vert="vert" wrap="square" lIns="0" tIns="2222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7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Conv</a:t>
            </a:r>
            <a:r>
              <a:rPr sz="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1x1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44663" y="2273172"/>
            <a:ext cx="214109" cy="9974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21803" y="2358516"/>
            <a:ext cx="230886" cy="8252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72096" y="2291460"/>
            <a:ext cx="161544" cy="9433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72096" y="2291460"/>
            <a:ext cx="161925" cy="943610"/>
          </a:xfrm>
          <a:custGeom>
            <a:avLst/>
            <a:gdLst/>
            <a:ahLst/>
            <a:cxnLst/>
            <a:rect l="l" t="t" r="r" b="b"/>
            <a:pathLst>
              <a:path w="161925" h="943610">
                <a:moveTo>
                  <a:pt x="0" y="943356"/>
                </a:moveTo>
                <a:lnTo>
                  <a:pt x="161544" y="943356"/>
                </a:lnTo>
                <a:lnTo>
                  <a:pt x="161544" y="0"/>
                </a:lnTo>
                <a:lnTo>
                  <a:pt x="0" y="0"/>
                </a:lnTo>
                <a:lnTo>
                  <a:pt x="0" y="94335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88859" y="2412872"/>
            <a:ext cx="114300" cy="701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60"/>
              </a:lnSpc>
            </a:pPr>
            <a:r>
              <a:rPr sz="700" spc="-5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Activation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03743" y="2407284"/>
            <a:ext cx="201942" cy="7292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74787" y="2517012"/>
            <a:ext cx="230886" cy="50977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131175" y="2425572"/>
            <a:ext cx="149860" cy="67564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vert" wrap="square" lIns="0" tIns="14604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15"/>
              </a:spcBef>
            </a:pPr>
            <a:r>
              <a:rPr sz="700" spc="-5" dirty="0">
                <a:latin typeface="Calibri" panose="020F0502020204030204"/>
                <a:cs typeface="Calibri" panose="020F0502020204030204"/>
              </a:rPr>
              <a:t>Softmax 1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34402" y="2741675"/>
            <a:ext cx="97155" cy="43180"/>
          </a:xfrm>
          <a:custGeom>
            <a:avLst/>
            <a:gdLst/>
            <a:ahLst/>
            <a:cxnLst/>
            <a:rect l="l" t="t" r="r" b="b"/>
            <a:pathLst>
              <a:path w="97154" h="43180">
                <a:moveTo>
                  <a:pt x="54356" y="0"/>
                </a:moveTo>
                <a:lnTo>
                  <a:pt x="54356" y="42926"/>
                </a:lnTo>
                <a:lnTo>
                  <a:pt x="82973" y="28575"/>
                </a:lnTo>
                <a:lnTo>
                  <a:pt x="61468" y="28575"/>
                </a:lnTo>
                <a:lnTo>
                  <a:pt x="61468" y="14351"/>
                </a:lnTo>
                <a:lnTo>
                  <a:pt x="82973" y="14351"/>
                </a:lnTo>
                <a:lnTo>
                  <a:pt x="54356" y="0"/>
                </a:lnTo>
                <a:close/>
              </a:path>
              <a:path w="97154" h="43180">
                <a:moveTo>
                  <a:pt x="54356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54356" y="28575"/>
                </a:lnTo>
                <a:lnTo>
                  <a:pt x="54356" y="14351"/>
                </a:lnTo>
                <a:close/>
              </a:path>
              <a:path w="97154" h="43180">
                <a:moveTo>
                  <a:pt x="82973" y="14351"/>
                </a:moveTo>
                <a:lnTo>
                  <a:pt x="61468" y="14351"/>
                </a:lnTo>
                <a:lnTo>
                  <a:pt x="61468" y="28575"/>
                </a:lnTo>
                <a:lnTo>
                  <a:pt x="82973" y="28575"/>
                </a:lnTo>
                <a:lnTo>
                  <a:pt x="97155" y="21462"/>
                </a:lnTo>
                <a:lnTo>
                  <a:pt x="82973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99705" y="2741675"/>
            <a:ext cx="73025" cy="43180"/>
          </a:xfrm>
          <a:custGeom>
            <a:avLst/>
            <a:gdLst/>
            <a:ahLst/>
            <a:cxnLst/>
            <a:rect l="l" t="t" r="r" b="b"/>
            <a:pathLst>
              <a:path w="73025" h="43180">
                <a:moveTo>
                  <a:pt x="29845" y="0"/>
                </a:moveTo>
                <a:lnTo>
                  <a:pt x="29845" y="42926"/>
                </a:lnTo>
                <a:lnTo>
                  <a:pt x="58462" y="28575"/>
                </a:lnTo>
                <a:lnTo>
                  <a:pt x="36957" y="28575"/>
                </a:lnTo>
                <a:lnTo>
                  <a:pt x="36957" y="14351"/>
                </a:lnTo>
                <a:lnTo>
                  <a:pt x="58462" y="14351"/>
                </a:lnTo>
                <a:lnTo>
                  <a:pt x="29845" y="0"/>
                </a:lnTo>
                <a:close/>
              </a:path>
              <a:path w="73025" h="43180">
                <a:moveTo>
                  <a:pt x="29845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29845" y="28575"/>
                </a:lnTo>
                <a:lnTo>
                  <a:pt x="29845" y="14351"/>
                </a:lnTo>
                <a:close/>
              </a:path>
              <a:path w="73025" h="43180">
                <a:moveTo>
                  <a:pt x="58462" y="14351"/>
                </a:moveTo>
                <a:lnTo>
                  <a:pt x="36957" y="14351"/>
                </a:lnTo>
                <a:lnTo>
                  <a:pt x="36957" y="28575"/>
                </a:lnTo>
                <a:lnTo>
                  <a:pt x="58462" y="28575"/>
                </a:lnTo>
                <a:lnTo>
                  <a:pt x="72644" y="21462"/>
                </a:lnTo>
                <a:lnTo>
                  <a:pt x="58462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34657" y="2741675"/>
            <a:ext cx="101600" cy="43180"/>
          </a:xfrm>
          <a:custGeom>
            <a:avLst/>
            <a:gdLst/>
            <a:ahLst/>
            <a:cxnLst/>
            <a:rect l="l" t="t" r="r" b="b"/>
            <a:pathLst>
              <a:path w="101600" h="43180">
                <a:moveTo>
                  <a:pt x="58546" y="0"/>
                </a:moveTo>
                <a:lnTo>
                  <a:pt x="58546" y="42926"/>
                </a:lnTo>
                <a:lnTo>
                  <a:pt x="87248" y="28575"/>
                </a:lnTo>
                <a:lnTo>
                  <a:pt x="65786" y="28575"/>
                </a:lnTo>
                <a:lnTo>
                  <a:pt x="65786" y="14351"/>
                </a:lnTo>
                <a:lnTo>
                  <a:pt x="87249" y="14351"/>
                </a:lnTo>
                <a:lnTo>
                  <a:pt x="58546" y="0"/>
                </a:lnTo>
                <a:close/>
              </a:path>
              <a:path w="101600" h="43180">
                <a:moveTo>
                  <a:pt x="58546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58546" y="28575"/>
                </a:lnTo>
                <a:lnTo>
                  <a:pt x="58546" y="14351"/>
                </a:lnTo>
                <a:close/>
              </a:path>
              <a:path w="101600" h="43180">
                <a:moveTo>
                  <a:pt x="87249" y="14351"/>
                </a:moveTo>
                <a:lnTo>
                  <a:pt x="65786" y="14351"/>
                </a:lnTo>
                <a:lnTo>
                  <a:pt x="65786" y="28575"/>
                </a:lnTo>
                <a:lnTo>
                  <a:pt x="87248" y="28575"/>
                </a:lnTo>
                <a:lnTo>
                  <a:pt x="101472" y="21462"/>
                </a:lnTo>
                <a:lnTo>
                  <a:pt x="87249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40525" y="2741675"/>
            <a:ext cx="131445" cy="43180"/>
          </a:xfrm>
          <a:custGeom>
            <a:avLst/>
            <a:gdLst/>
            <a:ahLst/>
            <a:cxnLst/>
            <a:rect l="l" t="t" r="r" b="b"/>
            <a:pathLst>
              <a:path w="131445" h="43180">
                <a:moveTo>
                  <a:pt x="88519" y="0"/>
                </a:moveTo>
                <a:lnTo>
                  <a:pt x="88519" y="42926"/>
                </a:lnTo>
                <a:lnTo>
                  <a:pt x="117221" y="28575"/>
                </a:lnTo>
                <a:lnTo>
                  <a:pt x="95758" y="28575"/>
                </a:lnTo>
                <a:lnTo>
                  <a:pt x="95758" y="14351"/>
                </a:lnTo>
                <a:lnTo>
                  <a:pt x="117221" y="14351"/>
                </a:lnTo>
                <a:lnTo>
                  <a:pt x="88519" y="0"/>
                </a:lnTo>
                <a:close/>
              </a:path>
              <a:path w="131445" h="43180">
                <a:moveTo>
                  <a:pt x="88519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88519" y="28575"/>
                </a:lnTo>
                <a:lnTo>
                  <a:pt x="88519" y="14351"/>
                </a:lnTo>
                <a:close/>
              </a:path>
              <a:path w="131445" h="43180">
                <a:moveTo>
                  <a:pt x="117221" y="14351"/>
                </a:moveTo>
                <a:lnTo>
                  <a:pt x="95758" y="14351"/>
                </a:lnTo>
                <a:lnTo>
                  <a:pt x="95758" y="28575"/>
                </a:lnTo>
                <a:lnTo>
                  <a:pt x="117221" y="28575"/>
                </a:lnTo>
                <a:lnTo>
                  <a:pt x="131445" y="21462"/>
                </a:lnTo>
                <a:lnTo>
                  <a:pt x="117221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10629" y="2252598"/>
            <a:ext cx="1553210" cy="1013460"/>
          </a:xfrm>
          <a:custGeom>
            <a:avLst/>
            <a:gdLst/>
            <a:ahLst/>
            <a:cxnLst/>
            <a:rect l="l" t="t" r="r" b="b"/>
            <a:pathLst>
              <a:path w="1553210" h="1013460">
                <a:moveTo>
                  <a:pt x="0" y="1013460"/>
                </a:moveTo>
                <a:lnTo>
                  <a:pt x="1552955" y="1013460"/>
                </a:lnTo>
                <a:lnTo>
                  <a:pt x="1552955" y="0"/>
                </a:lnTo>
                <a:lnTo>
                  <a:pt x="0" y="0"/>
                </a:lnTo>
                <a:lnTo>
                  <a:pt x="0" y="1013460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93203" y="2510929"/>
            <a:ext cx="215658" cy="520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71867" y="2652661"/>
            <a:ext cx="229374" cy="2369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20635" y="2529204"/>
            <a:ext cx="163067" cy="4663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620635" y="2529204"/>
            <a:ext cx="163195" cy="466725"/>
          </a:xfrm>
          <a:prstGeom prst="rect">
            <a:avLst/>
          </a:prstGeom>
          <a:ln w="9525">
            <a:solidFill>
              <a:srgbClr val="E36C09"/>
            </a:solidFill>
          </a:ln>
        </p:spPr>
        <p:txBody>
          <a:bodyPr vert="vert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700" spc="-15" dirty="0">
                <a:latin typeface="Calibri" panose="020F0502020204030204"/>
                <a:cs typeface="Calibri" panose="020F0502020204030204"/>
              </a:rPr>
              <a:t>FC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20813" y="2741675"/>
            <a:ext cx="101600" cy="43180"/>
          </a:xfrm>
          <a:custGeom>
            <a:avLst/>
            <a:gdLst/>
            <a:ahLst/>
            <a:cxnLst/>
            <a:rect l="l" t="t" r="r" b="b"/>
            <a:pathLst>
              <a:path w="101600" h="43180">
                <a:moveTo>
                  <a:pt x="58547" y="0"/>
                </a:moveTo>
                <a:lnTo>
                  <a:pt x="58547" y="42926"/>
                </a:lnTo>
                <a:lnTo>
                  <a:pt x="87249" y="28575"/>
                </a:lnTo>
                <a:lnTo>
                  <a:pt x="65786" y="28575"/>
                </a:lnTo>
                <a:lnTo>
                  <a:pt x="65786" y="14351"/>
                </a:lnTo>
                <a:lnTo>
                  <a:pt x="87249" y="14351"/>
                </a:lnTo>
                <a:lnTo>
                  <a:pt x="58547" y="0"/>
                </a:lnTo>
                <a:close/>
              </a:path>
              <a:path w="101600" h="43180">
                <a:moveTo>
                  <a:pt x="58547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58547" y="28575"/>
                </a:lnTo>
                <a:lnTo>
                  <a:pt x="58547" y="14351"/>
                </a:lnTo>
                <a:close/>
              </a:path>
              <a:path w="101600" h="43180">
                <a:moveTo>
                  <a:pt x="87249" y="14351"/>
                </a:moveTo>
                <a:lnTo>
                  <a:pt x="65786" y="14351"/>
                </a:lnTo>
                <a:lnTo>
                  <a:pt x="65786" y="28575"/>
                </a:lnTo>
                <a:lnTo>
                  <a:pt x="87249" y="28575"/>
                </a:lnTo>
                <a:lnTo>
                  <a:pt x="101473" y="21462"/>
                </a:lnTo>
                <a:lnTo>
                  <a:pt x="87249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72223" y="2510929"/>
            <a:ext cx="214109" cy="52043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49363" y="2652661"/>
            <a:ext cx="229374" cy="2369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99655" y="2529204"/>
            <a:ext cx="161544" cy="46634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99655" y="2529204"/>
            <a:ext cx="161925" cy="466725"/>
          </a:xfrm>
          <a:prstGeom prst="rect">
            <a:avLst/>
          </a:prstGeom>
          <a:ln w="9525">
            <a:solidFill>
              <a:srgbClr val="E36C09"/>
            </a:solidFill>
          </a:ln>
        </p:spPr>
        <p:txBody>
          <a:bodyPr vert="vert" wrap="square" lIns="0" tIns="215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0"/>
              </a:spcBef>
            </a:pPr>
            <a:r>
              <a:rPr sz="700" spc="-15" dirty="0">
                <a:latin typeface="Calibri" panose="020F0502020204030204"/>
                <a:cs typeface="Calibri" panose="020F0502020204030204"/>
              </a:rPr>
              <a:t>FC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298310" y="2741675"/>
            <a:ext cx="101600" cy="43180"/>
          </a:xfrm>
          <a:custGeom>
            <a:avLst/>
            <a:gdLst/>
            <a:ahLst/>
            <a:cxnLst/>
            <a:rect l="l" t="t" r="r" b="b"/>
            <a:pathLst>
              <a:path w="101600" h="43180">
                <a:moveTo>
                  <a:pt x="58547" y="0"/>
                </a:moveTo>
                <a:lnTo>
                  <a:pt x="58547" y="42926"/>
                </a:lnTo>
                <a:lnTo>
                  <a:pt x="87249" y="28575"/>
                </a:lnTo>
                <a:lnTo>
                  <a:pt x="65786" y="28575"/>
                </a:lnTo>
                <a:lnTo>
                  <a:pt x="65786" y="14351"/>
                </a:lnTo>
                <a:lnTo>
                  <a:pt x="87249" y="14351"/>
                </a:lnTo>
                <a:lnTo>
                  <a:pt x="58547" y="0"/>
                </a:lnTo>
                <a:close/>
              </a:path>
              <a:path w="101600" h="43180">
                <a:moveTo>
                  <a:pt x="58547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58547" y="28575"/>
                </a:lnTo>
                <a:lnTo>
                  <a:pt x="58547" y="14351"/>
                </a:lnTo>
                <a:close/>
              </a:path>
              <a:path w="101600" h="43180">
                <a:moveTo>
                  <a:pt x="87249" y="14351"/>
                </a:moveTo>
                <a:lnTo>
                  <a:pt x="65786" y="14351"/>
                </a:lnTo>
                <a:lnTo>
                  <a:pt x="65786" y="28575"/>
                </a:lnTo>
                <a:lnTo>
                  <a:pt x="87249" y="28575"/>
                </a:lnTo>
                <a:lnTo>
                  <a:pt x="101473" y="21462"/>
                </a:lnTo>
                <a:lnTo>
                  <a:pt x="87249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02431" y="2376804"/>
            <a:ext cx="161544" cy="71170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02431" y="2376804"/>
            <a:ext cx="161925" cy="71183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vert" wrap="square" lIns="0" tIns="2159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70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AveragePool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38651" y="2481960"/>
            <a:ext cx="214109" cy="51892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15791" y="2501760"/>
            <a:ext cx="230885" cy="4762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66083" y="2500248"/>
            <a:ext cx="161544" cy="4648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66083" y="2500248"/>
            <a:ext cx="161925" cy="464820"/>
          </a:xfrm>
          <a:prstGeom prst="rect">
            <a:avLst/>
          </a:prstGeom>
          <a:ln w="9525">
            <a:solidFill>
              <a:srgbClr val="FFC000"/>
            </a:solidFill>
          </a:ln>
        </p:spPr>
        <p:txBody>
          <a:bodyPr vert="vert" wrap="square" lIns="0" tIns="2159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70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Conv</a:t>
            </a:r>
            <a:r>
              <a:rPr sz="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1x1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76267" y="2242692"/>
            <a:ext cx="214109" cy="9974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53407" y="2328036"/>
            <a:ext cx="230886" cy="8252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03699" y="2260980"/>
            <a:ext cx="161544" cy="9433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03699" y="2260980"/>
            <a:ext cx="161925" cy="943610"/>
          </a:xfrm>
          <a:custGeom>
            <a:avLst/>
            <a:gdLst/>
            <a:ahLst/>
            <a:cxnLst/>
            <a:rect l="l" t="t" r="r" b="b"/>
            <a:pathLst>
              <a:path w="161925" h="943610">
                <a:moveTo>
                  <a:pt x="0" y="943356"/>
                </a:moveTo>
                <a:lnTo>
                  <a:pt x="161544" y="943356"/>
                </a:lnTo>
                <a:lnTo>
                  <a:pt x="161544" y="0"/>
                </a:lnTo>
                <a:lnTo>
                  <a:pt x="0" y="0"/>
                </a:lnTo>
                <a:lnTo>
                  <a:pt x="0" y="94335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719828" y="2382646"/>
            <a:ext cx="114300" cy="7010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760"/>
              </a:lnSpc>
            </a:pPr>
            <a:r>
              <a:rPr sz="700" spc="-5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spc="-10" dirty="0">
                <a:latin typeface="Calibri" panose="020F0502020204030204"/>
                <a:cs typeface="Calibri" panose="020F0502020204030204"/>
              </a:rPr>
              <a:t>Activation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935347" y="2376804"/>
            <a:ext cx="201942" cy="7292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906391" y="2486532"/>
            <a:ext cx="229374" cy="50977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962780" y="2395092"/>
            <a:ext cx="149860" cy="67564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vert" wrap="square" lIns="0" tIns="1587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25"/>
              </a:spcBef>
            </a:pPr>
            <a:r>
              <a:rPr sz="700" spc="-5" dirty="0">
                <a:latin typeface="Calibri" panose="020F0502020204030204"/>
                <a:cs typeface="Calibri" panose="020F0502020204030204"/>
              </a:rPr>
              <a:t>Softmax 0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866005" y="2711195"/>
            <a:ext cx="97155" cy="43180"/>
          </a:xfrm>
          <a:custGeom>
            <a:avLst/>
            <a:gdLst/>
            <a:ahLst/>
            <a:cxnLst/>
            <a:rect l="l" t="t" r="r" b="b"/>
            <a:pathLst>
              <a:path w="97155" h="43180">
                <a:moveTo>
                  <a:pt x="54356" y="0"/>
                </a:moveTo>
                <a:lnTo>
                  <a:pt x="54356" y="42925"/>
                </a:lnTo>
                <a:lnTo>
                  <a:pt x="82973" y="28575"/>
                </a:lnTo>
                <a:lnTo>
                  <a:pt x="61468" y="28575"/>
                </a:lnTo>
                <a:lnTo>
                  <a:pt x="61468" y="14350"/>
                </a:lnTo>
                <a:lnTo>
                  <a:pt x="82973" y="14350"/>
                </a:lnTo>
                <a:lnTo>
                  <a:pt x="54356" y="0"/>
                </a:lnTo>
                <a:close/>
              </a:path>
              <a:path w="97155" h="43180">
                <a:moveTo>
                  <a:pt x="54356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4356" y="28575"/>
                </a:lnTo>
                <a:lnTo>
                  <a:pt x="54356" y="14350"/>
                </a:lnTo>
                <a:close/>
              </a:path>
              <a:path w="97155" h="43180">
                <a:moveTo>
                  <a:pt x="82973" y="14350"/>
                </a:moveTo>
                <a:lnTo>
                  <a:pt x="61468" y="14350"/>
                </a:lnTo>
                <a:lnTo>
                  <a:pt x="61468" y="28575"/>
                </a:lnTo>
                <a:lnTo>
                  <a:pt x="82973" y="28575"/>
                </a:lnTo>
                <a:lnTo>
                  <a:pt x="97155" y="21462"/>
                </a:lnTo>
                <a:lnTo>
                  <a:pt x="82973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631309" y="2711195"/>
            <a:ext cx="73025" cy="43180"/>
          </a:xfrm>
          <a:custGeom>
            <a:avLst/>
            <a:gdLst/>
            <a:ahLst/>
            <a:cxnLst/>
            <a:rect l="l" t="t" r="r" b="b"/>
            <a:pathLst>
              <a:path w="73025" h="43180">
                <a:moveTo>
                  <a:pt x="29844" y="0"/>
                </a:moveTo>
                <a:lnTo>
                  <a:pt x="29844" y="42925"/>
                </a:lnTo>
                <a:lnTo>
                  <a:pt x="58462" y="28575"/>
                </a:lnTo>
                <a:lnTo>
                  <a:pt x="36956" y="28575"/>
                </a:lnTo>
                <a:lnTo>
                  <a:pt x="36956" y="14350"/>
                </a:lnTo>
                <a:lnTo>
                  <a:pt x="58462" y="14350"/>
                </a:lnTo>
                <a:lnTo>
                  <a:pt x="29844" y="0"/>
                </a:lnTo>
                <a:close/>
              </a:path>
              <a:path w="73025" h="43180">
                <a:moveTo>
                  <a:pt x="29844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29844" y="28575"/>
                </a:lnTo>
                <a:lnTo>
                  <a:pt x="29844" y="14350"/>
                </a:lnTo>
                <a:close/>
              </a:path>
              <a:path w="73025" h="43180">
                <a:moveTo>
                  <a:pt x="58462" y="14350"/>
                </a:moveTo>
                <a:lnTo>
                  <a:pt x="36956" y="14350"/>
                </a:lnTo>
                <a:lnTo>
                  <a:pt x="36956" y="28575"/>
                </a:lnTo>
                <a:lnTo>
                  <a:pt x="58462" y="28575"/>
                </a:lnTo>
                <a:lnTo>
                  <a:pt x="72643" y="21462"/>
                </a:lnTo>
                <a:lnTo>
                  <a:pt x="58462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64737" y="2711195"/>
            <a:ext cx="101600" cy="43180"/>
          </a:xfrm>
          <a:custGeom>
            <a:avLst/>
            <a:gdLst/>
            <a:ahLst/>
            <a:cxnLst/>
            <a:rect l="l" t="t" r="r" b="b"/>
            <a:pathLst>
              <a:path w="101600" h="43180">
                <a:moveTo>
                  <a:pt x="58546" y="0"/>
                </a:moveTo>
                <a:lnTo>
                  <a:pt x="58546" y="42925"/>
                </a:lnTo>
                <a:lnTo>
                  <a:pt x="87249" y="28575"/>
                </a:lnTo>
                <a:lnTo>
                  <a:pt x="65786" y="28575"/>
                </a:lnTo>
                <a:lnTo>
                  <a:pt x="65786" y="14350"/>
                </a:lnTo>
                <a:lnTo>
                  <a:pt x="87249" y="14350"/>
                </a:lnTo>
                <a:lnTo>
                  <a:pt x="58546" y="0"/>
                </a:lnTo>
                <a:close/>
              </a:path>
              <a:path w="101600" h="43180">
                <a:moveTo>
                  <a:pt x="58546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8546" y="28575"/>
                </a:lnTo>
                <a:lnTo>
                  <a:pt x="58546" y="14350"/>
                </a:lnTo>
                <a:close/>
              </a:path>
              <a:path w="101600" h="43180">
                <a:moveTo>
                  <a:pt x="87249" y="14350"/>
                </a:moveTo>
                <a:lnTo>
                  <a:pt x="65786" y="14350"/>
                </a:lnTo>
                <a:lnTo>
                  <a:pt x="65786" y="28575"/>
                </a:lnTo>
                <a:lnTo>
                  <a:pt x="87249" y="28575"/>
                </a:lnTo>
                <a:lnTo>
                  <a:pt x="101473" y="21462"/>
                </a:lnTo>
                <a:lnTo>
                  <a:pt x="87249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72129" y="2711195"/>
            <a:ext cx="131445" cy="43180"/>
          </a:xfrm>
          <a:custGeom>
            <a:avLst/>
            <a:gdLst/>
            <a:ahLst/>
            <a:cxnLst/>
            <a:rect l="l" t="t" r="r" b="b"/>
            <a:pathLst>
              <a:path w="131445" h="43180">
                <a:moveTo>
                  <a:pt x="88557" y="0"/>
                </a:moveTo>
                <a:lnTo>
                  <a:pt x="88557" y="42925"/>
                </a:lnTo>
                <a:lnTo>
                  <a:pt x="117216" y="28575"/>
                </a:lnTo>
                <a:lnTo>
                  <a:pt x="95694" y="28575"/>
                </a:lnTo>
                <a:lnTo>
                  <a:pt x="95694" y="14350"/>
                </a:lnTo>
                <a:lnTo>
                  <a:pt x="117216" y="14350"/>
                </a:lnTo>
                <a:lnTo>
                  <a:pt x="88557" y="0"/>
                </a:lnTo>
                <a:close/>
              </a:path>
              <a:path w="131445" h="43180">
                <a:moveTo>
                  <a:pt x="8855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88557" y="28575"/>
                </a:lnTo>
                <a:lnTo>
                  <a:pt x="88557" y="14350"/>
                </a:lnTo>
                <a:close/>
              </a:path>
              <a:path w="131445" h="43180">
                <a:moveTo>
                  <a:pt x="117216" y="14350"/>
                </a:moveTo>
                <a:lnTo>
                  <a:pt x="95694" y="14350"/>
                </a:lnTo>
                <a:lnTo>
                  <a:pt x="95694" y="28575"/>
                </a:lnTo>
                <a:lnTo>
                  <a:pt x="117216" y="28575"/>
                </a:lnTo>
                <a:lnTo>
                  <a:pt x="131419" y="21462"/>
                </a:lnTo>
                <a:lnTo>
                  <a:pt x="117216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42233" y="2222118"/>
            <a:ext cx="1551940" cy="1013460"/>
          </a:xfrm>
          <a:custGeom>
            <a:avLst/>
            <a:gdLst/>
            <a:ahLst/>
            <a:cxnLst/>
            <a:rect l="l" t="t" r="r" b="b"/>
            <a:pathLst>
              <a:path w="1551939" h="1013460">
                <a:moveTo>
                  <a:pt x="0" y="1013459"/>
                </a:moveTo>
                <a:lnTo>
                  <a:pt x="1551431" y="1013459"/>
                </a:lnTo>
                <a:lnTo>
                  <a:pt x="1551431" y="0"/>
                </a:lnTo>
                <a:lnTo>
                  <a:pt x="0" y="0"/>
                </a:lnTo>
                <a:lnTo>
                  <a:pt x="0" y="1013459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424807" y="2480449"/>
            <a:ext cx="215658" cy="520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403471" y="2622181"/>
            <a:ext cx="229374" cy="2369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452239" y="2498725"/>
            <a:ext cx="163068" cy="46634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452239" y="2498725"/>
            <a:ext cx="163195" cy="466725"/>
          </a:xfrm>
          <a:prstGeom prst="rect">
            <a:avLst/>
          </a:prstGeom>
          <a:ln w="9525">
            <a:solidFill>
              <a:srgbClr val="E36C09"/>
            </a:solidFill>
          </a:ln>
        </p:spPr>
        <p:txBody>
          <a:bodyPr vert="vert" wrap="square" lIns="0" tIns="222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5"/>
              </a:spcBef>
            </a:pPr>
            <a:r>
              <a:rPr sz="700" spc="-15" dirty="0">
                <a:latin typeface="Calibri" panose="020F0502020204030204"/>
                <a:cs typeface="Calibri" panose="020F0502020204030204"/>
              </a:rPr>
              <a:t>FC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352417" y="2711195"/>
            <a:ext cx="101600" cy="43180"/>
          </a:xfrm>
          <a:custGeom>
            <a:avLst/>
            <a:gdLst/>
            <a:ahLst/>
            <a:cxnLst/>
            <a:rect l="l" t="t" r="r" b="b"/>
            <a:pathLst>
              <a:path w="101600" h="43180">
                <a:moveTo>
                  <a:pt x="58546" y="0"/>
                </a:moveTo>
                <a:lnTo>
                  <a:pt x="58546" y="42925"/>
                </a:lnTo>
                <a:lnTo>
                  <a:pt x="87249" y="28575"/>
                </a:lnTo>
                <a:lnTo>
                  <a:pt x="65786" y="28575"/>
                </a:lnTo>
                <a:lnTo>
                  <a:pt x="65786" y="14350"/>
                </a:lnTo>
                <a:lnTo>
                  <a:pt x="87249" y="14350"/>
                </a:lnTo>
                <a:lnTo>
                  <a:pt x="58546" y="0"/>
                </a:lnTo>
                <a:close/>
              </a:path>
              <a:path w="101600" h="43180">
                <a:moveTo>
                  <a:pt x="58546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8546" y="28575"/>
                </a:lnTo>
                <a:lnTo>
                  <a:pt x="58546" y="14350"/>
                </a:lnTo>
                <a:close/>
              </a:path>
              <a:path w="101600" h="43180">
                <a:moveTo>
                  <a:pt x="87249" y="14350"/>
                </a:moveTo>
                <a:lnTo>
                  <a:pt x="65786" y="14350"/>
                </a:lnTo>
                <a:lnTo>
                  <a:pt x="65786" y="28575"/>
                </a:lnTo>
                <a:lnTo>
                  <a:pt x="87249" y="28575"/>
                </a:lnTo>
                <a:lnTo>
                  <a:pt x="101473" y="21462"/>
                </a:lnTo>
                <a:lnTo>
                  <a:pt x="87249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02303" y="2480449"/>
            <a:ext cx="215658" cy="520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80967" y="2622181"/>
            <a:ext cx="229374" cy="2369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29735" y="2498725"/>
            <a:ext cx="163068" cy="46634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229735" y="2498725"/>
            <a:ext cx="163195" cy="466725"/>
          </a:xfrm>
          <a:prstGeom prst="rect">
            <a:avLst/>
          </a:prstGeom>
          <a:ln w="9525">
            <a:solidFill>
              <a:srgbClr val="E36C09"/>
            </a:solidFill>
          </a:ln>
        </p:spPr>
        <p:txBody>
          <a:bodyPr vert="vert" wrap="square" lIns="0" tIns="222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5"/>
              </a:spcBef>
            </a:pPr>
            <a:r>
              <a:rPr sz="700" spc="-15" dirty="0">
                <a:latin typeface="Calibri" panose="020F0502020204030204"/>
                <a:cs typeface="Calibri" panose="020F0502020204030204"/>
              </a:rPr>
              <a:t>FC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129913" y="2711195"/>
            <a:ext cx="101600" cy="43180"/>
          </a:xfrm>
          <a:custGeom>
            <a:avLst/>
            <a:gdLst/>
            <a:ahLst/>
            <a:cxnLst/>
            <a:rect l="l" t="t" r="r" b="b"/>
            <a:pathLst>
              <a:path w="101600" h="43180">
                <a:moveTo>
                  <a:pt x="58547" y="0"/>
                </a:moveTo>
                <a:lnTo>
                  <a:pt x="58547" y="42925"/>
                </a:lnTo>
                <a:lnTo>
                  <a:pt x="87249" y="28575"/>
                </a:lnTo>
                <a:lnTo>
                  <a:pt x="65786" y="28575"/>
                </a:lnTo>
                <a:lnTo>
                  <a:pt x="65786" y="14350"/>
                </a:lnTo>
                <a:lnTo>
                  <a:pt x="87249" y="14350"/>
                </a:lnTo>
                <a:lnTo>
                  <a:pt x="58547" y="0"/>
                </a:lnTo>
                <a:close/>
              </a:path>
              <a:path w="101600" h="43180">
                <a:moveTo>
                  <a:pt x="58547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58547" y="28575"/>
                </a:lnTo>
                <a:lnTo>
                  <a:pt x="58547" y="14350"/>
                </a:lnTo>
                <a:close/>
              </a:path>
              <a:path w="101600" h="43180">
                <a:moveTo>
                  <a:pt x="87249" y="14350"/>
                </a:moveTo>
                <a:lnTo>
                  <a:pt x="65786" y="14350"/>
                </a:lnTo>
                <a:lnTo>
                  <a:pt x="65786" y="28575"/>
                </a:lnTo>
                <a:lnTo>
                  <a:pt x="87249" y="28575"/>
                </a:lnTo>
                <a:lnTo>
                  <a:pt x="101473" y="21462"/>
                </a:lnTo>
                <a:lnTo>
                  <a:pt x="87249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40021" y="2144775"/>
            <a:ext cx="456565" cy="313055"/>
          </a:xfrm>
          <a:custGeom>
            <a:avLst/>
            <a:gdLst/>
            <a:ahLst/>
            <a:cxnLst/>
            <a:rect l="l" t="t" r="r" b="b"/>
            <a:pathLst>
              <a:path w="456564" h="313055">
                <a:moveTo>
                  <a:pt x="456565" y="75057"/>
                </a:moveTo>
                <a:lnTo>
                  <a:pt x="95885" y="274955"/>
                </a:lnTo>
                <a:lnTo>
                  <a:pt x="116712" y="312547"/>
                </a:lnTo>
                <a:lnTo>
                  <a:pt x="0" y="279019"/>
                </a:lnTo>
                <a:lnTo>
                  <a:pt x="33528" y="162433"/>
                </a:lnTo>
                <a:lnTo>
                  <a:pt x="54229" y="199898"/>
                </a:lnTo>
                <a:lnTo>
                  <a:pt x="415036" y="0"/>
                </a:lnTo>
                <a:lnTo>
                  <a:pt x="456565" y="7505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196202" y="1982850"/>
            <a:ext cx="163195" cy="274320"/>
          </a:xfrm>
          <a:custGeom>
            <a:avLst/>
            <a:gdLst/>
            <a:ahLst/>
            <a:cxnLst/>
            <a:rect l="l" t="t" r="r" b="b"/>
            <a:pathLst>
              <a:path w="163195" h="274319">
                <a:moveTo>
                  <a:pt x="122300" y="0"/>
                </a:moveTo>
                <a:lnTo>
                  <a:pt x="122300" y="192786"/>
                </a:lnTo>
                <a:lnTo>
                  <a:pt x="163068" y="192786"/>
                </a:lnTo>
                <a:lnTo>
                  <a:pt x="81534" y="274320"/>
                </a:lnTo>
                <a:lnTo>
                  <a:pt x="0" y="192786"/>
                </a:lnTo>
                <a:lnTo>
                  <a:pt x="40767" y="192786"/>
                </a:lnTo>
                <a:lnTo>
                  <a:pt x="40767" y="0"/>
                </a:lnTo>
                <a:lnTo>
                  <a:pt x="12230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2695950" y="2187320"/>
            <a:ext cx="6877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损失0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701788" y="1661795"/>
            <a:ext cx="3829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 类损失1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6162" y="1604153"/>
            <a:ext cx="751840" cy="337185"/>
          </a:xfrm>
          <a:custGeom>
            <a:avLst/>
            <a:gdLst/>
            <a:ahLst/>
            <a:cxnLst/>
            <a:rect l="l" t="t" r="r" b="b"/>
            <a:pathLst>
              <a:path w="751839" h="337185">
                <a:moveTo>
                  <a:pt x="0" y="336803"/>
                </a:moveTo>
                <a:lnTo>
                  <a:pt x="751332" y="336803"/>
                </a:lnTo>
                <a:lnTo>
                  <a:pt x="751332" y="0"/>
                </a:lnTo>
                <a:lnTo>
                  <a:pt x="0" y="0"/>
                </a:lnTo>
                <a:lnTo>
                  <a:pt x="0" y="33680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4206" y="1814465"/>
            <a:ext cx="749935" cy="337185"/>
          </a:xfrm>
          <a:custGeom>
            <a:avLst/>
            <a:gdLst/>
            <a:ahLst/>
            <a:cxnLst/>
            <a:rect l="l" t="t" r="r" b="b"/>
            <a:pathLst>
              <a:path w="749935" h="337185">
                <a:moveTo>
                  <a:pt x="0" y="336803"/>
                </a:moveTo>
                <a:lnTo>
                  <a:pt x="749807" y="336803"/>
                </a:lnTo>
                <a:lnTo>
                  <a:pt x="749807" y="0"/>
                </a:lnTo>
                <a:lnTo>
                  <a:pt x="0" y="0"/>
                </a:lnTo>
                <a:lnTo>
                  <a:pt x="0" y="33680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8091" y="1638824"/>
            <a:ext cx="5048250" cy="994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46220" marR="63627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 类损失1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R="296545" algn="ct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损失0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155575" indent="-142875">
              <a:lnSpc>
                <a:spcPct val="100000"/>
              </a:lnSpc>
              <a:spcBef>
                <a:spcPts val="12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原因</a:t>
            </a:r>
            <a:r>
              <a:rPr sz="8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虽然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单元能够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度解决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度消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但是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完全解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决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深层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络难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。离输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155575">
              <a:lnSpc>
                <a:spcPct val="100000"/>
              </a:lnSpc>
              <a:spcBef>
                <a:spcPts val="48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出远的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就不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靠近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得好。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9818" y="171322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6161" y="1626234"/>
            <a:ext cx="751840" cy="337185"/>
          </a:xfrm>
          <a:custGeom>
            <a:avLst/>
            <a:gdLst/>
            <a:ahLst/>
            <a:cxnLst/>
            <a:rect l="l" t="t" r="r" b="b"/>
            <a:pathLst>
              <a:path w="751839" h="337185">
                <a:moveTo>
                  <a:pt x="0" y="336804"/>
                </a:moveTo>
                <a:lnTo>
                  <a:pt x="751332" y="336804"/>
                </a:lnTo>
                <a:lnTo>
                  <a:pt x="751332" y="0"/>
                </a:lnTo>
                <a:lnTo>
                  <a:pt x="0" y="0"/>
                </a:lnTo>
                <a:lnTo>
                  <a:pt x="0" y="33680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4205" y="1836546"/>
            <a:ext cx="749935" cy="337185"/>
          </a:xfrm>
          <a:custGeom>
            <a:avLst/>
            <a:gdLst/>
            <a:ahLst/>
            <a:cxnLst/>
            <a:rect l="l" t="t" r="r" b="b"/>
            <a:pathLst>
              <a:path w="749935" h="337185">
                <a:moveTo>
                  <a:pt x="0" y="336804"/>
                </a:moveTo>
                <a:lnTo>
                  <a:pt x="749807" y="336804"/>
                </a:lnTo>
                <a:lnTo>
                  <a:pt x="749807" y="0"/>
                </a:lnTo>
                <a:lnTo>
                  <a:pt x="0" y="0"/>
                </a:lnTo>
                <a:lnTo>
                  <a:pt x="0" y="33680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091" y="1661795"/>
            <a:ext cx="5048250" cy="1360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46220" marR="63627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 类损失1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2040255">
              <a:lnSpc>
                <a:spcPct val="100000"/>
              </a:lnSpc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损失0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155575" indent="-142875">
              <a:lnSpc>
                <a:spcPct val="100000"/>
              </a:lnSpc>
              <a:spcBef>
                <a:spcPts val="12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原因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虽然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单元能够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度解决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度消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但是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完全解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决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深层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络难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。离输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155575">
              <a:lnSpc>
                <a:spcPct val="100000"/>
              </a:lnSpc>
              <a:spcBef>
                <a:spcPts val="48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出远的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就不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靠近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出的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得好。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155575" marR="5715" indent="-142875">
              <a:lnSpc>
                <a:spcPct val="15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结果</a:t>
            </a:r>
            <a:r>
              <a:rPr sz="8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让低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层学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特征也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很好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区分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力，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从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而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网络更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地被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练，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而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且低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积层学 到了好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也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能加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整个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收敛。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9819" y="148733"/>
            <a:ext cx="288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经典网络解析——GoogLeNet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6162" y="1604153"/>
            <a:ext cx="751840" cy="337185"/>
          </a:xfrm>
          <a:custGeom>
            <a:avLst/>
            <a:gdLst/>
            <a:ahLst/>
            <a:cxnLst/>
            <a:rect l="l" t="t" r="r" b="b"/>
            <a:pathLst>
              <a:path w="751839" h="337185">
                <a:moveTo>
                  <a:pt x="0" y="336803"/>
                </a:moveTo>
                <a:lnTo>
                  <a:pt x="751332" y="336803"/>
                </a:lnTo>
                <a:lnTo>
                  <a:pt x="751332" y="0"/>
                </a:lnTo>
                <a:lnTo>
                  <a:pt x="0" y="0"/>
                </a:lnTo>
                <a:lnTo>
                  <a:pt x="0" y="33680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4206" y="1814465"/>
            <a:ext cx="749935" cy="337185"/>
          </a:xfrm>
          <a:custGeom>
            <a:avLst/>
            <a:gdLst/>
            <a:ahLst/>
            <a:cxnLst/>
            <a:rect l="l" t="t" r="r" b="b"/>
            <a:pathLst>
              <a:path w="749935" h="337185">
                <a:moveTo>
                  <a:pt x="0" y="336803"/>
                </a:moveTo>
                <a:lnTo>
                  <a:pt x="749807" y="336803"/>
                </a:lnTo>
                <a:lnTo>
                  <a:pt x="749807" y="0"/>
                </a:lnTo>
                <a:lnTo>
                  <a:pt x="0" y="0"/>
                </a:lnTo>
                <a:lnTo>
                  <a:pt x="0" y="33680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06257" y="823865"/>
            <a:ext cx="250190" cy="337185"/>
          </a:xfrm>
          <a:custGeom>
            <a:avLst/>
            <a:gdLst/>
            <a:ahLst/>
            <a:cxnLst/>
            <a:rect l="l" t="t" r="r" b="b"/>
            <a:pathLst>
              <a:path w="250189" h="337184">
                <a:moveTo>
                  <a:pt x="0" y="336803"/>
                </a:moveTo>
                <a:lnTo>
                  <a:pt x="249936" y="336803"/>
                </a:lnTo>
                <a:lnTo>
                  <a:pt x="249936" y="0"/>
                </a:lnTo>
                <a:lnTo>
                  <a:pt x="0" y="0"/>
                </a:lnTo>
                <a:lnTo>
                  <a:pt x="0" y="33680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7843" y="1638824"/>
            <a:ext cx="5605145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6595" marR="733425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 类损失1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58420" algn="ct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辅助分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损失0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615950" indent="-143510">
              <a:lnSpc>
                <a:spcPct val="100000"/>
              </a:lnSpc>
              <a:spcBef>
                <a:spcPts val="125"/>
              </a:spcBef>
              <a:buFont typeface="Wingdings" panose="05000000000000000000"/>
              <a:buChar char=""/>
              <a:tabLst>
                <a:tab pos="616585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原因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虽然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单元能够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定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度解决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度消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但是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并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完全解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决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深层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络难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问</a:t>
            </a:r>
            <a:r>
              <a:rPr sz="800" spc="-10" dirty="0">
                <a:latin typeface="黑体" panose="02010609060101010101" charset="-122"/>
                <a:cs typeface="黑体" panose="02010609060101010101" charset="-122"/>
              </a:rPr>
              <a:t>题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。离输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615950">
              <a:lnSpc>
                <a:spcPct val="100000"/>
              </a:lnSpc>
              <a:spcBef>
                <a:spcPts val="48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出远的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就不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靠近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出的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练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得好。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615950" marR="102235" indent="-143510">
              <a:lnSpc>
                <a:spcPct val="150000"/>
              </a:lnSpc>
              <a:buFont typeface="Wingdings" panose="05000000000000000000"/>
              <a:buChar char=""/>
              <a:tabLst>
                <a:tab pos="616585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结果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让低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的卷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层学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到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特征也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很好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区分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能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力，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从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而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让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网络更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好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地被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训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练，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而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且低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积层学 到了好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特征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也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能加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速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整个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收敛。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 marL="615950" indent="-143510">
              <a:lnSpc>
                <a:spcPct val="100000"/>
              </a:lnSpc>
              <a:spcBef>
                <a:spcPts val="480"/>
              </a:spcBef>
              <a:buFont typeface="Wingdings" panose="05000000000000000000"/>
              <a:buChar char=""/>
              <a:tabLst>
                <a:tab pos="616585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网络推</a:t>
            </a:r>
            <a:r>
              <a:rPr sz="8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断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——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仅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利用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络最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后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出作为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测结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果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，忽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略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辅助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分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器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的输出。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tabLst>
                <a:tab pos="2275840" algn="l"/>
                <a:tab pos="5405755" algn="l"/>
              </a:tabLst>
            </a:pPr>
            <a:r>
              <a:rPr sz="90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90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368" y="184784"/>
            <a:ext cx="4923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/>
              <a:t>问题1:平均池</a:t>
            </a:r>
            <a:r>
              <a:rPr sz="1600" dirty="0"/>
              <a:t>化</a:t>
            </a:r>
            <a:r>
              <a:rPr sz="1600" spc="-5" dirty="0"/>
              <a:t>向量化与直接</a:t>
            </a:r>
            <a:r>
              <a:rPr sz="1600" spc="-15" dirty="0"/>
              <a:t>展</a:t>
            </a:r>
            <a:r>
              <a:rPr sz="1600" spc="-5" dirty="0"/>
              <a:t>开向量</a:t>
            </a:r>
            <a:r>
              <a:rPr sz="1600" spc="5" dirty="0"/>
              <a:t>化</a:t>
            </a:r>
            <a:r>
              <a:rPr sz="1600" spc="-5" dirty="0"/>
              <a:t>有什</a:t>
            </a:r>
            <a:r>
              <a:rPr sz="1600" spc="-15" dirty="0"/>
              <a:t>么</a:t>
            </a:r>
            <a:r>
              <a:rPr sz="1600" spc="-5" dirty="0"/>
              <a:t>区别</a:t>
            </a:r>
            <a:r>
              <a:rPr sz="1600" spc="-15" dirty="0"/>
              <a:t>？</a:t>
            </a:r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78890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4"/>
                </a:moveTo>
                <a:lnTo>
                  <a:pt x="464820" y="481584"/>
                </a:lnTo>
                <a:lnTo>
                  <a:pt x="464820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65808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0"/>
                </a:lnTo>
                <a:lnTo>
                  <a:pt x="188722" y="561847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908680"/>
            <a:ext cx="832103" cy="188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908680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5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82532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79484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600832"/>
            <a:ext cx="544067" cy="188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600832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5"/>
                </a:moveTo>
                <a:lnTo>
                  <a:pt x="544067" y="188975"/>
                </a:lnTo>
                <a:lnTo>
                  <a:pt x="544067" y="0"/>
                </a:lnTo>
                <a:lnTo>
                  <a:pt x="0" y="0"/>
                </a:lnTo>
                <a:lnTo>
                  <a:pt x="0" y="188975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91994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5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308212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305189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26512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26512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5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1" y="2020201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7" y="2009508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38476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212975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7"/>
                </a:lnTo>
                <a:lnTo>
                  <a:pt x="28575" y="113537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516250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2"/>
                </a:lnTo>
                <a:lnTo>
                  <a:pt x="28575" y="84962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90570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7"/>
                </a:lnTo>
                <a:lnTo>
                  <a:pt x="28575" y="118617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98418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70">
                <a:moveTo>
                  <a:pt x="28575" y="35686"/>
                </a:moveTo>
                <a:lnTo>
                  <a:pt x="14350" y="35686"/>
                </a:lnTo>
                <a:lnTo>
                  <a:pt x="14350" y="153542"/>
                </a:lnTo>
                <a:lnTo>
                  <a:pt x="28575" y="153542"/>
                </a:lnTo>
                <a:lnTo>
                  <a:pt x="28575" y="35686"/>
                </a:lnTo>
                <a:close/>
              </a:path>
              <a:path w="43179" h="153670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153670">
                <a:moveTo>
                  <a:pt x="39359" y="35686"/>
                </a:moveTo>
                <a:lnTo>
                  <a:pt x="28575" y="35686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60869" y="2645028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8"/>
                </a:lnTo>
                <a:lnTo>
                  <a:pt x="620267" y="201168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8"/>
                </a:lnTo>
                <a:lnTo>
                  <a:pt x="624458" y="187579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9"/>
                </a:lnTo>
                <a:lnTo>
                  <a:pt x="620267" y="201168"/>
                </a:lnTo>
                <a:lnTo>
                  <a:pt x="652814" y="201168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35369" y="253542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781" y="2262251"/>
            <a:ext cx="31165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特征响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图上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个位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的值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图像对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位置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记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037" y="2506091"/>
            <a:ext cx="11442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录的语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义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相似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1722" y="3266922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157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369" y="162068"/>
            <a:ext cx="4923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/>
              <a:t>问题1:平均池</a:t>
            </a:r>
            <a:r>
              <a:rPr sz="1600" dirty="0"/>
              <a:t>化</a:t>
            </a:r>
            <a:r>
              <a:rPr sz="1600" spc="-5" dirty="0"/>
              <a:t>向量化与直接</a:t>
            </a:r>
            <a:r>
              <a:rPr sz="1600" spc="-15" dirty="0"/>
              <a:t>展</a:t>
            </a:r>
            <a:r>
              <a:rPr sz="1600" spc="-5" dirty="0"/>
              <a:t>开向量</a:t>
            </a:r>
            <a:r>
              <a:rPr sz="1600" spc="5" dirty="0"/>
              <a:t>化</a:t>
            </a:r>
            <a:r>
              <a:rPr sz="1600" spc="-5" dirty="0"/>
              <a:t>有什</a:t>
            </a:r>
            <a:r>
              <a:rPr sz="1600" spc="-15" dirty="0"/>
              <a:t>么</a:t>
            </a:r>
            <a:r>
              <a:rPr sz="1600" spc="-5" dirty="0"/>
              <a:t>区别</a:t>
            </a:r>
            <a:r>
              <a:rPr sz="1600" spc="-15" dirty="0"/>
              <a:t>？</a:t>
            </a:r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545460" y="510683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56809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3"/>
                </a:moveTo>
                <a:lnTo>
                  <a:pt x="464820" y="481583"/>
                </a:lnTo>
                <a:lnTo>
                  <a:pt x="464820" y="0"/>
                </a:lnTo>
                <a:lnTo>
                  <a:pt x="0" y="0"/>
                </a:lnTo>
                <a:lnTo>
                  <a:pt x="0" y="481583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43727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1"/>
                </a:lnTo>
                <a:lnTo>
                  <a:pt x="188722" y="561848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886599"/>
            <a:ext cx="832103" cy="18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886599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0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60450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57403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578751"/>
            <a:ext cx="544067" cy="1889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578751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6"/>
                </a:moveTo>
                <a:lnTo>
                  <a:pt x="544067" y="188976"/>
                </a:lnTo>
                <a:lnTo>
                  <a:pt x="544067" y="0"/>
                </a:lnTo>
                <a:lnTo>
                  <a:pt x="0" y="0"/>
                </a:lnTo>
                <a:lnTo>
                  <a:pt x="0" y="188976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69913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0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286130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283108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04431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04431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4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2" y="1998120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8" y="1987426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16395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190893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8"/>
                </a:lnTo>
                <a:lnTo>
                  <a:pt x="28575" y="113538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494169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3"/>
                </a:lnTo>
                <a:lnTo>
                  <a:pt x="28575" y="84963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68489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8"/>
                </a:lnTo>
                <a:lnTo>
                  <a:pt x="28575" y="118618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76337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69">
                <a:moveTo>
                  <a:pt x="28575" y="35687"/>
                </a:moveTo>
                <a:lnTo>
                  <a:pt x="14350" y="35687"/>
                </a:lnTo>
                <a:lnTo>
                  <a:pt x="14350" y="153543"/>
                </a:lnTo>
                <a:lnTo>
                  <a:pt x="28575" y="153543"/>
                </a:lnTo>
                <a:lnTo>
                  <a:pt x="28575" y="35687"/>
                </a:lnTo>
                <a:close/>
              </a:path>
              <a:path w="43179" h="15366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5366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60869" y="2622947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7"/>
                </a:lnTo>
                <a:lnTo>
                  <a:pt x="620267" y="201167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7"/>
                </a:lnTo>
                <a:lnTo>
                  <a:pt x="624458" y="187578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8"/>
                </a:lnTo>
                <a:lnTo>
                  <a:pt x="620267" y="201167"/>
                </a:lnTo>
                <a:lnTo>
                  <a:pt x="652814" y="201167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35369" y="251245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781" y="2239280"/>
            <a:ext cx="31165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特征响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图上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个位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的值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图像对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位置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记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037" y="2483120"/>
            <a:ext cx="11442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录的语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义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相似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0781" y="2727341"/>
            <a:ext cx="19989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平均池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丢失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语义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构的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置信息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81723" y="3244231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158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368" y="184784"/>
            <a:ext cx="4923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/>
              <a:t>问题1:平均池</a:t>
            </a:r>
            <a:r>
              <a:rPr sz="1600" dirty="0"/>
              <a:t>化</a:t>
            </a:r>
            <a:r>
              <a:rPr sz="1600" spc="-5" dirty="0"/>
              <a:t>向量化与直接</a:t>
            </a:r>
            <a:r>
              <a:rPr sz="1600" spc="-15" dirty="0"/>
              <a:t>展</a:t>
            </a:r>
            <a:r>
              <a:rPr sz="1600" spc="-5" dirty="0"/>
              <a:t>开向量</a:t>
            </a:r>
            <a:r>
              <a:rPr sz="1600" spc="5" dirty="0"/>
              <a:t>化</a:t>
            </a:r>
            <a:r>
              <a:rPr sz="1600" spc="-5" dirty="0"/>
              <a:t>有什</a:t>
            </a:r>
            <a:r>
              <a:rPr sz="1600" spc="-15" dirty="0"/>
              <a:t>么</a:t>
            </a:r>
            <a:r>
              <a:rPr sz="1600" spc="-5" dirty="0"/>
              <a:t>区别</a:t>
            </a:r>
            <a:r>
              <a:rPr sz="1600" spc="-15" dirty="0"/>
              <a:t>？</a:t>
            </a:r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78890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4"/>
                </a:moveTo>
                <a:lnTo>
                  <a:pt x="464820" y="481584"/>
                </a:lnTo>
                <a:lnTo>
                  <a:pt x="464820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65808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0"/>
                </a:lnTo>
                <a:lnTo>
                  <a:pt x="188722" y="561847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908680"/>
            <a:ext cx="832103" cy="188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908680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5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82532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79484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600832"/>
            <a:ext cx="544067" cy="188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600832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5"/>
                </a:moveTo>
                <a:lnTo>
                  <a:pt x="544067" y="188975"/>
                </a:lnTo>
                <a:lnTo>
                  <a:pt x="544067" y="0"/>
                </a:lnTo>
                <a:lnTo>
                  <a:pt x="0" y="0"/>
                </a:lnTo>
                <a:lnTo>
                  <a:pt x="0" y="188975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91994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5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308212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305189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26512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26512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5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1" y="2020201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7" y="2009508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38476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212975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7"/>
                </a:lnTo>
                <a:lnTo>
                  <a:pt x="28575" y="113537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516250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2"/>
                </a:lnTo>
                <a:lnTo>
                  <a:pt x="28575" y="84962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90570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7"/>
                </a:lnTo>
                <a:lnTo>
                  <a:pt x="28575" y="118617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98418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70">
                <a:moveTo>
                  <a:pt x="28575" y="35686"/>
                </a:moveTo>
                <a:lnTo>
                  <a:pt x="14350" y="35686"/>
                </a:lnTo>
                <a:lnTo>
                  <a:pt x="14350" y="153542"/>
                </a:lnTo>
                <a:lnTo>
                  <a:pt x="28575" y="153542"/>
                </a:lnTo>
                <a:lnTo>
                  <a:pt x="28575" y="35686"/>
                </a:lnTo>
                <a:close/>
              </a:path>
              <a:path w="43179" h="153670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153670">
                <a:moveTo>
                  <a:pt x="39359" y="35686"/>
                </a:moveTo>
                <a:lnTo>
                  <a:pt x="28575" y="35686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60869" y="2645028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8"/>
                </a:lnTo>
                <a:lnTo>
                  <a:pt x="620267" y="201168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8"/>
                </a:lnTo>
                <a:lnTo>
                  <a:pt x="624458" y="187579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9"/>
                </a:lnTo>
                <a:lnTo>
                  <a:pt x="620267" y="201168"/>
                </a:lnTo>
                <a:lnTo>
                  <a:pt x="652814" y="201168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35369" y="253542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781" y="2262251"/>
            <a:ext cx="352297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特征响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图上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个位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的值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图像对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位置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记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录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的语义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037" y="2506091"/>
            <a:ext cx="7391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结构的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相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似程度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0781" y="2749930"/>
            <a:ext cx="19989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平均池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丢失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语义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构的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空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间</a:t>
            </a:r>
            <a:r>
              <a:rPr sz="800" spc="-15" dirty="0"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置信息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7843" y="2993770"/>
            <a:ext cx="3856990" cy="4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143510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49250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忽略语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义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位置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息，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助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提升卷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层提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取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到的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征的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平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移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变性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288540" algn="l"/>
              </a:tabLst>
            </a:pPr>
            <a:r>
              <a:rPr sz="900" spc="-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1722" y="3266922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159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622" y="146828"/>
            <a:ext cx="450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2: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利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压缩</a:t>
            </a: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息吗？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5842" y="732425"/>
            <a:ext cx="1222375" cy="707390"/>
          </a:xfrm>
          <a:custGeom>
            <a:avLst/>
            <a:gdLst/>
            <a:ahLst/>
            <a:cxnLst/>
            <a:rect l="l" t="t" r="r" b="b"/>
            <a:pathLst>
              <a:path w="1222375" h="707390">
                <a:moveTo>
                  <a:pt x="0" y="176783"/>
                </a:moveTo>
                <a:lnTo>
                  <a:pt x="176783" y="0"/>
                </a:lnTo>
                <a:lnTo>
                  <a:pt x="1222247" y="0"/>
                </a:lnTo>
                <a:lnTo>
                  <a:pt x="1222247" y="530351"/>
                </a:lnTo>
                <a:lnTo>
                  <a:pt x="1045463" y="707135"/>
                </a:lnTo>
                <a:lnTo>
                  <a:pt x="0" y="707135"/>
                </a:lnTo>
                <a:lnTo>
                  <a:pt x="0" y="17678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15842" y="732425"/>
            <a:ext cx="1222375" cy="177165"/>
          </a:xfrm>
          <a:custGeom>
            <a:avLst/>
            <a:gdLst/>
            <a:ahLst/>
            <a:cxnLst/>
            <a:rect l="l" t="t" r="r" b="b"/>
            <a:pathLst>
              <a:path w="1222375" h="177165">
                <a:moveTo>
                  <a:pt x="0" y="176783"/>
                </a:moveTo>
                <a:lnTo>
                  <a:pt x="1045463" y="176783"/>
                </a:lnTo>
                <a:lnTo>
                  <a:pt x="1222247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61306" y="909209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1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80506" y="730901"/>
            <a:ext cx="245745" cy="707390"/>
          </a:xfrm>
          <a:custGeom>
            <a:avLst/>
            <a:gdLst/>
            <a:ahLst/>
            <a:cxnLst/>
            <a:rect l="l" t="t" r="r" b="b"/>
            <a:pathLst>
              <a:path w="245745" h="707390">
                <a:moveTo>
                  <a:pt x="0" y="184911"/>
                </a:moveTo>
                <a:lnTo>
                  <a:pt x="184912" y="0"/>
                </a:lnTo>
                <a:lnTo>
                  <a:pt x="245364" y="0"/>
                </a:lnTo>
                <a:lnTo>
                  <a:pt x="245364" y="522224"/>
                </a:lnTo>
                <a:lnTo>
                  <a:pt x="60452" y="707135"/>
                </a:lnTo>
                <a:lnTo>
                  <a:pt x="0" y="707135"/>
                </a:lnTo>
                <a:lnTo>
                  <a:pt x="0" y="184911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80506" y="730901"/>
            <a:ext cx="245745" cy="185420"/>
          </a:xfrm>
          <a:custGeom>
            <a:avLst/>
            <a:gdLst/>
            <a:ahLst/>
            <a:cxnLst/>
            <a:rect l="l" t="t" r="r" b="b"/>
            <a:pathLst>
              <a:path w="245745" h="185419">
                <a:moveTo>
                  <a:pt x="0" y="184911"/>
                </a:moveTo>
                <a:lnTo>
                  <a:pt x="60452" y="184911"/>
                </a:lnTo>
                <a:lnTo>
                  <a:pt x="245364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40957" y="915813"/>
            <a:ext cx="0" cy="522605"/>
          </a:xfrm>
          <a:custGeom>
            <a:avLst/>
            <a:gdLst/>
            <a:ahLst/>
            <a:cxnLst/>
            <a:rect l="l" t="t" r="r" b="b"/>
            <a:pathLst>
              <a:path h="522605">
                <a:moveTo>
                  <a:pt x="0" y="0"/>
                </a:moveTo>
                <a:lnTo>
                  <a:pt x="0" y="522224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98697" y="661051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0526" y="1058815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1532" y="563261"/>
            <a:ext cx="195516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4045" algn="l"/>
              </a:tabLst>
            </a:pPr>
            <a:r>
              <a:rPr sz="900" dirty="0">
                <a:latin typeface="Calibri" panose="020F0502020204030204"/>
                <a:cs typeface="Calibri" panose="020F0502020204030204"/>
              </a:rPr>
              <a:t>d	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1582" y="681498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63666" y="1079262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4592" y="1013603"/>
            <a:ext cx="597535" cy="139065"/>
          </a:xfrm>
          <a:custGeom>
            <a:avLst/>
            <a:gdLst/>
            <a:ahLst/>
            <a:cxnLst/>
            <a:rect l="l" t="t" r="r" b="b"/>
            <a:pathLst>
              <a:path w="597535" h="139065">
                <a:moveTo>
                  <a:pt x="0" y="34671"/>
                </a:moveTo>
                <a:lnTo>
                  <a:pt x="528066" y="34671"/>
                </a:lnTo>
                <a:lnTo>
                  <a:pt x="528066" y="0"/>
                </a:lnTo>
                <a:lnTo>
                  <a:pt x="597407" y="69341"/>
                </a:lnTo>
                <a:lnTo>
                  <a:pt x="528066" y="138683"/>
                </a:lnTo>
                <a:lnTo>
                  <a:pt x="528066" y="104012"/>
                </a:lnTo>
                <a:lnTo>
                  <a:pt x="0" y="104012"/>
                </a:lnTo>
                <a:lnTo>
                  <a:pt x="0" y="346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64785" y="876824"/>
            <a:ext cx="5340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 panose="02010609060101010101" charset="-122"/>
                <a:cs typeface="黑体" panose="02010609060101010101" charset="-122"/>
              </a:rPr>
              <a:t>1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Conv</a:t>
            </a:r>
            <a:r>
              <a:rPr sz="800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1532" y="159094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621" y="169240"/>
            <a:ext cx="4503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1800" b="1" spc="-15" dirty="0"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: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利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x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压缩</a:t>
            </a: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会损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息吗？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5841" y="754506"/>
            <a:ext cx="1222375" cy="707390"/>
          </a:xfrm>
          <a:custGeom>
            <a:avLst/>
            <a:gdLst/>
            <a:ahLst/>
            <a:cxnLst/>
            <a:rect l="l" t="t" r="r" b="b"/>
            <a:pathLst>
              <a:path w="1222375" h="707390">
                <a:moveTo>
                  <a:pt x="0" y="176783"/>
                </a:moveTo>
                <a:lnTo>
                  <a:pt x="176783" y="0"/>
                </a:lnTo>
                <a:lnTo>
                  <a:pt x="1222247" y="0"/>
                </a:lnTo>
                <a:lnTo>
                  <a:pt x="1222247" y="530351"/>
                </a:lnTo>
                <a:lnTo>
                  <a:pt x="1045463" y="707135"/>
                </a:lnTo>
                <a:lnTo>
                  <a:pt x="0" y="707135"/>
                </a:lnTo>
                <a:lnTo>
                  <a:pt x="0" y="17678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15841" y="754506"/>
            <a:ext cx="1222375" cy="177165"/>
          </a:xfrm>
          <a:custGeom>
            <a:avLst/>
            <a:gdLst/>
            <a:ahLst/>
            <a:cxnLst/>
            <a:rect l="l" t="t" r="r" b="b"/>
            <a:pathLst>
              <a:path w="1222375" h="177165">
                <a:moveTo>
                  <a:pt x="0" y="176783"/>
                </a:moveTo>
                <a:lnTo>
                  <a:pt x="1045463" y="176783"/>
                </a:lnTo>
                <a:lnTo>
                  <a:pt x="1222247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61305" y="931290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2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98696" y="684021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0525" y="1081532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1532" y="591692"/>
            <a:ext cx="22117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1530" algn="l"/>
              </a:tabLst>
            </a:pPr>
            <a:r>
              <a:rPr sz="1350" spc="-7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1350" baseline="3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	</a:t>
            </a: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1582" y="704214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3666" y="1101978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44591" y="1035684"/>
            <a:ext cx="597535" cy="139065"/>
          </a:xfrm>
          <a:custGeom>
            <a:avLst/>
            <a:gdLst/>
            <a:ahLst/>
            <a:cxnLst/>
            <a:rect l="l" t="t" r="r" b="b"/>
            <a:pathLst>
              <a:path w="597535" h="139065">
                <a:moveTo>
                  <a:pt x="0" y="34671"/>
                </a:moveTo>
                <a:lnTo>
                  <a:pt x="528066" y="34671"/>
                </a:lnTo>
                <a:lnTo>
                  <a:pt x="528066" y="0"/>
                </a:lnTo>
                <a:lnTo>
                  <a:pt x="597407" y="69341"/>
                </a:lnTo>
                <a:lnTo>
                  <a:pt x="528066" y="138684"/>
                </a:lnTo>
                <a:lnTo>
                  <a:pt x="528066" y="104012"/>
                </a:lnTo>
                <a:lnTo>
                  <a:pt x="0" y="104012"/>
                </a:lnTo>
                <a:lnTo>
                  <a:pt x="0" y="346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64784" y="899540"/>
            <a:ext cx="5854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32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Conv</a:t>
            </a:r>
            <a:r>
              <a:rPr sz="800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86602" y="756030"/>
            <a:ext cx="696595" cy="708660"/>
          </a:xfrm>
          <a:custGeom>
            <a:avLst/>
            <a:gdLst/>
            <a:ahLst/>
            <a:cxnLst/>
            <a:rect l="l" t="t" r="r" b="b"/>
            <a:pathLst>
              <a:path w="696595" h="708660">
                <a:moveTo>
                  <a:pt x="0" y="174116"/>
                </a:moveTo>
                <a:lnTo>
                  <a:pt x="174117" y="0"/>
                </a:lnTo>
                <a:lnTo>
                  <a:pt x="696468" y="0"/>
                </a:lnTo>
                <a:lnTo>
                  <a:pt x="696468" y="534542"/>
                </a:lnTo>
                <a:lnTo>
                  <a:pt x="522350" y="708659"/>
                </a:lnTo>
                <a:lnTo>
                  <a:pt x="0" y="708659"/>
                </a:lnTo>
                <a:lnTo>
                  <a:pt x="0" y="174116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86602" y="756030"/>
            <a:ext cx="696595" cy="174625"/>
          </a:xfrm>
          <a:custGeom>
            <a:avLst/>
            <a:gdLst/>
            <a:ahLst/>
            <a:cxnLst/>
            <a:rect l="l" t="t" r="r" b="b"/>
            <a:pathLst>
              <a:path w="696595" h="174625">
                <a:moveTo>
                  <a:pt x="0" y="174116"/>
                </a:moveTo>
                <a:lnTo>
                  <a:pt x="522350" y="174116"/>
                </a:lnTo>
                <a:lnTo>
                  <a:pt x="696468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08953" y="930147"/>
            <a:ext cx="0" cy="534670"/>
          </a:xfrm>
          <a:custGeom>
            <a:avLst/>
            <a:gdLst/>
            <a:ahLst/>
            <a:cxnLst/>
            <a:rect l="l" t="t" r="r" b="b"/>
            <a:pathLst>
              <a:path h="534669">
                <a:moveTo>
                  <a:pt x="0" y="0"/>
                </a:moveTo>
                <a:lnTo>
                  <a:pt x="0" y="534543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622" y="146828"/>
            <a:ext cx="450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问题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2: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利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用</a:t>
            </a:r>
            <a:r>
              <a:rPr sz="1800" b="1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行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压缩</a:t>
            </a:r>
            <a:r>
              <a:rPr sz="1800" b="1" spc="5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损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800" b="1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800" b="1" spc="-10" dirty="0">
                <a:latin typeface="黑体" panose="02010609060101010101" charset="-122"/>
                <a:cs typeface="黑体" panose="02010609060101010101" charset="-122"/>
              </a:rPr>
              <a:t>息吗？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8697" y="661051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526" y="1058815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1532" y="561991"/>
            <a:ext cx="2139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9775" algn="l"/>
              </a:tabLst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	</a:t>
            </a:r>
            <a:r>
              <a:rPr sz="1350" spc="-7" baseline="6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1350" baseline="6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1582" y="667147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3666" y="1079262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4592" y="1013603"/>
            <a:ext cx="597535" cy="139065"/>
          </a:xfrm>
          <a:custGeom>
            <a:avLst/>
            <a:gdLst/>
            <a:ahLst/>
            <a:cxnLst/>
            <a:rect l="l" t="t" r="r" b="b"/>
            <a:pathLst>
              <a:path w="597535" h="139065">
                <a:moveTo>
                  <a:pt x="0" y="34671"/>
                </a:moveTo>
                <a:lnTo>
                  <a:pt x="528066" y="34671"/>
                </a:lnTo>
                <a:lnTo>
                  <a:pt x="528066" y="0"/>
                </a:lnTo>
                <a:lnTo>
                  <a:pt x="597407" y="69341"/>
                </a:lnTo>
                <a:lnTo>
                  <a:pt x="528066" y="138683"/>
                </a:lnTo>
                <a:lnTo>
                  <a:pt x="528066" y="104012"/>
                </a:lnTo>
                <a:lnTo>
                  <a:pt x="0" y="104012"/>
                </a:lnTo>
                <a:lnTo>
                  <a:pt x="0" y="346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64785" y="876824"/>
            <a:ext cx="5854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32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Conv</a:t>
            </a:r>
            <a:r>
              <a:rPr sz="800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0783" y="1795542"/>
            <a:ext cx="1675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缩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是否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损失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息呢？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79088" y="1028818"/>
            <a:ext cx="1093470" cy="1562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4234" y="1111521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794" y="0"/>
                </a:lnTo>
              </a:path>
            </a:pathLst>
          </a:custGeom>
          <a:ln w="800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23028" y="1044845"/>
            <a:ext cx="26670" cy="106680"/>
          </a:xfrm>
          <a:custGeom>
            <a:avLst/>
            <a:gdLst/>
            <a:ahLst/>
            <a:cxnLst/>
            <a:rect l="l" t="t" r="r" b="b"/>
            <a:pathLst>
              <a:path w="26669" h="106680">
                <a:moveTo>
                  <a:pt x="26670" y="0"/>
                </a:moveTo>
                <a:lnTo>
                  <a:pt x="0" y="26670"/>
                </a:lnTo>
                <a:lnTo>
                  <a:pt x="0" y="106680"/>
                </a:lnTo>
                <a:lnTo>
                  <a:pt x="26670" y="80010"/>
                </a:lnTo>
                <a:lnTo>
                  <a:pt x="26670" y="0"/>
                </a:lnTo>
                <a:close/>
              </a:path>
            </a:pathLst>
          </a:custGeom>
          <a:solidFill>
            <a:srgbClr val="CD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04234" y="1058180"/>
            <a:ext cx="1045844" cy="0"/>
          </a:xfrm>
          <a:custGeom>
            <a:avLst/>
            <a:gdLst/>
            <a:ahLst/>
            <a:cxnLst/>
            <a:rect l="l" t="t" r="r" b="b"/>
            <a:pathLst>
              <a:path w="1045844">
                <a:moveTo>
                  <a:pt x="0" y="0"/>
                </a:moveTo>
                <a:lnTo>
                  <a:pt x="1045464" y="0"/>
                </a:lnTo>
              </a:path>
            </a:pathLst>
          </a:custGeom>
          <a:ln w="26670">
            <a:solidFill>
              <a:srgbClr val="FF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04234" y="1044845"/>
            <a:ext cx="1045844" cy="106680"/>
          </a:xfrm>
          <a:custGeom>
            <a:avLst/>
            <a:gdLst/>
            <a:ahLst/>
            <a:cxnLst/>
            <a:rect l="l" t="t" r="r" b="b"/>
            <a:pathLst>
              <a:path w="1045844" h="106680">
                <a:moveTo>
                  <a:pt x="0" y="26670"/>
                </a:moveTo>
                <a:lnTo>
                  <a:pt x="26670" y="0"/>
                </a:lnTo>
                <a:lnTo>
                  <a:pt x="1045464" y="0"/>
                </a:lnTo>
                <a:lnTo>
                  <a:pt x="1045464" y="80010"/>
                </a:lnTo>
                <a:lnTo>
                  <a:pt x="1018794" y="106680"/>
                </a:lnTo>
                <a:lnTo>
                  <a:pt x="0" y="106680"/>
                </a:lnTo>
                <a:lnTo>
                  <a:pt x="0" y="2667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04234" y="1044845"/>
            <a:ext cx="1045844" cy="26670"/>
          </a:xfrm>
          <a:custGeom>
            <a:avLst/>
            <a:gdLst/>
            <a:ahLst/>
            <a:cxnLst/>
            <a:rect l="l" t="t" r="r" b="b"/>
            <a:pathLst>
              <a:path w="1045844" h="26669">
                <a:moveTo>
                  <a:pt x="0" y="26670"/>
                </a:moveTo>
                <a:lnTo>
                  <a:pt x="1018794" y="26670"/>
                </a:lnTo>
                <a:lnTo>
                  <a:pt x="10454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23028" y="1071515"/>
            <a:ext cx="0" cy="80010"/>
          </a:xfrm>
          <a:custGeom>
            <a:avLst/>
            <a:gdLst/>
            <a:ahLst/>
            <a:cxnLst/>
            <a:rect l="l" t="t" r="r" b="b"/>
            <a:pathLst>
              <a:path h="80009">
                <a:moveTo>
                  <a:pt x="0" y="0"/>
                </a:moveTo>
                <a:lnTo>
                  <a:pt x="0" y="8001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5842" y="732425"/>
            <a:ext cx="1222375" cy="707390"/>
          </a:xfrm>
          <a:custGeom>
            <a:avLst/>
            <a:gdLst/>
            <a:ahLst/>
            <a:cxnLst/>
            <a:rect l="l" t="t" r="r" b="b"/>
            <a:pathLst>
              <a:path w="1222375" h="707390">
                <a:moveTo>
                  <a:pt x="0" y="176783"/>
                </a:moveTo>
                <a:lnTo>
                  <a:pt x="176783" y="0"/>
                </a:lnTo>
                <a:lnTo>
                  <a:pt x="1222247" y="0"/>
                </a:lnTo>
                <a:lnTo>
                  <a:pt x="1222247" y="530351"/>
                </a:lnTo>
                <a:lnTo>
                  <a:pt x="1045463" y="707135"/>
                </a:lnTo>
                <a:lnTo>
                  <a:pt x="0" y="707135"/>
                </a:lnTo>
                <a:lnTo>
                  <a:pt x="0" y="17678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15842" y="732425"/>
            <a:ext cx="1222375" cy="177165"/>
          </a:xfrm>
          <a:custGeom>
            <a:avLst/>
            <a:gdLst/>
            <a:ahLst/>
            <a:cxnLst/>
            <a:rect l="l" t="t" r="r" b="b"/>
            <a:pathLst>
              <a:path w="1222375" h="177165">
                <a:moveTo>
                  <a:pt x="0" y="176783"/>
                </a:moveTo>
                <a:lnTo>
                  <a:pt x="1045463" y="176783"/>
                </a:lnTo>
                <a:lnTo>
                  <a:pt x="1222247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61306" y="909209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1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17059" y="874157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04128" y="1016626"/>
            <a:ext cx="669798" cy="1516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29274" y="1096471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>
                <a:moveTo>
                  <a:pt x="0" y="0"/>
                </a:moveTo>
                <a:lnTo>
                  <a:pt x="596264" y="0"/>
                </a:lnTo>
              </a:path>
            </a:pathLst>
          </a:custGeom>
          <a:ln w="7658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25538" y="1032653"/>
            <a:ext cx="26034" cy="102235"/>
          </a:xfrm>
          <a:custGeom>
            <a:avLst/>
            <a:gdLst/>
            <a:ahLst/>
            <a:cxnLst/>
            <a:rect l="l" t="t" r="r" b="b"/>
            <a:pathLst>
              <a:path w="26035" h="102234">
                <a:moveTo>
                  <a:pt x="25526" y="0"/>
                </a:moveTo>
                <a:lnTo>
                  <a:pt x="0" y="25526"/>
                </a:lnTo>
                <a:lnTo>
                  <a:pt x="0" y="102107"/>
                </a:lnTo>
                <a:lnTo>
                  <a:pt x="25526" y="76580"/>
                </a:lnTo>
                <a:lnTo>
                  <a:pt x="25526" y="0"/>
                </a:lnTo>
                <a:close/>
              </a:path>
            </a:pathLst>
          </a:custGeom>
          <a:solidFill>
            <a:srgbClr val="CD9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29274" y="1045417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>
                <a:moveTo>
                  <a:pt x="0" y="0"/>
                </a:moveTo>
                <a:lnTo>
                  <a:pt x="621791" y="0"/>
                </a:lnTo>
              </a:path>
            </a:pathLst>
          </a:custGeom>
          <a:ln w="25526">
            <a:solidFill>
              <a:srgbClr val="FFCC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29274" y="1032653"/>
            <a:ext cx="622300" cy="102235"/>
          </a:xfrm>
          <a:custGeom>
            <a:avLst/>
            <a:gdLst/>
            <a:ahLst/>
            <a:cxnLst/>
            <a:rect l="l" t="t" r="r" b="b"/>
            <a:pathLst>
              <a:path w="622300" h="102234">
                <a:moveTo>
                  <a:pt x="0" y="25526"/>
                </a:moveTo>
                <a:lnTo>
                  <a:pt x="25526" y="0"/>
                </a:lnTo>
                <a:lnTo>
                  <a:pt x="621791" y="0"/>
                </a:lnTo>
                <a:lnTo>
                  <a:pt x="621791" y="76580"/>
                </a:lnTo>
                <a:lnTo>
                  <a:pt x="596264" y="102107"/>
                </a:lnTo>
                <a:lnTo>
                  <a:pt x="0" y="102107"/>
                </a:lnTo>
                <a:lnTo>
                  <a:pt x="0" y="25526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29274" y="1032653"/>
            <a:ext cx="622300" cy="26034"/>
          </a:xfrm>
          <a:custGeom>
            <a:avLst/>
            <a:gdLst/>
            <a:ahLst/>
            <a:cxnLst/>
            <a:rect l="l" t="t" r="r" b="b"/>
            <a:pathLst>
              <a:path w="622300" h="26034">
                <a:moveTo>
                  <a:pt x="0" y="25526"/>
                </a:moveTo>
                <a:lnTo>
                  <a:pt x="596264" y="25526"/>
                </a:lnTo>
                <a:lnTo>
                  <a:pt x="621791" y="0"/>
                </a:lnTo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25538" y="1058180"/>
            <a:ext cx="0" cy="76835"/>
          </a:xfrm>
          <a:custGeom>
            <a:avLst/>
            <a:gdLst/>
            <a:ahLst/>
            <a:cxnLst/>
            <a:rect l="l" t="t" r="r" b="b"/>
            <a:pathLst>
              <a:path h="76834">
                <a:moveTo>
                  <a:pt x="0" y="0"/>
                </a:moveTo>
                <a:lnTo>
                  <a:pt x="0" y="76580"/>
                </a:lnTo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94222" y="727853"/>
            <a:ext cx="695325" cy="707390"/>
          </a:xfrm>
          <a:custGeom>
            <a:avLst/>
            <a:gdLst/>
            <a:ahLst/>
            <a:cxnLst/>
            <a:rect l="l" t="t" r="r" b="b"/>
            <a:pathLst>
              <a:path w="695325" h="707390">
                <a:moveTo>
                  <a:pt x="0" y="173735"/>
                </a:moveTo>
                <a:lnTo>
                  <a:pt x="173736" y="0"/>
                </a:lnTo>
                <a:lnTo>
                  <a:pt x="694943" y="0"/>
                </a:lnTo>
                <a:lnTo>
                  <a:pt x="694943" y="533400"/>
                </a:lnTo>
                <a:lnTo>
                  <a:pt x="521207" y="707135"/>
                </a:lnTo>
                <a:lnTo>
                  <a:pt x="0" y="707135"/>
                </a:lnTo>
                <a:lnTo>
                  <a:pt x="0" y="17373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94222" y="727853"/>
            <a:ext cx="695325" cy="173990"/>
          </a:xfrm>
          <a:custGeom>
            <a:avLst/>
            <a:gdLst/>
            <a:ahLst/>
            <a:cxnLst/>
            <a:rect l="l" t="t" r="r" b="b"/>
            <a:pathLst>
              <a:path w="695325" h="173990">
                <a:moveTo>
                  <a:pt x="0" y="173735"/>
                </a:moveTo>
                <a:lnTo>
                  <a:pt x="521207" y="173735"/>
                </a:lnTo>
                <a:lnTo>
                  <a:pt x="694943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15430" y="901589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621" y="169240"/>
            <a:ext cx="4503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/>
              <a:t>问题</a:t>
            </a:r>
            <a:r>
              <a:rPr sz="1800" spc="-15" dirty="0"/>
              <a:t>2</a:t>
            </a:r>
            <a:r>
              <a:rPr sz="1800" dirty="0"/>
              <a:t>:</a:t>
            </a:r>
            <a:r>
              <a:rPr sz="1800" spc="-10" dirty="0"/>
              <a:t>利</a:t>
            </a:r>
            <a:r>
              <a:rPr sz="1800" dirty="0"/>
              <a:t>用</a:t>
            </a:r>
            <a:r>
              <a:rPr sz="1800" spc="-10" dirty="0"/>
              <a:t>1</a:t>
            </a:r>
            <a:r>
              <a:rPr sz="1800" spc="-5" dirty="0"/>
              <a:t>x</a:t>
            </a:r>
            <a:r>
              <a:rPr sz="1800" spc="-10" dirty="0"/>
              <a:t>1</a:t>
            </a:r>
            <a:r>
              <a:rPr sz="1800" spc="5" dirty="0"/>
              <a:t>卷积</a:t>
            </a:r>
            <a:r>
              <a:rPr sz="1800" spc="-5" dirty="0"/>
              <a:t>进</a:t>
            </a:r>
            <a:r>
              <a:rPr sz="1800" spc="5" dirty="0"/>
              <a:t>行</a:t>
            </a:r>
            <a:r>
              <a:rPr sz="1800" spc="-5" dirty="0"/>
              <a:t>压缩</a:t>
            </a:r>
            <a:r>
              <a:rPr sz="1800" spc="5" dirty="0"/>
              <a:t>会损</a:t>
            </a:r>
            <a:r>
              <a:rPr sz="1800" spc="-5" dirty="0"/>
              <a:t>失</a:t>
            </a:r>
            <a:r>
              <a:rPr sz="1800" spc="5" dirty="0"/>
              <a:t>信</a:t>
            </a:r>
            <a:r>
              <a:rPr sz="1800" spc="-5" dirty="0"/>
              <a:t>息吗？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1298696" y="684021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525" y="1081532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1532" y="584707"/>
            <a:ext cx="2139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9775" algn="l"/>
              </a:tabLst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	</a:t>
            </a:r>
            <a:r>
              <a:rPr sz="1350" spc="-7" baseline="6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1350" baseline="6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1582" y="689864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3666" y="1101978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4591" y="1035684"/>
            <a:ext cx="597535" cy="139065"/>
          </a:xfrm>
          <a:custGeom>
            <a:avLst/>
            <a:gdLst/>
            <a:ahLst/>
            <a:cxnLst/>
            <a:rect l="l" t="t" r="r" b="b"/>
            <a:pathLst>
              <a:path w="597535" h="139065">
                <a:moveTo>
                  <a:pt x="0" y="34671"/>
                </a:moveTo>
                <a:lnTo>
                  <a:pt x="528066" y="34671"/>
                </a:lnTo>
                <a:lnTo>
                  <a:pt x="528066" y="0"/>
                </a:lnTo>
                <a:lnTo>
                  <a:pt x="597407" y="69341"/>
                </a:lnTo>
                <a:lnTo>
                  <a:pt x="528066" y="138684"/>
                </a:lnTo>
                <a:lnTo>
                  <a:pt x="528066" y="104012"/>
                </a:lnTo>
                <a:lnTo>
                  <a:pt x="0" y="104012"/>
                </a:lnTo>
                <a:lnTo>
                  <a:pt x="0" y="346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64784" y="899540"/>
            <a:ext cx="5854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32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Conv</a:t>
            </a:r>
            <a:r>
              <a:rPr sz="800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0782" y="1741449"/>
            <a:ext cx="237363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这种压缩是否会损失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息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的这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</a:t>
            </a:r>
            <a:r>
              <a:rPr sz="10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量是一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非常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疏向量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79087" y="1050899"/>
            <a:ext cx="1093470" cy="1562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4233" y="1133601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794" y="0"/>
                </a:lnTo>
              </a:path>
            </a:pathLst>
          </a:custGeom>
          <a:ln w="8001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23027" y="1066926"/>
            <a:ext cx="26670" cy="106680"/>
          </a:xfrm>
          <a:custGeom>
            <a:avLst/>
            <a:gdLst/>
            <a:ahLst/>
            <a:cxnLst/>
            <a:rect l="l" t="t" r="r" b="b"/>
            <a:pathLst>
              <a:path w="26669" h="106680">
                <a:moveTo>
                  <a:pt x="26670" y="0"/>
                </a:moveTo>
                <a:lnTo>
                  <a:pt x="0" y="26670"/>
                </a:lnTo>
                <a:lnTo>
                  <a:pt x="0" y="106680"/>
                </a:lnTo>
                <a:lnTo>
                  <a:pt x="26670" y="80010"/>
                </a:lnTo>
                <a:lnTo>
                  <a:pt x="26670" y="0"/>
                </a:lnTo>
                <a:close/>
              </a:path>
            </a:pathLst>
          </a:custGeom>
          <a:solidFill>
            <a:srgbClr val="CD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04233" y="1080261"/>
            <a:ext cx="1045844" cy="0"/>
          </a:xfrm>
          <a:custGeom>
            <a:avLst/>
            <a:gdLst/>
            <a:ahLst/>
            <a:cxnLst/>
            <a:rect l="l" t="t" r="r" b="b"/>
            <a:pathLst>
              <a:path w="1045844">
                <a:moveTo>
                  <a:pt x="0" y="0"/>
                </a:moveTo>
                <a:lnTo>
                  <a:pt x="1045464" y="0"/>
                </a:lnTo>
              </a:path>
            </a:pathLst>
          </a:custGeom>
          <a:ln w="26670">
            <a:solidFill>
              <a:srgbClr val="FF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04233" y="1066926"/>
            <a:ext cx="1045844" cy="106680"/>
          </a:xfrm>
          <a:custGeom>
            <a:avLst/>
            <a:gdLst/>
            <a:ahLst/>
            <a:cxnLst/>
            <a:rect l="l" t="t" r="r" b="b"/>
            <a:pathLst>
              <a:path w="1045844" h="106680">
                <a:moveTo>
                  <a:pt x="0" y="26670"/>
                </a:moveTo>
                <a:lnTo>
                  <a:pt x="26670" y="0"/>
                </a:lnTo>
                <a:lnTo>
                  <a:pt x="1045464" y="0"/>
                </a:lnTo>
                <a:lnTo>
                  <a:pt x="1045464" y="80010"/>
                </a:lnTo>
                <a:lnTo>
                  <a:pt x="1018794" y="106680"/>
                </a:lnTo>
                <a:lnTo>
                  <a:pt x="0" y="106680"/>
                </a:lnTo>
                <a:lnTo>
                  <a:pt x="0" y="2667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04233" y="1066926"/>
            <a:ext cx="1045844" cy="26670"/>
          </a:xfrm>
          <a:custGeom>
            <a:avLst/>
            <a:gdLst/>
            <a:ahLst/>
            <a:cxnLst/>
            <a:rect l="l" t="t" r="r" b="b"/>
            <a:pathLst>
              <a:path w="1045844" h="26669">
                <a:moveTo>
                  <a:pt x="0" y="26670"/>
                </a:moveTo>
                <a:lnTo>
                  <a:pt x="1018794" y="26670"/>
                </a:lnTo>
                <a:lnTo>
                  <a:pt x="10454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23027" y="1093596"/>
            <a:ext cx="0" cy="80010"/>
          </a:xfrm>
          <a:custGeom>
            <a:avLst/>
            <a:gdLst/>
            <a:ahLst/>
            <a:cxnLst/>
            <a:rect l="l" t="t" r="r" b="b"/>
            <a:pathLst>
              <a:path h="80009">
                <a:moveTo>
                  <a:pt x="0" y="0"/>
                </a:moveTo>
                <a:lnTo>
                  <a:pt x="0" y="8001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5841" y="754506"/>
            <a:ext cx="1222375" cy="707390"/>
          </a:xfrm>
          <a:custGeom>
            <a:avLst/>
            <a:gdLst/>
            <a:ahLst/>
            <a:cxnLst/>
            <a:rect l="l" t="t" r="r" b="b"/>
            <a:pathLst>
              <a:path w="1222375" h="707390">
                <a:moveTo>
                  <a:pt x="0" y="176783"/>
                </a:moveTo>
                <a:lnTo>
                  <a:pt x="176783" y="0"/>
                </a:lnTo>
                <a:lnTo>
                  <a:pt x="1222247" y="0"/>
                </a:lnTo>
                <a:lnTo>
                  <a:pt x="1222247" y="530351"/>
                </a:lnTo>
                <a:lnTo>
                  <a:pt x="1045463" y="707135"/>
                </a:lnTo>
                <a:lnTo>
                  <a:pt x="0" y="707135"/>
                </a:lnTo>
                <a:lnTo>
                  <a:pt x="0" y="17678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15841" y="754506"/>
            <a:ext cx="1222375" cy="177165"/>
          </a:xfrm>
          <a:custGeom>
            <a:avLst/>
            <a:gdLst/>
            <a:ahLst/>
            <a:cxnLst/>
            <a:rect l="l" t="t" r="r" b="b"/>
            <a:pathLst>
              <a:path w="1222375" h="177165">
                <a:moveTo>
                  <a:pt x="0" y="176783"/>
                </a:moveTo>
                <a:lnTo>
                  <a:pt x="1045463" y="176783"/>
                </a:lnTo>
                <a:lnTo>
                  <a:pt x="1222247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61305" y="931290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2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17058" y="896746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04128" y="1038707"/>
            <a:ext cx="669798" cy="1516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29273" y="1118552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>
                <a:moveTo>
                  <a:pt x="0" y="0"/>
                </a:moveTo>
                <a:lnTo>
                  <a:pt x="596264" y="0"/>
                </a:lnTo>
              </a:path>
            </a:pathLst>
          </a:custGeom>
          <a:ln w="7658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25538" y="1054734"/>
            <a:ext cx="26034" cy="102235"/>
          </a:xfrm>
          <a:custGeom>
            <a:avLst/>
            <a:gdLst/>
            <a:ahLst/>
            <a:cxnLst/>
            <a:rect l="l" t="t" r="r" b="b"/>
            <a:pathLst>
              <a:path w="26035" h="102234">
                <a:moveTo>
                  <a:pt x="25526" y="0"/>
                </a:moveTo>
                <a:lnTo>
                  <a:pt x="0" y="25526"/>
                </a:lnTo>
                <a:lnTo>
                  <a:pt x="0" y="102108"/>
                </a:lnTo>
                <a:lnTo>
                  <a:pt x="25526" y="76580"/>
                </a:lnTo>
                <a:lnTo>
                  <a:pt x="25526" y="0"/>
                </a:lnTo>
                <a:close/>
              </a:path>
            </a:pathLst>
          </a:custGeom>
          <a:solidFill>
            <a:srgbClr val="CD9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29273" y="1067498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>
                <a:moveTo>
                  <a:pt x="0" y="0"/>
                </a:moveTo>
                <a:lnTo>
                  <a:pt x="621791" y="0"/>
                </a:lnTo>
              </a:path>
            </a:pathLst>
          </a:custGeom>
          <a:ln w="25526">
            <a:solidFill>
              <a:srgbClr val="FFCC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29273" y="1054734"/>
            <a:ext cx="622300" cy="102235"/>
          </a:xfrm>
          <a:custGeom>
            <a:avLst/>
            <a:gdLst/>
            <a:ahLst/>
            <a:cxnLst/>
            <a:rect l="l" t="t" r="r" b="b"/>
            <a:pathLst>
              <a:path w="622300" h="102234">
                <a:moveTo>
                  <a:pt x="0" y="25526"/>
                </a:moveTo>
                <a:lnTo>
                  <a:pt x="25526" y="0"/>
                </a:lnTo>
                <a:lnTo>
                  <a:pt x="621791" y="0"/>
                </a:lnTo>
                <a:lnTo>
                  <a:pt x="621791" y="76580"/>
                </a:lnTo>
                <a:lnTo>
                  <a:pt x="596264" y="102108"/>
                </a:lnTo>
                <a:lnTo>
                  <a:pt x="0" y="102108"/>
                </a:lnTo>
                <a:lnTo>
                  <a:pt x="0" y="25526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29273" y="1054734"/>
            <a:ext cx="622300" cy="26034"/>
          </a:xfrm>
          <a:custGeom>
            <a:avLst/>
            <a:gdLst/>
            <a:ahLst/>
            <a:cxnLst/>
            <a:rect l="l" t="t" r="r" b="b"/>
            <a:pathLst>
              <a:path w="622300" h="26034">
                <a:moveTo>
                  <a:pt x="0" y="25526"/>
                </a:moveTo>
                <a:lnTo>
                  <a:pt x="596264" y="25526"/>
                </a:lnTo>
                <a:lnTo>
                  <a:pt x="621791" y="0"/>
                </a:lnTo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25538" y="1080261"/>
            <a:ext cx="0" cy="76835"/>
          </a:xfrm>
          <a:custGeom>
            <a:avLst/>
            <a:gdLst/>
            <a:ahLst/>
            <a:cxnLst/>
            <a:rect l="l" t="t" r="r" b="b"/>
            <a:pathLst>
              <a:path h="76834">
                <a:moveTo>
                  <a:pt x="0" y="0"/>
                </a:moveTo>
                <a:lnTo>
                  <a:pt x="0" y="76581"/>
                </a:lnTo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94222" y="749934"/>
            <a:ext cx="695325" cy="707390"/>
          </a:xfrm>
          <a:custGeom>
            <a:avLst/>
            <a:gdLst/>
            <a:ahLst/>
            <a:cxnLst/>
            <a:rect l="l" t="t" r="r" b="b"/>
            <a:pathLst>
              <a:path w="695325" h="707390">
                <a:moveTo>
                  <a:pt x="0" y="173736"/>
                </a:moveTo>
                <a:lnTo>
                  <a:pt x="173736" y="0"/>
                </a:lnTo>
                <a:lnTo>
                  <a:pt x="694943" y="0"/>
                </a:lnTo>
                <a:lnTo>
                  <a:pt x="694943" y="533400"/>
                </a:lnTo>
                <a:lnTo>
                  <a:pt x="521207" y="707136"/>
                </a:lnTo>
                <a:lnTo>
                  <a:pt x="0" y="707136"/>
                </a:lnTo>
                <a:lnTo>
                  <a:pt x="0" y="173736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94222" y="749934"/>
            <a:ext cx="695325" cy="173990"/>
          </a:xfrm>
          <a:custGeom>
            <a:avLst/>
            <a:gdLst/>
            <a:ahLst/>
            <a:cxnLst/>
            <a:rect l="l" t="t" r="r" b="b"/>
            <a:pathLst>
              <a:path w="695325" h="173990">
                <a:moveTo>
                  <a:pt x="0" y="173736"/>
                </a:moveTo>
                <a:lnTo>
                  <a:pt x="521207" y="173736"/>
                </a:lnTo>
                <a:lnTo>
                  <a:pt x="694943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15429" y="92367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622" y="146828"/>
            <a:ext cx="450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问题</a:t>
            </a:r>
            <a:r>
              <a:rPr sz="1800" spc="-5" dirty="0"/>
              <a:t>2:</a:t>
            </a:r>
            <a:r>
              <a:rPr sz="1800" spc="-10" dirty="0"/>
              <a:t>利</a:t>
            </a:r>
            <a:r>
              <a:rPr sz="1800" dirty="0"/>
              <a:t>用</a:t>
            </a:r>
            <a:r>
              <a:rPr sz="1800" spc="-5" dirty="0"/>
              <a:t>1x1</a:t>
            </a:r>
            <a:r>
              <a:rPr sz="1800" dirty="0"/>
              <a:t>卷积</a:t>
            </a:r>
            <a:r>
              <a:rPr sz="1800" spc="-10" dirty="0"/>
              <a:t>进</a:t>
            </a:r>
            <a:r>
              <a:rPr sz="1800" dirty="0"/>
              <a:t>行</a:t>
            </a:r>
            <a:r>
              <a:rPr sz="1800" spc="-10" dirty="0"/>
              <a:t>压缩</a:t>
            </a:r>
            <a:r>
              <a:rPr sz="1800" spc="5" dirty="0"/>
              <a:t>会</a:t>
            </a:r>
            <a:r>
              <a:rPr sz="1800" dirty="0"/>
              <a:t>损</a:t>
            </a:r>
            <a:r>
              <a:rPr sz="1800" spc="-10" dirty="0"/>
              <a:t>失</a:t>
            </a:r>
            <a:r>
              <a:rPr sz="1800" dirty="0"/>
              <a:t>信</a:t>
            </a:r>
            <a:r>
              <a:rPr sz="1800" spc="-10" dirty="0"/>
              <a:t>息吗？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1298697" y="661051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526" y="1058815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1532" y="561991"/>
            <a:ext cx="2139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9775" algn="l"/>
              </a:tabLst>
            </a:pPr>
            <a:r>
              <a:rPr sz="9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	</a:t>
            </a:r>
            <a:r>
              <a:rPr sz="1350" spc="-7" baseline="6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32</a:t>
            </a:r>
            <a:endParaRPr sz="1350" baseline="6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1582" y="667147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m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3666" y="1079262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 panose="020F0502020204030204"/>
                <a:cs typeface="Calibri" panose="020F0502020204030204"/>
              </a:rPr>
              <a:t>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4592" y="1013603"/>
            <a:ext cx="597535" cy="139065"/>
          </a:xfrm>
          <a:custGeom>
            <a:avLst/>
            <a:gdLst/>
            <a:ahLst/>
            <a:cxnLst/>
            <a:rect l="l" t="t" r="r" b="b"/>
            <a:pathLst>
              <a:path w="597535" h="139065">
                <a:moveTo>
                  <a:pt x="0" y="34671"/>
                </a:moveTo>
                <a:lnTo>
                  <a:pt x="528066" y="34671"/>
                </a:lnTo>
                <a:lnTo>
                  <a:pt x="528066" y="0"/>
                </a:lnTo>
                <a:lnTo>
                  <a:pt x="597407" y="69341"/>
                </a:lnTo>
                <a:lnTo>
                  <a:pt x="528066" y="138683"/>
                </a:lnTo>
                <a:lnTo>
                  <a:pt x="528066" y="104012"/>
                </a:lnTo>
                <a:lnTo>
                  <a:pt x="0" y="104012"/>
                </a:lnTo>
                <a:lnTo>
                  <a:pt x="0" y="346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64785" y="876824"/>
            <a:ext cx="5854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32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Conv</a:t>
            </a:r>
            <a:r>
              <a:rPr sz="800" spc="-7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800" spc="-5" dirty="0">
                <a:latin typeface="黑体" panose="02010609060101010101" charset="-122"/>
                <a:cs typeface="黑体" panose="02010609060101010101" charset="-122"/>
              </a:rPr>
              <a:t>1x1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0783" y="1718733"/>
            <a:ext cx="2754630" cy="711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这种压缩是否会损失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000" b="1" dirty="0">
                <a:latin typeface="黑体" panose="02010609060101010101" charset="-122"/>
                <a:cs typeface="黑体" panose="02010609060101010101" charset="-122"/>
              </a:rPr>
              <a:t>息</a:t>
            </a:r>
            <a:r>
              <a:rPr sz="1000" b="1" spc="-10" dirty="0">
                <a:latin typeface="黑体" panose="02010609060101010101" charset="-122"/>
                <a:cs typeface="黑体" panose="02010609060101010101" charset="-122"/>
              </a:rPr>
              <a:t>呢？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A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的这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64维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向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量是一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非常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疏向量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利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用1x1卷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线性压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缩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通常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会损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信息。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79088" y="1028818"/>
            <a:ext cx="1093470" cy="15623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4234" y="1111521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794" y="0"/>
                </a:lnTo>
              </a:path>
            </a:pathLst>
          </a:custGeom>
          <a:ln w="800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23028" y="1044845"/>
            <a:ext cx="26670" cy="106680"/>
          </a:xfrm>
          <a:custGeom>
            <a:avLst/>
            <a:gdLst/>
            <a:ahLst/>
            <a:cxnLst/>
            <a:rect l="l" t="t" r="r" b="b"/>
            <a:pathLst>
              <a:path w="26669" h="106680">
                <a:moveTo>
                  <a:pt x="26670" y="0"/>
                </a:moveTo>
                <a:lnTo>
                  <a:pt x="0" y="26670"/>
                </a:lnTo>
                <a:lnTo>
                  <a:pt x="0" y="106680"/>
                </a:lnTo>
                <a:lnTo>
                  <a:pt x="26670" y="80010"/>
                </a:lnTo>
                <a:lnTo>
                  <a:pt x="26670" y="0"/>
                </a:lnTo>
                <a:close/>
              </a:path>
            </a:pathLst>
          </a:custGeom>
          <a:solidFill>
            <a:srgbClr val="CD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04234" y="1058180"/>
            <a:ext cx="1045844" cy="0"/>
          </a:xfrm>
          <a:custGeom>
            <a:avLst/>
            <a:gdLst/>
            <a:ahLst/>
            <a:cxnLst/>
            <a:rect l="l" t="t" r="r" b="b"/>
            <a:pathLst>
              <a:path w="1045844">
                <a:moveTo>
                  <a:pt x="0" y="0"/>
                </a:moveTo>
                <a:lnTo>
                  <a:pt x="1045464" y="0"/>
                </a:lnTo>
              </a:path>
            </a:pathLst>
          </a:custGeom>
          <a:ln w="26670">
            <a:solidFill>
              <a:srgbClr val="FF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04234" y="1044845"/>
            <a:ext cx="1045844" cy="106680"/>
          </a:xfrm>
          <a:custGeom>
            <a:avLst/>
            <a:gdLst/>
            <a:ahLst/>
            <a:cxnLst/>
            <a:rect l="l" t="t" r="r" b="b"/>
            <a:pathLst>
              <a:path w="1045844" h="106680">
                <a:moveTo>
                  <a:pt x="0" y="26670"/>
                </a:moveTo>
                <a:lnTo>
                  <a:pt x="26670" y="0"/>
                </a:lnTo>
                <a:lnTo>
                  <a:pt x="1045464" y="0"/>
                </a:lnTo>
                <a:lnTo>
                  <a:pt x="1045464" y="80010"/>
                </a:lnTo>
                <a:lnTo>
                  <a:pt x="1018794" y="106680"/>
                </a:lnTo>
                <a:lnTo>
                  <a:pt x="0" y="106680"/>
                </a:lnTo>
                <a:lnTo>
                  <a:pt x="0" y="2667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04234" y="1044845"/>
            <a:ext cx="1045844" cy="26670"/>
          </a:xfrm>
          <a:custGeom>
            <a:avLst/>
            <a:gdLst/>
            <a:ahLst/>
            <a:cxnLst/>
            <a:rect l="l" t="t" r="r" b="b"/>
            <a:pathLst>
              <a:path w="1045844" h="26669">
                <a:moveTo>
                  <a:pt x="0" y="26670"/>
                </a:moveTo>
                <a:lnTo>
                  <a:pt x="1018794" y="26670"/>
                </a:lnTo>
                <a:lnTo>
                  <a:pt x="1045464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23028" y="1071515"/>
            <a:ext cx="0" cy="80010"/>
          </a:xfrm>
          <a:custGeom>
            <a:avLst/>
            <a:gdLst/>
            <a:ahLst/>
            <a:cxnLst/>
            <a:rect l="l" t="t" r="r" b="b"/>
            <a:pathLst>
              <a:path h="80009">
                <a:moveTo>
                  <a:pt x="0" y="0"/>
                </a:moveTo>
                <a:lnTo>
                  <a:pt x="0" y="8001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5842" y="732425"/>
            <a:ext cx="1222375" cy="707390"/>
          </a:xfrm>
          <a:custGeom>
            <a:avLst/>
            <a:gdLst/>
            <a:ahLst/>
            <a:cxnLst/>
            <a:rect l="l" t="t" r="r" b="b"/>
            <a:pathLst>
              <a:path w="1222375" h="707390">
                <a:moveTo>
                  <a:pt x="0" y="176783"/>
                </a:moveTo>
                <a:lnTo>
                  <a:pt x="176783" y="0"/>
                </a:lnTo>
                <a:lnTo>
                  <a:pt x="1222247" y="0"/>
                </a:lnTo>
                <a:lnTo>
                  <a:pt x="1222247" y="530351"/>
                </a:lnTo>
                <a:lnTo>
                  <a:pt x="1045463" y="707135"/>
                </a:lnTo>
                <a:lnTo>
                  <a:pt x="0" y="707135"/>
                </a:lnTo>
                <a:lnTo>
                  <a:pt x="0" y="17678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15842" y="732425"/>
            <a:ext cx="1222375" cy="177165"/>
          </a:xfrm>
          <a:custGeom>
            <a:avLst/>
            <a:gdLst/>
            <a:ahLst/>
            <a:cxnLst/>
            <a:rect l="l" t="t" r="r" b="b"/>
            <a:pathLst>
              <a:path w="1222375" h="177165">
                <a:moveTo>
                  <a:pt x="0" y="176783"/>
                </a:moveTo>
                <a:lnTo>
                  <a:pt x="1045463" y="176783"/>
                </a:lnTo>
                <a:lnTo>
                  <a:pt x="1222247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61306" y="909209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351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17059" y="874157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04128" y="1016626"/>
            <a:ext cx="669798" cy="1516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29274" y="1096471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>
                <a:moveTo>
                  <a:pt x="0" y="0"/>
                </a:moveTo>
                <a:lnTo>
                  <a:pt x="596264" y="0"/>
                </a:lnTo>
              </a:path>
            </a:pathLst>
          </a:custGeom>
          <a:ln w="7658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25538" y="1032653"/>
            <a:ext cx="26034" cy="102235"/>
          </a:xfrm>
          <a:custGeom>
            <a:avLst/>
            <a:gdLst/>
            <a:ahLst/>
            <a:cxnLst/>
            <a:rect l="l" t="t" r="r" b="b"/>
            <a:pathLst>
              <a:path w="26035" h="102234">
                <a:moveTo>
                  <a:pt x="25526" y="0"/>
                </a:moveTo>
                <a:lnTo>
                  <a:pt x="0" y="25526"/>
                </a:lnTo>
                <a:lnTo>
                  <a:pt x="0" y="102107"/>
                </a:lnTo>
                <a:lnTo>
                  <a:pt x="25526" y="76580"/>
                </a:lnTo>
                <a:lnTo>
                  <a:pt x="25526" y="0"/>
                </a:lnTo>
                <a:close/>
              </a:path>
            </a:pathLst>
          </a:custGeom>
          <a:solidFill>
            <a:srgbClr val="CD9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29274" y="1045417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>
                <a:moveTo>
                  <a:pt x="0" y="0"/>
                </a:moveTo>
                <a:lnTo>
                  <a:pt x="621791" y="0"/>
                </a:lnTo>
              </a:path>
            </a:pathLst>
          </a:custGeom>
          <a:ln w="25526">
            <a:solidFill>
              <a:srgbClr val="FFCC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29274" y="1032653"/>
            <a:ext cx="622300" cy="102235"/>
          </a:xfrm>
          <a:custGeom>
            <a:avLst/>
            <a:gdLst/>
            <a:ahLst/>
            <a:cxnLst/>
            <a:rect l="l" t="t" r="r" b="b"/>
            <a:pathLst>
              <a:path w="622300" h="102234">
                <a:moveTo>
                  <a:pt x="0" y="25526"/>
                </a:moveTo>
                <a:lnTo>
                  <a:pt x="25526" y="0"/>
                </a:lnTo>
                <a:lnTo>
                  <a:pt x="621791" y="0"/>
                </a:lnTo>
                <a:lnTo>
                  <a:pt x="621791" y="76580"/>
                </a:lnTo>
                <a:lnTo>
                  <a:pt x="596264" y="102107"/>
                </a:lnTo>
                <a:lnTo>
                  <a:pt x="0" y="102107"/>
                </a:lnTo>
                <a:lnTo>
                  <a:pt x="0" y="25526"/>
                </a:lnTo>
                <a:close/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29274" y="1032653"/>
            <a:ext cx="622300" cy="26034"/>
          </a:xfrm>
          <a:custGeom>
            <a:avLst/>
            <a:gdLst/>
            <a:ahLst/>
            <a:cxnLst/>
            <a:rect l="l" t="t" r="r" b="b"/>
            <a:pathLst>
              <a:path w="622300" h="26034">
                <a:moveTo>
                  <a:pt x="0" y="25526"/>
                </a:moveTo>
                <a:lnTo>
                  <a:pt x="596264" y="25526"/>
                </a:lnTo>
                <a:lnTo>
                  <a:pt x="621791" y="0"/>
                </a:lnTo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25538" y="1058180"/>
            <a:ext cx="0" cy="76835"/>
          </a:xfrm>
          <a:custGeom>
            <a:avLst/>
            <a:gdLst/>
            <a:ahLst/>
            <a:cxnLst/>
            <a:rect l="l" t="t" r="r" b="b"/>
            <a:pathLst>
              <a:path h="76834">
                <a:moveTo>
                  <a:pt x="0" y="0"/>
                </a:moveTo>
                <a:lnTo>
                  <a:pt x="0" y="76580"/>
                </a:lnTo>
              </a:path>
            </a:pathLst>
          </a:custGeom>
          <a:ln w="476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94222" y="727853"/>
            <a:ext cx="695325" cy="707390"/>
          </a:xfrm>
          <a:custGeom>
            <a:avLst/>
            <a:gdLst/>
            <a:ahLst/>
            <a:cxnLst/>
            <a:rect l="l" t="t" r="r" b="b"/>
            <a:pathLst>
              <a:path w="695325" h="707390">
                <a:moveTo>
                  <a:pt x="0" y="173735"/>
                </a:moveTo>
                <a:lnTo>
                  <a:pt x="173736" y="0"/>
                </a:lnTo>
                <a:lnTo>
                  <a:pt x="694943" y="0"/>
                </a:lnTo>
                <a:lnTo>
                  <a:pt x="694943" y="533400"/>
                </a:lnTo>
                <a:lnTo>
                  <a:pt x="521207" y="707135"/>
                </a:lnTo>
                <a:lnTo>
                  <a:pt x="0" y="707135"/>
                </a:lnTo>
                <a:lnTo>
                  <a:pt x="0" y="17373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94222" y="727853"/>
            <a:ext cx="695325" cy="173990"/>
          </a:xfrm>
          <a:custGeom>
            <a:avLst/>
            <a:gdLst/>
            <a:ahLst/>
            <a:cxnLst/>
            <a:rect l="l" t="t" r="r" b="b"/>
            <a:pathLst>
              <a:path w="695325" h="173990">
                <a:moveTo>
                  <a:pt x="0" y="173735"/>
                </a:moveTo>
                <a:lnTo>
                  <a:pt x="521207" y="173735"/>
                </a:lnTo>
                <a:lnTo>
                  <a:pt x="694943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115430" y="901589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044" y="149097"/>
            <a:ext cx="10274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微软雅黑" panose="020B0503020204020204" charset="-122"/>
                <a:cs typeface="微软雅黑" panose="020B0503020204020204" charset="-122"/>
              </a:rPr>
              <a:t>ResNet</a:t>
            </a:r>
            <a:endParaRPr spc="-2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9" y="291415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1794" y="2918349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8775" y="367554"/>
            <a:ext cx="2828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</a:t>
            </a:r>
            <a:r>
              <a:rPr spc="-10" dirty="0"/>
              <a:t>赛历年冠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5" name="object 5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59582" y="2443915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8555" y="2447782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9565" y="2447782"/>
            <a:ext cx="45529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9718" y="2001917"/>
            <a:ext cx="440690" cy="13462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7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2301" y="2937907"/>
            <a:ext cx="784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300" algn="l"/>
              </a:tabLst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V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G	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oo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gle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N</a:t>
            </a:r>
            <a:endParaRPr sz="1350" baseline="3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4948" y="2942225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8556" y="831485"/>
            <a:ext cx="4857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深度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革命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105494" y="1031605"/>
          <a:ext cx="1921507" cy="21621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60"/>
                <a:gridCol w="90804"/>
                <a:gridCol w="450215"/>
                <a:gridCol w="489584"/>
                <a:gridCol w="512444"/>
              </a:tblGrid>
              <a:tr h="958634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700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6670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700" spc="-7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152</a:t>
                      </a:r>
                      <a:r>
                        <a:rPr sz="700" spc="-7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  <a:tr h="135597">
                <a:tc>
                  <a:txBody>
                    <a:bodyPr/>
                    <a:lstStyle/>
                    <a:p>
                      <a:pPr marL="21590">
                        <a:lnSpc>
                          <a:spcPts val="805"/>
                        </a:lnSpc>
                        <a:spcBef>
                          <a:spcPts val="160"/>
                        </a:spcBef>
                      </a:pPr>
                      <a:r>
                        <a:rPr sz="700" spc="-5" dirty="0">
                          <a:latin typeface="Arial" panose="020B0604020202020204"/>
                          <a:cs typeface="Arial" panose="020B0604020202020204"/>
                        </a:rPr>
                        <a:t>22</a:t>
                      </a:r>
                      <a:r>
                        <a:rPr sz="700" spc="-114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00" spc="-10" dirty="0">
                          <a:latin typeface="Arial" panose="020B0604020202020204"/>
                          <a:cs typeface="Arial" panose="020B0604020202020204"/>
                        </a:rPr>
                        <a:t>layers</a:t>
                      </a:r>
                      <a:endParaRPr sz="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067942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900" spc="-5" dirty="0"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900" spc="1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50" spc="-7" baseline="3000" dirty="0">
                          <a:latin typeface="Calibri" panose="020F0502020204030204"/>
                          <a:cs typeface="Calibri" panose="020F0502020204030204"/>
                        </a:rPr>
                        <a:t>ResNet</a:t>
                      </a:r>
                      <a:endParaRPr sz="1350" baseline="3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65405"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Calibri" panose="020F0502020204030204"/>
                          <a:cs typeface="Calibri" panose="020F0502020204030204"/>
                        </a:rPr>
                        <a:t>T-S</a:t>
                      </a:r>
                      <a:endParaRPr sz="9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50800"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Calibri" panose="020F0502020204030204"/>
                          <a:cs typeface="Calibri" panose="020F0502020204030204"/>
                        </a:rPr>
                        <a:t>SeNet</a:t>
                      </a:r>
                      <a:endParaRPr sz="9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66234" y="2446925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6" y="134111"/>
                </a:lnTo>
                <a:lnTo>
                  <a:pt x="440436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16369" y="1191149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90">
                <a:moveTo>
                  <a:pt x="0" y="135635"/>
                </a:moveTo>
                <a:lnTo>
                  <a:pt x="441960" y="135635"/>
                </a:lnTo>
                <a:lnTo>
                  <a:pt x="441960" y="0"/>
                </a:lnTo>
                <a:lnTo>
                  <a:pt x="0" y="0"/>
                </a:lnTo>
                <a:lnTo>
                  <a:pt x="0" y="135635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067" y="715136"/>
            <a:ext cx="5193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实验：持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向一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础”的卷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上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面叠加更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的层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生什么？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2764" y="1399175"/>
            <a:ext cx="1444752" cy="9723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91352" y="1336691"/>
            <a:ext cx="1418844" cy="1034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89243" y="1897904"/>
            <a:ext cx="68325" cy="170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06388" y="1823101"/>
            <a:ext cx="51435" cy="43180"/>
          </a:xfrm>
          <a:custGeom>
            <a:avLst/>
            <a:gdLst/>
            <a:ahLst/>
            <a:cxnLst/>
            <a:rect l="l" t="t" r="r" b="b"/>
            <a:pathLst>
              <a:path w="51435" h="43180">
                <a:moveTo>
                  <a:pt x="5080" y="7874"/>
                </a:moveTo>
                <a:lnTo>
                  <a:pt x="4063" y="8889"/>
                </a:lnTo>
                <a:lnTo>
                  <a:pt x="1777" y="12446"/>
                </a:lnTo>
                <a:lnTo>
                  <a:pt x="508" y="16509"/>
                </a:lnTo>
                <a:lnTo>
                  <a:pt x="0" y="21081"/>
                </a:lnTo>
                <a:lnTo>
                  <a:pt x="508" y="26034"/>
                </a:lnTo>
                <a:lnTo>
                  <a:pt x="20193" y="42544"/>
                </a:lnTo>
                <a:lnTo>
                  <a:pt x="25526" y="42925"/>
                </a:lnTo>
                <a:lnTo>
                  <a:pt x="31241" y="42544"/>
                </a:lnTo>
                <a:lnTo>
                  <a:pt x="37669" y="37083"/>
                </a:lnTo>
                <a:lnTo>
                  <a:pt x="22225" y="37083"/>
                </a:lnTo>
                <a:lnTo>
                  <a:pt x="16890" y="36322"/>
                </a:lnTo>
                <a:lnTo>
                  <a:pt x="12826" y="34671"/>
                </a:lnTo>
                <a:lnTo>
                  <a:pt x="6603" y="28955"/>
                </a:lnTo>
                <a:lnTo>
                  <a:pt x="5080" y="25400"/>
                </a:lnTo>
                <a:lnTo>
                  <a:pt x="5080" y="7874"/>
                </a:lnTo>
                <a:close/>
              </a:path>
              <a:path w="51435" h="43180">
                <a:moveTo>
                  <a:pt x="27177" y="0"/>
                </a:moveTo>
                <a:lnTo>
                  <a:pt x="25526" y="0"/>
                </a:lnTo>
                <a:lnTo>
                  <a:pt x="22225" y="253"/>
                </a:lnTo>
                <a:lnTo>
                  <a:pt x="22225" y="37083"/>
                </a:lnTo>
                <a:lnTo>
                  <a:pt x="27177" y="37083"/>
                </a:lnTo>
                <a:lnTo>
                  <a:pt x="27177" y="0"/>
                </a:lnTo>
                <a:close/>
              </a:path>
              <a:path w="51435" h="43180">
                <a:moveTo>
                  <a:pt x="46100" y="6603"/>
                </a:moveTo>
                <a:lnTo>
                  <a:pt x="27177" y="37083"/>
                </a:lnTo>
                <a:lnTo>
                  <a:pt x="37669" y="37083"/>
                </a:lnTo>
                <a:lnTo>
                  <a:pt x="50673" y="26034"/>
                </a:lnTo>
                <a:lnTo>
                  <a:pt x="51181" y="21081"/>
                </a:lnTo>
                <a:lnTo>
                  <a:pt x="51181" y="15366"/>
                </a:lnTo>
                <a:lnTo>
                  <a:pt x="49657" y="10794"/>
                </a:lnTo>
                <a:lnTo>
                  <a:pt x="46100" y="6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11468" y="182335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4">
                <a:moveTo>
                  <a:pt x="17144" y="0"/>
                </a:moveTo>
                <a:lnTo>
                  <a:pt x="0" y="7620"/>
                </a:lnTo>
                <a:lnTo>
                  <a:pt x="0" y="16636"/>
                </a:lnTo>
                <a:lnTo>
                  <a:pt x="1650" y="12953"/>
                </a:lnTo>
                <a:lnTo>
                  <a:pt x="8254" y="7365"/>
                </a:lnTo>
                <a:lnTo>
                  <a:pt x="12318" y="5842"/>
                </a:lnTo>
                <a:lnTo>
                  <a:pt x="17144" y="5714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40298" y="1823355"/>
            <a:ext cx="12700" cy="17145"/>
          </a:xfrm>
          <a:custGeom>
            <a:avLst/>
            <a:gdLst/>
            <a:ahLst/>
            <a:cxnLst/>
            <a:rect l="l" t="t" r="r" b="b"/>
            <a:pathLst>
              <a:path w="12700" h="17144">
                <a:moveTo>
                  <a:pt x="0" y="0"/>
                </a:moveTo>
                <a:lnTo>
                  <a:pt x="0" y="5842"/>
                </a:lnTo>
                <a:lnTo>
                  <a:pt x="4063" y="6984"/>
                </a:lnTo>
                <a:lnTo>
                  <a:pt x="7238" y="8762"/>
                </a:lnTo>
                <a:lnTo>
                  <a:pt x="9271" y="11302"/>
                </a:lnTo>
                <a:lnTo>
                  <a:pt x="11302" y="13715"/>
                </a:lnTo>
                <a:lnTo>
                  <a:pt x="12191" y="17018"/>
                </a:lnTo>
                <a:lnTo>
                  <a:pt x="12191" y="6350"/>
                </a:lnTo>
                <a:lnTo>
                  <a:pt x="10032" y="3809"/>
                </a:lnTo>
                <a:lnTo>
                  <a:pt x="5714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07150" y="1791605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79"/>
                </a:lnTo>
                <a:lnTo>
                  <a:pt x="1015" y="8508"/>
                </a:lnTo>
                <a:lnTo>
                  <a:pt x="5334" y="14350"/>
                </a:lnTo>
                <a:lnTo>
                  <a:pt x="8254" y="16509"/>
                </a:lnTo>
                <a:lnTo>
                  <a:pt x="11937" y="18033"/>
                </a:lnTo>
                <a:lnTo>
                  <a:pt x="11937" y="14097"/>
                </a:lnTo>
                <a:lnTo>
                  <a:pt x="10922" y="13080"/>
                </a:lnTo>
                <a:lnTo>
                  <a:pt x="7620" y="9905"/>
                </a:lnTo>
                <a:lnTo>
                  <a:pt x="5969" y="5714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07786" y="1805702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3"/>
                </a:lnTo>
                <a:lnTo>
                  <a:pt x="0" y="4063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2"/>
                </a:lnTo>
                <a:lnTo>
                  <a:pt x="17779" y="3682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07150" y="1762268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80"/>
                </a:lnTo>
                <a:lnTo>
                  <a:pt x="1015" y="8509"/>
                </a:lnTo>
                <a:lnTo>
                  <a:pt x="5334" y="14350"/>
                </a:lnTo>
                <a:lnTo>
                  <a:pt x="8254" y="16510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208"/>
                </a:lnTo>
                <a:lnTo>
                  <a:pt x="7620" y="10033"/>
                </a:lnTo>
                <a:lnTo>
                  <a:pt x="5969" y="5715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07786" y="1776365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4"/>
                </a:lnTo>
                <a:lnTo>
                  <a:pt x="0" y="4064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3"/>
                </a:lnTo>
                <a:lnTo>
                  <a:pt x="17779" y="3683"/>
                </a:lnTo>
                <a:lnTo>
                  <a:pt x="13588" y="2159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06388" y="1721755"/>
            <a:ext cx="51435" cy="37465"/>
          </a:xfrm>
          <a:custGeom>
            <a:avLst/>
            <a:gdLst/>
            <a:ahLst/>
            <a:cxnLst/>
            <a:rect l="l" t="t" r="r" b="b"/>
            <a:pathLst>
              <a:path w="51435" h="37464">
                <a:moveTo>
                  <a:pt x="5080" y="380"/>
                </a:moveTo>
                <a:lnTo>
                  <a:pt x="4063" y="1397"/>
                </a:lnTo>
                <a:lnTo>
                  <a:pt x="1777" y="5333"/>
                </a:lnTo>
                <a:lnTo>
                  <a:pt x="508" y="9651"/>
                </a:lnTo>
                <a:lnTo>
                  <a:pt x="0" y="14477"/>
                </a:lnTo>
                <a:lnTo>
                  <a:pt x="508" y="19430"/>
                </a:lnTo>
                <a:lnTo>
                  <a:pt x="20193" y="36829"/>
                </a:lnTo>
                <a:lnTo>
                  <a:pt x="25526" y="37210"/>
                </a:lnTo>
                <a:lnTo>
                  <a:pt x="30861" y="36829"/>
                </a:lnTo>
                <a:lnTo>
                  <a:pt x="37079" y="31369"/>
                </a:lnTo>
                <a:lnTo>
                  <a:pt x="19812" y="31369"/>
                </a:lnTo>
                <a:lnTo>
                  <a:pt x="14986" y="29845"/>
                </a:lnTo>
                <a:lnTo>
                  <a:pt x="6985" y="23622"/>
                </a:lnTo>
                <a:lnTo>
                  <a:pt x="5080" y="19557"/>
                </a:lnTo>
                <a:lnTo>
                  <a:pt x="5080" y="380"/>
                </a:lnTo>
                <a:close/>
              </a:path>
              <a:path w="51435" h="37464">
                <a:moveTo>
                  <a:pt x="46100" y="0"/>
                </a:moveTo>
                <a:lnTo>
                  <a:pt x="46100" y="19557"/>
                </a:lnTo>
                <a:lnTo>
                  <a:pt x="44196" y="23749"/>
                </a:lnTo>
                <a:lnTo>
                  <a:pt x="40132" y="26797"/>
                </a:lnTo>
                <a:lnTo>
                  <a:pt x="36195" y="29845"/>
                </a:lnTo>
                <a:lnTo>
                  <a:pt x="31241" y="31369"/>
                </a:lnTo>
                <a:lnTo>
                  <a:pt x="37079" y="31369"/>
                </a:lnTo>
                <a:lnTo>
                  <a:pt x="50673" y="19430"/>
                </a:lnTo>
                <a:lnTo>
                  <a:pt x="51181" y="14477"/>
                </a:lnTo>
                <a:lnTo>
                  <a:pt x="51145" y="9651"/>
                </a:lnTo>
                <a:lnTo>
                  <a:pt x="50037" y="5714"/>
                </a:lnTo>
                <a:lnTo>
                  <a:pt x="47625" y="2158"/>
                </a:lnTo>
                <a:lnTo>
                  <a:pt x="4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11468" y="1713500"/>
            <a:ext cx="41275" cy="17780"/>
          </a:xfrm>
          <a:custGeom>
            <a:avLst/>
            <a:gdLst/>
            <a:ahLst/>
            <a:cxnLst/>
            <a:rect l="l" t="t" r="r" b="b"/>
            <a:pathLst>
              <a:path w="41275" h="17780">
                <a:moveTo>
                  <a:pt x="25018" y="0"/>
                </a:moveTo>
                <a:lnTo>
                  <a:pt x="20446" y="0"/>
                </a:lnTo>
                <a:lnTo>
                  <a:pt x="0" y="8635"/>
                </a:lnTo>
                <a:lnTo>
                  <a:pt x="0" y="17652"/>
                </a:lnTo>
                <a:lnTo>
                  <a:pt x="1904" y="13588"/>
                </a:lnTo>
                <a:lnTo>
                  <a:pt x="10032" y="7492"/>
                </a:lnTo>
                <a:lnTo>
                  <a:pt x="14731" y="5968"/>
                </a:lnTo>
                <a:lnTo>
                  <a:pt x="38970" y="5968"/>
                </a:lnTo>
                <a:lnTo>
                  <a:pt x="37083" y="4317"/>
                </a:lnTo>
                <a:lnTo>
                  <a:pt x="33146" y="2666"/>
                </a:lnTo>
                <a:lnTo>
                  <a:pt x="29209" y="888"/>
                </a:lnTo>
                <a:lnTo>
                  <a:pt x="25018" y="0"/>
                </a:lnTo>
                <a:close/>
              </a:path>
              <a:path w="41275" h="17780">
                <a:moveTo>
                  <a:pt x="38970" y="5968"/>
                </a:moveTo>
                <a:lnTo>
                  <a:pt x="26161" y="5968"/>
                </a:lnTo>
                <a:lnTo>
                  <a:pt x="30987" y="7492"/>
                </a:lnTo>
                <a:lnTo>
                  <a:pt x="39115" y="13588"/>
                </a:lnTo>
                <a:lnTo>
                  <a:pt x="41020" y="17652"/>
                </a:lnTo>
                <a:lnTo>
                  <a:pt x="41020" y="8254"/>
                </a:lnTo>
                <a:lnTo>
                  <a:pt x="40131" y="6984"/>
                </a:lnTo>
                <a:lnTo>
                  <a:pt x="38970" y="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07150" y="1681115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207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208"/>
                </a:lnTo>
                <a:lnTo>
                  <a:pt x="7620" y="10033"/>
                </a:lnTo>
                <a:lnTo>
                  <a:pt x="5969" y="5842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07786" y="1695212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5" h="10160">
                <a:moveTo>
                  <a:pt x="11302" y="0"/>
                </a:moveTo>
                <a:lnTo>
                  <a:pt x="11302" y="4191"/>
                </a:lnTo>
                <a:lnTo>
                  <a:pt x="0" y="4191"/>
                </a:lnTo>
                <a:lnTo>
                  <a:pt x="0" y="9651"/>
                </a:lnTo>
                <a:lnTo>
                  <a:pt x="48387" y="9651"/>
                </a:lnTo>
                <a:lnTo>
                  <a:pt x="48387" y="3810"/>
                </a:lnTo>
                <a:lnTo>
                  <a:pt x="17779" y="3810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1068" y="692166"/>
            <a:ext cx="5193665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实验：持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向一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础”的卷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上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面叠加更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的层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生什么？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871855">
              <a:lnSpc>
                <a:spcPct val="100000"/>
              </a:lnSpc>
              <a:tabLst>
                <a:tab pos="3187700" algn="l"/>
              </a:tabLst>
            </a:pP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	</a:t>
            </a: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测试集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2763" y="1421256"/>
            <a:ext cx="1444752" cy="9723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91352" y="1358772"/>
            <a:ext cx="1418844" cy="10347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89243" y="1919985"/>
            <a:ext cx="68325" cy="170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06388" y="1845182"/>
            <a:ext cx="51435" cy="43180"/>
          </a:xfrm>
          <a:custGeom>
            <a:avLst/>
            <a:gdLst/>
            <a:ahLst/>
            <a:cxnLst/>
            <a:rect l="l" t="t" r="r" b="b"/>
            <a:pathLst>
              <a:path w="51435" h="43180">
                <a:moveTo>
                  <a:pt x="5080" y="7873"/>
                </a:moveTo>
                <a:lnTo>
                  <a:pt x="4063" y="8889"/>
                </a:lnTo>
                <a:lnTo>
                  <a:pt x="1777" y="12445"/>
                </a:lnTo>
                <a:lnTo>
                  <a:pt x="508" y="16509"/>
                </a:lnTo>
                <a:lnTo>
                  <a:pt x="0" y="21081"/>
                </a:lnTo>
                <a:lnTo>
                  <a:pt x="508" y="26034"/>
                </a:lnTo>
                <a:lnTo>
                  <a:pt x="20193" y="42544"/>
                </a:lnTo>
                <a:lnTo>
                  <a:pt x="25526" y="42925"/>
                </a:lnTo>
                <a:lnTo>
                  <a:pt x="31241" y="42544"/>
                </a:lnTo>
                <a:lnTo>
                  <a:pt x="37669" y="37083"/>
                </a:lnTo>
                <a:lnTo>
                  <a:pt x="22225" y="37083"/>
                </a:lnTo>
                <a:lnTo>
                  <a:pt x="16890" y="36321"/>
                </a:lnTo>
                <a:lnTo>
                  <a:pt x="12826" y="34670"/>
                </a:lnTo>
                <a:lnTo>
                  <a:pt x="6603" y="28955"/>
                </a:lnTo>
                <a:lnTo>
                  <a:pt x="5080" y="25400"/>
                </a:lnTo>
                <a:lnTo>
                  <a:pt x="5080" y="7873"/>
                </a:lnTo>
                <a:close/>
              </a:path>
              <a:path w="51435" h="43180">
                <a:moveTo>
                  <a:pt x="27177" y="0"/>
                </a:moveTo>
                <a:lnTo>
                  <a:pt x="25526" y="0"/>
                </a:lnTo>
                <a:lnTo>
                  <a:pt x="22225" y="253"/>
                </a:lnTo>
                <a:lnTo>
                  <a:pt x="22225" y="37083"/>
                </a:lnTo>
                <a:lnTo>
                  <a:pt x="27177" y="37083"/>
                </a:lnTo>
                <a:lnTo>
                  <a:pt x="27177" y="0"/>
                </a:lnTo>
                <a:close/>
              </a:path>
              <a:path w="51435" h="43180">
                <a:moveTo>
                  <a:pt x="46100" y="6603"/>
                </a:moveTo>
                <a:lnTo>
                  <a:pt x="27177" y="37083"/>
                </a:lnTo>
                <a:lnTo>
                  <a:pt x="37669" y="37083"/>
                </a:lnTo>
                <a:lnTo>
                  <a:pt x="50673" y="26034"/>
                </a:lnTo>
                <a:lnTo>
                  <a:pt x="51181" y="21081"/>
                </a:lnTo>
                <a:lnTo>
                  <a:pt x="51181" y="15366"/>
                </a:lnTo>
                <a:lnTo>
                  <a:pt x="49657" y="10794"/>
                </a:lnTo>
                <a:lnTo>
                  <a:pt x="46100" y="6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11468" y="184543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4">
                <a:moveTo>
                  <a:pt x="17144" y="0"/>
                </a:moveTo>
                <a:lnTo>
                  <a:pt x="0" y="7619"/>
                </a:lnTo>
                <a:lnTo>
                  <a:pt x="0" y="16637"/>
                </a:lnTo>
                <a:lnTo>
                  <a:pt x="1650" y="12954"/>
                </a:lnTo>
                <a:lnTo>
                  <a:pt x="8254" y="7366"/>
                </a:lnTo>
                <a:lnTo>
                  <a:pt x="12318" y="5842"/>
                </a:lnTo>
                <a:lnTo>
                  <a:pt x="17144" y="5715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40297" y="1845436"/>
            <a:ext cx="12700" cy="17145"/>
          </a:xfrm>
          <a:custGeom>
            <a:avLst/>
            <a:gdLst/>
            <a:ahLst/>
            <a:cxnLst/>
            <a:rect l="l" t="t" r="r" b="b"/>
            <a:pathLst>
              <a:path w="12700" h="17144">
                <a:moveTo>
                  <a:pt x="0" y="0"/>
                </a:moveTo>
                <a:lnTo>
                  <a:pt x="0" y="5842"/>
                </a:lnTo>
                <a:lnTo>
                  <a:pt x="4063" y="6985"/>
                </a:lnTo>
                <a:lnTo>
                  <a:pt x="7238" y="8762"/>
                </a:lnTo>
                <a:lnTo>
                  <a:pt x="9271" y="11303"/>
                </a:lnTo>
                <a:lnTo>
                  <a:pt x="11302" y="13716"/>
                </a:lnTo>
                <a:lnTo>
                  <a:pt x="12191" y="17018"/>
                </a:lnTo>
                <a:lnTo>
                  <a:pt x="12191" y="6350"/>
                </a:lnTo>
                <a:lnTo>
                  <a:pt x="10032" y="3682"/>
                </a:lnTo>
                <a:lnTo>
                  <a:pt x="5714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07150" y="1813686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80"/>
                </a:lnTo>
                <a:lnTo>
                  <a:pt x="1015" y="8509"/>
                </a:lnTo>
                <a:lnTo>
                  <a:pt x="5334" y="14350"/>
                </a:lnTo>
                <a:lnTo>
                  <a:pt x="8254" y="16510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081"/>
                </a:lnTo>
                <a:lnTo>
                  <a:pt x="7620" y="9906"/>
                </a:lnTo>
                <a:lnTo>
                  <a:pt x="5969" y="5715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07785" y="1827783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3"/>
                </a:lnTo>
                <a:lnTo>
                  <a:pt x="0" y="4063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2"/>
                </a:lnTo>
                <a:lnTo>
                  <a:pt x="17779" y="3682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07150" y="1784350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80"/>
                </a:lnTo>
                <a:lnTo>
                  <a:pt x="1015" y="8509"/>
                </a:lnTo>
                <a:lnTo>
                  <a:pt x="5334" y="14350"/>
                </a:lnTo>
                <a:lnTo>
                  <a:pt x="8254" y="16510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208"/>
                </a:lnTo>
                <a:lnTo>
                  <a:pt x="7620" y="10033"/>
                </a:lnTo>
                <a:lnTo>
                  <a:pt x="5969" y="5715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07785" y="1798446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3"/>
                </a:lnTo>
                <a:lnTo>
                  <a:pt x="0" y="4063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2"/>
                </a:lnTo>
                <a:lnTo>
                  <a:pt x="17779" y="3682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06388" y="1743836"/>
            <a:ext cx="51435" cy="37465"/>
          </a:xfrm>
          <a:custGeom>
            <a:avLst/>
            <a:gdLst/>
            <a:ahLst/>
            <a:cxnLst/>
            <a:rect l="l" t="t" r="r" b="b"/>
            <a:pathLst>
              <a:path w="51435" h="37464">
                <a:moveTo>
                  <a:pt x="5080" y="381"/>
                </a:moveTo>
                <a:lnTo>
                  <a:pt x="4063" y="1397"/>
                </a:lnTo>
                <a:lnTo>
                  <a:pt x="1777" y="5334"/>
                </a:lnTo>
                <a:lnTo>
                  <a:pt x="508" y="9651"/>
                </a:lnTo>
                <a:lnTo>
                  <a:pt x="0" y="14478"/>
                </a:lnTo>
                <a:lnTo>
                  <a:pt x="508" y="19431"/>
                </a:lnTo>
                <a:lnTo>
                  <a:pt x="20193" y="36830"/>
                </a:lnTo>
                <a:lnTo>
                  <a:pt x="25526" y="37211"/>
                </a:lnTo>
                <a:lnTo>
                  <a:pt x="30861" y="36830"/>
                </a:lnTo>
                <a:lnTo>
                  <a:pt x="37079" y="31368"/>
                </a:lnTo>
                <a:lnTo>
                  <a:pt x="19812" y="31368"/>
                </a:lnTo>
                <a:lnTo>
                  <a:pt x="14986" y="29844"/>
                </a:lnTo>
                <a:lnTo>
                  <a:pt x="6985" y="23622"/>
                </a:lnTo>
                <a:lnTo>
                  <a:pt x="5080" y="19557"/>
                </a:lnTo>
                <a:lnTo>
                  <a:pt x="5080" y="381"/>
                </a:lnTo>
                <a:close/>
              </a:path>
              <a:path w="51435" h="37464">
                <a:moveTo>
                  <a:pt x="46100" y="0"/>
                </a:moveTo>
                <a:lnTo>
                  <a:pt x="46100" y="19557"/>
                </a:lnTo>
                <a:lnTo>
                  <a:pt x="44196" y="23749"/>
                </a:lnTo>
                <a:lnTo>
                  <a:pt x="40132" y="26797"/>
                </a:lnTo>
                <a:lnTo>
                  <a:pt x="36195" y="29844"/>
                </a:lnTo>
                <a:lnTo>
                  <a:pt x="31241" y="31368"/>
                </a:lnTo>
                <a:lnTo>
                  <a:pt x="37079" y="31368"/>
                </a:lnTo>
                <a:lnTo>
                  <a:pt x="50673" y="19431"/>
                </a:lnTo>
                <a:lnTo>
                  <a:pt x="51181" y="14478"/>
                </a:lnTo>
                <a:lnTo>
                  <a:pt x="51145" y="9651"/>
                </a:lnTo>
                <a:lnTo>
                  <a:pt x="50037" y="5715"/>
                </a:lnTo>
                <a:lnTo>
                  <a:pt x="47625" y="2159"/>
                </a:lnTo>
                <a:lnTo>
                  <a:pt x="4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11468" y="1735581"/>
            <a:ext cx="41275" cy="17780"/>
          </a:xfrm>
          <a:custGeom>
            <a:avLst/>
            <a:gdLst/>
            <a:ahLst/>
            <a:cxnLst/>
            <a:rect l="l" t="t" r="r" b="b"/>
            <a:pathLst>
              <a:path w="41275" h="17780">
                <a:moveTo>
                  <a:pt x="25018" y="0"/>
                </a:moveTo>
                <a:lnTo>
                  <a:pt x="20446" y="0"/>
                </a:lnTo>
                <a:lnTo>
                  <a:pt x="0" y="8636"/>
                </a:lnTo>
                <a:lnTo>
                  <a:pt x="0" y="17653"/>
                </a:lnTo>
                <a:lnTo>
                  <a:pt x="1904" y="13589"/>
                </a:lnTo>
                <a:lnTo>
                  <a:pt x="10032" y="7493"/>
                </a:lnTo>
                <a:lnTo>
                  <a:pt x="14731" y="5968"/>
                </a:lnTo>
                <a:lnTo>
                  <a:pt x="38970" y="5968"/>
                </a:lnTo>
                <a:lnTo>
                  <a:pt x="37083" y="4318"/>
                </a:lnTo>
                <a:lnTo>
                  <a:pt x="33146" y="2667"/>
                </a:lnTo>
                <a:lnTo>
                  <a:pt x="29209" y="889"/>
                </a:lnTo>
                <a:lnTo>
                  <a:pt x="25018" y="0"/>
                </a:lnTo>
                <a:close/>
              </a:path>
              <a:path w="41275" h="17780">
                <a:moveTo>
                  <a:pt x="38970" y="5968"/>
                </a:moveTo>
                <a:lnTo>
                  <a:pt x="26161" y="5968"/>
                </a:lnTo>
                <a:lnTo>
                  <a:pt x="30987" y="7493"/>
                </a:lnTo>
                <a:lnTo>
                  <a:pt x="39115" y="13589"/>
                </a:lnTo>
                <a:lnTo>
                  <a:pt x="41020" y="17653"/>
                </a:lnTo>
                <a:lnTo>
                  <a:pt x="41020" y="8255"/>
                </a:lnTo>
                <a:lnTo>
                  <a:pt x="40131" y="6985"/>
                </a:lnTo>
                <a:lnTo>
                  <a:pt x="38970" y="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07150" y="1703196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206"/>
                </a:lnTo>
                <a:lnTo>
                  <a:pt x="11937" y="18033"/>
                </a:lnTo>
                <a:lnTo>
                  <a:pt x="11937" y="14096"/>
                </a:lnTo>
                <a:lnTo>
                  <a:pt x="10922" y="13207"/>
                </a:lnTo>
                <a:lnTo>
                  <a:pt x="7620" y="10032"/>
                </a:lnTo>
                <a:lnTo>
                  <a:pt x="5969" y="5841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07785" y="1717293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5" h="10160">
                <a:moveTo>
                  <a:pt x="11302" y="0"/>
                </a:moveTo>
                <a:lnTo>
                  <a:pt x="11302" y="4191"/>
                </a:lnTo>
                <a:lnTo>
                  <a:pt x="0" y="4191"/>
                </a:lnTo>
                <a:lnTo>
                  <a:pt x="0" y="9652"/>
                </a:lnTo>
                <a:lnTo>
                  <a:pt x="48387" y="9652"/>
                </a:lnTo>
                <a:lnTo>
                  <a:pt x="48387" y="3810"/>
                </a:lnTo>
                <a:lnTo>
                  <a:pt x="17779" y="3810"/>
                </a:lnTo>
                <a:lnTo>
                  <a:pt x="13588" y="2159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347841" y="2574163"/>
            <a:ext cx="1740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猜测：加深网络层数引起过拟合， 导致错误率上升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067" y="715136"/>
            <a:ext cx="5193665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实验：持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向一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础”的卷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上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面叠加更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的层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生什么？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871855">
              <a:lnSpc>
                <a:spcPct val="100000"/>
              </a:lnSpc>
              <a:tabLst>
                <a:tab pos="3187700" algn="l"/>
              </a:tabLst>
            </a:pP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	</a:t>
            </a: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测试集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2764" y="1399175"/>
            <a:ext cx="1444752" cy="9723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91352" y="1336691"/>
            <a:ext cx="1418844" cy="1034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89243" y="1897904"/>
            <a:ext cx="68325" cy="170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06388" y="1823101"/>
            <a:ext cx="51435" cy="43180"/>
          </a:xfrm>
          <a:custGeom>
            <a:avLst/>
            <a:gdLst/>
            <a:ahLst/>
            <a:cxnLst/>
            <a:rect l="l" t="t" r="r" b="b"/>
            <a:pathLst>
              <a:path w="51435" h="43180">
                <a:moveTo>
                  <a:pt x="5080" y="7874"/>
                </a:moveTo>
                <a:lnTo>
                  <a:pt x="4063" y="8889"/>
                </a:lnTo>
                <a:lnTo>
                  <a:pt x="1777" y="12446"/>
                </a:lnTo>
                <a:lnTo>
                  <a:pt x="508" y="16509"/>
                </a:lnTo>
                <a:lnTo>
                  <a:pt x="0" y="21081"/>
                </a:lnTo>
                <a:lnTo>
                  <a:pt x="508" y="26034"/>
                </a:lnTo>
                <a:lnTo>
                  <a:pt x="20193" y="42544"/>
                </a:lnTo>
                <a:lnTo>
                  <a:pt x="25526" y="42925"/>
                </a:lnTo>
                <a:lnTo>
                  <a:pt x="31241" y="42544"/>
                </a:lnTo>
                <a:lnTo>
                  <a:pt x="37669" y="37083"/>
                </a:lnTo>
                <a:lnTo>
                  <a:pt x="22225" y="37083"/>
                </a:lnTo>
                <a:lnTo>
                  <a:pt x="16890" y="36322"/>
                </a:lnTo>
                <a:lnTo>
                  <a:pt x="12826" y="34671"/>
                </a:lnTo>
                <a:lnTo>
                  <a:pt x="6603" y="28955"/>
                </a:lnTo>
                <a:lnTo>
                  <a:pt x="5080" y="25400"/>
                </a:lnTo>
                <a:lnTo>
                  <a:pt x="5080" y="7874"/>
                </a:lnTo>
                <a:close/>
              </a:path>
              <a:path w="51435" h="43180">
                <a:moveTo>
                  <a:pt x="27177" y="0"/>
                </a:moveTo>
                <a:lnTo>
                  <a:pt x="25526" y="0"/>
                </a:lnTo>
                <a:lnTo>
                  <a:pt x="22225" y="253"/>
                </a:lnTo>
                <a:lnTo>
                  <a:pt x="22225" y="37083"/>
                </a:lnTo>
                <a:lnTo>
                  <a:pt x="27177" y="37083"/>
                </a:lnTo>
                <a:lnTo>
                  <a:pt x="27177" y="0"/>
                </a:lnTo>
                <a:close/>
              </a:path>
              <a:path w="51435" h="43180">
                <a:moveTo>
                  <a:pt x="46100" y="6603"/>
                </a:moveTo>
                <a:lnTo>
                  <a:pt x="27177" y="37083"/>
                </a:lnTo>
                <a:lnTo>
                  <a:pt x="37669" y="37083"/>
                </a:lnTo>
                <a:lnTo>
                  <a:pt x="50673" y="26034"/>
                </a:lnTo>
                <a:lnTo>
                  <a:pt x="51181" y="21081"/>
                </a:lnTo>
                <a:lnTo>
                  <a:pt x="51181" y="15366"/>
                </a:lnTo>
                <a:lnTo>
                  <a:pt x="49657" y="10794"/>
                </a:lnTo>
                <a:lnTo>
                  <a:pt x="46100" y="6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11468" y="182335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4">
                <a:moveTo>
                  <a:pt x="17144" y="0"/>
                </a:moveTo>
                <a:lnTo>
                  <a:pt x="0" y="7620"/>
                </a:lnTo>
                <a:lnTo>
                  <a:pt x="0" y="16636"/>
                </a:lnTo>
                <a:lnTo>
                  <a:pt x="1650" y="12953"/>
                </a:lnTo>
                <a:lnTo>
                  <a:pt x="8254" y="7365"/>
                </a:lnTo>
                <a:lnTo>
                  <a:pt x="12318" y="5842"/>
                </a:lnTo>
                <a:lnTo>
                  <a:pt x="17144" y="5714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40298" y="1823355"/>
            <a:ext cx="12700" cy="17145"/>
          </a:xfrm>
          <a:custGeom>
            <a:avLst/>
            <a:gdLst/>
            <a:ahLst/>
            <a:cxnLst/>
            <a:rect l="l" t="t" r="r" b="b"/>
            <a:pathLst>
              <a:path w="12700" h="17144">
                <a:moveTo>
                  <a:pt x="0" y="0"/>
                </a:moveTo>
                <a:lnTo>
                  <a:pt x="0" y="5842"/>
                </a:lnTo>
                <a:lnTo>
                  <a:pt x="4063" y="6984"/>
                </a:lnTo>
                <a:lnTo>
                  <a:pt x="7238" y="8762"/>
                </a:lnTo>
                <a:lnTo>
                  <a:pt x="9271" y="11302"/>
                </a:lnTo>
                <a:lnTo>
                  <a:pt x="11302" y="13715"/>
                </a:lnTo>
                <a:lnTo>
                  <a:pt x="12191" y="17018"/>
                </a:lnTo>
                <a:lnTo>
                  <a:pt x="12191" y="6350"/>
                </a:lnTo>
                <a:lnTo>
                  <a:pt x="10032" y="3809"/>
                </a:lnTo>
                <a:lnTo>
                  <a:pt x="5714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07150" y="1791605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79"/>
                </a:lnTo>
                <a:lnTo>
                  <a:pt x="1015" y="8508"/>
                </a:lnTo>
                <a:lnTo>
                  <a:pt x="5334" y="14350"/>
                </a:lnTo>
                <a:lnTo>
                  <a:pt x="8254" y="16509"/>
                </a:lnTo>
                <a:lnTo>
                  <a:pt x="11937" y="18033"/>
                </a:lnTo>
                <a:lnTo>
                  <a:pt x="11937" y="14097"/>
                </a:lnTo>
                <a:lnTo>
                  <a:pt x="10922" y="13080"/>
                </a:lnTo>
                <a:lnTo>
                  <a:pt x="7620" y="9905"/>
                </a:lnTo>
                <a:lnTo>
                  <a:pt x="5969" y="5714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07786" y="1805702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3"/>
                </a:lnTo>
                <a:lnTo>
                  <a:pt x="0" y="4063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2"/>
                </a:lnTo>
                <a:lnTo>
                  <a:pt x="17779" y="3682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07150" y="1762268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80"/>
                </a:lnTo>
                <a:lnTo>
                  <a:pt x="1015" y="8509"/>
                </a:lnTo>
                <a:lnTo>
                  <a:pt x="5334" y="14350"/>
                </a:lnTo>
                <a:lnTo>
                  <a:pt x="8254" y="16510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208"/>
                </a:lnTo>
                <a:lnTo>
                  <a:pt x="7620" y="10033"/>
                </a:lnTo>
                <a:lnTo>
                  <a:pt x="5969" y="5715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07786" y="1776365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4"/>
                </a:lnTo>
                <a:lnTo>
                  <a:pt x="0" y="4064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3"/>
                </a:lnTo>
                <a:lnTo>
                  <a:pt x="17779" y="3683"/>
                </a:lnTo>
                <a:lnTo>
                  <a:pt x="13588" y="2159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06388" y="1721755"/>
            <a:ext cx="51435" cy="37465"/>
          </a:xfrm>
          <a:custGeom>
            <a:avLst/>
            <a:gdLst/>
            <a:ahLst/>
            <a:cxnLst/>
            <a:rect l="l" t="t" r="r" b="b"/>
            <a:pathLst>
              <a:path w="51435" h="37464">
                <a:moveTo>
                  <a:pt x="5080" y="380"/>
                </a:moveTo>
                <a:lnTo>
                  <a:pt x="4063" y="1397"/>
                </a:lnTo>
                <a:lnTo>
                  <a:pt x="1777" y="5333"/>
                </a:lnTo>
                <a:lnTo>
                  <a:pt x="508" y="9651"/>
                </a:lnTo>
                <a:lnTo>
                  <a:pt x="0" y="14477"/>
                </a:lnTo>
                <a:lnTo>
                  <a:pt x="508" y="19430"/>
                </a:lnTo>
                <a:lnTo>
                  <a:pt x="20193" y="36829"/>
                </a:lnTo>
                <a:lnTo>
                  <a:pt x="25526" y="37210"/>
                </a:lnTo>
                <a:lnTo>
                  <a:pt x="30861" y="36829"/>
                </a:lnTo>
                <a:lnTo>
                  <a:pt x="37079" y="31369"/>
                </a:lnTo>
                <a:lnTo>
                  <a:pt x="19812" y="31369"/>
                </a:lnTo>
                <a:lnTo>
                  <a:pt x="14986" y="29845"/>
                </a:lnTo>
                <a:lnTo>
                  <a:pt x="6985" y="23622"/>
                </a:lnTo>
                <a:lnTo>
                  <a:pt x="5080" y="19557"/>
                </a:lnTo>
                <a:lnTo>
                  <a:pt x="5080" y="380"/>
                </a:lnTo>
                <a:close/>
              </a:path>
              <a:path w="51435" h="37464">
                <a:moveTo>
                  <a:pt x="46100" y="0"/>
                </a:moveTo>
                <a:lnTo>
                  <a:pt x="46100" y="19557"/>
                </a:lnTo>
                <a:lnTo>
                  <a:pt x="44196" y="23749"/>
                </a:lnTo>
                <a:lnTo>
                  <a:pt x="40132" y="26797"/>
                </a:lnTo>
                <a:lnTo>
                  <a:pt x="36195" y="29845"/>
                </a:lnTo>
                <a:lnTo>
                  <a:pt x="31241" y="31369"/>
                </a:lnTo>
                <a:lnTo>
                  <a:pt x="37079" y="31369"/>
                </a:lnTo>
                <a:lnTo>
                  <a:pt x="50673" y="19430"/>
                </a:lnTo>
                <a:lnTo>
                  <a:pt x="51181" y="14477"/>
                </a:lnTo>
                <a:lnTo>
                  <a:pt x="51145" y="9651"/>
                </a:lnTo>
                <a:lnTo>
                  <a:pt x="50037" y="5714"/>
                </a:lnTo>
                <a:lnTo>
                  <a:pt x="47625" y="2158"/>
                </a:lnTo>
                <a:lnTo>
                  <a:pt x="4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11468" y="1713500"/>
            <a:ext cx="41275" cy="17780"/>
          </a:xfrm>
          <a:custGeom>
            <a:avLst/>
            <a:gdLst/>
            <a:ahLst/>
            <a:cxnLst/>
            <a:rect l="l" t="t" r="r" b="b"/>
            <a:pathLst>
              <a:path w="41275" h="17780">
                <a:moveTo>
                  <a:pt x="25018" y="0"/>
                </a:moveTo>
                <a:lnTo>
                  <a:pt x="20446" y="0"/>
                </a:lnTo>
                <a:lnTo>
                  <a:pt x="0" y="8635"/>
                </a:lnTo>
                <a:lnTo>
                  <a:pt x="0" y="17652"/>
                </a:lnTo>
                <a:lnTo>
                  <a:pt x="1904" y="13588"/>
                </a:lnTo>
                <a:lnTo>
                  <a:pt x="10032" y="7492"/>
                </a:lnTo>
                <a:lnTo>
                  <a:pt x="14731" y="5968"/>
                </a:lnTo>
                <a:lnTo>
                  <a:pt x="38970" y="5968"/>
                </a:lnTo>
                <a:lnTo>
                  <a:pt x="37083" y="4317"/>
                </a:lnTo>
                <a:lnTo>
                  <a:pt x="33146" y="2666"/>
                </a:lnTo>
                <a:lnTo>
                  <a:pt x="29209" y="888"/>
                </a:lnTo>
                <a:lnTo>
                  <a:pt x="25018" y="0"/>
                </a:lnTo>
                <a:close/>
              </a:path>
              <a:path w="41275" h="17780">
                <a:moveTo>
                  <a:pt x="38970" y="5968"/>
                </a:moveTo>
                <a:lnTo>
                  <a:pt x="26161" y="5968"/>
                </a:lnTo>
                <a:lnTo>
                  <a:pt x="30987" y="7492"/>
                </a:lnTo>
                <a:lnTo>
                  <a:pt x="39115" y="13588"/>
                </a:lnTo>
                <a:lnTo>
                  <a:pt x="41020" y="17652"/>
                </a:lnTo>
                <a:lnTo>
                  <a:pt x="41020" y="8254"/>
                </a:lnTo>
                <a:lnTo>
                  <a:pt x="40131" y="6984"/>
                </a:lnTo>
                <a:lnTo>
                  <a:pt x="38970" y="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07150" y="1681115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207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208"/>
                </a:lnTo>
                <a:lnTo>
                  <a:pt x="7620" y="10033"/>
                </a:lnTo>
                <a:lnTo>
                  <a:pt x="5969" y="5842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07786" y="1695212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5" h="10160">
                <a:moveTo>
                  <a:pt x="11302" y="0"/>
                </a:moveTo>
                <a:lnTo>
                  <a:pt x="11302" y="4191"/>
                </a:lnTo>
                <a:lnTo>
                  <a:pt x="0" y="4191"/>
                </a:lnTo>
                <a:lnTo>
                  <a:pt x="0" y="9651"/>
                </a:lnTo>
                <a:lnTo>
                  <a:pt x="48387" y="9651"/>
                </a:lnTo>
                <a:lnTo>
                  <a:pt x="48387" y="3810"/>
                </a:lnTo>
                <a:lnTo>
                  <a:pt x="17779" y="3810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82263" y="2636155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这是为什么呢？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47842" y="2551446"/>
            <a:ext cx="1740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猜测：加深网络层数引起过拟合， 导致错误率上升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1068" y="692166"/>
            <a:ext cx="5193665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实验：持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向一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础”的卷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上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面叠加更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的层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生什么？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871855">
              <a:lnSpc>
                <a:spcPct val="100000"/>
              </a:lnSpc>
              <a:tabLst>
                <a:tab pos="3187700" algn="l"/>
              </a:tabLst>
            </a:pP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	</a:t>
            </a: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测试集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2763" y="1421256"/>
            <a:ext cx="1444752" cy="9723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91352" y="1358772"/>
            <a:ext cx="1418844" cy="10347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89243" y="1919985"/>
            <a:ext cx="68325" cy="170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06388" y="1845182"/>
            <a:ext cx="51435" cy="43180"/>
          </a:xfrm>
          <a:custGeom>
            <a:avLst/>
            <a:gdLst/>
            <a:ahLst/>
            <a:cxnLst/>
            <a:rect l="l" t="t" r="r" b="b"/>
            <a:pathLst>
              <a:path w="51435" h="43180">
                <a:moveTo>
                  <a:pt x="5080" y="7873"/>
                </a:moveTo>
                <a:lnTo>
                  <a:pt x="4063" y="8889"/>
                </a:lnTo>
                <a:lnTo>
                  <a:pt x="1777" y="12445"/>
                </a:lnTo>
                <a:lnTo>
                  <a:pt x="508" y="16509"/>
                </a:lnTo>
                <a:lnTo>
                  <a:pt x="0" y="21081"/>
                </a:lnTo>
                <a:lnTo>
                  <a:pt x="508" y="26034"/>
                </a:lnTo>
                <a:lnTo>
                  <a:pt x="20193" y="42544"/>
                </a:lnTo>
                <a:lnTo>
                  <a:pt x="25526" y="42925"/>
                </a:lnTo>
                <a:lnTo>
                  <a:pt x="31241" y="42544"/>
                </a:lnTo>
                <a:lnTo>
                  <a:pt x="37669" y="37083"/>
                </a:lnTo>
                <a:lnTo>
                  <a:pt x="22225" y="37083"/>
                </a:lnTo>
                <a:lnTo>
                  <a:pt x="16890" y="36321"/>
                </a:lnTo>
                <a:lnTo>
                  <a:pt x="12826" y="34670"/>
                </a:lnTo>
                <a:lnTo>
                  <a:pt x="6603" y="28955"/>
                </a:lnTo>
                <a:lnTo>
                  <a:pt x="5080" y="25400"/>
                </a:lnTo>
                <a:lnTo>
                  <a:pt x="5080" y="7873"/>
                </a:lnTo>
                <a:close/>
              </a:path>
              <a:path w="51435" h="43180">
                <a:moveTo>
                  <a:pt x="27177" y="0"/>
                </a:moveTo>
                <a:lnTo>
                  <a:pt x="25526" y="0"/>
                </a:lnTo>
                <a:lnTo>
                  <a:pt x="22225" y="253"/>
                </a:lnTo>
                <a:lnTo>
                  <a:pt x="22225" y="37083"/>
                </a:lnTo>
                <a:lnTo>
                  <a:pt x="27177" y="37083"/>
                </a:lnTo>
                <a:lnTo>
                  <a:pt x="27177" y="0"/>
                </a:lnTo>
                <a:close/>
              </a:path>
              <a:path w="51435" h="43180">
                <a:moveTo>
                  <a:pt x="46100" y="6603"/>
                </a:moveTo>
                <a:lnTo>
                  <a:pt x="27177" y="37083"/>
                </a:lnTo>
                <a:lnTo>
                  <a:pt x="37669" y="37083"/>
                </a:lnTo>
                <a:lnTo>
                  <a:pt x="50673" y="26034"/>
                </a:lnTo>
                <a:lnTo>
                  <a:pt x="51181" y="21081"/>
                </a:lnTo>
                <a:lnTo>
                  <a:pt x="51181" y="15366"/>
                </a:lnTo>
                <a:lnTo>
                  <a:pt x="49657" y="10794"/>
                </a:lnTo>
                <a:lnTo>
                  <a:pt x="46100" y="6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11468" y="184543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4">
                <a:moveTo>
                  <a:pt x="17144" y="0"/>
                </a:moveTo>
                <a:lnTo>
                  <a:pt x="0" y="7619"/>
                </a:lnTo>
                <a:lnTo>
                  <a:pt x="0" y="16637"/>
                </a:lnTo>
                <a:lnTo>
                  <a:pt x="1650" y="12954"/>
                </a:lnTo>
                <a:lnTo>
                  <a:pt x="8254" y="7366"/>
                </a:lnTo>
                <a:lnTo>
                  <a:pt x="12318" y="5842"/>
                </a:lnTo>
                <a:lnTo>
                  <a:pt x="17144" y="5715"/>
                </a:lnTo>
                <a:lnTo>
                  <a:pt x="17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40297" y="1845436"/>
            <a:ext cx="12700" cy="17145"/>
          </a:xfrm>
          <a:custGeom>
            <a:avLst/>
            <a:gdLst/>
            <a:ahLst/>
            <a:cxnLst/>
            <a:rect l="l" t="t" r="r" b="b"/>
            <a:pathLst>
              <a:path w="12700" h="17144">
                <a:moveTo>
                  <a:pt x="0" y="0"/>
                </a:moveTo>
                <a:lnTo>
                  <a:pt x="0" y="5842"/>
                </a:lnTo>
                <a:lnTo>
                  <a:pt x="4063" y="6985"/>
                </a:lnTo>
                <a:lnTo>
                  <a:pt x="7238" y="8762"/>
                </a:lnTo>
                <a:lnTo>
                  <a:pt x="9271" y="11303"/>
                </a:lnTo>
                <a:lnTo>
                  <a:pt x="11302" y="13716"/>
                </a:lnTo>
                <a:lnTo>
                  <a:pt x="12191" y="17018"/>
                </a:lnTo>
                <a:lnTo>
                  <a:pt x="12191" y="6350"/>
                </a:lnTo>
                <a:lnTo>
                  <a:pt x="10032" y="3682"/>
                </a:lnTo>
                <a:lnTo>
                  <a:pt x="5714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07150" y="1813686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80"/>
                </a:lnTo>
                <a:lnTo>
                  <a:pt x="1015" y="8509"/>
                </a:lnTo>
                <a:lnTo>
                  <a:pt x="5334" y="14350"/>
                </a:lnTo>
                <a:lnTo>
                  <a:pt x="8254" y="16510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081"/>
                </a:lnTo>
                <a:lnTo>
                  <a:pt x="7620" y="9906"/>
                </a:lnTo>
                <a:lnTo>
                  <a:pt x="5969" y="5715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07785" y="1827783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3"/>
                </a:lnTo>
                <a:lnTo>
                  <a:pt x="0" y="4063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2"/>
                </a:lnTo>
                <a:lnTo>
                  <a:pt x="17779" y="3682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07150" y="1784350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080"/>
                </a:lnTo>
                <a:lnTo>
                  <a:pt x="1015" y="8509"/>
                </a:lnTo>
                <a:lnTo>
                  <a:pt x="5334" y="14350"/>
                </a:lnTo>
                <a:lnTo>
                  <a:pt x="8254" y="16510"/>
                </a:lnTo>
                <a:lnTo>
                  <a:pt x="11937" y="18034"/>
                </a:lnTo>
                <a:lnTo>
                  <a:pt x="11937" y="14097"/>
                </a:lnTo>
                <a:lnTo>
                  <a:pt x="10922" y="13208"/>
                </a:lnTo>
                <a:lnTo>
                  <a:pt x="7620" y="10033"/>
                </a:lnTo>
                <a:lnTo>
                  <a:pt x="5969" y="5715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07785" y="1798446"/>
            <a:ext cx="48895" cy="9525"/>
          </a:xfrm>
          <a:custGeom>
            <a:avLst/>
            <a:gdLst/>
            <a:ahLst/>
            <a:cxnLst/>
            <a:rect l="l" t="t" r="r" b="b"/>
            <a:pathLst>
              <a:path w="48895" h="9525">
                <a:moveTo>
                  <a:pt x="11302" y="0"/>
                </a:moveTo>
                <a:lnTo>
                  <a:pt x="11302" y="4063"/>
                </a:lnTo>
                <a:lnTo>
                  <a:pt x="0" y="4063"/>
                </a:lnTo>
                <a:lnTo>
                  <a:pt x="0" y="9525"/>
                </a:lnTo>
                <a:lnTo>
                  <a:pt x="48387" y="9525"/>
                </a:lnTo>
                <a:lnTo>
                  <a:pt x="48387" y="3682"/>
                </a:lnTo>
                <a:lnTo>
                  <a:pt x="17779" y="3682"/>
                </a:lnTo>
                <a:lnTo>
                  <a:pt x="13588" y="2158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06388" y="1743836"/>
            <a:ext cx="51435" cy="37465"/>
          </a:xfrm>
          <a:custGeom>
            <a:avLst/>
            <a:gdLst/>
            <a:ahLst/>
            <a:cxnLst/>
            <a:rect l="l" t="t" r="r" b="b"/>
            <a:pathLst>
              <a:path w="51435" h="37464">
                <a:moveTo>
                  <a:pt x="5080" y="381"/>
                </a:moveTo>
                <a:lnTo>
                  <a:pt x="4063" y="1397"/>
                </a:lnTo>
                <a:lnTo>
                  <a:pt x="1777" y="5334"/>
                </a:lnTo>
                <a:lnTo>
                  <a:pt x="508" y="9651"/>
                </a:lnTo>
                <a:lnTo>
                  <a:pt x="0" y="14478"/>
                </a:lnTo>
                <a:lnTo>
                  <a:pt x="508" y="19431"/>
                </a:lnTo>
                <a:lnTo>
                  <a:pt x="20193" y="36830"/>
                </a:lnTo>
                <a:lnTo>
                  <a:pt x="25526" y="37211"/>
                </a:lnTo>
                <a:lnTo>
                  <a:pt x="30861" y="36830"/>
                </a:lnTo>
                <a:lnTo>
                  <a:pt x="37079" y="31368"/>
                </a:lnTo>
                <a:lnTo>
                  <a:pt x="19812" y="31368"/>
                </a:lnTo>
                <a:lnTo>
                  <a:pt x="14986" y="29844"/>
                </a:lnTo>
                <a:lnTo>
                  <a:pt x="6985" y="23622"/>
                </a:lnTo>
                <a:lnTo>
                  <a:pt x="5080" y="19557"/>
                </a:lnTo>
                <a:lnTo>
                  <a:pt x="5080" y="381"/>
                </a:lnTo>
                <a:close/>
              </a:path>
              <a:path w="51435" h="37464">
                <a:moveTo>
                  <a:pt x="46100" y="0"/>
                </a:moveTo>
                <a:lnTo>
                  <a:pt x="46100" y="19557"/>
                </a:lnTo>
                <a:lnTo>
                  <a:pt x="44196" y="23749"/>
                </a:lnTo>
                <a:lnTo>
                  <a:pt x="40132" y="26797"/>
                </a:lnTo>
                <a:lnTo>
                  <a:pt x="36195" y="29844"/>
                </a:lnTo>
                <a:lnTo>
                  <a:pt x="31241" y="31368"/>
                </a:lnTo>
                <a:lnTo>
                  <a:pt x="37079" y="31368"/>
                </a:lnTo>
                <a:lnTo>
                  <a:pt x="50673" y="19431"/>
                </a:lnTo>
                <a:lnTo>
                  <a:pt x="51181" y="14478"/>
                </a:lnTo>
                <a:lnTo>
                  <a:pt x="51145" y="9651"/>
                </a:lnTo>
                <a:lnTo>
                  <a:pt x="50037" y="5715"/>
                </a:lnTo>
                <a:lnTo>
                  <a:pt x="47625" y="2159"/>
                </a:lnTo>
                <a:lnTo>
                  <a:pt x="4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11468" y="1735581"/>
            <a:ext cx="41275" cy="17780"/>
          </a:xfrm>
          <a:custGeom>
            <a:avLst/>
            <a:gdLst/>
            <a:ahLst/>
            <a:cxnLst/>
            <a:rect l="l" t="t" r="r" b="b"/>
            <a:pathLst>
              <a:path w="41275" h="17780">
                <a:moveTo>
                  <a:pt x="25018" y="0"/>
                </a:moveTo>
                <a:lnTo>
                  <a:pt x="20446" y="0"/>
                </a:lnTo>
                <a:lnTo>
                  <a:pt x="0" y="8636"/>
                </a:lnTo>
                <a:lnTo>
                  <a:pt x="0" y="17653"/>
                </a:lnTo>
                <a:lnTo>
                  <a:pt x="1904" y="13589"/>
                </a:lnTo>
                <a:lnTo>
                  <a:pt x="10032" y="7493"/>
                </a:lnTo>
                <a:lnTo>
                  <a:pt x="14731" y="5968"/>
                </a:lnTo>
                <a:lnTo>
                  <a:pt x="38970" y="5968"/>
                </a:lnTo>
                <a:lnTo>
                  <a:pt x="37083" y="4318"/>
                </a:lnTo>
                <a:lnTo>
                  <a:pt x="33146" y="2667"/>
                </a:lnTo>
                <a:lnTo>
                  <a:pt x="29209" y="889"/>
                </a:lnTo>
                <a:lnTo>
                  <a:pt x="25018" y="0"/>
                </a:lnTo>
                <a:close/>
              </a:path>
              <a:path w="41275" h="17780">
                <a:moveTo>
                  <a:pt x="38970" y="5968"/>
                </a:moveTo>
                <a:lnTo>
                  <a:pt x="26161" y="5968"/>
                </a:lnTo>
                <a:lnTo>
                  <a:pt x="30987" y="7493"/>
                </a:lnTo>
                <a:lnTo>
                  <a:pt x="39115" y="13589"/>
                </a:lnTo>
                <a:lnTo>
                  <a:pt x="41020" y="17653"/>
                </a:lnTo>
                <a:lnTo>
                  <a:pt x="41020" y="8255"/>
                </a:lnTo>
                <a:lnTo>
                  <a:pt x="40131" y="6985"/>
                </a:lnTo>
                <a:lnTo>
                  <a:pt x="38970" y="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07150" y="1703196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969" y="0"/>
                </a:moveTo>
                <a:lnTo>
                  <a:pt x="0" y="0"/>
                </a:lnTo>
                <a:lnTo>
                  <a:pt x="0" y="5206"/>
                </a:lnTo>
                <a:lnTo>
                  <a:pt x="11937" y="18033"/>
                </a:lnTo>
                <a:lnTo>
                  <a:pt x="11937" y="14096"/>
                </a:lnTo>
                <a:lnTo>
                  <a:pt x="10922" y="13207"/>
                </a:lnTo>
                <a:lnTo>
                  <a:pt x="7620" y="10032"/>
                </a:lnTo>
                <a:lnTo>
                  <a:pt x="5969" y="5841"/>
                </a:lnTo>
                <a:lnTo>
                  <a:pt x="5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07785" y="1717293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5" h="10160">
                <a:moveTo>
                  <a:pt x="11302" y="0"/>
                </a:moveTo>
                <a:lnTo>
                  <a:pt x="11302" y="4191"/>
                </a:lnTo>
                <a:lnTo>
                  <a:pt x="0" y="4191"/>
                </a:lnTo>
                <a:lnTo>
                  <a:pt x="0" y="9652"/>
                </a:lnTo>
                <a:lnTo>
                  <a:pt x="48387" y="9652"/>
                </a:lnTo>
                <a:lnTo>
                  <a:pt x="48387" y="3810"/>
                </a:lnTo>
                <a:lnTo>
                  <a:pt x="17779" y="3810"/>
                </a:lnTo>
                <a:lnTo>
                  <a:pt x="13588" y="2159"/>
                </a:lnTo>
                <a:lnTo>
                  <a:pt x="11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347841" y="2574163"/>
            <a:ext cx="1740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猜测：加深网络层数引起过拟合， 导致错误率上升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2389" y="2609722"/>
            <a:ext cx="2654935" cy="60452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082040">
              <a:lnSpc>
                <a:spcPct val="100000"/>
              </a:lnSpc>
              <a:spcBef>
                <a:spcPts val="49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这是为什么呢？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原因：训练过程中网络的正、反向信息流动不顺畅，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网络没有被充分训练。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009638" y="2616072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320200" y="250825"/>
                </a:moveTo>
                <a:lnTo>
                  <a:pt x="180975" y="250825"/>
                </a:lnTo>
                <a:lnTo>
                  <a:pt x="300736" y="370967"/>
                </a:lnTo>
                <a:lnTo>
                  <a:pt x="370586" y="301370"/>
                </a:lnTo>
                <a:lnTo>
                  <a:pt x="320200" y="250825"/>
                </a:lnTo>
                <a:close/>
              </a:path>
              <a:path w="371475" h="371475">
                <a:moveTo>
                  <a:pt x="70231" y="0"/>
                </a:moveTo>
                <a:lnTo>
                  <a:pt x="381" y="69595"/>
                </a:lnTo>
                <a:lnTo>
                  <a:pt x="120141" y="189864"/>
                </a:lnTo>
                <a:lnTo>
                  <a:pt x="0" y="309625"/>
                </a:lnTo>
                <a:lnTo>
                  <a:pt x="60706" y="370586"/>
                </a:lnTo>
                <a:lnTo>
                  <a:pt x="180975" y="250825"/>
                </a:lnTo>
                <a:lnTo>
                  <a:pt x="320200" y="250825"/>
                </a:lnTo>
                <a:lnTo>
                  <a:pt x="250825" y="181229"/>
                </a:lnTo>
                <a:lnTo>
                  <a:pt x="311978" y="120268"/>
                </a:lnTo>
                <a:lnTo>
                  <a:pt x="189991" y="120268"/>
                </a:lnTo>
                <a:lnTo>
                  <a:pt x="70231" y="0"/>
                </a:lnTo>
                <a:close/>
              </a:path>
              <a:path w="371475" h="371475">
                <a:moveTo>
                  <a:pt x="310134" y="507"/>
                </a:moveTo>
                <a:lnTo>
                  <a:pt x="189991" y="120268"/>
                </a:lnTo>
                <a:lnTo>
                  <a:pt x="311978" y="120268"/>
                </a:lnTo>
                <a:lnTo>
                  <a:pt x="370966" y="61468"/>
                </a:lnTo>
                <a:lnTo>
                  <a:pt x="310134" y="5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09638" y="2616072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0231" y="0"/>
                </a:moveTo>
                <a:lnTo>
                  <a:pt x="189991" y="120268"/>
                </a:lnTo>
                <a:lnTo>
                  <a:pt x="310134" y="507"/>
                </a:lnTo>
                <a:lnTo>
                  <a:pt x="370966" y="61468"/>
                </a:lnTo>
                <a:lnTo>
                  <a:pt x="250825" y="181229"/>
                </a:lnTo>
                <a:lnTo>
                  <a:pt x="370586" y="301370"/>
                </a:lnTo>
                <a:lnTo>
                  <a:pt x="300736" y="370967"/>
                </a:lnTo>
                <a:lnTo>
                  <a:pt x="180975" y="250825"/>
                </a:lnTo>
                <a:lnTo>
                  <a:pt x="60706" y="370586"/>
                </a:lnTo>
                <a:lnTo>
                  <a:pt x="0" y="309625"/>
                </a:lnTo>
                <a:lnTo>
                  <a:pt x="120141" y="189864"/>
                </a:lnTo>
                <a:lnTo>
                  <a:pt x="381" y="69595"/>
                </a:lnTo>
                <a:lnTo>
                  <a:pt x="70231" y="0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11067" y="715136"/>
            <a:ext cx="5193665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实验：持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续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向一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个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基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础”的卷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神经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上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面叠加更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的层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会</a:t>
            </a:r>
            <a:r>
              <a:rPr sz="1200" spc="-15" dirty="0">
                <a:latin typeface="黑体" panose="02010609060101010101" charset="-122"/>
                <a:cs typeface="黑体" panose="02010609060101010101" charset="-122"/>
              </a:rPr>
              <a:t>发</a:t>
            </a:r>
            <a:r>
              <a:rPr sz="1200" dirty="0">
                <a:latin typeface="黑体" panose="02010609060101010101" charset="-122"/>
                <a:cs typeface="黑体" panose="02010609060101010101" charset="-122"/>
              </a:rPr>
              <a:t>生什么？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871855">
              <a:lnSpc>
                <a:spcPct val="100000"/>
              </a:lnSpc>
              <a:tabLst>
                <a:tab pos="3187700" algn="l"/>
              </a:tabLst>
            </a:pP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900" b="1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	</a:t>
            </a:r>
            <a:r>
              <a:rPr sz="9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测试集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28511" y="2933970"/>
            <a:ext cx="169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libri" panose="020F0502020204030204"/>
                <a:cs typeface="Calibri" panose="020F0502020204030204"/>
              </a:rPr>
              <a:t>T</a:t>
            </a:r>
            <a:r>
              <a:rPr sz="900" dirty="0">
                <a:latin typeface="Calibri" panose="020F0502020204030204"/>
                <a:cs typeface="Calibri" panose="020F0502020204030204"/>
              </a:rPr>
              <a:t>-S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7129" y="2914158"/>
            <a:ext cx="388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1794" y="2918349"/>
            <a:ext cx="298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68775" y="367554"/>
            <a:ext cx="2828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</a:t>
            </a:r>
            <a:r>
              <a:rPr spc="-10" dirty="0"/>
              <a:t>赛历年冠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6" name="object 6"/>
          <p:cNvSpPr/>
          <p:nvPr/>
        </p:nvSpPr>
        <p:spPr>
          <a:xfrm>
            <a:off x="496692" y="1041035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12638" y="1997383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3684" y="2946035"/>
            <a:ext cx="225552" cy="5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55644" y="2949083"/>
            <a:ext cx="309371" cy="51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64788" y="3042047"/>
            <a:ext cx="291084" cy="48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59582" y="2443915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0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8555" y="2447782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66234" y="2446925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1"/>
                </a:moveTo>
                <a:lnTo>
                  <a:pt x="440436" y="134111"/>
                </a:lnTo>
                <a:lnTo>
                  <a:pt x="440436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49565" y="2447782"/>
            <a:ext cx="45529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09718" y="2001917"/>
            <a:ext cx="440690" cy="13462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7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5019" y="2005854"/>
            <a:ext cx="4432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86602" y="1191149"/>
            <a:ext cx="436245" cy="134620"/>
          </a:xfrm>
          <a:custGeom>
            <a:avLst/>
            <a:gdLst/>
            <a:ahLst/>
            <a:cxnLst/>
            <a:rect l="l" t="t" r="r" b="b"/>
            <a:pathLst>
              <a:path w="436245" h="134619">
                <a:moveTo>
                  <a:pt x="0" y="134111"/>
                </a:moveTo>
                <a:lnTo>
                  <a:pt x="435863" y="134111"/>
                </a:lnTo>
                <a:lnTo>
                  <a:pt x="435863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72409" y="1202071"/>
            <a:ext cx="4565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045325" y="1191149"/>
            <a:ext cx="440690" cy="135890"/>
          </a:xfrm>
          <a:custGeom>
            <a:avLst/>
            <a:gdLst/>
            <a:ahLst/>
            <a:cxnLst/>
            <a:rect l="l" t="t" r="r" b="b"/>
            <a:pathLst>
              <a:path w="440689" h="135890">
                <a:moveTo>
                  <a:pt x="0" y="135635"/>
                </a:moveTo>
                <a:lnTo>
                  <a:pt x="440436" y="135635"/>
                </a:lnTo>
                <a:lnTo>
                  <a:pt x="440436" y="0"/>
                </a:lnTo>
                <a:lnTo>
                  <a:pt x="0" y="0"/>
                </a:lnTo>
                <a:lnTo>
                  <a:pt x="0" y="135635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46196" y="1202071"/>
            <a:ext cx="4375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42149" y="1191149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5980" y="2659523"/>
            <a:ext cx="82296" cy="80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69944" y="2659523"/>
            <a:ext cx="82295" cy="80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42384" y="2635139"/>
            <a:ext cx="83819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16348" y="2635139"/>
            <a:ext cx="82295" cy="80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78120" y="2540651"/>
            <a:ext cx="83819" cy="807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73419" y="2522363"/>
            <a:ext cx="82296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01663" y="1446419"/>
            <a:ext cx="82296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157340" y="1446419"/>
            <a:ext cx="82296" cy="80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45019" y="1446419"/>
            <a:ext cx="82296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59226" y="2701433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31666" y="2677049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7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05630" y="2677049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379594" y="2581037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41366" y="2564273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09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336666" y="1488329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64910" y="148832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20586" y="14883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565266" y="1038749"/>
            <a:ext cx="472440" cy="2162175"/>
          </a:xfrm>
          <a:custGeom>
            <a:avLst/>
            <a:gdLst/>
            <a:ahLst/>
            <a:cxnLst/>
            <a:rect l="l" t="t" r="r" b="b"/>
            <a:pathLst>
              <a:path w="472439" h="2162175">
                <a:moveTo>
                  <a:pt x="0" y="2162174"/>
                </a:moveTo>
                <a:lnTo>
                  <a:pt x="472274" y="2162174"/>
                </a:lnTo>
                <a:lnTo>
                  <a:pt x="472274" y="0"/>
                </a:lnTo>
                <a:lnTo>
                  <a:pt x="0" y="0"/>
                </a:lnTo>
                <a:lnTo>
                  <a:pt x="0" y="2162174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702301" y="2937907"/>
            <a:ext cx="1286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300" algn="l"/>
              </a:tabLst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VGG	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GoogleNet</a:t>
            </a:r>
            <a:r>
              <a:rPr sz="1350" spc="217" baseline="300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ResNet</a:t>
            </a:r>
            <a:endParaRPr sz="1350" baseline="6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84948" y="2942225"/>
            <a:ext cx="254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71994" y="2931557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128" y="2941446"/>
            <a:ext cx="793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6730" algn="l"/>
              </a:tabLst>
            </a:pPr>
            <a:r>
              <a:rPr sz="1350" spc="-15" baseline="3000" dirty="0">
                <a:latin typeface="Calibri" panose="020F0502020204030204"/>
                <a:cs typeface="Calibri" panose="020F0502020204030204"/>
              </a:rPr>
              <a:t>A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l</a:t>
            </a:r>
            <a:r>
              <a:rPr sz="1350" spc="-30" baseline="3000" dirty="0">
                <a:latin typeface="Calibri" panose="020F0502020204030204"/>
                <a:cs typeface="Calibri" panose="020F0502020204030204"/>
              </a:rPr>
              <a:t>e</a:t>
            </a:r>
            <a:r>
              <a:rPr sz="1350" spc="-15" baseline="3000" dirty="0">
                <a:latin typeface="Calibri" panose="020F0502020204030204"/>
                <a:cs typeface="Calibri" panose="020F0502020204030204"/>
              </a:rPr>
              <a:t>x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Ne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t	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Z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Ne</a:t>
            </a:r>
            <a:r>
              <a:rPr sz="900" dirty="0">
                <a:latin typeface="Calibri" panose="020F0502020204030204"/>
                <a:cs typeface="Calibri" panose="020F0502020204030204"/>
              </a:rPr>
              <a:t>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8774" y="389966"/>
            <a:ext cx="2828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ImageNet</a:t>
            </a:r>
            <a:r>
              <a:rPr spc="-15" dirty="0"/>
              <a:t>大赛</a:t>
            </a:r>
            <a:r>
              <a:rPr spc="-10" dirty="0"/>
              <a:t>历年冠</a:t>
            </a:r>
            <a:r>
              <a:rPr spc="-15" dirty="0"/>
              <a:t>军</a:t>
            </a:r>
            <a:endParaRPr spc="-15" dirty="0"/>
          </a:p>
        </p:txBody>
      </p:sp>
      <p:sp>
        <p:nvSpPr>
          <p:cNvPr id="4" name="object 4"/>
          <p:cNvSpPr/>
          <p:nvPr/>
        </p:nvSpPr>
        <p:spPr>
          <a:xfrm>
            <a:off x="496691" y="1063116"/>
            <a:ext cx="4992624" cy="1905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12637" y="2019464"/>
            <a:ext cx="441959" cy="135890"/>
          </a:xfrm>
          <a:custGeom>
            <a:avLst/>
            <a:gdLst/>
            <a:ahLst/>
            <a:cxnLst/>
            <a:rect l="l" t="t" r="r" b="b"/>
            <a:pathLst>
              <a:path w="441960" h="135889">
                <a:moveTo>
                  <a:pt x="0" y="135597"/>
                </a:moveTo>
                <a:lnTo>
                  <a:pt x="441566" y="135597"/>
                </a:lnTo>
                <a:lnTo>
                  <a:pt x="441566" y="0"/>
                </a:lnTo>
                <a:lnTo>
                  <a:pt x="0" y="0"/>
                </a:lnTo>
                <a:lnTo>
                  <a:pt x="0" y="135597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3683" y="2968118"/>
            <a:ext cx="225552" cy="51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5643" y="2971164"/>
            <a:ext cx="309371" cy="51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64787" y="3064130"/>
            <a:ext cx="291084" cy="487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9581" y="2465996"/>
            <a:ext cx="848994" cy="158750"/>
          </a:xfrm>
          <a:prstGeom prst="rect">
            <a:avLst/>
          </a:prstGeom>
          <a:solidFill>
            <a:srgbClr val="FFFFFF"/>
          </a:solidFill>
          <a:ln w="476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5"/>
              </a:spcBef>
            </a:pPr>
            <a:r>
              <a:rPr sz="800" spc="-5" dirty="0">
                <a:latin typeface="Arial" panose="020B0604020202020204"/>
                <a:cs typeface="Arial" panose="020B0604020202020204"/>
              </a:rPr>
              <a:t>shallow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8554" y="2469863"/>
            <a:ext cx="45656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4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66233" y="2469006"/>
            <a:ext cx="440690" cy="134620"/>
          </a:xfrm>
          <a:custGeom>
            <a:avLst/>
            <a:gdLst/>
            <a:ahLst/>
            <a:cxnLst/>
            <a:rect l="l" t="t" r="r" b="b"/>
            <a:pathLst>
              <a:path w="440689" h="134619">
                <a:moveTo>
                  <a:pt x="0" y="134112"/>
                </a:moveTo>
                <a:lnTo>
                  <a:pt x="440436" y="134112"/>
                </a:lnTo>
                <a:lnTo>
                  <a:pt x="440436" y="0"/>
                </a:lnTo>
                <a:lnTo>
                  <a:pt x="0" y="0"/>
                </a:lnTo>
                <a:lnTo>
                  <a:pt x="0" y="134112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49565" y="2469864"/>
            <a:ext cx="455295" cy="1301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8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9717" y="2023998"/>
            <a:ext cx="440690" cy="13462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80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19</a:t>
            </a:r>
            <a:r>
              <a:rPr sz="7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15018" y="2028824"/>
            <a:ext cx="4432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 panose="020B0604020202020204"/>
                <a:cs typeface="Arial" panose="020B0604020202020204"/>
              </a:rPr>
              <a:t>22</a:t>
            </a:r>
            <a:r>
              <a:rPr sz="7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86602" y="1213230"/>
            <a:ext cx="436245" cy="134620"/>
          </a:xfrm>
          <a:custGeom>
            <a:avLst/>
            <a:gdLst/>
            <a:ahLst/>
            <a:cxnLst/>
            <a:rect l="l" t="t" r="r" b="b"/>
            <a:pathLst>
              <a:path w="436245" h="134619">
                <a:moveTo>
                  <a:pt x="0" y="134112"/>
                </a:moveTo>
                <a:lnTo>
                  <a:pt x="435863" y="134112"/>
                </a:lnTo>
                <a:lnTo>
                  <a:pt x="435863" y="0"/>
                </a:lnTo>
                <a:lnTo>
                  <a:pt x="0" y="0"/>
                </a:lnTo>
                <a:lnTo>
                  <a:pt x="0" y="134112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72409" y="1224787"/>
            <a:ext cx="4565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45325" y="1213230"/>
            <a:ext cx="440690" cy="135890"/>
          </a:xfrm>
          <a:custGeom>
            <a:avLst/>
            <a:gdLst/>
            <a:ahLst/>
            <a:cxnLst/>
            <a:rect l="l" t="t" r="r" b="b"/>
            <a:pathLst>
              <a:path w="440689" h="135890">
                <a:moveTo>
                  <a:pt x="0" y="135636"/>
                </a:moveTo>
                <a:lnTo>
                  <a:pt x="440436" y="135636"/>
                </a:lnTo>
                <a:lnTo>
                  <a:pt x="440436" y="0"/>
                </a:lnTo>
                <a:lnTo>
                  <a:pt x="0" y="0"/>
                </a:lnTo>
                <a:lnTo>
                  <a:pt x="0" y="135636"/>
                </a:lnTo>
                <a:close/>
              </a:path>
            </a:pathLst>
          </a:custGeom>
          <a:ln w="47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46195" y="1224787"/>
            <a:ext cx="4375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42149" y="1213230"/>
            <a:ext cx="440690" cy="135890"/>
          </a:xfrm>
          <a:prstGeom prst="rect">
            <a:avLst/>
          </a:prstGeom>
          <a:ln w="4761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152</a:t>
            </a:r>
            <a:r>
              <a:rPr sz="7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layers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5979" y="2681606"/>
            <a:ext cx="82296" cy="807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69943" y="2681606"/>
            <a:ext cx="82295" cy="807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42383" y="2657222"/>
            <a:ext cx="83819" cy="807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16347" y="2657222"/>
            <a:ext cx="82295" cy="807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78119" y="2562732"/>
            <a:ext cx="83819" cy="80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73419" y="2544446"/>
            <a:ext cx="82296" cy="807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01663" y="1468502"/>
            <a:ext cx="82296" cy="807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157340" y="1468502"/>
            <a:ext cx="82296" cy="807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45019" y="1468502"/>
            <a:ext cx="82296" cy="807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59225" y="2723514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>
                <a:moveTo>
                  <a:pt x="0" y="0"/>
                </a:moveTo>
                <a:lnTo>
                  <a:pt x="43408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31665" y="2699130"/>
            <a:ext cx="435609" cy="24765"/>
          </a:xfrm>
          <a:custGeom>
            <a:avLst/>
            <a:gdLst/>
            <a:ahLst/>
            <a:cxnLst/>
            <a:rect l="l" t="t" r="r" b="b"/>
            <a:pathLst>
              <a:path w="435610" h="24764">
                <a:moveTo>
                  <a:pt x="0" y="24256"/>
                </a:moveTo>
                <a:lnTo>
                  <a:pt x="43560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05630" y="2699130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4">
                <a:moveTo>
                  <a:pt x="0" y="0"/>
                </a:moveTo>
                <a:lnTo>
                  <a:pt x="435737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79593" y="2603118"/>
            <a:ext cx="423545" cy="95885"/>
          </a:xfrm>
          <a:custGeom>
            <a:avLst/>
            <a:gdLst/>
            <a:ahLst/>
            <a:cxnLst/>
            <a:rect l="l" t="t" r="r" b="b"/>
            <a:pathLst>
              <a:path w="423544" h="95885">
                <a:moveTo>
                  <a:pt x="0" y="95758"/>
                </a:moveTo>
                <a:lnTo>
                  <a:pt x="423291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41365" y="2586354"/>
            <a:ext cx="457200" cy="16510"/>
          </a:xfrm>
          <a:custGeom>
            <a:avLst/>
            <a:gdLst/>
            <a:ahLst/>
            <a:cxnLst/>
            <a:rect l="l" t="t" r="r" b="b"/>
            <a:pathLst>
              <a:path w="457200" h="16510">
                <a:moveTo>
                  <a:pt x="0" y="16510"/>
                </a:moveTo>
                <a:lnTo>
                  <a:pt x="456946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36666" y="1510410"/>
            <a:ext cx="389890" cy="1075690"/>
          </a:xfrm>
          <a:custGeom>
            <a:avLst/>
            <a:gdLst/>
            <a:ahLst/>
            <a:cxnLst/>
            <a:rect l="l" t="t" r="r" b="b"/>
            <a:pathLst>
              <a:path w="389889" h="1075689">
                <a:moveTo>
                  <a:pt x="0" y="1075689"/>
                </a:moveTo>
                <a:lnTo>
                  <a:pt x="38988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64910" y="1510410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7194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20585" y="15104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199" y="0"/>
                </a:lnTo>
              </a:path>
            </a:pathLst>
          </a:custGeom>
          <a:ln w="4761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65266" y="1060830"/>
            <a:ext cx="472440" cy="2162175"/>
          </a:xfrm>
          <a:custGeom>
            <a:avLst/>
            <a:gdLst/>
            <a:ahLst/>
            <a:cxnLst/>
            <a:rect l="l" t="t" r="r" b="b"/>
            <a:pathLst>
              <a:path w="472439" h="2162175">
                <a:moveTo>
                  <a:pt x="0" y="2162174"/>
                </a:moveTo>
                <a:lnTo>
                  <a:pt x="472274" y="2162174"/>
                </a:lnTo>
                <a:lnTo>
                  <a:pt x="472274" y="0"/>
                </a:lnTo>
                <a:lnTo>
                  <a:pt x="0" y="0"/>
                </a:lnTo>
                <a:lnTo>
                  <a:pt x="0" y="2162174"/>
                </a:lnTo>
                <a:close/>
              </a:path>
            </a:pathLst>
          </a:custGeom>
          <a:ln w="142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999349" y="2327287"/>
            <a:ext cx="448309" cy="895985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 panose="02020603050405020304"/>
              <a:cs typeface="Times New Roman" panose="02020603050405020304"/>
            </a:endParaRPr>
          </a:p>
          <a:p>
            <a:pPr marL="97790">
              <a:lnSpc>
                <a:spcPct val="10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人类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1994" y="2954146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SeNet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84114" y="2960623"/>
            <a:ext cx="1814195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100"/>
              </a:spcBef>
              <a:tabLst>
                <a:tab pos="586105" algn="l"/>
                <a:tab pos="1656080" algn="l"/>
              </a:tabLst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V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900" dirty="0">
                <a:latin typeface="Calibri" panose="020F0502020204030204"/>
                <a:cs typeface="Calibri" panose="020F0502020204030204"/>
              </a:rPr>
              <a:t>G	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oo</a:t>
            </a:r>
            <a:r>
              <a:rPr sz="1350" spc="-7" baseline="3000" dirty="0">
                <a:latin typeface="Calibri" panose="020F0502020204030204"/>
                <a:cs typeface="Calibri" panose="020F0502020204030204"/>
              </a:rPr>
              <a:t>gleNe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t  </a:t>
            </a:r>
            <a:r>
              <a:rPr sz="1350" spc="15" baseline="300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5" baseline="6000" dirty="0">
                <a:latin typeface="Calibri" panose="020F0502020204030204"/>
                <a:cs typeface="Calibri" panose="020F0502020204030204"/>
              </a:rPr>
              <a:t>R</a:t>
            </a:r>
            <a:r>
              <a:rPr sz="1350" spc="-7" baseline="6000" dirty="0">
                <a:latin typeface="Calibri" panose="020F0502020204030204"/>
                <a:cs typeface="Calibri" panose="020F0502020204030204"/>
              </a:rPr>
              <a:t>esNe</a:t>
            </a:r>
            <a:r>
              <a:rPr sz="1350" baseline="6000" dirty="0">
                <a:latin typeface="Calibri" panose="020F0502020204030204"/>
                <a:cs typeface="Calibri" panose="020F0502020204030204"/>
              </a:rPr>
              <a:t>t	</a:t>
            </a:r>
            <a:r>
              <a:rPr sz="1350" spc="7" baseline="3000" dirty="0">
                <a:latin typeface="Calibri" panose="020F0502020204030204"/>
                <a:cs typeface="Calibri" panose="020F0502020204030204"/>
              </a:rPr>
              <a:t>T</a:t>
            </a:r>
            <a:r>
              <a:rPr sz="1350" baseline="3000" dirty="0">
                <a:latin typeface="Calibri" panose="020F0502020204030204"/>
                <a:cs typeface="Calibri" panose="020F0502020204030204"/>
              </a:rPr>
              <a:t>-S</a:t>
            </a:r>
            <a:endParaRPr sz="1350" baseline="3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4576" y="951246"/>
            <a:ext cx="1294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ResNet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贡献：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4575" y="973962"/>
            <a:ext cx="1294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ResNet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贡献：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575" y="1278458"/>
            <a:ext cx="324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块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通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堆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叠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块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</a:t>
            </a:r>
            <a:r>
              <a:rPr sz="10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任意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787" y="1583816"/>
            <a:ext cx="2565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度的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，而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会出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“退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”现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07631" y="924432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07631" y="924432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70902" y="1652396"/>
            <a:ext cx="21018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38923" y="1834299"/>
            <a:ext cx="577850" cy="207645"/>
          </a:xfrm>
          <a:custGeom>
            <a:avLst/>
            <a:gdLst/>
            <a:ahLst/>
            <a:cxnLst/>
            <a:rect l="l" t="t" r="r" b="b"/>
            <a:pathLst>
              <a:path w="577850" h="207644">
                <a:moveTo>
                  <a:pt x="0" y="207225"/>
                </a:moveTo>
                <a:lnTo>
                  <a:pt x="577570" y="207225"/>
                </a:lnTo>
                <a:lnTo>
                  <a:pt x="577570" y="0"/>
                </a:lnTo>
                <a:lnTo>
                  <a:pt x="0" y="0"/>
                </a:lnTo>
                <a:lnTo>
                  <a:pt x="0" y="207225"/>
                </a:lnTo>
                <a:close/>
              </a:path>
            </a:pathLst>
          </a:custGeom>
          <a:solidFill>
            <a:srgbClr val="FA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38923" y="1834299"/>
            <a:ext cx="577850" cy="207645"/>
          </a:xfrm>
          <a:custGeom>
            <a:avLst/>
            <a:gdLst/>
            <a:ahLst/>
            <a:cxnLst/>
            <a:rect l="l" t="t" r="r" b="b"/>
            <a:pathLst>
              <a:path w="577850" h="207644">
                <a:moveTo>
                  <a:pt x="0" y="207225"/>
                </a:moveTo>
                <a:lnTo>
                  <a:pt x="577570" y="207225"/>
                </a:lnTo>
                <a:lnTo>
                  <a:pt x="577570" y="0"/>
                </a:lnTo>
                <a:lnTo>
                  <a:pt x="0" y="0"/>
                </a:lnTo>
                <a:lnTo>
                  <a:pt x="0" y="207225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84491" y="1296288"/>
            <a:ext cx="565150" cy="1172845"/>
          </a:xfrm>
          <a:custGeom>
            <a:avLst/>
            <a:gdLst/>
            <a:ahLst/>
            <a:cxnLst/>
            <a:rect l="l" t="t" r="r" b="b"/>
            <a:pathLst>
              <a:path w="565150" h="1172845">
                <a:moveTo>
                  <a:pt x="123337" y="19128"/>
                </a:moveTo>
                <a:lnTo>
                  <a:pt x="119404" y="37739"/>
                </a:lnTo>
                <a:lnTo>
                  <a:pt x="138049" y="42672"/>
                </a:lnTo>
                <a:lnTo>
                  <a:pt x="162306" y="51308"/>
                </a:lnTo>
                <a:lnTo>
                  <a:pt x="218059" y="76200"/>
                </a:lnTo>
                <a:lnTo>
                  <a:pt x="279273" y="112649"/>
                </a:lnTo>
                <a:lnTo>
                  <a:pt x="336676" y="156718"/>
                </a:lnTo>
                <a:lnTo>
                  <a:pt x="387350" y="205486"/>
                </a:lnTo>
                <a:lnTo>
                  <a:pt x="430911" y="257175"/>
                </a:lnTo>
                <a:lnTo>
                  <a:pt x="468757" y="312928"/>
                </a:lnTo>
                <a:lnTo>
                  <a:pt x="499872" y="372110"/>
                </a:lnTo>
                <a:lnTo>
                  <a:pt x="523621" y="433832"/>
                </a:lnTo>
                <a:lnTo>
                  <a:pt x="539114" y="497332"/>
                </a:lnTo>
                <a:lnTo>
                  <a:pt x="545719" y="561975"/>
                </a:lnTo>
                <a:lnTo>
                  <a:pt x="545592" y="591185"/>
                </a:lnTo>
                <a:lnTo>
                  <a:pt x="539623" y="649478"/>
                </a:lnTo>
                <a:lnTo>
                  <a:pt x="526669" y="707517"/>
                </a:lnTo>
                <a:lnTo>
                  <a:pt x="506984" y="764413"/>
                </a:lnTo>
                <a:lnTo>
                  <a:pt x="481203" y="819785"/>
                </a:lnTo>
                <a:lnTo>
                  <a:pt x="449834" y="872871"/>
                </a:lnTo>
                <a:lnTo>
                  <a:pt x="413385" y="923290"/>
                </a:lnTo>
                <a:lnTo>
                  <a:pt x="372363" y="970153"/>
                </a:lnTo>
                <a:lnTo>
                  <a:pt x="327151" y="1013079"/>
                </a:lnTo>
                <a:lnTo>
                  <a:pt x="278511" y="1051306"/>
                </a:lnTo>
                <a:lnTo>
                  <a:pt x="226949" y="1084453"/>
                </a:lnTo>
                <a:lnTo>
                  <a:pt x="172720" y="1111758"/>
                </a:lnTo>
                <a:lnTo>
                  <a:pt x="116712" y="1132713"/>
                </a:lnTo>
                <a:lnTo>
                  <a:pt x="59182" y="1146810"/>
                </a:lnTo>
                <a:lnTo>
                  <a:pt x="0" y="1153541"/>
                </a:lnTo>
                <a:lnTo>
                  <a:pt x="1524" y="1172591"/>
                </a:lnTo>
                <a:lnTo>
                  <a:pt x="61849" y="1165733"/>
                </a:lnTo>
                <a:lnTo>
                  <a:pt x="121793" y="1151128"/>
                </a:lnTo>
                <a:lnTo>
                  <a:pt x="179959" y="1129411"/>
                </a:lnTo>
                <a:lnTo>
                  <a:pt x="235966" y="1101217"/>
                </a:lnTo>
                <a:lnTo>
                  <a:pt x="289179" y="1067054"/>
                </a:lnTo>
                <a:lnTo>
                  <a:pt x="339344" y="1027684"/>
                </a:lnTo>
                <a:lnTo>
                  <a:pt x="385825" y="983615"/>
                </a:lnTo>
                <a:lnTo>
                  <a:pt x="427989" y="935482"/>
                </a:lnTo>
                <a:lnTo>
                  <a:pt x="465582" y="883666"/>
                </a:lnTo>
                <a:lnTo>
                  <a:pt x="497839" y="829056"/>
                </a:lnTo>
                <a:lnTo>
                  <a:pt x="524510" y="772033"/>
                </a:lnTo>
                <a:lnTo>
                  <a:pt x="544830" y="713232"/>
                </a:lnTo>
                <a:lnTo>
                  <a:pt x="558292" y="653161"/>
                </a:lnTo>
                <a:lnTo>
                  <a:pt x="564514" y="592455"/>
                </a:lnTo>
                <a:lnTo>
                  <a:pt x="564760" y="561975"/>
                </a:lnTo>
                <a:lnTo>
                  <a:pt x="562610" y="528320"/>
                </a:lnTo>
                <a:lnTo>
                  <a:pt x="551053" y="461518"/>
                </a:lnTo>
                <a:lnTo>
                  <a:pt x="530606" y="396367"/>
                </a:lnTo>
                <a:lnTo>
                  <a:pt x="502285" y="333756"/>
                </a:lnTo>
                <a:lnTo>
                  <a:pt x="466725" y="274320"/>
                </a:lnTo>
                <a:lnTo>
                  <a:pt x="424688" y="218821"/>
                </a:lnTo>
                <a:lnTo>
                  <a:pt x="377317" y="168021"/>
                </a:lnTo>
                <a:lnTo>
                  <a:pt x="320548" y="118999"/>
                </a:lnTo>
                <a:lnTo>
                  <a:pt x="259334" y="77343"/>
                </a:lnTo>
                <a:lnTo>
                  <a:pt x="194563" y="43942"/>
                </a:lnTo>
                <a:lnTo>
                  <a:pt x="144272" y="24764"/>
                </a:lnTo>
                <a:lnTo>
                  <a:pt x="123337" y="19128"/>
                </a:lnTo>
                <a:close/>
              </a:path>
              <a:path w="565150" h="1172845">
                <a:moveTo>
                  <a:pt x="127381" y="0"/>
                </a:moveTo>
                <a:lnTo>
                  <a:pt x="65532" y="16129"/>
                </a:lnTo>
                <a:lnTo>
                  <a:pt x="115570" y="55880"/>
                </a:lnTo>
                <a:lnTo>
                  <a:pt x="119404" y="37739"/>
                </a:lnTo>
                <a:lnTo>
                  <a:pt x="109728" y="35179"/>
                </a:lnTo>
                <a:lnTo>
                  <a:pt x="114554" y="16763"/>
                </a:lnTo>
                <a:lnTo>
                  <a:pt x="123837" y="16763"/>
                </a:lnTo>
                <a:lnTo>
                  <a:pt x="127381" y="0"/>
                </a:lnTo>
                <a:close/>
              </a:path>
              <a:path w="565150" h="1172845">
                <a:moveTo>
                  <a:pt x="114554" y="16763"/>
                </a:moveTo>
                <a:lnTo>
                  <a:pt x="109728" y="35179"/>
                </a:lnTo>
                <a:lnTo>
                  <a:pt x="119404" y="37739"/>
                </a:lnTo>
                <a:lnTo>
                  <a:pt x="123337" y="19128"/>
                </a:lnTo>
                <a:lnTo>
                  <a:pt x="114554" y="16763"/>
                </a:lnTo>
                <a:close/>
              </a:path>
              <a:path w="565150" h="1172845">
                <a:moveTo>
                  <a:pt x="123837" y="16763"/>
                </a:moveTo>
                <a:lnTo>
                  <a:pt x="114554" y="16763"/>
                </a:lnTo>
                <a:lnTo>
                  <a:pt x="123337" y="19128"/>
                </a:lnTo>
                <a:lnTo>
                  <a:pt x="123837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95996" y="1790445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4941" y="1240027"/>
            <a:ext cx="4927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9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3390" y="1863978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900" spc="15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900" dirty="0">
                <a:latin typeface="Arial" panose="020B0604020202020204"/>
                <a:cs typeface="Arial" panose="020B0604020202020204"/>
              </a:rPr>
              <a:t>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14616" y="2519806"/>
            <a:ext cx="533400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9235" y="870311"/>
            <a:ext cx="391795" cy="388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181610">
              <a:lnSpc>
                <a:spcPct val="100000"/>
              </a:lnSpc>
              <a:spcBef>
                <a:spcPts val="370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00766" y="2435955"/>
            <a:ext cx="87439" cy="8591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23022" y="2042286"/>
            <a:ext cx="43180" cy="400685"/>
          </a:xfrm>
          <a:custGeom>
            <a:avLst/>
            <a:gdLst/>
            <a:ahLst/>
            <a:cxnLst/>
            <a:rect l="l" t="t" r="r" b="b"/>
            <a:pathLst>
              <a:path w="43179" h="400685">
                <a:moveTo>
                  <a:pt x="28575" y="35687"/>
                </a:moveTo>
                <a:lnTo>
                  <a:pt x="14350" y="35687"/>
                </a:lnTo>
                <a:lnTo>
                  <a:pt x="14350" y="400685"/>
                </a:lnTo>
                <a:lnTo>
                  <a:pt x="28575" y="400685"/>
                </a:lnTo>
                <a:lnTo>
                  <a:pt x="28575" y="35687"/>
                </a:lnTo>
                <a:close/>
              </a:path>
              <a:path w="43179" h="400685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400685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18450" y="1441830"/>
            <a:ext cx="43180" cy="391160"/>
          </a:xfrm>
          <a:custGeom>
            <a:avLst/>
            <a:gdLst/>
            <a:ahLst/>
            <a:cxnLst/>
            <a:rect l="l" t="t" r="r" b="b"/>
            <a:pathLst>
              <a:path w="43179" h="391160">
                <a:moveTo>
                  <a:pt x="28575" y="35687"/>
                </a:moveTo>
                <a:lnTo>
                  <a:pt x="14350" y="35687"/>
                </a:lnTo>
                <a:lnTo>
                  <a:pt x="14350" y="391032"/>
                </a:lnTo>
                <a:lnTo>
                  <a:pt x="28575" y="391032"/>
                </a:lnTo>
                <a:lnTo>
                  <a:pt x="28575" y="35687"/>
                </a:lnTo>
                <a:close/>
              </a:path>
              <a:path w="43179" h="391160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391160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643686" y="1841372"/>
            <a:ext cx="5734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19136" y="1060830"/>
            <a:ext cx="238505" cy="395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4576" y="951246"/>
            <a:ext cx="1294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ResNet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具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有以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贡献：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576" y="1256046"/>
            <a:ext cx="3244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出了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通过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堆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叠残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模块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任意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788" y="1560846"/>
            <a:ext cx="2565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深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度的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神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经网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会出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现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“退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”现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576" y="1865900"/>
            <a:ext cx="3244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出了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归一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方法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来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对抗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度消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失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，该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方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法降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了网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788" y="2170700"/>
            <a:ext cx="20567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训练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过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程对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于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权重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初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始化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依赖；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07631" y="902351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07631" y="902351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70902" y="1629680"/>
            <a:ext cx="21018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38924" y="1812217"/>
            <a:ext cx="577850" cy="207645"/>
          </a:xfrm>
          <a:custGeom>
            <a:avLst/>
            <a:gdLst/>
            <a:ahLst/>
            <a:cxnLst/>
            <a:rect l="l" t="t" r="r" b="b"/>
            <a:pathLst>
              <a:path w="577850" h="207644">
                <a:moveTo>
                  <a:pt x="0" y="207225"/>
                </a:moveTo>
                <a:lnTo>
                  <a:pt x="577570" y="207225"/>
                </a:lnTo>
                <a:lnTo>
                  <a:pt x="577570" y="0"/>
                </a:lnTo>
                <a:lnTo>
                  <a:pt x="0" y="0"/>
                </a:lnTo>
                <a:lnTo>
                  <a:pt x="0" y="207225"/>
                </a:lnTo>
                <a:close/>
              </a:path>
            </a:pathLst>
          </a:custGeom>
          <a:solidFill>
            <a:srgbClr val="FA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38924" y="1812217"/>
            <a:ext cx="577850" cy="207645"/>
          </a:xfrm>
          <a:custGeom>
            <a:avLst/>
            <a:gdLst/>
            <a:ahLst/>
            <a:cxnLst/>
            <a:rect l="l" t="t" r="r" b="b"/>
            <a:pathLst>
              <a:path w="577850" h="207644">
                <a:moveTo>
                  <a:pt x="0" y="207225"/>
                </a:moveTo>
                <a:lnTo>
                  <a:pt x="577570" y="207225"/>
                </a:lnTo>
                <a:lnTo>
                  <a:pt x="577570" y="0"/>
                </a:lnTo>
                <a:lnTo>
                  <a:pt x="0" y="0"/>
                </a:lnTo>
                <a:lnTo>
                  <a:pt x="0" y="207225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84491" y="1274207"/>
            <a:ext cx="565150" cy="1172845"/>
          </a:xfrm>
          <a:custGeom>
            <a:avLst/>
            <a:gdLst/>
            <a:ahLst/>
            <a:cxnLst/>
            <a:rect l="l" t="t" r="r" b="b"/>
            <a:pathLst>
              <a:path w="565150" h="1172845">
                <a:moveTo>
                  <a:pt x="123337" y="19128"/>
                </a:moveTo>
                <a:lnTo>
                  <a:pt x="119404" y="37739"/>
                </a:lnTo>
                <a:lnTo>
                  <a:pt x="138049" y="42672"/>
                </a:lnTo>
                <a:lnTo>
                  <a:pt x="162306" y="51307"/>
                </a:lnTo>
                <a:lnTo>
                  <a:pt x="218059" y="76200"/>
                </a:lnTo>
                <a:lnTo>
                  <a:pt x="279273" y="112649"/>
                </a:lnTo>
                <a:lnTo>
                  <a:pt x="336676" y="156718"/>
                </a:lnTo>
                <a:lnTo>
                  <a:pt x="387350" y="205485"/>
                </a:lnTo>
                <a:lnTo>
                  <a:pt x="430911" y="257175"/>
                </a:lnTo>
                <a:lnTo>
                  <a:pt x="468757" y="312927"/>
                </a:lnTo>
                <a:lnTo>
                  <a:pt x="499872" y="372109"/>
                </a:lnTo>
                <a:lnTo>
                  <a:pt x="523621" y="433831"/>
                </a:lnTo>
                <a:lnTo>
                  <a:pt x="539114" y="497331"/>
                </a:lnTo>
                <a:lnTo>
                  <a:pt x="545719" y="561975"/>
                </a:lnTo>
                <a:lnTo>
                  <a:pt x="545592" y="591184"/>
                </a:lnTo>
                <a:lnTo>
                  <a:pt x="539623" y="649477"/>
                </a:lnTo>
                <a:lnTo>
                  <a:pt x="526669" y="707517"/>
                </a:lnTo>
                <a:lnTo>
                  <a:pt x="506984" y="764412"/>
                </a:lnTo>
                <a:lnTo>
                  <a:pt x="481203" y="819784"/>
                </a:lnTo>
                <a:lnTo>
                  <a:pt x="449834" y="872871"/>
                </a:lnTo>
                <a:lnTo>
                  <a:pt x="413385" y="923290"/>
                </a:lnTo>
                <a:lnTo>
                  <a:pt x="372363" y="970152"/>
                </a:lnTo>
                <a:lnTo>
                  <a:pt x="327151" y="1013078"/>
                </a:lnTo>
                <a:lnTo>
                  <a:pt x="278511" y="1051305"/>
                </a:lnTo>
                <a:lnTo>
                  <a:pt x="226949" y="1084452"/>
                </a:lnTo>
                <a:lnTo>
                  <a:pt x="172720" y="1111757"/>
                </a:lnTo>
                <a:lnTo>
                  <a:pt x="116712" y="1132712"/>
                </a:lnTo>
                <a:lnTo>
                  <a:pt x="59182" y="1146809"/>
                </a:lnTo>
                <a:lnTo>
                  <a:pt x="0" y="1153541"/>
                </a:lnTo>
                <a:lnTo>
                  <a:pt x="1524" y="1172591"/>
                </a:lnTo>
                <a:lnTo>
                  <a:pt x="61849" y="1165732"/>
                </a:lnTo>
                <a:lnTo>
                  <a:pt x="121793" y="1151127"/>
                </a:lnTo>
                <a:lnTo>
                  <a:pt x="179959" y="1129410"/>
                </a:lnTo>
                <a:lnTo>
                  <a:pt x="235966" y="1101217"/>
                </a:lnTo>
                <a:lnTo>
                  <a:pt x="289179" y="1067180"/>
                </a:lnTo>
                <a:lnTo>
                  <a:pt x="339344" y="1027683"/>
                </a:lnTo>
                <a:lnTo>
                  <a:pt x="385825" y="983615"/>
                </a:lnTo>
                <a:lnTo>
                  <a:pt x="427989" y="935481"/>
                </a:lnTo>
                <a:lnTo>
                  <a:pt x="465582" y="883666"/>
                </a:lnTo>
                <a:lnTo>
                  <a:pt x="497839" y="829055"/>
                </a:lnTo>
                <a:lnTo>
                  <a:pt x="524510" y="772032"/>
                </a:lnTo>
                <a:lnTo>
                  <a:pt x="544830" y="713231"/>
                </a:lnTo>
                <a:lnTo>
                  <a:pt x="558292" y="653160"/>
                </a:lnTo>
                <a:lnTo>
                  <a:pt x="564514" y="592454"/>
                </a:lnTo>
                <a:lnTo>
                  <a:pt x="564760" y="561975"/>
                </a:lnTo>
                <a:lnTo>
                  <a:pt x="562610" y="528320"/>
                </a:lnTo>
                <a:lnTo>
                  <a:pt x="551053" y="461518"/>
                </a:lnTo>
                <a:lnTo>
                  <a:pt x="530606" y="396367"/>
                </a:lnTo>
                <a:lnTo>
                  <a:pt x="502285" y="333755"/>
                </a:lnTo>
                <a:lnTo>
                  <a:pt x="466725" y="274320"/>
                </a:lnTo>
                <a:lnTo>
                  <a:pt x="424688" y="218821"/>
                </a:lnTo>
                <a:lnTo>
                  <a:pt x="377317" y="168021"/>
                </a:lnTo>
                <a:lnTo>
                  <a:pt x="320548" y="118999"/>
                </a:lnTo>
                <a:lnTo>
                  <a:pt x="259334" y="77343"/>
                </a:lnTo>
                <a:lnTo>
                  <a:pt x="194563" y="43942"/>
                </a:lnTo>
                <a:lnTo>
                  <a:pt x="144272" y="24765"/>
                </a:lnTo>
                <a:lnTo>
                  <a:pt x="123337" y="19128"/>
                </a:lnTo>
                <a:close/>
              </a:path>
              <a:path w="565150" h="1172845">
                <a:moveTo>
                  <a:pt x="127381" y="0"/>
                </a:moveTo>
                <a:lnTo>
                  <a:pt x="65532" y="16128"/>
                </a:lnTo>
                <a:lnTo>
                  <a:pt x="115570" y="55879"/>
                </a:lnTo>
                <a:lnTo>
                  <a:pt x="119404" y="37739"/>
                </a:lnTo>
                <a:lnTo>
                  <a:pt x="109728" y="35178"/>
                </a:lnTo>
                <a:lnTo>
                  <a:pt x="114554" y="16763"/>
                </a:lnTo>
                <a:lnTo>
                  <a:pt x="123837" y="16763"/>
                </a:lnTo>
                <a:lnTo>
                  <a:pt x="127381" y="0"/>
                </a:lnTo>
                <a:close/>
              </a:path>
              <a:path w="565150" h="1172845">
                <a:moveTo>
                  <a:pt x="114554" y="16763"/>
                </a:moveTo>
                <a:lnTo>
                  <a:pt x="109728" y="35178"/>
                </a:lnTo>
                <a:lnTo>
                  <a:pt x="119404" y="37739"/>
                </a:lnTo>
                <a:lnTo>
                  <a:pt x="123337" y="19128"/>
                </a:lnTo>
                <a:lnTo>
                  <a:pt x="114554" y="16763"/>
                </a:lnTo>
                <a:close/>
              </a:path>
              <a:path w="565150" h="1172845">
                <a:moveTo>
                  <a:pt x="123837" y="16763"/>
                </a:moveTo>
                <a:lnTo>
                  <a:pt x="114554" y="16763"/>
                </a:lnTo>
                <a:lnTo>
                  <a:pt x="123337" y="19128"/>
                </a:lnTo>
                <a:lnTo>
                  <a:pt x="123837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595996" y="1767729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942" y="1217311"/>
            <a:ext cx="4927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9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3390" y="1841262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900" spc="15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900" dirty="0">
                <a:latin typeface="Arial" panose="020B0604020202020204"/>
                <a:cs typeface="Arial" panose="020B0604020202020204"/>
              </a:rPr>
              <a:t>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14616" y="2497217"/>
            <a:ext cx="532765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49236" y="847341"/>
            <a:ext cx="391795" cy="388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181610">
              <a:lnSpc>
                <a:spcPct val="100000"/>
              </a:lnSpc>
              <a:spcBef>
                <a:spcPts val="370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00766" y="2413873"/>
            <a:ext cx="87439" cy="8591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23023" y="2020205"/>
            <a:ext cx="43180" cy="400685"/>
          </a:xfrm>
          <a:custGeom>
            <a:avLst/>
            <a:gdLst/>
            <a:ahLst/>
            <a:cxnLst/>
            <a:rect l="l" t="t" r="r" b="b"/>
            <a:pathLst>
              <a:path w="43179" h="400685">
                <a:moveTo>
                  <a:pt x="28575" y="35686"/>
                </a:moveTo>
                <a:lnTo>
                  <a:pt x="14350" y="35686"/>
                </a:lnTo>
                <a:lnTo>
                  <a:pt x="14350" y="400684"/>
                </a:lnTo>
                <a:lnTo>
                  <a:pt x="28575" y="400684"/>
                </a:lnTo>
                <a:lnTo>
                  <a:pt x="28575" y="35686"/>
                </a:lnTo>
                <a:close/>
              </a:path>
              <a:path w="43179" h="400685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400685">
                <a:moveTo>
                  <a:pt x="39359" y="35686"/>
                </a:moveTo>
                <a:lnTo>
                  <a:pt x="28575" y="35686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918450" y="1419749"/>
            <a:ext cx="43180" cy="391160"/>
          </a:xfrm>
          <a:custGeom>
            <a:avLst/>
            <a:gdLst/>
            <a:ahLst/>
            <a:cxnLst/>
            <a:rect l="l" t="t" r="r" b="b"/>
            <a:pathLst>
              <a:path w="43179" h="391160">
                <a:moveTo>
                  <a:pt x="28575" y="35686"/>
                </a:moveTo>
                <a:lnTo>
                  <a:pt x="14350" y="35686"/>
                </a:lnTo>
                <a:lnTo>
                  <a:pt x="14350" y="391032"/>
                </a:lnTo>
                <a:lnTo>
                  <a:pt x="28575" y="391032"/>
                </a:lnTo>
                <a:lnTo>
                  <a:pt x="28575" y="35686"/>
                </a:lnTo>
                <a:close/>
              </a:path>
              <a:path w="43179" h="391160">
                <a:moveTo>
                  <a:pt x="21462" y="0"/>
                </a:moveTo>
                <a:lnTo>
                  <a:pt x="0" y="42925"/>
                </a:lnTo>
                <a:lnTo>
                  <a:pt x="14350" y="42925"/>
                </a:lnTo>
                <a:lnTo>
                  <a:pt x="14350" y="35686"/>
                </a:lnTo>
                <a:lnTo>
                  <a:pt x="39306" y="35686"/>
                </a:lnTo>
                <a:lnTo>
                  <a:pt x="21462" y="0"/>
                </a:lnTo>
                <a:close/>
              </a:path>
              <a:path w="43179" h="391160">
                <a:moveTo>
                  <a:pt x="39306" y="35686"/>
                </a:moveTo>
                <a:lnTo>
                  <a:pt x="28575" y="35686"/>
                </a:lnTo>
                <a:lnTo>
                  <a:pt x="28575" y="42925"/>
                </a:lnTo>
                <a:lnTo>
                  <a:pt x="42925" y="42925"/>
                </a:lnTo>
                <a:lnTo>
                  <a:pt x="39306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643686" y="1818656"/>
            <a:ext cx="5734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19137" y="1038749"/>
            <a:ext cx="238505" cy="395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368" y="184784"/>
            <a:ext cx="4923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/>
              <a:t>问题1:平均池</a:t>
            </a:r>
            <a:r>
              <a:rPr sz="1600" dirty="0"/>
              <a:t>化</a:t>
            </a:r>
            <a:r>
              <a:rPr sz="1600" spc="-5" dirty="0"/>
              <a:t>向量化与直接</a:t>
            </a:r>
            <a:r>
              <a:rPr sz="1600" spc="-15" dirty="0"/>
              <a:t>展</a:t>
            </a:r>
            <a:r>
              <a:rPr sz="1600" spc="-5" dirty="0"/>
              <a:t>开向量</a:t>
            </a:r>
            <a:r>
              <a:rPr sz="1600" spc="5" dirty="0"/>
              <a:t>化</a:t>
            </a:r>
            <a:r>
              <a:rPr sz="1600" spc="-5" dirty="0"/>
              <a:t>有什</a:t>
            </a:r>
            <a:r>
              <a:rPr sz="1600" spc="-15" dirty="0"/>
              <a:t>么</a:t>
            </a:r>
            <a:r>
              <a:rPr sz="1600" spc="-5" dirty="0"/>
              <a:t>区别</a:t>
            </a:r>
            <a:r>
              <a:rPr sz="1600" spc="-15" dirty="0"/>
              <a:t>？</a:t>
            </a:r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545459" y="532764"/>
            <a:ext cx="5074920" cy="16245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56322" y="778890"/>
            <a:ext cx="464820" cy="481965"/>
          </a:xfrm>
          <a:custGeom>
            <a:avLst/>
            <a:gdLst/>
            <a:ahLst/>
            <a:cxnLst/>
            <a:rect l="l" t="t" r="r" b="b"/>
            <a:pathLst>
              <a:path w="464820" h="481965">
                <a:moveTo>
                  <a:pt x="0" y="481584"/>
                </a:moveTo>
                <a:lnTo>
                  <a:pt x="464820" y="481584"/>
                </a:lnTo>
                <a:lnTo>
                  <a:pt x="464820" y="0"/>
                </a:lnTo>
                <a:lnTo>
                  <a:pt x="0" y="0"/>
                </a:lnTo>
                <a:lnTo>
                  <a:pt x="0" y="481584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68513" y="1265808"/>
            <a:ext cx="215900" cy="643255"/>
          </a:xfrm>
          <a:custGeom>
            <a:avLst/>
            <a:gdLst/>
            <a:ahLst/>
            <a:cxnLst/>
            <a:rect l="l" t="t" r="r" b="b"/>
            <a:pathLst>
              <a:path w="215900" h="643255">
                <a:moveTo>
                  <a:pt x="215900" y="12953"/>
                </a:moveTo>
                <a:lnTo>
                  <a:pt x="141477" y="555370"/>
                </a:lnTo>
                <a:lnTo>
                  <a:pt x="188722" y="561847"/>
                </a:lnTo>
                <a:lnTo>
                  <a:pt x="81407" y="643254"/>
                </a:lnTo>
                <a:lnTo>
                  <a:pt x="0" y="535939"/>
                </a:lnTo>
                <a:lnTo>
                  <a:pt x="47116" y="542416"/>
                </a:lnTo>
                <a:lnTo>
                  <a:pt x="121538" y="0"/>
                </a:lnTo>
                <a:lnTo>
                  <a:pt x="215900" y="1295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01407" y="2908680"/>
            <a:ext cx="832103" cy="188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01407" y="2908680"/>
            <a:ext cx="832485" cy="18923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55"/>
              </a:spcBef>
            </a:pPr>
            <a:r>
              <a:rPr sz="900" spc="-15" dirty="0">
                <a:latin typeface="Calibri" panose="020F0502020204030204"/>
                <a:cs typeface="Calibri" panose="020F0502020204030204"/>
              </a:rPr>
              <a:t>AveragePool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17231" y="2582532"/>
            <a:ext cx="596646" cy="243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69631" y="2579484"/>
            <a:ext cx="291833" cy="2842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4663" y="2600832"/>
            <a:ext cx="544067" cy="188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4663" y="2600832"/>
            <a:ext cx="544195" cy="189230"/>
          </a:xfrm>
          <a:custGeom>
            <a:avLst/>
            <a:gdLst/>
            <a:ahLst/>
            <a:cxnLst/>
            <a:rect l="l" t="t" r="r" b="b"/>
            <a:pathLst>
              <a:path w="544195" h="189230">
                <a:moveTo>
                  <a:pt x="0" y="188975"/>
                </a:moveTo>
                <a:lnTo>
                  <a:pt x="544067" y="188975"/>
                </a:lnTo>
                <a:lnTo>
                  <a:pt x="544067" y="0"/>
                </a:lnTo>
                <a:lnTo>
                  <a:pt x="0" y="0"/>
                </a:lnTo>
                <a:lnTo>
                  <a:pt x="0" y="188975"/>
                </a:lnTo>
                <a:close/>
              </a:path>
            </a:pathLst>
          </a:custGeom>
          <a:ln w="9525">
            <a:solidFill>
              <a:srgbClr val="E36C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0334" y="1991994"/>
            <a:ext cx="1282065" cy="1188720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20320" algn="ctr">
              <a:lnSpc>
                <a:spcPct val="100000"/>
              </a:lnSpc>
              <a:spcBef>
                <a:spcPts val="805"/>
              </a:spcBef>
            </a:pPr>
            <a:r>
              <a:rPr sz="900" spc="-20" dirty="0">
                <a:latin typeface="Calibri" panose="020F0502020204030204"/>
                <a:cs typeface="Calibri" panose="020F0502020204030204"/>
              </a:rPr>
              <a:t>FC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38340" y="2308212"/>
            <a:ext cx="1154430" cy="243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88631" y="2305189"/>
            <a:ext cx="1053846" cy="282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65772" y="2326512"/>
            <a:ext cx="1101852" cy="188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65772" y="2326512"/>
            <a:ext cx="1102360" cy="1892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5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Activation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5311" y="2020201"/>
            <a:ext cx="842010" cy="22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92847" y="2009508"/>
            <a:ext cx="645413" cy="2842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2743" y="2038476"/>
            <a:ext cx="789940" cy="17399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Softmax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dirty="0"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96759" y="2212975"/>
            <a:ext cx="43180" cy="113664"/>
          </a:xfrm>
          <a:custGeom>
            <a:avLst/>
            <a:gdLst/>
            <a:ahLst/>
            <a:cxnLst/>
            <a:rect l="l" t="t" r="r" b="b"/>
            <a:pathLst>
              <a:path w="43179" h="113664">
                <a:moveTo>
                  <a:pt x="28575" y="35687"/>
                </a:moveTo>
                <a:lnTo>
                  <a:pt x="14350" y="35687"/>
                </a:lnTo>
                <a:lnTo>
                  <a:pt x="14350" y="113537"/>
                </a:lnTo>
                <a:lnTo>
                  <a:pt x="28575" y="113537"/>
                </a:lnTo>
                <a:lnTo>
                  <a:pt x="28575" y="35687"/>
                </a:lnTo>
                <a:close/>
              </a:path>
              <a:path w="43179" h="11366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366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96759" y="2516250"/>
            <a:ext cx="43180" cy="85090"/>
          </a:xfrm>
          <a:custGeom>
            <a:avLst/>
            <a:gdLst/>
            <a:ahLst/>
            <a:cxnLst/>
            <a:rect l="l" t="t" r="r" b="b"/>
            <a:pathLst>
              <a:path w="43179" h="85089">
                <a:moveTo>
                  <a:pt x="28575" y="35687"/>
                </a:moveTo>
                <a:lnTo>
                  <a:pt x="14350" y="35687"/>
                </a:lnTo>
                <a:lnTo>
                  <a:pt x="14350" y="84962"/>
                </a:lnTo>
                <a:lnTo>
                  <a:pt x="28575" y="84962"/>
                </a:lnTo>
                <a:lnTo>
                  <a:pt x="28575" y="35687"/>
                </a:lnTo>
                <a:close/>
              </a:path>
              <a:path w="43179" h="8508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8508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96759" y="2790570"/>
            <a:ext cx="43180" cy="118745"/>
          </a:xfrm>
          <a:custGeom>
            <a:avLst/>
            <a:gdLst/>
            <a:ahLst/>
            <a:cxnLst/>
            <a:rect l="l" t="t" r="r" b="b"/>
            <a:pathLst>
              <a:path w="43179" h="118744">
                <a:moveTo>
                  <a:pt x="28575" y="35687"/>
                </a:moveTo>
                <a:lnTo>
                  <a:pt x="14350" y="35687"/>
                </a:lnTo>
                <a:lnTo>
                  <a:pt x="14350" y="118617"/>
                </a:lnTo>
                <a:lnTo>
                  <a:pt x="28575" y="118617"/>
                </a:lnTo>
                <a:lnTo>
                  <a:pt x="28575" y="35687"/>
                </a:lnTo>
                <a:close/>
              </a:path>
              <a:path w="43179" h="118744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18744">
                <a:moveTo>
                  <a:pt x="39359" y="35687"/>
                </a:moveTo>
                <a:lnTo>
                  <a:pt x="28575" y="35687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6759" y="3098418"/>
            <a:ext cx="43180" cy="153670"/>
          </a:xfrm>
          <a:custGeom>
            <a:avLst/>
            <a:gdLst/>
            <a:ahLst/>
            <a:cxnLst/>
            <a:rect l="l" t="t" r="r" b="b"/>
            <a:pathLst>
              <a:path w="43179" h="153670">
                <a:moveTo>
                  <a:pt x="28575" y="35686"/>
                </a:moveTo>
                <a:lnTo>
                  <a:pt x="14350" y="35686"/>
                </a:lnTo>
                <a:lnTo>
                  <a:pt x="14350" y="153542"/>
                </a:lnTo>
                <a:lnTo>
                  <a:pt x="28575" y="153542"/>
                </a:lnTo>
                <a:lnTo>
                  <a:pt x="28575" y="35686"/>
                </a:lnTo>
                <a:close/>
              </a:path>
              <a:path w="43179" h="153670">
                <a:moveTo>
                  <a:pt x="21462" y="0"/>
                </a:moveTo>
                <a:lnTo>
                  <a:pt x="0" y="42798"/>
                </a:lnTo>
                <a:lnTo>
                  <a:pt x="14350" y="42798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153670">
                <a:moveTo>
                  <a:pt x="39359" y="35686"/>
                </a:moveTo>
                <a:lnTo>
                  <a:pt x="28575" y="35686"/>
                </a:lnTo>
                <a:lnTo>
                  <a:pt x="28575" y="42798"/>
                </a:lnTo>
                <a:lnTo>
                  <a:pt x="42925" y="42798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460869" y="2645028"/>
            <a:ext cx="656590" cy="213360"/>
          </a:xfrm>
          <a:custGeom>
            <a:avLst/>
            <a:gdLst/>
            <a:ahLst/>
            <a:cxnLst/>
            <a:rect l="l" t="t" r="r" b="b"/>
            <a:pathLst>
              <a:path w="656589" h="213360">
                <a:moveTo>
                  <a:pt x="613471" y="199114"/>
                </a:moveTo>
                <a:lnTo>
                  <a:pt x="609345" y="212851"/>
                </a:lnTo>
                <a:lnTo>
                  <a:pt x="656589" y="204724"/>
                </a:lnTo>
                <a:lnTo>
                  <a:pt x="652814" y="201168"/>
                </a:lnTo>
                <a:lnTo>
                  <a:pt x="620267" y="201168"/>
                </a:lnTo>
                <a:lnTo>
                  <a:pt x="613471" y="199114"/>
                </a:lnTo>
                <a:close/>
              </a:path>
              <a:path w="656589" h="213360">
                <a:moveTo>
                  <a:pt x="617561" y="185493"/>
                </a:moveTo>
                <a:lnTo>
                  <a:pt x="613471" y="199114"/>
                </a:lnTo>
                <a:lnTo>
                  <a:pt x="620267" y="201168"/>
                </a:lnTo>
                <a:lnTo>
                  <a:pt x="624458" y="187579"/>
                </a:lnTo>
                <a:lnTo>
                  <a:pt x="617561" y="185493"/>
                </a:lnTo>
                <a:close/>
              </a:path>
              <a:path w="656589" h="213360">
                <a:moveTo>
                  <a:pt x="621664" y="171831"/>
                </a:moveTo>
                <a:lnTo>
                  <a:pt x="617561" y="185493"/>
                </a:lnTo>
                <a:lnTo>
                  <a:pt x="624458" y="187579"/>
                </a:lnTo>
                <a:lnTo>
                  <a:pt x="620267" y="201168"/>
                </a:lnTo>
                <a:lnTo>
                  <a:pt x="652814" y="201168"/>
                </a:lnTo>
                <a:lnTo>
                  <a:pt x="621664" y="171831"/>
                </a:lnTo>
                <a:close/>
              </a:path>
              <a:path w="656589" h="213360">
                <a:moveTo>
                  <a:pt x="4063" y="0"/>
                </a:moveTo>
                <a:lnTo>
                  <a:pt x="0" y="13715"/>
                </a:lnTo>
                <a:lnTo>
                  <a:pt x="613471" y="199114"/>
                </a:lnTo>
                <a:lnTo>
                  <a:pt x="617561" y="185493"/>
                </a:lnTo>
                <a:lnTo>
                  <a:pt x="40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35369" y="2535427"/>
            <a:ext cx="826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维向量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781" y="2262251"/>
            <a:ext cx="31165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特征响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图上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每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个位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置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的值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反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图像对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应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位置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与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卷积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记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037" y="2506091"/>
            <a:ext cx="11442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录的语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义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相似</a:t>
            </a:r>
            <a:r>
              <a:rPr sz="8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程</a:t>
            </a:r>
            <a:r>
              <a:rPr sz="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</a:t>
            </a:r>
            <a:endParaRPr sz="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1722" y="3266922"/>
            <a:ext cx="1131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9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个特征</a:t>
            </a:r>
            <a:r>
              <a:rPr sz="900" spc="1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图</a:t>
            </a:r>
            <a:r>
              <a:rPr sz="1350" spc="-7" baseline="-6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157</a:t>
            </a:r>
            <a:endParaRPr sz="1350" baseline="-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84516" y="17909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460" y="0"/>
                </a:lnTo>
              </a:path>
            </a:pathLst>
          </a:custGeom>
          <a:ln w="53059">
            <a:solidFill>
              <a:srgbClr val="FCEB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84516" y="152570"/>
            <a:ext cx="360045" cy="53340"/>
          </a:xfrm>
          <a:custGeom>
            <a:avLst/>
            <a:gdLst/>
            <a:ahLst/>
            <a:cxnLst/>
            <a:rect l="l" t="t" r="r" b="b"/>
            <a:pathLst>
              <a:path w="360045" h="53339">
                <a:moveTo>
                  <a:pt x="0" y="53059"/>
                </a:moveTo>
                <a:lnTo>
                  <a:pt x="359460" y="53059"/>
                </a:lnTo>
                <a:lnTo>
                  <a:pt x="359460" y="0"/>
                </a:lnTo>
                <a:lnTo>
                  <a:pt x="0" y="0"/>
                </a:lnTo>
                <a:lnTo>
                  <a:pt x="0" y="5305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34299" y="139208"/>
            <a:ext cx="249554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7x7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5" dirty="0">
                <a:latin typeface="Calibri" panose="020F0502020204030204"/>
                <a:cs typeface="Calibri" panose="020F0502020204030204"/>
              </a:rPr>
              <a:t>64,/2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84516" y="27827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EDEA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84516" y="251603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87241" y="251603"/>
            <a:ext cx="356235" cy="53340"/>
          </a:xfrm>
          <a:prstGeom prst="rect">
            <a:avLst/>
          </a:prstGeom>
          <a:solidFill>
            <a:srgbClr val="EDEAF1"/>
          </a:solidFill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64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84516" y="37188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EDEA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84516" y="346109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70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60207" y="332502"/>
            <a:ext cx="20383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64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7241" y="440579"/>
            <a:ext cx="356235" cy="52069"/>
          </a:xfrm>
          <a:prstGeom prst="rect">
            <a:avLst/>
          </a:prstGeom>
          <a:solidFill>
            <a:srgbClr val="EDEAF1"/>
          </a:solidFill>
        </p:spPr>
        <p:txBody>
          <a:bodyPr vert="horz" wrap="square" lIns="0" tIns="19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64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0207" y="521097"/>
            <a:ext cx="20383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64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8765" y="629555"/>
            <a:ext cx="356235" cy="52069"/>
          </a:xfrm>
          <a:prstGeom prst="rect">
            <a:avLst/>
          </a:prstGeom>
          <a:solidFill>
            <a:srgbClr val="EDEAF1"/>
          </a:solidFill>
        </p:spPr>
        <p:txBody>
          <a:bodyPr vert="horz" wrap="square" lIns="0" tIns="190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64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61097" y="710073"/>
            <a:ext cx="205740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64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7241" y="818531"/>
            <a:ext cx="356235" cy="52069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19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/2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1318" y="899049"/>
            <a:ext cx="223520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88765" y="1006010"/>
            <a:ext cx="355600" cy="53340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88765" y="1100498"/>
            <a:ext cx="355600" cy="53340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8765" y="1194986"/>
            <a:ext cx="355600" cy="53340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88765" y="1289447"/>
            <a:ext cx="356235" cy="53340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90289" y="1383935"/>
            <a:ext cx="354330" cy="53340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25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0289" y="1478423"/>
            <a:ext cx="354330" cy="53340"/>
          </a:xfrm>
          <a:prstGeom prst="rect">
            <a:avLst/>
          </a:prstGeom>
          <a:solidFill>
            <a:srgbClr val="EBF0DF"/>
          </a:solidFill>
        </p:spPr>
        <p:txBody>
          <a:bodyPr vert="horz" wrap="square" lIns="0" tIns="25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128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88765" y="1572911"/>
            <a:ext cx="356235" cy="52069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254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256,</a:t>
            </a:r>
            <a:r>
              <a:rPr sz="2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/2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51063" y="1653810"/>
            <a:ext cx="222885" cy="3511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</a:t>
            </a:r>
            <a:r>
              <a:rPr sz="2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c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onv,</a:t>
            </a:r>
            <a:r>
              <a:rPr sz="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87241" y="2043827"/>
            <a:ext cx="356235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88765" y="2138342"/>
            <a:ext cx="355600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8765" y="2232803"/>
            <a:ext cx="356235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87241" y="2327291"/>
            <a:ext cx="356235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87241" y="2421779"/>
            <a:ext cx="356235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88765" y="2516267"/>
            <a:ext cx="356235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88765" y="2610755"/>
            <a:ext cx="356235" cy="53340"/>
          </a:xfrm>
          <a:prstGeom prst="rect">
            <a:avLst/>
          </a:prstGeom>
          <a:solidFill>
            <a:srgbClr val="F1DCDA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256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88765" y="2705243"/>
            <a:ext cx="356235" cy="53340"/>
          </a:xfrm>
          <a:prstGeom prst="rect">
            <a:avLst/>
          </a:prstGeom>
          <a:solidFill>
            <a:srgbClr val="EAEEF5"/>
          </a:solidFill>
        </p:spPr>
        <p:txBody>
          <a:bodyPr vert="horz" wrap="square" lIns="0" tIns="317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512,</a:t>
            </a:r>
            <a:r>
              <a:rPr sz="2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/2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88765" y="2799731"/>
            <a:ext cx="356235" cy="52069"/>
          </a:xfrm>
          <a:prstGeom prst="rect">
            <a:avLst/>
          </a:prstGeom>
          <a:solidFill>
            <a:srgbClr val="EAEEF5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512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52587" y="2880884"/>
            <a:ext cx="222250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512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88765" y="2988707"/>
            <a:ext cx="356235" cy="52069"/>
          </a:xfrm>
          <a:prstGeom prst="rect">
            <a:avLst/>
          </a:prstGeom>
          <a:solidFill>
            <a:srgbClr val="EAEEF5"/>
          </a:solidFill>
        </p:spPr>
        <p:txBody>
          <a:bodyPr vert="horz" wrap="square" lIns="0" tIns="254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512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88765" y="3083195"/>
            <a:ext cx="356235" cy="52069"/>
          </a:xfrm>
          <a:prstGeom prst="rect">
            <a:avLst/>
          </a:prstGeom>
          <a:solidFill>
            <a:srgbClr val="EAEEF5"/>
          </a:solidFill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250" spc="10" dirty="0">
                <a:latin typeface="Calibri" panose="020F0502020204030204"/>
                <a:cs typeface="Calibri" panose="020F0502020204030204"/>
              </a:rPr>
              <a:t>3x3 </a:t>
            </a:r>
            <a:r>
              <a:rPr sz="250" spc="5" dirty="0">
                <a:latin typeface="Calibri" panose="020F0502020204030204"/>
                <a:cs typeface="Calibri" panose="020F0502020204030204"/>
              </a:rPr>
              <a:t>conv,</a:t>
            </a:r>
            <a:r>
              <a:rPr sz="2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0" spc="10" dirty="0">
                <a:latin typeface="Calibri" panose="020F0502020204030204"/>
                <a:cs typeface="Calibri" panose="020F0502020204030204"/>
              </a:rPr>
              <a:t>512</a:t>
            </a:r>
            <a:endParaRPr sz="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5528" y="447437"/>
            <a:ext cx="3683635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研究者考虑了这样一个问题：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浅层网络学习到了有效的分类模式后，如何向上堆积新层来建立更深的网 络，使其满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足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即使不能提升浅层网络的性能，深层网络也不应降低性能。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28570" y="3172233"/>
          <a:ext cx="6106791" cy="284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705"/>
                <a:gridCol w="2184399"/>
                <a:gridCol w="1395729"/>
                <a:gridCol w="360679"/>
                <a:gridCol w="589279"/>
              </a:tblGrid>
              <a:tr h="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80808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50" spc="10" dirty="0">
                          <a:latin typeface="Calibri" panose="020F0502020204030204"/>
                          <a:cs typeface="Calibri" panose="020F0502020204030204"/>
                        </a:rPr>
                        <a:t>3x3 </a:t>
                      </a:r>
                      <a:r>
                        <a:rPr sz="250" spc="5" dirty="0">
                          <a:latin typeface="Calibri" panose="020F0502020204030204"/>
                          <a:cs typeface="Calibri" panose="020F0502020204030204"/>
                        </a:rPr>
                        <a:t>conv,</a:t>
                      </a:r>
                      <a:r>
                        <a:rPr sz="25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50" spc="10" dirty="0">
                          <a:latin typeface="Calibri" panose="020F0502020204030204"/>
                          <a:cs typeface="Calibri" panose="020F0502020204030204"/>
                        </a:rPr>
                        <a:t>512</a:t>
                      </a:r>
                      <a:endParaRPr sz="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EA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</a:tcPr>
                </a:tc>
              </a:tr>
              <a:tr h="227653"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9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8909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250" spc="5" dirty="0">
                          <a:latin typeface="Calibri" panose="020F0502020204030204"/>
                          <a:cs typeface="Calibri" panose="020F0502020204030204"/>
                        </a:rPr>
                        <a:t>fc</a:t>
                      </a:r>
                      <a:r>
                        <a:rPr sz="2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50" spc="1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178</a:t>
                      </a:r>
                      <a:endParaRPr sz="9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0005" marB="0"/>
                </a:tc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5349107" y="303419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49107" y="208931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184516" y="46648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6">
            <a:solidFill>
              <a:srgbClr val="EDEA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184516" y="440579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70">
                <a:moveTo>
                  <a:pt x="0" y="51816"/>
                </a:moveTo>
                <a:lnTo>
                  <a:pt x="361188" y="51816"/>
                </a:lnTo>
                <a:lnTo>
                  <a:pt x="361188" y="0"/>
                </a:lnTo>
                <a:lnTo>
                  <a:pt x="0" y="0"/>
                </a:lnTo>
                <a:lnTo>
                  <a:pt x="0" y="51816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84516" y="56085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EDEA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184516" y="535085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70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349107" y="492395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349107" y="397907"/>
            <a:ext cx="32003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86040" y="65546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6">
            <a:solidFill>
              <a:srgbClr val="EDEA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186040" y="629555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70">
                <a:moveTo>
                  <a:pt x="0" y="51816"/>
                </a:moveTo>
                <a:lnTo>
                  <a:pt x="361188" y="51816"/>
                </a:lnTo>
                <a:lnTo>
                  <a:pt x="361188" y="0"/>
                </a:lnTo>
                <a:lnTo>
                  <a:pt x="0" y="0"/>
                </a:lnTo>
                <a:lnTo>
                  <a:pt x="0" y="51816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86040" y="74995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6">
            <a:solidFill>
              <a:srgbClr val="EDEA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86040" y="724043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70">
                <a:moveTo>
                  <a:pt x="0" y="51816"/>
                </a:moveTo>
                <a:lnTo>
                  <a:pt x="361188" y="51816"/>
                </a:lnTo>
                <a:lnTo>
                  <a:pt x="361188" y="0"/>
                </a:lnTo>
                <a:lnTo>
                  <a:pt x="0" y="0"/>
                </a:lnTo>
                <a:lnTo>
                  <a:pt x="0" y="51816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350631" y="681371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350631" y="586883"/>
            <a:ext cx="32003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184516" y="84443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6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184516" y="818531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816"/>
                </a:moveTo>
                <a:lnTo>
                  <a:pt x="361188" y="51816"/>
                </a:lnTo>
                <a:lnTo>
                  <a:pt x="361188" y="0"/>
                </a:lnTo>
                <a:lnTo>
                  <a:pt x="0" y="0"/>
                </a:lnTo>
                <a:lnTo>
                  <a:pt x="0" y="51816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84516" y="93816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184516" y="911495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40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349107" y="870347"/>
            <a:ext cx="32003" cy="4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349107" y="775859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186040" y="103253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3059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186040" y="1006010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40">
                <a:moveTo>
                  <a:pt x="0" y="53059"/>
                </a:moveTo>
                <a:lnTo>
                  <a:pt x="360984" y="53059"/>
                </a:lnTo>
                <a:lnTo>
                  <a:pt x="360984" y="0"/>
                </a:lnTo>
                <a:lnTo>
                  <a:pt x="0" y="0"/>
                </a:lnTo>
                <a:lnTo>
                  <a:pt x="0" y="5305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186040" y="112702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3059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186040" y="1100498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40">
                <a:moveTo>
                  <a:pt x="0" y="53059"/>
                </a:moveTo>
                <a:lnTo>
                  <a:pt x="360984" y="53059"/>
                </a:lnTo>
                <a:lnTo>
                  <a:pt x="360984" y="0"/>
                </a:lnTo>
                <a:lnTo>
                  <a:pt x="0" y="0"/>
                </a:lnTo>
                <a:lnTo>
                  <a:pt x="0" y="5305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350631" y="1059323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350631" y="964835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186040" y="122151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3059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186040" y="1194986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40">
                <a:moveTo>
                  <a:pt x="0" y="53059"/>
                </a:moveTo>
                <a:lnTo>
                  <a:pt x="360984" y="53059"/>
                </a:lnTo>
                <a:lnTo>
                  <a:pt x="360984" y="0"/>
                </a:lnTo>
                <a:lnTo>
                  <a:pt x="0" y="0"/>
                </a:lnTo>
                <a:lnTo>
                  <a:pt x="0" y="5305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186040" y="131611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186040" y="1289447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40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350631" y="1248299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350631" y="1153811"/>
            <a:ext cx="32003" cy="4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187563" y="1410605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53340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187563" y="1383935"/>
            <a:ext cx="360045" cy="53340"/>
          </a:xfrm>
          <a:custGeom>
            <a:avLst/>
            <a:gdLst/>
            <a:ahLst/>
            <a:cxnLst/>
            <a:rect l="l" t="t" r="r" b="b"/>
            <a:pathLst>
              <a:path w="360045" h="53340">
                <a:moveTo>
                  <a:pt x="0" y="53340"/>
                </a:moveTo>
                <a:lnTo>
                  <a:pt x="359663" y="53340"/>
                </a:lnTo>
                <a:lnTo>
                  <a:pt x="359663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187563" y="150509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53340">
            <a:solidFill>
              <a:srgbClr val="EBF0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187563" y="1478423"/>
            <a:ext cx="360045" cy="53340"/>
          </a:xfrm>
          <a:custGeom>
            <a:avLst/>
            <a:gdLst/>
            <a:ahLst/>
            <a:cxnLst/>
            <a:rect l="l" t="t" r="r" b="b"/>
            <a:pathLst>
              <a:path w="360045" h="53340">
                <a:moveTo>
                  <a:pt x="0" y="53340"/>
                </a:moveTo>
                <a:lnTo>
                  <a:pt x="359663" y="53340"/>
                </a:lnTo>
                <a:lnTo>
                  <a:pt x="359663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350631" y="1435751"/>
            <a:ext cx="32003" cy="42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350631" y="1342787"/>
            <a:ext cx="32003" cy="41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186040" y="159881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6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186040" y="1572911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816"/>
                </a:moveTo>
                <a:lnTo>
                  <a:pt x="361188" y="51816"/>
                </a:lnTo>
                <a:lnTo>
                  <a:pt x="361188" y="0"/>
                </a:lnTo>
                <a:lnTo>
                  <a:pt x="0" y="0"/>
                </a:lnTo>
                <a:lnTo>
                  <a:pt x="0" y="51816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186040" y="169318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186040" y="1667417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350631" y="1624727"/>
            <a:ext cx="32003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350631" y="1530239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184516" y="178767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184516" y="1761905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184516" y="188216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184516" y="1856393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349107" y="1813703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349107" y="1719215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184516" y="197665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184516" y="1950881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184516" y="207049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184516" y="2043827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349107" y="2002679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349107" y="1908191"/>
            <a:ext cx="32003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186040" y="216487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3059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186040" y="2138342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059"/>
                </a:moveTo>
                <a:lnTo>
                  <a:pt x="360984" y="53059"/>
                </a:lnTo>
                <a:lnTo>
                  <a:pt x="360984" y="0"/>
                </a:lnTo>
                <a:lnTo>
                  <a:pt x="0" y="0"/>
                </a:lnTo>
                <a:lnTo>
                  <a:pt x="0" y="5305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186040" y="225947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186040" y="2232803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350631" y="2191655"/>
            <a:ext cx="32003" cy="4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350631" y="2097167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184516" y="235396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184516" y="2327291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184516" y="244844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184516" y="2421779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349107" y="2380631"/>
            <a:ext cx="32003" cy="4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349107" y="2286143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186040" y="254293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40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186040" y="2516267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40"/>
                </a:moveTo>
                <a:lnTo>
                  <a:pt x="361188" y="53340"/>
                </a:lnTo>
                <a:lnTo>
                  <a:pt x="361188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186040" y="263742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39">
            <a:solidFill>
              <a:srgbClr val="F1DC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186040" y="2610755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39"/>
                </a:moveTo>
                <a:lnTo>
                  <a:pt x="361188" y="53339"/>
                </a:lnTo>
                <a:lnTo>
                  <a:pt x="361188" y="0"/>
                </a:lnTo>
                <a:lnTo>
                  <a:pt x="0" y="0"/>
                </a:lnTo>
                <a:lnTo>
                  <a:pt x="0" y="5333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350631" y="2569607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350631" y="2475119"/>
            <a:ext cx="32003" cy="411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186040" y="273191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3339">
            <a:solidFill>
              <a:srgbClr val="EAEE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186040" y="2705243"/>
            <a:ext cx="361315" cy="53340"/>
          </a:xfrm>
          <a:custGeom>
            <a:avLst/>
            <a:gdLst/>
            <a:ahLst/>
            <a:cxnLst/>
            <a:rect l="l" t="t" r="r" b="b"/>
            <a:pathLst>
              <a:path w="361314" h="53339">
                <a:moveTo>
                  <a:pt x="0" y="53339"/>
                </a:moveTo>
                <a:lnTo>
                  <a:pt x="361188" y="53339"/>
                </a:lnTo>
                <a:lnTo>
                  <a:pt x="361188" y="0"/>
                </a:lnTo>
                <a:lnTo>
                  <a:pt x="0" y="0"/>
                </a:lnTo>
                <a:lnTo>
                  <a:pt x="0" y="53339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186040" y="282563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5">
            <a:solidFill>
              <a:srgbClr val="EAEE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186040" y="2799731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815"/>
                </a:moveTo>
                <a:lnTo>
                  <a:pt x="361188" y="51815"/>
                </a:lnTo>
                <a:lnTo>
                  <a:pt x="361188" y="0"/>
                </a:lnTo>
                <a:lnTo>
                  <a:pt x="0" y="0"/>
                </a:lnTo>
                <a:lnTo>
                  <a:pt x="0" y="51815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350631" y="2757059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5350631" y="2662571"/>
            <a:ext cx="32003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186040" y="292000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0984" y="0"/>
                </a:lnTo>
              </a:path>
            </a:pathLst>
          </a:custGeom>
          <a:ln w="51544">
            <a:solidFill>
              <a:srgbClr val="EAEE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186040" y="2894237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544"/>
                </a:moveTo>
                <a:lnTo>
                  <a:pt x="360984" y="51544"/>
                </a:lnTo>
                <a:lnTo>
                  <a:pt x="360984" y="0"/>
                </a:lnTo>
                <a:lnTo>
                  <a:pt x="0" y="0"/>
                </a:lnTo>
                <a:lnTo>
                  <a:pt x="0" y="51544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186040" y="301461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5">
            <a:solidFill>
              <a:srgbClr val="EAEE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5186040" y="2988707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815"/>
                </a:moveTo>
                <a:lnTo>
                  <a:pt x="361188" y="51815"/>
                </a:lnTo>
                <a:lnTo>
                  <a:pt x="361188" y="0"/>
                </a:lnTo>
                <a:lnTo>
                  <a:pt x="0" y="0"/>
                </a:lnTo>
                <a:lnTo>
                  <a:pt x="0" y="51815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5350631" y="2946035"/>
            <a:ext cx="32003" cy="42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350631" y="2851547"/>
            <a:ext cx="32003" cy="426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186040" y="310910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88" y="0"/>
                </a:lnTo>
              </a:path>
            </a:pathLst>
          </a:custGeom>
          <a:ln w="51815">
            <a:solidFill>
              <a:srgbClr val="EAEE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186040" y="3083195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69">
                <a:moveTo>
                  <a:pt x="0" y="51815"/>
                </a:moveTo>
                <a:lnTo>
                  <a:pt x="361188" y="51815"/>
                </a:lnTo>
                <a:lnTo>
                  <a:pt x="361188" y="0"/>
                </a:lnTo>
                <a:lnTo>
                  <a:pt x="0" y="0"/>
                </a:lnTo>
                <a:lnTo>
                  <a:pt x="0" y="51815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350631" y="3135011"/>
            <a:ext cx="32003" cy="42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5350631" y="3040523"/>
            <a:ext cx="32003" cy="4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349107" y="3229499"/>
            <a:ext cx="32003" cy="41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5181468" y="3273695"/>
            <a:ext cx="361315" cy="52069"/>
          </a:xfrm>
          <a:custGeom>
            <a:avLst/>
            <a:gdLst/>
            <a:ahLst/>
            <a:cxnLst/>
            <a:rect l="l" t="t" r="r" b="b"/>
            <a:pathLst>
              <a:path w="361314" h="52070">
                <a:moveTo>
                  <a:pt x="0" y="51815"/>
                </a:moveTo>
                <a:lnTo>
                  <a:pt x="361188" y="51815"/>
                </a:lnTo>
                <a:lnTo>
                  <a:pt x="361188" y="0"/>
                </a:lnTo>
                <a:lnTo>
                  <a:pt x="0" y="0"/>
                </a:lnTo>
                <a:lnTo>
                  <a:pt x="0" y="51815"/>
                </a:lnTo>
                <a:close/>
              </a:path>
            </a:pathLst>
          </a:custGeom>
          <a:ln w="5449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230" y="1630806"/>
            <a:ext cx="3682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设卷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10" dirty="0">
                <a:latin typeface="Cambria Math" panose="02040503050406030204"/>
                <a:cs typeface="Cambria Math" panose="02040503050406030204"/>
              </a:rPr>
              <a:t>𝐹(𝑋)</a:t>
            </a:r>
            <a:r>
              <a:rPr sz="10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5" dirty="0">
                <a:latin typeface="Cambria Math" panose="02040503050406030204"/>
                <a:cs typeface="Cambria Math" panose="02040503050406030204"/>
              </a:rPr>
              <a:t>𝐻(𝑋)</a:t>
            </a:r>
            <a:r>
              <a:rPr sz="10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，则有：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0219" y="1935606"/>
            <a:ext cx="10617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𝐻(𝑋) </a:t>
            </a:r>
            <a:r>
              <a:rPr sz="10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sz="10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10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000" spc="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𝑋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9511" y="1468500"/>
            <a:ext cx="1251585" cy="1507490"/>
          </a:xfrm>
          <a:custGeom>
            <a:avLst/>
            <a:gdLst/>
            <a:ahLst/>
            <a:cxnLst/>
            <a:rect l="l" t="t" r="r" b="b"/>
            <a:pathLst>
              <a:path w="1251585" h="1507489">
                <a:moveTo>
                  <a:pt x="0" y="1507236"/>
                </a:moveTo>
                <a:lnTo>
                  <a:pt x="1251203" y="1507236"/>
                </a:lnTo>
                <a:lnTo>
                  <a:pt x="1251203" y="0"/>
                </a:lnTo>
                <a:lnTo>
                  <a:pt x="0" y="0"/>
                </a:lnTo>
                <a:lnTo>
                  <a:pt x="0" y="1507236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511" y="1468500"/>
            <a:ext cx="1251585" cy="1507490"/>
          </a:xfrm>
          <a:custGeom>
            <a:avLst/>
            <a:gdLst/>
            <a:ahLst/>
            <a:cxnLst/>
            <a:rect l="l" t="t" r="r" b="b"/>
            <a:pathLst>
              <a:path w="1251585" h="1507489">
                <a:moveTo>
                  <a:pt x="0" y="1507236"/>
                </a:moveTo>
                <a:lnTo>
                  <a:pt x="1251203" y="1507236"/>
                </a:lnTo>
                <a:lnTo>
                  <a:pt x="1251203" y="0"/>
                </a:lnTo>
                <a:lnTo>
                  <a:pt x="0" y="0"/>
                </a:lnTo>
                <a:lnTo>
                  <a:pt x="0" y="150723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5174" y="2045842"/>
            <a:ext cx="1593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lu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0887" y="2189378"/>
            <a:ext cx="459105" cy="165100"/>
          </a:xfrm>
          <a:custGeom>
            <a:avLst/>
            <a:gdLst/>
            <a:ahLst/>
            <a:cxnLst/>
            <a:rect l="l" t="t" r="r" b="b"/>
            <a:pathLst>
              <a:path w="459105" h="165100">
                <a:moveTo>
                  <a:pt x="0" y="164566"/>
                </a:moveTo>
                <a:lnTo>
                  <a:pt x="458698" y="164566"/>
                </a:lnTo>
                <a:lnTo>
                  <a:pt x="458698" y="0"/>
                </a:lnTo>
                <a:lnTo>
                  <a:pt x="0" y="0"/>
                </a:lnTo>
                <a:lnTo>
                  <a:pt x="0" y="164566"/>
                </a:lnTo>
                <a:close/>
              </a:path>
            </a:pathLst>
          </a:custGeom>
          <a:solidFill>
            <a:srgbClr val="FA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887" y="2189378"/>
            <a:ext cx="459105" cy="165100"/>
          </a:xfrm>
          <a:custGeom>
            <a:avLst/>
            <a:gdLst/>
            <a:ahLst/>
            <a:cxnLst/>
            <a:rect l="l" t="t" r="r" b="b"/>
            <a:pathLst>
              <a:path w="459105" h="165100">
                <a:moveTo>
                  <a:pt x="0" y="164566"/>
                </a:moveTo>
                <a:lnTo>
                  <a:pt x="458698" y="164566"/>
                </a:lnTo>
                <a:lnTo>
                  <a:pt x="458698" y="0"/>
                </a:lnTo>
                <a:lnTo>
                  <a:pt x="0" y="0"/>
                </a:lnTo>
                <a:lnTo>
                  <a:pt x="0" y="164566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4699" y="1760981"/>
            <a:ext cx="449580" cy="933450"/>
          </a:xfrm>
          <a:custGeom>
            <a:avLst/>
            <a:gdLst/>
            <a:ahLst/>
            <a:cxnLst/>
            <a:rect l="l" t="t" r="r" b="b"/>
            <a:pathLst>
              <a:path w="449580" h="933450">
                <a:moveTo>
                  <a:pt x="109853" y="18775"/>
                </a:moveTo>
                <a:lnTo>
                  <a:pt x="105586" y="37319"/>
                </a:lnTo>
                <a:lnTo>
                  <a:pt x="108838" y="38100"/>
                </a:lnTo>
                <a:lnTo>
                  <a:pt x="128015" y="44831"/>
                </a:lnTo>
                <a:lnTo>
                  <a:pt x="171958" y="64516"/>
                </a:lnTo>
                <a:lnTo>
                  <a:pt x="220218" y="93218"/>
                </a:lnTo>
                <a:lnTo>
                  <a:pt x="265556" y="128016"/>
                </a:lnTo>
                <a:lnTo>
                  <a:pt x="305562" y="166497"/>
                </a:lnTo>
                <a:lnTo>
                  <a:pt x="339978" y="207264"/>
                </a:lnTo>
                <a:lnTo>
                  <a:pt x="369697" y="251333"/>
                </a:lnTo>
                <a:lnTo>
                  <a:pt x="394335" y="297942"/>
                </a:lnTo>
                <a:lnTo>
                  <a:pt x="413004" y="346583"/>
                </a:lnTo>
                <a:lnTo>
                  <a:pt x="425323" y="396748"/>
                </a:lnTo>
                <a:lnTo>
                  <a:pt x="430530" y="447675"/>
                </a:lnTo>
                <a:lnTo>
                  <a:pt x="430402" y="470535"/>
                </a:lnTo>
                <a:lnTo>
                  <a:pt x="425704" y="516636"/>
                </a:lnTo>
                <a:lnTo>
                  <a:pt x="415417" y="562356"/>
                </a:lnTo>
                <a:lnTo>
                  <a:pt x="399923" y="607187"/>
                </a:lnTo>
                <a:lnTo>
                  <a:pt x="379602" y="650875"/>
                </a:lnTo>
                <a:lnTo>
                  <a:pt x="354964" y="692785"/>
                </a:lnTo>
                <a:lnTo>
                  <a:pt x="326136" y="732536"/>
                </a:lnTo>
                <a:lnTo>
                  <a:pt x="293750" y="769620"/>
                </a:lnTo>
                <a:lnTo>
                  <a:pt x="258063" y="803529"/>
                </a:lnTo>
                <a:lnTo>
                  <a:pt x="219709" y="833755"/>
                </a:lnTo>
                <a:lnTo>
                  <a:pt x="178943" y="859790"/>
                </a:lnTo>
                <a:lnTo>
                  <a:pt x="136271" y="881380"/>
                </a:lnTo>
                <a:lnTo>
                  <a:pt x="91947" y="898017"/>
                </a:lnTo>
                <a:lnTo>
                  <a:pt x="46609" y="909066"/>
                </a:lnTo>
                <a:lnTo>
                  <a:pt x="0" y="914400"/>
                </a:lnTo>
                <a:lnTo>
                  <a:pt x="1524" y="933323"/>
                </a:lnTo>
                <a:lnTo>
                  <a:pt x="49403" y="927862"/>
                </a:lnTo>
                <a:lnTo>
                  <a:pt x="97028" y="916305"/>
                </a:lnTo>
                <a:lnTo>
                  <a:pt x="143383" y="899033"/>
                </a:lnTo>
                <a:lnTo>
                  <a:pt x="187959" y="876554"/>
                </a:lnTo>
                <a:lnTo>
                  <a:pt x="230378" y="849503"/>
                </a:lnTo>
                <a:lnTo>
                  <a:pt x="270256" y="818134"/>
                </a:lnTo>
                <a:lnTo>
                  <a:pt x="307086" y="783082"/>
                </a:lnTo>
                <a:lnTo>
                  <a:pt x="340741" y="744855"/>
                </a:lnTo>
                <a:lnTo>
                  <a:pt x="370586" y="703707"/>
                </a:lnTo>
                <a:lnTo>
                  <a:pt x="396239" y="660146"/>
                </a:lnTo>
                <a:lnTo>
                  <a:pt x="417449" y="614807"/>
                </a:lnTo>
                <a:lnTo>
                  <a:pt x="433577" y="568071"/>
                </a:lnTo>
                <a:lnTo>
                  <a:pt x="444373" y="520192"/>
                </a:lnTo>
                <a:lnTo>
                  <a:pt x="449325" y="471931"/>
                </a:lnTo>
                <a:lnTo>
                  <a:pt x="449580" y="447675"/>
                </a:lnTo>
                <a:lnTo>
                  <a:pt x="447801" y="420878"/>
                </a:lnTo>
                <a:lnTo>
                  <a:pt x="438657" y="367665"/>
                </a:lnTo>
                <a:lnTo>
                  <a:pt x="422401" y="315849"/>
                </a:lnTo>
                <a:lnTo>
                  <a:pt x="399795" y="265938"/>
                </a:lnTo>
                <a:lnTo>
                  <a:pt x="371475" y="218694"/>
                </a:lnTo>
                <a:lnTo>
                  <a:pt x="338200" y="174498"/>
                </a:lnTo>
                <a:lnTo>
                  <a:pt x="300481" y="134112"/>
                </a:lnTo>
                <a:lnTo>
                  <a:pt x="255397" y="95123"/>
                </a:lnTo>
                <a:lnTo>
                  <a:pt x="206628" y="61976"/>
                </a:lnTo>
                <a:lnTo>
                  <a:pt x="155194" y="35433"/>
                </a:lnTo>
                <a:lnTo>
                  <a:pt x="115062" y="20066"/>
                </a:lnTo>
                <a:lnTo>
                  <a:pt x="109853" y="18775"/>
                </a:lnTo>
                <a:close/>
              </a:path>
              <a:path w="449580" h="933450">
                <a:moveTo>
                  <a:pt x="114172" y="0"/>
                </a:moveTo>
                <a:lnTo>
                  <a:pt x="52069" y="15112"/>
                </a:lnTo>
                <a:lnTo>
                  <a:pt x="101346" y="55753"/>
                </a:lnTo>
                <a:lnTo>
                  <a:pt x="105586" y="37319"/>
                </a:lnTo>
                <a:lnTo>
                  <a:pt x="96138" y="35052"/>
                </a:lnTo>
                <a:lnTo>
                  <a:pt x="100711" y="16510"/>
                </a:lnTo>
                <a:lnTo>
                  <a:pt x="110374" y="16510"/>
                </a:lnTo>
                <a:lnTo>
                  <a:pt x="114172" y="0"/>
                </a:lnTo>
                <a:close/>
              </a:path>
              <a:path w="449580" h="933450">
                <a:moveTo>
                  <a:pt x="100711" y="16510"/>
                </a:moveTo>
                <a:lnTo>
                  <a:pt x="96138" y="35052"/>
                </a:lnTo>
                <a:lnTo>
                  <a:pt x="105586" y="37319"/>
                </a:lnTo>
                <a:lnTo>
                  <a:pt x="109853" y="18775"/>
                </a:lnTo>
                <a:lnTo>
                  <a:pt x="100711" y="16510"/>
                </a:lnTo>
                <a:close/>
              </a:path>
              <a:path w="449580" h="933450">
                <a:moveTo>
                  <a:pt x="110374" y="16510"/>
                </a:moveTo>
                <a:lnTo>
                  <a:pt x="100711" y="16510"/>
                </a:lnTo>
                <a:lnTo>
                  <a:pt x="109853" y="18775"/>
                </a:lnTo>
                <a:lnTo>
                  <a:pt x="110374" y="16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99839" y="2178430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595" y="1719198"/>
            <a:ext cx="384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321" y="2213482"/>
            <a:ext cx="1949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10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7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700" spc="10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)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542" y="2750565"/>
            <a:ext cx="379095" cy="43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8425" algn="ctr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残差模块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8586" y="1428013"/>
            <a:ext cx="293370" cy="3041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33985">
              <a:lnSpc>
                <a:spcPct val="100000"/>
              </a:lnSpc>
              <a:spcBef>
                <a:spcPts val="26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lu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7866" y="2664555"/>
            <a:ext cx="70675" cy="721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2541" y="2354706"/>
            <a:ext cx="43180" cy="317500"/>
          </a:xfrm>
          <a:custGeom>
            <a:avLst/>
            <a:gdLst/>
            <a:ahLst/>
            <a:cxnLst/>
            <a:rect l="l" t="t" r="r" b="b"/>
            <a:pathLst>
              <a:path w="43179" h="317500">
                <a:moveTo>
                  <a:pt x="28575" y="35687"/>
                </a:moveTo>
                <a:lnTo>
                  <a:pt x="14287" y="35687"/>
                </a:lnTo>
                <a:lnTo>
                  <a:pt x="14274" y="317500"/>
                </a:lnTo>
                <a:lnTo>
                  <a:pt x="28562" y="317500"/>
                </a:lnTo>
                <a:lnTo>
                  <a:pt x="28575" y="35687"/>
                </a:lnTo>
                <a:close/>
              </a:path>
              <a:path w="43179" h="317500">
                <a:moveTo>
                  <a:pt x="21424" y="0"/>
                </a:moveTo>
                <a:lnTo>
                  <a:pt x="0" y="42799"/>
                </a:lnTo>
                <a:lnTo>
                  <a:pt x="14287" y="42799"/>
                </a:lnTo>
                <a:lnTo>
                  <a:pt x="14287" y="35687"/>
                </a:lnTo>
                <a:lnTo>
                  <a:pt x="39321" y="35687"/>
                </a:lnTo>
                <a:lnTo>
                  <a:pt x="21424" y="0"/>
                </a:lnTo>
                <a:close/>
              </a:path>
              <a:path w="43179" h="317500">
                <a:moveTo>
                  <a:pt x="39321" y="35687"/>
                </a:moveTo>
                <a:lnTo>
                  <a:pt x="28575" y="35687"/>
                </a:lnTo>
                <a:lnTo>
                  <a:pt x="28574" y="42799"/>
                </a:lnTo>
                <a:lnTo>
                  <a:pt x="42887" y="42799"/>
                </a:lnTo>
                <a:lnTo>
                  <a:pt x="39321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7969" y="1877694"/>
            <a:ext cx="43180" cy="309880"/>
          </a:xfrm>
          <a:custGeom>
            <a:avLst/>
            <a:gdLst/>
            <a:ahLst/>
            <a:cxnLst/>
            <a:rect l="l" t="t" r="r" b="b"/>
            <a:pathLst>
              <a:path w="43179" h="309880">
                <a:moveTo>
                  <a:pt x="28575" y="35687"/>
                </a:moveTo>
                <a:lnTo>
                  <a:pt x="14287" y="35687"/>
                </a:lnTo>
                <a:lnTo>
                  <a:pt x="14274" y="309880"/>
                </a:lnTo>
                <a:lnTo>
                  <a:pt x="28562" y="309880"/>
                </a:lnTo>
                <a:lnTo>
                  <a:pt x="28575" y="35687"/>
                </a:lnTo>
                <a:close/>
              </a:path>
              <a:path w="43179" h="309880">
                <a:moveTo>
                  <a:pt x="21424" y="0"/>
                </a:moveTo>
                <a:lnTo>
                  <a:pt x="0" y="42799"/>
                </a:lnTo>
                <a:lnTo>
                  <a:pt x="14287" y="42799"/>
                </a:lnTo>
                <a:lnTo>
                  <a:pt x="14287" y="35687"/>
                </a:lnTo>
                <a:lnTo>
                  <a:pt x="39300" y="35687"/>
                </a:lnTo>
                <a:lnTo>
                  <a:pt x="21424" y="0"/>
                </a:lnTo>
                <a:close/>
              </a:path>
              <a:path w="43179" h="309880">
                <a:moveTo>
                  <a:pt x="39300" y="35687"/>
                </a:moveTo>
                <a:lnTo>
                  <a:pt x="28575" y="35687"/>
                </a:lnTo>
                <a:lnTo>
                  <a:pt x="28574" y="42799"/>
                </a:lnTo>
                <a:lnTo>
                  <a:pt x="42862" y="42799"/>
                </a:lnTo>
                <a:lnTo>
                  <a:pt x="39300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45650" y="2198877"/>
            <a:ext cx="454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conv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3000" y="1575942"/>
            <a:ext cx="192786" cy="315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35528" y="469646"/>
            <a:ext cx="3683635" cy="9474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研究者考虑了这样一个问题：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浅层网络学习到了有效的分类模式后，如何向上堆积新层来建立更深的网 络，使其满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足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即使不能提升浅层网络的性能，深层网络也不应降低性能。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42240">
              <a:lnSpc>
                <a:spcPct val="100000"/>
              </a:lnSpc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恒等映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射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87011" y="1373250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决方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230" y="1607405"/>
            <a:ext cx="3682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设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卷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学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变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10" dirty="0">
                <a:latin typeface="Cambria Math" panose="02040503050406030204"/>
                <a:cs typeface="Cambria Math" panose="02040503050406030204"/>
              </a:rPr>
              <a:t>𝐹(𝑋)</a:t>
            </a:r>
            <a:r>
              <a:rPr sz="10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结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输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5" dirty="0">
                <a:latin typeface="Cambria Math" panose="02040503050406030204"/>
                <a:cs typeface="Cambria Math" panose="02040503050406030204"/>
              </a:rPr>
              <a:t>𝐻(𝑋)</a:t>
            </a:r>
            <a:r>
              <a:rPr sz="10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10" dirty="0">
                <a:latin typeface="黑体" panose="02010609060101010101" charset="-122"/>
                <a:cs typeface="黑体" panose="02010609060101010101" charset="-122"/>
              </a:rPr>
              <a:t>，则有：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0220" y="1912890"/>
            <a:ext cx="10617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Cambria Math" panose="02040503050406030204"/>
                <a:cs typeface="Cambria Math" panose="02040503050406030204"/>
              </a:rPr>
              <a:t>𝐻(𝑋)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0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0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9512" y="1446419"/>
            <a:ext cx="1251585" cy="1507490"/>
          </a:xfrm>
          <a:custGeom>
            <a:avLst/>
            <a:gdLst/>
            <a:ahLst/>
            <a:cxnLst/>
            <a:rect l="l" t="t" r="r" b="b"/>
            <a:pathLst>
              <a:path w="1251585" h="1507489">
                <a:moveTo>
                  <a:pt x="0" y="1507236"/>
                </a:moveTo>
                <a:lnTo>
                  <a:pt x="1251203" y="1507236"/>
                </a:lnTo>
                <a:lnTo>
                  <a:pt x="1251203" y="0"/>
                </a:lnTo>
                <a:lnTo>
                  <a:pt x="0" y="0"/>
                </a:lnTo>
                <a:lnTo>
                  <a:pt x="0" y="1507236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512" y="1446419"/>
            <a:ext cx="1251585" cy="1507490"/>
          </a:xfrm>
          <a:custGeom>
            <a:avLst/>
            <a:gdLst/>
            <a:ahLst/>
            <a:cxnLst/>
            <a:rect l="l" t="t" r="r" b="b"/>
            <a:pathLst>
              <a:path w="1251585" h="1507489">
                <a:moveTo>
                  <a:pt x="0" y="1507236"/>
                </a:moveTo>
                <a:lnTo>
                  <a:pt x="1251203" y="1507236"/>
                </a:lnTo>
                <a:lnTo>
                  <a:pt x="1251203" y="0"/>
                </a:lnTo>
                <a:lnTo>
                  <a:pt x="0" y="0"/>
                </a:lnTo>
                <a:lnTo>
                  <a:pt x="0" y="150723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5175" y="2023253"/>
            <a:ext cx="1593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lu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0888" y="2167296"/>
            <a:ext cx="459105" cy="165100"/>
          </a:xfrm>
          <a:custGeom>
            <a:avLst/>
            <a:gdLst/>
            <a:ahLst/>
            <a:cxnLst/>
            <a:rect l="l" t="t" r="r" b="b"/>
            <a:pathLst>
              <a:path w="459105" h="165100">
                <a:moveTo>
                  <a:pt x="0" y="164566"/>
                </a:moveTo>
                <a:lnTo>
                  <a:pt x="458698" y="164566"/>
                </a:lnTo>
                <a:lnTo>
                  <a:pt x="458698" y="0"/>
                </a:lnTo>
                <a:lnTo>
                  <a:pt x="0" y="0"/>
                </a:lnTo>
                <a:lnTo>
                  <a:pt x="0" y="164566"/>
                </a:lnTo>
                <a:close/>
              </a:path>
            </a:pathLst>
          </a:custGeom>
          <a:solidFill>
            <a:srgbClr val="FA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888" y="2167296"/>
            <a:ext cx="459105" cy="165100"/>
          </a:xfrm>
          <a:custGeom>
            <a:avLst/>
            <a:gdLst/>
            <a:ahLst/>
            <a:cxnLst/>
            <a:rect l="l" t="t" r="r" b="b"/>
            <a:pathLst>
              <a:path w="459105" h="165100">
                <a:moveTo>
                  <a:pt x="0" y="164566"/>
                </a:moveTo>
                <a:lnTo>
                  <a:pt x="458698" y="164566"/>
                </a:lnTo>
                <a:lnTo>
                  <a:pt x="458698" y="0"/>
                </a:lnTo>
                <a:lnTo>
                  <a:pt x="0" y="0"/>
                </a:lnTo>
                <a:lnTo>
                  <a:pt x="0" y="164566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4700" y="1738900"/>
            <a:ext cx="449580" cy="933450"/>
          </a:xfrm>
          <a:custGeom>
            <a:avLst/>
            <a:gdLst/>
            <a:ahLst/>
            <a:cxnLst/>
            <a:rect l="l" t="t" r="r" b="b"/>
            <a:pathLst>
              <a:path w="449580" h="933450">
                <a:moveTo>
                  <a:pt x="109853" y="18775"/>
                </a:moveTo>
                <a:lnTo>
                  <a:pt x="105581" y="37341"/>
                </a:lnTo>
                <a:lnTo>
                  <a:pt x="108712" y="38100"/>
                </a:lnTo>
                <a:lnTo>
                  <a:pt x="128015" y="44830"/>
                </a:lnTo>
                <a:lnTo>
                  <a:pt x="171958" y="64515"/>
                </a:lnTo>
                <a:lnTo>
                  <a:pt x="220218" y="93217"/>
                </a:lnTo>
                <a:lnTo>
                  <a:pt x="265556" y="128015"/>
                </a:lnTo>
                <a:lnTo>
                  <a:pt x="305562" y="166497"/>
                </a:lnTo>
                <a:lnTo>
                  <a:pt x="339978" y="207263"/>
                </a:lnTo>
                <a:lnTo>
                  <a:pt x="369697" y="251332"/>
                </a:lnTo>
                <a:lnTo>
                  <a:pt x="394335" y="297941"/>
                </a:lnTo>
                <a:lnTo>
                  <a:pt x="413004" y="346582"/>
                </a:lnTo>
                <a:lnTo>
                  <a:pt x="425323" y="396748"/>
                </a:lnTo>
                <a:lnTo>
                  <a:pt x="430530" y="447675"/>
                </a:lnTo>
                <a:lnTo>
                  <a:pt x="430402" y="470534"/>
                </a:lnTo>
                <a:lnTo>
                  <a:pt x="425704" y="516635"/>
                </a:lnTo>
                <a:lnTo>
                  <a:pt x="415417" y="562355"/>
                </a:lnTo>
                <a:lnTo>
                  <a:pt x="399923" y="607186"/>
                </a:lnTo>
                <a:lnTo>
                  <a:pt x="379602" y="650875"/>
                </a:lnTo>
                <a:lnTo>
                  <a:pt x="354964" y="692784"/>
                </a:lnTo>
                <a:lnTo>
                  <a:pt x="326136" y="732535"/>
                </a:lnTo>
                <a:lnTo>
                  <a:pt x="293750" y="769619"/>
                </a:lnTo>
                <a:lnTo>
                  <a:pt x="258063" y="803528"/>
                </a:lnTo>
                <a:lnTo>
                  <a:pt x="219709" y="833754"/>
                </a:lnTo>
                <a:lnTo>
                  <a:pt x="178943" y="859789"/>
                </a:lnTo>
                <a:lnTo>
                  <a:pt x="136271" y="881379"/>
                </a:lnTo>
                <a:lnTo>
                  <a:pt x="91947" y="898016"/>
                </a:lnTo>
                <a:lnTo>
                  <a:pt x="46609" y="909065"/>
                </a:lnTo>
                <a:lnTo>
                  <a:pt x="0" y="914399"/>
                </a:lnTo>
                <a:lnTo>
                  <a:pt x="1524" y="933322"/>
                </a:lnTo>
                <a:lnTo>
                  <a:pt x="49403" y="927861"/>
                </a:lnTo>
                <a:lnTo>
                  <a:pt x="97028" y="916304"/>
                </a:lnTo>
                <a:lnTo>
                  <a:pt x="143383" y="899032"/>
                </a:lnTo>
                <a:lnTo>
                  <a:pt x="187959" y="876553"/>
                </a:lnTo>
                <a:lnTo>
                  <a:pt x="230378" y="849502"/>
                </a:lnTo>
                <a:lnTo>
                  <a:pt x="270256" y="818133"/>
                </a:lnTo>
                <a:lnTo>
                  <a:pt x="307086" y="783081"/>
                </a:lnTo>
                <a:lnTo>
                  <a:pt x="340741" y="744854"/>
                </a:lnTo>
                <a:lnTo>
                  <a:pt x="370586" y="703706"/>
                </a:lnTo>
                <a:lnTo>
                  <a:pt x="396239" y="660145"/>
                </a:lnTo>
                <a:lnTo>
                  <a:pt x="417449" y="614806"/>
                </a:lnTo>
                <a:lnTo>
                  <a:pt x="433577" y="568070"/>
                </a:lnTo>
                <a:lnTo>
                  <a:pt x="444373" y="520191"/>
                </a:lnTo>
                <a:lnTo>
                  <a:pt x="449325" y="471931"/>
                </a:lnTo>
                <a:lnTo>
                  <a:pt x="449580" y="447675"/>
                </a:lnTo>
                <a:lnTo>
                  <a:pt x="447801" y="420877"/>
                </a:lnTo>
                <a:lnTo>
                  <a:pt x="438657" y="367664"/>
                </a:lnTo>
                <a:lnTo>
                  <a:pt x="422401" y="315849"/>
                </a:lnTo>
                <a:lnTo>
                  <a:pt x="399795" y="265937"/>
                </a:lnTo>
                <a:lnTo>
                  <a:pt x="371475" y="218693"/>
                </a:lnTo>
                <a:lnTo>
                  <a:pt x="338200" y="174498"/>
                </a:lnTo>
                <a:lnTo>
                  <a:pt x="300481" y="134111"/>
                </a:lnTo>
                <a:lnTo>
                  <a:pt x="255397" y="95123"/>
                </a:lnTo>
                <a:lnTo>
                  <a:pt x="206628" y="61975"/>
                </a:lnTo>
                <a:lnTo>
                  <a:pt x="155194" y="35432"/>
                </a:lnTo>
                <a:lnTo>
                  <a:pt x="115062" y="20065"/>
                </a:lnTo>
                <a:lnTo>
                  <a:pt x="109853" y="18775"/>
                </a:lnTo>
                <a:close/>
              </a:path>
              <a:path w="449580" h="933450">
                <a:moveTo>
                  <a:pt x="114172" y="0"/>
                </a:moveTo>
                <a:lnTo>
                  <a:pt x="52069" y="15112"/>
                </a:lnTo>
                <a:lnTo>
                  <a:pt x="101346" y="55752"/>
                </a:lnTo>
                <a:lnTo>
                  <a:pt x="105581" y="37341"/>
                </a:lnTo>
                <a:lnTo>
                  <a:pt x="96138" y="35051"/>
                </a:lnTo>
                <a:lnTo>
                  <a:pt x="100711" y="16509"/>
                </a:lnTo>
                <a:lnTo>
                  <a:pt x="110374" y="16509"/>
                </a:lnTo>
                <a:lnTo>
                  <a:pt x="114172" y="0"/>
                </a:lnTo>
                <a:close/>
              </a:path>
              <a:path w="449580" h="933450">
                <a:moveTo>
                  <a:pt x="100711" y="16509"/>
                </a:moveTo>
                <a:lnTo>
                  <a:pt x="96138" y="35051"/>
                </a:lnTo>
                <a:lnTo>
                  <a:pt x="105581" y="37341"/>
                </a:lnTo>
                <a:lnTo>
                  <a:pt x="109853" y="18775"/>
                </a:lnTo>
                <a:lnTo>
                  <a:pt x="100711" y="16509"/>
                </a:lnTo>
                <a:close/>
              </a:path>
              <a:path w="449580" h="933450">
                <a:moveTo>
                  <a:pt x="110374" y="16509"/>
                </a:moveTo>
                <a:lnTo>
                  <a:pt x="100711" y="16509"/>
                </a:lnTo>
                <a:lnTo>
                  <a:pt x="109853" y="18775"/>
                </a:lnTo>
                <a:lnTo>
                  <a:pt x="110374" y="165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99840" y="2155460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595" y="1696482"/>
            <a:ext cx="384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321" y="2190512"/>
            <a:ext cx="1949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10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7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700" spc="10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)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8340" y="2727849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0542" y="3026299"/>
            <a:ext cx="3790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残差模块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586" y="1405297"/>
            <a:ext cx="293370" cy="3041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33985">
              <a:lnSpc>
                <a:spcPct val="100000"/>
              </a:lnSpc>
              <a:spcBef>
                <a:spcPts val="26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lu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7866" y="2642473"/>
            <a:ext cx="70675" cy="721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2541" y="2332625"/>
            <a:ext cx="43180" cy="317500"/>
          </a:xfrm>
          <a:custGeom>
            <a:avLst/>
            <a:gdLst/>
            <a:ahLst/>
            <a:cxnLst/>
            <a:rect l="l" t="t" r="r" b="b"/>
            <a:pathLst>
              <a:path w="43179" h="317500">
                <a:moveTo>
                  <a:pt x="28575" y="35686"/>
                </a:moveTo>
                <a:lnTo>
                  <a:pt x="14287" y="35686"/>
                </a:lnTo>
                <a:lnTo>
                  <a:pt x="14274" y="317499"/>
                </a:lnTo>
                <a:lnTo>
                  <a:pt x="28562" y="317499"/>
                </a:lnTo>
                <a:lnTo>
                  <a:pt x="28575" y="35686"/>
                </a:lnTo>
                <a:close/>
              </a:path>
              <a:path w="43179" h="317500">
                <a:moveTo>
                  <a:pt x="21424" y="0"/>
                </a:moveTo>
                <a:lnTo>
                  <a:pt x="0" y="42799"/>
                </a:lnTo>
                <a:lnTo>
                  <a:pt x="14287" y="42799"/>
                </a:lnTo>
                <a:lnTo>
                  <a:pt x="14287" y="35686"/>
                </a:lnTo>
                <a:lnTo>
                  <a:pt x="39321" y="35686"/>
                </a:lnTo>
                <a:lnTo>
                  <a:pt x="21424" y="0"/>
                </a:lnTo>
                <a:close/>
              </a:path>
              <a:path w="43179" h="317500">
                <a:moveTo>
                  <a:pt x="39321" y="35686"/>
                </a:moveTo>
                <a:lnTo>
                  <a:pt x="28575" y="35686"/>
                </a:lnTo>
                <a:lnTo>
                  <a:pt x="28574" y="42799"/>
                </a:lnTo>
                <a:lnTo>
                  <a:pt x="42887" y="42799"/>
                </a:lnTo>
                <a:lnTo>
                  <a:pt x="39321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7969" y="1855613"/>
            <a:ext cx="43180" cy="309880"/>
          </a:xfrm>
          <a:custGeom>
            <a:avLst/>
            <a:gdLst/>
            <a:ahLst/>
            <a:cxnLst/>
            <a:rect l="l" t="t" r="r" b="b"/>
            <a:pathLst>
              <a:path w="43179" h="309880">
                <a:moveTo>
                  <a:pt x="28575" y="35687"/>
                </a:moveTo>
                <a:lnTo>
                  <a:pt x="14287" y="35687"/>
                </a:lnTo>
                <a:lnTo>
                  <a:pt x="14274" y="309879"/>
                </a:lnTo>
                <a:lnTo>
                  <a:pt x="28562" y="309879"/>
                </a:lnTo>
                <a:lnTo>
                  <a:pt x="28575" y="35687"/>
                </a:lnTo>
                <a:close/>
              </a:path>
              <a:path w="43179" h="309880">
                <a:moveTo>
                  <a:pt x="21424" y="0"/>
                </a:moveTo>
                <a:lnTo>
                  <a:pt x="0" y="42799"/>
                </a:lnTo>
                <a:lnTo>
                  <a:pt x="14287" y="42799"/>
                </a:lnTo>
                <a:lnTo>
                  <a:pt x="14287" y="35687"/>
                </a:lnTo>
                <a:lnTo>
                  <a:pt x="39300" y="35687"/>
                </a:lnTo>
                <a:lnTo>
                  <a:pt x="21424" y="0"/>
                </a:lnTo>
                <a:close/>
              </a:path>
              <a:path w="43179" h="309880">
                <a:moveTo>
                  <a:pt x="39300" y="35687"/>
                </a:moveTo>
                <a:lnTo>
                  <a:pt x="28575" y="35687"/>
                </a:lnTo>
                <a:lnTo>
                  <a:pt x="28574" y="42799"/>
                </a:lnTo>
                <a:lnTo>
                  <a:pt x="42862" y="42799"/>
                </a:lnTo>
                <a:lnTo>
                  <a:pt x="39300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45650" y="2176161"/>
            <a:ext cx="454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conv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3001" y="1553861"/>
            <a:ext cx="192786" cy="315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35528" y="447437"/>
            <a:ext cx="3683635" cy="94678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研究者考虑了这样一个问题：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浅层网络学习到了有效的分类模式后，如何向上堆积新层来建立更深的网 络，使其满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足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即使不能提升浅层网络的性能，深层网络也不应降低性能。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42240">
              <a:lnSpc>
                <a:spcPct val="100000"/>
              </a:lnSpc>
              <a:spcBef>
                <a:spcPts val="515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恒等映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射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31231" y="2747407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</a:t>
            </a:r>
            <a:r>
              <a:rPr sz="900" spc="-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900" spc="-2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900" spc="-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-</a:t>
            </a:r>
            <a:r>
              <a:rPr sz="900" spc="-3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输入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36895" y="2545985"/>
            <a:ext cx="43180" cy="194945"/>
          </a:xfrm>
          <a:custGeom>
            <a:avLst/>
            <a:gdLst/>
            <a:ahLst/>
            <a:cxnLst/>
            <a:rect l="l" t="t" r="r" b="b"/>
            <a:pathLst>
              <a:path w="43180" h="194944">
                <a:moveTo>
                  <a:pt x="28575" y="35687"/>
                </a:moveTo>
                <a:lnTo>
                  <a:pt x="14350" y="35687"/>
                </a:lnTo>
                <a:lnTo>
                  <a:pt x="14350" y="194437"/>
                </a:lnTo>
                <a:lnTo>
                  <a:pt x="28575" y="194437"/>
                </a:lnTo>
                <a:lnTo>
                  <a:pt x="28575" y="35687"/>
                </a:lnTo>
                <a:close/>
              </a:path>
              <a:path w="43180" h="1949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80" h="1949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37706" y="2553605"/>
            <a:ext cx="43180" cy="194945"/>
          </a:xfrm>
          <a:custGeom>
            <a:avLst/>
            <a:gdLst/>
            <a:ahLst/>
            <a:cxnLst/>
            <a:rect l="l" t="t" r="r" b="b"/>
            <a:pathLst>
              <a:path w="43179" h="194944">
                <a:moveTo>
                  <a:pt x="28575" y="35687"/>
                </a:moveTo>
                <a:lnTo>
                  <a:pt x="14350" y="35687"/>
                </a:lnTo>
                <a:lnTo>
                  <a:pt x="14350" y="194437"/>
                </a:lnTo>
                <a:lnTo>
                  <a:pt x="28575" y="194437"/>
                </a:lnTo>
                <a:lnTo>
                  <a:pt x="28575" y="35687"/>
                </a:lnTo>
                <a:close/>
              </a:path>
              <a:path w="43179" h="1949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949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98894" y="2571893"/>
            <a:ext cx="43180" cy="194945"/>
          </a:xfrm>
          <a:custGeom>
            <a:avLst/>
            <a:gdLst/>
            <a:ahLst/>
            <a:cxnLst/>
            <a:rect l="l" t="t" r="r" b="b"/>
            <a:pathLst>
              <a:path w="43179" h="194944">
                <a:moveTo>
                  <a:pt x="28575" y="35687"/>
                </a:moveTo>
                <a:lnTo>
                  <a:pt x="14350" y="35687"/>
                </a:lnTo>
                <a:lnTo>
                  <a:pt x="14350" y="194437"/>
                </a:lnTo>
                <a:lnTo>
                  <a:pt x="28575" y="194437"/>
                </a:lnTo>
                <a:lnTo>
                  <a:pt x="28575" y="35687"/>
                </a:lnTo>
                <a:close/>
              </a:path>
              <a:path w="43179" h="1949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949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12568" y="2376948"/>
            <a:ext cx="167512" cy="11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63671" y="2376948"/>
            <a:ext cx="167512" cy="11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003550" y="2332396"/>
            <a:ext cx="98234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𝐹 </a:t>
            </a:r>
            <a:r>
              <a:rPr lang="en-US"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𝑋 </a:t>
            </a:r>
            <a:r>
              <a:rPr lang="en-US"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lang="en-US"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𝐻</a:t>
            </a:r>
            <a:r>
              <a:rPr lang="en-US"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  </a:t>
            </a:r>
            <a:r>
              <a:rPr sz="1000" spc="-5" smtClean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𝑋 </a:t>
            </a:r>
            <a:r>
              <a:rPr sz="10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1000" spc="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𝑋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87012" y="1350534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决方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230" y="1630806"/>
            <a:ext cx="3682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假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设卷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层学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习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的变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换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为</a:t>
            </a:r>
            <a:r>
              <a:rPr sz="1000" spc="10" dirty="0">
                <a:latin typeface="Cambria Math" panose="02040503050406030204"/>
                <a:cs typeface="Cambria Math" panose="02040503050406030204"/>
              </a:rPr>
              <a:t>𝐹(𝑋)</a:t>
            </a:r>
            <a:r>
              <a:rPr sz="1000" spc="-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的输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1000" dirty="0">
                <a:latin typeface="黑体" panose="02010609060101010101" charset="-122"/>
                <a:cs typeface="黑体" panose="02010609060101010101" charset="-122"/>
              </a:rPr>
              <a:t>是</a:t>
            </a:r>
            <a:r>
              <a:rPr sz="1000" spc="5" dirty="0">
                <a:latin typeface="Cambria Math" panose="02040503050406030204"/>
                <a:cs typeface="Cambria Math" panose="02040503050406030204"/>
              </a:rPr>
              <a:t>𝐻(𝑋)</a:t>
            </a:r>
            <a:r>
              <a:rPr sz="1000" spc="-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，则有：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0219" y="1935606"/>
            <a:ext cx="10617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Cambria Math" panose="02040503050406030204"/>
                <a:cs typeface="Cambria Math" panose="02040503050406030204"/>
              </a:rPr>
              <a:t>𝐻(𝑋)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10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10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9511" y="1468500"/>
            <a:ext cx="1251585" cy="1507490"/>
          </a:xfrm>
          <a:custGeom>
            <a:avLst/>
            <a:gdLst/>
            <a:ahLst/>
            <a:cxnLst/>
            <a:rect l="l" t="t" r="r" b="b"/>
            <a:pathLst>
              <a:path w="1251585" h="1507489">
                <a:moveTo>
                  <a:pt x="0" y="1507236"/>
                </a:moveTo>
                <a:lnTo>
                  <a:pt x="1251203" y="1507236"/>
                </a:lnTo>
                <a:lnTo>
                  <a:pt x="1251203" y="0"/>
                </a:lnTo>
                <a:lnTo>
                  <a:pt x="0" y="0"/>
                </a:lnTo>
                <a:lnTo>
                  <a:pt x="0" y="1507236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511" y="1468500"/>
            <a:ext cx="1251585" cy="1507490"/>
          </a:xfrm>
          <a:custGeom>
            <a:avLst/>
            <a:gdLst/>
            <a:ahLst/>
            <a:cxnLst/>
            <a:rect l="l" t="t" r="r" b="b"/>
            <a:pathLst>
              <a:path w="1251585" h="1507489">
                <a:moveTo>
                  <a:pt x="0" y="1507236"/>
                </a:moveTo>
                <a:lnTo>
                  <a:pt x="1251203" y="1507236"/>
                </a:lnTo>
                <a:lnTo>
                  <a:pt x="1251203" y="0"/>
                </a:lnTo>
                <a:lnTo>
                  <a:pt x="0" y="0"/>
                </a:lnTo>
                <a:lnTo>
                  <a:pt x="0" y="1507236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5174" y="2045842"/>
            <a:ext cx="1593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lu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0887" y="2189378"/>
            <a:ext cx="459105" cy="165100"/>
          </a:xfrm>
          <a:custGeom>
            <a:avLst/>
            <a:gdLst/>
            <a:ahLst/>
            <a:cxnLst/>
            <a:rect l="l" t="t" r="r" b="b"/>
            <a:pathLst>
              <a:path w="459105" h="165100">
                <a:moveTo>
                  <a:pt x="0" y="164566"/>
                </a:moveTo>
                <a:lnTo>
                  <a:pt x="458698" y="164566"/>
                </a:lnTo>
                <a:lnTo>
                  <a:pt x="458698" y="0"/>
                </a:lnTo>
                <a:lnTo>
                  <a:pt x="0" y="0"/>
                </a:lnTo>
                <a:lnTo>
                  <a:pt x="0" y="164566"/>
                </a:lnTo>
                <a:close/>
              </a:path>
            </a:pathLst>
          </a:custGeom>
          <a:solidFill>
            <a:srgbClr val="FAE3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887" y="2189378"/>
            <a:ext cx="459105" cy="165100"/>
          </a:xfrm>
          <a:custGeom>
            <a:avLst/>
            <a:gdLst/>
            <a:ahLst/>
            <a:cxnLst/>
            <a:rect l="l" t="t" r="r" b="b"/>
            <a:pathLst>
              <a:path w="459105" h="165100">
                <a:moveTo>
                  <a:pt x="0" y="164566"/>
                </a:moveTo>
                <a:lnTo>
                  <a:pt x="458698" y="164566"/>
                </a:lnTo>
                <a:lnTo>
                  <a:pt x="458698" y="0"/>
                </a:lnTo>
                <a:lnTo>
                  <a:pt x="0" y="0"/>
                </a:lnTo>
                <a:lnTo>
                  <a:pt x="0" y="164566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4699" y="1760981"/>
            <a:ext cx="449580" cy="933450"/>
          </a:xfrm>
          <a:custGeom>
            <a:avLst/>
            <a:gdLst/>
            <a:ahLst/>
            <a:cxnLst/>
            <a:rect l="l" t="t" r="r" b="b"/>
            <a:pathLst>
              <a:path w="449580" h="933450">
                <a:moveTo>
                  <a:pt x="109853" y="18775"/>
                </a:moveTo>
                <a:lnTo>
                  <a:pt x="105586" y="37319"/>
                </a:lnTo>
                <a:lnTo>
                  <a:pt x="108838" y="38100"/>
                </a:lnTo>
                <a:lnTo>
                  <a:pt x="128015" y="44831"/>
                </a:lnTo>
                <a:lnTo>
                  <a:pt x="171958" y="64516"/>
                </a:lnTo>
                <a:lnTo>
                  <a:pt x="220218" y="93218"/>
                </a:lnTo>
                <a:lnTo>
                  <a:pt x="265556" y="128016"/>
                </a:lnTo>
                <a:lnTo>
                  <a:pt x="305562" y="166497"/>
                </a:lnTo>
                <a:lnTo>
                  <a:pt x="339978" y="207264"/>
                </a:lnTo>
                <a:lnTo>
                  <a:pt x="369697" y="251333"/>
                </a:lnTo>
                <a:lnTo>
                  <a:pt x="394335" y="297942"/>
                </a:lnTo>
                <a:lnTo>
                  <a:pt x="413004" y="346583"/>
                </a:lnTo>
                <a:lnTo>
                  <a:pt x="425323" y="396748"/>
                </a:lnTo>
                <a:lnTo>
                  <a:pt x="430530" y="447675"/>
                </a:lnTo>
                <a:lnTo>
                  <a:pt x="430402" y="470535"/>
                </a:lnTo>
                <a:lnTo>
                  <a:pt x="425704" y="516636"/>
                </a:lnTo>
                <a:lnTo>
                  <a:pt x="415417" y="562356"/>
                </a:lnTo>
                <a:lnTo>
                  <a:pt x="399923" y="607187"/>
                </a:lnTo>
                <a:lnTo>
                  <a:pt x="379602" y="650875"/>
                </a:lnTo>
                <a:lnTo>
                  <a:pt x="354964" y="692785"/>
                </a:lnTo>
                <a:lnTo>
                  <a:pt x="326136" y="732536"/>
                </a:lnTo>
                <a:lnTo>
                  <a:pt x="293750" y="769620"/>
                </a:lnTo>
                <a:lnTo>
                  <a:pt x="258063" y="803529"/>
                </a:lnTo>
                <a:lnTo>
                  <a:pt x="219709" y="833755"/>
                </a:lnTo>
                <a:lnTo>
                  <a:pt x="178943" y="859790"/>
                </a:lnTo>
                <a:lnTo>
                  <a:pt x="136271" y="881380"/>
                </a:lnTo>
                <a:lnTo>
                  <a:pt x="91947" y="898017"/>
                </a:lnTo>
                <a:lnTo>
                  <a:pt x="46609" y="909066"/>
                </a:lnTo>
                <a:lnTo>
                  <a:pt x="0" y="914400"/>
                </a:lnTo>
                <a:lnTo>
                  <a:pt x="1524" y="933323"/>
                </a:lnTo>
                <a:lnTo>
                  <a:pt x="49403" y="927862"/>
                </a:lnTo>
                <a:lnTo>
                  <a:pt x="97028" y="916305"/>
                </a:lnTo>
                <a:lnTo>
                  <a:pt x="143383" y="899033"/>
                </a:lnTo>
                <a:lnTo>
                  <a:pt x="187959" y="876554"/>
                </a:lnTo>
                <a:lnTo>
                  <a:pt x="230378" y="849503"/>
                </a:lnTo>
                <a:lnTo>
                  <a:pt x="270256" y="818134"/>
                </a:lnTo>
                <a:lnTo>
                  <a:pt x="307086" y="783082"/>
                </a:lnTo>
                <a:lnTo>
                  <a:pt x="340741" y="744855"/>
                </a:lnTo>
                <a:lnTo>
                  <a:pt x="370586" y="703707"/>
                </a:lnTo>
                <a:lnTo>
                  <a:pt x="396239" y="660146"/>
                </a:lnTo>
                <a:lnTo>
                  <a:pt x="417449" y="614807"/>
                </a:lnTo>
                <a:lnTo>
                  <a:pt x="433577" y="568071"/>
                </a:lnTo>
                <a:lnTo>
                  <a:pt x="444373" y="520192"/>
                </a:lnTo>
                <a:lnTo>
                  <a:pt x="449325" y="471931"/>
                </a:lnTo>
                <a:lnTo>
                  <a:pt x="449580" y="447675"/>
                </a:lnTo>
                <a:lnTo>
                  <a:pt x="447801" y="420878"/>
                </a:lnTo>
                <a:lnTo>
                  <a:pt x="438657" y="367665"/>
                </a:lnTo>
                <a:lnTo>
                  <a:pt x="422401" y="315849"/>
                </a:lnTo>
                <a:lnTo>
                  <a:pt x="399795" y="265938"/>
                </a:lnTo>
                <a:lnTo>
                  <a:pt x="371475" y="218694"/>
                </a:lnTo>
                <a:lnTo>
                  <a:pt x="338200" y="174498"/>
                </a:lnTo>
                <a:lnTo>
                  <a:pt x="300481" y="134112"/>
                </a:lnTo>
                <a:lnTo>
                  <a:pt x="255397" y="95123"/>
                </a:lnTo>
                <a:lnTo>
                  <a:pt x="206628" y="61976"/>
                </a:lnTo>
                <a:lnTo>
                  <a:pt x="155194" y="35433"/>
                </a:lnTo>
                <a:lnTo>
                  <a:pt x="115062" y="20066"/>
                </a:lnTo>
                <a:lnTo>
                  <a:pt x="109853" y="18775"/>
                </a:lnTo>
                <a:close/>
              </a:path>
              <a:path w="449580" h="933450">
                <a:moveTo>
                  <a:pt x="114172" y="0"/>
                </a:moveTo>
                <a:lnTo>
                  <a:pt x="52069" y="15112"/>
                </a:lnTo>
                <a:lnTo>
                  <a:pt x="101346" y="55753"/>
                </a:lnTo>
                <a:lnTo>
                  <a:pt x="105586" y="37319"/>
                </a:lnTo>
                <a:lnTo>
                  <a:pt x="96138" y="35052"/>
                </a:lnTo>
                <a:lnTo>
                  <a:pt x="100711" y="16510"/>
                </a:lnTo>
                <a:lnTo>
                  <a:pt x="110374" y="16510"/>
                </a:lnTo>
                <a:lnTo>
                  <a:pt x="114172" y="0"/>
                </a:lnTo>
                <a:close/>
              </a:path>
              <a:path w="449580" h="933450">
                <a:moveTo>
                  <a:pt x="100711" y="16510"/>
                </a:moveTo>
                <a:lnTo>
                  <a:pt x="96138" y="35052"/>
                </a:lnTo>
                <a:lnTo>
                  <a:pt x="105586" y="37319"/>
                </a:lnTo>
                <a:lnTo>
                  <a:pt x="109853" y="18775"/>
                </a:lnTo>
                <a:lnTo>
                  <a:pt x="100711" y="16510"/>
                </a:lnTo>
                <a:close/>
              </a:path>
              <a:path w="449580" h="933450">
                <a:moveTo>
                  <a:pt x="110374" y="16510"/>
                </a:moveTo>
                <a:lnTo>
                  <a:pt x="100711" y="16510"/>
                </a:lnTo>
                <a:lnTo>
                  <a:pt x="109853" y="18775"/>
                </a:lnTo>
                <a:lnTo>
                  <a:pt x="110374" y="165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99839" y="2178430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595" y="1719198"/>
            <a:ext cx="384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700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321" y="2213482"/>
            <a:ext cx="1949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10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7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700" spc="10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)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8339" y="2750565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7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0542" y="3049015"/>
            <a:ext cx="3790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残差模块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586" y="1428013"/>
            <a:ext cx="293370" cy="3041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r>
              <a:rPr sz="700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700">
              <a:latin typeface="Cambria Math" panose="02040503050406030204"/>
              <a:cs typeface="Cambria Math" panose="02040503050406030204"/>
            </a:endParaRPr>
          </a:p>
          <a:p>
            <a:pPr marL="133985">
              <a:lnSpc>
                <a:spcPct val="100000"/>
              </a:lnSpc>
              <a:spcBef>
                <a:spcPts val="26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re</a:t>
            </a:r>
            <a:r>
              <a:rPr sz="700" spc="-5" dirty="0">
                <a:latin typeface="Arial" panose="020B0604020202020204"/>
                <a:cs typeface="Arial" panose="020B0604020202020204"/>
              </a:rPr>
              <a:t>lu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7866" y="2664555"/>
            <a:ext cx="70675" cy="721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2541" y="2354706"/>
            <a:ext cx="43180" cy="317500"/>
          </a:xfrm>
          <a:custGeom>
            <a:avLst/>
            <a:gdLst/>
            <a:ahLst/>
            <a:cxnLst/>
            <a:rect l="l" t="t" r="r" b="b"/>
            <a:pathLst>
              <a:path w="43179" h="317500">
                <a:moveTo>
                  <a:pt x="28575" y="35687"/>
                </a:moveTo>
                <a:lnTo>
                  <a:pt x="14287" y="35687"/>
                </a:lnTo>
                <a:lnTo>
                  <a:pt x="14274" y="317500"/>
                </a:lnTo>
                <a:lnTo>
                  <a:pt x="28562" y="317500"/>
                </a:lnTo>
                <a:lnTo>
                  <a:pt x="28575" y="35687"/>
                </a:lnTo>
                <a:close/>
              </a:path>
              <a:path w="43179" h="317500">
                <a:moveTo>
                  <a:pt x="21424" y="0"/>
                </a:moveTo>
                <a:lnTo>
                  <a:pt x="0" y="42799"/>
                </a:lnTo>
                <a:lnTo>
                  <a:pt x="14287" y="42799"/>
                </a:lnTo>
                <a:lnTo>
                  <a:pt x="14287" y="35687"/>
                </a:lnTo>
                <a:lnTo>
                  <a:pt x="39321" y="35687"/>
                </a:lnTo>
                <a:lnTo>
                  <a:pt x="21424" y="0"/>
                </a:lnTo>
                <a:close/>
              </a:path>
              <a:path w="43179" h="317500">
                <a:moveTo>
                  <a:pt x="39321" y="35687"/>
                </a:moveTo>
                <a:lnTo>
                  <a:pt x="28575" y="35687"/>
                </a:lnTo>
                <a:lnTo>
                  <a:pt x="28574" y="42799"/>
                </a:lnTo>
                <a:lnTo>
                  <a:pt x="42887" y="42799"/>
                </a:lnTo>
                <a:lnTo>
                  <a:pt x="39321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7969" y="1877694"/>
            <a:ext cx="43180" cy="309880"/>
          </a:xfrm>
          <a:custGeom>
            <a:avLst/>
            <a:gdLst/>
            <a:ahLst/>
            <a:cxnLst/>
            <a:rect l="l" t="t" r="r" b="b"/>
            <a:pathLst>
              <a:path w="43179" h="309880">
                <a:moveTo>
                  <a:pt x="28575" y="35687"/>
                </a:moveTo>
                <a:lnTo>
                  <a:pt x="14287" y="35687"/>
                </a:lnTo>
                <a:lnTo>
                  <a:pt x="14274" y="309880"/>
                </a:lnTo>
                <a:lnTo>
                  <a:pt x="28562" y="309880"/>
                </a:lnTo>
                <a:lnTo>
                  <a:pt x="28575" y="35687"/>
                </a:lnTo>
                <a:close/>
              </a:path>
              <a:path w="43179" h="309880">
                <a:moveTo>
                  <a:pt x="21424" y="0"/>
                </a:moveTo>
                <a:lnTo>
                  <a:pt x="0" y="42799"/>
                </a:lnTo>
                <a:lnTo>
                  <a:pt x="14287" y="42799"/>
                </a:lnTo>
                <a:lnTo>
                  <a:pt x="14287" y="35687"/>
                </a:lnTo>
                <a:lnTo>
                  <a:pt x="39300" y="35687"/>
                </a:lnTo>
                <a:lnTo>
                  <a:pt x="21424" y="0"/>
                </a:lnTo>
                <a:close/>
              </a:path>
              <a:path w="43179" h="309880">
                <a:moveTo>
                  <a:pt x="39300" y="35687"/>
                </a:moveTo>
                <a:lnTo>
                  <a:pt x="28575" y="35687"/>
                </a:lnTo>
                <a:lnTo>
                  <a:pt x="28574" y="42799"/>
                </a:lnTo>
                <a:lnTo>
                  <a:pt x="42862" y="42799"/>
                </a:lnTo>
                <a:lnTo>
                  <a:pt x="39300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45650" y="2198877"/>
            <a:ext cx="454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 panose="020F0502020204030204"/>
                <a:cs typeface="Calibri" panose="020F0502020204030204"/>
              </a:rPr>
              <a:t>conv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3000" y="1575942"/>
            <a:ext cx="192786" cy="315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35528" y="469646"/>
            <a:ext cx="3683635" cy="9474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研究者考虑了这样一个问题：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浅层网络学习到了有效的分类模式后，如何向上堆积新层来建立更深的网 络，使其满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足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即使不能提升浅层网络的性能，深层网络也不应降低性能。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42240">
              <a:lnSpc>
                <a:spcPct val="100000"/>
              </a:lnSpc>
            </a:pP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恒等映</a:t>
            </a:r>
            <a:r>
              <a:rPr sz="7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射</a:t>
            </a:r>
            <a:r>
              <a:rPr sz="7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结构</a:t>
            </a:r>
            <a:endParaRPr sz="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31230" y="2770123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</a:t>
            </a:r>
            <a:r>
              <a:rPr sz="9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=</a:t>
            </a:r>
            <a:r>
              <a:rPr sz="900" spc="-2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输出</a:t>
            </a:r>
            <a:r>
              <a:rPr sz="900" spc="-2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-</a:t>
            </a:r>
            <a:r>
              <a:rPr sz="900" spc="-35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输入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36894" y="2568066"/>
            <a:ext cx="43180" cy="194945"/>
          </a:xfrm>
          <a:custGeom>
            <a:avLst/>
            <a:gdLst/>
            <a:ahLst/>
            <a:cxnLst/>
            <a:rect l="l" t="t" r="r" b="b"/>
            <a:pathLst>
              <a:path w="43180" h="194944">
                <a:moveTo>
                  <a:pt x="28575" y="35687"/>
                </a:moveTo>
                <a:lnTo>
                  <a:pt x="14350" y="35687"/>
                </a:lnTo>
                <a:lnTo>
                  <a:pt x="14350" y="194437"/>
                </a:lnTo>
                <a:lnTo>
                  <a:pt x="28575" y="194437"/>
                </a:lnTo>
                <a:lnTo>
                  <a:pt x="28575" y="35687"/>
                </a:lnTo>
                <a:close/>
              </a:path>
              <a:path w="43180" h="1949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80" h="1949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37706" y="2575686"/>
            <a:ext cx="43180" cy="194945"/>
          </a:xfrm>
          <a:custGeom>
            <a:avLst/>
            <a:gdLst/>
            <a:ahLst/>
            <a:cxnLst/>
            <a:rect l="l" t="t" r="r" b="b"/>
            <a:pathLst>
              <a:path w="43179" h="194944">
                <a:moveTo>
                  <a:pt x="28575" y="35687"/>
                </a:moveTo>
                <a:lnTo>
                  <a:pt x="14350" y="35687"/>
                </a:lnTo>
                <a:lnTo>
                  <a:pt x="14350" y="194437"/>
                </a:lnTo>
                <a:lnTo>
                  <a:pt x="28575" y="194437"/>
                </a:lnTo>
                <a:lnTo>
                  <a:pt x="28575" y="35687"/>
                </a:lnTo>
                <a:close/>
              </a:path>
              <a:path w="43179" h="1949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949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98894" y="2593975"/>
            <a:ext cx="43180" cy="194945"/>
          </a:xfrm>
          <a:custGeom>
            <a:avLst/>
            <a:gdLst/>
            <a:ahLst/>
            <a:cxnLst/>
            <a:rect l="l" t="t" r="r" b="b"/>
            <a:pathLst>
              <a:path w="43179" h="194944">
                <a:moveTo>
                  <a:pt x="28575" y="35687"/>
                </a:moveTo>
                <a:lnTo>
                  <a:pt x="14350" y="35687"/>
                </a:lnTo>
                <a:lnTo>
                  <a:pt x="14350" y="194437"/>
                </a:lnTo>
                <a:lnTo>
                  <a:pt x="28575" y="194437"/>
                </a:lnTo>
                <a:lnTo>
                  <a:pt x="28575" y="35687"/>
                </a:lnTo>
                <a:close/>
              </a:path>
              <a:path w="43179" h="194944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194944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16962" y="2399029"/>
            <a:ext cx="167512" cy="11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68066" y="2399029"/>
            <a:ext cx="167512" cy="11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011806" y="2354960"/>
            <a:ext cx="98234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latin typeface="Cambria Math" panose="02040503050406030204"/>
                <a:cs typeface="Cambria Math" panose="02040503050406030204"/>
              </a:rPr>
              <a:t>𝐹 </a:t>
            </a:r>
            <a:r>
              <a:rPr lang="en-US" sz="1000" spc="-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latin typeface="Cambria Math" panose="02040503050406030204"/>
                <a:cs typeface="Cambria Math" panose="02040503050406030204"/>
              </a:rPr>
              <a:t>𝑋 </a:t>
            </a:r>
            <a:r>
              <a:rPr lang="en-US" sz="1000" spc="-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latin typeface="Cambria Math" panose="02040503050406030204"/>
                <a:cs typeface="Cambria Math" panose="02040503050406030204"/>
              </a:rPr>
              <a:t>= </a:t>
            </a:r>
            <a:r>
              <a:rPr lang="en-US" sz="1000" spc="-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latin typeface="Cambria Math" panose="02040503050406030204"/>
                <a:cs typeface="Cambria Math" panose="02040503050406030204"/>
              </a:rPr>
              <a:t>𝐻 </a:t>
            </a:r>
            <a:r>
              <a:rPr lang="en-US" sz="1000" spc="-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latin typeface="Cambria Math" panose="02040503050406030204"/>
                <a:cs typeface="Cambria Math" panose="02040503050406030204"/>
              </a:rPr>
              <a:t>𝑋 </a:t>
            </a:r>
            <a:r>
              <a:rPr lang="en-US" sz="1000" spc="-5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smtClean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000" spc="90" smtClean="0">
                <a:latin typeface="Cambria Math" panose="02040503050406030204"/>
                <a:cs typeface="Cambria Math" panose="02040503050406030204"/>
              </a:rPr>
              <a:t> </a:t>
            </a:r>
            <a:r>
              <a:rPr sz="1000" spc="-5" dirty="0">
                <a:latin typeface="Cambria Math" panose="02040503050406030204"/>
                <a:cs typeface="Cambria Math" panose="02040503050406030204"/>
              </a:rPr>
              <a:t>𝑋</a:t>
            </a:r>
            <a:endParaRPr sz="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87011" y="1373250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解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决方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案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40759" y="1944369"/>
            <a:ext cx="127000" cy="566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just">
              <a:lnSpc>
                <a:spcPct val="98000"/>
              </a:lnSpc>
              <a:spcBef>
                <a:spcPts val="12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跳 跃 连 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948" y="884063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8948" y="884063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4144" y="2141389"/>
            <a:ext cx="622300" cy="144780"/>
          </a:xfrm>
          <a:custGeom>
            <a:avLst/>
            <a:gdLst/>
            <a:ahLst/>
            <a:cxnLst/>
            <a:rect l="l" t="t" r="r" b="b"/>
            <a:pathLst>
              <a:path w="622300" h="144780">
                <a:moveTo>
                  <a:pt x="0" y="144754"/>
                </a:moveTo>
                <a:lnTo>
                  <a:pt x="621766" y="144754"/>
                </a:lnTo>
                <a:lnTo>
                  <a:pt x="621766" y="0"/>
                </a:lnTo>
                <a:lnTo>
                  <a:pt x="0" y="0"/>
                </a:lnTo>
                <a:lnTo>
                  <a:pt x="0" y="144754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4144" y="2141389"/>
            <a:ext cx="622300" cy="144780"/>
          </a:xfrm>
          <a:custGeom>
            <a:avLst/>
            <a:gdLst/>
            <a:ahLst/>
            <a:cxnLst/>
            <a:rect l="l" t="t" r="r" b="b"/>
            <a:pathLst>
              <a:path w="622300" h="144780">
                <a:moveTo>
                  <a:pt x="0" y="144754"/>
                </a:moveTo>
                <a:lnTo>
                  <a:pt x="621766" y="144754"/>
                </a:lnTo>
                <a:lnTo>
                  <a:pt x="621766" y="0"/>
                </a:lnTo>
                <a:lnTo>
                  <a:pt x="0" y="0"/>
                </a:lnTo>
                <a:lnTo>
                  <a:pt x="0" y="144754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6188" y="1255792"/>
            <a:ext cx="565150" cy="1172845"/>
          </a:xfrm>
          <a:custGeom>
            <a:avLst/>
            <a:gdLst/>
            <a:ahLst/>
            <a:cxnLst/>
            <a:rect l="l" t="t" r="r" b="b"/>
            <a:pathLst>
              <a:path w="565150" h="1172845">
                <a:moveTo>
                  <a:pt x="123302" y="19091"/>
                </a:moveTo>
                <a:lnTo>
                  <a:pt x="119333" y="37670"/>
                </a:lnTo>
                <a:lnTo>
                  <a:pt x="137922" y="42672"/>
                </a:lnTo>
                <a:lnTo>
                  <a:pt x="162306" y="51181"/>
                </a:lnTo>
                <a:lnTo>
                  <a:pt x="218059" y="76073"/>
                </a:lnTo>
                <a:lnTo>
                  <a:pt x="279273" y="112649"/>
                </a:lnTo>
                <a:lnTo>
                  <a:pt x="336676" y="156718"/>
                </a:lnTo>
                <a:lnTo>
                  <a:pt x="387350" y="205359"/>
                </a:lnTo>
                <a:lnTo>
                  <a:pt x="430911" y="257048"/>
                </a:lnTo>
                <a:lnTo>
                  <a:pt x="468630" y="312927"/>
                </a:lnTo>
                <a:lnTo>
                  <a:pt x="499744" y="371983"/>
                </a:lnTo>
                <a:lnTo>
                  <a:pt x="523494" y="433705"/>
                </a:lnTo>
                <a:lnTo>
                  <a:pt x="538988" y="497205"/>
                </a:lnTo>
                <a:lnTo>
                  <a:pt x="545591" y="561975"/>
                </a:lnTo>
                <a:lnTo>
                  <a:pt x="545464" y="591058"/>
                </a:lnTo>
                <a:lnTo>
                  <a:pt x="539623" y="649477"/>
                </a:lnTo>
                <a:lnTo>
                  <a:pt x="526542" y="707390"/>
                </a:lnTo>
                <a:lnTo>
                  <a:pt x="506856" y="764286"/>
                </a:lnTo>
                <a:lnTo>
                  <a:pt x="481203" y="819658"/>
                </a:lnTo>
                <a:lnTo>
                  <a:pt x="449834" y="872871"/>
                </a:lnTo>
                <a:lnTo>
                  <a:pt x="413257" y="923163"/>
                </a:lnTo>
                <a:lnTo>
                  <a:pt x="372237" y="970026"/>
                </a:lnTo>
                <a:lnTo>
                  <a:pt x="327151" y="1012951"/>
                </a:lnTo>
                <a:lnTo>
                  <a:pt x="278511" y="1051306"/>
                </a:lnTo>
                <a:lnTo>
                  <a:pt x="226822" y="1084326"/>
                </a:lnTo>
                <a:lnTo>
                  <a:pt x="172719" y="1111758"/>
                </a:lnTo>
                <a:lnTo>
                  <a:pt x="116586" y="1132713"/>
                </a:lnTo>
                <a:lnTo>
                  <a:pt x="59055" y="1146810"/>
                </a:lnTo>
                <a:lnTo>
                  <a:pt x="0" y="1153414"/>
                </a:lnTo>
                <a:lnTo>
                  <a:pt x="1396" y="1172464"/>
                </a:lnTo>
                <a:lnTo>
                  <a:pt x="61849" y="1165606"/>
                </a:lnTo>
                <a:lnTo>
                  <a:pt x="121666" y="1151001"/>
                </a:lnTo>
                <a:lnTo>
                  <a:pt x="179831" y="1129411"/>
                </a:lnTo>
                <a:lnTo>
                  <a:pt x="235838" y="1101090"/>
                </a:lnTo>
                <a:lnTo>
                  <a:pt x="289179" y="1067053"/>
                </a:lnTo>
                <a:lnTo>
                  <a:pt x="339217" y="1027684"/>
                </a:lnTo>
                <a:lnTo>
                  <a:pt x="385699" y="983615"/>
                </a:lnTo>
                <a:lnTo>
                  <a:pt x="427863" y="935355"/>
                </a:lnTo>
                <a:lnTo>
                  <a:pt x="465455" y="883666"/>
                </a:lnTo>
                <a:lnTo>
                  <a:pt x="497839" y="828928"/>
                </a:lnTo>
                <a:lnTo>
                  <a:pt x="524382" y="771906"/>
                </a:lnTo>
                <a:lnTo>
                  <a:pt x="544703" y="713105"/>
                </a:lnTo>
                <a:lnTo>
                  <a:pt x="558292" y="653034"/>
                </a:lnTo>
                <a:lnTo>
                  <a:pt x="564514" y="592327"/>
                </a:lnTo>
                <a:lnTo>
                  <a:pt x="564633" y="561848"/>
                </a:lnTo>
                <a:lnTo>
                  <a:pt x="562482" y="528193"/>
                </a:lnTo>
                <a:lnTo>
                  <a:pt x="550926" y="461391"/>
                </a:lnTo>
                <a:lnTo>
                  <a:pt x="530606" y="396367"/>
                </a:lnTo>
                <a:lnTo>
                  <a:pt x="502157" y="333756"/>
                </a:lnTo>
                <a:lnTo>
                  <a:pt x="466598" y="274320"/>
                </a:lnTo>
                <a:lnTo>
                  <a:pt x="424688" y="218821"/>
                </a:lnTo>
                <a:lnTo>
                  <a:pt x="377189" y="167894"/>
                </a:lnTo>
                <a:lnTo>
                  <a:pt x="320548" y="118999"/>
                </a:lnTo>
                <a:lnTo>
                  <a:pt x="259334" y="77343"/>
                </a:lnTo>
                <a:lnTo>
                  <a:pt x="194563" y="43815"/>
                </a:lnTo>
                <a:lnTo>
                  <a:pt x="144144" y="24638"/>
                </a:lnTo>
                <a:lnTo>
                  <a:pt x="123302" y="19091"/>
                </a:lnTo>
                <a:close/>
              </a:path>
              <a:path w="565150" h="1172845">
                <a:moveTo>
                  <a:pt x="127381" y="0"/>
                </a:moveTo>
                <a:lnTo>
                  <a:pt x="65531" y="16001"/>
                </a:lnTo>
                <a:lnTo>
                  <a:pt x="115443" y="55880"/>
                </a:lnTo>
                <a:lnTo>
                  <a:pt x="119333" y="37670"/>
                </a:lnTo>
                <a:lnTo>
                  <a:pt x="109600" y="35051"/>
                </a:lnTo>
                <a:lnTo>
                  <a:pt x="114553" y="16764"/>
                </a:lnTo>
                <a:lnTo>
                  <a:pt x="123799" y="16764"/>
                </a:lnTo>
                <a:lnTo>
                  <a:pt x="127381" y="0"/>
                </a:lnTo>
                <a:close/>
              </a:path>
              <a:path w="565150" h="1172845">
                <a:moveTo>
                  <a:pt x="114553" y="16764"/>
                </a:moveTo>
                <a:lnTo>
                  <a:pt x="109600" y="35051"/>
                </a:lnTo>
                <a:lnTo>
                  <a:pt x="119333" y="37670"/>
                </a:lnTo>
                <a:lnTo>
                  <a:pt x="123302" y="19091"/>
                </a:lnTo>
                <a:lnTo>
                  <a:pt x="114553" y="16764"/>
                </a:lnTo>
                <a:close/>
              </a:path>
              <a:path w="565150" h="1172845">
                <a:moveTo>
                  <a:pt x="123799" y="16764"/>
                </a:moveTo>
                <a:lnTo>
                  <a:pt x="114553" y="16764"/>
                </a:lnTo>
                <a:lnTo>
                  <a:pt x="123302" y="19091"/>
                </a:lnTo>
                <a:lnTo>
                  <a:pt x="123799" y="167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47057" y="1749187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822" y="1198388"/>
            <a:ext cx="492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9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369" y="1840881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900" spc="15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900" dirty="0">
                <a:latin typeface="Arial" panose="020B0604020202020204"/>
                <a:cs typeface="Arial" panose="020B0604020202020204"/>
              </a:rPr>
              <a:t>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917" y="829053"/>
            <a:ext cx="391795" cy="388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181610">
              <a:lnSpc>
                <a:spcPct val="100000"/>
              </a:lnSpc>
              <a:spcBef>
                <a:spcPts val="370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0678" y="1577610"/>
            <a:ext cx="127000" cy="566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just">
              <a:lnSpc>
                <a:spcPct val="98000"/>
              </a:lnSpc>
              <a:spcBef>
                <a:spcPts val="12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跳 跃 连 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082" y="2276237"/>
            <a:ext cx="87439" cy="2052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6719" y="1695593"/>
            <a:ext cx="43180" cy="140970"/>
          </a:xfrm>
          <a:custGeom>
            <a:avLst/>
            <a:gdLst/>
            <a:ahLst/>
            <a:cxnLst/>
            <a:rect l="l" t="t" r="r" b="b"/>
            <a:pathLst>
              <a:path w="43180" h="140969">
                <a:moveTo>
                  <a:pt x="14350" y="42841"/>
                </a:moveTo>
                <a:lnTo>
                  <a:pt x="14350" y="140589"/>
                </a:lnTo>
                <a:lnTo>
                  <a:pt x="28575" y="140589"/>
                </a:lnTo>
                <a:lnTo>
                  <a:pt x="28575" y="42883"/>
                </a:lnTo>
                <a:lnTo>
                  <a:pt x="14350" y="42841"/>
                </a:lnTo>
                <a:close/>
              </a:path>
              <a:path w="43180" h="140969">
                <a:moveTo>
                  <a:pt x="39306" y="35687"/>
                </a:moveTo>
                <a:lnTo>
                  <a:pt x="28575" y="35687"/>
                </a:lnTo>
                <a:lnTo>
                  <a:pt x="28575" y="42883"/>
                </a:lnTo>
                <a:lnTo>
                  <a:pt x="42925" y="42925"/>
                </a:lnTo>
                <a:lnTo>
                  <a:pt x="39306" y="35687"/>
                </a:lnTo>
                <a:close/>
              </a:path>
              <a:path w="43180" h="140969">
                <a:moveTo>
                  <a:pt x="28575" y="35687"/>
                </a:moveTo>
                <a:lnTo>
                  <a:pt x="14350" y="35687"/>
                </a:lnTo>
                <a:lnTo>
                  <a:pt x="14350" y="42841"/>
                </a:lnTo>
                <a:lnTo>
                  <a:pt x="28575" y="42883"/>
                </a:lnTo>
                <a:lnTo>
                  <a:pt x="28575" y="35687"/>
                </a:lnTo>
                <a:close/>
              </a:path>
              <a:path w="43180" h="140969">
                <a:moveTo>
                  <a:pt x="21462" y="0"/>
                </a:moveTo>
                <a:lnTo>
                  <a:pt x="0" y="42799"/>
                </a:lnTo>
                <a:lnTo>
                  <a:pt x="14350" y="42841"/>
                </a:lnTo>
                <a:lnTo>
                  <a:pt x="14350" y="35687"/>
                </a:lnTo>
                <a:lnTo>
                  <a:pt x="39306" y="35687"/>
                </a:lnTo>
                <a:lnTo>
                  <a:pt x="21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5188" y="1841161"/>
            <a:ext cx="660400" cy="178435"/>
          </a:xfrm>
          <a:prstGeom prst="rect">
            <a:avLst/>
          </a:prstGeom>
          <a:solidFill>
            <a:srgbClr val="FAE3CD"/>
          </a:solidFill>
          <a:ln w="9524">
            <a:solidFill>
              <a:srgbClr val="FF99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26365">
              <a:lnSpc>
                <a:spcPct val="100000"/>
              </a:lnSpc>
              <a:spcBef>
                <a:spcPts val="7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3x3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1977" y="1018937"/>
            <a:ext cx="236981" cy="395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3476" y="1543981"/>
            <a:ext cx="622300" cy="144780"/>
          </a:xfrm>
          <a:prstGeom prst="rect">
            <a:avLst/>
          </a:prstGeom>
          <a:solidFill>
            <a:srgbClr val="FBD4B5"/>
          </a:solidFill>
          <a:ln w="952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990"/>
              </a:lnSpc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1x1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1291" y="2015633"/>
            <a:ext cx="43180" cy="125730"/>
          </a:xfrm>
          <a:custGeom>
            <a:avLst/>
            <a:gdLst/>
            <a:ahLst/>
            <a:cxnLst/>
            <a:rect l="l" t="t" r="r" b="b"/>
            <a:pathLst>
              <a:path w="43180" h="125730">
                <a:moveTo>
                  <a:pt x="28575" y="35686"/>
                </a:moveTo>
                <a:lnTo>
                  <a:pt x="14350" y="35686"/>
                </a:lnTo>
                <a:lnTo>
                  <a:pt x="14350" y="125729"/>
                </a:lnTo>
                <a:lnTo>
                  <a:pt x="28575" y="125729"/>
                </a:lnTo>
                <a:lnTo>
                  <a:pt x="28575" y="35686"/>
                </a:lnTo>
                <a:close/>
              </a:path>
              <a:path w="43180" h="125730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80" h="125730">
                <a:moveTo>
                  <a:pt x="39359" y="35686"/>
                </a:moveTo>
                <a:lnTo>
                  <a:pt x="28575" y="35686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6719" y="1419749"/>
            <a:ext cx="43180" cy="125730"/>
          </a:xfrm>
          <a:custGeom>
            <a:avLst/>
            <a:gdLst/>
            <a:ahLst/>
            <a:cxnLst/>
            <a:rect l="l" t="t" r="r" b="b"/>
            <a:pathLst>
              <a:path w="43180" h="125730">
                <a:moveTo>
                  <a:pt x="28575" y="35686"/>
                </a:moveTo>
                <a:lnTo>
                  <a:pt x="14350" y="35686"/>
                </a:lnTo>
                <a:lnTo>
                  <a:pt x="14350" y="125729"/>
                </a:lnTo>
                <a:lnTo>
                  <a:pt x="28575" y="125729"/>
                </a:lnTo>
                <a:lnTo>
                  <a:pt x="28575" y="35686"/>
                </a:lnTo>
                <a:close/>
              </a:path>
              <a:path w="43180" h="125730">
                <a:moveTo>
                  <a:pt x="21462" y="0"/>
                </a:moveTo>
                <a:lnTo>
                  <a:pt x="0" y="42925"/>
                </a:lnTo>
                <a:lnTo>
                  <a:pt x="14350" y="42925"/>
                </a:lnTo>
                <a:lnTo>
                  <a:pt x="14350" y="35686"/>
                </a:lnTo>
                <a:lnTo>
                  <a:pt x="39306" y="35686"/>
                </a:lnTo>
                <a:lnTo>
                  <a:pt x="21462" y="0"/>
                </a:lnTo>
                <a:close/>
              </a:path>
              <a:path w="43180" h="125730">
                <a:moveTo>
                  <a:pt x="39306" y="35686"/>
                </a:moveTo>
                <a:lnTo>
                  <a:pt x="28575" y="35686"/>
                </a:lnTo>
                <a:lnTo>
                  <a:pt x="28575" y="42925"/>
                </a:lnTo>
                <a:lnTo>
                  <a:pt x="42925" y="42925"/>
                </a:lnTo>
                <a:lnTo>
                  <a:pt x="39306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61157" y="2116725"/>
            <a:ext cx="1295400" cy="90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75" algn="ctr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1x1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73025" algn="ctr">
              <a:lnSpc>
                <a:spcPct val="100000"/>
              </a:lnSpc>
              <a:spcBef>
                <a:spcPts val="735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瓶颈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35957" y="974360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关于残差结构：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947" y="906144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8947" y="906144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4143" y="2163470"/>
            <a:ext cx="622300" cy="144780"/>
          </a:xfrm>
          <a:custGeom>
            <a:avLst/>
            <a:gdLst/>
            <a:ahLst/>
            <a:cxnLst/>
            <a:rect l="l" t="t" r="r" b="b"/>
            <a:pathLst>
              <a:path w="622300" h="144780">
                <a:moveTo>
                  <a:pt x="0" y="144754"/>
                </a:moveTo>
                <a:lnTo>
                  <a:pt x="621766" y="144754"/>
                </a:lnTo>
                <a:lnTo>
                  <a:pt x="621766" y="0"/>
                </a:lnTo>
                <a:lnTo>
                  <a:pt x="0" y="0"/>
                </a:lnTo>
                <a:lnTo>
                  <a:pt x="0" y="144754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4143" y="2163470"/>
            <a:ext cx="622300" cy="144780"/>
          </a:xfrm>
          <a:custGeom>
            <a:avLst/>
            <a:gdLst/>
            <a:ahLst/>
            <a:cxnLst/>
            <a:rect l="l" t="t" r="r" b="b"/>
            <a:pathLst>
              <a:path w="622300" h="144780">
                <a:moveTo>
                  <a:pt x="0" y="144754"/>
                </a:moveTo>
                <a:lnTo>
                  <a:pt x="621766" y="144754"/>
                </a:lnTo>
                <a:lnTo>
                  <a:pt x="621766" y="0"/>
                </a:lnTo>
                <a:lnTo>
                  <a:pt x="0" y="0"/>
                </a:lnTo>
                <a:lnTo>
                  <a:pt x="0" y="144754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6187" y="1277873"/>
            <a:ext cx="565150" cy="1172845"/>
          </a:xfrm>
          <a:custGeom>
            <a:avLst/>
            <a:gdLst/>
            <a:ahLst/>
            <a:cxnLst/>
            <a:rect l="l" t="t" r="r" b="b"/>
            <a:pathLst>
              <a:path w="565150" h="1172845">
                <a:moveTo>
                  <a:pt x="123302" y="19091"/>
                </a:moveTo>
                <a:lnTo>
                  <a:pt x="119333" y="37670"/>
                </a:lnTo>
                <a:lnTo>
                  <a:pt x="137922" y="42672"/>
                </a:lnTo>
                <a:lnTo>
                  <a:pt x="162306" y="51181"/>
                </a:lnTo>
                <a:lnTo>
                  <a:pt x="218059" y="76073"/>
                </a:lnTo>
                <a:lnTo>
                  <a:pt x="279273" y="112649"/>
                </a:lnTo>
                <a:lnTo>
                  <a:pt x="336676" y="156718"/>
                </a:lnTo>
                <a:lnTo>
                  <a:pt x="387350" y="205359"/>
                </a:lnTo>
                <a:lnTo>
                  <a:pt x="430911" y="257048"/>
                </a:lnTo>
                <a:lnTo>
                  <a:pt x="468630" y="312928"/>
                </a:lnTo>
                <a:lnTo>
                  <a:pt x="499744" y="371982"/>
                </a:lnTo>
                <a:lnTo>
                  <a:pt x="523494" y="433705"/>
                </a:lnTo>
                <a:lnTo>
                  <a:pt x="538988" y="497205"/>
                </a:lnTo>
                <a:lnTo>
                  <a:pt x="545591" y="561975"/>
                </a:lnTo>
                <a:lnTo>
                  <a:pt x="545464" y="591057"/>
                </a:lnTo>
                <a:lnTo>
                  <a:pt x="539623" y="649478"/>
                </a:lnTo>
                <a:lnTo>
                  <a:pt x="526542" y="707389"/>
                </a:lnTo>
                <a:lnTo>
                  <a:pt x="506856" y="764286"/>
                </a:lnTo>
                <a:lnTo>
                  <a:pt x="481203" y="819657"/>
                </a:lnTo>
                <a:lnTo>
                  <a:pt x="449834" y="872870"/>
                </a:lnTo>
                <a:lnTo>
                  <a:pt x="413257" y="923163"/>
                </a:lnTo>
                <a:lnTo>
                  <a:pt x="372237" y="970026"/>
                </a:lnTo>
                <a:lnTo>
                  <a:pt x="327151" y="1012951"/>
                </a:lnTo>
                <a:lnTo>
                  <a:pt x="278511" y="1051306"/>
                </a:lnTo>
                <a:lnTo>
                  <a:pt x="226822" y="1084326"/>
                </a:lnTo>
                <a:lnTo>
                  <a:pt x="172719" y="1111758"/>
                </a:lnTo>
                <a:lnTo>
                  <a:pt x="116586" y="1132713"/>
                </a:lnTo>
                <a:lnTo>
                  <a:pt x="59055" y="1146810"/>
                </a:lnTo>
                <a:lnTo>
                  <a:pt x="0" y="1153414"/>
                </a:lnTo>
                <a:lnTo>
                  <a:pt x="1396" y="1172464"/>
                </a:lnTo>
                <a:lnTo>
                  <a:pt x="61849" y="1165606"/>
                </a:lnTo>
                <a:lnTo>
                  <a:pt x="121666" y="1151001"/>
                </a:lnTo>
                <a:lnTo>
                  <a:pt x="179831" y="1129411"/>
                </a:lnTo>
                <a:lnTo>
                  <a:pt x="235838" y="1101089"/>
                </a:lnTo>
                <a:lnTo>
                  <a:pt x="289179" y="1067054"/>
                </a:lnTo>
                <a:lnTo>
                  <a:pt x="339217" y="1027684"/>
                </a:lnTo>
                <a:lnTo>
                  <a:pt x="385699" y="983614"/>
                </a:lnTo>
                <a:lnTo>
                  <a:pt x="427863" y="935355"/>
                </a:lnTo>
                <a:lnTo>
                  <a:pt x="465455" y="883666"/>
                </a:lnTo>
                <a:lnTo>
                  <a:pt x="497839" y="828929"/>
                </a:lnTo>
                <a:lnTo>
                  <a:pt x="524382" y="771906"/>
                </a:lnTo>
                <a:lnTo>
                  <a:pt x="544703" y="713105"/>
                </a:lnTo>
                <a:lnTo>
                  <a:pt x="558292" y="653034"/>
                </a:lnTo>
                <a:lnTo>
                  <a:pt x="564514" y="592328"/>
                </a:lnTo>
                <a:lnTo>
                  <a:pt x="564633" y="561848"/>
                </a:lnTo>
                <a:lnTo>
                  <a:pt x="562482" y="528193"/>
                </a:lnTo>
                <a:lnTo>
                  <a:pt x="550926" y="461391"/>
                </a:lnTo>
                <a:lnTo>
                  <a:pt x="530606" y="396367"/>
                </a:lnTo>
                <a:lnTo>
                  <a:pt x="502157" y="333756"/>
                </a:lnTo>
                <a:lnTo>
                  <a:pt x="466598" y="274319"/>
                </a:lnTo>
                <a:lnTo>
                  <a:pt x="424688" y="218820"/>
                </a:lnTo>
                <a:lnTo>
                  <a:pt x="377189" y="167894"/>
                </a:lnTo>
                <a:lnTo>
                  <a:pt x="320548" y="118999"/>
                </a:lnTo>
                <a:lnTo>
                  <a:pt x="259334" y="77342"/>
                </a:lnTo>
                <a:lnTo>
                  <a:pt x="194563" y="43814"/>
                </a:lnTo>
                <a:lnTo>
                  <a:pt x="144144" y="24637"/>
                </a:lnTo>
                <a:lnTo>
                  <a:pt x="123302" y="19091"/>
                </a:lnTo>
                <a:close/>
              </a:path>
              <a:path w="565150" h="1172845">
                <a:moveTo>
                  <a:pt x="127381" y="0"/>
                </a:moveTo>
                <a:lnTo>
                  <a:pt x="65531" y="16001"/>
                </a:lnTo>
                <a:lnTo>
                  <a:pt x="115443" y="55879"/>
                </a:lnTo>
                <a:lnTo>
                  <a:pt x="119333" y="37670"/>
                </a:lnTo>
                <a:lnTo>
                  <a:pt x="109600" y="35051"/>
                </a:lnTo>
                <a:lnTo>
                  <a:pt x="114553" y="16763"/>
                </a:lnTo>
                <a:lnTo>
                  <a:pt x="123799" y="16763"/>
                </a:lnTo>
                <a:lnTo>
                  <a:pt x="127381" y="0"/>
                </a:lnTo>
                <a:close/>
              </a:path>
              <a:path w="565150" h="1172845">
                <a:moveTo>
                  <a:pt x="114553" y="16763"/>
                </a:moveTo>
                <a:lnTo>
                  <a:pt x="109600" y="35051"/>
                </a:lnTo>
                <a:lnTo>
                  <a:pt x="119333" y="37670"/>
                </a:lnTo>
                <a:lnTo>
                  <a:pt x="123302" y="19091"/>
                </a:lnTo>
                <a:lnTo>
                  <a:pt x="114553" y="16763"/>
                </a:lnTo>
                <a:close/>
              </a:path>
              <a:path w="565150" h="1172845">
                <a:moveTo>
                  <a:pt x="123799" y="16763"/>
                </a:moveTo>
                <a:lnTo>
                  <a:pt x="114553" y="16763"/>
                </a:lnTo>
                <a:lnTo>
                  <a:pt x="123302" y="19091"/>
                </a:lnTo>
                <a:lnTo>
                  <a:pt x="123799" y="167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47057" y="1771903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822" y="1221104"/>
            <a:ext cx="492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9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369" y="1863597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900" spc="15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900" dirty="0">
                <a:latin typeface="Arial" panose="020B0604020202020204"/>
                <a:cs typeface="Arial" panose="020B0604020202020204"/>
              </a:rPr>
              <a:t>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916" y="851891"/>
            <a:ext cx="391795" cy="388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181610">
              <a:lnSpc>
                <a:spcPct val="100000"/>
              </a:lnSpc>
              <a:spcBef>
                <a:spcPts val="370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0677" y="1600326"/>
            <a:ext cx="127000" cy="567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just">
              <a:lnSpc>
                <a:spcPct val="98000"/>
              </a:lnSpc>
              <a:spcBef>
                <a:spcPts val="12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跳 跃 连 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082" y="2298318"/>
            <a:ext cx="87439" cy="2052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6718" y="1717675"/>
            <a:ext cx="43180" cy="140970"/>
          </a:xfrm>
          <a:custGeom>
            <a:avLst/>
            <a:gdLst/>
            <a:ahLst/>
            <a:cxnLst/>
            <a:rect l="l" t="t" r="r" b="b"/>
            <a:pathLst>
              <a:path w="43180" h="140969">
                <a:moveTo>
                  <a:pt x="28575" y="35687"/>
                </a:moveTo>
                <a:lnTo>
                  <a:pt x="14350" y="35687"/>
                </a:lnTo>
                <a:lnTo>
                  <a:pt x="14350" y="140588"/>
                </a:lnTo>
                <a:lnTo>
                  <a:pt x="28575" y="140588"/>
                </a:lnTo>
                <a:lnTo>
                  <a:pt x="28575" y="35687"/>
                </a:lnTo>
                <a:close/>
              </a:path>
              <a:path w="43180" h="140969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80" h="140969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5187" y="1863242"/>
            <a:ext cx="660400" cy="178435"/>
          </a:xfrm>
          <a:prstGeom prst="rect">
            <a:avLst/>
          </a:prstGeom>
          <a:solidFill>
            <a:srgbClr val="FAE3CD"/>
          </a:solidFill>
          <a:ln w="9524">
            <a:solidFill>
              <a:srgbClr val="FF99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26365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3x3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1976" y="1041018"/>
            <a:ext cx="236981" cy="395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3475" y="1566062"/>
            <a:ext cx="622300" cy="144780"/>
          </a:xfrm>
          <a:prstGeom prst="rect">
            <a:avLst/>
          </a:prstGeom>
          <a:solidFill>
            <a:srgbClr val="FBD4B5"/>
          </a:solidFill>
          <a:ln w="952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995"/>
              </a:lnSpc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1x1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1290" y="2037714"/>
            <a:ext cx="43180" cy="125730"/>
          </a:xfrm>
          <a:custGeom>
            <a:avLst/>
            <a:gdLst/>
            <a:ahLst/>
            <a:cxnLst/>
            <a:rect l="l" t="t" r="r" b="b"/>
            <a:pathLst>
              <a:path w="43180" h="125730">
                <a:moveTo>
                  <a:pt x="14350" y="42841"/>
                </a:moveTo>
                <a:lnTo>
                  <a:pt x="14350" y="125729"/>
                </a:lnTo>
                <a:lnTo>
                  <a:pt x="28575" y="125729"/>
                </a:lnTo>
                <a:lnTo>
                  <a:pt x="28575" y="42883"/>
                </a:lnTo>
                <a:lnTo>
                  <a:pt x="14350" y="42841"/>
                </a:lnTo>
                <a:close/>
              </a:path>
              <a:path w="43180" h="125730">
                <a:moveTo>
                  <a:pt x="39306" y="35687"/>
                </a:moveTo>
                <a:lnTo>
                  <a:pt x="28575" y="35687"/>
                </a:lnTo>
                <a:lnTo>
                  <a:pt x="28575" y="42883"/>
                </a:lnTo>
                <a:lnTo>
                  <a:pt x="42925" y="42925"/>
                </a:lnTo>
                <a:lnTo>
                  <a:pt x="39306" y="35687"/>
                </a:lnTo>
                <a:close/>
              </a:path>
              <a:path w="43180" h="125730">
                <a:moveTo>
                  <a:pt x="28575" y="35687"/>
                </a:moveTo>
                <a:lnTo>
                  <a:pt x="14350" y="35687"/>
                </a:lnTo>
                <a:lnTo>
                  <a:pt x="14350" y="42841"/>
                </a:lnTo>
                <a:lnTo>
                  <a:pt x="28575" y="42883"/>
                </a:lnTo>
                <a:lnTo>
                  <a:pt x="28575" y="35687"/>
                </a:lnTo>
                <a:close/>
              </a:path>
              <a:path w="43180" h="125730">
                <a:moveTo>
                  <a:pt x="21462" y="0"/>
                </a:moveTo>
                <a:lnTo>
                  <a:pt x="0" y="42798"/>
                </a:lnTo>
                <a:lnTo>
                  <a:pt x="14350" y="42841"/>
                </a:lnTo>
                <a:lnTo>
                  <a:pt x="14350" y="35687"/>
                </a:lnTo>
                <a:lnTo>
                  <a:pt x="39306" y="35687"/>
                </a:lnTo>
                <a:lnTo>
                  <a:pt x="21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6718" y="1441830"/>
            <a:ext cx="43180" cy="125730"/>
          </a:xfrm>
          <a:custGeom>
            <a:avLst/>
            <a:gdLst/>
            <a:ahLst/>
            <a:cxnLst/>
            <a:rect l="l" t="t" r="r" b="b"/>
            <a:pathLst>
              <a:path w="43180" h="125730">
                <a:moveTo>
                  <a:pt x="28575" y="35687"/>
                </a:moveTo>
                <a:lnTo>
                  <a:pt x="14350" y="35687"/>
                </a:lnTo>
                <a:lnTo>
                  <a:pt x="14350" y="125730"/>
                </a:lnTo>
                <a:lnTo>
                  <a:pt x="28575" y="125730"/>
                </a:lnTo>
                <a:lnTo>
                  <a:pt x="28575" y="35687"/>
                </a:lnTo>
                <a:close/>
              </a:path>
              <a:path w="43180" h="125730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80" h="125730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61157" y="2139822"/>
            <a:ext cx="1295400" cy="90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75" algn="ctr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1x1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R="73025" algn="ctr">
              <a:lnSpc>
                <a:spcPct val="100000"/>
              </a:lnSpc>
              <a:spcBef>
                <a:spcPts val="73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瓶颈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35956" y="997076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关于残差结构：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35956" y="1271396"/>
            <a:ext cx="33997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1.</a:t>
            </a:r>
            <a:r>
              <a:rPr sz="900" spc="-8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残差结构能够避免普通的卷积层堆叠存在信息丢失问题，保证前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08168" y="1545716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向信息流的顺畅。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948" y="884063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8948" y="884063"/>
            <a:ext cx="1580515" cy="1902460"/>
          </a:xfrm>
          <a:custGeom>
            <a:avLst/>
            <a:gdLst/>
            <a:ahLst/>
            <a:cxnLst/>
            <a:rect l="l" t="t" r="r" b="b"/>
            <a:pathLst>
              <a:path w="1580514" h="1902460">
                <a:moveTo>
                  <a:pt x="0" y="1901952"/>
                </a:moveTo>
                <a:lnTo>
                  <a:pt x="1580388" y="1901952"/>
                </a:lnTo>
                <a:lnTo>
                  <a:pt x="1580388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4144" y="2141389"/>
            <a:ext cx="622300" cy="144780"/>
          </a:xfrm>
          <a:custGeom>
            <a:avLst/>
            <a:gdLst/>
            <a:ahLst/>
            <a:cxnLst/>
            <a:rect l="l" t="t" r="r" b="b"/>
            <a:pathLst>
              <a:path w="622300" h="144780">
                <a:moveTo>
                  <a:pt x="0" y="144754"/>
                </a:moveTo>
                <a:lnTo>
                  <a:pt x="621766" y="144754"/>
                </a:lnTo>
                <a:lnTo>
                  <a:pt x="621766" y="0"/>
                </a:lnTo>
                <a:lnTo>
                  <a:pt x="0" y="0"/>
                </a:lnTo>
                <a:lnTo>
                  <a:pt x="0" y="144754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4144" y="2141389"/>
            <a:ext cx="622300" cy="144780"/>
          </a:xfrm>
          <a:custGeom>
            <a:avLst/>
            <a:gdLst/>
            <a:ahLst/>
            <a:cxnLst/>
            <a:rect l="l" t="t" r="r" b="b"/>
            <a:pathLst>
              <a:path w="622300" h="144780">
                <a:moveTo>
                  <a:pt x="0" y="144754"/>
                </a:moveTo>
                <a:lnTo>
                  <a:pt x="621766" y="144754"/>
                </a:lnTo>
                <a:lnTo>
                  <a:pt x="621766" y="0"/>
                </a:lnTo>
                <a:lnTo>
                  <a:pt x="0" y="0"/>
                </a:lnTo>
                <a:lnTo>
                  <a:pt x="0" y="144754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8906" y="2116725"/>
            <a:ext cx="617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1x1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6188" y="1255792"/>
            <a:ext cx="565150" cy="1172845"/>
          </a:xfrm>
          <a:custGeom>
            <a:avLst/>
            <a:gdLst/>
            <a:ahLst/>
            <a:cxnLst/>
            <a:rect l="l" t="t" r="r" b="b"/>
            <a:pathLst>
              <a:path w="565150" h="1172845">
                <a:moveTo>
                  <a:pt x="123302" y="19091"/>
                </a:moveTo>
                <a:lnTo>
                  <a:pt x="119333" y="37670"/>
                </a:lnTo>
                <a:lnTo>
                  <a:pt x="137922" y="42672"/>
                </a:lnTo>
                <a:lnTo>
                  <a:pt x="162306" y="51181"/>
                </a:lnTo>
                <a:lnTo>
                  <a:pt x="218059" y="76073"/>
                </a:lnTo>
                <a:lnTo>
                  <a:pt x="279273" y="112649"/>
                </a:lnTo>
                <a:lnTo>
                  <a:pt x="336676" y="156718"/>
                </a:lnTo>
                <a:lnTo>
                  <a:pt x="387350" y="205359"/>
                </a:lnTo>
                <a:lnTo>
                  <a:pt x="430911" y="257048"/>
                </a:lnTo>
                <a:lnTo>
                  <a:pt x="468630" y="312927"/>
                </a:lnTo>
                <a:lnTo>
                  <a:pt x="499744" y="371983"/>
                </a:lnTo>
                <a:lnTo>
                  <a:pt x="523494" y="433705"/>
                </a:lnTo>
                <a:lnTo>
                  <a:pt x="538988" y="497205"/>
                </a:lnTo>
                <a:lnTo>
                  <a:pt x="545591" y="561975"/>
                </a:lnTo>
                <a:lnTo>
                  <a:pt x="545464" y="591058"/>
                </a:lnTo>
                <a:lnTo>
                  <a:pt x="539623" y="649477"/>
                </a:lnTo>
                <a:lnTo>
                  <a:pt x="526542" y="707390"/>
                </a:lnTo>
                <a:lnTo>
                  <a:pt x="506856" y="764286"/>
                </a:lnTo>
                <a:lnTo>
                  <a:pt x="481203" y="819658"/>
                </a:lnTo>
                <a:lnTo>
                  <a:pt x="449834" y="872871"/>
                </a:lnTo>
                <a:lnTo>
                  <a:pt x="413257" y="923163"/>
                </a:lnTo>
                <a:lnTo>
                  <a:pt x="372237" y="970026"/>
                </a:lnTo>
                <a:lnTo>
                  <a:pt x="327151" y="1012951"/>
                </a:lnTo>
                <a:lnTo>
                  <a:pt x="278511" y="1051306"/>
                </a:lnTo>
                <a:lnTo>
                  <a:pt x="226822" y="1084326"/>
                </a:lnTo>
                <a:lnTo>
                  <a:pt x="172719" y="1111758"/>
                </a:lnTo>
                <a:lnTo>
                  <a:pt x="116586" y="1132713"/>
                </a:lnTo>
                <a:lnTo>
                  <a:pt x="59055" y="1146810"/>
                </a:lnTo>
                <a:lnTo>
                  <a:pt x="0" y="1153414"/>
                </a:lnTo>
                <a:lnTo>
                  <a:pt x="1396" y="1172464"/>
                </a:lnTo>
                <a:lnTo>
                  <a:pt x="61849" y="1165606"/>
                </a:lnTo>
                <a:lnTo>
                  <a:pt x="121666" y="1151001"/>
                </a:lnTo>
                <a:lnTo>
                  <a:pt x="179831" y="1129411"/>
                </a:lnTo>
                <a:lnTo>
                  <a:pt x="235838" y="1101090"/>
                </a:lnTo>
                <a:lnTo>
                  <a:pt x="289179" y="1067053"/>
                </a:lnTo>
                <a:lnTo>
                  <a:pt x="339217" y="1027684"/>
                </a:lnTo>
                <a:lnTo>
                  <a:pt x="385699" y="983615"/>
                </a:lnTo>
                <a:lnTo>
                  <a:pt x="427863" y="935355"/>
                </a:lnTo>
                <a:lnTo>
                  <a:pt x="465455" y="883666"/>
                </a:lnTo>
                <a:lnTo>
                  <a:pt x="497839" y="828928"/>
                </a:lnTo>
                <a:lnTo>
                  <a:pt x="524382" y="771906"/>
                </a:lnTo>
                <a:lnTo>
                  <a:pt x="544703" y="713105"/>
                </a:lnTo>
                <a:lnTo>
                  <a:pt x="558292" y="653034"/>
                </a:lnTo>
                <a:lnTo>
                  <a:pt x="564514" y="592327"/>
                </a:lnTo>
                <a:lnTo>
                  <a:pt x="564633" y="561848"/>
                </a:lnTo>
                <a:lnTo>
                  <a:pt x="562482" y="528193"/>
                </a:lnTo>
                <a:lnTo>
                  <a:pt x="550926" y="461391"/>
                </a:lnTo>
                <a:lnTo>
                  <a:pt x="530606" y="396367"/>
                </a:lnTo>
                <a:lnTo>
                  <a:pt x="502157" y="333756"/>
                </a:lnTo>
                <a:lnTo>
                  <a:pt x="466598" y="274320"/>
                </a:lnTo>
                <a:lnTo>
                  <a:pt x="424688" y="218821"/>
                </a:lnTo>
                <a:lnTo>
                  <a:pt x="377189" y="167894"/>
                </a:lnTo>
                <a:lnTo>
                  <a:pt x="320548" y="118999"/>
                </a:lnTo>
                <a:lnTo>
                  <a:pt x="259334" y="77343"/>
                </a:lnTo>
                <a:lnTo>
                  <a:pt x="194563" y="43815"/>
                </a:lnTo>
                <a:lnTo>
                  <a:pt x="144144" y="24638"/>
                </a:lnTo>
                <a:lnTo>
                  <a:pt x="123302" y="19091"/>
                </a:lnTo>
                <a:close/>
              </a:path>
              <a:path w="565150" h="1172845">
                <a:moveTo>
                  <a:pt x="127381" y="0"/>
                </a:moveTo>
                <a:lnTo>
                  <a:pt x="65531" y="16001"/>
                </a:lnTo>
                <a:lnTo>
                  <a:pt x="115443" y="55880"/>
                </a:lnTo>
                <a:lnTo>
                  <a:pt x="119333" y="37670"/>
                </a:lnTo>
                <a:lnTo>
                  <a:pt x="109600" y="35051"/>
                </a:lnTo>
                <a:lnTo>
                  <a:pt x="114553" y="16764"/>
                </a:lnTo>
                <a:lnTo>
                  <a:pt x="123799" y="16764"/>
                </a:lnTo>
                <a:lnTo>
                  <a:pt x="127381" y="0"/>
                </a:lnTo>
                <a:close/>
              </a:path>
              <a:path w="565150" h="1172845">
                <a:moveTo>
                  <a:pt x="114553" y="16764"/>
                </a:moveTo>
                <a:lnTo>
                  <a:pt x="109600" y="35051"/>
                </a:lnTo>
                <a:lnTo>
                  <a:pt x="119333" y="37670"/>
                </a:lnTo>
                <a:lnTo>
                  <a:pt x="123302" y="19091"/>
                </a:lnTo>
                <a:lnTo>
                  <a:pt x="114553" y="16764"/>
                </a:lnTo>
                <a:close/>
              </a:path>
              <a:path w="565150" h="1172845">
                <a:moveTo>
                  <a:pt x="123799" y="16764"/>
                </a:moveTo>
                <a:lnTo>
                  <a:pt x="114553" y="16764"/>
                </a:lnTo>
                <a:lnTo>
                  <a:pt x="123302" y="19091"/>
                </a:lnTo>
                <a:lnTo>
                  <a:pt x="123799" y="167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47057" y="1749187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822" y="1198388"/>
            <a:ext cx="492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𝐹(𝑋)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9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9369" y="1840881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latin typeface="Cambria Math" panose="02040503050406030204"/>
                <a:cs typeface="Cambria Math" panose="02040503050406030204"/>
              </a:rPr>
              <a:t>𝐹</a:t>
            </a:r>
            <a:r>
              <a:rPr sz="900" spc="-5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900" spc="15" dirty="0">
                <a:latin typeface="Cambria Math" panose="02040503050406030204"/>
                <a:cs typeface="Cambria Math" panose="02040503050406030204"/>
              </a:rPr>
              <a:t>𝑋</a:t>
            </a:r>
            <a:r>
              <a:rPr sz="900" dirty="0">
                <a:latin typeface="Arial" panose="020B0604020202020204"/>
                <a:cs typeface="Arial" panose="020B0604020202020204"/>
              </a:rPr>
              <a:t>)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917" y="829053"/>
            <a:ext cx="391795" cy="388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900" spc="5" dirty="0">
                <a:latin typeface="Cambria Math" panose="02040503050406030204"/>
                <a:cs typeface="Cambria Math" panose="02040503050406030204"/>
              </a:rPr>
              <a:t>𝐻(𝑋)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 marL="181610">
              <a:lnSpc>
                <a:spcPct val="100000"/>
              </a:lnSpc>
              <a:spcBef>
                <a:spcPts val="370"/>
              </a:spcBef>
            </a:pPr>
            <a:r>
              <a:rPr sz="900" spc="10" dirty="0">
                <a:latin typeface="Arial" panose="020B0604020202020204"/>
                <a:cs typeface="Arial" panose="020B0604020202020204"/>
              </a:rPr>
              <a:t>re</a:t>
            </a:r>
            <a:r>
              <a:rPr sz="900" dirty="0">
                <a:latin typeface="Arial" panose="020B0604020202020204"/>
                <a:cs typeface="Arial" panose="020B0604020202020204"/>
              </a:rPr>
              <a:t>l</a:t>
            </a:r>
            <a:r>
              <a:rPr sz="900" spc="15" dirty="0">
                <a:latin typeface="Arial" panose="020B0604020202020204"/>
                <a:cs typeface="Arial" panose="020B0604020202020204"/>
              </a:rPr>
              <a:t>u</a:t>
            </a:r>
            <a:endParaRPr sz="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0678" y="1577610"/>
            <a:ext cx="127000" cy="566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just">
              <a:lnSpc>
                <a:spcPct val="98000"/>
              </a:lnSpc>
              <a:spcBef>
                <a:spcPts val="12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跳 跃 连 接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082" y="2276237"/>
            <a:ext cx="87439" cy="2052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66719" y="1695593"/>
            <a:ext cx="43180" cy="140970"/>
          </a:xfrm>
          <a:custGeom>
            <a:avLst/>
            <a:gdLst/>
            <a:ahLst/>
            <a:cxnLst/>
            <a:rect l="l" t="t" r="r" b="b"/>
            <a:pathLst>
              <a:path w="43180" h="140969">
                <a:moveTo>
                  <a:pt x="14350" y="42841"/>
                </a:moveTo>
                <a:lnTo>
                  <a:pt x="14350" y="140589"/>
                </a:lnTo>
                <a:lnTo>
                  <a:pt x="28575" y="140589"/>
                </a:lnTo>
                <a:lnTo>
                  <a:pt x="28575" y="42883"/>
                </a:lnTo>
                <a:lnTo>
                  <a:pt x="14350" y="42841"/>
                </a:lnTo>
                <a:close/>
              </a:path>
              <a:path w="43180" h="140969">
                <a:moveTo>
                  <a:pt x="39306" y="35687"/>
                </a:moveTo>
                <a:lnTo>
                  <a:pt x="28575" y="35687"/>
                </a:lnTo>
                <a:lnTo>
                  <a:pt x="28575" y="42883"/>
                </a:lnTo>
                <a:lnTo>
                  <a:pt x="42925" y="42925"/>
                </a:lnTo>
                <a:lnTo>
                  <a:pt x="39306" y="35687"/>
                </a:lnTo>
                <a:close/>
              </a:path>
              <a:path w="43180" h="140969">
                <a:moveTo>
                  <a:pt x="28575" y="35687"/>
                </a:moveTo>
                <a:lnTo>
                  <a:pt x="14350" y="35687"/>
                </a:lnTo>
                <a:lnTo>
                  <a:pt x="14350" y="42841"/>
                </a:lnTo>
                <a:lnTo>
                  <a:pt x="28575" y="42883"/>
                </a:lnTo>
                <a:lnTo>
                  <a:pt x="28575" y="35687"/>
                </a:lnTo>
                <a:close/>
              </a:path>
              <a:path w="43180" h="140969">
                <a:moveTo>
                  <a:pt x="21462" y="0"/>
                </a:moveTo>
                <a:lnTo>
                  <a:pt x="0" y="42799"/>
                </a:lnTo>
                <a:lnTo>
                  <a:pt x="14350" y="42841"/>
                </a:lnTo>
                <a:lnTo>
                  <a:pt x="14350" y="35687"/>
                </a:lnTo>
                <a:lnTo>
                  <a:pt x="39306" y="35687"/>
                </a:lnTo>
                <a:lnTo>
                  <a:pt x="21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55188" y="1841161"/>
            <a:ext cx="660400" cy="178435"/>
          </a:xfrm>
          <a:prstGeom prst="rect">
            <a:avLst/>
          </a:prstGeom>
          <a:solidFill>
            <a:srgbClr val="FAE3CD"/>
          </a:solidFill>
          <a:ln w="9524">
            <a:solidFill>
              <a:srgbClr val="FF99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26365">
              <a:lnSpc>
                <a:spcPct val="100000"/>
              </a:lnSpc>
              <a:spcBef>
                <a:spcPts val="70"/>
              </a:spcBef>
            </a:pPr>
            <a:r>
              <a:rPr sz="900" spc="-10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3x3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1977" y="1018937"/>
            <a:ext cx="236981" cy="395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73476" y="1543981"/>
            <a:ext cx="622300" cy="144780"/>
          </a:xfrm>
          <a:prstGeom prst="rect">
            <a:avLst/>
          </a:prstGeom>
          <a:solidFill>
            <a:srgbClr val="FBD4B5"/>
          </a:solidFill>
          <a:ln w="952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990"/>
              </a:lnSpc>
            </a:pPr>
            <a:r>
              <a:rPr sz="900" spc="-5" dirty="0">
                <a:latin typeface="Calibri" panose="020F0502020204030204"/>
                <a:cs typeface="Calibri" panose="020F0502020204030204"/>
              </a:rPr>
              <a:t>Conv</a:t>
            </a:r>
            <a:r>
              <a:rPr sz="9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900" spc="-5" dirty="0">
                <a:latin typeface="Calibri" panose="020F0502020204030204"/>
                <a:cs typeface="Calibri" panose="020F0502020204030204"/>
              </a:rPr>
              <a:t>1x1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1291" y="2015633"/>
            <a:ext cx="43180" cy="125730"/>
          </a:xfrm>
          <a:custGeom>
            <a:avLst/>
            <a:gdLst/>
            <a:ahLst/>
            <a:cxnLst/>
            <a:rect l="l" t="t" r="r" b="b"/>
            <a:pathLst>
              <a:path w="43180" h="125730">
                <a:moveTo>
                  <a:pt x="28575" y="35686"/>
                </a:moveTo>
                <a:lnTo>
                  <a:pt x="14350" y="35686"/>
                </a:lnTo>
                <a:lnTo>
                  <a:pt x="14350" y="125729"/>
                </a:lnTo>
                <a:lnTo>
                  <a:pt x="28575" y="125729"/>
                </a:lnTo>
                <a:lnTo>
                  <a:pt x="28575" y="35686"/>
                </a:lnTo>
                <a:close/>
              </a:path>
              <a:path w="43180" h="125730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80" h="125730">
                <a:moveTo>
                  <a:pt x="39359" y="35686"/>
                </a:moveTo>
                <a:lnTo>
                  <a:pt x="28575" y="35686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66719" y="1419749"/>
            <a:ext cx="43180" cy="125730"/>
          </a:xfrm>
          <a:custGeom>
            <a:avLst/>
            <a:gdLst/>
            <a:ahLst/>
            <a:cxnLst/>
            <a:rect l="l" t="t" r="r" b="b"/>
            <a:pathLst>
              <a:path w="43180" h="125730">
                <a:moveTo>
                  <a:pt x="28575" y="35686"/>
                </a:moveTo>
                <a:lnTo>
                  <a:pt x="14350" y="35686"/>
                </a:lnTo>
                <a:lnTo>
                  <a:pt x="14350" y="125729"/>
                </a:lnTo>
                <a:lnTo>
                  <a:pt x="28575" y="125729"/>
                </a:lnTo>
                <a:lnTo>
                  <a:pt x="28575" y="35686"/>
                </a:lnTo>
                <a:close/>
              </a:path>
              <a:path w="43180" h="125730">
                <a:moveTo>
                  <a:pt x="21462" y="0"/>
                </a:moveTo>
                <a:lnTo>
                  <a:pt x="0" y="42925"/>
                </a:lnTo>
                <a:lnTo>
                  <a:pt x="14350" y="42925"/>
                </a:lnTo>
                <a:lnTo>
                  <a:pt x="14350" y="35686"/>
                </a:lnTo>
                <a:lnTo>
                  <a:pt x="39306" y="35686"/>
                </a:lnTo>
                <a:lnTo>
                  <a:pt x="21462" y="0"/>
                </a:lnTo>
                <a:close/>
              </a:path>
              <a:path w="43180" h="125730">
                <a:moveTo>
                  <a:pt x="39306" y="35686"/>
                </a:moveTo>
                <a:lnTo>
                  <a:pt x="28575" y="35686"/>
                </a:lnTo>
                <a:lnTo>
                  <a:pt x="28575" y="42925"/>
                </a:lnTo>
                <a:lnTo>
                  <a:pt x="42925" y="42925"/>
                </a:lnTo>
                <a:lnTo>
                  <a:pt x="39306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61157" y="2478548"/>
            <a:ext cx="1295400" cy="54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3025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 panose="02040503050406030204"/>
                <a:cs typeface="Cambria Math" panose="02040503050406030204"/>
              </a:rPr>
              <a:t>𝑋</a:t>
            </a:r>
            <a:endParaRPr sz="9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瓶颈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”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结构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差模块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35957" y="974360"/>
            <a:ext cx="825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关于残差结构：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5957" y="1248680"/>
            <a:ext cx="33997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1.</a:t>
            </a:r>
            <a:r>
              <a:rPr sz="900" spc="-8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残差结构能够避免普通的卷积层堆叠存在信息丢失问题，保证前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08169" y="1523000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向信息流的顺畅。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35957" y="1797320"/>
            <a:ext cx="3398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2.</a:t>
            </a:r>
            <a:r>
              <a:rPr sz="900" spc="-8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残差结构能够应对梯度反传过程中的梯度消失问题，保证反向梯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8169" y="2071640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度流的通顺。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72749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50668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81442" y="1301131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残差模 块组成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2754" y="1274842"/>
            <a:ext cx="648335" cy="184785"/>
          </a:xfrm>
          <a:custGeom>
            <a:avLst/>
            <a:gdLst/>
            <a:ahLst/>
            <a:cxnLst/>
            <a:rect l="l" t="t" r="r" b="b"/>
            <a:pathLst>
              <a:path w="648335" h="184784">
                <a:moveTo>
                  <a:pt x="57747" y="18439"/>
                </a:moveTo>
                <a:lnTo>
                  <a:pt x="53115" y="36965"/>
                </a:lnTo>
                <a:lnTo>
                  <a:pt x="643636" y="184658"/>
                </a:lnTo>
                <a:lnTo>
                  <a:pt x="648335" y="166243"/>
                </a:lnTo>
                <a:lnTo>
                  <a:pt x="57747" y="18439"/>
                </a:lnTo>
                <a:close/>
              </a:path>
              <a:path w="648335" h="184784">
                <a:moveTo>
                  <a:pt x="62357" y="0"/>
                </a:moveTo>
                <a:lnTo>
                  <a:pt x="0" y="13843"/>
                </a:lnTo>
                <a:lnTo>
                  <a:pt x="48513" y="55372"/>
                </a:lnTo>
                <a:lnTo>
                  <a:pt x="53115" y="36965"/>
                </a:lnTo>
                <a:lnTo>
                  <a:pt x="43942" y="34671"/>
                </a:lnTo>
                <a:lnTo>
                  <a:pt x="48513" y="16128"/>
                </a:lnTo>
                <a:lnTo>
                  <a:pt x="58324" y="16128"/>
                </a:lnTo>
                <a:lnTo>
                  <a:pt x="62357" y="0"/>
                </a:lnTo>
                <a:close/>
              </a:path>
              <a:path w="648335" h="184784">
                <a:moveTo>
                  <a:pt x="48513" y="16128"/>
                </a:moveTo>
                <a:lnTo>
                  <a:pt x="43942" y="34671"/>
                </a:lnTo>
                <a:lnTo>
                  <a:pt x="53115" y="36965"/>
                </a:lnTo>
                <a:lnTo>
                  <a:pt x="57747" y="18439"/>
                </a:lnTo>
                <a:lnTo>
                  <a:pt x="48513" y="16128"/>
                </a:lnTo>
                <a:close/>
              </a:path>
              <a:path w="648335" h="184784">
                <a:moveTo>
                  <a:pt x="58324" y="16128"/>
                </a:moveTo>
                <a:lnTo>
                  <a:pt x="48513" y="16128"/>
                </a:lnTo>
                <a:lnTo>
                  <a:pt x="57747" y="18439"/>
                </a:lnTo>
                <a:lnTo>
                  <a:pt x="58324" y="161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91274" y="1047893"/>
            <a:ext cx="502920" cy="349250"/>
          </a:xfrm>
          <a:custGeom>
            <a:avLst/>
            <a:gdLst/>
            <a:ahLst/>
            <a:cxnLst/>
            <a:rect l="l" t="t" r="r" b="b"/>
            <a:pathLst>
              <a:path w="502920" h="349250">
                <a:moveTo>
                  <a:pt x="0" y="348996"/>
                </a:moveTo>
                <a:lnTo>
                  <a:pt x="502920" y="348996"/>
                </a:lnTo>
                <a:lnTo>
                  <a:pt x="502920" y="0"/>
                </a:lnTo>
                <a:lnTo>
                  <a:pt x="0" y="0"/>
                </a:lnTo>
                <a:lnTo>
                  <a:pt x="0" y="348996"/>
                </a:lnTo>
                <a:close/>
              </a:path>
            </a:pathLst>
          </a:custGeom>
          <a:ln w="1428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72749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41563" y="630046"/>
            <a:ext cx="4826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b="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残差模块 重复堆叠 次数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25257" y="840866"/>
            <a:ext cx="390525" cy="401320"/>
          </a:xfrm>
          <a:custGeom>
            <a:avLst/>
            <a:gdLst/>
            <a:ahLst/>
            <a:cxnLst/>
            <a:rect l="l" t="t" r="r" b="b"/>
            <a:pathLst>
              <a:path w="390525" h="401319">
                <a:moveTo>
                  <a:pt x="19303" y="339852"/>
                </a:moveTo>
                <a:lnTo>
                  <a:pt x="0" y="400812"/>
                </a:lnTo>
                <a:lnTo>
                  <a:pt x="60325" y="379730"/>
                </a:lnTo>
                <a:lnTo>
                  <a:pt x="53662" y="373253"/>
                </a:lnTo>
                <a:lnTo>
                  <a:pt x="40004" y="373253"/>
                </a:lnTo>
                <a:lnTo>
                  <a:pt x="26415" y="360045"/>
                </a:lnTo>
                <a:lnTo>
                  <a:pt x="33054" y="353219"/>
                </a:lnTo>
                <a:lnTo>
                  <a:pt x="19303" y="339852"/>
                </a:lnTo>
                <a:close/>
              </a:path>
              <a:path w="390525" h="401319">
                <a:moveTo>
                  <a:pt x="33054" y="353219"/>
                </a:moveTo>
                <a:lnTo>
                  <a:pt x="26415" y="360045"/>
                </a:lnTo>
                <a:lnTo>
                  <a:pt x="40004" y="373253"/>
                </a:lnTo>
                <a:lnTo>
                  <a:pt x="46641" y="366428"/>
                </a:lnTo>
                <a:lnTo>
                  <a:pt x="33054" y="353219"/>
                </a:lnTo>
                <a:close/>
              </a:path>
              <a:path w="390525" h="401319">
                <a:moveTo>
                  <a:pt x="46641" y="366428"/>
                </a:moveTo>
                <a:lnTo>
                  <a:pt x="40004" y="373253"/>
                </a:lnTo>
                <a:lnTo>
                  <a:pt x="53662" y="373253"/>
                </a:lnTo>
                <a:lnTo>
                  <a:pt x="46641" y="366428"/>
                </a:lnTo>
                <a:close/>
              </a:path>
              <a:path w="390525" h="401319">
                <a:moveTo>
                  <a:pt x="376554" y="0"/>
                </a:moveTo>
                <a:lnTo>
                  <a:pt x="33054" y="353219"/>
                </a:lnTo>
                <a:lnTo>
                  <a:pt x="46641" y="366428"/>
                </a:lnTo>
                <a:lnTo>
                  <a:pt x="390143" y="13208"/>
                </a:lnTo>
                <a:lnTo>
                  <a:pt x="3765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44485" y="1173606"/>
            <a:ext cx="81280" cy="120650"/>
          </a:xfrm>
          <a:custGeom>
            <a:avLst/>
            <a:gdLst/>
            <a:ahLst/>
            <a:cxnLst/>
            <a:rect l="l" t="t" r="r" b="b"/>
            <a:pathLst>
              <a:path w="81279" h="120650">
                <a:moveTo>
                  <a:pt x="0" y="120396"/>
                </a:moveTo>
                <a:lnTo>
                  <a:pt x="80772" y="120396"/>
                </a:lnTo>
                <a:lnTo>
                  <a:pt x="80772" y="0"/>
                </a:lnTo>
                <a:lnTo>
                  <a:pt x="0" y="0"/>
                </a:lnTo>
                <a:lnTo>
                  <a:pt x="0" y="120396"/>
                </a:lnTo>
                <a:close/>
              </a:path>
            </a:pathLst>
          </a:custGeom>
          <a:ln w="1905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50668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68413" y="700421"/>
            <a:ext cx="707390" cy="1663064"/>
          </a:xfrm>
          <a:custGeom>
            <a:avLst/>
            <a:gdLst/>
            <a:ahLst/>
            <a:cxnLst/>
            <a:rect l="l" t="t" r="r" b="b"/>
            <a:pathLst>
              <a:path w="707389" h="1663064">
                <a:moveTo>
                  <a:pt x="0" y="1662683"/>
                </a:moveTo>
                <a:lnTo>
                  <a:pt x="707136" y="1662683"/>
                </a:lnTo>
                <a:lnTo>
                  <a:pt x="707136" y="0"/>
                </a:lnTo>
                <a:lnTo>
                  <a:pt x="0" y="0"/>
                </a:lnTo>
                <a:lnTo>
                  <a:pt x="0" y="166268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72749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2273" y="876426"/>
            <a:ext cx="4069079" cy="102235"/>
          </a:xfrm>
          <a:custGeom>
            <a:avLst/>
            <a:gdLst/>
            <a:ahLst/>
            <a:cxnLst/>
            <a:rect l="l" t="t" r="r" b="b"/>
            <a:pathLst>
              <a:path w="4069079" h="102234">
                <a:moveTo>
                  <a:pt x="0" y="102108"/>
                </a:moveTo>
                <a:lnTo>
                  <a:pt x="4069079" y="102108"/>
                </a:lnTo>
                <a:lnTo>
                  <a:pt x="4069079" y="0"/>
                </a:lnTo>
                <a:lnTo>
                  <a:pt x="0" y="0"/>
                </a:lnTo>
                <a:lnTo>
                  <a:pt x="0" y="102108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50668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2274" y="957977"/>
            <a:ext cx="4069079" cy="102235"/>
          </a:xfrm>
          <a:custGeom>
            <a:avLst/>
            <a:gdLst/>
            <a:ahLst/>
            <a:cxnLst/>
            <a:rect l="l" t="t" r="r" b="b"/>
            <a:pathLst>
              <a:path w="4069079" h="102234">
                <a:moveTo>
                  <a:pt x="0" y="102107"/>
                </a:moveTo>
                <a:lnTo>
                  <a:pt x="4069079" y="102107"/>
                </a:lnTo>
                <a:lnTo>
                  <a:pt x="4069079" y="0"/>
                </a:lnTo>
                <a:lnTo>
                  <a:pt x="0" y="0"/>
                </a:lnTo>
                <a:lnTo>
                  <a:pt x="0" y="10210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72749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6222" y="1092834"/>
            <a:ext cx="675640" cy="1234440"/>
          </a:xfrm>
          <a:custGeom>
            <a:avLst/>
            <a:gdLst/>
            <a:ahLst/>
            <a:cxnLst/>
            <a:rect l="l" t="t" r="r" b="b"/>
            <a:pathLst>
              <a:path w="675639" h="1234439">
                <a:moveTo>
                  <a:pt x="0" y="1234439"/>
                </a:moveTo>
                <a:lnTo>
                  <a:pt x="675131" y="1234439"/>
                </a:lnTo>
                <a:lnTo>
                  <a:pt x="675131" y="0"/>
                </a:lnTo>
                <a:lnTo>
                  <a:pt x="0" y="0"/>
                </a:lnTo>
                <a:lnTo>
                  <a:pt x="0" y="123443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50668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038" y="2288429"/>
            <a:ext cx="4097020" cy="108585"/>
          </a:xfrm>
          <a:custGeom>
            <a:avLst/>
            <a:gdLst/>
            <a:ahLst/>
            <a:cxnLst/>
            <a:rect l="l" t="t" r="r" b="b"/>
            <a:pathLst>
              <a:path w="4097020" h="108585">
                <a:moveTo>
                  <a:pt x="0" y="108203"/>
                </a:moveTo>
                <a:lnTo>
                  <a:pt x="4096512" y="108203"/>
                </a:lnTo>
                <a:lnTo>
                  <a:pt x="4096512" y="0"/>
                </a:lnTo>
                <a:lnTo>
                  <a:pt x="0" y="0"/>
                </a:lnTo>
                <a:lnTo>
                  <a:pt x="0" y="108203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72749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0519" y="2709417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其他关键点：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50668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2031" y="14873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202" y="2526427"/>
            <a:ext cx="3483610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其他关键点：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55575" indent="-142875">
              <a:lnSpc>
                <a:spcPct val="100000"/>
              </a:lnSpc>
              <a:spcBef>
                <a:spcPts val="54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了批归一化策略，降低了网络训练过程对于权重初始化的依赖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7" y="772749"/>
            <a:ext cx="4090290" cy="17580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2030" y="171322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经典网络解析——ResNet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201" y="2549144"/>
            <a:ext cx="3483610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其他关键点：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55575" indent="-142875">
              <a:lnSpc>
                <a:spcPct val="100000"/>
              </a:lnSpc>
              <a:spcBef>
                <a:spcPts val="54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提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出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了批归一化策略，降低了网络训练过程对于权重初始化的依赖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marL="155575" indent="-142875">
              <a:lnSpc>
                <a:spcPct val="100000"/>
              </a:lnSpc>
              <a:spcBef>
                <a:spcPts val="54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提出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针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对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ReLU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非线性单元的初始化方法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531" y="148733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530" y="171322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995" y="708152"/>
            <a:ext cx="307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种典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的解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以看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是一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集成</a:t>
            </a:r>
            <a:r>
              <a:rPr sz="10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型！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197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531" y="148733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996" y="685435"/>
            <a:ext cx="307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的解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集成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676" y="1334854"/>
            <a:ext cx="4702078" cy="10385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70630" y="2561225"/>
            <a:ext cx="483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3198" y="2561225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展开后的残差结构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530" y="171322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995" y="708152"/>
            <a:ext cx="307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的解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集成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675" y="1356935"/>
            <a:ext cx="4702078" cy="10385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2505" y="1876170"/>
            <a:ext cx="2115820" cy="652780"/>
          </a:xfrm>
          <a:custGeom>
            <a:avLst/>
            <a:gdLst/>
            <a:ahLst/>
            <a:cxnLst/>
            <a:rect l="l" t="t" r="r" b="b"/>
            <a:pathLst>
              <a:path w="2115820" h="652780">
                <a:moveTo>
                  <a:pt x="0" y="652271"/>
                </a:moveTo>
                <a:lnTo>
                  <a:pt x="2115312" y="652271"/>
                </a:lnTo>
                <a:lnTo>
                  <a:pt x="2115312" y="0"/>
                </a:lnTo>
                <a:lnTo>
                  <a:pt x="0" y="0"/>
                </a:lnTo>
                <a:lnTo>
                  <a:pt x="0" y="65227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70629" y="2583814"/>
            <a:ext cx="483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199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0531" y="148733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996" y="685435"/>
            <a:ext cx="307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的解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集成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676" y="1334854"/>
            <a:ext cx="4702078" cy="10385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3198" y="2561225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展开后的残差结构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0630" y="2561225"/>
            <a:ext cx="483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3682" y="1180481"/>
            <a:ext cx="2281555" cy="132588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10223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200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0530" y="171322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995" y="708152"/>
            <a:ext cx="307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的解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集成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675" y="1356935"/>
            <a:ext cx="4702078" cy="10385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83681" y="1202562"/>
            <a:ext cx="2281555" cy="1325880"/>
          </a:xfrm>
          <a:custGeom>
            <a:avLst/>
            <a:gdLst/>
            <a:ahLst/>
            <a:cxnLst/>
            <a:rect l="l" t="t" r="r" b="b"/>
            <a:pathLst>
              <a:path w="2281554" h="1325880">
                <a:moveTo>
                  <a:pt x="0" y="1325880"/>
                </a:moveTo>
                <a:lnTo>
                  <a:pt x="2281428" y="1325880"/>
                </a:lnTo>
                <a:lnTo>
                  <a:pt x="2281428" y="0"/>
                </a:lnTo>
                <a:lnTo>
                  <a:pt x="0" y="0"/>
                </a:lnTo>
                <a:lnTo>
                  <a:pt x="0" y="132588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70629" y="2583814"/>
            <a:ext cx="483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2867" y="2504821"/>
            <a:ext cx="1227455" cy="45783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R="78740" algn="ctr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展开后的残差结构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看成多个子网络的集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成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!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201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0531" y="148733"/>
            <a:ext cx="368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问题：为什么残差网络性能这么好？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996" y="685435"/>
            <a:ext cx="307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一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种典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的解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释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：残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差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网络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可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以看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作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是一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种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集成</a:t>
            </a:r>
            <a:r>
              <a:rPr sz="1000" spc="5" dirty="0">
                <a:latin typeface="黑体" panose="02010609060101010101" charset="-122"/>
                <a:cs typeface="黑体" panose="02010609060101010101" charset="-122"/>
              </a:rPr>
              <a:t>模</a:t>
            </a:r>
            <a:r>
              <a:rPr sz="1000" spc="-5" dirty="0">
                <a:latin typeface="黑体" panose="02010609060101010101" charset="-122"/>
                <a:cs typeface="黑体" panose="02010609060101010101" charset="-122"/>
              </a:rPr>
              <a:t>型！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676" y="1334854"/>
            <a:ext cx="4702078" cy="10385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1254" y="1887617"/>
            <a:ext cx="2281555" cy="660400"/>
          </a:xfrm>
          <a:custGeom>
            <a:avLst/>
            <a:gdLst/>
            <a:ahLst/>
            <a:cxnLst/>
            <a:rect l="l" t="t" r="r" b="b"/>
            <a:pathLst>
              <a:path w="2281555" h="660400">
                <a:moveTo>
                  <a:pt x="0" y="659892"/>
                </a:moveTo>
                <a:lnTo>
                  <a:pt x="2281428" y="659892"/>
                </a:lnTo>
                <a:lnTo>
                  <a:pt x="2281428" y="0"/>
                </a:lnTo>
                <a:lnTo>
                  <a:pt x="0" y="0"/>
                </a:lnTo>
                <a:lnTo>
                  <a:pt x="0" y="65989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83198" y="2561225"/>
            <a:ext cx="939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展开后的残差结构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0630" y="2561225"/>
            <a:ext cx="483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残差结构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342" y="2967752"/>
            <a:ext cx="3627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结论：残差网络是一种集成模</a:t>
            </a:r>
            <a:r>
              <a:rPr sz="9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型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,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这是重要特点也是它高效的一个原因！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202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2384" y="171322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本章小结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203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2385" y="14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本章小结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2327" y="971693"/>
            <a:ext cx="38868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介绍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种经典的卷积神经网络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ResNet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204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2384" y="171322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本章小结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2326" y="994282"/>
            <a:ext cx="388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介绍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种经典的卷积神经网络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ResNet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"/>
            </a:pPr>
            <a:endParaRPr sz="85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残差网络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900" spc="-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V4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是公认的推广性能最好的两个分类模型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82162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205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2385" y="14873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latin typeface="黑体" panose="02010609060101010101" charset="-122"/>
                <a:cs typeface="黑体" panose="02010609060101010101" charset="-122"/>
              </a:rPr>
              <a:t>本章小结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2327" y="971693"/>
            <a:ext cx="42843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介绍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了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5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种经典的卷积神经网络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AlexNet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ZFNet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VGG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GoogLeNet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ResNet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"/>
            </a:pPr>
            <a:endParaRPr sz="85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残差网络</a:t>
            </a:r>
            <a:r>
              <a:rPr sz="900" spc="10" dirty="0"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Inception</a:t>
            </a:r>
            <a:r>
              <a:rPr sz="900" spc="-10" dirty="0"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900" spc="-5" dirty="0">
                <a:latin typeface="黑体" panose="02010609060101010101" charset="-122"/>
                <a:cs typeface="黑体" panose="02010609060101010101" charset="-122"/>
              </a:rPr>
              <a:t>V4</a:t>
            </a:r>
            <a:r>
              <a:rPr sz="900" dirty="0">
                <a:latin typeface="黑体" panose="02010609060101010101" charset="-122"/>
                <a:cs typeface="黑体" panose="02010609060101010101" charset="-122"/>
              </a:rPr>
              <a:t>是公认的推广性能最好的两个分类模型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buChar char=""/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"/>
            </a:pPr>
            <a:endParaRPr sz="850">
              <a:latin typeface="Times New Roman" panose="02020603050405020304"/>
              <a:cs typeface="Times New Roman" panose="02020603050405020304"/>
            </a:endParaRPr>
          </a:p>
          <a:p>
            <a:pPr marL="155575" indent="-142875">
              <a:lnSpc>
                <a:spcPct val="100000"/>
              </a:lnSpc>
              <a:buFont typeface="Wingdings" panose="05000000000000000000"/>
              <a:buChar char=""/>
              <a:tabLst>
                <a:tab pos="156210" algn="l"/>
              </a:tabLst>
            </a:pP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特殊应用环境下的模型：面向有限存储资源</a:t>
            </a:r>
            <a:r>
              <a:rPr sz="9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SqueezeNet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以及面向有限计算资源的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Times New Roman" panose="02020603050405020304"/>
              <a:cs typeface="Times New Roman" panose="02020603050405020304"/>
            </a:endParaRPr>
          </a:p>
          <a:p>
            <a:pPr marL="155575">
              <a:lnSpc>
                <a:spcPct val="100000"/>
              </a:lnSpc>
            </a:pP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MobileNet</a:t>
            </a:r>
            <a:r>
              <a:rPr sz="9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9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ShuffleNet</a:t>
            </a:r>
            <a:endParaRPr sz="9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775" y="3259471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206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FkNmRlODdiYzQyYjk2OGIxODg4NzZiMjk3NDc0ZT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24862</Words>
  <Application>WPS 演示</Application>
  <PresentationFormat>自定义</PresentationFormat>
  <Paragraphs>3545</Paragraphs>
  <Slides>208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208</vt:i4>
      </vt:variant>
    </vt:vector>
  </HeadingPairs>
  <TitlesOfParts>
    <vt:vector size="220" baseType="lpstr">
      <vt:lpstr>Arial</vt:lpstr>
      <vt:lpstr>宋体</vt:lpstr>
      <vt:lpstr>Wingdings</vt:lpstr>
      <vt:lpstr>黑体</vt:lpstr>
      <vt:lpstr>微软雅黑</vt:lpstr>
      <vt:lpstr>Times New Roman</vt:lpstr>
      <vt:lpstr>Wingdings</vt:lpstr>
      <vt:lpstr>Calibri</vt:lpstr>
      <vt:lpstr>Arial</vt:lpstr>
      <vt:lpstr>Arial Unicode MS</vt:lpstr>
      <vt:lpstr>Cambria Math</vt:lpstr>
      <vt:lpstr>Office Theme</vt:lpstr>
      <vt:lpstr>PowerPoint 演示文稿</vt:lpstr>
      <vt:lpstr>PowerPoint 演示文稿</vt:lpstr>
      <vt:lpstr>PowerPoint 演示文稿</vt:lpstr>
      <vt:lpstr>经典网络解析——AlexNet</vt:lpstr>
      <vt:lpstr>ImageNet大规模视觉识别挑战赛</vt:lpstr>
      <vt:lpstr>ImageNet大规模视觉识别挑战赛</vt:lpstr>
      <vt:lpstr>ImageNet大规模视觉识别挑战赛</vt:lpstr>
      <vt:lpstr>ImageNet大规模视觉识别挑战赛</vt:lpstr>
      <vt:lpstr>ImageNet大规模视觉识别挑战赛</vt:lpstr>
      <vt:lpstr>ImageNet大赛历年冠军</vt:lpstr>
      <vt:lpstr>ImageNet大赛历年冠军</vt:lpstr>
      <vt:lpstr>PowerPoint 演示文稿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经典网络解析——AlexNet</vt:lpstr>
      <vt:lpstr>问题：AlexNet卷积层在做什么？</vt:lpstr>
      <vt:lpstr>问题：AlexNet卷积层在做什么？</vt:lpstr>
      <vt:lpstr>问题：AlexNet卷积层在做什么？</vt:lpstr>
      <vt:lpstr>问题：AlexNet卷积层在做什么？</vt:lpstr>
      <vt:lpstr>问题：AlexNet卷积层在做什么？</vt:lpstr>
      <vt:lpstr>问题：AlexNet卷积层在做什么？</vt:lpstr>
      <vt:lpstr>问题：AlexNet卷积层在做什么？  具有“语义结构”</vt:lpstr>
      <vt:lpstr>问题：AlexNet卷积层在做什么？  具有“语义结构”</vt:lpstr>
      <vt:lpstr>问题：AlexNet卷积层在做什么？  具有“语义结构”</vt:lpstr>
      <vt:lpstr>问题：AlexNet卷积层在做什么？  具有“语义结构”</vt:lpstr>
      <vt:lpstr>ImageNet大赛历年冠军</vt:lpstr>
      <vt:lpstr>经典网络解析—— ZFNet</vt:lpstr>
      <vt:lpstr>经典网络解析—— ZFNet</vt:lpstr>
      <vt:lpstr>经典网络解析—— ZFNet</vt:lpstr>
      <vt:lpstr>经典网络解析—— ZFNet</vt:lpstr>
      <vt:lpstr>ImageNet大赛历年冠军</vt:lpstr>
      <vt:lpstr>ImageNet大赛历年冠军</vt:lpstr>
      <vt:lpstr>ImageNet大赛历年冠军</vt:lpstr>
      <vt:lpstr>ImageNet大赛历年冠军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经典网络解析——VGG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GoogLeNet</vt:lpstr>
      <vt:lpstr>ImageNet大赛历年冠军</vt:lpstr>
      <vt:lpstr>ImageNet大赛历年冠军</vt:lpstr>
      <vt:lpstr>PowerPoint 演示文稿</vt:lpstr>
      <vt:lpstr>经典网络解析——GoogLeNet</vt:lpstr>
      <vt:lpstr>经典网络解析——GoogLeNet</vt:lpstr>
      <vt:lpstr>经典网络解析——GoogLeNet</vt:lpstr>
      <vt:lpstr>PowerPoint 演示文稿</vt:lpstr>
      <vt:lpstr>经典网络解析——GoogLeNet</vt:lpstr>
      <vt:lpstr>经典网络解析——GoogLeNet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经典网络解析——GoogLeNet</vt:lpstr>
      <vt:lpstr>经典网络解析——GoogLeNet</vt:lpstr>
      <vt:lpstr>经典网络解析——GoogLeNet</vt:lpstr>
      <vt:lpstr>PowerPoint 演示文稿</vt:lpstr>
      <vt:lpstr>经典网络解析——GoogLeNet</vt:lpstr>
      <vt:lpstr>经典网络解析——GoogLeNet</vt:lpstr>
      <vt:lpstr>经典网络解析——GoogLeNet</vt:lpstr>
      <vt:lpstr>PowerPoint 演示文稿</vt:lpstr>
      <vt:lpstr>PowerPoint 演示文稿</vt:lpstr>
      <vt:lpstr>经典网络解析——GoogLeNet</vt:lpstr>
      <vt:lpstr>经典网络解析——GoogLeNet</vt:lpstr>
      <vt:lpstr>经典网络解析——GoogLeNet</vt:lpstr>
      <vt:lpstr>经典网络解析——GoogLeNet</vt:lpstr>
      <vt:lpstr>经典网络解析——GoogLeNet</vt:lpstr>
      <vt:lpstr>PowerPoint 演示文稿</vt:lpstr>
      <vt:lpstr>经典网络解析——GoogLeNet</vt:lpstr>
      <vt:lpstr>经典网络解析——GoogLeNet</vt:lpstr>
      <vt:lpstr>经典网络解析——GoogLeNet</vt:lpstr>
      <vt:lpstr>问题1:平均池化向量化与直接展开向量化有什么区别？</vt:lpstr>
      <vt:lpstr>问题1:平均池化向量化与直接展开向量化有什么区别？</vt:lpstr>
      <vt:lpstr>问题1:平均池化向量化与直接展开向量化有什么区别？</vt:lpstr>
      <vt:lpstr>PowerPoint 演示文稿</vt:lpstr>
      <vt:lpstr>PowerPoint 演示文稿</vt:lpstr>
      <vt:lpstr>PowerPoint 演示文稿</vt:lpstr>
      <vt:lpstr>问题2:利用1x1卷积进行压缩会损失信息吗？</vt:lpstr>
      <vt:lpstr>问题2:利用1x1卷积进行压缩会损失信息吗？</vt:lpstr>
      <vt:lpstr>ResNet</vt:lpstr>
      <vt:lpstr>ImageNet大赛历年冠军</vt:lpstr>
      <vt:lpstr>PowerPoint 演示文稿</vt:lpstr>
      <vt:lpstr>PowerPoint 演示文稿</vt:lpstr>
      <vt:lpstr>经典网络解析——ResNet</vt:lpstr>
      <vt:lpstr>经典网络解析——ResNet</vt:lpstr>
      <vt:lpstr>经典网络解析——ResNet</vt:lpstr>
      <vt:lpstr>ImageNet大赛历年冠军</vt:lpstr>
      <vt:lpstr>ImageNet大赛历年冠军</vt:lpstr>
      <vt:lpstr>PowerPoint 演示文稿</vt:lpstr>
      <vt:lpstr>经典网络解析——ResNet</vt:lpstr>
      <vt:lpstr>经典网络解析——ResNet</vt:lpstr>
      <vt:lpstr>问题1:平均池化向量化与直接展开向量化有什么区别？</vt:lpstr>
      <vt:lpstr>经典网络解析——ResNet</vt:lpstr>
      <vt:lpstr>经典网络解析——ResNet</vt:lpstr>
      <vt:lpstr>经典网络解析——ResNet</vt:lpstr>
      <vt:lpstr>经典网络解析——ResNet</vt:lpstr>
      <vt:lpstr>经典网络解析——ResNet</vt:lpstr>
      <vt:lpstr>经典网络解析——ResNet</vt:lpstr>
      <vt:lpstr>经典网络解析——ResNet</vt:lpstr>
      <vt:lpstr>PowerPoint 演示文稿</vt:lpstr>
      <vt:lpstr>残差模 块组成</vt:lpstr>
      <vt:lpstr>残差模块 重复堆叠 次数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经典网络解析——ResNet</vt:lpstr>
      <vt:lpstr>PowerPoint 演示文稿</vt:lpstr>
      <vt:lpstr>PowerPoint 演示文稿</vt:lpstr>
      <vt:lpstr>PowerPoint 演示文稿</vt:lpstr>
      <vt:lpstr>PowerPoint 演示文稿</vt:lpstr>
      <vt:lpstr>问题：为什么残差网络性能这么好？</vt:lpstr>
      <vt:lpstr>问题：为什么残差网络性能这么好？</vt:lpstr>
      <vt:lpstr>问题：为什么残差网络性能这么好？</vt:lpstr>
      <vt:lpstr>PowerPoint 演示文稿</vt:lpstr>
      <vt:lpstr>PowerPoint 演示文稿</vt:lpstr>
      <vt:lpstr>本章小结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 Introduction to “Computer Vision”</dc:title>
  <dc:creator>lu peng</dc:creator>
  <cp:lastModifiedBy>到处走走HJF</cp:lastModifiedBy>
  <cp:revision>8</cp:revision>
  <dcterms:created xsi:type="dcterms:W3CDTF">2020-12-15T01:02:00Z</dcterms:created>
  <dcterms:modified xsi:type="dcterms:W3CDTF">2024-04-22T09:37:50Z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2020-04-28T08:00:00Z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2020-12-15T08:00:00Z</vt:filetime>
  </property>
  <property fmtid="{D5CDD505-2E9C-101B-9397-08002B2CF9AE}" pid="5" name="ICV">
    <vt:lpwstr>562989A826894662BAA9F24D1BE35F0E_12</vt:lpwstr>
  </property>
  <property fmtid="{D5CDD505-2E9C-101B-9397-08002B2CF9AE}" pid="6" name="KSOProductBuildVer">
    <vt:lpwstr>2052-12.1.0.16729</vt:lpwstr>
  </property>
</Properties>
</file>