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6045200" cy="3460750"/>
  <p:notesSz cx="6045200" cy="346075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209" d="100"/>
          <a:sy n="209" d="100"/>
        </p:scale>
        <p:origin x="828" y="1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1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7920" y="107072"/>
            <a:ext cx="4135708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49660" y="1919205"/>
            <a:ext cx="3352229" cy="464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2577" y="795972"/>
            <a:ext cx="2632424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16548" y="795972"/>
            <a:ext cx="2632424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3219609"/>
            <a:ext cx="6048375" cy="218440"/>
          </a:xfrm>
          <a:custGeom>
            <a:avLst/>
            <a:gdLst/>
            <a:ahLst/>
            <a:cxnLst/>
            <a:rect l="l" t="t" r="r" b="b"/>
            <a:pathLst>
              <a:path w="6048375" h="218439">
                <a:moveTo>
                  <a:pt x="0" y="217931"/>
                </a:moveTo>
                <a:lnTo>
                  <a:pt x="0" y="0"/>
                </a:lnTo>
                <a:lnTo>
                  <a:pt x="6048000" y="0"/>
                </a:lnTo>
                <a:lnTo>
                  <a:pt x="6048000" y="217931"/>
                </a:lnTo>
                <a:lnTo>
                  <a:pt x="0" y="21793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3213513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3219609"/>
            <a:ext cx="6048375" cy="218440"/>
          </a:xfrm>
          <a:custGeom>
            <a:avLst/>
            <a:gdLst/>
            <a:ahLst/>
            <a:cxnLst/>
            <a:rect l="l" t="t" r="r" b="b"/>
            <a:pathLst>
              <a:path w="6048375" h="218439">
                <a:moveTo>
                  <a:pt x="0" y="217931"/>
                </a:moveTo>
                <a:lnTo>
                  <a:pt x="0" y="0"/>
                </a:lnTo>
                <a:lnTo>
                  <a:pt x="6048000" y="0"/>
                </a:lnTo>
                <a:lnTo>
                  <a:pt x="6048000" y="217931"/>
                </a:lnTo>
                <a:lnTo>
                  <a:pt x="0" y="21793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3213513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39220" y="1225632"/>
            <a:ext cx="277310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9461" y="1306482"/>
            <a:ext cx="4132627" cy="88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57527" y="3218497"/>
            <a:ext cx="1936496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2577" y="3218497"/>
            <a:ext cx="1391856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57116" y="3218497"/>
            <a:ext cx="1391856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5.jpe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9990" y="1249972"/>
            <a:ext cx="1141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图像分类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9660" y="1919205"/>
            <a:ext cx="3255010" cy="45529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85"/>
              </a:spcBef>
            </a:pPr>
            <a:r>
              <a:rPr lang="zh-CN" altLang="en-US" sz="1200" b="1">
                <a:latin typeface="微软雅黑" panose="020B0503020204020204" charset="-122"/>
                <a:cs typeface="微软雅黑" panose="020B0503020204020204" charset="-122"/>
              </a:rPr>
              <a:t>赵亚</a:t>
            </a:r>
            <a:r>
              <a:rPr lang="zh-CN" altLang="en-US" sz="1200" b="1" smtClean="0">
                <a:latin typeface="微软雅黑" panose="020B0503020204020204" charset="-122"/>
                <a:cs typeface="微软雅黑" panose="020B0503020204020204" charset="-122"/>
              </a:rPr>
              <a:t>凤</a:t>
            </a:r>
            <a:endParaRPr sz="1200" b="1" smtClean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lang="zh-CN" altLang="en-US" sz="1200" b="1" smtClean="0">
                <a:latin typeface="微软雅黑" panose="020B0503020204020204" charset="-122"/>
                <a:cs typeface="微软雅黑" panose="020B0503020204020204" charset="-122"/>
              </a:rPr>
              <a:t>东北林业大学</a:t>
            </a:r>
            <a:r>
              <a:rPr sz="1200" b="1" spc="300" smtClean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 smtClean="0">
                <a:latin typeface="微软雅黑" panose="020B0503020204020204" charset="-122"/>
                <a:cs typeface="微软雅黑" panose="020B0503020204020204" charset="-122"/>
              </a:rPr>
              <a:t>计算机与控制</a:t>
            </a:r>
            <a:r>
              <a:rPr lang="zh-CN" altLang="en-US" sz="1200" b="1" smtClean="0">
                <a:latin typeface="微软雅黑" panose="020B0503020204020204" charset="-122"/>
                <a:cs typeface="微软雅黑" panose="020B0503020204020204" charset="-122"/>
              </a:rPr>
              <a:t>工程学院</a:t>
            </a:r>
            <a:endParaRPr sz="1200" b="1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19609"/>
            <a:ext cx="6048375" cy="218440"/>
          </a:xfrm>
          <a:custGeom>
            <a:avLst/>
            <a:gdLst/>
            <a:ahLst/>
            <a:cxnLst/>
            <a:rect l="l" t="t" r="r" b="b"/>
            <a:pathLst>
              <a:path w="6048375" h="218439">
                <a:moveTo>
                  <a:pt x="0" y="217931"/>
                </a:moveTo>
                <a:lnTo>
                  <a:pt x="0" y="0"/>
                </a:lnTo>
                <a:lnTo>
                  <a:pt x="6048000" y="0"/>
                </a:lnTo>
                <a:lnTo>
                  <a:pt x="6048000" y="217931"/>
                </a:lnTo>
                <a:lnTo>
                  <a:pt x="0" y="21793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213513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2380" y="112760"/>
            <a:ext cx="1141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图像分类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761360" y="789421"/>
            <a:ext cx="3666490" cy="1690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7051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什么是图像分类任务，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它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有哪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些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应用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场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合？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图像分类任务有哪些难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点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基于规则的方法是否可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行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什么是数据驱动的图像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分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类范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式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常用的分类任务评价指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标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是什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么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2380" y="107073"/>
            <a:ext cx="1141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图像分类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761360" y="783683"/>
            <a:ext cx="3666490" cy="169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7051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什么是图像分类任务，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它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有哪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些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应用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场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合？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80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图像分类任务有哪些难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点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基于规则的方法是否可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行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什么是数据驱动的图像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分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类范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式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常用的分类任务评价指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标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是什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么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5704" y="112760"/>
            <a:ext cx="28143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什么是图像分类任务？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616699" y="1182663"/>
            <a:ext cx="47040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微软雅黑" panose="020B0503020204020204" charset="-122"/>
                <a:cs typeface="微软雅黑" panose="020B0503020204020204" charset="-122"/>
              </a:rPr>
              <a:t>图像分类任务是计算机视觉中的核心任务，其目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18415">
              <a:lnSpc>
                <a:spcPct val="200000"/>
              </a:lnSpc>
            </a:pPr>
            <a:r>
              <a:rPr sz="1600" spc="-5" dirty="0">
                <a:latin typeface="微软雅黑" panose="020B0503020204020204" charset="-122"/>
                <a:cs typeface="微软雅黑" panose="020B0503020204020204" charset="-122"/>
              </a:rPr>
              <a:t>标是</a:t>
            </a:r>
            <a:r>
              <a:rPr sz="16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根据图像</a:t>
            </a:r>
            <a:r>
              <a:rPr sz="1600" spc="-5" dirty="0">
                <a:latin typeface="微软雅黑" panose="020B0503020204020204" charset="-122"/>
                <a:cs typeface="微软雅黑" panose="020B0503020204020204" charset="-122"/>
              </a:rPr>
              <a:t>信息中所反映的不同</a:t>
            </a:r>
            <a:r>
              <a:rPr sz="16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特征</a:t>
            </a:r>
            <a:r>
              <a:rPr sz="1600" spc="5" dirty="0"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把</a:t>
            </a:r>
            <a:r>
              <a:rPr sz="1600" spc="-5" dirty="0">
                <a:latin typeface="微软雅黑" panose="020B0503020204020204" charset="-122"/>
                <a:cs typeface="微软雅黑" panose="020B0503020204020204" charset="-122"/>
              </a:rPr>
              <a:t>不</a:t>
            </a:r>
            <a:r>
              <a:rPr sz="1600" spc="5" dirty="0">
                <a:latin typeface="微软雅黑" panose="020B0503020204020204" charset="-122"/>
                <a:cs typeface="微软雅黑" panose="020B0503020204020204" charset="-122"/>
              </a:rPr>
              <a:t>同</a:t>
            </a:r>
            <a:r>
              <a:rPr sz="1600" spc="-5" dirty="0">
                <a:latin typeface="微软雅黑" panose="020B0503020204020204" charset="-122"/>
                <a:cs typeface="微软雅黑" panose="020B0503020204020204" charset="-122"/>
              </a:rPr>
              <a:t>类别 的</a:t>
            </a:r>
            <a:r>
              <a:rPr sz="16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图像区分</a:t>
            </a:r>
            <a:r>
              <a:rPr sz="1600" spc="-5" dirty="0">
                <a:latin typeface="微软雅黑" panose="020B0503020204020204" charset="-122"/>
                <a:cs typeface="微软雅黑" panose="020B0503020204020204" charset="-122"/>
              </a:rPr>
              <a:t>开来。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44019" y="1945111"/>
            <a:ext cx="2286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微软雅黑" panose="020B0503020204020204" charset="-122"/>
                <a:cs typeface="微软雅黑" panose="020B0503020204020204" charset="-122"/>
              </a:rPr>
              <a:t>狗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05616" y="1651413"/>
            <a:ext cx="1199387" cy="117043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2499" y="663325"/>
            <a:ext cx="5891530" cy="724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图像分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类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：从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已知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的类别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标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签集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合中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为给定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输入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图片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选定一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类别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标签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1385570">
              <a:lnSpc>
                <a:spcPct val="100000"/>
              </a:lnSpc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标签:</a:t>
            </a:r>
            <a:r>
              <a:rPr sz="1400" spc="-2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latin typeface="微软雅黑" panose="020B0503020204020204" charset="-122"/>
                <a:cs typeface="微软雅黑" panose="020B0503020204020204" charset="-122"/>
              </a:rPr>
              <a:t>{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狗，猫，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卡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，飞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机</a:t>
            </a:r>
            <a:r>
              <a:rPr sz="1400" spc="-5" dirty="0">
                <a:latin typeface="微软雅黑" panose="020B0503020204020204" charset="-122"/>
                <a:cs typeface="微软雅黑" panose="020B0503020204020204" charset="-122"/>
              </a:rPr>
              <a:t>，...}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15704" y="107073"/>
            <a:ext cx="28143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什么是图像分类任务？</a:t>
            </a:r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2973228" y="2104041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876300" y="0"/>
                </a:moveTo>
                <a:lnTo>
                  <a:pt x="876300" y="38100"/>
                </a:lnTo>
                <a:lnTo>
                  <a:pt x="901700" y="25907"/>
                </a:lnTo>
                <a:lnTo>
                  <a:pt x="882396" y="25907"/>
                </a:lnTo>
                <a:lnTo>
                  <a:pt x="882396" y="13715"/>
                </a:lnTo>
                <a:lnTo>
                  <a:pt x="902676" y="13715"/>
                </a:lnTo>
                <a:lnTo>
                  <a:pt x="876300" y="0"/>
                </a:lnTo>
                <a:close/>
              </a:path>
              <a:path w="914400" h="38100">
                <a:moveTo>
                  <a:pt x="876300" y="13715"/>
                </a:moveTo>
                <a:lnTo>
                  <a:pt x="0" y="13715"/>
                </a:lnTo>
                <a:lnTo>
                  <a:pt x="0" y="25907"/>
                </a:lnTo>
                <a:lnTo>
                  <a:pt x="876300" y="25907"/>
                </a:lnTo>
                <a:lnTo>
                  <a:pt x="876300" y="13715"/>
                </a:lnTo>
                <a:close/>
              </a:path>
              <a:path w="914400" h="38100">
                <a:moveTo>
                  <a:pt x="902676" y="13715"/>
                </a:moveTo>
                <a:lnTo>
                  <a:pt x="882396" y="13715"/>
                </a:lnTo>
                <a:lnTo>
                  <a:pt x="882396" y="25907"/>
                </a:lnTo>
                <a:lnTo>
                  <a:pt x="901700" y="25907"/>
                </a:lnTo>
                <a:lnTo>
                  <a:pt x="914400" y="19811"/>
                </a:lnTo>
                <a:lnTo>
                  <a:pt x="902676" y="13715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73228" y="2104041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876300" y="0"/>
                </a:moveTo>
                <a:lnTo>
                  <a:pt x="876300" y="38100"/>
                </a:lnTo>
                <a:lnTo>
                  <a:pt x="901700" y="25907"/>
                </a:lnTo>
                <a:lnTo>
                  <a:pt x="882396" y="25907"/>
                </a:lnTo>
                <a:lnTo>
                  <a:pt x="882396" y="13715"/>
                </a:lnTo>
                <a:lnTo>
                  <a:pt x="902676" y="13715"/>
                </a:lnTo>
                <a:lnTo>
                  <a:pt x="876300" y="0"/>
                </a:lnTo>
                <a:close/>
              </a:path>
              <a:path w="914400" h="38100">
                <a:moveTo>
                  <a:pt x="876300" y="13715"/>
                </a:moveTo>
                <a:lnTo>
                  <a:pt x="0" y="13715"/>
                </a:lnTo>
                <a:lnTo>
                  <a:pt x="0" y="25907"/>
                </a:lnTo>
                <a:lnTo>
                  <a:pt x="876300" y="25907"/>
                </a:lnTo>
                <a:lnTo>
                  <a:pt x="876300" y="13715"/>
                </a:lnTo>
                <a:close/>
              </a:path>
              <a:path w="914400" h="38100">
                <a:moveTo>
                  <a:pt x="902676" y="13715"/>
                </a:moveTo>
                <a:lnTo>
                  <a:pt x="882396" y="13715"/>
                </a:lnTo>
                <a:lnTo>
                  <a:pt x="882396" y="25907"/>
                </a:lnTo>
                <a:lnTo>
                  <a:pt x="901700" y="25907"/>
                </a:lnTo>
                <a:lnTo>
                  <a:pt x="914400" y="19811"/>
                </a:lnTo>
                <a:lnTo>
                  <a:pt x="902676" y="13715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55987" y="112760"/>
            <a:ext cx="25355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它有哪些应用场合？</a:t>
            </a:r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643032" y="799125"/>
            <a:ext cx="2090927" cy="197662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169316" y="941949"/>
            <a:ext cx="235712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绿玉藤</a:t>
            </a:r>
            <a:r>
              <a:rPr sz="1200" b="1" spc="-8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是一种比较稀有的花，只能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1435" algn="just">
              <a:lnSpc>
                <a:spcPct val="200000"/>
              </a:lnSpc>
            </a:pPr>
            <a:r>
              <a:rPr sz="120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在菲律宾雨林中找到，它的颜色是 绿色和蓝色的，被称为玉葡萄，因 为生长的地方被破坏了，只能生长 在指定的土壤中的濒危物种。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55987" y="107073"/>
            <a:ext cx="25355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它有哪些应用场合？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3134264" y="820401"/>
            <a:ext cx="2661920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贝灵顿梗</a:t>
            </a:r>
            <a:r>
              <a:rPr sz="1200" b="1" spc="-8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原产于英国，主要用途是用来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2860" algn="just">
              <a:lnSpc>
                <a:spcPct val="200000"/>
              </a:lnSpc>
            </a:pPr>
            <a:r>
              <a:rPr sz="120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猎取狐狸、野兔和獾的隐藏的猎物。</a:t>
            </a:r>
            <a:r>
              <a:rPr sz="1200" spc="-5" dirty="0">
                <a:latin typeface="微软雅黑" panose="020B0503020204020204" charset="-122"/>
                <a:cs typeface="微软雅黑" panose="020B0503020204020204" charset="-122"/>
              </a:rPr>
              <a:t>18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世纪末到</a:t>
            </a:r>
            <a:r>
              <a:rPr sz="1200" spc="-5" dirty="0">
                <a:latin typeface="微软雅黑" panose="020B0503020204020204" charset="-122"/>
                <a:cs typeface="微软雅黑" panose="020B0503020204020204" charset="-122"/>
              </a:rPr>
              <a:t>1</a:t>
            </a:r>
            <a:r>
              <a:rPr sz="1200" spc="5" dirty="0">
                <a:latin typeface="微软雅黑" panose="020B0503020204020204" charset="-122"/>
                <a:cs typeface="微软雅黑" panose="020B0503020204020204" charset="-122"/>
              </a:rPr>
              <a:t>9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世纪初，由惠比特犬、丹迪 丁蒙梗等犬种交配繁衍而成，经培育改 良成现今如此身高、美丽、快速敏捷的 犬种，并保持原有的活力及耐力性。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7856" y="925989"/>
            <a:ext cx="2505456" cy="159562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2380" y="112760"/>
            <a:ext cx="1141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图像分类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761360" y="789421"/>
            <a:ext cx="3666490" cy="1690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什么是图像分类任务，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它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有哪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些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应用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场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合？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图像分类任务有哪些难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点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基于规则的方法是否可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行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什么是数据驱动的图像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分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类范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式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常用的分类任务评价指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标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是什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么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8203" y="107073"/>
            <a:ext cx="36512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图像分类任务有哪些难点呢？</a:t>
            </a:r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8781" y="3014455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们看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7830" y="3011419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器看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35577" y="961122"/>
            <a:ext cx="1956992" cy="196742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6808" y="951525"/>
            <a:ext cx="1490471" cy="1996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26715" y="3067853"/>
            <a:ext cx="8128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Arial" panose="020B0604020202020204"/>
                <a:cs typeface="Arial" panose="020B0604020202020204"/>
              </a:rPr>
              <a:t>Source: S.</a:t>
            </a:r>
            <a:r>
              <a:rPr sz="6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600" spc="-5" dirty="0">
                <a:latin typeface="Arial" panose="020B0604020202020204"/>
                <a:cs typeface="Arial" panose="020B0604020202020204"/>
              </a:rPr>
              <a:t>Narasimhan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6770" y="92971"/>
            <a:ext cx="3398520" cy="77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0705">
              <a:lnSpc>
                <a:spcPct val="100000"/>
              </a:lnSpc>
              <a:spcBef>
                <a:spcPts val="100"/>
              </a:spcBef>
            </a:pPr>
            <a:r>
              <a:rPr sz="1750" b="1" dirty="0">
                <a:latin typeface="微软雅黑" panose="020B0503020204020204" charset="-122"/>
                <a:cs typeface="微软雅黑" panose="020B0503020204020204" charset="-122"/>
              </a:rPr>
              <a:t>语义鸿沟</a:t>
            </a:r>
            <a:endParaRPr sz="175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84785" indent="-172085">
              <a:lnSpc>
                <a:spcPct val="100000"/>
              </a:lnSpc>
              <a:buFont typeface="Arial" panose="020B0604020202020204"/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跨越“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语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义鸿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沟”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建立像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素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到语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义的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映射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1272" y="107073"/>
            <a:ext cx="5835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视角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9920" y="808641"/>
            <a:ext cx="3957828" cy="16322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33579" y="2649201"/>
            <a:ext cx="1549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Michelangelo</a:t>
            </a:r>
            <a:r>
              <a:rPr sz="12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spc="-5" dirty="0">
                <a:latin typeface="Calibri" panose="020F0502020204030204"/>
                <a:cs typeface="Calibri" panose="020F0502020204030204"/>
              </a:rPr>
              <a:t>1475-1564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87654" y="3063625"/>
            <a:ext cx="751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Source</a:t>
            </a:r>
            <a:r>
              <a:rPr sz="700" spc="-1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S.</a:t>
            </a:r>
            <a:r>
              <a:rPr sz="7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Lazebnik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0568" y="914949"/>
            <a:ext cx="4567428" cy="177850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31272" y="112760"/>
            <a:ext cx="5835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光照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2851" y="3061796"/>
            <a:ext cx="7931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Source: </a:t>
            </a:r>
            <a:r>
              <a:rPr sz="700" spc="-5" dirty="0">
                <a:latin typeface="Calibri" panose="020F0502020204030204"/>
                <a:cs typeface="Calibri" panose="020F0502020204030204"/>
              </a:rPr>
              <a:t>J.</a:t>
            </a:r>
            <a:r>
              <a:rPr sz="7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Koenderink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092" y="519081"/>
            <a:ext cx="1464748" cy="260340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32945" y="107073"/>
            <a:ext cx="5835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尺度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9157" y="3065216"/>
            <a:ext cx="7524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Source</a:t>
            </a:r>
            <a:r>
              <a:rPr sz="700" spc="-1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S.</a:t>
            </a:r>
            <a:r>
              <a:rPr sz="7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Lazebnik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3175" y="1149645"/>
            <a:ext cx="1123188" cy="104393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88367" y="1149645"/>
            <a:ext cx="1467611" cy="10439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87984" y="1155741"/>
            <a:ext cx="1374648" cy="10317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31272" y="112760"/>
            <a:ext cx="5835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遮挡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9452" y="3069398"/>
            <a:ext cx="6731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Source</a:t>
            </a:r>
            <a:r>
              <a:rPr sz="700" spc="-1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Fei-Fei Li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2740" y="1156113"/>
            <a:ext cx="1118616" cy="119024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07695" y="1156113"/>
            <a:ext cx="999744" cy="11902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64695" y="1156113"/>
            <a:ext cx="1089659" cy="11902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44015" y="1156113"/>
            <a:ext cx="1136903" cy="11902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31272" y="107073"/>
            <a:ext cx="5835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形变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9452" y="3063625"/>
            <a:ext cx="6731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Source</a:t>
            </a:r>
            <a:r>
              <a:rPr sz="700" spc="-1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Fei-Fei Li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19688" y="669585"/>
            <a:ext cx="3409188" cy="227380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52380" y="112760"/>
            <a:ext cx="1141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背景杂波</a:t>
            </a:r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60836" y="1925733"/>
            <a:ext cx="818388" cy="104394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8652" y="717201"/>
            <a:ext cx="1277112" cy="941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93780" y="654717"/>
            <a:ext cx="989076" cy="1078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12979" y="2062893"/>
            <a:ext cx="1199388" cy="8869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51635" y="1908969"/>
            <a:ext cx="1043939" cy="10622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03835" y="720249"/>
            <a:ext cx="1008888" cy="9753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352380" y="107073"/>
            <a:ext cx="1141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类内形变</a:t>
            </a:r>
            <a:endParaRPr sz="2200"/>
          </a:p>
        </p:txBody>
      </p:sp>
      <p:sp>
        <p:nvSpPr>
          <p:cNvPr id="10" name="object 10"/>
          <p:cNvSpPr txBox="1"/>
          <p:nvPr/>
        </p:nvSpPr>
        <p:spPr>
          <a:xfrm>
            <a:off x="5266340" y="3013361"/>
            <a:ext cx="698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Source:</a:t>
            </a:r>
            <a:r>
              <a:rPr sz="9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Fei-Fei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25556" y="687873"/>
            <a:ext cx="3665220" cy="23926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52380" y="112760"/>
            <a:ext cx="1141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运动模糊</a:t>
            </a:r>
            <a:endParaRPr sz="2200"/>
          </a:p>
        </p:txBody>
      </p:sp>
      <p:sp>
        <p:nvSpPr>
          <p:cNvPr id="5" name="object 5"/>
          <p:cNvSpPr txBox="1"/>
          <p:nvPr/>
        </p:nvSpPr>
        <p:spPr>
          <a:xfrm>
            <a:off x="5287654" y="3069398"/>
            <a:ext cx="751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Source</a:t>
            </a:r>
            <a:r>
              <a:rPr sz="700" spc="-1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S.</a:t>
            </a:r>
            <a:r>
              <a:rPr sz="7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Lazebnik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04447" y="477933"/>
            <a:ext cx="3617976" cy="27188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84864" y="1268889"/>
            <a:ext cx="3022600" cy="1209040"/>
          </a:xfrm>
          <a:custGeom>
            <a:avLst/>
            <a:gdLst/>
            <a:ahLst/>
            <a:cxnLst/>
            <a:rect l="l" t="t" r="r" b="b"/>
            <a:pathLst>
              <a:path w="3022600" h="1209039">
                <a:moveTo>
                  <a:pt x="2897124" y="0"/>
                </a:moveTo>
                <a:lnTo>
                  <a:pt x="0" y="669035"/>
                </a:lnTo>
                <a:lnTo>
                  <a:pt x="124968" y="1208531"/>
                </a:lnTo>
                <a:lnTo>
                  <a:pt x="3022091" y="539495"/>
                </a:lnTo>
                <a:lnTo>
                  <a:pt x="28971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66220" y="1454817"/>
            <a:ext cx="2699004" cy="769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54053" y="107073"/>
            <a:ext cx="1141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类别繁多</a:t>
            </a:r>
            <a:endParaRPr sz="2200"/>
          </a:p>
        </p:txBody>
      </p:sp>
      <p:sp>
        <p:nvSpPr>
          <p:cNvPr id="7" name="object 7"/>
          <p:cNvSpPr txBox="1"/>
          <p:nvPr/>
        </p:nvSpPr>
        <p:spPr>
          <a:xfrm>
            <a:off x="5341043" y="3065216"/>
            <a:ext cx="6731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Source</a:t>
            </a:r>
            <a:r>
              <a:rPr sz="700" spc="-1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Fei-Fei Li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2380" y="112760"/>
            <a:ext cx="1141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图像分类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761360" y="789421"/>
            <a:ext cx="3666490" cy="1690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什么是图像分类任务，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它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有哪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些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应用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场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合？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图像分类任务有哪些难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点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基于规则的方法是否可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行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什么是数据驱动的图像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分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类范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式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常用的分类任务评价指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标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是什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么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7920" y="107072"/>
            <a:ext cx="39300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基于规则的分类方法是否可行？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76372" y="2039553"/>
            <a:ext cx="256032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0" spc="30" dirty="0">
                <a:latin typeface="Microsoft YaHei UI Light" panose="020B0502040204020203" charset="-122"/>
                <a:cs typeface="Microsoft YaHei UI Light" panose="020B0502040204020203" charset="-122"/>
              </a:rPr>
              <a:t>通过</a:t>
            </a:r>
            <a:r>
              <a:rPr sz="1300" b="1" spc="40" dirty="0">
                <a:latin typeface="Microsoft YaHei UI" panose="020B0503020204020204" charset="-122"/>
                <a:cs typeface="Microsoft YaHei UI" panose="020B0503020204020204" charset="-122"/>
              </a:rPr>
              <a:t>硬</a:t>
            </a:r>
            <a:r>
              <a:rPr sz="1300" b="1" spc="30" dirty="0">
                <a:latin typeface="Microsoft YaHei UI" panose="020B0503020204020204" charset="-122"/>
                <a:cs typeface="Microsoft YaHei UI" panose="020B0503020204020204" charset="-122"/>
              </a:rPr>
              <a:t>编码</a:t>
            </a:r>
            <a:r>
              <a:rPr sz="1300" b="0" spc="30" dirty="0">
                <a:latin typeface="Microsoft YaHei UI Light" panose="020B0502040204020203" charset="-122"/>
                <a:cs typeface="Microsoft YaHei UI Light" panose="020B0502040204020203" charset="-122"/>
              </a:rPr>
              <a:t>的方</a:t>
            </a:r>
            <a:r>
              <a:rPr sz="1300" b="0" spc="15" dirty="0">
                <a:latin typeface="Microsoft YaHei UI Light" panose="020B0502040204020203" charset="-122"/>
                <a:cs typeface="Microsoft YaHei UI Light" panose="020B0502040204020203" charset="-122"/>
              </a:rPr>
              <a:t>法</a:t>
            </a:r>
            <a:r>
              <a:rPr sz="1300" b="0" spc="30" dirty="0">
                <a:latin typeface="Microsoft YaHei UI Light" panose="020B0502040204020203" charset="-122"/>
                <a:cs typeface="Microsoft YaHei UI Light" panose="020B0502040204020203" charset="-122"/>
              </a:rPr>
              <a:t>识</a:t>
            </a:r>
            <a:r>
              <a:rPr sz="1300" b="0" spc="15" dirty="0">
                <a:latin typeface="Microsoft YaHei UI Light" panose="020B0502040204020203" charset="-122"/>
                <a:cs typeface="Microsoft YaHei UI Light" panose="020B0502040204020203" charset="-122"/>
              </a:rPr>
              <a:t>别</a:t>
            </a:r>
            <a:r>
              <a:rPr sz="1300" b="0" spc="30" dirty="0">
                <a:latin typeface="Microsoft YaHei UI Light" panose="020B0502040204020203" charset="-122"/>
                <a:cs typeface="Microsoft YaHei UI Light" panose="020B0502040204020203" charset="-122"/>
              </a:rPr>
              <a:t>猫或</a:t>
            </a:r>
            <a:r>
              <a:rPr sz="1300" b="0" spc="15" dirty="0">
                <a:latin typeface="Microsoft YaHei UI Light" panose="020B0502040204020203" charset="-122"/>
                <a:cs typeface="Microsoft YaHei UI Light" panose="020B0502040204020203" charset="-122"/>
              </a:rPr>
              <a:t>其</a:t>
            </a:r>
            <a:r>
              <a:rPr sz="1300" b="0" spc="30" dirty="0">
                <a:latin typeface="Microsoft YaHei UI Light" panose="020B0502040204020203" charset="-122"/>
                <a:cs typeface="Microsoft YaHei UI Light" panose="020B0502040204020203" charset="-122"/>
              </a:rPr>
              <a:t>他类</a:t>
            </a:r>
            <a:endParaRPr sz="1300">
              <a:latin typeface="Microsoft YaHei UI Light" panose="020B0502040204020203" charset="-122"/>
              <a:cs typeface="Microsoft YaHei UI Light" panose="020B0502040204020203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77053" y="1020056"/>
            <a:ext cx="2486781" cy="48337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2255" y="647759"/>
            <a:ext cx="1493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微软雅黑" panose="020B0503020204020204" charset="-122"/>
                <a:cs typeface="微软雅黑" panose="020B0503020204020204" charset="-122"/>
              </a:rPr>
              <a:t>已经做过的尝试: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3096" y="1122213"/>
            <a:ext cx="1275588" cy="176936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409348" y="1122213"/>
            <a:ext cx="1275588" cy="1769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68683" y="2007657"/>
            <a:ext cx="632460" cy="0"/>
          </a:xfrm>
          <a:custGeom>
            <a:avLst/>
            <a:gdLst/>
            <a:ahLst/>
            <a:cxnLst/>
            <a:rect l="l" t="t" r="r" b="b"/>
            <a:pathLst>
              <a:path w="632460">
                <a:moveTo>
                  <a:pt x="0" y="0"/>
                </a:moveTo>
                <a:lnTo>
                  <a:pt x="632459" y="0"/>
                </a:lnTo>
              </a:path>
            </a:pathLst>
          </a:custGeom>
          <a:ln w="13715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94285" y="1970319"/>
            <a:ext cx="94487" cy="731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76476" y="1992417"/>
            <a:ext cx="131445" cy="131445"/>
          </a:xfrm>
          <a:custGeom>
            <a:avLst/>
            <a:gdLst/>
            <a:ahLst/>
            <a:cxnLst/>
            <a:rect l="l" t="t" r="r" b="b"/>
            <a:pathLst>
              <a:path w="131445" h="131444">
                <a:moveTo>
                  <a:pt x="0" y="0"/>
                </a:moveTo>
                <a:lnTo>
                  <a:pt x="131063" y="131063"/>
                </a:lnTo>
              </a:path>
            </a:pathLst>
          </a:custGeom>
          <a:ln w="1828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95347" y="199546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491" y="0"/>
                </a:moveTo>
                <a:lnTo>
                  <a:pt x="0" y="126491"/>
                </a:lnTo>
              </a:path>
            </a:pathLst>
          </a:custGeom>
          <a:ln w="1828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98396" y="1937553"/>
            <a:ext cx="0" cy="186055"/>
          </a:xfrm>
          <a:custGeom>
            <a:avLst/>
            <a:gdLst/>
            <a:ahLst/>
            <a:cxnLst/>
            <a:rect l="l" t="t" r="r" b="b"/>
            <a:pathLst>
              <a:path h="186055">
                <a:moveTo>
                  <a:pt x="0" y="0"/>
                </a:moveTo>
                <a:lnTo>
                  <a:pt x="0" y="185927"/>
                </a:lnTo>
              </a:path>
            </a:pathLst>
          </a:custGeom>
          <a:ln w="4571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72003" y="1937553"/>
            <a:ext cx="129539" cy="131445"/>
          </a:xfrm>
          <a:custGeom>
            <a:avLst/>
            <a:gdLst/>
            <a:ahLst/>
            <a:cxnLst/>
            <a:rect l="l" t="t" r="r" b="b"/>
            <a:pathLst>
              <a:path w="129539" h="131444">
                <a:moveTo>
                  <a:pt x="129539" y="131063"/>
                </a:moveTo>
                <a:lnTo>
                  <a:pt x="0" y="0"/>
                </a:lnTo>
              </a:path>
            </a:pathLst>
          </a:custGeom>
          <a:ln w="1828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57703" y="193907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126491"/>
                </a:moveTo>
                <a:lnTo>
                  <a:pt x="126491" y="0"/>
                </a:lnTo>
              </a:path>
            </a:pathLst>
          </a:custGeom>
          <a:ln w="1828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79623" y="1937553"/>
            <a:ext cx="0" cy="186055"/>
          </a:xfrm>
          <a:custGeom>
            <a:avLst/>
            <a:gdLst/>
            <a:ahLst/>
            <a:cxnLst/>
            <a:rect l="l" t="t" r="r" b="b"/>
            <a:pathLst>
              <a:path h="186055">
                <a:moveTo>
                  <a:pt x="0" y="185927"/>
                </a:moveTo>
                <a:lnTo>
                  <a:pt x="0" y="0"/>
                </a:lnTo>
              </a:path>
            </a:pathLst>
          </a:custGeom>
          <a:ln w="4571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46808" y="1908597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9539" y="0"/>
                </a:moveTo>
                <a:lnTo>
                  <a:pt x="0" y="129539"/>
                </a:lnTo>
              </a:path>
            </a:pathLst>
          </a:custGeom>
          <a:ln w="1828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48332" y="202594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6491" y="126491"/>
                </a:moveTo>
                <a:lnTo>
                  <a:pt x="0" y="0"/>
                </a:lnTo>
              </a:path>
            </a:pathLst>
          </a:custGeom>
          <a:ln w="1828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46808" y="2030517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4">
                <a:moveTo>
                  <a:pt x="185927" y="0"/>
                </a:moveTo>
                <a:lnTo>
                  <a:pt x="0" y="0"/>
                </a:lnTo>
              </a:path>
            </a:pathLst>
          </a:custGeom>
          <a:ln w="4571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682900" y="2022897"/>
            <a:ext cx="131445" cy="129539"/>
          </a:xfrm>
          <a:custGeom>
            <a:avLst/>
            <a:gdLst/>
            <a:ahLst/>
            <a:cxnLst/>
            <a:rect l="l" t="t" r="r" b="b"/>
            <a:pathLst>
              <a:path w="131445" h="129539">
                <a:moveTo>
                  <a:pt x="0" y="129539"/>
                </a:moveTo>
                <a:lnTo>
                  <a:pt x="131063" y="0"/>
                </a:lnTo>
              </a:path>
            </a:pathLst>
          </a:custGeom>
          <a:ln w="1828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84423" y="19085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0"/>
                </a:moveTo>
                <a:lnTo>
                  <a:pt x="126491" y="126491"/>
                </a:lnTo>
              </a:path>
            </a:pathLst>
          </a:custGeom>
          <a:ln w="1828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626511" y="2030517"/>
            <a:ext cx="187960" cy="0"/>
          </a:xfrm>
          <a:custGeom>
            <a:avLst/>
            <a:gdLst/>
            <a:ahLst/>
            <a:cxnLst/>
            <a:rect l="l" t="t" r="r" b="b"/>
            <a:pathLst>
              <a:path w="187960">
                <a:moveTo>
                  <a:pt x="0" y="0"/>
                </a:moveTo>
                <a:lnTo>
                  <a:pt x="187451" y="0"/>
                </a:lnTo>
              </a:path>
            </a:pathLst>
          </a:custGeom>
          <a:ln w="4571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739763" y="1770912"/>
            <a:ext cx="531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 Unicode MS"/>
                <a:cs typeface="Arial Unicode MS"/>
              </a:rPr>
              <a:t>边缘检测</a:t>
            </a:r>
            <a:endParaRPr sz="10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684935" y="2030517"/>
            <a:ext cx="632460" cy="0"/>
          </a:xfrm>
          <a:custGeom>
            <a:avLst/>
            <a:gdLst/>
            <a:ahLst/>
            <a:cxnLst/>
            <a:rect l="l" t="t" r="r" b="b"/>
            <a:pathLst>
              <a:path w="632460">
                <a:moveTo>
                  <a:pt x="0" y="0"/>
                </a:moveTo>
                <a:lnTo>
                  <a:pt x="632459" y="0"/>
                </a:lnTo>
              </a:path>
            </a:pathLst>
          </a:custGeom>
          <a:ln w="13715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310538" y="1993179"/>
            <a:ext cx="94487" cy="746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887090" y="1847187"/>
            <a:ext cx="278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 Unicode MS"/>
                <a:cs typeface="Arial Unicode MS"/>
              </a:rPr>
              <a:t>角点</a:t>
            </a:r>
            <a:endParaRPr sz="10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92619" y="2819546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172359" y="2213397"/>
            <a:ext cx="0" cy="472440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439"/>
                </a:lnTo>
              </a:path>
            </a:pathLst>
          </a:custGeom>
          <a:ln w="13715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136546" y="2678979"/>
            <a:ext cx="73151" cy="960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957920" y="112761"/>
            <a:ext cx="39300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基于规则的分类方法是否可行？</a:t>
            </a:r>
            <a:endParaRPr sz="2200"/>
          </a:p>
        </p:txBody>
      </p:sp>
      <p:sp>
        <p:nvSpPr>
          <p:cNvPr id="28" name="object 28"/>
          <p:cNvSpPr txBox="1"/>
          <p:nvPr/>
        </p:nvSpPr>
        <p:spPr>
          <a:xfrm>
            <a:off x="5339452" y="3069398"/>
            <a:ext cx="6731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Source</a:t>
            </a:r>
            <a:r>
              <a:rPr sz="700" spc="-1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Fei-Fei Li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81808" y="32491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94997" y="1144876"/>
            <a:ext cx="403097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645">
              <a:lnSpc>
                <a:spcPct val="100000"/>
              </a:lnSpc>
              <a:spcBef>
                <a:spcPts val="100"/>
              </a:spcBef>
            </a:pPr>
            <a:r>
              <a:rPr sz="2000" b="0" dirty="0">
                <a:latin typeface="Microsoft YaHei UI Light" panose="020B0502040204020203" charset="-122"/>
                <a:cs typeface="Microsoft YaHei UI Light" panose="020B0502040204020203" charset="-122"/>
              </a:rPr>
              <a:t>通过</a:t>
            </a:r>
            <a:r>
              <a:rPr sz="2000" b="0" dirty="0">
                <a:solidFill>
                  <a:srgbClr val="FF0000"/>
                </a:solidFill>
                <a:latin typeface="Microsoft YaHei UI Light" panose="020B0502040204020203" charset="-122"/>
                <a:cs typeface="Microsoft YaHei UI Light" panose="020B0502040204020203" charset="-122"/>
              </a:rPr>
              <a:t>硬编码</a:t>
            </a:r>
            <a:r>
              <a:rPr sz="2000" b="0" spc="-15" dirty="0">
                <a:latin typeface="Microsoft YaHei UI Light" panose="020B0502040204020203" charset="-122"/>
                <a:cs typeface="Microsoft YaHei UI Light" panose="020B0502040204020203" charset="-122"/>
              </a:rPr>
              <a:t>的</a:t>
            </a:r>
            <a:r>
              <a:rPr sz="2000" b="0" dirty="0">
                <a:latin typeface="Microsoft YaHei UI Light" panose="020B0502040204020203" charset="-122"/>
                <a:cs typeface="Microsoft YaHei UI Light" panose="020B0502040204020203" charset="-122"/>
              </a:rPr>
              <a:t>方</a:t>
            </a:r>
            <a:r>
              <a:rPr sz="2000" b="0" spc="-15" dirty="0">
                <a:latin typeface="Microsoft YaHei UI Light" panose="020B0502040204020203" charset="-122"/>
                <a:cs typeface="Microsoft YaHei UI Light" panose="020B0502040204020203" charset="-122"/>
              </a:rPr>
              <a:t>法</a:t>
            </a:r>
            <a:r>
              <a:rPr sz="2000" b="0" dirty="0">
                <a:latin typeface="Microsoft YaHei UI Light" panose="020B0502040204020203" charset="-122"/>
                <a:cs typeface="Microsoft YaHei UI Light" panose="020B0502040204020203" charset="-122"/>
              </a:rPr>
              <a:t>识</a:t>
            </a:r>
            <a:r>
              <a:rPr sz="2000" b="0" spc="-15" dirty="0">
                <a:latin typeface="Microsoft YaHei UI Light" panose="020B0502040204020203" charset="-122"/>
                <a:cs typeface="Microsoft YaHei UI Light" panose="020B0502040204020203" charset="-122"/>
              </a:rPr>
              <a:t>别猫</a:t>
            </a:r>
            <a:r>
              <a:rPr sz="2000" b="0" dirty="0">
                <a:latin typeface="Microsoft YaHei UI Light" panose="020B0502040204020203" charset="-122"/>
                <a:cs typeface="Microsoft YaHei UI Light" panose="020B0502040204020203" charset="-122"/>
              </a:rPr>
              <a:t>或</a:t>
            </a:r>
            <a:r>
              <a:rPr sz="2000" b="0" spc="-15" dirty="0">
                <a:latin typeface="Microsoft YaHei UI Light" panose="020B0502040204020203" charset="-122"/>
                <a:cs typeface="Microsoft YaHei UI Light" panose="020B0502040204020203" charset="-122"/>
              </a:rPr>
              <a:t>其</a:t>
            </a:r>
            <a:r>
              <a:rPr sz="2000" b="0" dirty="0">
                <a:latin typeface="Microsoft YaHei UI Light" panose="020B0502040204020203" charset="-122"/>
                <a:cs typeface="Microsoft YaHei UI Light" panose="020B0502040204020203" charset="-122"/>
              </a:rPr>
              <a:t>他</a:t>
            </a:r>
            <a:endParaRPr sz="2000">
              <a:latin typeface="Microsoft YaHei UI Light" panose="020B0502040204020203" charset="-122"/>
              <a:cs typeface="Microsoft YaHei UI Light" panose="020B0502040204020203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0" dirty="0">
                <a:latin typeface="Microsoft YaHei UI Light" panose="020B0502040204020203" charset="-122"/>
                <a:cs typeface="Microsoft YaHei UI Light" panose="020B0502040204020203" charset="-122"/>
              </a:rPr>
              <a:t>类，是一件</a:t>
            </a:r>
            <a:r>
              <a:rPr sz="2000" b="0" spc="-15" dirty="0">
                <a:solidFill>
                  <a:srgbClr val="FF0000"/>
                </a:solidFill>
                <a:latin typeface="Microsoft YaHei UI Light" panose="020B0502040204020203" charset="-122"/>
                <a:cs typeface="Microsoft YaHei UI Light" panose="020B0502040204020203" charset="-122"/>
              </a:rPr>
              <a:t>很</a:t>
            </a:r>
            <a:r>
              <a:rPr sz="2000" b="0" dirty="0">
                <a:solidFill>
                  <a:srgbClr val="FF0000"/>
                </a:solidFill>
                <a:latin typeface="Microsoft YaHei UI Light" panose="020B0502040204020203" charset="-122"/>
                <a:cs typeface="Microsoft YaHei UI Light" panose="020B0502040204020203" charset="-122"/>
              </a:rPr>
              <a:t>困</a:t>
            </a:r>
            <a:r>
              <a:rPr sz="2000" b="0" spc="-15" dirty="0">
                <a:solidFill>
                  <a:srgbClr val="FF0000"/>
                </a:solidFill>
                <a:latin typeface="Microsoft YaHei UI Light" panose="020B0502040204020203" charset="-122"/>
                <a:cs typeface="Microsoft YaHei UI Light" panose="020B0502040204020203" charset="-122"/>
              </a:rPr>
              <a:t>难</a:t>
            </a:r>
            <a:r>
              <a:rPr sz="2000" b="0" spc="-15" dirty="0">
                <a:latin typeface="Microsoft YaHei UI Light" panose="020B0502040204020203" charset="-122"/>
                <a:cs typeface="Microsoft YaHei UI Light" panose="020B0502040204020203" charset="-122"/>
              </a:rPr>
              <a:t>的</a:t>
            </a:r>
            <a:r>
              <a:rPr sz="2000" b="0" dirty="0">
                <a:latin typeface="Microsoft YaHei UI Light" panose="020B0502040204020203" charset="-122"/>
                <a:cs typeface="Microsoft YaHei UI Light" panose="020B0502040204020203" charset="-122"/>
              </a:rPr>
              <a:t>事。</a:t>
            </a:r>
            <a:endParaRPr sz="2000">
              <a:latin typeface="Microsoft YaHei UI Light" panose="020B0502040204020203" charset="-122"/>
              <a:cs typeface="Microsoft YaHei UI Light" panose="020B0502040204020203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7920" y="107073"/>
            <a:ext cx="39300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基于规则的分类方法是否可行？</a:t>
            </a:r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2380" y="112760"/>
            <a:ext cx="1141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图像分类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761360" y="789421"/>
            <a:ext cx="3666490" cy="1690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什么是图像分类任务，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它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有哪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些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应用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场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合？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图像分类任务有哪些难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点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基于规则的方法是否可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行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什么是数据驱动的图像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分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类范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式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常用的分类任务评价指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标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是什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么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094" y="107072"/>
            <a:ext cx="30937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数据驱动的图像分类方法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037203" y="995514"/>
            <a:ext cx="1772285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32131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34010" algn="l"/>
                <a:tab pos="334645" algn="l"/>
              </a:tabLst>
            </a:pPr>
            <a:r>
              <a:rPr sz="1400" b="0" dirty="0">
                <a:latin typeface="Microsoft YaHei UI Light" panose="020B0502040204020203" charset="-122"/>
                <a:cs typeface="Microsoft YaHei UI Light" panose="020B0502040204020203" charset="-122"/>
              </a:rPr>
              <a:t>数据集构建</a:t>
            </a:r>
            <a:endParaRPr sz="1400">
              <a:latin typeface="Microsoft YaHei UI Light" panose="020B0502040204020203" charset="-122"/>
              <a:cs typeface="Microsoft YaHei UI Light" panose="020B0502040204020203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icrosoft YaHei UI Light" panose="020B0502040204020203" charset="-122"/>
              <a:buAutoNum type="arabicPeriod"/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334010" indent="-321310">
              <a:lnSpc>
                <a:spcPct val="100000"/>
              </a:lnSpc>
              <a:buAutoNum type="arabicPeriod"/>
              <a:tabLst>
                <a:tab pos="334010" algn="l"/>
                <a:tab pos="334645" algn="l"/>
              </a:tabLst>
            </a:pPr>
            <a:r>
              <a:rPr sz="1400" b="0" dirty="0">
                <a:latin typeface="Microsoft YaHei UI Light" panose="020B0502040204020203" charset="-122"/>
                <a:cs typeface="Microsoft YaHei UI Light" panose="020B0502040204020203" charset="-122"/>
              </a:rPr>
              <a:t>分类器设计</a:t>
            </a:r>
            <a:r>
              <a:rPr sz="1400" b="0" spc="-15" dirty="0">
                <a:latin typeface="Microsoft YaHei UI Light" panose="020B0502040204020203" charset="-122"/>
                <a:cs typeface="Microsoft YaHei UI Light" panose="020B0502040204020203" charset="-122"/>
              </a:rPr>
              <a:t>与</a:t>
            </a:r>
            <a:r>
              <a:rPr sz="1400" b="0" dirty="0">
                <a:latin typeface="Microsoft YaHei UI Light" panose="020B0502040204020203" charset="-122"/>
                <a:cs typeface="Microsoft YaHei UI Light" panose="020B0502040204020203" charset="-122"/>
              </a:rPr>
              <a:t>学习</a:t>
            </a:r>
            <a:endParaRPr sz="1400">
              <a:latin typeface="Microsoft YaHei UI Light" panose="020B0502040204020203" charset="-122"/>
              <a:cs typeface="Microsoft YaHei UI Light" panose="020B0502040204020203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icrosoft YaHei UI Light" panose="020B0502040204020203" charset="-122"/>
              <a:buAutoNum type="arabicPeriod"/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363220" indent="-350520">
              <a:lnSpc>
                <a:spcPct val="100000"/>
              </a:lnSpc>
              <a:buAutoNum type="arabicPeriod"/>
              <a:tabLst>
                <a:tab pos="362585" algn="l"/>
                <a:tab pos="363855" algn="l"/>
              </a:tabLst>
            </a:pPr>
            <a:r>
              <a:rPr sz="1400" b="0" dirty="0">
                <a:latin typeface="Microsoft YaHei UI Light" panose="020B0502040204020203" charset="-122"/>
                <a:cs typeface="Microsoft YaHei UI Light" panose="020B0502040204020203" charset="-122"/>
              </a:rPr>
              <a:t>分类器</a:t>
            </a:r>
            <a:r>
              <a:rPr sz="1400" b="0" spc="-15" dirty="0">
                <a:latin typeface="Microsoft YaHei UI Light" panose="020B0502040204020203" charset="-122"/>
                <a:cs typeface="Microsoft YaHei UI Light" panose="020B0502040204020203" charset="-122"/>
              </a:rPr>
              <a:t>决</a:t>
            </a:r>
            <a:r>
              <a:rPr sz="1400" b="0" dirty="0">
                <a:latin typeface="Microsoft YaHei UI Light" panose="020B0502040204020203" charset="-122"/>
                <a:cs typeface="Microsoft YaHei UI Light" panose="020B0502040204020203" charset="-122"/>
              </a:rPr>
              <a:t>策</a:t>
            </a:r>
            <a:endParaRPr sz="1400">
              <a:latin typeface="Microsoft YaHei UI Light" panose="020B0502040204020203" charset="-122"/>
              <a:cs typeface="Microsoft YaHei UI Light" panose="020B0502040204020203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89764" y="1437681"/>
            <a:ext cx="838200" cy="15875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20828" y="1894881"/>
            <a:ext cx="574675" cy="219710"/>
          </a:xfrm>
          <a:custGeom>
            <a:avLst/>
            <a:gdLst/>
            <a:ahLst/>
            <a:cxnLst/>
            <a:rect l="l" t="t" r="r" b="b"/>
            <a:pathLst>
              <a:path w="574675" h="219710">
                <a:moveTo>
                  <a:pt x="0" y="36575"/>
                </a:moveTo>
                <a:lnTo>
                  <a:pt x="2928" y="22502"/>
                </a:lnTo>
                <a:lnTo>
                  <a:pt x="10858" y="10858"/>
                </a:lnTo>
                <a:lnTo>
                  <a:pt x="22502" y="2928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928"/>
                </a:lnTo>
                <a:lnTo>
                  <a:pt x="563689" y="10858"/>
                </a:lnTo>
                <a:lnTo>
                  <a:pt x="571619" y="22502"/>
                </a:lnTo>
                <a:lnTo>
                  <a:pt x="574547" y="36575"/>
                </a:lnTo>
                <a:lnTo>
                  <a:pt x="574547" y="182879"/>
                </a:lnTo>
                <a:lnTo>
                  <a:pt x="571619" y="196953"/>
                </a:lnTo>
                <a:lnTo>
                  <a:pt x="563689" y="208597"/>
                </a:lnTo>
                <a:lnTo>
                  <a:pt x="552045" y="216527"/>
                </a:lnTo>
                <a:lnTo>
                  <a:pt x="537971" y="219455"/>
                </a:lnTo>
                <a:lnTo>
                  <a:pt x="36575" y="219455"/>
                </a:lnTo>
                <a:lnTo>
                  <a:pt x="22502" y="216527"/>
                </a:lnTo>
                <a:lnTo>
                  <a:pt x="10858" y="208597"/>
                </a:lnTo>
                <a:lnTo>
                  <a:pt x="2928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87414" y="1920319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i="1" spc="-40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i="1" spc="-735" baseline="9000" dirty="0">
                <a:latin typeface="Cambria Math" panose="02040503050406030204"/>
                <a:cs typeface="Cambria Math" panose="02040503050406030204"/>
              </a:rPr>
              <a:t>�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66804" y="1910121"/>
            <a:ext cx="574675" cy="219710"/>
          </a:xfrm>
          <a:custGeom>
            <a:avLst/>
            <a:gdLst/>
            <a:ahLst/>
            <a:cxnLst/>
            <a:rect l="l" t="t" r="r" b="b"/>
            <a:pathLst>
              <a:path w="574675" h="219710">
                <a:moveTo>
                  <a:pt x="0" y="36575"/>
                </a:moveTo>
                <a:lnTo>
                  <a:pt x="2928" y="22502"/>
                </a:lnTo>
                <a:lnTo>
                  <a:pt x="10858" y="10858"/>
                </a:lnTo>
                <a:lnTo>
                  <a:pt x="22502" y="2928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928"/>
                </a:lnTo>
                <a:lnTo>
                  <a:pt x="563689" y="10858"/>
                </a:lnTo>
                <a:lnTo>
                  <a:pt x="571619" y="22502"/>
                </a:lnTo>
                <a:lnTo>
                  <a:pt x="574547" y="36575"/>
                </a:lnTo>
                <a:lnTo>
                  <a:pt x="574547" y="182879"/>
                </a:lnTo>
                <a:lnTo>
                  <a:pt x="571619" y="196953"/>
                </a:lnTo>
                <a:lnTo>
                  <a:pt x="563689" y="208597"/>
                </a:lnTo>
                <a:lnTo>
                  <a:pt x="552045" y="216527"/>
                </a:lnTo>
                <a:lnTo>
                  <a:pt x="537971" y="219455"/>
                </a:lnTo>
                <a:lnTo>
                  <a:pt x="36575" y="219455"/>
                </a:lnTo>
                <a:lnTo>
                  <a:pt x="22502" y="216527"/>
                </a:lnTo>
                <a:lnTo>
                  <a:pt x="10858" y="208597"/>
                </a:lnTo>
                <a:lnTo>
                  <a:pt x="2928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933351" y="193403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i="1" spc="8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26923" y="2851953"/>
            <a:ext cx="573405" cy="219710"/>
          </a:xfrm>
          <a:custGeom>
            <a:avLst/>
            <a:gdLst/>
            <a:ahLst/>
            <a:cxnLst/>
            <a:rect l="l" t="t" r="r" b="b"/>
            <a:pathLst>
              <a:path w="573404" h="219710">
                <a:moveTo>
                  <a:pt x="0" y="36575"/>
                </a:moveTo>
                <a:lnTo>
                  <a:pt x="2690" y="22502"/>
                </a:lnTo>
                <a:lnTo>
                  <a:pt x="10096" y="10858"/>
                </a:lnTo>
                <a:lnTo>
                  <a:pt x="21216" y="2928"/>
                </a:lnTo>
                <a:lnTo>
                  <a:pt x="35051" y="0"/>
                </a:lnTo>
                <a:lnTo>
                  <a:pt x="537971" y="0"/>
                </a:lnTo>
                <a:lnTo>
                  <a:pt x="551807" y="2928"/>
                </a:lnTo>
                <a:lnTo>
                  <a:pt x="562927" y="10858"/>
                </a:lnTo>
                <a:lnTo>
                  <a:pt x="570333" y="22502"/>
                </a:lnTo>
                <a:lnTo>
                  <a:pt x="573023" y="36575"/>
                </a:lnTo>
                <a:lnTo>
                  <a:pt x="573023" y="182879"/>
                </a:lnTo>
                <a:lnTo>
                  <a:pt x="570333" y="196953"/>
                </a:lnTo>
                <a:lnTo>
                  <a:pt x="562927" y="208597"/>
                </a:lnTo>
                <a:lnTo>
                  <a:pt x="551807" y="216527"/>
                </a:lnTo>
                <a:lnTo>
                  <a:pt x="537971" y="219455"/>
                </a:lnTo>
                <a:lnTo>
                  <a:pt x="35051" y="219455"/>
                </a:lnTo>
                <a:lnTo>
                  <a:pt x="21216" y="216527"/>
                </a:lnTo>
                <a:lnTo>
                  <a:pt x="10096" y="208597"/>
                </a:lnTo>
                <a:lnTo>
                  <a:pt x="2690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928562" y="2875867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45367" y="1408725"/>
            <a:ext cx="574675" cy="218440"/>
          </a:xfrm>
          <a:custGeom>
            <a:avLst/>
            <a:gdLst/>
            <a:ahLst/>
            <a:cxnLst/>
            <a:rect l="l" t="t" r="r" b="b"/>
            <a:pathLst>
              <a:path w="574675" h="218439">
                <a:moveTo>
                  <a:pt x="0" y="36575"/>
                </a:moveTo>
                <a:lnTo>
                  <a:pt x="2928" y="21859"/>
                </a:lnTo>
                <a:lnTo>
                  <a:pt x="10858" y="10286"/>
                </a:lnTo>
                <a:lnTo>
                  <a:pt x="22502" y="2714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714"/>
                </a:lnTo>
                <a:lnTo>
                  <a:pt x="563689" y="10286"/>
                </a:lnTo>
                <a:lnTo>
                  <a:pt x="571619" y="21859"/>
                </a:lnTo>
                <a:lnTo>
                  <a:pt x="574547" y="36575"/>
                </a:lnTo>
                <a:lnTo>
                  <a:pt x="574547" y="181355"/>
                </a:lnTo>
                <a:lnTo>
                  <a:pt x="571619" y="195429"/>
                </a:lnTo>
                <a:lnTo>
                  <a:pt x="563689" y="207073"/>
                </a:lnTo>
                <a:lnTo>
                  <a:pt x="552045" y="215003"/>
                </a:lnTo>
                <a:lnTo>
                  <a:pt x="537971" y="217931"/>
                </a:lnTo>
                <a:lnTo>
                  <a:pt x="36575" y="217931"/>
                </a:lnTo>
                <a:lnTo>
                  <a:pt x="22502" y="215003"/>
                </a:lnTo>
                <a:lnTo>
                  <a:pt x="10858" y="207073"/>
                </a:lnTo>
                <a:lnTo>
                  <a:pt x="2928" y="195429"/>
                </a:lnTo>
                <a:lnTo>
                  <a:pt x="0" y="181355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90618" y="143111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89051" y="1169457"/>
            <a:ext cx="38100" cy="268605"/>
          </a:xfrm>
          <a:custGeom>
            <a:avLst/>
            <a:gdLst/>
            <a:ahLst/>
            <a:cxnLst/>
            <a:rect l="l" t="t" r="r" b="b"/>
            <a:pathLst>
              <a:path w="38100" h="268605">
                <a:moveTo>
                  <a:pt x="13716" y="230124"/>
                </a:moveTo>
                <a:lnTo>
                  <a:pt x="0" y="230124"/>
                </a:lnTo>
                <a:lnTo>
                  <a:pt x="19812" y="268224"/>
                </a:lnTo>
                <a:lnTo>
                  <a:pt x="34442" y="237744"/>
                </a:lnTo>
                <a:lnTo>
                  <a:pt x="13716" y="237744"/>
                </a:lnTo>
                <a:lnTo>
                  <a:pt x="13716" y="230124"/>
                </a:lnTo>
                <a:close/>
              </a:path>
              <a:path w="38100" h="268605">
                <a:moveTo>
                  <a:pt x="25908" y="0"/>
                </a:moveTo>
                <a:lnTo>
                  <a:pt x="13716" y="0"/>
                </a:lnTo>
                <a:lnTo>
                  <a:pt x="13716" y="237744"/>
                </a:lnTo>
                <a:lnTo>
                  <a:pt x="25908" y="237744"/>
                </a:lnTo>
                <a:lnTo>
                  <a:pt x="25908" y="0"/>
                </a:lnTo>
                <a:close/>
              </a:path>
              <a:path w="38100" h="268605">
                <a:moveTo>
                  <a:pt x="38100" y="230124"/>
                </a:moveTo>
                <a:lnTo>
                  <a:pt x="25908" y="230124"/>
                </a:lnTo>
                <a:lnTo>
                  <a:pt x="25908" y="237744"/>
                </a:lnTo>
                <a:lnTo>
                  <a:pt x="34442" y="237744"/>
                </a:lnTo>
                <a:lnTo>
                  <a:pt x="38100" y="230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89051" y="1596177"/>
            <a:ext cx="38100" cy="299085"/>
          </a:xfrm>
          <a:custGeom>
            <a:avLst/>
            <a:gdLst/>
            <a:ahLst/>
            <a:cxnLst/>
            <a:rect l="l" t="t" r="r" b="b"/>
            <a:pathLst>
              <a:path w="38100" h="299085">
                <a:moveTo>
                  <a:pt x="13716" y="260604"/>
                </a:moveTo>
                <a:lnTo>
                  <a:pt x="0" y="260604"/>
                </a:lnTo>
                <a:lnTo>
                  <a:pt x="19812" y="298704"/>
                </a:lnTo>
                <a:lnTo>
                  <a:pt x="35173" y="266700"/>
                </a:lnTo>
                <a:lnTo>
                  <a:pt x="13716" y="266700"/>
                </a:lnTo>
                <a:lnTo>
                  <a:pt x="13716" y="260604"/>
                </a:lnTo>
                <a:close/>
              </a:path>
              <a:path w="38100" h="299085">
                <a:moveTo>
                  <a:pt x="25908" y="0"/>
                </a:moveTo>
                <a:lnTo>
                  <a:pt x="13716" y="0"/>
                </a:lnTo>
                <a:lnTo>
                  <a:pt x="13716" y="266700"/>
                </a:lnTo>
                <a:lnTo>
                  <a:pt x="25908" y="266700"/>
                </a:lnTo>
                <a:lnTo>
                  <a:pt x="25908" y="0"/>
                </a:lnTo>
                <a:close/>
              </a:path>
              <a:path w="38100" h="299085">
                <a:moveTo>
                  <a:pt x="38100" y="260604"/>
                </a:moveTo>
                <a:lnTo>
                  <a:pt x="25908" y="260604"/>
                </a:lnTo>
                <a:lnTo>
                  <a:pt x="25908" y="266700"/>
                </a:lnTo>
                <a:lnTo>
                  <a:pt x="35173" y="266700"/>
                </a:lnTo>
                <a:lnTo>
                  <a:pt x="38100" y="260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93623" y="2114337"/>
            <a:ext cx="38100" cy="264160"/>
          </a:xfrm>
          <a:custGeom>
            <a:avLst/>
            <a:gdLst/>
            <a:ahLst/>
            <a:cxnLst/>
            <a:rect l="l" t="t" r="r" b="b"/>
            <a:pathLst>
              <a:path w="38100" h="264160">
                <a:moveTo>
                  <a:pt x="12111" y="225552"/>
                </a:moveTo>
                <a:lnTo>
                  <a:pt x="0" y="225552"/>
                </a:lnTo>
                <a:lnTo>
                  <a:pt x="19812" y="263652"/>
                </a:lnTo>
                <a:lnTo>
                  <a:pt x="35173" y="231647"/>
                </a:lnTo>
                <a:lnTo>
                  <a:pt x="12192" y="231647"/>
                </a:lnTo>
                <a:lnTo>
                  <a:pt x="12111" y="225552"/>
                </a:lnTo>
                <a:close/>
              </a:path>
              <a:path w="38100" h="264160">
                <a:moveTo>
                  <a:pt x="21336" y="0"/>
                </a:moveTo>
                <a:lnTo>
                  <a:pt x="9144" y="0"/>
                </a:lnTo>
                <a:lnTo>
                  <a:pt x="12192" y="231647"/>
                </a:lnTo>
                <a:lnTo>
                  <a:pt x="25908" y="231647"/>
                </a:lnTo>
                <a:lnTo>
                  <a:pt x="21336" y="0"/>
                </a:lnTo>
                <a:close/>
              </a:path>
              <a:path w="38100" h="264160">
                <a:moveTo>
                  <a:pt x="38100" y="225552"/>
                </a:moveTo>
                <a:lnTo>
                  <a:pt x="25787" y="225552"/>
                </a:lnTo>
                <a:lnTo>
                  <a:pt x="25908" y="231647"/>
                </a:lnTo>
                <a:lnTo>
                  <a:pt x="35173" y="231647"/>
                </a:lnTo>
                <a:lnTo>
                  <a:pt x="38100" y="2255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48744" y="2121957"/>
            <a:ext cx="546100" cy="329565"/>
          </a:xfrm>
          <a:custGeom>
            <a:avLst/>
            <a:gdLst/>
            <a:ahLst/>
            <a:cxnLst/>
            <a:rect l="l" t="t" r="r" b="b"/>
            <a:pathLst>
              <a:path w="546100" h="329564">
                <a:moveTo>
                  <a:pt x="491048" y="308671"/>
                </a:moveTo>
                <a:lnTo>
                  <a:pt x="481584" y="324612"/>
                </a:lnTo>
                <a:lnTo>
                  <a:pt x="545592" y="329184"/>
                </a:lnTo>
                <a:lnTo>
                  <a:pt x="535577" y="313944"/>
                </a:lnTo>
                <a:lnTo>
                  <a:pt x="499872" y="313944"/>
                </a:lnTo>
                <a:lnTo>
                  <a:pt x="491048" y="308671"/>
                </a:lnTo>
                <a:close/>
              </a:path>
              <a:path w="546100" h="329564">
                <a:moveTo>
                  <a:pt x="500785" y="292272"/>
                </a:moveTo>
                <a:lnTo>
                  <a:pt x="491048" y="308671"/>
                </a:lnTo>
                <a:lnTo>
                  <a:pt x="499872" y="313944"/>
                </a:lnTo>
                <a:lnTo>
                  <a:pt x="509016" y="297180"/>
                </a:lnTo>
                <a:lnTo>
                  <a:pt x="500785" y="292272"/>
                </a:lnTo>
                <a:close/>
              </a:path>
              <a:path w="546100" h="329564">
                <a:moveTo>
                  <a:pt x="510540" y="275844"/>
                </a:moveTo>
                <a:lnTo>
                  <a:pt x="500785" y="292272"/>
                </a:lnTo>
                <a:lnTo>
                  <a:pt x="509016" y="297180"/>
                </a:lnTo>
                <a:lnTo>
                  <a:pt x="499872" y="313944"/>
                </a:lnTo>
                <a:lnTo>
                  <a:pt x="535577" y="313944"/>
                </a:lnTo>
                <a:lnTo>
                  <a:pt x="510540" y="275844"/>
                </a:lnTo>
                <a:close/>
              </a:path>
              <a:path w="546100" h="329564">
                <a:moveTo>
                  <a:pt x="10668" y="0"/>
                </a:moveTo>
                <a:lnTo>
                  <a:pt x="0" y="15239"/>
                </a:lnTo>
                <a:lnTo>
                  <a:pt x="491048" y="308671"/>
                </a:lnTo>
                <a:lnTo>
                  <a:pt x="500785" y="292272"/>
                </a:lnTo>
                <a:lnTo>
                  <a:pt x="1066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93623" y="2530389"/>
            <a:ext cx="38100" cy="321945"/>
          </a:xfrm>
          <a:custGeom>
            <a:avLst/>
            <a:gdLst/>
            <a:ahLst/>
            <a:cxnLst/>
            <a:rect l="l" t="t" r="r" b="b"/>
            <a:pathLst>
              <a:path w="38100" h="321944">
                <a:moveTo>
                  <a:pt x="13716" y="283464"/>
                </a:moveTo>
                <a:lnTo>
                  <a:pt x="0" y="283464"/>
                </a:lnTo>
                <a:lnTo>
                  <a:pt x="19812" y="321564"/>
                </a:lnTo>
                <a:lnTo>
                  <a:pt x="34442" y="291084"/>
                </a:lnTo>
                <a:lnTo>
                  <a:pt x="13716" y="291084"/>
                </a:lnTo>
                <a:lnTo>
                  <a:pt x="13716" y="283464"/>
                </a:lnTo>
                <a:close/>
              </a:path>
              <a:path w="38100" h="321944">
                <a:moveTo>
                  <a:pt x="25908" y="0"/>
                </a:moveTo>
                <a:lnTo>
                  <a:pt x="13716" y="0"/>
                </a:lnTo>
                <a:lnTo>
                  <a:pt x="13716" y="291084"/>
                </a:lnTo>
                <a:lnTo>
                  <a:pt x="25908" y="291084"/>
                </a:lnTo>
                <a:lnTo>
                  <a:pt x="25908" y="0"/>
                </a:lnTo>
                <a:close/>
              </a:path>
              <a:path w="38100" h="321944">
                <a:moveTo>
                  <a:pt x="38100" y="283464"/>
                </a:moveTo>
                <a:lnTo>
                  <a:pt x="25908" y="283464"/>
                </a:lnTo>
                <a:lnTo>
                  <a:pt x="25908" y="291084"/>
                </a:lnTo>
                <a:lnTo>
                  <a:pt x="34442" y="291084"/>
                </a:lnTo>
                <a:lnTo>
                  <a:pt x="38100" y="283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30356" y="2379513"/>
            <a:ext cx="1498600" cy="588645"/>
          </a:xfrm>
          <a:custGeom>
            <a:avLst/>
            <a:gdLst/>
            <a:ahLst/>
            <a:cxnLst/>
            <a:rect l="l" t="t" r="r" b="b"/>
            <a:pathLst>
              <a:path w="1498600" h="588644">
                <a:moveTo>
                  <a:pt x="38162" y="11525"/>
                </a:moveTo>
                <a:lnTo>
                  <a:pt x="33417" y="23650"/>
                </a:lnTo>
                <a:lnTo>
                  <a:pt x="1493520" y="588263"/>
                </a:lnTo>
                <a:lnTo>
                  <a:pt x="1498092" y="576071"/>
                </a:lnTo>
                <a:lnTo>
                  <a:pt x="38162" y="11525"/>
                </a:lnTo>
                <a:close/>
              </a:path>
              <a:path w="1498600" h="588644">
                <a:moveTo>
                  <a:pt x="42671" y="0"/>
                </a:moveTo>
                <a:lnTo>
                  <a:pt x="0" y="3047"/>
                </a:lnTo>
                <a:lnTo>
                  <a:pt x="28956" y="35051"/>
                </a:lnTo>
                <a:lnTo>
                  <a:pt x="33417" y="23650"/>
                </a:lnTo>
                <a:lnTo>
                  <a:pt x="27431" y="21335"/>
                </a:lnTo>
                <a:lnTo>
                  <a:pt x="32003" y="9143"/>
                </a:lnTo>
                <a:lnTo>
                  <a:pt x="39093" y="9143"/>
                </a:lnTo>
                <a:lnTo>
                  <a:pt x="42671" y="0"/>
                </a:lnTo>
                <a:close/>
              </a:path>
              <a:path w="1498600" h="588644">
                <a:moveTo>
                  <a:pt x="32003" y="9143"/>
                </a:moveTo>
                <a:lnTo>
                  <a:pt x="27431" y="21335"/>
                </a:lnTo>
                <a:lnTo>
                  <a:pt x="33417" y="23650"/>
                </a:lnTo>
                <a:lnTo>
                  <a:pt x="38162" y="11525"/>
                </a:lnTo>
                <a:lnTo>
                  <a:pt x="32003" y="9143"/>
                </a:lnTo>
                <a:close/>
              </a:path>
              <a:path w="1498600" h="588644">
                <a:moveTo>
                  <a:pt x="39093" y="9143"/>
                </a:moveTo>
                <a:lnTo>
                  <a:pt x="32003" y="9143"/>
                </a:lnTo>
                <a:lnTo>
                  <a:pt x="38162" y="11525"/>
                </a:lnTo>
                <a:lnTo>
                  <a:pt x="39093" y="9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0544" y="1626657"/>
            <a:ext cx="38100" cy="599440"/>
          </a:xfrm>
          <a:custGeom>
            <a:avLst/>
            <a:gdLst/>
            <a:ahLst/>
            <a:cxnLst/>
            <a:rect l="l" t="t" r="r" b="b"/>
            <a:pathLst>
              <a:path w="38100" h="599439">
                <a:moveTo>
                  <a:pt x="25907" y="32003"/>
                </a:moveTo>
                <a:lnTo>
                  <a:pt x="13715" y="32003"/>
                </a:lnTo>
                <a:lnTo>
                  <a:pt x="13715" y="598932"/>
                </a:lnTo>
                <a:lnTo>
                  <a:pt x="25907" y="598932"/>
                </a:lnTo>
                <a:lnTo>
                  <a:pt x="25907" y="32003"/>
                </a:lnTo>
                <a:close/>
              </a:path>
              <a:path w="38100" h="599439">
                <a:moveTo>
                  <a:pt x="19811" y="0"/>
                </a:moveTo>
                <a:lnTo>
                  <a:pt x="0" y="38100"/>
                </a:lnTo>
                <a:lnTo>
                  <a:pt x="13715" y="38100"/>
                </a:lnTo>
                <a:lnTo>
                  <a:pt x="13715" y="32003"/>
                </a:lnTo>
                <a:lnTo>
                  <a:pt x="35173" y="32003"/>
                </a:lnTo>
                <a:lnTo>
                  <a:pt x="19811" y="0"/>
                </a:lnTo>
                <a:close/>
              </a:path>
              <a:path w="38100" h="599439">
                <a:moveTo>
                  <a:pt x="35173" y="32003"/>
                </a:moveTo>
                <a:lnTo>
                  <a:pt x="25907" y="32003"/>
                </a:lnTo>
                <a:lnTo>
                  <a:pt x="25907" y="38100"/>
                </a:lnTo>
                <a:lnTo>
                  <a:pt x="38099" y="38100"/>
                </a:lnTo>
                <a:lnTo>
                  <a:pt x="35173" y="320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66157" y="1824307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19916" y="1498641"/>
            <a:ext cx="1069975" cy="38100"/>
          </a:xfrm>
          <a:custGeom>
            <a:avLst/>
            <a:gdLst/>
            <a:ahLst/>
            <a:cxnLst/>
            <a:rect l="l" t="t" r="r" b="b"/>
            <a:pathLst>
              <a:path w="1069975" h="38100">
                <a:moveTo>
                  <a:pt x="1031747" y="0"/>
                </a:moveTo>
                <a:lnTo>
                  <a:pt x="1031747" y="38100"/>
                </a:lnTo>
                <a:lnTo>
                  <a:pt x="1055194" y="25908"/>
                </a:lnTo>
                <a:lnTo>
                  <a:pt x="1037844" y="25908"/>
                </a:lnTo>
                <a:lnTo>
                  <a:pt x="1037844" y="12192"/>
                </a:lnTo>
                <a:lnTo>
                  <a:pt x="1057148" y="12192"/>
                </a:lnTo>
                <a:lnTo>
                  <a:pt x="1031747" y="0"/>
                </a:lnTo>
                <a:close/>
              </a:path>
              <a:path w="1069975" h="38100">
                <a:moveTo>
                  <a:pt x="1031747" y="12192"/>
                </a:moveTo>
                <a:lnTo>
                  <a:pt x="0" y="12192"/>
                </a:lnTo>
                <a:lnTo>
                  <a:pt x="0" y="25908"/>
                </a:lnTo>
                <a:lnTo>
                  <a:pt x="1031747" y="25908"/>
                </a:lnTo>
                <a:lnTo>
                  <a:pt x="1031747" y="12192"/>
                </a:lnTo>
                <a:close/>
              </a:path>
              <a:path w="1069975" h="38100">
                <a:moveTo>
                  <a:pt x="1057148" y="12192"/>
                </a:moveTo>
                <a:lnTo>
                  <a:pt x="1037844" y="12192"/>
                </a:lnTo>
                <a:lnTo>
                  <a:pt x="1037844" y="25908"/>
                </a:lnTo>
                <a:lnTo>
                  <a:pt x="1055194" y="25908"/>
                </a:lnTo>
                <a:lnTo>
                  <a:pt x="1069848" y="18288"/>
                </a:lnTo>
                <a:lnTo>
                  <a:pt x="1057148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82956" y="735117"/>
            <a:ext cx="38100" cy="269875"/>
          </a:xfrm>
          <a:custGeom>
            <a:avLst/>
            <a:gdLst/>
            <a:ahLst/>
            <a:cxnLst/>
            <a:rect l="l" t="t" r="r" b="b"/>
            <a:pathLst>
              <a:path w="38100" h="269875">
                <a:moveTo>
                  <a:pt x="13716" y="231648"/>
                </a:moveTo>
                <a:lnTo>
                  <a:pt x="0" y="231648"/>
                </a:lnTo>
                <a:lnTo>
                  <a:pt x="19812" y="269748"/>
                </a:lnTo>
                <a:lnTo>
                  <a:pt x="35173" y="237744"/>
                </a:lnTo>
                <a:lnTo>
                  <a:pt x="13716" y="237744"/>
                </a:lnTo>
                <a:lnTo>
                  <a:pt x="13716" y="231648"/>
                </a:lnTo>
                <a:close/>
              </a:path>
              <a:path w="38100" h="269875">
                <a:moveTo>
                  <a:pt x="25908" y="0"/>
                </a:moveTo>
                <a:lnTo>
                  <a:pt x="13716" y="0"/>
                </a:lnTo>
                <a:lnTo>
                  <a:pt x="13716" y="237744"/>
                </a:lnTo>
                <a:lnTo>
                  <a:pt x="25908" y="237744"/>
                </a:lnTo>
                <a:lnTo>
                  <a:pt x="25908" y="0"/>
                </a:lnTo>
                <a:close/>
              </a:path>
              <a:path w="38100" h="269875">
                <a:moveTo>
                  <a:pt x="38100" y="231648"/>
                </a:moveTo>
                <a:lnTo>
                  <a:pt x="25908" y="231648"/>
                </a:lnTo>
                <a:lnTo>
                  <a:pt x="25908" y="237744"/>
                </a:lnTo>
                <a:lnTo>
                  <a:pt x="35173" y="237744"/>
                </a:lnTo>
                <a:lnTo>
                  <a:pt x="38100" y="2316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861467" y="557863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89764" y="1004865"/>
            <a:ext cx="838200" cy="15748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4335" y="2373417"/>
            <a:ext cx="838200" cy="15748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1256" y="2225589"/>
            <a:ext cx="838200" cy="15748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21611" y="1099353"/>
            <a:ext cx="891540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21611" y="1605321"/>
            <a:ext cx="891540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64284" y="2144817"/>
            <a:ext cx="792480" cy="266700"/>
          </a:xfrm>
          <a:custGeom>
            <a:avLst/>
            <a:gdLst/>
            <a:ahLst/>
            <a:cxnLst/>
            <a:rect l="l" t="t" r="r" b="b"/>
            <a:pathLst>
              <a:path w="792479" h="266700">
                <a:moveTo>
                  <a:pt x="0" y="44195"/>
                </a:moveTo>
                <a:lnTo>
                  <a:pt x="3476" y="27003"/>
                </a:lnTo>
                <a:lnTo>
                  <a:pt x="12953" y="12953"/>
                </a:lnTo>
                <a:lnTo>
                  <a:pt x="27003" y="3476"/>
                </a:lnTo>
                <a:lnTo>
                  <a:pt x="44195" y="0"/>
                </a:lnTo>
                <a:lnTo>
                  <a:pt x="748283" y="0"/>
                </a:lnTo>
                <a:lnTo>
                  <a:pt x="765476" y="3476"/>
                </a:lnTo>
                <a:lnTo>
                  <a:pt x="779525" y="12953"/>
                </a:lnTo>
                <a:lnTo>
                  <a:pt x="789003" y="27003"/>
                </a:lnTo>
                <a:lnTo>
                  <a:pt x="792479" y="44195"/>
                </a:lnTo>
                <a:lnTo>
                  <a:pt x="792479" y="220979"/>
                </a:lnTo>
                <a:lnTo>
                  <a:pt x="789003" y="239053"/>
                </a:lnTo>
                <a:lnTo>
                  <a:pt x="779525" y="253555"/>
                </a:lnTo>
                <a:lnTo>
                  <a:pt x="765476" y="263199"/>
                </a:lnTo>
                <a:lnTo>
                  <a:pt x="748283" y="266699"/>
                </a:lnTo>
                <a:lnTo>
                  <a:pt x="44195" y="266699"/>
                </a:lnTo>
                <a:lnTo>
                  <a:pt x="27003" y="263199"/>
                </a:lnTo>
                <a:lnTo>
                  <a:pt x="12953" y="253555"/>
                </a:lnTo>
                <a:lnTo>
                  <a:pt x="3476" y="239053"/>
                </a:lnTo>
                <a:lnTo>
                  <a:pt x="0" y="220979"/>
                </a:lnTo>
                <a:lnTo>
                  <a:pt x="0" y="4419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658264" y="2194639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类别预测</a:t>
            </a:r>
            <a:r>
              <a:rPr sz="900" spc="-6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i="1" spc="-30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i="1" spc="-457" baseline="9000" dirty="0">
                <a:latin typeface="Cambria Math" panose="02040503050406030204"/>
                <a:cs typeface="Cambria Math" panose="02040503050406030204"/>
              </a:rPr>
              <a:t>�</a:t>
            </a:r>
            <a:r>
              <a:rPr sz="975" i="1" spc="-457" baseline="-17000" dirty="0">
                <a:latin typeface="Cambria Math" panose="02040503050406030204"/>
                <a:cs typeface="Cambria Math" panose="02040503050406030204"/>
              </a:rPr>
              <a:t>i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48332" y="128680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2192" y="280416"/>
                </a:moveTo>
                <a:lnTo>
                  <a:pt x="0" y="280416"/>
                </a:lnTo>
                <a:lnTo>
                  <a:pt x="19812" y="318516"/>
                </a:lnTo>
                <a:lnTo>
                  <a:pt x="35173" y="286512"/>
                </a:lnTo>
                <a:lnTo>
                  <a:pt x="12192" y="286512"/>
                </a:lnTo>
                <a:lnTo>
                  <a:pt x="12192" y="280416"/>
                </a:lnTo>
                <a:close/>
              </a:path>
              <a:path w="38100" h="318769">
                <a:moveTo>
                  <a:pt x="25908" y="0"/>
                </a:moveTo>
                <a:lnTo>
                  <a:pt x="12192" y="0"/>
                </a:lnTo>
                <a:lnTo>
                  <a:pt x="12192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6"/>
                </a:moveTo>
                <a:lnTo>
                  <a:pt x="25908" y="280416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48332" y="1792773"/>
            <a:ext cx="38100" cy="353695"/>
          </a:xfrm>
          <a:custGeom>
            <a:avLst/>
            <a:gdLst/>
            <a:ahLst/>
            <a:cxnLst/>
            <a:rect l="l" t="t" r="r" b="b"/>
            <a:pathLst>
              <a:path w="38100" h="353694">
                <a:moveTo>
                  <a:pt x="12192" y="315468"/>
                </a:moveTo>
                <a:lnTo>
                  <a:pt x="0" y="315468"/>
                </a:lnTo>
                <a:lnTo>
                  <a:pt x="19812" y="353568"/>
                </a:lnTo>
                <a:lnTo>
                  <a:pt x="35173" y="321564"/>
                </a:lnTo>
                <a:lnTo>
                  <a:pt x="12192" y="321564"/>
                </a:lnTo>
                <a:lnTo>
                  <a:pt x="12192" y="315468"/>
                </a:lnTo>
                <a:close/>
              </a:path>
              <a:path w="38100" h="353694">
                <a:moveTo>
                  <a:pt x="25908" y="0"/>
                </a:moveTo>
                <a:lnTo>
                  <a:pt x="12192" y="0"/>
                </a:lnTo>
                <a:lnTo>
                  <a:pt x="12192" y="321564"/>
                </a:lnTo>
                <a:lnTo>
                  <a:pt x="25908" y="321564"/>
                </a:lnTo>
                <a:lnTo>
                  <a:pt x="25908" y="0"/>
                </a:lnTo>
                <a:close/>
              </a:path>
              <a:path w="38100" h="353694">
                <a:moveTo>
                  <a:pt x="38100" y="315468"/>
                </a:moveTo>
                <a:lnTo>
                  <a:pt x="25908" y="315468"/>
                </a:lnTo>
                <a:lnTo>
                  <a:pt x="25908" y="321564"/>
                </a:lnTo>
                <a:lnTo>
                  <a:pt x="35173" y="321564"/>
                </a:lnTo>
                <a:lnTo>
                  <a:pt x="38100" y="315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942235" y="780837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2192" y="280416"/>
                </a:moveTo>
                <a:lnTo>
                  <a:pt x="0" y="280416"/>
                </a:lnTo>
                <a:lnTo>
                  <a:pt x="18288" y="318516"/>
                </a:lnTo>
                <a:lnTo>
                  <a:pt x="34930" y="286512"/>
                </a:lnTo>
                <a:lnTo>
                  <a:pt x="12192" y="286512"/>
                </a:lnTo>
                <a:lnTo>
                  <a:pt x="12192" y="280416"/>
                </a:lnTo>
                <a:close/>
              </a:path>
              <a:path w="38100" h="318769">
                <a:moveTo>
                  <a:pt x="24384" y="0"/>
                </a:moveTo>
                <a:lnTo>
                  <a:pt x="12192" y="0"/>
                </a:lnTo>
                <a:lnTo>
                  <a:pt x="12192" y="286512"/>
                </a:lnTo>
                <a:lnTo>
                  <a:pt x="24384" y="286512"/>
                </a:lnTo>
                <a:lnTo>
                  <a:pt x="24384" y="0"/>
                </a:lnTo>
                <a:close/>
              </a:path>
              <a:path w="38100" h="318769">
                <a:moveTo>
                  <a:pt x="38100" y="280416"/>
                </a:moveTo>
                <a:lnTo>
                  <a:pt x="24384" y="280416"/>
                </a:lnTo>
                <a:lnTo>
                  <a:pt x="24384" y="286512"/>
                </a:lnTo>
                <a:lnTo>
                  <a:pt x="34930" y="286512"/>
                </a:lnTo>
                <a:lnTo>
                  <a:pt x="38100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708556" y="600497"/>
            <a:ext cx="5810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i="1" spc="2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975" i="1" spc="75" baseline="-17000" dirty="0">
                <a:latin typeface="Cambria Math" panose="02040503050406030204"/>
                <a:cs typeface="Cambria Math" panose="02040503050406030204"/>
              </a:rPr>
              <a:t>i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094891" y="630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5" y="0"/>
                </a:moveTo>
                <a:lnTo>
                  <a:pt x="0" y="0"/>
                </a:lnTo>
                <a:lnTo>
                  <a:pt x="0" y="56388"/>
                </a:lnTo>
                <a:lnTo>
                  <a:pt x="13715" y="56388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094891" y="16209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5" y="0"/>
                </a:moveTo>
                <a:lnTo>
                  <a:pt x="0" y="0"/>
                </a:lnTo>
                <a:lnTo>
                  <a:pt x="0" y="57911"/>
                </a:lnTo>
                <a:lnTo>
                  <a:pt x="13715" y="57911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94891" y="26267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5" y="0"/>
                </a:moveTo>
                <a:lnTo>
                  <a:pt x="0" y="0"/>
                </a:lnTo>
                <a:lnTo>
                  <a:pt x="0" y="57911"/>
                </a:lnTo>
                <a:lnTo>
                  <a:pt x="13715" y="57911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094891" y="36326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5" y="0"/>
                </a:moveTo>
                <a:lnTo>
                  <a:pt x="0" y="0"/>
                </a:lnTo>
                <a:lnTo>
                  <a:pt x="0" y="56388"/>
                </a:lnTo>
                <a:lnTo>
                  <a:pt x="13715" y="56388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094891" y="462321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5" y="0"/>
                </a:moveTo>
                <a:lnTo>
                  <a:pt x="0" y="0"/>
                </a:lnTo>
                <a:lnTo>
                  <a:pt x="0" y="57912"/>
                </a:lnTo>
                <a:lnTo>
                  <a:pt x="13715" y="57912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094891" y="56290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5" y="0"/>
                </a:moveTo>
                <a:lnTo>
                  <a:pt x="0" y="0"/>
                </a:lnTo>
                <a:lnTo>
                  <a:pt x="0" y="56387"/>
                </a:lnTo>
                <a:lnTo>
                  <a:pt x="13715" y="56387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094891" y="66348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5" y="0"/>
                </a:moveTo>
                <a:lnTo>
                  <a:pt x="0" y="0"/>
                </a:lnTo>
                <a:lnTo>
                  <a:pt x="0" y="56388"/>
                </a:lnTo>
                <a:lnTo>
                  <a:pt x="13715" y="56388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094891" y="76254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5" y="0"/>
                </a:moveTo>
                <a:lnTo>
                  <a:pt x="0" y="0"/>
                </a:lnTo>
                <a:lnTo>
                  <a:pt x="0" y="57912"/>
                </a:lnTo>
                <a:lnTo>
                  <a:pt x="13715" y="57912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094891" y="8631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5" y="0"/>
                </a:moveTo>
                <a:lnTo>
                  <a:pt x="0" y="0"/>
                </a:lnTo>
                <a:lnTo>
                  <a:pt x="0" y="56388"/>
                </a:lnTo>
                <a:lnTo>
                  <a:pt x="13715" y="56388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094891" y="96219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5" y="0"/>
                </a:moveTo>
                <a:lnTo>
                  <a:pt x="0" y="0"/>
                </a:lnTo>
                <a:lnTo>
                  <a:pt x="0" y="57911"/>
                </a:lnTo>
                <a:lnTo>
                  <a:pt x="13715" y="57911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094891" y="106277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5" y="0"/>
                </a:moveTo>
                <a:lnTo>
                  <a:pt x="0" y="0"/>
                </a:lnTo>
                <a:lnTo>
                  <a:pt x="0" y="57911"/>
                </a:lnTo>
                <a:lnTo>
                  <a:pt x="13715" y="57911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094891" y="116336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5" y="0"/>
                </a:moveTo>
                <a:lnTo>
                  <a:pt x="0" y="0"/>
                </a:lnTo>
                <a:lnTo>
                  <a:pt x="0" y="56388"/>
                </a:lnTo>
                <a:lnTo>
                  <a:pt x="13715" y="56388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094891" y="1262421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5" y="0"/>
                </a:moveTo>
                <a:lnTo>
                  <a:pt x="0" y="0"/>
                </a:lnTo>
                <a:lnTo>
                  <a:pt x="0" y="57912"/>
                </a:lnTo>
                <a:lnTo>
                  <a:pt x="13715" y="57912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094891" y="136300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5" y="0"/>
                </a:moveTo>
                <a:lnTo>
                  <a:pt x="0" y="0"/>
                </a:lnTo>
                <a:lnTo>
                  <a:pt x="0" y="56387"/>
                </a:lnTo>
                <a:lnTo>
                  <a:pt x="13715" y="56387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94891" y="146358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5" y="0"/>
                </a:moveTo>
                <a:lnTo>
                  <a:pt x="0" y="0"/>
                </a:lnTo>
                <a:lnTo>
                  <a:pt x="0" y="56388"/>
                </a:lnTo>
                <a:lnTo>
                  <a:pt x="13715" y="56388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094891" y="156264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5" y="0"/>
                </a:moveTo>
                <a:lnTo>
                  <a:pt x="0" y="0"/>
                </a:lnTo>
                <a:lnTo>
                  <a:pt x="0" y="57912"/>
                </a:lnTo>
                <a:lnTo>
                  <a:pt x="13715" y="57912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094891" y="16632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5" y="0"/>
                </a:moveTo>
                <a:lnTo>
                  <a:pt x="0" y="0"/>
                </a:lnTo>
                <a:lnTo>
                  <a:pt x="0" y="56388"/>
                </a:lnTo>
                <a:lnTo>
                  <a:pt x="13715" y="56388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094891" y="176229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5" y="0"/>
                </a:moveTo>
                <a:lnTo>
                  <a:pt x="0" y="0"/>
                </a:lnTo>
                <a:lnTo>
                  <a:pt x="0" y="57911"/>
                </a:lnTo>
                <a:lnTo>
                  <a:pt x="13715" y="57911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094891" y="186287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5" y="0"/>
                </a:moveTo>
                <a:lnTo>
                  <a:pt x="0" y="0"/>
                </a:lnTo>
                <a:lnTo>
                  <a:pt x="0" y="57912"/>
                </a:lnTo>
                <a:lnTo>
                  <a:pt x="13715" y="57912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94891" y="196346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5" y="0"/>
                </a:moveTo>
                <a:lnTo>
                  <a:pt x="0" y="0"/>
                </a:lnTo>
                <a:lnTo>
                  <a:pt x="0" y="56387"/>
                </a:lnTo>
                <a:lnTo>
                  <a:pt x="13715" y="56387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094891" y="2062521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5" y="0"/>
                </a:moveTo>
                <a:lnTo>
                  <a:pt x="0" y="0"/>
                </a:lnTo>
                <a:lnTo>
                  <a:pt x="0" y="57912"/>
                </a:lnTo>
                <a:lnTo>
                  <a:pt x="13715" y="57912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094891" y="216310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5" y="0"/>
                </a:moveTo>
                <a:lnTo>
                  <a:pt x="0" y="0"/>
                </a:lnTo>
                <a:lnTo>
                  <a:pt x="0" y="56388"/>
                </a:lnTo>
                <a:lnTo>
                  <a:pt x="13715" y="56388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094891" y="226368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5" y="0"/>
                </a:moveTo>
                <a:lnTo>
                  <a:pt x="0" y="0"/>
                </a:lnTo>
                <a:lnTo>
                  <a:pt x="0" y="56387"/>
                </a:lnTo>
                <a:lnTo>
                  <a:pt x="13715" y="56387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094891" y="236274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5" y="0"/>
                </a:moveTo>
                <a:lnTo>
                  <a:pt x="0" y="0"/>
                </a:lnTo>
                <a:lnTo>
                  <a:pt x="0" y="57911"/>
                </a:lnTo>
                <a:lnTo>
                  <a:pt x="13715" y="57911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094891" y="24633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5" y="0"/>
                </a:moveTo>
                <a:lnTo>
                  <a:pt x="0" y="0"/>
                </a:lnTo>
                <a:lnTo>
                  <a:pt x="0" y="56388"/>
                </a:lnTo>
                <a:lnTo>
                  <a:pt x="13715" y="56388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094891" y="256239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5" y="0"/>
                </a:moveTo>
                <a:lnTo>
                  <a:pt x="0" y="0"/>
                </a:lnTo>
                <a:lnTo>
                  <a:pt x="0" y="57911"/>
                </a:lnTo>
                <a:lnTo>
                  <a:pt x="13715" y="57911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094891" y="266297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5" y="0"/>
                </a:moveTo>
                <a:lnTo>
                  <a:pt x="0" y="0"/>
                </a:lnTo>
                <a:lnTo>
                  <a:pt x="0" y="57912"/>
                </a:lnTo>
                <a:lnTo>
                  <a:pt x="13715" y="57912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094891" y="276356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5" y="0"/>
                </a:moveTo>
                <a:lnTo>
                  <a:pt x="0" y="0"/>
                </a:lnTo>
                <a:lnTo>
                  <a:pt x="0" y="56387"/>
                </a:lnTo>
                <a:lnTo>
                  <a:pt x="13715" y="56387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094891" y="2862621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5" y="0"/>
                </a:moveTo>
                <a:lnTo>
                  <a:pt x="0" y="0"/>
                </a:lnTo>
                <a:lnTo>
                  <a:pt x="0" y="57912"/>
                </a:lnTo>
                <a:lnTo>
                  <a:pt x="13715" y="57912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094891" y="296320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5" y="0"/>
                </a:moveTo>
                <a:lnTo>
                  <a:pt x="0" y="0"/>
                </a:lnTo>
                <a:lnTo>
                  <a:pt x="0" y="56388"/>
                </a:lnTo>
                <a:lnTo>
                  <a:pt x="13715" y="56388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094891" y="306378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5" y="0"/>
                </a:moveTo>
                <a:lnTo>
                  <a:pt x="0" y="0"/>
                </a:lnTo>
                <a:lnTo>
                  <a:pt x="0" y="56387"/>
                </a:lnTo>
                <a:lnTo>
                  <a:pt x="13715" y="56387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094891" y="316284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5" y="0"/>
                </a:moveTo>
                <a:lnTo>
                  <a:pt x="0" y="0"/>
                </a:lnTo>
                <a:lnTo>
                  <a:pt x="0" y="57911"/>
                </a:lnTo>
                <a:lnTo>
                  <a:pt x="13715" y="57911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094891" y="32634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5" y="0"/>
                </a:moveTo>
                <a:lnTo>
                  <a:pt x="0" y="0"/>
                </a:lnTo>
                <a:lnTo>
                  <a:pt x="0" y="56388"/>
                </a:lnTo>
                <a:lnTo>
                  <a:pt x="13715" y="56388"/>
                </a:lnTo>
                <a:lnTo>
                  <a:pt x="13715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>
            <a:spLocks noGrp="1"/>
          </p:cNvSpPr>
          <p:nvPr>
            <p:ph type="title"/>
          </p:nvPr>
        </p:nvSpPr>
        <p:spPr>
          <a:xfrm>
            <a:off x="1143941" y="112761"/>
            <a:ext cx="22567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分类器设计与学习</a:t>
            </a:r>
            <a:endParaRPr sz="2200"/>
          </a:p>
        </p:txBody>
      </p:sp>
      <p:sp>
        <p:nvSpPr>
          <p:cNvPr id="68" name="object 68"/>
          <p:cNvSpPr txBox="1"/>
          <p:nvPr/>
        </p:nvSpPr>
        <p:spPr>
          <a:xfrm>
            <a:off x="4684631" y="99675"/>
            <a:ext cx="628874" cy="35394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决策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89763" y="1431957"/>
            <a:ext cx="838200" cy="15875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20828" y="1889156"/>
            <a:ext cx="574675" cy="219710"/>
          </a:xfrm>
          <a:custGeom>
            <a:avLst/>
            <a:gdLst/>
            <a:ahLst/>
            <a:cxnLst/>
            <a:rect l="l" t="t" r="r" b="b"/>
            <a:pathLst>
              <a:path w="574675" h="219710">
                <a:moveTo>
                  <a:pt x="0" y="36575"/>
                </a:moveTo>
                <a:lnTo>
                  <a:pt x="2928" y="22502"/>
                </a:lnTo>
                <a:lnTo>
                  <a:pt x="10858" y="10858"/>
                </a:lnTo>
                <a:lnTo>
                  <a:pt x="22502" y="2928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928"/>
                </a:lnTo>
                <a:lnTo>
                  <a:pt x="563689" y="10858"/>
                </a:lnTo>
                <a:lnTo>
                  <a:pt x="571619" y="22502"/>
                </a:lnTo>
                <a:lnTo>
                  <a:pt x="574547" y="36575"/>
                </a:lnTo>
                <a:lnTo>
                  <a:pt x="574547" y="182879"/>
                </a:lnTo>
                <a:lnTo>
                  <a:pt x="571619" y="196953"/>
                </a:lnTo>
                <a:lnTo>
                  <a:pt x="563689" y="208597"/>
                </a:lnTo>
                <a:lnTo>
                  <a:pt x="552045" y="216527"/>
                </a:lnTo>
                <a:lnTo>
                  <a:pt x="537971" y="219455"/>
                </a:lnTo>
                <a:lnTo>
                  <a:pt x="36575" y="219455"/>
                </a:lnTo>
                <a:lnTo>
                  <a:pt x="22502" y="216527"/>
                </a:lnTo>
                <a:lnTo>
                  <a:pt x="10858" y="208597"/>
                </a:lnTo>
                <a:lnTo>
                  <a:pt x="2928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87414" y="1914595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spc="-40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spc="-735" baseline="9000" dirty="0">
                <a:latin typeface="Cambria Math" panose="02040503050406030204"/>
                <a:cs typeface="Cambria Math" panose="02040503050406030204"/>
              </a:rPr>
              <a:t>�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66803" y="1904397"/>
            <a:ext cx="574675" cy="219710"/>
          </a:xfrm>
          <a:custGeom>
            <a:avLst/>
            <a:gdLst/>
            <a:ahLst/>
            <a:cxnLst/>
            <a:rect l="l" t="t" r="r" b="b"/>
            <a:pathLst>
              <a:path w="574675" h="219710">
                <a:moveTo>
                  <a:pt x="0" y="36575"/>
                </a:moveTo>
                <a:lnTo>
                  <a:pt x="2928" y="22502"/>
                </a:lnTo>
                <a:lnTo>
                  <a:pt x="10858" y="10858"/>
                </a:lnTo>
                <a:lnTo>
                  <a:pt x="22502" y="2928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928"/>
                </a:lnTo>
                <a:lnTo>
                  <a:pt x="563689" y="10858"/>
                </a:lnTo>
                <a:lnTo>
                  <a:pt x="571619" y="22502"/>
                </a:lnTo>
                <a:lnTo>
                  <a:pt x="574547" y="36575"/>
                </a:lnTo>
                <a:lnTo>
                  <a:pt x="574547" y="182879"/>
                </a:lnTo>
                <a:lnTo>
                  <a:pt x="571619" y="196953"/>
                </a:lnTo>
                <a:lnTo>
                  <a:pt x="563689" y="208597"/>
                </a:lnTo>
                <a:lnTo>
                  <a:pt x="552045" y="216527"/>
                </a:lnTo>
                <a:lnTo>
                  <a:pt x="537971" y="219455"/>
                </a:lnTo>
                <a:lnTo>
                  <a:pt x="36575" y="219455"/>
                </a:lnTo>
                <a:lnTo>
                  <a:pt x="22502" y="216527"/>
                </a:lnTo>
                <a:lnTo>
                  <a:pt x="10858" y="208597"/>
                </a:lnTo>
                <a:lnTo>
                  <a:pt x="2928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933351" y="1928310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spc="8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26923" y="2846228"/>
            <a:ext cx="573405" cy="219710"/>
          </a:xfrm>
          <a:custGeom>
            <a:avLst/>
            <a:gdLst/>
            <a:ahLst/>
            <a:cxnLst/>
            <a:rect l="l" t="t" r="r" b="b"/>
            <a:pathLst>
              <a:path w="573404" h="219710">
                <a:moveTo>
                  <a:pt x="0" y="36575"/>
                </a:moveTo>
                <a:lnTo>
                  <a:pt x="2690" y="22502"/>
                </a:lnTo>
                <a:lnTo>
                  <a:pt x="10096" y="10858"/>
                </a:lnTo>
                <a:lnTo>
                  <a:pt x="21216" y="2928"/>
                </a:lnTo>
                <a:lnTo>
                  <a:pt x="35051" y="0"/>
                </a:lnTo>
                <a:lnTo>
                  <a:pt x="537971" y="0"/>
                </a:lnTo>
                <a:lnTo>
                  <a:pt x="551807" y="2928"/>
                </a:lnTo>
                <a:lnTo>
                  <a:pt x="562927" y="10858"/>
                </a:lnTo>
                <a:lnTo>
                  <a:pt x="570333" y="22502"/>
                </a:lnTo>
                <a:lnTo>
                  <a:pt x="573023" y="36575"/>
                </a:lnTo>
                <a:lnTo>
                  <a:pt x="573023" y="182879"/>
                </a:lnTo>
                <a:lnTo>
                  <a:pt x="570333" y="196953"/>
                </a:lnTo>
                <a:lnTo>
                  <a:pt x="562927" y="208597"/>
                </a:lnTo>
                <a:lnTo>
                  <a:pt x="551807" y="216527"/>
                </a:lnTo>
                <a:lnTo>
                  <a:pt x="537971" y="219455"/>
                </a:lnTo>
                <a:lnTo>
                  <a:pt x="35051" y="219455"/>
                </a:lnTo>
                <a:lnTo>
                  <a:pt x="21216" y="216527"/>
                </a:lnTo>
                <a:lnTo>
                  <a:pt x="10096" y="208597"/>
                </a:lnTo>
                <a:lnTo>
                  <a:pt x="2690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928562" y="2870143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45367" y="1403001"/>
            <a:ext cx="574675" cy="218440"/>
          </a:xfrm>
          <a:custGeom>
            <a:avLst/>
            <a:gdLst/>
            <a:ahLst/>
            <a:cxnLst/>
            <a:rect l="l" t="t" r="r" b="b"/>
            <a:pathLst>
              <a:path w="574675" h="218440">
                <a:moveTo>
                  <a:pt x="0" y="36575"/>
                </a:moveTo>
                <a:lnTo>
                  <a:pt x="2928" y="21859"/>
                </a:lnTo>
                <a:lnTo>
                  <a:pt x="10858" y="10286"/>
                </a:lnTo>
                <a:lnTo>
                  <a:pt x="22502" y="2714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714"/>
                </a:lnTo>
                <a:lnTo>
                  <a:pt x="563689" y="10286"/>
                </a:lnTo>
                <a:lnTo>
                  <a:pt x="571619" y="21859"/>
                </a:lnTo>
                <a:lnTo>
                  <a:pt x="574547" y="36575"/>
                </a:lnTo>
                <a:lnTo>
                  <a:pt x="574547" y="181355"/>
                </a:lnTo>
                <a:lnTo>
                  <a:pt x="571619" y="195429"/>
                </a:lnTo>
                <a:lnTo>
                  <a:pt x="563689" y="207073"/>
                </a:lnTo>
                <a:lnTo>
                  <a:pt x="552045" y="215003"/>
                </a:lnTo>
                <a:lnTo>
                  <a:pt x="537971" y="217931"/>
                </a:lnTo>
                <a:lnTo>
                  <a:pt x="36575" y="217931"/>
                </a:lnTo>
                <a:lnTo>
                  <a:pt x="22502" y="215003"/>
                </a:lnTo>
                <a:lnTo>
                  <a:pt x="10858" y="207073"/>
                </a:lnTo>
                <a:lnTo>
                  <a:pt x="2928" y="195429"/>
                </a:lnTo>
                <a:lnTo>
                  <a:pt x="0" y="181355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90618" y="142539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89051" y="1163733"/>
            <a:ext cx="38100" cy="268605"/>
          </a:xfrm>
          <a:custGeom>
            <a:avLst/>
            <a:gdLst/>
            <a:ahLst/>
            <a:cxnLst/>
            <a:rect l="l" t="t" r="r" b="b"/>
            <a:pathLst>
              <a:path w="38100" h="268605">
                <a:moveTo>
                  <a:pt x="13715" y="230124"/>
                </a:moveTo>
                <a:lnTo>
                  <a:pt x="0" y="230124"/>
                </a:lnTo>
                <a:lnTo>
                  <a:pt x="19812" y="268224"/>
                </a:lnTo>
                <a:lnTo>
                  <a:pt x="34442" y="237744"/>
                </a:lnTo>
                <a:lnTo>
                  <a:pt x="13715" y="237744"/>
                </a:lnTo>
                <a:lnTo>
                  <a:pt x="13715" y="230124"/>
                </a:lnTo>
                <a:close/>
              </a:path>
              <a:path w="38100" h="268605">
                <a:moveTo>
                  <a:pt x="25908" y="0"/>
                </a:moveTo>
                <a:lnTo>
                  <a:pt x="13715" y="0"/>
                </a:lnTo>
                <a:lnTo>
                  <a:pt x="13715" y="237744"/>
                </a:lnTo>
                <a:lnTo>
                  <a:pt x="25908" y="237744"/>
                </a:lnTo>
                <a:lnTo>
                  <a:pt x="25908" y="0"/>
                </a:lnTo>
                <a:close/>
              </a:path>
              <a:path w="38100" h="268605">
                <a:moveTo>
                  <a:pt x="38100" y="230124"/>
                </a:moveTo>
                <a:lnTo>
                  <a:pt x="25908" y="230124"/>
                </a:lnTo>
                <a:lnTo>
                  <a:pt x="25908" y="237744"/>
                </a:lnTo>
                <a:lnTo>
                  <a:pt x="34442" y="237744"/>
                </a:lnTo>
                <a:lnTo>
                  <a:pt x="38100" y="230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89051" y="1590453"/>
            <a:ext cx="38100" cy="299085"/>
          </a:xfrm>
          <a:custGeom>
            <a:avLst/>
            <a:gdLst/>
            <a:ahLst/>
            <a:cxnLst/>
            <a:rect l="l" t="t" r="r" b="b"/>
            <a:pathLst>
              <a:path w="38100" h="299085">
                <a:moveTo>
                  <a:pt x="13715" y="260603"/>
                </a:moveTo>
                <a:lnTo>
                  <a:pt x="0" y="260603"/>
                </a:lnTo>
                <a:lnTo>
                  <a:pt x="19812" y="298703"/>
                </a:lnTo>
                <a:lnTo>
                  <a:pt x="35173" y="266700"/>
                </a:lnTo>
                <a:lnTo>
                  <a:pt x="13715" y="266700"/>
                </a:lnTo>
                <a:lnTo>
                  <a:pt x="13715" y="260603"/>
                </a:lnTo>
                <a:close/>
              </a:path>
              <a:path w="38100" h="299085">
                <a:moveTo>
                  <a:pt x="25908" y="0"/>
                </a:moveTo>
                <a:lnTo>
                  <a:pt x="13715" y="0"/>
                </a:lnTo>
                <a:lnTo>
                  <a:pt x="13715" y="266700"/>
                </a:lnTo>
                <a:lnTo>
                  <a:pt x="25908" y="266700"/>
                </a:lnTo>
                <a:lnTo>
                  <a:pt x="25908" y="0"/>
                </a:lnTo>
                <a:close/>
              </a:path>
              <a:path w="38100" h="299085">
                <a:moveTo>
                  <a:pt x="38100" y="260603"/>
                </a:moveTo>
                <a:lnTo>
                  <a:pt x="25908" y="260603"/>
                </a:lnTo>
                <a:lnTo>
                  <a:pt x="25908" y="266700"/>
                </a:lnTo>
                <a:lnTo>
                  <a:pt x="35173" y="266700"/>
                </a:lnTo>
                <a:lnTo>
                  <a:pt x="38100" y="260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93623" y="2108613"/>
            <a:ext cx="38100" cy="264160"/>
          </a:xfrm>
          <a:custGeom>
            <a:avLst/>
            <a:gdLst/>
            <a:ahLst/>
            <a:cxnLst/>
            <a:rect l="l" t="t" r="r" b="b"/>
            <a:pathLst>
              <a:path w="38100" h="264160">
                <a:moveTo>
                  <a:pt x="12111" y="225551"/>
                </a:moveTo>
                <a:lnTo>
                  <a:pt x="0" y="225551"/>
                </a:lnTo>
                <a:lnTo>
                  <a:pt x="19812" y="263651"/>
                </a:lnTo>
                <a:lnTo>
                  <a:pt x="35173" y="231647"/>
                </a:lnTo>
                <a:lnTo>
                  <a:pt x="12191" y="231647"/>
                </a:lnTo>
                <a:lnTo>
                  <a:pt x="12111" y="225551"/>
                </a:lnTo>
                <a:close/>
              </a:path>
              <a:path w="38100" h="264160">
                <a:moveTo>
                  <a:pt x="21336" y="0"/>
                </a:moveTo>
                <a:lnTo>
                  <a:pt x="9143" y="0"/>
                </a:lnTo>
                <a:lnTo>
                  <a:pt x="12191" y="231647"/>
                </a:lnTo>
                <a:lnTo>
                  <a:pt x="25908" y="231647"/>
                </a:lnTo>
                <a:lnTo>
                  <a:pt x="21336" y="0"/>
                </a:lnTo>
                <a:close/>
              </a:path>
              <a:path w="38100" h="264160">
                <a:moveTo>
                  <a:pt x="38100" y="225551"/>
                </a:moveTo>
                <a:lnTo>
                  <a:pt x="25787" y="225551"/>
                </a:lnTo>
                <a:lnTo>
                  <a:pt x="25908" y="231647"/>
                </a:lnTo>
                <a:lnTo>
                  <a:pt x="35173" y="231647"/>
                </a:lnTo>
                <a:lnTo>
                  <a:pt x="38100" y="2255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48744" y="2116233"/>
            <a:ext cx="546100" cy="329565"/>
          </a:xfrm>
          <a:custGeom>
            <a:avLst/>
            <a:gdLst/>
            <a:ahLst/>
            <a:cxnLst/>
            <a:rect l="l" t="t" r="r" b="b"/>
            <a:pathLst>
              <a:path w="546100" h="329564">
                <a:moveTo>
                  <a:pt x="491048" y="308671"/>
                </a:moveTo>
                <a:lnTo>
                  <a:pt x="481583" y="324612"/>
                </a:lnTo>
                <a:lnTo>
                  <a:pt x="545592" y="329184"/>
                </a:lnTo>
                <a:lnTo>
                  <a:pt x="535577" y="313944"/>
                </a:lnTo>
                <a:lnTo>
                  <a:pt x="499871" y="313944"/>
                </a:lnTo>
                <a:lnTo>
                  <a:pt x="491048" y="308671"/>
                </a:lnTo>
                <a:close/>
              </a:path>
              <a:path w="546100" h="329564">
                <a:moveTo>
                  <a:pt x="500785" y="292272"/>
                </a:moveTo>
                <a:lnTo>
                  <a:pt x="491048" y="308671"/>
                </a:lnTo>
                <a:lnTo>
                  <a:pt x="499871" y="313944"/>
                </a:lnTo>
                <a:lnTo>
                  <a:pt x="509016" y="297180"/>
                </a:lnTo>
                <a:lnTo>
                  <a:pt x="500785" y="292272"/>
                </a:lnTo>
                <a:close/>
              </a:path>
              <a:path w="546100" h="329564">
                <a:moveTo>
                  <a:pt x="510540" y="275844"/>
                </a:moveTo>
                <a:lnTo>
                  <a:pt x="500785" y="292272"/>
                </a:lnTo>
                <a:lnTo>
                  <a:pt x="509016" y="297180"/>
                </a:lnTo>
                <a:lnTo>
                  <a:pt x="499871" y="313944"/>
                </a:lnTo>
                <a:lnTo>
                  <a:pt x="535577" y="313944"/>
                </a:lnTo>
                <a:lnTo>
                  <a:pt x="510540" y="275844"/>
                </a:lnTo>
                <a:close/>
              </a:path>
              <a:path w="546100" h="329564">
                <a:moveTo>
                  <a:pt x="10668" y="0"/>
                </a:moveTo>
                <a:lnTo>
                  <a:pt x="0" y="15240"/>
                </a:lnTo>
                <a:lnTo>
                  <a:pt x="491048" y="308671"/>
                </a:lnTo>
                <a:lnTo>
                  <a:pt x="500785" y="292272"/>
                </a:lnTo>
                <a:lnTo>
                  <a:pt x="1066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93623" y="2524665"/>
            <a:ext cx="38100" cy="321945"/>
          </a:xfrm>
          <a:custGeom>
            <a:avLst/>
            <a:gdLst/>
            <a:ahLst/>
            <a:cxnLst/>
            <a:rect l="l" t="t" r="r" b="b"/>
            <a:pathLst>
              <a:path w="38100" h="321944">
                <a:moveTo>
                  <a:pt x="13715" y="283463"/>
                </a:moveTo>
                <a:lnTo>
                  <a:pt x="0" y="283463"/>
                </a:lnTo>
                <a:lnTo>
                  <a:pt x="19812" y="321563"/>
                </a:lnTo>
                <a:lnTo>
                  <a:pt x="34442" y="291083"/>
                </a:lnTo>
                <a:lnTo>
                  <a:pt x="13715" y="291083"/>
                </a:lnTo>
                <a:lnTo>
                  <a:pt x="13715" y="283463"/>
                </a:lnTo>
                <a:close/>
              </a:path>
              <a:path w="38100" h="321944">
                <a:moveTo>
                  <a:pt x="25908" y="0"/>
                </a:moveTo>
                <a:lnTo>
                  <a:pt x="13715" y="0"/>
                </a:lnTo>
                <a:lnTo>
                  <a:pt x="13715" y="291083"/>
                </a:lnTo>
                <a:lnTo>
                  <a:pt x="25908" y="291083"/>
                </a:lnTo>
                <a:lnTo>
                  <a:pt x="25908" y="0"/>
                </a:lnTo>
                <a:close/>
              </a:path>
              <a:path w="38100" h="321944">
                <a:moveTo>
                  <a:pt x="38100" y="283463"/>
                </a:moveTo>
                <a:lnTo>
                  <a:pt x="25908" y="283463"/>
                </a:lnTo>
                <a:lnTo>
                  <a:pt x="25908" y="291083"/>
                </a:lnTo>
                <a:lnTo>
                  <a:pt x="34442" y="291083"/>
                </a:lnTo>
                <a:lnTo>
                  <a:pt x="38100" y="283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30356" y="2373789"/>
            <a:ext cx="1498600" cy="588645"/>
          </a:xfrm>
          <a:custGeom>
            <a:avLst/>
            <a:gdLst/>
            <a:ahLst/>
            <a:cxnLst/>
            <a:rect l="l" t="t" r="r" b="b"/>
            <a:pathLst>
              <a:path w="1498600" h="588644">
                <a:moveTo>
                  <a:pt x="38162" y="11525"/>
                </a:moveTo>
                <a:lnTo>
                  <a:pt x="33417" y="23650"/>
                </a:lnTo>
                <a:lnTo>
                  <a:pt x="1493520" y="588263"/>
                </a:lnTo>
                <a:lnTo>
                  <a:pt x="1498092" y="576071"/>
                </a:lnTo>
                <a:lnTo>
                  <a:pt x="38162" y="11525"/>
                </a:lnTo>
                <a:close/>
              </a:path>
              <a:path w="1498600" h="588644">
                <a:moveTo>
                  <a:pt x="42671" y="0"/>
                </a:moveTo>
                <a:lnTo>
                  <a:pt x="0" y="3047"/>
                </a:lnTo>
                <a:lnTo>
                  <a:pt x="28956" y="35051"/>
                </a:lnTo>
                <a:lnTo>
                  <a:pt x="33417" y="23650"/>
                </a:lnTo>
                <a:lnTo>
                  <a:pt x="27431" y="21335"/>
                </a:lnTo>
                <a:lnTo>
                  <a:pt x="32004" y="9143"/>
                </a:lnTo>
                <a:lnTo>
                  <a:pt x="39093" y="9143"/>
                </a:lnTo>
                <a:lnTo>
                  <a:pt x="42671" y="0"/>
                </a:lnTo>
                <a:close/>
              </a:path>
              <a:path w="1498600" h="588644">
                <a:moveTo>
                  <a:pt x="32004" y="9143"/>
                </a:moveTo>
                <a:lnTo>
                  <a:pt x="27431" y="21335"/>
                </a:lnTo>
                <a:lnTo>
                  <a:pt x="33417" y="23650"/>
                </a:lnTo>
                <a:lnTo>
                  <a:pt x="38162" y="11525"/>
                </a:lnTo>
                <a:lnTo>
                  <a:pt x="32004" y="9143"/>
                </a:lnTo>
                <a:close/>
              </a:path>
              <a:path w="1498600" h="588644">
                <a:moveTo>
                  <a:pt x="39093" y="9143"/>
                </a:moveTo>
                <a:lnTo>
                  <a:pt x="32004" y="9143"/>
                </a:lnTo>
                <a:lnTo>
                  <a:pt x="38162" y="11525"/>
                </a:lnTo>
                <a:lnTo>
                  <a:pt x="39093" y="9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0544" y="1620933"/>
            <a:ext cx="38100" cy="599440"/>
          </a:xfrm>
          <a:custGeom>
            <a:avLst/>
            <a:gdLst/>
            <a:ahLst/>
            <a:cxnLst/>
            <a:rect l="l" t="t" r="r" b="b"/>
            <a:pathLst>
              <a:path w="38100" h="599439">
                <a:moveTo>
                  <a:pt x="25907" y="32003"/>
                </a:moveTo>
                <a:lnTo>
                  <a:pt x="13716" y="32003"/>
                </a:lnTo>
                <a:lnTo>
                  <a:pt x="13716" y="598932"/>
                </a:lnTo>
                <a:lnTo>
                  <a:pt x="25907" y="598932"/>
                </a:lnTo>
                <a:lnTo>
                  <a:pt x="25907" y="32003"/>
                </a:lnTo>
                <a:close/>
              </a:path>
              <a:path w="38100" h="599439">
                <a:moveTo>
                  <a:pt x="19812" y="0"/>
                </a:moveTo>
                <a:lnTo>
                  <a:pt x="0" y="38100"/>
                </a:lnTo>
                <a:lnTo>
                  <a:pt x="13716" y="38100"/>
                </a:lnTo>
                <a:lnTo>
                  <a:pt x="13716" y="32003"/>
                </a:lnTo>
                <a:lnTo>
                  <a:pt x="35173" y="32003"/>
                </a:lnTo>
                <a:lnTo>
                  <a:pt x="19812" y="0"/>
                </a:lnTo>
                <a:close/>
              </a:path>
              <a:path w="38100" h="599439">
                <a:moveTo>
                  <a:pt x="35173" y="32003"/>
                </a:moveTo>
                <a:lnTo>
                  <a:pt x="25907" y="32003"/>
                </a:lnTo>
                <a:lnTo>
                  <a:pt x="25907" y="38100"/>
                </a:lnTo>
                <a:lnTo>
                  <a:pt x="38100" y="38100"/>
                </a:lnTo>
                <a:lnTo>
                  <a:pt x="35173" y="320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66157" y="1818583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19916" y="1492917"/>
            <a:ext cx="1069975" cy="38100"/>
          </a:xfrm>
          <a:custGeom>
            <a:avLst/>
            <a:gdLst/>
            <a:ahLst/>
            <a:cxnLst/>
            <a:rect l="l" t="t" r="r" b="b"/>
            <a:pathLst>
              <a:path w="1069975" h="38100">
                <a:moveTo>
                  <a:pt x="1031747" y="0"/>
                </a:moveTo>
                <a:lnTo>
                  <a:pt x="1031747" y="38100"/>
                </a:lnTo>
                <a:lnTo>
                  <a:pt x="1055194" y="25907"/>
                </a:lnTo>
                <a:lnTo>
                  <a:pt x="1037844" y="25907"/>
                </a:lnTo>
                <a:lnTo>
                  <a:pt x="1037844" y="12191"/>
                </a:lnTo>
                <a:lnTo>
                  <a:pt x="1057147" y="12191"/>
                </a:lnTo>
                <a:lnTo>
                  <a:pt x="1031747" y="0"/>
                </a:lnTo>
                <a:close/>
              </a:path>
              <a:path w="1069975" h="38100">
                <a:moveTo>
                  <a:pt x="1031747" y="12191"/>
                </a:moveTo>
                <a:lnTo>
                  <a:pt x="0" y="12191"/>
                </a:lnTo>
                <a:lnTo>
                  <a:pt x="0" y="25907"/>
                </a:lnTo>
                <a:lnTo>
                  <a:pt x="1031747" y="25907"/>
                </a:lnTo>
                <a:lnTo>
                  <a:pt x="1031747" y="12191"/>
                </a:lnTo>
                <a:close/>
              </a:path>
              <a:path w="1069975" h="38100">
                <a:moveTo>
                  <a:pt x="1057147" y="12191"/>
                </a:moveTo>
                <a:lnTo>
                  <a:pt x="1037844" y="12191"/>
                </a:lnTo>
                <a:lnTo>
                  <a:pt x="1037844" y="25907"/>
                </a:lnTo>
                <a:lnTo>
                  <a:pt x="1055194" y="25907"/>
                </a:lnTo>
                <a:lnTo>
                  <a:pt x="1069847" y="18287"/>
                </a:lnTo>
                <a:lnTo>
                  <a:pt x="1057147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82956" y="729393"/>
            <a:ext cx="38100" cy="269875"/>
          </a:xfrm>
          <a:custGeom>
            <a:avLst/>
            <a:gdLst/>
            <a:ahLst/>
            <a:cxnLst/>
            <a:rect l="l" t="t" r="r" b="b"/>
            <a:pathLst>
              <a:path w="38100" h="269875">
                <a:moveTo>
                  <a:pt x="13716" y="231648"/>
                </a:moveTo>
                <a:lnTo>
                  <a:pt x="0" y="231648"/>
                </a:lnTo>
                <a:lnTo>
                  <a:pt x="19812" y="269748"/>
                </a:lnTo>
                <a:lnTo>
                  <a:pt x="35173" y="237743"/>
                </a:lnTo>
                <a:lnTo>
                  <a:pt x="13716" y="237743"/>
                </a:lnTo>
                <a:lnTo>
                  <a:pt x="13716" y="231648"/>
                </a:lnTo>
                <a:close/>
              </a:path>
              <a:path w="38100" h="269875">
                <a:moveTo>
                  <a:pt x="25908" y="0"/>
                </a:moveTo>
                <a:lnTo>
                  <a:pt x="13716" y="0"/>
                </a:lnTo>
                <a:lnTo>
                  <a:pt x="13716" y="237743"/>
                </a:lnTo>
                <a:lnTo>
                  <a:pt x="25908" y="237743"/>
                </a:lnTo>
                <a:lnTo>
                  <a:pt x="25908" y="0"/>
                </a:lnTo>
                <a:close/>
              </a:path>
              <a:path w="38100" h="269875">
                <a:moveTo>
                  <a:pt x="38100" y="231648"/>
                </a:moveTo>
                <a:lnTo>
                  <a:pt x="25908" y="231648"/>
                </a:lnTo>
                <a:lnTo>
                  <a:pt x="25908" y="237743"/>
                </a:lnTo>
                <a:lnTo>
                  <a:pt x="35173" y="237743"/>
                </a:lnTo>
                <a:lnTo>
                  <a:pt x="38100" y="2316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861467" y="552139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89763" y="999141"/>
            <a:ext cx="838200" cy="15748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4335" y="2367693"/>
            <a:ext cx="838200" cy="15748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1256" y="2219865"/>
            <a:ext cx="838200" cy="15748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094891" y="573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094891" y="15636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94891" y="25695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094891" y="357537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94891" y="45659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094891" y="55718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94891" y="65776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094891" y="756825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094891" y="8574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094891" y="95646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94891" y="105705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094891" y="1157637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094891" y="125669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094891" y="135728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094891" y="145786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094891" y="1556925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094891" y="16575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094891" y="175656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094891" y="185715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094891" y="1957737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094891" y="205679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094891" y="215738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94891" y="225796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094891" y="2357025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094891" y="24576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094891" y="255666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094891" y="265725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94891" y="2757837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094891" y="285689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094891" y="295748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094891" y="305806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094891" y="3157125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094891" y="32577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1143941" y="107073"/>
            <a:ext cx="22567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分类器设计与学习</a:t>
            </a:r>
            <a:endParaRPr sz="2200"/>
          </a:p>
        </p:txBody>
      </p:sp>
      <p:sp>
        <p:nvSpPr>
          <p:cNvPr id="60" name="object 60"/>
          <p:cNvSpPr txBox="1"/>
          <p:nvPr/>
        </p:nvSpPr>
        <p:spPr>
          <a:xfrm>
            <a:off x="4287932" y="216897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287944" y="643588"/>
            <a:ext cx="675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87944" y="1024581"/>
            <a:ext cx="15875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全局特</a:t>
            </a:r>
            <a:r>
              <a:rPr sz="1000" spc="5" dirty="0">
                <a:latin typeface="微软雅黑" panose="020B0503020204020204" charset="-122"/>
                <a:cs typeface="微软雅黑" panose="020B0503020204020204" charset="-122"/>
              </a:rPr>
              <a:t>征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表示</a:t>
            </a:r>
            <a:r>
              <a:rPr sz="1000" spc="5" dirty="0">
                <a:latin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如GIST）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287944" y="1405576"/>
            <a:ext cx="1431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局部特征表示（如</a:t>
            </a:r>
            <a:r>
              <a:rPr sz="1000" spc="-10" dirty="0">
                <a:latin typeface="微软雅黑" panose="020B0503020204020204" charset="-122"/>
                <a:cs typeface="微软雅黑" panose="020B0503020204020204" charset="-122"/>
              </a:rPr>
              <a:t>SI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F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T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431133" y="1786570"/>
            <a:ext cx="10058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特征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+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词袋模型）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89763" y="1437681"/>
            <a:ext cx="838200" cy="15875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20828" y="1894881"/>
            <a:ext cx="574675" cy="219710"/>
          </a:xfrm>
          <a:custGeom>
            <a:avLst/>
            <a:gdLst/>
            <a:ahLst/>
            <a:cxnLst/>
            <a:rect l="l" t="t" r="r" b="b"/>
            <a:pathLst>
              <a:path w="574675" h="219710">
                <a:moveTo>
                  <a:pt x="0" y="36575"/>
                </a:moveTo>
                <a:lnTo>
                  <a:pt x="2928" y="22502"/>
                </a:lnTo>
                <a:lnTo>
                  <a:pt x="10858" y="10858"/>
                </a:lnTo>
                <a:lnTo>
                  <a:pt x="22502" y="2928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928"/>
                </a:lnTo>
                <a:lnTo>
                  <a:pt x="563689" y="10858"/>
                </a:lnTo>
                <a:lnTo>
                  <a:pt x="571619" y="22502"/>
                </a:lnTo>
                <a:lnTo>
                  <a:pt x="574547" y="36575"/>
                </a:lnTo>
                <a:lnTo>
                  <a:pt x="574547" y="182879"/>
                </a:lnTo>
                <a:lnTo>
                  <a:pt x="571619" y="196953"/>
                </a:lnTo>
                <a:lnTo>
                  <a:pt x="563689" y="208597"/>
                </a:lnTo>
                <a:lnTo>
                  <a:pt x="552045" y="216527"/>
                </a:lnTo>
                <a:lnTo>
                  <a:pt x="537971" y="219455"/>
                </a:lnTo>
                <a:lnTo>
                  <a:pt x="36575" y="219455"/>
                </a:lnTo>
                <a:lnTo>
                  <a:pt x="22502" y="216527"/>
                </a:lnTo>
                <a:lnTo>
                  <a:pt x="10858" y="208597"/>
                </a:lnTo>
                <a:lnTo>
                  <a:pt x="2928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87414" y="1920319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i="1" spc="-40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i="1" spc="-735" baseline="9000" dirty="0">
                <a:latin typeface="Cambria Math" panose="02040503050406030204"/>
                <a:cs typeface="Cambria Math" panose="02040503050406030204"/>
              </a:rPr>
              <a:t>�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66803" y="1910121"/>
            <a:ext cx="574675" cy="219710"/>
          </a:xfrm>
          <a:custGeom>
            <a:avLst/>
            <a:gdLst/>
            <a:ahLst/>
            <a:cxnLst/>
            <a:rect l="l" t="t" r="r" b="b"/>
            <a:pathLst>
              <a:path w="574675" h="219710">
                <a:moveTo>
                  <a:pt x="0" y="36575"/>
                </a:moveTo>
                <a:lnTo>
                  <a:pt x="2928" y="22502"/>
                </a:lnTo>
                <a:lnTo>
                  <a:pt x="10858" y="10858"/>
                </a:lnTo>
                <a:lnTo>
                  <a:pt x="22502" y="2928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928"/>
                </a:lnTo>
                <a:lnTo>
                  <a:pt x="563689" y="10858"/>
                </a:lnTo>
                <a:lnTo>
                  <a:pt x="571619" y="22502"/>
                </a:lnTo>
                <a:lnTo>
                  <a:pt x="574547" y="36575"/>
                </a:lnTo>
                <a:lnTo>
                  <a:pt x="574547" y="182879"/>
                </a:lnTo>
                <a:lnTo>
                  <a:pt x="571619" y="196953"/>
                </a:lnTo>
                <a:lnTo>
                  <a:pt x="563689" y="208597"/>
                </a:lnTo>
                <a:lnTo>
                  <a:pt x="552045" y="216527"/>
                </a:lnTo>
                <a:lnTo>
                  <a:pt x="537971" y="219455"/>
                </a:lnTo>
                <a:lnTo>
                  <a:pt x="36575" y="219455"/>
                </a:lnTo>
                <a:lnTo>
                  <a:pt x="22502" y="216527"/>
                </a:lnTo>
                <a:lnTo>
                  <a:pt x="10858" y="208597"/>
                </a:lnTo>
                <a:lnTo>
                  <a:pt x="2928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933351" y="193403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i="1" spc="8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26923" y="2851953"/>
            <a:ext cx="573405" cy="219710"/>
          </a:xfrm>
          <a:custGeom>
            <a:avLst/>
            <a:gdLst/>
            <a:ahLst/>
            <a:cxnLst/>
            <a:rect l="l" t="t" r="r" b="b"/>
            <a:pathLst>
              <a:path w="573404" h="219710">
                <a:moveTo>
                  <a:pt x="0" y="36575"/>
                </a:moveTo>
                <a:lnTo>
                  <a:pt x="2690" y="22502"/>
                </a:lnTo>
                <a:lnTo>
                  <a:pt x="10096" y="10858"/>
                </a:lnTo>
                <a:lnTo>
                  <a:pt x="21216" y="2928"/>
                </a:lnTo>
                <a:lnTo>
                  <a:pt x="35051" y="0"/>
                </a:lnTo>
                <a:lnTo>
                  <a:pt x="537971" y="0"/>
                </a:lnTo>
                <a:lnTo>
                  <a:pt x="551807" y="2928"/>
                </a:lnTo>
                <a:lnTo>
                  <a:pt x="562927" y="10858"/>
                </a:lnTo>
                <a:lnTo>
                  <a:pt x="570333" y="22502"/>
                </a:lnTo>
                <a:lnTo>
                  <a:pt x="573023" y="36575"/>
                </a:lnTo>
                <a:lnTo>
                  <a:pt x="573023" y="182879"/>
                </a:lnTo>
                <a:lnTo>
                  <a:pt x="570333" y="196953"/>
                </a:lnTo>
                <a:lnTo>
                  <a:pt x="562927" y="208597"/>
                </a:lnTo>
                <a:lnTo>
                  <a:pt x="551807" y="216527"/>
                </a:lnTo>
                <a:lnTo>
                  <a:pt x="537971" y="219455"/>
                </a:lnTo>
                <a:lnTo>
                  <a:pt x="35051" y="219455"/>
                </a:lnTo>
                <a:lnTo>
                  <a:pt x="21216" y="216527"/>
                </a:lnTo>
                <a:lnTo>
                  <a:pt x="10096" y="208597"/>
                </a:lnTo>
                <a:lnTo>
                  <a:pt x="2690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928562" y="2875867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45367" y="1408725"/>
            <a:ext cx="574675" cy="218440"/>
          </a:xfrm>
          <a:custGeom>
            <a:avLst/>
            <a:gdLst/>
            <a:ahLst/>
            <a:cxnLst/>
            <a:rect l="l" t="t" r="r" b="b"/>
            <a:pathLst>
              <a:path w="574675" h="218439">
                <a:moveTo>
                  <a:pt x="0" y="36575"/>
                </a:moveTo>
                <a:lnTo>
                  <a:pt x="2928" y="21859"/>
                </a:lnTo>
                <a:lnTo>
                  <a:pt x="10858" y="10286"/>
                </a:lnTo>
                <a:lnTo>
                  <a:pt x="22502" y="2714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714"/>
                </a:lnTo>
                <a:lnTo>
                  <a:pt x="563689" y="10286"/>
                </a:lnTo>
                <a:lnTo>
                  <a:pt x="571619" y="21859"/>
                </a:lnTo>
                <a:lnTo>
                  <a:pt x="574547" y="36575"/>
                </a:lnTo>
                <a:lnTo>
                  <a:pt x="574547" y="181355"/>
                </a:lnTo>
                <a:lnTo>
                  <a:pt x="571619" y="195429"/>
                </a:lnTo>
                <a:lnTo>
                  <a:pt x="563689" y="207073"/>
                </a:lnTo>
                <a:lnTo>
                  <a:pt x="552045" y="215003"/>
                </a:lnTo>
                <a:lnTo>
                  <a:pt x="537971" y="217931"/>
                </a:lnTo>
                <a:lnTo>
                  <a:pt x="36575" y="217931"/>
                </a:lnTo>
                <a:lnTo>
                  <a:pt x="22502" y="215003"/>
                </a:lnTo>
                <a:lnTo>
                  <a:pt x="10858" y="207073"/>
                </a:lnTo>
                <a:lnTo>
                  <a:pt x="2928" y="195429"/>
                </a:lnTo>
                <a:lnTo>
                  <a:pt x="0" y="181355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90618" y="143111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89051" y="1169457"/>
            <a:ext cx="38100" cy="268605"/>
          </a:xfrm>
          <a:custGeom>
            <a:avLst/>
            <a:gdLst/>
            <a:ahLst/>
            <a:cxnLst/>
            <a:rect l="l" t="t" r="r" b="b"/>
            <a:pathLst>
              <a:path w="38100" h="268605">
                <a:moveTo>
                  <a:pt x="13715" y="230123"/>
                </a:moveTo>
                <a:lnTo>
                  <a:pt x="0" y="230123"/>
                </a:lnTo>
                <a:lnTo>
                  <a:pt x="19812" y="268223"/>
                </a:lnTo>
                <a:lnTo>
                  <a:pt x="34442" y="237743"/>
                </a:lnTo>
                <a:lnTo>
                  <a:pt x="13715" y="237743"/>
                </a:lnTo>
                <a:lnTo>
                  <a:pt x="13715" y="230123"/>
                </a:lnTo>
                <a:close/>
              </a:path>
              <a:path w="38100" h="268605">
                <a:moveTo>
                  <a:pt x="25908" y="0"/>
                </a:moveTo>
                <a:lnTo>
                  <a:pt x="13715" y="0"/>
                </a:lnTo>
                <a:lnTo>
                  <a:pt x="13715" y="237743"/>
                </a:lnTo>
                <a:lnTo>
                  <a:pt x="25908" y="237743"/>
                </a:lnTo>
                <a:lnTo>
                  <a:pt x="25908" y="0"/>
                </a:lnTo>
                <a:close/>
              </a:path>
              <a:path w="38100" h="268605">
                <a:moveTo>
                  <a:pt x="38100" y="230123"/>
                </a:moveTo>
                <a:lnTo>
                  <a:pt x="25908" y="230123"/>
                </a:lnTo>
                <a:lnTo>
                  <a:pt x="25908" y="237743"/>
                </a:lnTo>
                <a:lnTo>
                  <a:pt x="34442" y="237743"/>
                </a:lnTo>
                <a:lnTo>
                  <a:pt x="38100" y="230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89051" y="1596177"/>
            <a:ext cx="38100" cy="299085"/>
          </a:xfrm>
          <a:custGeom>
            <a:avLst/>
            <a:gdLst/>
            <a:ahLst/>
            <a:cxnLst/>
            <a:rect l="l" t="t" r="r" b="b"/>
            <a:pathLst>
              <a:path w="38100" h="299085">
                <a:moveTo>
                  <a:pt x="13715" y="260604"/>
                </a:moveTo>
                <a:lnTo>
                  <a:pt x="0" y="260604"/>
                </a:lnTo>
                <a:lnTo>
                  <a:pt x="19812" y="298704"/>
                </a:lnTo>
                <a:lnTo>
                  <a:pt x="35173" y="266700"/>
                </a:lnTo>
                <a:lnTo>
                  <a:pt x="13715" y="266700"/>
                </a:lnTo>
                <a:lnTo>
                  <a:pt x="13715" y="260604"/>
                </a:lnTo>
                <a:close/>
              </a:path>
              <a:path w="38100" h="299085">
                <a:moveTo>
                  <a:pt x="25908" y="0"/>
                </a:moveTo>
                <a:lnTo>
                  <a:pt x="13715" y="0"/>
                </a:lnTo>
                <a:lnTo>
                  <a:pt x="13715" y="266700"/>
                </a:lnTo>
                <a:lnTo>
                  <a:pt x="25908" y="266700"/>
                </a:lnTo>
                <a:lnTo>
                  <a:pt x="25908" y="0"/>
                </a:lnTo>
                <a:close/>
              </a:path>
              <a:path w="38100" h="299085">
                <a:moveTo>
                  <a:pt x="38100" y="260604"/>
                </a:moveTo>
                <a:lnTo>
                  <a:pt x="25908" y="260604"/>
                </a:lnTo>
                <a:lnTo>
                  <a:pt x="25908" y="266700"/>
                </a:lnTo>
                <a:lnTo>
                  <a:pt x="35173" y="266700"/>
                </a:lnTo>
                <a:lnTo>
                  <a:pt x="38100" y="260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93623" y="2114337"/>
            <a:ext cx="38100" cy="264160"/>
          </a:xfrm>
          <a:custGeom>
            <a:avLst/>
            <a:gdLst/>
            <a:ahLst/>
            <a:cxnLst/>
            <a:rect l="l" t="t" r="r" b="b"/>
            <a:pathLst>
              <a:path w="38100" h="264160">
                <a:moveTo>
                  <a:pt x="12111" y="225551"/>
                </a:moveTo>
                <a:lnTo>
                  <a:pt x="0" y="225551"/>
                </a:lnTo>
                <a:lnTo>
                  <a:pt x="19812" y="263651"/>
                </a:lnTo>
                <a:lnTo>
                  <a:pt x="35173" y="231648"/>
                </a:lnTo>
                <a:lnTo>
                  <a:pt x="12191" y="231648"/>
                </a:lnTo>
                <a:lnTo>
                  <a:pt x="12111" y="225551"/>
                </a:lnTo>
                <a:close/>
              </a:path>
              <a:path w="38100" h="264160">
                <a:moveTo>
                  <a:pt x="21336" y="0"/>
                </a:moveTo>
                <a:lnTo>
                  <a:pt x="9143" y="0"/>
                </a:lnTo>
                <a:lnTo>
                  <a:pt x="12191" y="231648"/>
                </a:lnTo>
                <a:lnTo>
                  <a:pt x="25908" y="231648"/>
                </a:lnTo>
                <a:lnTo>
                  <a:pt x="21336" y="0"/>
                </a:lnTo>
                <a:close/>
              </a:path>
              <a:path w="38100" h="264160">
                <a:moveTo>
                  <a:pt x="38100" y="225551"/>
                </a:moveTo>
                <a:lnTo>
                  <a:pt x="25787" y="225551"/>
                </a:lnTo>
                <a:lnTo>
                  <a:pt x="25908" y="231648"/>
                </a:lnTo>
                <a:lnTo>
                  <a:pt x="35173" y="231648"/>
                </a:lnTo>
                <a:lnTo>
                  <a:pt x="38100" y="2255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48744" y="2121957"/>
            <a:ext cx="546100" cy="329565"/>
          </a:xfrm>
          <a:custGeom>
            <a:avLst/>
            <a:gdLst/>
            <a:ahLst/>
            <a:cxnLst/>
            <a:rect l="l" t="t" r="r" b="b"/>
            <a:pathLst>
              <a:path w="546100" h="329564">
                <a:moveTo>
                  <a:pt x="491048" y="308671"/>
                </a:moveTo>
                <a:lnTo>
                  <a:pt x="481583" y="324612"/>
                </a:lnTo>
                <a:lnTo>
                  <a:pt x="545592" y="329184"/>
                </a:lnTo>
                <a:lnTo>
                  <a:pt x="535577" y="313944"/>
                </a:lnTo>
                <a:lnTo>
                  <a:pt x="499871" y="313944"/>
                </a:lnTo>
                <a:lnTo>
                  <a:pt x="491048" y="308671"/>
                </a:lnTo>
                <a:close/>
              </a:path>
              <a:path w="546100" h="329564">
                <a:moveTo>
                  <a:pt x="500785" y="292272"/>
                </a:moveTo>
                <a:lnTo>
                  <a:pt x="491048" y="308671"/>
                </a:lnTo>
                <a:lnTo>
                  <a:pt x="499871" y="313944"/>
                </a:lnTo>
                <a:lnTo>
                  <a:pt x="509016" y="297180"/>
                </a:lnTo>
                <a:lnTo>
                  <a:pt x="500785" y="292272"/>
                </a:lnTo>
                <a:close/>
              </a:path>
              <a:path w="546100" h="329564">
                <a:moveTo>
                  <a:pt x="510540" y="275844"/>
                </a:moveTo>
                <a:lnTo>
                  <a:pt x="500785" y="292272"/>
                </a:lnTo>
                <a:lnTo>
                  <a:pt x="509016" y="297180"/>
                </a:lnTo>
                <a:lnTo>
                  <a:pt x="499871" y="313944"/>
                </a:lnTo>
                <a:lnTo>
                  <a:pt x="535577" y="313944"/>
                </a:lnTo>
                <a:lnTo>
                  <a:pt x="510540" y="275844"/>
                </a:lnTo>
                <a:close/>
              </a:path>
              <a:path w="546100" h="329564">
                <a:moveTo>
                  <a:pt x="10668" y="0"/>
                </a:moveTo>
                <a:lnTo>
                  <a:pt x="0" y="15240"/>
                </a:lnTo>
                <a:lnTo>
                  <a:pt x="491048" y="308671"/>
                </a:lnTo>
                <a:lnTo>
                  <a:pt x="500785" y="292272"/>
                </a:lnTo>
                <a:lnTo>
                  <a:pt x="1066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93623" y="2530389"/>
            <a:ext cx="38100" cy="321945"/>
          </a:xfrm>
          <a:custGeom>
            <a:avLst/>
            <a:gdLst/>
            <a:ahLst/>
            <a:cxnLst/>
            <a:rect l="l" t="t" r="r" b="b"/>
            <a:pathLst>
              <a:path w="38100" h="321944">
                <a:moveTo>
                  <a:pt x="13715" y="283463"/>
                </a:moveTo>
                <a:lnTo>
                  <a:pt x="0" y="283463"/>
                </a:lnTo>
                <a:lnTo>
                  <a:pt x="19812" y="321563"/>
                </a:lnTo>
                <a:lnTo>
                  <a:pt x="34442" y="291084"/>
                </a:lnTo>
                <a:lnTo>
                  <a:pt x="13715" y="291084"/>
                </a:lnTo>
                <a:lnTo>
                  <a:pt x="13715" y="283463"/>
                </a:lnTo>
                <a:close/>
              </a:path>
              <a:path w="38100" h="321944">
                <a:moveTo>
                  <a:pt x="25908" y="0"/>
                </a:moveTo>
                <a:lnTo>
                  <a:pt x="13715" y="0"/>
                </a:lnTo>
                <a:lnTo>
                  <a:pt x="13715" y="291084"/>
                </a:lnTo>
                <a:lnTo>
                  <a:pt x="25908" y="291084"/>
                </a:lnTo>
                <a:lnTo>
                  <a:pt x="25908" y="0"/>
                </a:lnTo>
                <a:close/>
              </a:path>
              <a:path w="38100" h="321944">
                <a:moveTo>
                  <a:pt x="38100" y="283463"/>
                </a:moveTo>
                <a:lnTo>
                  <a:pt x="25908" y="283463"/>
                </a:lnTo>
                <a:lnTo>
                  <a:pt x="25908" y="291084"/>
                </a:lnTo>
                <a:lnTo>
                  <a:pt x="34442" y="291084"/>
                </a:lnTo>
                <a:lnTo>
                  <a:pt x="38100" y="283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30356" y="2379513"/>
            <a:ext cx="1498600" cy="588645"/>
          </a:xfrm>
          <a:custGeom>
            <a:avLst/>
            <a:gdLst/>
            <a:ahLst/>
            <a:cxnLst/>
            <a:rect l="l" t="t" r="r" b="b"/>
            <a:pathLst>
              <a:path w="1498600" h="588644">
                <a:moveTo>
                  <a:pt x="38162" y="11525"/>
                </a:moveTo>
                <a:lnTo>
                  <a:pt x="33417" y="23650"/>
                </a:lnTo>
                <a:lnTo>
                  <a:pt x="1493520" y="588263"/>
                </a:lnTo>
                <a:lnTo>
                  <a:pt x="1498092" y="576072"/>
                </a:lnTo>
                <a:lnTo>
                  <a:pt x="38162" y="11525"/>
                </a:lnTo>
                <a:close/>
              </a:path>
              <a:path w="1498600" h="588644">
                <a:moveTo>
                  <a:pt x="42671" y="0"/>
                </a:moveTo>
                <a:lnTo>
                  <a:pt x="0" y="3048"/>
                </a:lnTo>
                <a:lnTo>
                  <a:pt x="28956" y="35051"/>
                </a:lnTo>
                <a:lnTo>
                  <a:pt x="33417" y="23650"/>
                </a:lnTo>
                <a:lnTo>
                  <a:pt x="27431" y="21336"/>
                </a:lnTo>
                <a:lnTo>
                  <a:pt x="32004" y="9143"/>
                </a:lnTo>
                <a:lnTo>
                  <a:pt x="39093" y="9143"/>
                </a:lnTo>
                <a:lnTo>
                  <a:pt x="42671" y="0"/>
                </a:lnTo>
                <a:close/>
              </a:path>
              <a:path w="1498600" h="588644">
                <a:moveTo>
                  <a:pt x="32004" y="9143"/>
                </a:moveTo>
                <a:lnTo>
                  <a:pt x="27431" y="21336"/>
                </a:lnTo>
                <a:lnTo>
                  <a:pt x="33417" y="23650"/>
                </a:lnTo>
                <a:lnTo>
                  <a:pt x="38162" y="11525"/>
                </a:lnTo>
                <a:lnTo>
                  <a:pt x="32004" y="9143"/>
                </a:lnTo>
                <a:close/>
              </a:path>
              <a:path w="1498600" h="588644">
                <a:moveTo>
                  <a:pt x="39093" y="9143"/>
                </a:moveTo>
                <a:lnTo>
                  <a:pt x="32004" y="9143"/>
                </a:lnTo>
                <a:lnTo>
                  <a:pt x="38162" y="11525"/>
                </a:lnTo>
                <a:lnTo>
                  <a:pt x="39093" y="9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0544" y="1626657"/>
            <a:ext cx="38100" cy="599440"/>
          </a:xfrm>
          <a:custGeom>
            <a:avLst/>
            <a:gdLst/>
            <a:ahLst/>
            <a:cxnLst/>
            <a:rect l="l" t="t" r="r" b="b"/>
            <a:pathLst>
              <a:path w="38100" h="599439">
                <a:moveTo>
                  <a:pt x="25907" y="32004"/>
                </a:moveTo>
                <a:lnTo>
                  <a:pt x="13716" y="32004"/>
                </a:lnTo>
                <a:lnTo>
                  <a:pt x="13716" y="598932"/>
                </a:lnTo>
                <a:lnTo>
                  <a:pt x="25907" y="598932"/>
                </a:lnTo>
                <a:lnTo>
                  <a:pt x="25907" y="32004"/>
                </a:lnTo>
                <a:close/>
              </a:path>
              <a:path w="38100" h="599439">
                <a:moveTo>
                  <a:pt x="19812" y="0"/>
                </a:moveTo>
                <a:lnTo>
                  <a:pt x="0" y="38100"/>
                </a:lnTo>
                <a:lnTo>
                  <a:pt x="13716" y="38100"/>
                </a:lnTo>
                <a:lnTo>
                  <a:pt x="13716" y="32004"/>
                </a:lnTo>
                <a:lnTo>
                  <a:pt x="35173" y="32004"/>
                </a:lnTo>
                <a:lnTo>
                  <a:pt x="19812" y="0"/>
                </a:lnTo>
                <a:close/>
              </a:path>
              <a:path w="38100" h="599439">
                <a:moveTo>
                  <a:pt x="35173" y="32004"/>
                </a:moveTo>
                <a:lnTo>
                  <a:pt x="25907" y="32004"/>
                </a:lnTo>
                <a:lnTo>
                  <a:pt x="25907" y="38100"/>
                </a:lnTo>
                <a:lnTo>
                  <a:pt x="38100" y="38100"/>
                </a:lnTo>
                <a:lnTo>
                  <a:pt x="35173" y="320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66157" y="1824307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19916" y="1498641"/>
            <a:ext cx="1069975" cy="38100"/>
          </a:xfrm>
          <a:custGeom>
            <a:avLst/>
            <a:gdLst/>
            <a:ahLst/>
            <a:cxnLst/>
            <a:rect l="l" t="t" r="r" b="b"/>
            <a:pathLst>
              <a:path w="1069975" h="38100">
                <a:moveTo>
                  <a:pt x="1031747" y="0"/>
                </a:moveTo>
                <a:lnTo>
                  <a:pt x="1031747" y="38100"/>
                </a:lnTo>
                <a:lnTo>
                  <a:pt x="1055194" y="25908"/>
                </a:lnTo>
                <a:lnTo>
                  <a:pt x="1037844" y="25908"/>
                </a:lnTo>
                <a:lnTo>
                  <a:pt x="1037844" y="12192"/>
                </a:lnTo>
                <a:lnTo>
                  <a:pt x="1057147" y="12192"/>
                </a:lnTo>
                <a:lnTo>
                  <a:pt x="1031747" y="0"/>
                </a:lnTo>
                <a:close/>
              </a:path>
              <a:path w="1069975" h="38100">
                <a:moveTo>
                  <a:pt x="1031747" y="12192"/>
                </a:moveTo>
                <a:lnTo>
                  <a:pt x="0" y="12192"/>
                </a:lnTo>
                <a:lnTo>
                  <a:pt x="0" y="25908"/>
                </a:lnTo>
                <a:lnTo>
                  <a:pt x="1031747" y="25908"/>
                </a:lnTo>
                <a:lnTo>
                  <a:pt x="1031747" y="12192"/>
                </a:lnTo>
                <a:close/>
              </a:path>
              <a:path w="1069975" h="38100">
                <a:moveTo>
                  <a:pt x="1057147" y="12192"/>
                </a:moveTo>
                <a:lnTo>
                  <a:pt x="1037844" y="12192"/>
                </a:lnTo>
                <a:lnTo>
                  <a:pt x="1037844" y="25908"/>
                </a:lnTo>
                <a:lnTo>
                  <a:pt x="1055194" y="25908"/>
                </a:lnTo>
                <a:lnTo>
                  <a:pt x="1069847" y="18288"/>
                </a:lnTo>
                <a:lnTo>
                  <a:pt x="1057147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82956" y="735117"/>
            <a:ext cx="38100" cy="269875"/>
          </a:xfrm>
          <a:custGeom>
            <a:avLst/>
            <a:gdLst/>
            <a:ahLst/>
            <a:cxnLst/>
            <a:rect l="l" t="t" r="r" b="b"/>
            <a:pathLst>
              <a:path w="38100" h="269875">
                <a:moveTo>
                  <a:pt x="13716" y="231648"/>
                </a:moveTo>
                <a:lnTo>
                  <a:pt x="0" y="231648"/>
                </a:lnTo>
                <a:lnTo>
                  <a:pt x="19812" y="269748"/>
                </a:lnTo>
                <a:lnTo>
                  <a:pt x="35173" y="237744"/>
                </a:lnTo>
                <a:lnTo>
                  <a:pt x="13716" y="237744"/>
                </a:lnTo>
                <a:lnTo>
                  <a:pt x="13716" y="231648"/>
                </a:lnTo>
                <a:close/>
              </a:path>
              <a:path w="38100" h="269875">
                <a:moveTo>
                  <a:pt x="25908" y="0"/>
                </a:moveTo>
                <a:lnTo>
                  <a:pt x="13716" y="0"/>
                </a:lnTo>
                <a:lnTo>
                  <a:pt x="13716" y="237744"/>
                </a:lnTo>
                <a:lnTo>
                  <a:pt x="25908" y="237744"/>
                </a:lnTo>
                <a:lnTo>
                  <a:pt x="25908" y="0"/>
                </a:lnTo>
                <a:close/>
              </a:path>
              <a:path w="38100" h="269875">
                <a:moveTo>
                  <a:pt x="38100" y="231648"/>
                </a:moveTo>
                <a:lnTo>
                  <a:pt x="25908" y="231648"/>
                </a:lnTo>
                <a:lnTo>
                  <a:pt x="25908" y="237744"/>
                </a:lnTo>
                <a:lnTo>
                  <a:pt x="35173" y="237744"/>
                </a:lnTo>
                <a:lnTo>
                  <a:pt x="38100" y="2316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861467" y="557863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89763" y="1004865"/>
            <a:ext cx="838200" cy="15748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4335" y="2373417"/>
            <a:ext cx="838200" cy="15748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1256" y="2225589"/>
            <a:ext cx="838200" cy="15748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094891" y="630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094891" y="16209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94891" y="26267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094891" y="36326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94891" y="462321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094891" y="56290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94891" y="66348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094891" y="76254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094891" y="8631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094891" y="96219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94891" y="106277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094891" y="116336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094891" y="1262421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094891" y="136300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094891" y="146358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094891" y="156264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094891" y="16632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094891" y="176229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094891" y="186287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094891" y="196346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094891" y="2062521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094891" y="216310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94891" y="226368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094891" y="236274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094891" y="24633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094891" y="256239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094891" y="266297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94891" y="276356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094891" y="2862621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094891" y="296320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094891" y="306378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094891" y="316284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094891" y="32634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1143941" y="112760"/>
            <a:ext cx="22567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分类器设计与学习</a:t>
            </a:r>
            <a:endParaRPr sz="2200"/>
          </a:p>
        </p:txBody>
      </p:sp>
      <p:sp>
        <p:nvSpPr>
          <p:cNvPr id="60" name="object 60"/>
          <p:cNvSpPr txBox="1"/>
          <p:nvPr/>
        </p:nvSpPr>
        <p:spPr>
          <a:xfrm>
            <a:off x="4271167" y="218049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分类器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271120" y="644754"/>
            <a:ext cx="801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近邻分类器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71120" y="1025748"/>
            <a:ext cx="927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贝叶斯分类器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271120" y="1406741"/>
            <a:ext cx="801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线性分类器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271120" y="1787735"/>
            <a:ext cx="1181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支撑向量机分类器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271120" y="2168729"/>
            <a:ext cx="1054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神经网络分类器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271120" y="2549723"/>
            <a:ext cx="675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随机森林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89763" y="1431957"/>
            <a:ext cx="838200" cy="15875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20828" y="1889156"/>
            <a:ext cx="574675" cy="219710"/>
          </a:xfrm>
          <a:custGeom>
            <a:avLst/>
            <a:gdLst/>
            <a:ahLst/>
            <a:cxnLst/>
            <a:rect l="l" t="t" r="r" b="b"/>
            <a:pathLst>
              <a:path w="574675" h="219710">
                <a:moveTo>
                  <a:pt x="0" y="36575"/>
                </a:moveTo>
                <a:lnTo>
                  <a:pt x="2928" y="22502"/>
                </a:lnTo>
                <a:lnTo>
                  <a:pt x="10858" y="10858"/>
                </a:lnTo>
                <a:lnTo>
                  <a:pt x="22502" y="2928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928"/>
                </a:lnTo>
                <a:lnTo>
                  <a:pt x="563689" y="10858"/>
                </a:lnTo>
                <a:lnTo>
                  <a:pt x="571619" y="22502"/>
                </a:lnTo>
                <a:lnTo>
                  <a:pt x="574547" y="36575"/>
                </a:lnTo>
                <a:lnTo>
                  <a:pt x="574547" y="182879"/>
                </a:lnTo>
                <a:lnTo>
                  <a:pt x="571619" y="196953"/>
                </a:lnTo>
                <a:lnTo>
                  <a:pt x="563689" y="208597"/>
                </a:lnTo>
                <a:lnTo>
                  <a:pt x="552045" y="216527"/>
                </a:lnTo>
                <a:lnTo>
                  <a:pt x="537971" y="219455"/>
                </a:lnTo>
                <a:lnTo>
                  <a:pt x="36575" y="219455"/>
                </a:lnTo>
                <a:lnTo>
                  <a:pt x="22502" y="216527"/>
                </a:lnTo>
                <a:lnTo>
                  <a:pt x="10858" y="208597"/>
                </a:lnTo>
                <a:lnTo>
                  <a:pt x="2928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87414" y="1914595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spc="-40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spc="-735" baseline="9000" dirty="0">
                <a:latin typeface="Cambria Math" panose="02040503050406030204"/>
                <a:cs typeface="Cambria Math" panose="02040503050406030204"/>
              </a:rPr>
              <a:t>�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66803" y="1904397"/>
            <a:ext cx="574675" cy="219710"/>
          </a:xfrm>
          <a:custGeom>
            <a:avLst/>
            <a:gdLst/>
            <a:ahLst/>
            <a:cxnLst/>
            <a:rect l="l" t="t" r="r" b="b"/>
            <a:pathLst>
              <a:path w="574675" h="219710">
                <a:moveTo>
                  <a:pt x="0" y="36575"/>
                </a:moveTo>
                <a:lnTo>
                  <a:pt x="2928" y="22502"/>
                </a:lnTo>
                <a:lnTo>
                  <a:pt x="10858" y="10858"/>
                </a:lnTo>
                <a:lnTo>
                  <a:pt x="22502" y="2928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928"/>
                </a:lnTo>
                <a:lnTo>
                  <a:pt x="563689" y="10858"/>
                </a:lnTo>
                <a:lnTo>
                  <a:pt x="571619" y="22502"/>
                </a:lnTo>
                <a:lnTo>
                  <a:pt x="574547" y="36575"/>
                </a:lnTo>
                <a:lnTo>
                  <a:pt x="574547" y="182879"/>
                </a:lnTo>
                <a:lnTo>
                  <a:pt x="571619" y="196953"/>
                </a:lnTo>
                <a:lnTo>
                  <a:pt x="563689" y="208597"/>
                </a:lnTo>
                <a:lnTo>
                  <a:pt x="552045" y="216527"/>
                </a:lnTo>
                <a:lnTo>
                  <a:pt x="537971" y="219455"/>
                </a:lnTo>
                <a:lnTo>
                  <a:pt x="36575" y="219455"/>
                </a:lnTo>
                <a:lnTo>
                  <a:pt x="22502" y="216527"/>
                </a:lnTo>
                <a:lnTo>
                  <a:pt x="10858" y="208597"/>
                </a:lnTo>
                <a:lnTo>
                  <a:pt x="2928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933351" y="1928310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spc="8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26923" y="2846228"/>
            <a:ext cx="573405" cy="219710"/>
          </a:xfrm>
          <a:custGeom>
            <a:avLst/>
            <a:gdLst/>
            <a:ahLst/>
            <a:cxnLst/>
            <a:rect l="l" t="t" r="r" b="b"/>
            <a:pathLst>
              <a:path w="573404" h="219710">
                <a:moveTo>
                  <a:pt x="0" y="36575"/>
                </a:moveTo>
                <a:lnTo>
                  <a:pt x="2690" y="22502"/>
                </a:lnTo>
                <a:lnTo>
                  <a:pt x="10096" y="10858"/>
                </a:lnTo>
                <a:lnTo>
                  <a:pt x="21216" y="2928"/>
                </a:lnTo>
                <a:lnTo>
                  <a:pt x="35051" y="0"/>
                </a:lnTo>
                <a:lnTo>
                  <a:pt x="537971" y="0"/>
                </a:lnTo>
                <a:lnTo>
                  <a:pt x="551807" y="2928"/>
                </a:lnTo>
                <a:lnTo>
                  <a:pt x="562927" y="10858"/>
                </a:lnTo>
                <a:lnTo>
                  <a:pt x="570333" y="22502"/>
                </a:lnTo>
                <a:lnTo>
                  <a:pt x="573023" y="36575"/>
                </a:lnTo>
                <a:lnTo>
                  <a:pt x="573023" y="182879"/>
                </a:lnTo>
                <a:lnTo>
                  <a:pt x="570333" y="196953"/>
                </a:lnTo>
                <a:lnTo>
                  <a:pt x="562927" y="208597"/>
                </a:lnTo>
                <a:lnTo>
                  <a:pt x="551807" y="216527"/>
                </a:lnTo>
                <a:lnTo>
                  <a:pt x="537971" y="219455"/>
                </a:lnTo>
                <a:lnTo>
                  <a:pt x="35051" y="219455"/>
                </a:lnTo>
                <a:lnTo>
                  <a:pt x="21216" y="216527"/>
                </a:lnTo>
                <a:lnTo>
                  <a:pt x="10096" y="208597"/>
                </a:lnTo>
                <a:lnTo>
                  <a:pt x="2690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928562" y="2870143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45367" y="1403001"/>
            <a:ext cx="574675" cy="218440"/>
          </a:xfrm>
          <a:custGeom>
            <a:avLst/>
            <a:gdLst/>
            <a:ahLst/>
            <a:cxnLst/>
            <a:rect l="l" t="t" r="r" b="b"/>
            <a:pathLst>
              <a:path w="574675" h="218440">
                <a:moveTo>
                  <a:pt x="0" y="36575"/>
                </a:moveTo>
                <a:lnTo>
                  <a:pt x="2928" y="21859"/>
                </a:lnTo>
                <a:lnTo>
                  <a:pt x="10858" y="10286"/>
                </a:lnTo>
                <a:lnTo>
                  <a:pt x="22502" y="2714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714"/>
                </a:lnTo>
                <a:lnTo>
                  <a:pt x="563689" y="10286"/>
                </a:lnTo>
                <a:lnTo>
                  <a:pt x="571619" y="21859"/>
                </a:lnTo>
                <a:lnTo>
                  <a:pt x="574547" y="36575"/>
                </a:lnTo>
                <a:lnTo>
                  <a:pt x="574547" y="181355"/>
                </a:lnTo>
                <a:lnTo>
                  <a:pt x="571619" y="195429"/>
                </a:lnTo>
                <a:lnTo>
                  <a:pt x="563689" y="207073"/>
                </a:lnTo>
                <a:lnTo>
                  <a:pt x="552045" y="215003"/>
                </a:lnTo>
                <a:lnTo>
                  <a:pt x="537971" y="217931"/>
                </a:lnTo>
                <a:lnTo>
                  <a:pt x="36575" y="217931"/>
                </a:lnTo>
                <a:lnTo>
                  <a:pt x="22502" y="215003"/>
                </a:lnTo>
                <a:lnTo>
                  <a:pt x="10858" y="207073"/>
                </a:lnTo>
                <a:lnTo>
                  <a:pt x="2928" y="195429"/>
                </a:lnTo>
                <a:lnTo>
                  <a:pt x="0" y="181355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90618" y="142539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89051" y="1163733"/>
            <a:ext cx="38100" cy="268605"/>
          </a:xfrm>
          <a:custGeom>
            <a:avLst/>
            <a:gdLst/>
            <a:ahLst/>
            <a:cxnLst/>
            <a:rect l="l" t="t" r="r" b="b"/>
            <a:pathLst>
              <a:path w="38100" h="268605">
                <a:moveTo>
                  <a:pt x="13715" y="230124"/>
                </a:moveTo>
                <a:lnTo>
                  <a:pt x="0" y="230124"/>
                </a:lnTo>
                <a:lnTo>
                  <a:pt x="19812" y="268224"/>
                </a:lnTo>
                <a:lnTo>
                  <a:pt x="34442" y="237744"/>
                </a:lnTo>
                <a:lnTo>
                  <a:pt x="13715" y="237744"/>
                </a:lnTo>
                <a:lnTo>
                  <a:pt x="13715" y="230124"/>
                </a:lnTo>
                <a:close/>
              </a:path>
              <a:path w="38100" h="268605">
                <a:moveTo>
                  <a:pt x="25908" y="0"/>
                </a:moveTo>
                <a:lnTo>
                  <a:pt x="13715" y="0"/>
                </a:lnTo>
                <a:lnTo>
                  <a:pt x="13715" y="237744"/>
                </a:lnTo>
                <a:lnTo>
                  <a:pt x="25908" y="237744"/>
                </a:lnTo>
                <a:lnTo>
                  <a:pt x="25908" y="0"/>
                </a:lnTo>
                <a:close/>
              </a:path>
              <a:path w="38100" h="268605">
                <a:moveTo>
                  <a:pt x="38100" y="230124"/>
                </a:moveTo>
                <a:lnTo>
                  <a:pt x="25908" y="230124"/>
                </a:lnTo>
                <a:lnTo>
                  <a:pt x="25908" y="237744"/>
                </a:lnTo>
                <a:lnTo>
                  <a:pt x="34442" y="237744"/>
                </a:lnTo>
                <a:lnTo>
                  <a:pt x="38100" y="230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89051" y="1590453"/>
            <a:ext cx="38100" cy="299085"/>
          </a:xfrm>
          <a:custGeom>
            <a:avLst/>
            <a:gdLst/>
            <a:ahLst/>
            <a:cxnLst/>
            <a:rect l="l" t="t" r="r" b="b"/>
            <a:pathLst>
              <a:path w="38100" h="299085">
                <a:moveTo>
                  <a:pt x="13715" y="260603"/>
                </a:moveTo>
                <a:lnTo>
                  <a:pt x="0" y="260603"/>
                </a:lnTo>
                <a:lnTo>
                  <a:pt x="19812" y="298703"/>
                </a:lnTo>
                <a:lnTo>
                  <a:pt x="35173" y="266700"/>
                </a:lnTo>
                <a:lnTo>
                  <a:pt x="13715" y="266700"/>
                </a:lnTo>
                <a:lnTo>
                  <a:pt x="13715" y="260603"/>
                </a:lnTo>
                <a:close/>
              </a:path>
              <a:path w="38100" h="299085">
                <a:moveTo>
                  <a:pt x="25908" y="0"/>
                </a:moveTo>
                <a:lnTo>
                  <a:pt x="13715" y="0"/>
                </a:lnTo>
                <a:lnTo>
                  <a:pt x="13715" y="266700"/>
                </a:lnTo>
                <a:lnTo>
                  <a:pt x="25908" y="266700"/>
                </a:lnTo>
                <a:lnTo>
                  <a:pt x="25908" y="0"/>
                </a:lnTo>
                <a:close/>
              </a:path>
              <a:path w="38100" h="299085">
                <a:moveTo>
                  <a:pt x="38100" y="260603"/>
                </a:moveTo>
                <a:lnTo>
                  <a:pt x="25908" y="260603"/>
                </a:lnTo>
                <a:lnTo>
                  <a:pt x="25908" y="266700"/>
                </a:lnTo>
                <a:lnTo>
                  <a:pt x="35173" y="266700"/>
                </a:lnTo>
                <a:lnTo>
                  <a:pt x="38100" y="260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93623" y="2108613"/>
            <a:ext cx="38100" cy="264160"/>
          </a:xfrm>
          <a:custGeom>
            <a:avLst/>
            <a:gdLst/>
            <a:ahLst/>
            <a:cxnLst/>
            <a:rect l="l" t="t" r="r" b="b"/>
            <a:pathLst>
              <a:path w="38100" h="264160">
                <a:moveTo>
                  <a:pt x="12111" y="225551"/>
                </a:moveTo>
                <a:lnTo>
                  <a:pt x="0" y="225551"/>
                </a:lnTo>
                <a:lnTo>
                  <a:pt x="19812" y="263651"/>
                </a:lnTo>
                <a:lnTo>
                  <a:pt x="35173" y="231647"/>
                </a:lnTo>
                <a:lnTo>
                  <a:pt x="12191" y="231647"/>
                </a:lnTo>
                <a:lnTo>
                  <a:pt x="12111" y="225551"/>
                </a:lnTo>
                <a:close/>
              </a:path>
              <a:path w="38100" h="264160">
                <a:moveTo>
                  <a:pt x="21336" y="0"/>
                </a:moveTo>
                <a:lnTo>
                  <a:pt x="9143" y="0"/>
                </a:lnTo>
                <a:lnTo>
                  <a:pt x="12191" y="231647"/>
                </a:lnTo>
                <a:lnTo>
                  <a:pt x="25908" y="231647"/>
                </a:lnTo>
                <a:lnTo>
                  <a:pt x="21336" y="0"/>
                </a:lnTo>
                <a:close/>
              </a:path>
              <a:path w="38100" h="264160">
                <a:moveTo>
                  <a:pt x="38100" y="225551"/>
                </a:moveTo>
                <a:lnTo>
                  <a:pt x="25787" y="225551"/>
                </a:lnTo>
                <a:lnTo>
                  <a:pt x="25908" y="231647"/>
                </a:lnTo>
                <a:lnTo>
                  <a:pt x="35173" y="231647"/>
                </a:lnTo>
                <a:lnTo>
                  <a:pt x="38100" y="2255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48744" y="2116233"/>
            <a:ext cx="546100" cy="329565"/>
          </a:xfrm>
          <a:custGeom>
            <a:avLst/>
            <a:gdLst/>
            <a:ahLst/>
            <a:cxnLst/>
            <a:rect l="l" t="t" r="r" b="b"/>
            <a:pathLst>
              <a:path w="546100" h="329564">
                <a:moveTo>
                  <a:pt x="491048" y="308671"/>
                </a:moveTo>
                <a:lnTo>
                  <a:pt x="481583" y="324612"/>
                </a:lnTo>
                <a:lnTo>
                  <a:pt x="545592" y="329184"/>
                </a:lnTo>
                <a:lnTo>
                  <a:pt x="535577" y="313944"/>
                </a:lnTo>
                <a:lnTo>
                  <a:pt x="499871" y="313944"/>
                </a:lnTo>
                <a:lnTo>
                  <a:pt x="491048" y="308671"/>
                </a:lnTo>
                <a:close/>
              </a:path>
              <a:path w="546100" h="329564">
                <a:moveTo>
                  <a:pt x="500785" y="292272"/>
                </a:moveTo>
                <a:lnTo>
                  <a:pt x="491048" y="308671"/>
                </a:lnTo>
                <a:lnTo>
                  <a:pt x="499871" y="313944"/>
                </a:lnTo>
                <a:lnTo>
                  <a:pt x="509016" y="297180"/>
                </a:lnTo>
                <a:lnTo>
                  <a:pt x="500785" y="292272"/>
                </a:lnTo>
                <a:close/>
              </a:path>
              <a:path w="546100" h="329564">
                <a:moveTo>
                  <a:pt x="510540" y="275844"/>
                </a:moveTo>
                <a:lnTo>
                  <a:pt x="500785" y="292272"/>
                </a:lnTo>
                <a:lnTo>
                  <a:pt x="509016" y="297180"/>
                </a:lnTo>
                <a:lnTo>
                  <a:pt x="499871" y="313944"/>
                </a:lnTo>
                <a:lnTo>
                  <a:pt x="535577" y="313944"/>
                </a:lnTo>
                <a:lnTo>
                  <a:pt x="510540" y="275844"/>
                </a:lnTo>
                <a:close/>
              </a:path>
              <a:path w="546100" h="329564">
                <a:moveTo>
                  <a:pt x="10668" y="0"/>
                </a:moveTo>
                <a:lnTo>
                  <a:pt x="0" y="15240"/>
                </a:lnTo>
                <a:lnTo>
                  <a:pt x="491048" y="308671"/>
                </a:lnTo>
                <a:lnTo>
                  <a:pt x="500785" y="292272"/>
                </a:lnTo>
                <a:lnTo>
                  <a:pt x="1066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93623" y="2524665"/>
            <a:ext cx="38100" cy="321945"/>
          </a:xfrm>
          <a:custGeom>
            <a:avLst/>
            <a:gdLst/>
            <a:ahLst/>
            <a:cxnLst/>
            <a:rect l="l" t="t" r="r" b="b"/>
            <a:pathLst>
              <a:path w="38100" h="321944">
                <a:moveTo>
                  <a:pt x="13715" y="283463"/>
                </a:moveTo>
                <a:lnTo>
                  <a:pt x="0" y="283463"/>
                </a:lnTo>
                <a:lnTo>
                  <a:pt x="19812" y="321563"/>
                </a:lnTo>
                <a:lnTo>
                  <a:pt x="34442" y="291083"/>
                </a:lnTo>
                <a:lnTo>
                  <a:pt x="13715" y="291083"/>
                </a:lnTo>
                <a:lnTo>
                  <a:pt x="13715" y="283463"/>
                </a:lnTo>
                <a:close/>
              </a:path>
              <a:path w="38100" h="321944">
                <a:moveTo>
                  <a:pt x="25908" y="0"/>
                </a:moveTo>
                <a:lnTo>
                  <a:pt x="13715" y="0"/>
                </a:lnTo>
                <a:lnTo>
                  <a:pt x="13715" y="291083"/>
                </a:lnTo>
                <a:lnTo>
                  <a:pt x="25908" y="291083"/>
                </a:lnTo>
                <a:lnTo>
                  <a:pt x="25908" y="0"/>
                </a:lnTo>
                <a:close/>
              </a:path>
              <a:path w="38100" h="321944">
                <a:moveTo>
                  <a:pt x="38100" y="283463"/>
                </a:moveTo>
                <a:lnTo>
                  <a:pt x="25908" y="283463"/>
                </a:lnTo>
                <a:lnTo>
                  <a:pt x="25908" y="291083"/>
                </a:lnTo>
                <a:lnTo>
                  <a:pt x="34442" y="291083"/>
                </a:lnTo>
                <a:lnTo>
                  <a:pt x="38100" y="283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30356" y="2373789"/>
            <a:ext cx="1498600" cy="588645"/>
          </a:xfrm>
          <a:custGeom>
            <a:avLst/>
            <a:gdLst/>
            <a:ahLst/>
            <a:cxnLst/>
            <a:rect l="l" t="t" r="r" b="b"/>
            <a:pathLst>
              <a:path w="1498600" h="588644">
                <a:moveTo>
                  <a:pt x="38162" y="11525"/>
                </a:moveTo>
                <a:lnTo>
                  <a:pt x="33417" y="23650"/>
                </a:lnTo>
                <a:lnTo>
                  <a:pt x="1493520" y="588263"/>
                </a:lnTo>
                <a:lnTo>
                  <a:pt x="1498092" y="576071"/>
                </a:lnTo>
                <a:lnTo>
                  <a:pt x="38162" y="11525"/>
                </a:lnTo>
                <a:close/>
              </a:path>
              <a:path w="1498600" h="588644">
                <a:moveTo>
                  <a:pt x="42671" y="0"/>
                </a:moveTo>
                <a:lnTo>
                  <a:pt x="0" y="3047"/>
                </a:lnTo>
                <a:lnTo>
                  <a:pt x="28956" y="35051"/>
                </a:lnTo>
                <a:lnTo>
                  <a:pt x="33417" y="23650"/>
                </a:lnTo>
                <a:lnTo>
                  <a:pt x="27431" y="21335"/>
                </a:lnTo>
                <a:lnTo>
                  <a:pt x="32004" y="9143"/>
                </a:lnTo>
                <a:lnTo>
                  <a:pt x="39093" y="9143"/>
                </a:lnTo>
                <a:lnTo>
                  <a:pt x="42671" y="0"/>
                </a:lnTo>
                <a:close/>
              </a:path>
              <a:path w="1498600" h="588644">
                <a:moveTo>
                  <a:pt x="32004" y="9143"/>
                </a:moveTo>
                <a:lnTo>
                  <a:pt x="27431" y="21335"/>
                </a:lnTo>
                <a:lnTo>
                  <a:pt x="33417" y="23650"/>
                </a:lnTo>
                <a:lnTo>
                  <a:pt x="38162" y="11525"/>
                </a:lnTo>
                <a:lnTo>
                  <a:pt x="32004" y="9143"/>
                </a:lnTo>
                <a:close/>
              </a:path>
              <a:path w="1498600" h="588644">
                <a:moveTo>
                  <a:pt x="39093" y="9143"/>
                </a:moveTo>
                <a:lnTo>
                  <a:pt x="32004" y="9143"/>
                </a:lnTo>
                <a:lnTo>
                  <a:pt x="38162" y="11525"/>
                </a:lnTo>
                <a:lnTo>
                  <a:pt x="39093" y="9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0544" y="1620933"/>
            <a:ext cx="38100" cy="599440"/>
          </a:xfrm>
          <a:custGeom>
            <a:avLst/>
            <a:gdLst/>
            <a:ahLst/>
            <a:cxnLst/>
            <a:rect l="l" t="t" r="r" b="b"/>
            <a:pathLst>
              <a:path w="38100" h="599439">
                <a:moveTo>
                  <a:pt x="25907" y="32003"/>
                </a:moveTo>
                <a:lnTo>
                  <a:pt x="13716" y="32003"/>
                </a:lnTo>
                <a:lnTo>
                  <a:pt x="13716" y="598932"/>
                </a:lnTo>
                <a:lnTo>
                  <a:pt x="25907" y="598932"/>
                </a:lnTo>
                <a:lnTo>
                  <a:pt x="25907" y="32003"/>
                </a:lnTo>
                <a:close/>
              </a:path>
              <a:path w="38100" h="599439">
                <a:moveTo>
                  <a:pt x="19812" y="0"/>
                </a:moveTo>
                <a:lnTo>
                  <a:pt x="0" y="38100"/>
                </a:lnTo>
                <a:lnTo>
                  <a:pt x="13716" y="38100"/>
                </a:lnTo>
                <a:lnTo>
                  <a:pt x="13716" y="32003"/>
                </a:lnTo>
                <a:lnTo>
                  <a:pt x="35173" y="32003"/>
                </a:lnTo>
                <a:lnTo>
                  <a:pt x="19812" y="0"/>
                </a:lnTo>
                <a:close/>
              </a:path>
              <a:path w="38100" h="599439">
                <a:moveTo>
                  <a:pt x="35173" y="32003"/>
                </a:moveTo>
                <a:lnTo>
                  <a:pt x="25907" y="32003"/>
                </a:lnTo>
                <a:lnTo>
                  <a:pt x="25907" y="38100"/>
                </a:lnTo>
                <a:lnTo>
                  <a:pt x="38100" y="38100"/>
                </a:lnTo>
                <a:lnTo>
                  <a:pt x="35173" y="320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66157" y="1818583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19916" y="1492917"/>
            <a:ext cx="1069975" cy="38100"/>
          </a:xfrm>
          <a:custGeom>
            <a:avLst/>
            <a:gdLst/>
            <a:ahLst/>
            <a:cxnLst/>
            <a:rect l="l" t="t" r="r" b="b"/>
            <a:pathLst>
              <a:path w="1069975" h="38100">
                <a:moveTo>
                  <a:pt x="1031747" y="0"/>
                </a:moveTo>
                <a:lnTo>
                  <a:pt x="1031747" y="38100"/>
                </a:lnTo>
                <a:lnTo>
                  <a:pt x="1055194" y="25907"/>
                </a:lnTo>
                <a:lnTo>
                  <a:pt x="1037844" y="25907"/>
                </a:lnTo>
                <a:lnTo>
                  <a:pt x="1037844" y="12191"/>
                </a:lnTo>
                <a:lnTo>
                  <a:pt x="1057147" y="12191"/>
                </a:lnTo>
                <a:lnTo>
                  <a:pt x="1031747" y="0"/>
                </a:lnTo>
                <a:close/>
              </a:path>
              <a:path w="1069975" h="38100">
                <a:moveTo>
                  <a:pt x="1031747" y="12191"/>
                </a:moveTo>
                <a:lnTo>
                  <a:pt x="0" y="12191"/>
                </a:lnTo>
                <a:lnTo>
                  <a:pt x="0" y="25907"/>
                </a:lnTo>
                <a:lnTo>
                  <a:pt x="1031747" y="25907"/>
                </a:lnTo>
                <a:lnTo>
                  <a:pt x="1031747" y="12191"/>
                </a:lnTo>
                <a:close/>
              </a:path>
              <a:path w="1069975" h="38100">
                <a:moveTo>
                  <a:pt x="1057147" y="12191"/>
                </a:moveTo>
                <a:lnTo>
                  <a:pt x="1037844" y="12191"/>
                </a:lnTo>
                <a:lnTo>
                  <a:pt x="1037844" y="25907"/>
                </a:lnTo>
                <a:lnTo>
                  <a:pt x="1055194" y="25907"/>
                </a:lnTo>
                <a:lnTo>
                  <a:pt x="1069847" y="18287"/>
                </a:lnTo>
                <a:lnTo>
                  <a:pt x="1057147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82956" y="729393"/>
            <a:ext cx="38100" cy="269875"/>
          </a:xfrm>
          <a:custGeom>
            <a:avLst/>
            <a:gdLst/>
            <a:ahLst/>
            <a:cxnLst/>
            <a:rect l="l" t="t" r="r" b="b"/>
            <a:pathLst>
              <a:path w="38100" h="269875">
                <a:moveTo>
                  <a:pt x="13716" y="231648"/>
                </a:moveTo>
                <a:lnTo>
                  <a:pt x="0" y="231648"/>
                </a:lnTo>
                <a:lnTo>
                  <a:pt x="19812" y="269748"/>
                </a:lnTo>
                <a:lnTo>
                  <a:pt x="35173" y="237743"/>
                </a:lnTo>
                <a:lnTo>
                  <a:pt x="13716" y="237743"/>
                </a:lnTo>
                <a:lnTo>
                  <a:pt x="13716" y="231648"/>
                </a:lnTo>
                <a:close/>
              </a:path>
              <a:path w="38100" h="269875">
                <a:moveTo>
                  <a:pt x="25908" y="0"/>
                </a:moveTo>
                <a:lnTo>
                  <a:pt x="13716" y="0"/>
                </a:lnTo>
                <a:lnTo>
                  <a:pt x="13716" y="237743"/>
                </a:lnTo>
                <a:lnTo>
                  <a:pt x="25908" y="237743"/>
                </a:lnTo>
                <a:lnTo>
                  <a:pt x="25908" y="0"/>
                </a:lnTo>
                <a:close/>
              </a:path>
              <a:path w="38100" h="269875">
                <a:moveTo>
                  <a:pt x="38100" y="231648"/>
                </a:moveTo>
                <a:lnTo>
                  <a:pt x="25908" y="231648"/>
                </a:lnTo>
                <a:lnTo>
                  <a:pt x="25908" y="237743"/>
                </a:lnTo>
                <a:lnTo>
                  <a:pt x="35173" y="237743"/>
                </a:lnTo>
                <a:lnTo>
                  <a:pt x="38100" y="2316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861467" y="552139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89763" y="999141"/>
            <a:ext cx="838200" cy="15748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4335" y="2367693"/>
            <a:ext cx="838200" cy="15748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1256" y="2219865"/>
            <a:ext cx="838200" cy="15748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094891" y="573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094891" y="15636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94891" y="25695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094891" y="357537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94891" y="45659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094891" y="55718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94891" y="65776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094891" y="756825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094891" y="8574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094891" y="95646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94891" y="105705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094891" y="1157637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094891" y="125669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094891" y="135728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094891" y="145786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094891" y="1556925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094891" y="16575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094891" y="175656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094891" y="185715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094891" y="1957737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094891" y="205679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094891" y="215738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94891" y="225796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094891" y="2357025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094891" y="24576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094891" y="255666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094891" y="265725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94891" y="2757837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094891" y="285689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094891" y="295748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094891" y="305806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094891" y="3157125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094891" y="32577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1143941" y="107073"/>
            <a:ext cx="22567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分类器设计与学习</a:t>
            </a:r>
            <a:endParaRPr sz="2200"/>
          </a:p>
        </p:txBody>
      </p:sp>
      <p:sp>
        <p:nvSpPr>
          <p:cNvPr id="60" name="object 60"/>
          <p:cNvSpPr txBox="1"/>
          <p:nvPr/>
        </p:nvSpPr>
        <p:spPr>
          <a:xfrm>
            <a:off x="4271167" y="212325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271120" y="639034"/>
            <a:ext cx="6261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0-1损失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71120" y="1020028"/>
            <a:ext cx="13074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多类支撑向量机损失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271120" y="1401022"/>
            <a:ext cx="801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交叉熵损失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271236" y="1876398"/>
            <a:ext cx="172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微软雅黑" panose="020B0503020204020204" charset="-122"/>
                <a:cs typeface="微软雅黑" panose="020B0503020204020204" charset="-122"/>
              </a:rPr>
              <a:t>...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89763" y="1437681"/>
            <a:ext cx="838200" cy="15875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20828" y="1894881"/>
            <a:ext cx="574675" cy="219710"/>
          </a:xfrm>
          <a:custGeom>
            <a:avLst/>
            <a:gdLst/>
            <a:ahLst/>
            <a:cxnLst/>
            <a:rect l="l" t="t" r="r" b="b"/>
            <a:pathLst>
              <a:path w="574675" h="219710">
                <a:moveTo>
                  <a:pt x="0" y="36575"/>
                </a:moveTo>
                <a:lnTo>
                  <a:pt x="2928" y="22502"/>
                </a:lnTo>
                <a:lnTo>
                  <a:pt x="10858" y="10858"/>
                </a:lnTo>
                <a:lnTo>
                  <a:pt x="22502" y="2928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928"/>
                </a:lnTo>
                <a:lnTo>
                  <a:pt x="563689" y="10858"/>
                </a:lnTo>
                <a:lnTo>
                  <a:pt x="571619" y="22502"/>
                </a:lnTo>
                <a:lnTo>
                  <a:pt x="574547" y="36575"/>
                </a:lnTo>
                <a:lnTo>
                  <a:pt x="574547" y="182879"/>
                </a:lnTo>
                <a:lnTo>
                  <a:pt x="571619" y="196953"/>
                </a:lnTo>
                <a:lnTo>
                  <a:pt x="563689" y="208597"/>
                </a:lnTo>
                <a:lnTo>
                  <a:pt x="552045" y="216527"/>
                </a:lnTo>
                <a:lnTo>
                  <a:pt x="537971" y="219455"/>
                </a:lnTo>
                <a:lnTo>
                  <a:pt x="36575" y="219455"/>
                </a:lnTo>
                <a:lnTo>
                  <a:pt x="22502" y="216527"/>
                </a:lnTo>
                <a:lnTo>
                  <a:pt x="10858" y="208597"/>
                </a:lnTo>
                <a:lnTo>
                  <a:pt x="2928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87414" y="1920319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i="1" spc="-40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i="1" spc="-735" baseline="9000" dirty="0">
                <a:latin typeface="Cambria Math" panose="02040503050406030204"/>
                <a:cs typeface="Cambria Math" panose="02040503050406030204"/>
              </a:rPr>
              <a:t>�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66803" y="1910121"/>
            <a:ext cx="574675" cy="219710"/>
          </a:xfrm>
          <a:custGeom>
            <a:avLst/>
            <a:gdLst/>
            <a:ahLst/>
            <a:cxnLst/>
            <a:rect l="l" t="t" r="r" b="b"/>
            <a:pathLst>
              <a:path w="574675" h="219710">
                <a:moveTo>
                  <a:pt x="0" y="36575"/>
                </a:moveTo>
                <a:lnTo>
                  <a:pt x="2928" y="22502"/>
                </a:lnTo>
                <a:lnTo>
                  <a:pt x="10858" y="10858"/>
                </a:lnTo>
                <a:lnTo>
                  <a:pt x="22502" y="2928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928"/>
                </a:lnTo>
                <a:lnTo>
                  <a:pt x="563689" y="10858"/>
                </a:lnTo>
                <a:lnTo>
                  <a:pt x="571619" y="22502"/>
                </a:lnTo>
                <a:lnTo>
                  <a:pt x="574547" y="36575"/>
                </a:lnTo>
                <a:lnTo>
                  <a:pt x="574547" y="182879"/>
                </a:lnTo>
                <a:lnTo>
                  <a:pt x="571619" y="196953"/>
                </a:lnTo>
                <a:lnTo>
                  <a:pt x="563689" y="208597"/>
                </a:lnTo>
                <a:lnTo>
                  <a:pt x="552045" y="216527"/>
                </a:lnTo>
                <a:lnTo>
                  <a:pt x="537971" y="219455"/>
                </a:lnTo>
                <a:lnTo>
                  <a:pt x="36575" y="219455"/>
                </a:lnTo>
                <a:lnTo>
                  <a:pt x="22502" y="216527"/>
                </a:lnTo>
                <a:lnTo>
                  <a:pt x="10858" y="208597"/>
                </a:lnTo>
                <a:lnTo>
                  <a:pt x="2928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933351" y="193403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i="1" spc="8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26923" y="2851953"/>
            <a:ext cx="573405" cy="219710"/>
          </a:xfrm>
          <a:custGeom>
            <a:avLst/>
            <a:gdLst/>
            <a:ahLst/>
            <a:cxnLst/>
            <a:rect l="l" t="t" r="r" b="b"/>
            <a:pathLst>
              <a:path w="573404" h="219710">
                <a:moveTo>
                  <a:pt x="0" y="36575"/>
                </a:moveTo>
                <a:lnTo>
                  <a:pt x="2690" y="22502"/>
                </a:lnTo>
                <a:lnTo>
                  <a:pt x="10096" y="10858"/>
                </a:lnTo>
                <a:lnTo>
                  <a:pt x="21216" y="2928"/>
                </a:lnTo>
                <a:lnTo>
                  <a:pt x="35051" y="0"/>
                </a:lnTo>
                <a:lnTo>
                  <a:pt x="537971" y="0"/>
                </a:lnTo>
                <a:lnTo>
                  <a:pt x="551807" y="2928"/>
                </a:lnTo>
                <a:lnTo>
                  <a:pt x="562927" y="10858"/>
                </a:lnTo>
                <a:lnTo>
                  <a:pt x="570333" y="22502"/>
                </a:lnTo>
                <a:lnTo>
                  <a:pt x="573023" y="36575"/>
                </a:lnTo>
                <a:lnTo>
                  <a:pt x="573023" y="182879"/>
                </a:lnTo>
                <a:lnTo>
                  <a:pt x="570333" y="196953"/>
                </a:lnTo>
                <a:lnTo>
                  <a:pt x="562927" y="208597"/>
                </a:lnTo>
                <a:lnTo>
                  <a:pt x="551807" y="216527"/>
                </a:lnTo>
                <a:lnTo>
                  <a:pt x="537971" y="219455"/>
                </a:lnTo>
                <a:lnTo>
                  <a:pt x="35051" y="219455"/>
                </a:lnTo>
                <a:lnTo>
                  <a:pt x="21216" y="216527"/>
                </a:lnTo>
                <a:lnTo>
                  <a:pt x="10096" y="208597"/>
                </a:lnTo>
                <a:lnTo>
                  <a:pt x="2690" y="196953"/>
                </a:lnTo>
                <a:lnTo>
                  <a:pt x="0" y="182879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928562" y="2875867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45367" y="1408725"/>
            <a:ext cx="574675" cy="218440"/>
          </a:xfrm>
          <a:custGeom>
            <a:avLst/>
            <a:gdLst/>
            <a:ahLst/>
            <a:cxnLst/>
            <a:rect l="l" t="t" r="r" b="b"/>
            <a:pathLst>
              <a:path w="574675" h="218439">
                <a:moveTo>
                  <a:pt x="0" y="36575"/>
                </a:moveTo>
                <a:lnTo>
                  <a:pt x="2928" y="21859"/>
                </a:lnTo>
                <a:lnTo>
                  <a:pt x="10858" y="10286"/>
                </a:lnTo>
                <a:lnTo>
                  <a:pt x="22502" y="2714"/>
                </a:lnTo>
                <a:lnTo>
                  <a:pt x="36575" y="0"/>
                </a:lnTo>
                <a:lnTo>
                  <a:pt x="537971" y="0"/>
                </a:lnTo>
                <a:lnTo>
                  <a:pt x="552045" y="2714"/>
                </a:lnTo>
                <a:lnTo>
                  <a:pt x="563689" y="10286"/>
                </a:lnTo>
                <a:lnTo>
                  <a:pt x="571619" y="21859"/>
                </a:lnTo>
                <a:lnTo>
                  <a:pt x="574547" y="36575"/>
                </a:lnTo>
                <a:lnTo>
                  <a:pt x="574547" y="181355"/>
                </a:lnTo>
                <a:lnTo>
                  <a:pt x="571619" y="195429"/>
                </a:lnTo>
                <a:lnTo>
                  <a:pt x="563689" y="207073"/>
                </a:lnTo>
                <a:lnTo>
                  <a:pt x="552045" y="215003"/>
                </a:lnTo>
                <a:lnTo>
                  <a:pt x="537971" y="217931"/>
                </a:lnTo>
                <a:lnTo>
                  <a:pt x="36575" y="217931"/>
                </a:lnTo>
                <a:lnTo>
                  <a:pt x="22502" y="215003"/>
                </a:lnTo>
                <a:lnTo>
                  <a:pt x="10858" y="207073"/>
                </a:lnTo>
                <a:lnTo>
                  <a:pt x="2928" y="195429"/>
                </a:lnTo>
                <a:lnTo>
                  <a:pt x="0" y="181355"/>
                </a:lnTo>
                <a:lnTo>
                  <a:pt x="0" y="36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90618" y="143111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89051" y="1169457"/>
            <a:ext cx="38100" cy="268605"/>
          </a:xfrm>
          <a:custGeom>
            <a:avLst/>
            <a:gdLst/>
            <a:ahLst/>
            <a:cxnLst/>
            <a:rect l="l" t="t" r="r" b="b"/>
            <a:pathLst>
              <a:path w="38100" h="268605">
                <a:moveTo>
                  <a:pt x="13715" y="230123"/>
                </a:moveTo>
                <a:lnTo>
                  <a:pt x="0" y="230123"/>
                </a:lnTo>
                <a:lnTo>
                  <a:pt x="19812" y="268223"/>
                </a:lnTo>
                <a:lnTo>
                  <a:pt x="34442" y="237743"/>
                </a:lnTo>
                <a:lnTo>
                  <a:pt x="13715" y="237743"/>
                </a:lnTo>
                <a:lnTo>
                  <a:pt x="13715" y="230123"/>
                </a:lnTo>
                <a:close/>
              </a:path>
              <a:path w="38100" h="268605">
                <a:moveTo>
                  <a:pt x="25908" y="0"/>
                </a:moveTo>
                <a:lnTo>
                  <a:pt x="13715" y="0"/>
                </a:lnTo>
                <a:lnTo>
                  <a:pt x="13715" y="237743"/>
                </a:lnTo>
                <a:lnTo>
                  <a:pt x="25908" y="237743"/>
                </a:lnTo>
                <a:lnTo>
                  <a:pt x="25908" y="0"/>
                </a:lnTo>
                <a:close/>
              </a:path>
              <a:path w="38100" h="268605">
                <a:moveTo>
                  <a:pt x="38100" y="230123"/>
                </a:moveTo>
                <a:lnTo>
                  <a:pt x="25908" y="230123"/>
                </a:lnTo>
                <a:lnTo>
                  <a:pt x="25908" y="237743"/>
                </a:lnTo>
                <a:lnTo>
                  <a:pt x="34442" y="237743"/>
                </a:lnTo>
                <a:lnTo>
                  <a:pt x="38100" y="230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89051" y="1596177"/>
            <a:ext cx="38100" cy="299085"/>
          </a:xfrm>
          <a:custGeom>
            <a:avLst/>
            <a:gdLst/>
            <a:ahLst/>
            <a:cxnLst/>
            <a:rect l="l" t="t" r="r" b="b"/>
            <a:pathLst>
              <a:path w="38100" h="299085">
                <a:moveTo>
                  <a:pt x="13715" y="260604"/>
                </a:moveTo>
                <a:lnTo>
                  <a:pt x="0" y="260604"/>
                </a:lnTo>
                <a:lnTo>
                  <a:pt x="19812" y="298704"/>
                </a:lnTo>
                <a:lnTo>
                  <a:pt x="35173" y="266700"/>
                </a:lnTo>
                <a:lnTo>
                  <a:pt x="13715" y="266700"/>
                </a:lnTo>
                <a:lnTo>
                  <a:pt x="13715" y="260604"/>
                </a:lnTo>
                <a:close/>
              </a:path>
              <a:path w="38100" h="299085">
                <a:moveTo>
                  <a:pt x="25908" y="0"/>
                </a:moveTo>
                <a:lnTo>
                  <a:pt x="13715" y="0"/>
                </a:lnTo>
                <a:lnTo>
                  <a:pt x="13715" y="266700"/>
                </a:lnTo>
                <a:lnTo>
                  <a:pt x="25908" y="266700"/>
                </a:lnTo>
                <a:lnTo>
                  <a:pt x="25908" y="0"/>
                </a:lnTo>
                <a:close/>
              </a:path>
              <a:path w="38100" h="299085">
                <a:moveTo>
                  <a:pt x="38100" y="260604"/>
                </a:moveTo>
                <a:lnTo>
                  <a:pt x="25908" y="260604"/>
                </a:lnTo>
                <a:lnTo>
                  <a:pt x="25908" y="266700"/>
                </a:lnTo>
                <a:lnTo>
                  <a:pt x="35173" y="266700"/>
                </a:lnTo>
                <a:lnTo>
                  <a:pt x="38100" y="260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93623" y="2114337"/>
            <a:ext cx="38100" cy="264160"/>
          </a:xfrm>
          <a:custGeom>
            <a:avLst/>
            <a:gdLst/>
            <a:ahLst/>
            <a:cxnLst/>
            <a:rect l="l" t="t" r="r" b="b"/>
            <a:pathLst>
              <a:path w="38100" h="264160">
                <a:moveTo>
                  <a:pt x="12111" y="225551"/>
                </a:moveTo>
                <a:lnTo>
                  <a:pt x="0" y="225551"/>
                </a:lnTo>
                <a:lnTo>
                  <a:pt x="19812" y="263651"/>
                </a:lnTo>
                <a:lnTo>
                  <a:pt x="35173" y="231648"/>
                </a:lnTo>
                <a:lnTo>
                  <a:pt x="12191" y="231648"/>
                </a:lnTo>
                <a:lnTo>
                  <a:pt x="12111" y="225551"/>
                </a:lnTo>
                <a:close/>
              </a:path>
              <a:path w="38100" h="264160">
                <a:moveTo>
                  <a:pt x="21336" y="0"/>
                </a:moveTo>
                <a:lnTo>
                  <a:pt x="9143" y="0"/>
                </a:lnTo>
                <a:lnTo>
                  <a:pt x="12191" y="231648"/>
                </a:lnTo>
                <a:lnTo>
                  <a:pt x="25908" y="231648"/>
                </a:lnTo>
                <a:lnTo>
                  <a:pt x="21336" y="0"/>
                </a:lnTo>
                <a:close/>
              </a:path>
              <a:path w="38100" h="264160">
                <a:moveTo>
                  <a:pt x="38100" y="225551"/>
                </a:moveTo>
                <a:lnTo>
                  <a:pt x="25787" y="225551"/>
                </a:lnTo>
                <a:lnTo>
                  <a:pt x="25908" y="231648"/>
                </a:lnTo>
                <a:lnTo>
                  <a:pt x="35173" y="231648"/>
                </a:lnTo>
                <a:lnTo>
                  <a:pt x="38100" y="2255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48744" y="2121957"/>
            <a:ext cx="546100" cy="329565"/>
          </a:xfrm>
          <a:custGeom>
            <a:avLst/>
            <a:gdLst/>
            <a:ahLst/>
            <a:cxnLst/>
            <a:rect l="l" t="t" r="r" b="b"/>
            <a:pathLst>
              <a:path w="546100" h="329564">
                <a:moveTo>
                  <a:pt x="491048" y="308671"/>
                </a:moveTo>
                <a:lnTo>
                  <a:pt x="481583" y="324612"/>
                </a:lnTo>
                <a:lnTo>
                  <a:pt x="545592" y="329184"/>
                </a:lnTo>
                <a:lnTo>
                  <a:pt x="535577" y="313944"/>
                </a:lnTo>
                <a:lnTo>
                  <a:pt x="499871" y="313944"/>
                </a:lnTo>
                <a:lnTo>
                  <a:pt x="491048" y="308671"/>
                </a:lnTo>
                <a:close/>
              </a:path>
              <a:path w="546100" h="329564">
                <a:moveTo>
                  <a:pt x="500785" y="292272"/>
                </a:moveTo>
                <a:lnTo>
                  <a:pt x="491048" y="308671"/>
                </a:lnTo>
                <a:lnTo>
                  <a:pt x="499871" y="313944"/>
                </a:lnTo>
                <a:lnTo>
                  <a:pt x="509016" y="297180"/>
                </a:lnTo>
                <a:lnTo>
                  <a:pt x="500785" y="292272"/>
                </a:lnTo>
                <a:close/>
              </a:path>
              <a:path w="546100" h="329564">
                <a:moveTo>
                  <a:pt x="510540" y="275844"/>
                </a:moveTo>
                <a:lnTo>
                  <a:pt x="500785" y="292272"/>
                </a:lnTo>
                <a:lnTo>
                  <a:pt x="509016" y="297180"/>
                </a:lnTo>
                <a:lnTo>
                  <a:pt x="499871" y="313944"/>
                </a:lnTo>
                <a:lnTo>
                  <a:pt x="535577" y="313944"/>
                </a:lnTo>
                <a:lnTo>
                  <a:pt x="510540" y="275844"/>
                </a:lnTo>
                <a:close/>
              </a:path>
              <a:path w="546100" h="329564">
                <a:moveTo>
                  <a:pt x="10668" y="0"/>
                </a:moveTo>
                <a:lnTo>
                  <a:pt x="0" y="15240"/>
                </a:lnTo>
                <a:lnTo>
                  <a:pt x="491048" y="308671"/>
                </a:lnTo>
                <a:lnTo>
                  <a:pt x="500785" y="292272"/>
                </a:lnTo>
                <a:lnTo>
                  <a:pt x="1066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93623" y="2530389"/>
            <a:ext cx="38100" cy="321945"/>
          </a:xfrm>
          <a:custGeom>
            <a:avLst/>
            <a:gdLst/>
            <a:ahLst/>
            <a:cxnLst/>
            <a:rect l="l" t="t" r="r" b="b"/>
            <a:pathLst>
              <a:path w="38100" h="321944">
                <a:moveTo>
                  <a:pt x="13715" y="283463"/>
                </a:moveTo>
                <a:lnTo>
                  <a:pt x="0" y="283463"/>
                </a:lnTo>
                <a:lnTo>
                  <a:pt x="19812" y="321563"/>
                </a:lnTo>
                <a:lnTo>
                  <a:pt x="34442" y="291084"/>
                </a:lnTo>
                <a:lnTo>
                  <a:pt x="13715" y="291084"/>
                </a:lnTo>
                <a:lnTo>
                  <a:pt x="13715" y="283463"/>
                </a:lnTo>
                <a:close/>
              </a:path>
              <a:path w="38100" h="321944">
                <a:moveTo>
                  <a:pt x="25908" y="0"/>
                </a:moveTo>
                <a:lnTo>
                  <a:pt x="13715" y="0"/>
                </a:lnTo>
                <a:lnTo>
                  <a:pt x="13715" y="291084"/>
                </a:lnTo>
                <a:lnTo>
                  <a:pt x="25908" y="291084"/>
                </a:lnTo>
                <a:lnTo>
                  <a:pt x="25908" y="0"/>
                </a:lnTo>
                <a:close/>
              </a:path>
              <a:path w="38100" h="321944">
                <a:moveTo>
                  <a:pt x="38100" y="283463"/>
                </a:moveTo>
                <a:lnTo>
                  <a:pt x="25908" y="283463"/>
                </a:lnTo>
                <a:lnTo>
                  <a:pt x="25908" y="291084"/>
                </a:lnTo>
                <a:lnTo>
                  <a:pt x="34442" y="291084"/>
                </a:lnTo>
                <a:lnTo>
                  <a:pt x="38100" y="283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30356" y="2379513"/>
            <a:ext cx="1498600" cy="588645"/>
          </a:xfrm>
          <a:custGeom>
            <a:avLst/>
            <a:gdLst/>
            <a:ahLst/>
            <a:cxnLst/>
            <a:rect l="l" t="t" r="r" b="b"/>
            <a:pathLst>
              <a:path w="1498600" h="588644">
                <a:moveTo>
                  <a:pt x="38162" y="11525"/>
                </a:moveTo>
                <a:lnTo>
                  <a:pt x="33417" y="23650"/>
                </a:lnTo>
                <a:lnTo>
                  <a:pt x="1493520" y="588263"/>
                </a:lnTo>
                <a:lnTo>
                  <a:pt x="1498092" y="576072"/>
                </a:lnTo>
                <a:lnTo>
                  <a:pt x="38162" y="11525"/>
                </a:lnTo>
                <a:close/>
              </a:path>
              <a:path w="1498600" h="588644">
                <a:moveTo>
                  <a:pt x="42671" y="0"/>
                </a:moveTo>
                <a:lnTo>
                  <a:pt x="0" y="3048"/>
                </a:lnTo>
                <a:lnTo>
                  <a:pt x="28956" y="35051"/>
                </a:lnTo>
                <a:lnTo>
                  <a:pt x="33417" y="23650"/>
                </a:lnTo>
                <a:lnTo>
                  <a:pt x="27431" y="21336"/>
                </a:lnTo>
                <a:lnTo>
                  <a:pt x="32004" y="9143"/>
                </a:lnTo>
                <a:lnTo>
                  <a:pt x="39093" y="9143"/>
                </a:lnTo>
                <a:lnTo>
                  <a:pt x="42671" y="0"/>
                </a:lnTo>
                <a:close/>
              </a:path>
              <a:path w="1498600" h="588644">
                <a:moveTo>
                  <a:pt x="32004" y="9143"/>
                </a:moveTo>
                <a:lnTo>
                  <a:pt x="27431" y="21336"/>
                </a:lnTo>
                <a:lnTo>
                  <a:pt x="33417" y="23650"/>
                </a:lnTo>
                <a:lnTo>
                  <a:pt x="38162" y="11525"/>
                </a:lnTo>
                <a:lnTo>
                  <a:pt x="32004" y="9143"/>
                </a:lnTo>
                <a:close/>
              </a:path>
              <a:path w="1498600" h="588644">
                <a:moveTo>
                  <a:pt x="39093" y="9143"/>
                </a:moveTo>
                <a:lnTo>
                  <a:pt x="32004" y="9143"/>
                </a:lnTo>
                <a:lnTo>
                  <a:pt x="38162" y="11525"/>
                </a:lnTo>
                <a:lnTo>
                  <a:pt x="39093" y="9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0544" y="1626657"/>
            <a:ext cx="38100" cy="599440"/>
          </a:xfrm>
          <a:custGeom>
            <a:avLst/>
            <a:gdLst/>
            <a:ahLst/>
            <a:cxnLst/>
            <a:rect l="l" t="t" r="r" b="b"/>
            <a:pathLst>
              <a:path w="38100" h="599439">
                <a:moveTo>
                  <a:pt x="25907" y="32004"/>
                </a:moveTo>
                <a:lnTo>
                  <a:pt x="13716" y="32004"/>
                </a:lnTo>
                <a:lnTo>
                  <a:pt x="13716" y="598932"/>
                </a:lnTo>
                <a:lnTo>
                  <a:pt x="25907" y="598932"/>
                </a:lnTo>
                <a:lnTo>
                  <a:pt x="25907" y="32004"/>
                </a:lnTo>
                <a:close/>
              </a:path>
              <a:path w="38100" h="599439">
                <a:moveTo>
                  <a:pt x="19812" y="0"/>
                </a:moveTo>
                <a:lnTo>
                  <a:pt x="0" y="38100"/>
                </a:lnTo>
                <a:lnTo>
                  <a:pt x="13716" y="38100"/>
                </a:lnTo>
                <a:lnTo>
                  <a:pt x="13716" y="32004"/>
                </a:lnTo>
                <a:lnTo>
                  <a:pt x="35173" y="32004"/>
                </a:lnTo>
                <a:lnTo>
                  <a:pt x="19812" y="0"/>
                </a:lnTo>
                <a:close/>
              </a:path>
              <a:path w="38100" h="599439">
                <a:moveTo>
                  <a:pt x="35173" y="32004"/>
                </a:moveTo>
                <a:lnTo>
                  <a:pt x="25907" y="32004"/>
                </a:lnTo>
                <a:lnTo>
                  <a:pt x="25907" y="38100"/>
                </a:lnTo>
                <a:lnTo>
                  <a:pt x="38100" y="38100"/>
                </a:lnTo>
                <a:lnTo>
                  <a:pt x="35173" y="320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66157" y="1824307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19916" y="1498641"/>
            <a:ext cx="1069975" cy="38100"/>
          </a:xfrm>
          <a:custGeom>
            <a:avLst/>
            <a:gdLst/>
            <a:ahLst/>
            <a:cxnLst/>
            <a:rect l="l" t="t" r="r" b="b"/>
            <a:pathLst>
              <a:path w="1069975" h="38100">
                <a:moveTo>
                  <a:pt x="1031747" y="0"/>
                </a:moveTo>
                <a:lnTo>
                  <a:pt x="1031747" y="38100"/>
                </a:lnTo>
                <a:lnTo>
                  <a:pt x="1055194" y="25908"/>
                </a:lnTo>
                <a:lnTo>
                  <a:pt x="1037844" y="25908"/>
                </a:lnTo>
                <a:lnTo>
                  <a:pt x="1037844" y="12192"/>
                </a:lnTo>
                <a:lnTo>
                  <a:pt x="1057147" y="12192"/>
                </a:lnTo>
                <a:lnTo>
                  <a:pt x="1031747" y="0"/>
                </a:lnTo>
                <a:close/>
              </a:path>
              <a:path w="1069975" h="38100">
                <a:moveTo>
                  <a:pt x="1031747" y="12192"/>
                </a:moveTo>
                <a:lnTo>
                  <a:pt x="0" y="12192"/>
                </a:lnTo>
                <a:lnTo>
                  <a:pt x="0" y="25908"/>
                </a:lnTo>
                <a:lnTo>
                  <a:pt x="1031747" y="25908"/>
                </a:lnTo>
                <a:lnTo>
                  <a:pt x="1031747" y="12192"/>
                </a:lnTo>
                <a:close/>
              </a:path>
              <a:path w="1069975" h="38100">
                <a:moveTo>
                  <a:pt x="1057147" y="12192"/>
                </a:moveTo>
                <a:lnTo>
                  <a:pt x="1037844" y="12192"/>
                </a:lnTo>
                <a:lnTo>
                  <a:pt x="1037844" y="25908"/>
                </a:lnTo>
                <a:lnTo>
                  <a:pt x="1055194" y="25908"/>
                </a:lnTo>
                <a:lnTo>
                  <a:pt x="1069847" y="18288"/>
                </a:lnTo>
                <a:lnTo>
                  <a:pt x="1057147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82956" y="735117"/>
            <a:ext cx="38100" cy="269875"/>
          </a:xfrm>
          <a:custGeom>
            <a:avLst/>
            <a:gdLst/>
            <a:ahLst/>
            <a:cxnLst/>
            <a:rect l="l" t="t" r="r" b="b"/>
            <a:pathLst>
              <a:path w="38100" h="269875">
                <a:moveTo>
                  <a:pt x="13716" y="231648"/>
                </a:moveTo>
                <a:lnTo>
                  <a:pt x="0" y="231648"/>
                </a:lnTo>
                <a:lnTo>
                  <a:pt x="19812" y="269748"/>
                </a:lnTo>
                <a:lnTo>
                  <a:pt x="35173" y="237744"/>
                </a:lnTo>
                <a:lnTo>
                  <a:pt x="13716" y="237744"/>
                </a:lnTo>
                <a:lnTo>
                  <a:pt x="13716" y="231648"/>
                </a:lnTo>
                <a:close/>
              </a:path>
              <a:path w="38100" h="269875">
                <a:moveTo>
                  <a:pt x="25908" y="0"/>
                </a:moveTo>
                <a:lnTo>
                  <a:pt x="13716" y="0"/>
                </a:lnTo>
                <a:lnTo>
                  <a:pt x="13716" y="237744"/>
                </a:lnTo>
                <a:lnTo>
                  <a:pt x="25908" y="237744"/>
                </a:lnTo>
                <a:lnTo>
                  <a:pt x="25908" y="0"/>
                </a:lnTo>
                <a:close/>
              </a:path>
              <a:path w="38100" h="269875">
                <a:moveTo>
                  <a:pt x="38100" y="231648"/>
                </a:moveTo>
                <a:lnTo>
                  <a:pt x="25908" y="231648"/>
                </a:lnTo>
                <a:lnTo>
                  <a:pt x="25908" y="237744"/>
                </a:lnTo>
                <a:lnTo>
                  <a:pt x="35173" y="237744"/>
                </a:lnTo>
                <a:lnTo>
                  <a:pt x="38100" y="2316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861467" y="557863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89763" y="1004865"/>
            <a:ext cx="838200" cy="15748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4335" y="2373417"/>
            <a:ext cx="838200" cy="15748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1256" y="2225589"/>
            <a:ext cx="838200" cy="15748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094891" y="630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094891" y="16209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94891" y="26267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094891" y="36326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94891" y="462321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094891" y="56290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94891" y="66348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094891" y="76254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094891" y="8631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094891" y="96219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94891" y="106277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094891" y="116336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094891" y="1262421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094891" y="136300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094891" y="146358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094891" y="156264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094891" y="16632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094891" y="176229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094891" y="186287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094891" y="196346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094891" y="2062521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094891" y="216310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94891" y="226368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094891" y="236274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094891" y="24633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094891" y="256239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094891" y="266297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94891" y="276356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094891" y="2862621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094891" y="296320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094891" y="306378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094891" y="316284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094891" y="3263433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1143941" y="112760"/>
            <a:ext cx="22567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分类器设计与学习</a:t>
            </a:r>
            <a:endParaRPr sz="2200"/>
          </a:p>
        </p:txBody>
      </p:sp>
      <p:sp>
        <p:nvSpPr>
          <p:cNvPr id="60" name="object 60"/>
          <p:cNvSpPr txBox="1"/>
          <p:nvPr/>
        </p:nvSpPr>
        <p:spPr>
          <a:xfrm>
            <a:off x="4271120" y="149469"/>
            <a:ext cx="1536065" cy="1742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优化方法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 marL="155575" indent="-142875">
              <a:lnSpc>
                <a:spcPct val="100000"/>
              </a:lnSpc>
              <a:spcBef>
                <a:spcPts val="128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一阶方法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 panose="05000000000000000000"/>
              <a:buChar char=""/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384175" lvl="1" indent="-142875">
              <a:lnSpc>
                <a:spcPct val="100000"/>
              </a:lnSpc>
              <a:spcBef>
                <a:spcPts val="5"/>
              </a:spcBef>
              <a:buFont typeface="Arial" panose="020B0604020202020204"/>
              <a:buChar char="•"/>
              <a:tabLst>
                <a:tab pos="384810" algn="l"/>
              </a:tabLst>
            </a:pP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梯度下降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FF0000"/>
              </a:buClr>
              <a:buFont typeface="Arial" panose="020B0604020202020204"/>
              <a:buChar char="•"/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384175" lvl="1" indent="-142875">
              <a:lnSpc>
                <a:spcPct val="100000"/>
              </a:lnSpc>
              <a:spcBef>
                <a:spcPts val="5"/>
              </a:spcBef>
              <a:buFont typeface="Arial" panose="020B0604020202020204"/>
              <a:buChar char="•"/>
              <a:tabLst>
                <a:tab pos="384810" algn="l"/>
              </a:tabLst>
            </a:pP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随机梯度下降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FF0000"/>
              </a:buClr>
              <a:buFont typeface="Arial" panose="020B0604020202020204"/>
              <a:buChar char="•"/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384175" lvl="1" indent="-142875">
              <a:lnSpc>
                <a:spcPct val="100000"/>
              </a:lnSpc>
              <a:buFont typeface="Arial" panose="020B0604020202020204"/>
              <a:buChar char="•"/>
              <a:tabLst>
                <a:tab pos="384810" algn="l"/>
              </a:tabLst>
            </a:pP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小批量随机梯度下降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FF0000"/>
              </a:buClr>
              <a:buFont typeface="Arial" panose="020B0604020202020204"/>
              <a:buChar char="•"/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55575" indent="-142875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二阶方法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499818" y="2019342"/>
            <a:ext cx="602615" cy="786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Arial" panose="020B0604020202020204"/>
              <a:buChar char="•"/>
              <a:tabLst>
                <a:tab pos="156210" algn="l"/>
              </a:tabLst>
            </a:pP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牛顿法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har char="•"/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55575" indent="-142875">
              <a:lnSpc>
                <a:spcPct val="100000"/>
              </a:lnSpc>
              <a:buFont typeface="Arial" panose="020B0604020202020204"/>
              <a:buChar char="•"/>
              <a:tabLst>
                <a:tab pos="156210" algn="l"/>
              </a:tabLst>
            </a:pPr>
            <a:r>
              <a:rPr sz="1000" spc="-10" dirty="0">
                <a:latin typeface="微软雅黑" panose="020B0503020204020204" charset="-122"/>
                <a:cs typeface="微软雅黑" panose="020B0503020204020204" charset="-122"/>
              </a:rPr>
              <a:t>BFGS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har char="•"/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55575" indent="-142875">
              <a:lnSpc>
                <a:spcPct val="100000"/>
              </a:lnSpc>
              <a:buFont typeface="Arial" panose="020B0604020202020204"/>
              <a:buChar char="•"/>
              <a:tabLst>
                <a:tab pos="156210" algn="l"/>
              </a:tabLst>
            </a:pPr>
            <a:r>
              <a:rPr sz="1000" spc="-10" dirty="0">
                <a:latin typeface="微软雅黑" panose="020B0503020204020204" charset="-122"/>
                <a:cs typeface="微软雅黑" panose="020B0503020204020204" charset="-122"/>
              </a:rPr>
              <a:t>L-BFGS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05159" y="729393"/>
            <a:ext cx="2633471" cy="24383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867525" y="142539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87414" y="1914595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spc="-40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spc="-735" baseline="9000" dirty="0">
                <a:latin typeface="Cambria Math" panose="02040503050406030204"/>
                <a:cs typeface="Cambria Math" panose="02040503050406030204"/>
              </a:rPr>
              <a:t>�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3351" y="1928310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spc="8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28562" y="2870143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0618" y="142539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6157" y="1818583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61467" y="552139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67525" y="99105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72097" y="235956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9017" y="221177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94891" y="573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94891" y="15636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94891" y="25695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094891" y="357537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094891" y="45659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20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094891" y="55718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094891" y="65776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094891" y="756825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094891" y="8574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094891" y="95646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094891" y="105705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094891" y="1157637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094891" y="125669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094891" y="135728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94891" y="145786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5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094891" y="1556925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94891" y="16575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094891" y="175656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94891" y="185715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094891" y="1957737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094891" y="205679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094891" y="215738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94891" y="225796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094891" y="2357025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094891" y="24576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094891" y="2556669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1"/>
                </a:lnTo>
                <a:lnTo>
                  <a:pt x="13716" y="57911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094891" y="2657253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094891" y="2757837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094891" y="2856897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094891" y="2957481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8"/>
                </a:lnTo>
                <a:lnTo>
                  <a:pt x="13716" y="56388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094891" y="3058065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094891" y="3157125"/>
            <a:ext cx="13970" cy="58419"/>
          </a:xfrm>
          <a:custGeom>
            <a:avLst/>
            <a:gdLst/>
            <a:ahLst/>
            <a:cxnLst/>
            <a:rect l="l" t="t" r="r" b="b"/>
            <a:pathLst>
              <a:path w="13970" h="58419">
                <a:moveTo>
                  <a:pt x="13716" y="0"/>
                </a:moveTo>
                <a:lnTo>
                  <a:pt x="0" y="0"/>
                </a:lnTo>
                <a:lnTo>
                  <a:pt x="0" y="57912"/>
                </a:lnTo>
                <a:lnTo>
                  <a:pt x="13716" y="57912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094891" y="3257709"/>
            <a:ext cx="13970" cy="56515"/>
          </a:xfrm>
          <a:custGeom>
            <a:avLst/>
            <a:gdLst/>
            <a:ahLst/>
            <a:cxnLst/>
            <a:rect l="l" t="t" r="r" b="b"/>
            <a:pathLst>
              <a:path w="13970" h="56514">
                <a:moveTo>
                  <a:pt x="13716" y="0"/>
                </a:moveTo>
                <a:lnTo>
                  <a:pt x="0" y="0"/>
                </a:lnTo>
                <a:lnTo>
                  <a:pt x="0" y="56387"/>
                </a:lnTo>
                <a:lnTo>
                  <a:pt x="13716" y="56387"/>
                </a:lnTo>
                <a:lnTo>
                  <a:pt x="13716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1143941" y="107073"/>
            <a:ext cx="22567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分类器设计与学习</a:t>
            </a:r>
            <a:endParaRPr sz="2200"/>
          </a:p>
        </p:txBody>
      </p:sp>
      <p:sp>
        <p:nvSpPr>
          <p:cNvPr id="48" name="object 48"/>
          <p:cNvSpPr txBox="1"/>
          <p:nvPr/>
        </p:nvSpPr>
        <p:spPr>
          <a:xfrm>
            <a:off x="4271120" y="212325"/>
            <a:ext cx="1444625" cy="271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 marL="155575" indent="-142875">
              <a:lnSpc>
                <a:spcPct val="100000"/>
              </a:lnSpc>
              <a:spcBef>
                <a:spcPts val="128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数据集划分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 marL="155575" indent="-142875">
              <a:lnSpc>
                <a:spcPct val="100000"/>
              </a:lnSpc>
              <a:spcBef>
                <a:spcPts val="96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数据预处理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 marL="155575" indent="-142875">
              <a:lnSpc>
                <a:spcPct val="100000"/>
              </a:lnSpc>
              <a:spcBef>
                <a:spcPts val="96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数据增强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 marL="155575" indent="-142875">
              <a:lnSpc>
                <a:spcPct val="100000"/>
              </a:lnSpc>
              <a:spcBef>
                <a:spcPts val="96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欠拟合与过拟合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 marL="384175" lvl="1" indent="-142875">
              <a:lnSpc>
                <a:spcPct val="100000"/>
              </a:lnSpc>
              <a:spcBef>
                <a:spcPts val="960"/>
              </a:spcBef>
              <a:buFont typeface="Wingdings" panose="05000000000000000000"/>
              <a:buChar char=""/>
              <a:tabLst>
                <a:tab pos="3848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减小算法复杂度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 marL="384175" lvl="1" indent="-142875">
              <a:lnSpc>
                <a:spcPct val="100000"/>
              </a:lnSpc>
              <a:spcBef>
                <a:spcPts val="960"/>
              </a:spcBef>
              <a:buFont typeface="Wingdings" panose="05000000000000000000"/>
              <a:buChar char=""/>
              <a:tabLst>
                <a:tab pos="3848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使用权重正则项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 marL="384175" lvl="1" indent="-142875">
              <a:lnSpc>
                <a:spcPct val="100000"/>
              </a:lnSpc>
              <a:spcBef>
                <a:spcPts val="960"/>
              </a:spcBef>
              <a:buFont typeface="Wingdings" panose="05000000000000000000"/>
              <a:buChar char=""/>
              <a:tabLst>
                <a:tab pos="3848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使用d</a:t>
            </a:r>
            <a:r>
              <a:rPr sz="1000" spc="-15" dirty="0"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oput正则化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 marL="155575" indent="-142875">
              <a:lnSpc>
                <a:spcPct val="100000"/>
              </a:lnSpc>
              <a:spcBef>
                <a:spcPts val="96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超参数调整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 marL="155575" indent="-142875">
              <a:lnSpc>
                <a:spcPct val="100000"/>
              </a:lnSpc>
              <a:spcBef>
                <a:spcPts val="96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模型集成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2380" y="112760"/>
            <a:ext cx="1141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图像分类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761360" y="789421"/>
            <a:ext cx="3666490" cy="1690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什么是图像分类任务，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它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有哪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些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应用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场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合？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图像分类任务有哪些难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点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基于规则的方法是否可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行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什么是数据驱动的图像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分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类范</a:t>
            </a:r>
            <a:r>
              <a:rPr sz="1400" spc="-1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式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269875" indent="-2571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27051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常用的分类任务评价指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标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是什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么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7095" y="107073"/>
            <a:ext cx="30937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图像分类任务的评价指标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959461" y="1306482"/>
            <a:ext cx="4100829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24130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正确率（accuracy）=</a:t>
            </a:r>
            <a:r>
              <a:rPr sz="1400" spc="-7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分对的样本数</a:t>
            </a:r>
            <a:r>
              <a:rPr sz="1400" spc="-5" dirty="0">
                <a:latin typeface="微软雅黑" panose="020B0503020204020204" charset="-122"/>
                <a:cs typeface="微软雅黑" panose="020B0503020204020204" charset="-122"/>
              </a:rPr>
              <a:t>/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全部样本数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buFont typeface="Wingdings" panose="05000000000000000000"/>
              <a:buChar char=""/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ct val="100000"/>
              </a:lnSpc>
              <a:spcBef>
                <a:spcPts val="1295"/>
              </a:spcBef>
              <a:buFont typeface="Wingdings" panose="05000000000000000000"/>
              <a:buChar char=""/>
              <a:tabLst>
                <a:tab pos="24130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错误率</a:t>
            </a:r>
            <a:r>
              <a:rPr sz="1400" spc="-5" dirty="0">
                <a:latin typeface="微软雅黑" panose="020B0503020204020204" charset="-122"/>
                <a:cs typeface="微软雅黑" panose="020B0503020204020204" charset="-122"/>
              </a:rPr>
              <a:t>（error</a:t>
            </a:r>
            <a:r>
              <a:rPr sz="1400" spc="-2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latin typeface="微软雅黑" panose="020B0503020204020204" charset="-122"/>
                <a:cs typeface="微软雅黑" panose="020B0503020204020204" charset="-122"/>
              </a:rPr>
              <a:t>rate)</a:t>
            </a:r>
            <a:r>
              <a:rPr sz="1400" spc="-2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= 1</a:t>
            </a:r>
            <a:r>
              <a:rPr sz="1400" spc="-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–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正确率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61320" y="1384341"/>
            <a:ext cx="1341120" cy="111709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1311" y="1961937"/>
            <a:ext cx="414655" cy="38100"/>
          </a:xfrm>
          <a:custGeom>
            <a:avLst/>
            <a:gdLst/>
            <a:ahLst/>
            <a:cxnLst/>
            <a:rect l="l" t="t" r="r" b="b"/>
            <a:pathLst>
              <a:path w="414655" h="38100">
                <a:moveTo>
                  <a:pt x="376427" y="0"/>
                </a:moveTo>
                <a:lnTo>
                  <a:pt x="376427" y="38100"/>
                </a:lnTo>
                <a:lnTo>
                  <a:pt x="411352" y="21336"/>
                </a:lnTo>
                <a:lnTo>
                  <a:pt x="384048" y="21336"/>
                </a:lnTo>
                <a:lnTo>
                  <a:pt x="384048" y="16763"/>
                </a:lnTo>
                <a:lnTo>
                  <a:pt x="408666" y="16763"/>
                </a:lnTo>
                <a:lnTo>
                  <a:pt x="376427" y="0"/>
                </a:lnTo>
                <a:close/>
              </a:path>
              <a:path w="414655" h="38100">
                <a:moveTo>
                  <a:pt x="376427" y="16763"/>
                </a:moveTo>
                <a:lnTo>
                  <a:pt x="0" y="16763"/>
                </a:lnTo>
                <a:lnTo>
                  <a:pt x="0" y="21336"/>
                </a:lnTo>
                <a:lnTo>
                  <a:pt x="376427" y="21336"/>
                </a:lnTo>
                <a:lnTo>
                  <a:pt x="376427" y="16763"/>
                </a:lnTo>
                <a:close/>
              </a:path>
              <a:path w="414655" h="38100">
                <a:moveTo>
                  <a:pt x="408666" y="16763"/>
                </a:moveTo>
                <a:lnTo>
                  <a:pt x="384048" y="16763"/>
                </a:lnTo>
                <a:lnTo>
                  <a:pt x="384048" y="21336"/>
                </a:lnTo>
                <a:lnTo>
                  <a:pt x="411352" y="21336"/>
                </a:lnTo>
                <a:lnTo>
                  <a:pt x="414527" y="19812"/>
                </a:lnTo>
                <a:lnTo>
                  <a:pt x="408666" y="1676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39676" y="1748069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7359" y="1165250"/>
            <a:ext cx="1571625" cy="2012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预测</a:t>
            </a:r>
            <a:r>
              <a:rPr sz="1200" spc="-5" dirty="0">
                <a:latin typeface="微软雅黑" panose="020B0503020204020204" charset="-122"/>
                <a:cs typeface="微软雅黑" panose="020B0503020204020204" charset="-122"/>
              </a:rPr>
              <a:t>1:</a:t>
            </a:r>
            <a:r>
              <a:rPr sz="1200" spc="-1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猫</a:t>
            </a:r>
            <a:r>
              <a:rPr sz="1200" spc="-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狗</a:t>
            </a:r>
            <a:r>
              <a:rPr sz="1200" spc="-2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200" spc="-2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树</a:t>
            </a:r>
            <a:r>
              <a:rPr sz="1200" spc="-2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椅子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67359" y="1531010"/>
            <a:ext cx="1571625" cy="2012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预测</a:t>
            </a:r>
            <a:r>
              <a:rPr sz="1200" spc="-5" dirty="0">
                <a:latin typeface="微软雅黑" panose="020B0503020204020204" charset="-122"/>
                <a:cs typeface="微软雅黑" panose="020B0503020204020204" charset="-122"/>
              </a:rPr>
              <a:t>2:</a:t>
            </a:r>
            <a:r>
              <a:rPr sz="1200" spc="-1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狗</a:t>
            </a:r>
            <a:r>
              <a:rPr sz="1200" spc="-3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猫</a:t>
            </a:r>
            <a:r>
              <a:rPr sz="1200" spc="-2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200" spc="-2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树</a:t>
            </a:r>
            <a:r>
              <a:rPr sz="1200" spc="-2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椅子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13639" y="1152261"/>
            <a:ext cx="352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1200" spc="-5" dirty="0">
                <a:latin typeface="Calibri" panose="020F0502020204030204"/>
                <a:cs typeface="Calibri" panose="020F0502020204030204"/>
              </a:rPr>
              <a:t>OP1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96432" y="1127547"/>
            <a:ext cx="1793047" cy="2598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95731" y="1126785"/>
            <a:ext cx="1789430" cy="256540"/>
          </a:xfrm>
          <a:custGeom>
            <a:avLst/>
            <a:gdLst/>
            <a:ahLst/>
            <a:cxnLst/>
            <a:rect l="l" t="t" r="r" b="b"/>
            <a:pathLst>
              <a:path w="1789429" h="256540">
                <a:moveTo>
                  <a:pt x="0" y="0"/>
                </a:moveTo>
                <a:lnTo>
                  <a:pt x="1789175" y="0"/>
                </a:lnTo>
                <a:lnTo>
                  <a:pt x="1789175" y="256031"/>
                </a:lnTo>
                <a:lnTo>
                  <a:pt x="0" y="25603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96432" y="1510023"/>
            <a:ext cx="1793047" cy="258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95731" y="1509309"/>
            <a:ext cx="1789430" cy="256540"/>
          </a:xfrm>
          <a:custGeom>
            <a:avLst/>
            <a:gdLst/>
            <a:ahLst/>
            <a:cxnLst/>
            <a:rect l="l" t="t" r="r" b="b"/>
            <a:pathLst>
              <a:path w="1789429" h="256539">
                <a:moveTo>
                  <a:pt x="0" y="0"/>
                </a:moveTo>
                <a:lnTo>
                  <a:pt x="1789175" y="0"/>
                </a:lnTo>
                <a:lnTo>
                  <a:pt x="1789175" y="256031"/>
                </a:lnTo>
                <a:lnTo>
                  <a:pt x="0" y="25603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8C38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741072" y="2130669"/>
            <a:ext cx="352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1200" spc="-5" dirty="0">
                <a:latin typeface="Calibri" panose="020F0502020204030204"/>
                <a:cs typeface="Calibri" panose="020F0502020204030204"/>
              </a:rPr>
              <a:t>OP5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4791" y="2143658"/>
            <a:ext cx="1571625" cy="2012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预测</a:t>
            </a:r>
            <a:r>
              <a:rPr sz="1200" spc="-5" dirty="0">
                <a:latin typeface="微软雅黑" panose="020B0503020204020204" charset="-122"/>
                <a:cs typeface="微软雅黑" panose="020B0503020204020204" charset="-122"/>
              </a:rPr>
              <a:t>1:</a:t>
            </a:r>
            <a:r>
              <a:rPr sz="1200" spc="-1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猫</a:t>
            </a:r>
            <a:r>
              <a:rPr sz="1200" spc="-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狗</a:t>
            </a:r>
            <a:r>
              <a:rPr sz="1200" spc="-2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200" spc="-2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树</a:t>
            </a:r>
            <a:r>
              <a:rPr sz="1200" spc="-2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椅子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94791" y="2509418"/>
            <a:ext cx="1571625" cy="2012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预测</a:t>
            </a:r>
            <a:r>
              <a:rPr sz="1200" spc="-5" dirty="0">
                <a:latin typeface="微软雅黑" panose="020B0503020204020204" charset="-122"/>
                <a:cs typeface="微软雅黑" panose="020B0503020204020204" charset="-122"/>
              </a:rPr>
              <a:t>2:</a:t>
            </a:r>
            <a:r>
              <a:rPr sz="1200" spc="-1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狗</a:t>
            </a:r>
            <a:r>
              <a:rPr sz="1200" spc="-3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猫</a:t>
            </a:r>
            <a:r>
              <a:rPr sz="1200" spc="-2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200" spc="-2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树</a:t>
            </a:r>
            <a:r>
              <a:rPr sz="1200" spc="-2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椅子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21228" y="2104788"/>
            <a:ext cx="1793047" cy="2583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23163" y="2105193"/>
            <a:ext cx="1790700" cy="256540"/>
          </a:xfrm>
          <a:custGeom>
            <a:avLst/>
            <a:gdLst/>
            <a:ahLst/>
            <a:cxnLst/>
            <a:rect l="l" t="t" r="r" b="b"/>
            <a:pathLst>
              <a:path w="1790700" h="256539">
                <a:moveTo>
                  <a:pt x="0" y="0"/>
                </a:moveTo>
                <a:lnTo>
                  <a:pt x="1790699" y="0"/>
                </a:lnTo>
                <a:lnTo>
                  <a:pt x="1790699" y="256031"/>
                </a:lnTo>
                <a:lnTo>
                  <a:pt x="0" y="25603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21228" y="2487312"/>
            <a:ext cx="1793047" cy="2583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23163" y="2487717"/>
            <a:ext cx="1790700" cy="256540"/>
          </a:xfrm>
          <a:custGeom>
            <a:avLst/>
            <a:gdLst/>
            <a:ahLst/>
            <a:cxnLst/>
            <a:rect l="l" t="t" r="r" b="b"/>
            <a:pathLst>
              <a:path w="1790700" h="256539">
                <a:moveTo>
                  <a:pt x="0" y="0"/>
                </a:moveTo>
                <a:lnTo>
                  <a:pt x="1790699" y="0"/>
                </a:lnTo>
                <a:lnTo>
                  <a:pt x="1790699" y="256031"/>
                </a:lnTo>
                <a:lnTo>
                  <a:pt x="0" y="25603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8C38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019452" y="1036285"/>
            <a:ext cx="252095" cy="1717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√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×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67310">
              <a:lnSpc>
                <a:spcPts val="2810"/>
              </a:lnSpc>
              <a:spcBef>
                <a:spcPts val="1845"/>
              </a:spcBef>
            </a:pP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√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8580" algn="ctr">
              <a:lnSpc>
                <a:spcPts val="2810"/>
              </a:lnSpc>
            </a:pP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√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527975" y="112760"/>
            <a:ext cx="27946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65" dirty="0"/>
              <a:t>Top1</a:t>
            </a:r>
            <a:r>
              <a:rPr sz="2200" spc="-5" dirty="0"/>
              <a:t>指标与</a:t>
            </a:r>
            <a:r>
              <a:rPr sz="2200" spc="-65" dirty="0"/>
              <a:t>Top5</a:t>
            </a:r>
            <a:r>
              <a:rPr sz="2200" spc="-5" dirty="0"/>
              <a:t>指标</a:t>
            </a:r>
            <a:endParaRPr sz="2200"/>
          </a:p>
        </p:txBody>
      </p:sp>
      <p:sp>
        <p:nvSpPr>
          <p:cNvPr id="25" name="object 2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OWI3MjA2OTUwNzNiZDBkMWU1NmU5MGU1NjQ5NzdlNWI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1897</Words>
  <Application>WPS 演示</Application>
  <PresentationFormat>自定义</PresentationFormat>
  <Paragraphs>387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Times New Roman</vt:lpstr>
      <vt:lpstr>黑体</vt:lpstr>
      <vt:lpstr>Arial</vt:lpstr>
      <vt:lpstr>Calibri</vt:lpstr>
      <vt:lpstr>Arial Unicode MS</vt:lpstr>
      <vt:lpstr>Calibri</vt:lpstr>
      <vt:lpstr>Microsoft YaHei UI Light</vt:lpstr>
      <vt:lpstr>Microsoft YaHei UI</vt:lpstr>
      <vt:lpstr>Arial Unicode MS</vt:lpstr>
      <vt:lpstr>Cambria Math</vt:lpstr>
      <vt:lpstr>Wingdings</vt:lpstr>
      <vt:lpstr>Office Theme</vt:lpstr>
      <vt:lpstr>PowerPoint 演示文稿</vt:lpstr>
      <vt:lpstr>图像分类</vt:lpstr>
      <vt:lpstr>图像分类</vt:lpstr>
      <vt:lpstr>什么是图像分类任务？</vt:lpstr>
      <vt:lpstr>什么是图像分类任务？</vt:lpstr>
      <vt:lpstr>它有哪些应用场合？</vt:lpstr>
      <vt:lpstr>它有哪些应用场合？</vt:lpstr>
      <vt:lpstr>图像分类</vt:lpstr>
      <vt:lpstr>图像分类任务有哪些难点呢？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背景杂波</vt:lpstr>
      <vt:lpstr>类内形变</vt:lpstr>
      <vt:lpstr>运动模糊</vt:lpstr>
      <vt:lpstr>类别繁多</vt:lpstr>
      <vt:lpstr>图像分类</vt:lpstr>
      <vt:lpstr>PowerPoint 演示文稿</vt:lpstr>
      <vt:lpstr>基于规则的分类方法是否可行？</vt:lpstr>
      <vt:lpstr>基于规则的分类方法是否可行？</vt:lpstr>
      <vt:lpstr>图像分类</vt:lpstr>
      <vt:lpstr>数据驱动的图像分类方法</vt:lpstr>
      <vt:lpstr>分类器设计与学习</vt:lpstr>
      <vt:lpstr>分类器设计与学习</vt:lpstr>
      <vt:lpstr>分类器设计与学习</vt:lpstr>
      <vt:lpstr>分类器设计与学习</vt:lpstr>
      <vt:lpstr>分类器设计与学习</vt:lpstr>
      <vt:lpstr>分类器设计与学习</vt:lpstr>
      <vt:lpstr>图像分类</vt:lpstr>
      <vt:lpstr>图像分类任务的评价指标</vt:lpstr>
      <vt:lpstr>Top1指标与Top5指标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到处走走HJF</cp:lastModifiedBy>
  <cp:revision>9</cp:revision>
  <dcterms:created xsi:type="dcterms:W3CDTF">2020-11-12T01:45:00Z</dcterms:created>
  <dcterms:modified xsi:type="dcterms:W3CDTF">2024-03-04T03:36:54Z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2020-11-12T08:00:00Z</vt:filetime>
  </property>
  <property fmtid="{D5CDD505-2E9C-101B-9397-08002B2CF9AE}" pid="3" name="Creator">
    <vt:lpwstr>Adobe Acrobat Pro DC 19.8.20074</vt:lpwstr>
  </property>
  <property fmtid="{D5CDD505-2E9C-101B-9397-08002B2CF9AE}" pid="4" name="LastSaved">
    <vt:filetime>2020-11-12T08:00:00Z</vt:filetime>
  </property>
  <property fmtid="{D5CDD505-2E9C-101B-9397-08002B2CF9AE}" pid="5" name="ICV">
    <vt:lpwstr>0429E80666724CE3B960A84E4EFC27A7_12</vt:lpwstr>
  </property>
  <property fmtid="{D5CDD505-2E9C-101B-9397-08002B2CF9AE}" pid="6" name="KSOProductBuildVer">
    <vt:lpwstr>2052-12.1.0.16388</vt:lpwstr>
  </property>
</Properties>
</file>