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6159500" cy="3505200"/>
  <p:notesSz cx="6159500" cy="35052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6" d="100"/>
          <a:sy n="206" d="100"/>
        </p:scale>
        <p:origin x="81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60646" y="1266714"/>
            <a:ext cx="1844557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08806" y="1935751"/>
            <a:ext cx="3348237" cy="464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8292" y="806196"/>
            <a:ext cx="2682144" cy="2313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75412" y="806196"/>
            <a:ext cx="2682144" cy="2313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4919" y="3257676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4919" y="3257676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4919" y="3257676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48413" y="172592"/>
            <a:ext cx="1669023" cy="32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6003" y="649113"/>
            <a:ext cx="3226435" cy="1654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96389" y="3259836"/>
            <a:ext cx="1973072" cy="1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8292" y="3259836"/>
            <a:ext cx="1418145" cy="1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39412" y="3259836"/>
            <a:ext cx="1418145" cy="1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10" Type="http://schemas.openxmlformats.org/officeDocument/2006/relationships/image" Target="../media/image15.jp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0646" y="1266714"/>
            <a:ext cx="1699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微软雅黑"/>
                <a:cs typeface="微软雅黑"/>
              </a:rPr>
              <a:t>卷积神经网络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8806" y="1935751"/>
            <a:ext cx="3255645" cy="4700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85"/>
              </a:spcBef>
            </a:pPr>
            <a:r>
              <a:rPr lang="zh-CN" altLang="en-US" sz="1200" b="1" smtClean="0">
                <a:latin typeface="微软雅黑"/>
                <a:cs typeface="微软雅黑"/>
              </a:rPr>
              <a:t>赵亚凤</a:t>
            </a:r>
            <a:endParaRPr lang="en-US" altLang="zh-CN" sz="1200" b="1" smtClean="0">
              <a:latin typeface="微软雅黑"/>
              <a:cs typeface="微软雅黑"/>
            </a:endParaRPr>
          </a:p>
          <a:p>
            <a:pPr marL="1270" algn="ctr">
              <a:lnSpc>
                <a:spcPct val="100000"/>
              </a:lnSpc>
              <a:spcBef>
                <a:spcPts val="385"/>
              </a:spcBef>
            </a:pPr>
            <a:r>
              <a:rPr lang="zh-CN" altLang="en-US" sz="1200" b="1">
                <a:latin typeface="微软雅黑"/>
                <a:cs typeface="微软雅黑"/>
              </a:rPr>
              <a:t>东北林业</a:t>
            </a:r>
            <a:r>
              <a:rPr lang="zh-CN" altLang="en-US" sz="1200" b="1">
                <a:latin typeface="微软雅黑"/>
                <a:cs typeface="微软雅黑"/>
              </a:rPr>
              <a:t>大</a:t>
            </a:r>
            <a:r>
              <a:rPr lang="zh-CN" altLang="en-US" sz="1200" b="1" smtClean="0">
                <a:latin typeface="微软雅黑"/>
                <a:cs typeface="微软雅黑"/>
              </a:rPr>
              <a:t>学 信息与计算机工程学院</a:t>
            </a:r>
            <a:endParaRPr sz="1200" b="1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920" y="323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920" y="3235595"/>
            <a:ext cx="6096000" cy="218440"/>
          </a:xfrm>
          <a:custGeom>
            <a:avLst/>
            <a:gdLst/>
            <a:ahLst/>
            <a:cxnLst/>
            <a:rect l="l" t="t" r="r" b="b"/>
            <a:pathLst>
              <a:path w="6096000" h="218439">
                <a:moveTo>
                  <a:pt x="0" y="217932"/>
                </a:moveTo>
                <a:lnTo>
                  <a:pt x="6096000" y="217932"/>
                </a:lnTo>
                <a:lnTo>
                  <a:pt x="6096000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ln w="127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2007" y="1290192"/>
            <a:ext cx="891540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5"/>
              </a:spcBef>
            </a:pPr>
            <a:r>
              <a:rPr sz="900" dirty="0">
                <a:latin typeface="微软雅黑"/>
                <a:cs typeface="微软雅黑"/>
              </a:rPr>
              <a:t>分类模型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22215" y="1829688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80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80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80"/>
                </a:lnTo>
                <a:lnTo>
                  <a:pt x="43179" y="259080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07940" y="1877948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预测值</a:t>
            </a:r>
            <a:r>
              <a:rPr sz="900" spc="-459" dirty="0">
                <a:latin typeface="Cambria Math"/>
                <a:cs typeface="Cambria Math"/>
              </a:rPr>
              <a:t>𝑌</a:t>
            </a:r>
            <a:r>
              <a:rPr sz="1350" spc="-660" baseline="9259" dirty="0">
                <a:latin typeface="Cambria Math"/>
                <a:cs typeface="Cambria Math"/>
              </a:rPr>
              <a:t>෠</a:t>
            </a:r>
            <a:endParaRPr sz="1350" baseline="9259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89243" y="1829688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3180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9467" y="0"/>
                </a:lnTo>
                <a:lnTo>
                  <a:pt x="586287" y="3389"/>
                </a:lnTo>
                <a:lnTo>
                  <a:pt x="600011" y="12636"/>
                </a:lnTo>
                <a:lnTo>
                  <a:pt x="609258" y="26360"/>
                </a:lnTo>
                <a:lnTo>
                  <a:pt x="612647" y="43180"/>
                </a:lnTo>
                <a:lnTo>
                  <a:pt x="612647" y="215900"/>
                </a:lnTo>
                <a:lnTo>
                  <a:pt x="609258" y="232719"/>
                </a:lnTo>
                <a:lnTo>
                  <a:pt x="600011" y="246443"/>
                </a:lnTo>
                <a:lnTo>
                  <a:pt x="586287" y="255690"/>
                </a:lnTo>
                <a:lnTo>
                  <a:pt x="569467" y="259080"/>
                </a:lnTo>
                <a:lnTo>
                  <a:pt x="43179" y="259080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6238" y="1875154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真实值</a:t>
            </a:r>
            <a:r>
              <a:rPr sz="900" dirty="0">
                <a:latin typeface="Cambria Math"/>
                <a:cs typeface="Cambria Math"/>
              </a:rPr>
              <a:t>𝑌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37911" y="2963544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80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3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4" y="43180"/>
                </a:lnTo>
                <a:lnTo>
                  <a:pt x="611124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3" y="259080"/>
                </a:lnTo>
                <a:lnTo>
                  <a:pt x="43180" y="259080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59324" y="300939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损失值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2159" y="1253616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80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80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80"/>
                </a:lnTo>
                <a:lnTo>
                  <a:pt x="43180" y="259080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5913" y="1298575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模型参数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09489" y="971676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2700" y="280416"/>
                </a:moveTo>
                <a:lnTo>
                  <a:pt x="0" y="280416"/>
                </a:lnTo>
                <a:lnTo>
                  <a:pt x="19050" y="318516"/>
                </a:lnTo>
                <a:lnTo>
                  <a:pt x="34925" y="286766"/>
                </a:lnTo>
                <a:lnTo>
                  <a:pt x="12700" y="286766"/>
                </a:lnTo>
                <a:lnTo>
                  <a:pt x="12700" y="280416"/>
                </a:lnTo>
                <a:close/>
              </a:path>
              <a:path w="38100" h="318769">
                <a:moveTo>
                  <a:pt x="25400" y="0"/>
                </a:moveTo>
                <a:lnTo>
                  <a:pt x="12700" y="0"/>
                </a:lnTo>
                <a:lnTo>
                  <a:pt x="12700" y="286766"/>
                </a:lnTo>
                <a:lnTo>
                  <a:pt x="25400" y="286766"/>
                </a:lnTo>
                <a:lnTo>
                  <a:pt x="25400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5400" y="280416"/>
                </a:lnTo>
                <a:lnTo>
                  <a:pt x="25400" y="286766"/>
                </a:lnTo>
                <a:lnTo>
                  <a:pt x="34925" y="286766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00727" y="1478406"/>
            <a:ext cx="57150" cy="353695"/>
          </a:xfrm>
          <a:custGeom>
            <a:avLst/>
            <a:gdLst/>
            <a:ahLst/>
            <a:cxnLst/>
            <a:rect l="l" t="t" r="r" b="b"/>
            <a:pathLst>
              <a:path w="57150" h="353694">
                <a:moveTo>
                  <a:pt x="19050" y="296291"/>
                </a:moveTo>
                <a:lnTo>
                  <a:pt x="0" y="296291"/>
                </a:lnTo>
                <a:lnTo>
                  <a:pt x="28575" y="353441"/>
                </a:lnTo>
                <a:lnTo>
                  <a:pt x="52387" y="305816"/>
                </a:lnTo>
                <a:lnTo>
                  <a:pt x="19050" y="305816"/>
                </a:lnTo>
                <a:lnTo>
                  <a:pt x="19050" y="296291"/>
                </a:lnTo>
                <a:close/>
              </a:path>
              <a:path w="57150" h="353694">
                <a:moveTo>
                  <a:pt x="38100" y="0"/>
                </a:moveTo>
                <a:lnTo>
                  <a:pt x="19050" y="0"/>
                </a:lnTo>
                <a:lnTo>
                  <a:pt x="19050" y="305816"/>
                </a:lnTo>
                <a:lnTo>
                  <a:pt x="38100" y="305816"/>
                </a:lnTo>
                <a:lnTo>
                  <a:pt x="38100" y="0"/>
                </a:lnTo>
                <a:close/>
              </a:path>
              <a:path w="57150" h="353694">
                <a:moveTo>
                  <a:pt x="57150" y="296291"/>
                </a:moveTo>
                <a:lnTo>
                  <a:pt x="38100" y="296291"/>
                </a:lnTo>
                <a:lnTo>
                  <a:pt x="38100" y="305816"/>
                </a:lnTo>
                <a:lnTo>
                  <a:pt x="52387" y="305816"/>
                </a:lnTo>
                <a:lnTo>
                  <a:pt x="57150" y="296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5110" y="2081021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769" y="298151"/>
                </a:moveTo>
                <a:lnTo>
                  <a:pt x="556260" y="315213"/>
                </a:lnTo>
                <a:lnTo>
                  <a:pt x="620267" y="315087"/>
                </a:lnTo>
                <a:lnTo>
                  <a:pt x="610695" y="302387"/>
                </a:lnTo>
                <a:lnTo>
                  <a:pt x="573277" y="302387"/>
                </a:lnTo>
                <a:lnTo>
                  <a:pt x="564769" y="298151"/>
                </a:lnTo>
                <a:close/>
              </a:path>
              <a:path w="620394" h="315594">
                <a:moveTo>
                  <a:pt x="573261" y="281126"/>
                </a:moveTo>
                <a:lnTo>
                  <a:pt x="564769" y="298151"/>
                </a:lnTo>
                <a:lnTo>
                  <a:pt x="573277" y="302387"/>
                </a:lnTo>
                <a:lnTo>
                  <a:pt x="581787" y="285369"/>
                </a:lnTo>
                <a:lnTo>
                  <a:pt x="573261" y="281126"/>
                </a:lnTo>
                <a:close/>
              </a:path>
              <a:path w="620394" h="315594">
                <a:moveTo>
                  <a:pt x="581787" y="264032"/>
                </a:moveTo>
                <a:lnTo>
                  <a:pt x="573261" y="281126"/>
                </a:lnTo>
                <a:lnTo>
                  <a:pt x="581787" y="285369"/>
                </a:lnTo>
                <a:lnTo>
                  <a:pt x="573277" y="302387"/>
                </a:lnTo>
                <a:lnTo>
                  <a:pt x="610695" y="302387"/>
                </a:lnTo>
                <a:lnTo>
                  <a:pt x="581787" y="264032"/>
                </a:lnTo>
                <a:close/>
              </a:path>
              <a:path w="620394" h="315594">
                <a:moveTo>
                  <a:pt x="8381" y="0"/>
                </a:moveTo>
                <a:lnTo>
                  <a:pt x="0" y="17018"/>
                </a:lnTo>
                <a:lnTo>
                  <a:pt x="564769" y="298151"/>
                </a:lnTo>
                <a:lnTo>
                  <a:pt x="573261" y="281126"/>
                </a:lnTo>
                <a:lnTo>
                  <a:pt x="83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44997" y="2080767"/>
            <a:ext cx="755650" cy="320675"/>
          </a:xfrm>
          <a:custGeom>
            <a:avLst/>
            <a:gdLst/>
            <a:ahLst/>
            <a:cxnLst/>
            <a:rect l="l" t="t" r="r" b="b"/>
            <a:pathLst>
              <a:path w="755650" h="320675">
                <a:moveTo>
                  <a:pt x="42163" y="267335"/>
                </a:moveTo>
                <a:lnTo>
                  <a:pt x="0" y="315341"/>
                </a:lnTo>
                <a:lnTo>
                  <a:pt x="63753" y="320294"/>
                </a:lnTo>
                <a:lnTo>
                  <a:pt x="58007" y="306197"/>
                </a:lnTo>
                <a:lnTo>
                  <a:pt x="47751" y="306197"/>
                </a:lnTo>
                <a:lnTo>
                  <a:pt x="40512" y="288544"/>
                </a:lnTo>
                <a:lnTo>
                  <a:pt x="49342" y="284944"/>
                </a:lnTo>
                <a:lnTo>
                  <a:pt x="42163" y="267335"/>
                </a:lnTo>
                <a:close/>
              </a:path>
              <a:path w="755650" h="320675">
                <a:moveTo>
                  <a:pt x="49342" y="284944"/>
                </a:moveTo>
                <a:lnTo>
                  <a:pt x="40512" y="288544"/>
                </a:lnTo>
                <a:lnTo>
                  <a:pt x="47751" y="306197"/>
                </a:lnTo>
                <a:lnTo>
                  <a:pt x="56544" y="302610"/>
                </a:lnTo>
                <a:lnTo>
                  <a:pt x="49342" y="284944"/>
                </a:lnTo>
                <a:close/>
              </a:path>
              <a:path w="755650" h="320675">
                <a:moveTo>
                  <a:pt x="56544" y="302610"/>
                </a:moveTo>
                <a:lnTo>
                  <a:pt x="47751" y="306197"/>
                </a:lnTo>
                <a:lnTo>
                  <a:pt x="58007" y="306197"/>
                </a:lnTo>
                <a:lnTo>
                  <a:pt x="56544" y="302610"/>
                </a:lnTo>
                <a:close/>
              </a:path>
              <a:path w="755650" h="320675">
                <a:moveTo>
                  <a:pt x="748284" y="0"/>
                </a:moveTo>
                <a:lnTo>
                  <a:pt x="49342" y="284944"/>
                </a:lnTo>
                <a:lnTo>
                  <a:pt x="56544" y="302610"/>
                </a:lnTo>
                <a:lnTo>
                  <a:pt x="755523" y="17525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16422" y="2583306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19050" y="323850"/>
                </a:moveTo>
                <a:lnTo>
                  <a:pt x="0" y="323850"/>
                </a:lnTo>
                <a:lnTo>
                  <a:pt x="28575" y="381000"/>
                </a:lnTo>
                <a:lnTo>
                  <a:pt x="52387" y="333375"/>
                </a:lnTo>
                <a:lnTo>
                  <a:pt x="19050" y="333375"/>
                </a:lnTo>
                <a:lnTo>
                  <a:pt x="19050" y="323850"/>
                </a:lnTo>
                <a:close/>
              </a:path>
              <a:path w="57150" h="381000">
                <a:moveTo>
                  <a:pt x="38100" y="0"/>
                </a:moveTo>
                <a:lnTo>
                  <a:pt x="19050" y="0"/>
                </a:lnTo>
                <a:lnTo>
                  <a:pt x="19050" y="333375"/>
                </a:lnTo>
                <a:lnTo>
                  <a:pt x="38100" y="333375"/>
                </a:lnTo>
                <a:lnTo>
                  <a:pt x="38100" y="0"/>
                </a:lnTo>
                <a:close/>
              </a:path>
              <a:path w="57150" h="381000">
                <a:moveTo>
                  <a:pt x="57150" y="323850"/>
                </a:moveTo>
                <a:lnTo>
                  <a:pt x="38100" y="323850"/>
                </a:lnTo>
                <a:lnTo>
                  <a:pt x="38100" y="333375"/>
                </a:lnTo>
                <a:lnTo>
                  <a:pt x="52387" y="333375"/>
                </a:lnTo>
                <a:lnTo>
                  <a:pt x="57150" y="323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16197" y="2406903"/>
            <a:ext cx="1527175" cy="697230"/>
          </a:xfrm>
          <a:custGeom>
            <a:avLst/>
            <a:gdLst/>
            <a:ahLst/>
            <a:cxnLst/>
            <a:rect l="l" t="t" r="r" b="b"/>
            <a:pathLst>
              <a:path w="1527175" h="697230">
                <a:moveTo>
                  <a:pt x="56061" y="17372"/>
                </a:moveTo>
                <a:lnTo>
                  <a:pt x="48222" y="34787"/>
                </a:lnTo>
                <a:lnTo>
                  <a:pt x="1519174" y="696722"/>
                </a:lnTo>
                <a:lnTo>
                  <a:pt x="1527048" y="679322"/>
                </a:lnTo>
                <a:lnTo>
                  <a:pt x="56061" y="17372"/>
                </a:lnTo>
                <a:close/>
              </a:path>
              <a:path w="1527175" h="697230">
                <a:moveTo>
                  <a:pt x="63881" y="0"/>
                </a:moveTo>
                <a:lnTo>
                  <a:pt x="0" y="2667"/>
                </a:lnTo>
                <a:lnTo>
                  <a:pt x="40386" y="52196"/>
                </a:lnTo>
                <a:lnTo>
                  <a:pt x="48222" y="34787"/>
                </a:lnTo>
                <a:lnTo>
                  <a:pt x="39496" y="30861"/>
                </a:lnTo>
                <a:lnTo>
                  <a:pt x="47371" y="13462"/>
                </a:lnTo>
                <a:lnTo>
                  <a:pt x="57821" y="13462"/>
                </a:lnTo>
                <a:lnTo>
                  <a:pt x="63881" y="0"/>
                </a:lnTo>
                <a:close/>
              </a:path>
              <a:path w="1527175" h="697230">
                <a:moveTo>
                  <a:pt x="47371" y="13462"/>
                </a:moveTo>
                <a:lnTo>
                  <a:pt x="39496" y="30861"/>
                </a:lnTo>
                <a:lnTo>
                  <a:pt x="48222" y="34787"/>
                </a:lnTo>
                <a:lnTo>
                  <a:pt x="56061" y="17372"/>
                </a:lnTo>
                <a:lnTo>
                  <a:pt x="47371" y="13462"/>
                </a:lnTo>
                <a:close/>
              </a:path>
              <a:path w="1527175" h="697230">
                <a:moveTo>
                  <a:pt x="57821" y="13462"/>
                </a:moveTo>
                <a:lnTo>
                  <a:pt x="47371" y="13462"/>
                </a:lnTo>
                <a:lnTo>
                  <a:pt x="56061" y="17372"/>
                </a:lnTo>
                <a:lnTo>
                  <a:pt x="57821" y="134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7622" y="1513458"/>
            <a:ext cx="57150" cy="708660"/>
          </a:xfrm>
          <a:custGeom>
            <a:avLst/>
            <a:gdLst/>
            <a:ahLst/>
            <a:cxnLst/>
            <a:rect l="l" t="t" r="r" b="b"/>
            <a:pathLst>
              <a:path w="57150" h="708660">
                <a:moveTo>
                  <a:pt x="38100" y="47625"/>
                </a:moveTo>
                <a:lnTo>
                  <a:pt x="19050" y="47625"/>
                </a:lnTo>
                <a:lnTo>
                  <a:pt x="19050" y="708278"/>
                </a:lnTo>
                <a:lnTo>
                  <a:pt x="38100" y="708278"/>
                </a:lnTo>
                <a:lnTo>
                  <a:pt x="38100" y="47625"/>
                </a:lnTo>
                <a:close/>
              </a:path>
              <a:path w="57150" h="708660">
                <a:moveTo>
                  <a:pt x="285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050" y="47625"/>
                </a:lnTo>
                <a:lnTo>
                  <a:pt x="52387" y="47625"/>
                </a:lnTo>
                <a:lnTo>
                  <a:pt x="28575" y="0"/>
                </a:lnTo>
                <a:close/>
              </a:path>
              <a:path w="57150" h="708660">
                <a:moveTo>
                  <a:pt x="52387" y="47625"/>
                </a:moveTo>
                <a:lnTo>
                  <a:pt x="38100" y="47625"/>
                </a:lnTo>
                <a:lnTo>
                  <a:pt x="38100" y="57150"/>
                </a:lnTo>
                <a:lnTo>
                  <a:pt x="57150" y="57150"/>
                </a:lnTo>
                <a:lnTo>
                  <a:pt x="52387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67785" y="1744725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参数</a:t>
            </a:r>
            <a:r>
              <a:rPr sz="900" spc="-8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更新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24045" y="1355343"/>
            <a:ext cx="459105" cy="57150"/>
          </a:xfrm>
          <a:custGeom>
            <a:avLst/>
            <a:gdLst/>
            <a:ahLst/>
            <a:cxnLst/>
            <a:rect l="l" t="t" r="r" b="b"/>
            <a:pathLst>
              <a:path w="459105" h="57150">
                <a:moveTo>
                  <a:pt x="401447" y="0"/>
                </a:moveTo>
                <a:lnTo>
                  <a:pt x="401447" y="57149"/>
                </a:lnTo>
                <a:lnTo>
                  <a:pt x="439546" y="38100"/>
                </a:lnTo>
                <a:lnTo>
                  <a:pt x="410972" y="38100"/>
                </a:lnTo>
                <a:lnTo>
                  <a:pt x="410972" y="19050"/>
                </a:lnTo>
                <a:lnTo>
                  <a:pt x="439547" y="19050"/>
                </a:lnTo>
                <a:lnTo>
                  <a:pt x="401447" y="0"/>
                </a:lnTo>
                <a:close/>
              </a:path>
              <a:path w="459105" h="57150">
                <a:moveTo>
                  <a:pt x="401447" y="19050"/>
                </a:moveTo>
                <a:lnTo>
                  <a:pt x="0" y="19050"/>
                </a:lnTo>
                <a:lnTo>
                  <a:pt x="0" y="38100"/>
                </a:lnTo>
                <a:lnTo>
                  <a:pt x="401447" y="38100"/>
                </a:lnTo>
                <a:lnTo>
                  <a:pt x="401447" y="19050"/>
                </a:lnTo>
                <a:close/>
              </a:path>
              <a:path w="459105" h="57150">
                <a:moveTo>
                  <a:pt x="439547" y="19050"/>
                </a:moveTo>
                <a:lnTo>
                  <a:pt x="410972" y="19050"/>
                </a:lnTo>
                <a:lnTo>
                  <a:pt x="410972" y="38100"/>
                </a:lnTo>
                <a:lnTo>
                  <a:pt x="439546" y="38100"/>
                </a:lnTo>
                <a:lnTo>
                  <a:pt x="458597" y="28575"/>
                </a:lnTo>
                <a:lnTo>
                  <a:pt x="439547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01869" y="465708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2700" y="280415"/>
                </a:moveTo>
                <a:lnTo>
                  <a:pt x="0" y="280415"/>
                </a:lnTo>
                <a:lnTo>
                  <a:pt x="19050" y="318515"/>
                </a:lnTo>
                <a:lnTo>
                  <a:pt x="34925" y="286765"/>
                </a:lnTo>
                <a:lnTo>
                  <a:pt x="12700" y="286765"/>
                </a:lnTo>
                <a:lnTo>
                  <a:pt x="12700" y="280415"/>
                </a:lnTo>
                <a:close/>
              </a:path>
              <a:path w="38100" h="318770">
                <a:moveTo>
                  <a:pt x="25400" y="0"/>
                </a:moveTo>
                <a:lnTo>
                  <a:pt x="12700" y="0"/>
                </a:lnTo>
                <a:lnTo>
                  <a:pt x="12700" y="286765"/>
                </a:lnTo>
                <a:lnTo>
                  <a:pt x="25400" y="286765"/>
                </a:lnTo>
                <a:lnTo>
                  <a:pt x="25400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400" y="280415"/>
                </a:lnTo>
                <a:lnTo>
                  <a:pt x="25400" y="286765"/>
                </a:lnTo>
                <a:lnTo>
                  <a:pt x="34925" y="286765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44313" y="299720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r>
              <a:rPr sz="900" dirty="0">
                <a:latin typeface="Cambria Math"/>
                <a:cs typeface="Cambria Math"/>
              </a:rPr>
              <a:t>𝑋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8979" y="710819"/>
            <a:ext cx="577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3</a:t>
            </a:r>
            <a:r>
              <a:rPr sz="900" spc="-5" dirty="0">
                <a:latin typeface="微软雅黑"/>
                <a:cs typeface="微软雅黑"/>
              </a:rPr>
              <a:t>.</a:t>
            </a:r>
            <a:r>
              <a:rPr sz="900" dirty="0">
                <a:latin typeface="微软雅黑"/>
                <a:cs typeface="微软雅黑"/>
              </a:rPr>
              <a:t>样本增强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2007" y="784224"/>
            <a:ext cx="891540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5"/>
              </a:spcBef>
            </a:pPr>
            <a:r>
              <a:rPr sz="900" dirty="0">
                <a:latin typeface="微软雅黑"/>
                <a:cs typeface="微软雅黑"/>
              </a:rPr>
              <a:t>图像表示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97703" y="2396616"/>
            <a:ext cx="891540" cy="1860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65"/>
              </a:spcBef>
            </a:pPr>
            <a:r>
              <a:rPr sz="900" dirty="0">
                <a:latin typeface="微软雅黑"/>
                <a:cs typeface="微软雅黑"/>
              </a:rPr>
              <a:t>损失函数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8903" y="2221356"/>
            <a:ext cx="891540" cy="187960"/>
          </a:xfrm>
          <a:custGeom>
            <a:avLst/>
            <a:gdLst/>
            <a:ahLst/>
            <a:cxnLst/>
            <a:rect l="l" t="t" r="r" b="b"/>
            <a:pathLst>
              <a:path w="891540" h="187960">
                <a:moveTo>
                  <a:pt x="0" y="187451"/>
                </a:moveTo>
                <a:lnTo>
                  <a:pt x="891540" y="187451"/>
                </a:lnTo>
                <a:lnTo>
                  <a:pt x="891540" y="0"/>
                </a:lnTo>
                <a:lnTo>
                  <a:pt x="0" y="0"/>
                </a:lnTo>
                <a:lnTo>
                  <a:pt x="0" y="18745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74389" y="2230246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优化算法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8642" y="791590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像素表示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63590" y="1230248"/>
            <a:ext cx="1263650" cy="4368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4" indent="-94615">
              <a:lnSpc>
                <a:spcPct val="100000"/>
              </a:lnSpc>
              <a:spcBef>
                <a:spcPts val="640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latin typeface="微软雅黑"/>
                <a:cs typeface="微软雅黑"/>
              </a:rPr>
              <a:t>全连接神经网络的瓶颈</a:t>
            </a:r>
            <a:endParaRPr sz="900">
              <a:latin typeface="微软雅黑"/>
              <a:cs typeface="微软雅黑"/>
            </a:endParaRPr>
          </a:p>
          <a:p>
            <a:pPr marL="107314" indent="-94615">
              <a:lnSpc>
                <a:spcPct val="100000"/>
              </a:lnSpc>
              <a:spcBef>
                <a:spcPts val="540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latin typeface="微软雅黑"/>
                <a:cs typeface="微软雅黑"/>
              </a:rPr>
              <a:t>卷积神经网络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06337" y="2404998"/>
            <a:ext cx="1035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微软雅黑"/>
                <a:cs typeface="微软雅黑"/>
              </a:rPr>
              <a:t>SOFTMAX</a:t>
            </a:r>
            <a:r>
              <a:rPr sz="900" dirty="0">
                <a:latin typeface="微软雅黑"/>
                <a:cs typeface="微软雅黑"/>
              </a:rPr>
              <a:t>与交叉熵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0339" y="2475610"/>
            <a:ext cx="10541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动量法与自适应梯度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55103" y="465708"/>
            <a:ext cx="893444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65"/>
              </a:spcBef>
            </a:pPr>
            <a:r>
              <a:rPr sz="900" dirty="0">
                <a:latin typeface="微软雅黑"/>
                <a:cs typeface="微软雅黑"/>
              </a:rPr>
              <a:t>训练过程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7843" y="3282467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71941" y="3282467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2007" y="1268111"/>
            <a:ext cx="891540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分类模型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22216" y="180760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79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79"/>
                </a:lnTo>
                <a:lnTo>
                  <a:pt x="43179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07941" y="1855232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预测值</a:t>
            </a:r>
            <a:r>
              <a:rPr sz="900" spc="-459" dirty="0">
                <a:latin typeface="Cambria Math"/>
                <a:cs typeface="Cambria Math"/>
              </a:rPr>
              <a:t>𝑌</a:t>
            </a:r>
            <a:r>
              <a:rPr sz="1350" spc="-660" baseline="9259" dirty="0">
                <a:latin typeface="Cambria Math"/>
                <a:cs typeface="Cambria Math"/>
              </a:rPr>
              <a:t>෠</a:t>
            </a:r>
            <a:endParaRPr sz="1350" baseline="9259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89243" y="1807607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9467" y="0"/>
                </a:lnTo>
                <a:lnTo>
                  <a:pt x="586287" y="3389"/>
                </a:lnTo>
                <a:lnTo>
                  <a:pt x="600011" y="12636"/>
                </a:lnTo>
                <a:lnTo>
                  <a:pt x="609258" y="26360"/>
                </a:lnTo>
                <a:lnTo>
                  <a:pt x="612647" y="43179"/>
                </a:lnTo>
                <a:lnTo>
                  <a:pt x="612647" y="215900"/>
                </a:lnTo>
                <a:lnTo>
                  <a:pt x="609258" y="232719"/>
                </a:lnTo>
                <a:lnTo>
                  <a:pt x="600011" y="246443"/>
                </a:lnTo>
                <a:lnTo>
                  <a:pt x="586287" y="255690"/>
                </a:lnTo>
                <a:lnTo>
                  <a:pt x="569467" y="259079"/>
                </a:lnTo>
                <a:lnTo>
                  <a:pt x="43179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6238" y="185256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真实值</a:t>
            </a:r>
            <a:r>
              <a:rPr sz="900" dirty="0">
                <a:latin typeface="Cambria Math"/>
                <a:cs typeface="Cambria Math"/>
              </a:rPr>
              <a:t>𝑌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37912" y="2941463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80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3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4" y="43180"/>
                </a:lnTo>
                <a:lnTo>
                  <a:pt x="611124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3" y="259080"/>
                </a:lnTo>
                <a:lnTo>
                  <a:pt x="43180" y="259080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59324" y="298642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损失值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2160" y="123153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79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79"/>
                </a:lnTo>
                <a:lnTo>
                  <a:pt x="43180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5914" y="1275858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模型参数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09490" y="94959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2700" y="280416"/>
                </a:moveTo>
                <a:lnTo>
                  <a:pt x="0" y="280416"/>
                </a:lnTo>
                <a:lnTo>
                  <a:pt x="19050" y="318516"/>
                </a:lnTo>
                <a:lnTo>
                  <a:pt x="34925" y="286766"/>
                </a:lnTo>
                <a:lnTo>
                  <a:pt x="12700" y="286766"/>
                </a:lnTo>
                <a:lnTo>
                  <a:pt x="12700" y="280416"/>
                </a:lnTo>
                <a:close/>
              </a:path>
              <a:path w="38100" h="318769">
                <a:moveTo>
                  <a:pt x="25400" y="0"/>
                </a:moveTo>
                <a:lnTo>
                  <a:pt x="12700" y="0"/>
                </a:lnTo>
                <a:lnTo>
                  <a:pt x="12700" y="286766"/>
                </a:lnTo>
                <a:lnTo>
                  <a:pt x="25400" y="286766"/>
                </a:lnTo>
                <a:lnTo>
                  <a:pt x="25400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5400" y="280416"/>
                </a:lnTo>
                <a:lnTo>
                  <a:pt x="25400" y="286766"/>
                </a:lnTo>
                <a:lnTo>
                  <a:pt x="34925" y="286766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00727" y="1456325"/>
            <a:ext cx="57150" cy="353695"/>
          </a:xfrm>
          <a:custGeom>
            <a:avLst/>
            <a:gdLst/>
            <a:ahLst/>
            <a:cxnLst/>
            <a:rect l="l" t="t" r="r" b="b"/>
            <a:pathLst>
              <a:path w="57150" h="353694">
                <a:moveTo>
                  <a:pt x="19050" y="296290"/>
                </a:moveTo>
                <a:lnTo>
                  <a:pt x="0" y="296290"/>
                </a:lnTo>
                <a:lnTo>
                  <a:pt x="28575" y="353440"/>
                </a:lnTo>
                <a:lnTo>
                  <a:pt x="52387" y="305815"/>
                </a:lnTo>
                <a:lnTo>
                  <a:pt x="19050" y="305815"/>
                </a:lnTo>
                <a:lnTo>
                  <a:pt x="19050" y="296290"/>
                </a:lnTo>
                <a:close/>
              </a:path>
              <a:path w="57150" h="353694">
                <a:moveTo>
                  <a:pt x="38100" y="0"/>
                </a:moveTo>
                <a:lnTo>
                  <a:pt x="19050" y="0"/>
                </a:lnTo>
                <a:lnTo>
                  <a:pt x="19050" y="305815"/>
                </a:lnTo>
                <a:lnTo>
                  <a:pt x="38100" y="305815"/>
                </a:lnTo>
                <a:lnTo>
                  <a:pt x="38100" y="0"/>
                </a:lnTo>
                <a:close/>
              </a:path>
              <a:path w="57150" h="353694">
                <a:moveTo>
                  <a:pt x="57150" y="296290"/>
                </a:moveTo>
                <a:lnTo>
                  <a:pt x="38100" y="296290"/>
                </a:lnTo>
                <a:lnTo>
                  <a:pt x="38100" y="305815"/>
                </a:lnTo>
                <a:lnTo>
                  <a:pt x="52387" y="305815"/>
                </a:lnTo>
                <a:lnTo>
                  <a:pt x="57150" y="2962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5110" y="2058940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769" y="298151"/>
                </a:moveTo>
                <a:lnTo>
                  <a:pt x="556260" y="315214"/>
                </a:lnTo>
                <a:lnTo>
                  <a:pt x="620267" y="315087"/>
                </a:lnTo>
                <a:lnTo>
                  <a:pt x="610695" y="302387"/>
                </a:lnTo>
                <a:lnTo>
                  <a:pt x="573277" y="302387"/>
                </a:lnTo>
                <a:lnTo>
                  <a:pt x="564769" y="298151"/>
                </a:lnTo>
                <a:close/>
              </a:path>
              <a:path w="620394" h="315594">
                <a:moveTo>
                  <a:pt x="573261" y="281126"/>
                </a:moveTo>
                <a:lnTo>
                  <a:pt x="564769" y="298151"/>
                </a:lnTo>
                <a:lnTo>
                  <a:pt x="573277" y="302387"/>
                </a:lnTo>
                <a:lnTo>
                  <a:pt x="581787" y="285369"/>
                </a:lnTo>
                <a:lnTo>
                  <a:pt x="573261" y="281126"/>
                </a:lnTo>
                <a:close/>
              </a:path>
              <a:path w="620394" h="315594">
                <a:moveTo>
                  <a:pt x="581787" y="264033"/>
                </a:moveTo>
                <a:lnTo>
                  <a:pt x="573261" y="281126"/>
                </a:lnTo>
                <a:lnTo>
                  <a:pt x="581787" y="285369"/>
                </a:lnTo>
                <a:lnTo>
                  <a:pt x="573277" y="302387"/>
                </a:lnTo>
                <a:lnTo>
                  <a:pt x="610695" y="302387"/>
                </a:lnTo>
                <a:lnTo>
                  <a:pt x="581787" y="264033"/>
                </a:lnTo>
                <a:close/>
              </a:path>
              <a:path w="620394" h="315594">
                <a:moveTo>
                  <a:pt x="8381" y="0"/>
                </a:moveTo>
                <a:lnTo>
                  <a:pt x="0" y="17018"/>
                </a:lnTo>
                <a:lnTo>
                  <a:pt x="564769" y="298151"/>
                </a:lnTo>
                <a:lnTo>
                  <a:pt x="573261" y="281126"/>
                </a:lnTo>
                <a:lnTo>
                  <a:pt x="83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44998" y="2058686"/>
            <a:ext cx="755650" cy="320675"/>
          </a:xfrm>
          <a:custGeom>
            <a:avLst/>
            <a:gdLst/>
            <a:ahLst/>
            <a:cxnLst/>
            <a:rect l="l" t="t" r="r" b="b"/>
            <a:pathLst>
              <a:path w="755650" h="320675">
                <a:moveTo>
                  <a:pt x="42163" y="267334"/>
                </a:moveTo>
                <a:lnTo>
                  <a:pt x="0" y="315341"/>
                </a:lnTo>
                <a:lnTo>
                  <a:pt x="63753" y="320294"/>
                </a:lnTo>
                <a:lnTo>
                  <a:pt x="58007" y="306197"/>
                </a:lnTo>
                <a:lnTo>
                  <a:pt x="47751" y="306197"/>
                </a:lnTo>
                <a:lnTo>
                  <a:pt x="40512" y="288544"/>
                </a:lnTo>
                <a:lnTo>
                  <a:pt x="49342" y="284944"/>
                </a:lnTo>
                <a:lnTo>
                  <a:pt x="42163" y="267334"/>
                </a:lnTo>
                <a:close/>
              </a:path>
              <a:path w="755650" h="320675">
                <a:moveTo>
                  <a:pt x="49342" y="284944"/>
                </a:moveTo>
                <a:lnTo>
                  <a:pt x="40512" y="288544"/>
                </a:lnTo>
                <a:lnTo>
                  <a:pt x="47751" y="306197"/>
                </a:lnTo>
                <a:lnTo>
                  <a:pt x="56544" y="302610"/>
                </a:lnTo>
                <a:lnTo>
                  <a:pt x="49342" y="284944"/>
                </a:lnTo>
                <a:close/>
              </a:path>
              <a:path w="755650" h="320675">
                <a:moveTo>
                  <a:pt x="56544" y="302610"/>
                </a:moveTo>
                <a:lnTo>
                  <a:pt x="47751" y="306197"/>
                </a:lnTo>
                <a:lnTo>
                  <a:pt x="58007" y="306197"/>
                </a:lnTo>
                <a:lnTo>
                  <a:pt x="56544" y="302610"/>
                </a:lnTo>
                <a:close/>
              </a:path>
              <a:path w="755650" h="320675">
                <a:moveTo>
                  <a:pt x="748284" y="0"/>
                </a:moveTo>
                <a:lnTo>
                  <a:pt x="49342" y="284944"/>
                </a:lnTo>
                <a:lnTo>
                  <a:pt x="56544" y="302610"/>
                </a:lnTo>
                <a:lnTo>
                  <a:pt x="755523" y="17525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16423" y="2561225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19050" y="323849"/>
                </a:moveTo>
                <a:lnTo>
                  <a:pt x="0" y="323849"/>
                </a:lnTo>
                <a:lnTo>
                  <a:pt x="28575" y="380999"/>
                </a:lnTo>
                <a:lnTo>
                  <a:pt x="52387" y="333374"/>
                </a:lnTo>
                <a:lnTo>
                  <a:pt x="19050" y="333374"/>
                </a:lnTo>
                <a:lnTo>
                  <a:pt x="19050" y="323849"/>
                </a:lnTo>
                <a:close/>
              </a:path>
              <a:path w="57150" h="381000">
                <a:moveTo>
                  <a:pt x="38100" y="0"/>
                </a:moveTo>
                <a:lnTo>
                  <a:pt x="19050" y="0"/>
                </a:lnTo>
                <a:lnTo>
                  <a:pt x="19050" y="333374"/>
                </a:lnTo>
                <a:lnTo>
                  <a:pt x="38100" y="333374"/>
                </a:lnTo>
                <a:lnTo>
                  <a:pt x="38100" y="0"/>
                </a:lnTo>
                <a:close/>
              </a:path>
              <a:path w="57150" h="381000">
                <a:moveTo>
                  <a:pt x="57150" y="323849"/>
                </a:moveTo>
                <a:lnTo>
                  <a:pt x="38100" y="323849"/>
                </a:lnTo>
                <a:lnTo>
                  <a:pt x="38100" y="333374"/>
                </a:lnTo>
                <a:lnTo>
                  <a:pt x="52387" y="333374"/>
                </a:lnTo>
                <a:lnTo>
                  <a:pt x="57150" y="323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16198" y="2384822"/>
            <a:ext cx="1527175" cy="697230"/>
          </a:xfrm>
          <a:custGeom>
            <a:avLst/>
            <a:gdLst/>
            <a:ahLst/>
            <a:cxnLst/>
            <a:rect l="l" t="t" r="r" b="b"/>
            <a:pathLst>
              <a:path w="1527175" h="697230">
                <a:moveTo>
                  <a:pt x="56061" y="17372"/>
                </a:moveTo>
                <a:lnTo>
                  <a:pt x="48222" y="34787"/>
                </a:lnTo>
                <a:lnTo>
                  <a:pt x="1519174" y="696721"/>
                </a:lnTo>
                <a:lnTo>
                  <a:pt x="1527048" y="679322"/>
                </a:lnTo>
                <a:lnTo>
                  <a:pt x="56061" y="17372"/>
                </a:lnTo>
                <a:close/>
              </a:path>
              <a:path w="1527175" h="697230">
                <a:moveTo>
                  <a:pt x="63881" y="0"/>
                </a:moveTo>
                <a:lnTo>
                  <a:pt x="0" y="2666"/>
                </a:lnTo>
                <a:lnTo>
                  <a:pt x="40386" y="52196"/>
                </a:lnTo>
                <a:lnTo>
                  <a:pt x="48222" y="34787"/>
                </a:lnTo>
                <a:lnTo>
                  <a:pt x="39496" y="30860"/>
                </a:lnTo>
                <a:lnTo>
                  <a:pt x="47371" y="13461"/>
                </a:lnTo>
                <a:lnTo>
                  <a:pt x="57821" y="13461"/>
                </a:lnTo>
                <a:lnTo>
                  <a:pt x="63881" y="0"/>
                </a:lnTo>
                <a:close/>
              </a:path>
              <a:path w="1527175" h="697230">
                <a:moveTo>
                  <a:pt x="47371" y="13461"/>
                </a:moveTo>
                <a:lnTo>
                  <a:pt x="39496" y="30860"/>
                </a:lnTo>
                <a:lnTo>
                  <a:pt x="48222" y="34787"/>
                </a:lnTo>
                <a:lnTo>
                  <a:pt x="56061" y="17372"/>
                </a:lnTo>
                <a:lnTo>
                  <a:pt x="47371" y="13461"/>
                </a:lnTo>
                <a:close/>
              </a:path>
              <a:path w="1527175" h="697230">
                <a:moveTo>
                  <a:pt x="57821" y="13461"/>
                </a:moveTo>
                <a:lnTo>
                  <a:pt x="47371" y="13461"/>
                </a:lnTo>
                <a:lnTo>
                  <a:pt x="56061" y="17372"/>
                </a:lnTo>
                <a:lnTo>
                  <a:pt x="57821" y="13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7623" y="1491377"/>
            <a:ext cx="57150" cy="708660"/>
          </a:xfrm>
          <a:custGeom>
            <a:avLst/>
            <a:gdLst/>
            <a:ahLst/>
            <a:cxnLst/>
            <a:rect l="l" t="t" r="r" b="b"/>
            <a:pathLst>
              <a:path w="57150" h="708660">
                <a:moveTo>
                  <a:pt x="38100" y="47625"/>
                </a:moveTo>
                <a:lnTo>
                  <a:pt x="19050" y="47625"/>
                </a:lnTo>
                <a:lnTo>
                  <a:pt x="19050" y="708278"/>
                </a:lnTo>
                <a:lnTo>
                  <a:pt x="38100" y="708278"/>
                </a:lnTo>
                <a:lnTo>
                  <a:pt x="38100" y="47625"/>
                </a:lnTo>
                <a:close/>
              </a:path>
              <a:path w="57150" h="708660">
                <a:moveTo>
                  <a:pt x="285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050" y="47625"/>
                </a:lnTo>
                <a:lnTo>
                  <a:pt x="52387" y="47625"/>
                </a:lnTo>
                <a:lnTo>
                  <a:pt x="28575" y="0"/>
                </a:lnTo>
                <a:close/>
              </a:path>
              <a:path w="57150" h="708660">
                <a:moveTo>
                  <a:pt x="52387" y="47625"/>
                </a:moveTo>
                <a:lnTo>
                  <a:pt x="38100" y="47625"/>
                </a:lnTo>
                <a:lnTo>
                  <a:pt x="38100" y="57150"/>
                </a:lnTo>
                <a:lnTo>
                  <a:pt x="57150" y="57150"/>
                </a:lnTo>
                <a:lnTo>
                  <a:pt x="52387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67786" y="1722009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参数</a:t>
            </a:r>
            <a:r>
              <a:rPr sz="900" spc="-8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更新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24046" y="1333262"/>
            <a:ext cx="459105" cy="57150"/>
          </a:xfrm>
          <a:custGeom>
            <a:avLst/>
            <a:gdLst/>
            <a:ahLst/>
            <a:cxnLst/>
            <a:rect l="l" t="t" r="r" b="b"/>
            <a:pathLst>
              <a:path w="459105" h="57150">
                <a:moveTo>
                  <a:pt x="401447" y="0"/>
                </a:moveTo>
                <a:lnTo>
                  <a:pt x="401447" y="57150"/>
                </a:lnTo>
                <a:lnTo>
                  <a:pt x="439547" y="38100"/>
                </a:lnTo>
                <a:lnTo>
                  <a:pt x="410972" y="38100"/>
                </a:lnTo>
                <a:lnTo>
                  <a:pt x="410972" y="19050"/>
                </a:lnTo>
                <a:lnTo>
                  <a:pt x="439547" y="19050"/>
                </a:lnTo>
                <a:lnTo>
                  <a:pt x="401447" y="0"/>
                </a:lnTo>
                <a:close/>
              </a:path>
              <a:path w="459105" h="57150">
                <a:moveTo>
                  <a:pt x="401447" y="19050"/>
                </a:moveTo>
                <a:lnTo>
                  <a:pt x="0" y="19050"/>
                </a:lnTo>
                <a:lnTo>
                  <a:pt x="0" y="38100"/>
                </a:lnTo>
                <a:lnTo>
                  <a:pt x="401447" y="38100"/>
                </a:lnTo>
                <a:lnTo>
                  <a:pt x="401447" y="19050"/>
                </a:lnTo>
                <a:close/>
              </a:path>
              <a:path w="459105" h="57150">
                <a:moveTo>
                  <a:pt x="439547" y="19050"/>
                </a:moveTo>
                <a:lnTo>
                  <a:pt x="410972" y="19050"/>
                </a:lnTo>
                <a:lnTo>
                  <a:pt x="410972" y="38100"/>
                </a:lnTo>
                <a:lnTo>
                  <a:pt x="439547" y="38100"/>
                </a:lnTo>
                <a:lnTo>
                  <a:pt x="458597" y="28575"/>
                </a:lnTo>
                <a:lnTo>
                  <a:pt x="439547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01870" y="443627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2700" y="280415"/>
                </a:moveTo>
                <a:lnTo>
                  <a:pt x="0" y="280415"/>
                </a:lnTo>
                <a:lnTo>
                  <a:pt x="19050" y="318515"/>
                </a:lnTo>
                <a:lnTo>
                  <a:pt x="34925" y="286765"/>
                </a:lnTo>
                <a:lnTo>
                  <a:pt x="12700" y="286765"/>
                </a:lnTo>
                <a:lnTo>
                  <a:pt x="12700" y="280415"/>
                </a:lnTo>
                <a:close/>
              </a:path>
              <a:path w="38100" h="318770">
                <a:moveTo>
                  <a:pt x="25400" y="0"/>
                </a:moveTo>
                <a:lnTo>
                  <a:pt x="12700" y="0"/>
                </a:lnTo>
                <a:lnTo>
                  <a:pt x="12700" y="286765"/>
                </a:lnTo>
                <a:lnTo>
                  <a:pt x="25400" y="286765"/>
                </a:lnTo>
                <a:lnTo>
                  <a:pt x="25400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400" y="280415"/>
                </a:lnTo>
                <a:lnTo>
                  <a:pt x="25400" y="286765"/>
                </a:lnTo>
                <a:lnTo>
                  <a:pt x="34925" y="286765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44314" y="276749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r>
              <a:rPr sz="900" dirty="0">
                <a:latin typeface="Cambria Math"/>
                <a:cs typeface="Cambria Math"/>
              </a:rPr>
              <a:t>𝑋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8980" y="688229"/>
            <a:ext cx="577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3</a:t>
            </a:r>
            <a:r>
              <a:rPr sz="900" spc="-5" dirty="0">
                <a:latin typeface="微软雅黑"/>
                <a:cs typeface="微软雅黑"/>
              </a:rPr>
              <a:t>.</a:t>
            </a:r>
            <a:r>
              <a:rPr sz="900" dirty="0">
                <a:latin typeface="微软雅黑"/>
                <a:cs typeface="微软雅黑"/>
              </a:rPr>
              <a:t>样本增强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2007" y="762143"/>
            <a:ext cx="891540" cy="187960"/>
          </a:xfrm>
          <a:prstGeom prst="rect">
            <a:avLst/>
          </a:prstGeom>
          <a:solidFill>
            <a:srgbClr val="FBD4B5"/>
          </a:solidFill>
          <a:ln w="12700">
            <a:solidFill>
              <a:srgbClr val="FF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图像表示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97704" y="2374535"/>
            <a:ext cx="891540" cy="1860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损失函数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8904" y="2199275"/>
            <a:ext cx="891540" cy="187960"/>
          </a:xfrm>
          <a:custGeom>
            <a:avLst/>
            <a:gdLst/>
            <a:ahLst/>
            <a:cxnLst/>
            <a:rect l="l" t="t" r="r" b="b"/>
            <a:pathLst>
              <a:path w="891540" h="187960">
                <a:moveTo>
                  <a:pt x="0" y="187451"/>
                </a:moveTo>
                <a:lnTo>
                  <a:pt x="891540" y="187451"/>
                </a:lnTo>
                <a:lnTo>
                  <a:pt x="891540" y="0"/>
                </a:lnTo>
                <a:lnTo>
                  <a:pt x="0" y="0"/>
                </a:lnTo>
                <a:lnTo>
                  <a:pt x="0" y="18745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74390" y="2207276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优化算法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8643" y="76900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像素表示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63591" y="1207024"/>
            <a:ext cx="1263650" cy="43751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4" indent="-94615">
              <a:lnSpc>
                <a:spcPct val="100000"/>
              </a:lnSpc>
              <a:spcBef>
                <a:spcPts val="640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latin typeface="微软雅黑"/>
                <a:cs typeface="微软雅黑"/>
              </a:rPr>
              <a:t>全连接神经网络的瓶颈</a:t>
            </a:r>
            <a:endParaRPr sz="900">
              <a:latin typeface="微软雅黑"/>
              <a:cs typeface="微软雅黑"/>
            </a:endParaRPr>
          </a:p>
          <a:p>
            <a:pPr marL="107314" indent="-94615">
              <a:lnSpc>
                <a:spcPct val="100000"/>
              </a:lnSpc>
              <a:spcBef>
                <a:spcPts val="545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latin typeface="微软雅黑"/>
                <a:cs typeface="微软雅黑"/>
              </a:rPr>
              <a:t>卷积神经网络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06337" y="2382282"/>
            <a:ext cx="1035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微软雅黑"/>
                <a:cs typeface="微软雅黑"/>
              </a:rPr>
              <a:t>SOFTMAX</a:t>
            </a:r>
            <a:r>
              <a:rPr sz="900" dirty="0">
                <a:latin typeface="微软雅黑"/>
                <a:cs typeface="微软雅黑"/>
              </a:rPr>
              <a:t>与交叉熵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0340" y="2453021"/>
            <a:ext cx="10541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动量法与自适应梯度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55104" y="443627"/>
            <a:ext cx="893444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训练过程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7843" y="3259471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71942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9636" y="2262631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图像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43017" y="1750567"/>
            <a:ext cx="9734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35" dirty="0">
                <a:latin typeface="微软雅黑"/>
                <a:cs typeface="微软雅黑"/>
              </a:rPr>
              <a:t>将矩阵转成</a:t>
            </a:r>
            <a:r>
              <a:rPr sz="900" spc="20" dirty="0">
                <a:latin typeface="微软雅黑"/>
                <a:cs typeface="微软雅黑"/>
              </a:rPr>
              <a:t>列向</a:t>
            </a:r>
            <a:r>
              <a:rPr sz="900" spc="35" dirty="0">
                <a:latin typeface="微软雅黑"/>
                <a:cs typeface="微软雅黑"/>
              </a:rPr>
              <a:t>量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0458" y="902334"/>
            <a:ext cx="3829685" cy="70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直</a:t>
            </a:r>
            <a:r>
              <a:rPr sz="1200" spc="-5" dirty="0">
                <a:latin typeface="微软雅黑"/>
                <a:cs typeface="微软雅黑"/>
              </a:rPr>
              <a:t>接</a:t>
            </a: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利用原始像素作为特征</a:t>
            </a:r>
            <a:r>
              <a:rPr sz="1200" spc="-10" dirty="0">
                <a:latin typeface="微软雅黑"/>
                <a:cs typeface="微软雅黑"/>
              </a:rPr>
              <a:t>，</a:t>
            </a:r>
            <a:r>
              <a:rPr sz="1200" dirty="0">
                <a:latin typeface="微软雅黑"/>
                <a:cs typeface="微软雅黑"/>
              </a:rPr>
              <a:t>展开</a:t>
            </a:r>
            <a:r>
              <a:rPr sz="1200" spc="-10" dirty="0">
                <a:latin typeface="微软雅黑"/>
                <a:cs typeface="微软雅黑"/>
              </a:rPr>
              <a:t>为</a:t>
            </a:r>
            <a:r>
              <a:rPr sz="1200" dirty="0">
                <a:latin typeface="微软雅黑"/>
                <a:cs typeface="微软雅黑"/>
              </a:rPr>
              <a:t>列向</a:t>
            </a:r>
            <a:r>
              <a:rPr sz="1200" spc="-10" dirty="0">
                <a:latin typeface="微软雅黑"/>
                <a:cs typeface="微软雅黑"/>
              </a:rPr>
              <a:t>量</a:t>
            </a:r>
            <a:r>
              <a:rPr sz="1200" dirty="0"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400" spc="37" baseline="-5208" dirty="0">
                <a:latin typeface="Symbol"/>
                <a:cs typeface="Symbol"/>
              </a:rPr>
              <a:t></a:t>
            </a:r>
            <a:r>
              <a:rPr sz="1600" spc="25" dirty="0">
                <a:latin typeface="Times New Roman"/>
                <a:cs typeface="Times New Roman"/>
              </a:rPr>
              <a:t>76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2400" spc="15" baseline="-5208" dirty="0">
                <a:latin typeface="Symbol"/>
                <a:cs typeface="Symbol"/>
              </a:rPr>
              <a:t></a:t>
            </a:r>
            <a:endParaRPr sz="2400" baseline="-5208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6871" y="1548118"/>
            <a:ext cx="493395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20" dirty="0">
                <a:latin typeface="Symbol"/>
                <a:cs typeface="Symbol"/>
              </a:rPr>
              <a:t></a:t>
            </a:r>
            <a:r>
              <a:rPr sz="2400" spc="30" baseline="-26041" dirty="0">
                <a:latin typeface="Times New Roman"/>
                <a:cs typeface="Times New Roman"/>
              </a:rPr>
              <a:t>32</a:t>
            </a:r>
            <a:r>
              <a:rPr sz="2400" spc="427" baseline="-26041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Symbol"/>
                <a:cs typeface="Symbol"/>
              </a:rPr>
              <a:t>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34561" y="1746443"/>
            <a:ext cx="105410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10" dirty="0">
                <a:latin typeface="Symbol"/>
                <a:cs typeface="Symbol"/>
              </a:rPr>
              <a:t>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9131" y="1796045"/>
            <a:ext cx="413384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i="1" spc="15" dirty="0">
                <a:latin typeface="Times New Roman"/>
                <a:cs typeface="Times New Roman"/>
              </a:rPr>
              <a:t>x </a:t>
            </a:r>
            <a:r>
              <a:rPr sz="1600" spc="15" dirty="0">
                <a:latin typeface="Symbol"/>
                <a:cs typeface="Symbol"/>
              </a:rPr>
              <a:t>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2400" spc="15" baseline="13888" dirty="0">
                <a:latin typeface="Symbol"/>
                <a:cs typeface="Symbol"/>
              </a:rPr>
              <a:t></a:t>
            </a:r>
            <a:endParaRPr sz="2400" baseline="13888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6871" y="1954488"/>
            <a:ext cx="493395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0050" algn="l"/>
              </a:tabLst>
            </a:pPr>
            <a:r>
              <a:rPr sz="2400" spc="112" baseline="3472" dirty="0">
                <a:latin typeface="Symbol"/>
                <a:cs typeface="Symbol"/>
              </a:rPr>
              <a:t></a:t>
            </a:r>
            <a:r>
              <a:rPr sz="1600" spc="15" dirty="0">
                <a:latin typeface="Times New Roman"/>
                <a:cs typeface="Times New Roman"/>
              </a:rPr>
              <a:t>4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2400" spc="15" baseline="3472" dirty="0">
                <a:latin typeface="Symbol"/>
                <a:cs typeface="Symbol"/>
              </a:rPr>
              <a:t></a:t>
            </a:r>
            <a:endParaRPr sz="2400" baseline="3472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6871" y="2143129"/>
            <a:ext cx="493395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0050" algn="l"/>
              </a:tabLst>
            </a:pPr>
            <a:r>
              <a:rPr sz="1600" spc="10" dirty="0">
                <a:latin typeface="Symbol"/>
                <a:cs typeface="Symbol"/>
              </a:rPr>
              <a:t></a:t>
            </a:r>
            <a:r>
              <a:rPr sz="1600" spc="10" dirty="0">
                <a:latin typeface="Times New Roman"/>
                <a:cs typeface="Times New Roman"/>
              </a:rPr>
              <a:t>	</a:t>
            </a:r>
            <a:r>
              <a:rPr sz="1600" spc="10" dirty="0">
                <a:latin typeface="Symbol"/>
                <a:cs typeface="Symbol"/>
              </a:rPr>
              <a:t>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46871" y="2264939"/>
            <a:ext cx="493395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150" baseline="-13888" dirty="0">
                <a:latin typeface="Symbol"/>
                <a:cs typeface="Symbol"/>
              </a:rPr>
              <a:t></a:t>
            </a:r>
            <a:r>
              <a:rPr sz="1600" spc="10" dirty="0">
                <a:latin typeface="Times New Roman"/>
                <a:cs typeface="Times New Roman"/>
              </a:rPr>
              <a:t>15</a:t>
            </a:r>
            <a:r>
              <a:rPr sz="1600" spc="95" dirty="0">
                <a:latin typeface="Times New Roman"/>
                <a:cs typeface="Times New Roman"/>
              </a:rPr>
              <a:t>7</a:t>
            </a:r>
            <a:r>
              <a:rPr sz="2400" spc="15" baseline="-13888" dirty="0">
                <a:latin typeface="Symbol"/>
                <a:cs typeface="Symbol"/>
              </a:rPr>
              <a:t></a:t>
            </a:r>
            <a:endParaRPr sz="2400" baseline="-13888">
              <a:latin typeface="Symbol"/>
              <a:cs typeface="Symbo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31334" y="2052700"/>
            <a:ext cx="50165" cy="10160"/>
          </a:xfrm>
          <a:custGeom>
            <a:avLst/>
            <a:gdLst/>
            <a:ahLst/>
            <a:cxnLst/>
            <a:rect l="l" t="t" r="r" b="b"/>
            <a:pathLst>
              <a:path w="50164" h="10160">
                <a:moveTo>
                  <a:pt x="0" y="10160"/>
                </a:moveTo>
                <a:lnTo>
                  <a:pt x="49783" y="10160"/>
                </a:lnTo>
                <a:lnTo>
                  <a:pt x="49783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71403" y="1667890"/>
            <a:ext cx="0" cy="384810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810"/>
                </a:lnTo>
              </a:path>
            </a:pathLst>
          </a:custGeom>
          <a:ln w="19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31334" y="1659000"/>
            <a:ext cx="50165" cy="8890"/>
          </a:xfrm>
          <a:custGeom>
            <a:avLst/>
            <a:gdLst/>
            <a:ahLst/>
            <a:cxnLst/>
            <a:rect l="l" t="t" r="r" b="b"/>
            <a:pathLst>
              <a:path w="50164" h="8889">
                <a:moveTo>
                  <a:pt x="0" y="8889"/>
                </a:moveTo>
                <a:lnTo>
                  <a:pt x="49783" y="8889"/>
                </a:lnTo>
                <a:lnTo>
                  <a:pt x="49783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05199" y="2052700"/>
            <a:ext cx="50165" cy="10160"/>
          </a:xfrm>
          <a:custGeom>
            <a:avLst/>
            <a:gdLst/>
            <a:ahLst/>
            <a:cxnLst/>
            <a:rect l="l" t="t" r="r" b="b"/>
            <a:pathLst>
              <a:path w="50165" h="10160">
                <a:moveTo>
                  <a:pt x="0" y="10160"/>
                </a:moveTo>
                <a:lnTo>
                  <a:pt x="49784" y="10160"/>
                </a:lnTo>
                <a:lnTo>
                  <a:pt x="49784" y="0"/>
                </a:lnTo>
                <a:lnTo>
                  <a:pt x="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14915" y="1667890"/>
            <a:ext cx="0" cy="384810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810"/>
                </a:lnTo>
              </a:path>
            </a:pathLst>
          </a:custGeom>
          <a:ln w="19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05199" y="1659000"/>
            <a:ext cx="50165" cy="8890"/>
          </a:xfrm>
          <a:custGeom>
            <a:avLst/>
            <a:gdLst/>
            <a:ahLst/>
            <a:cxnLst/>
            <a:rect l="l" t="t" r="r" b="b"/>
            <a:pathLst>
              <a:path w="50165" h="8889">
                <a:moveTo>
                  <a:pt x="0" y="8889"/>
                </a:moveTo>
                <a:lnTo>
                  <a:pt x="49784" y="8889"/>
                </a:lnTo>
                <a:lnTo>
                  <a:pt x="49784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47871" y="1594484"/>
            <a:ext cx="792480" cy="5086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05"/>
              </a:lnSpc>
              <a:spcBef>
                <a:spcPts val="95"/>
              </a:spcBef>
              <a:tabLst>
                <a:tab pos="497205" algn="l"/>
              </a:tabLst>
            </a:pPr>
            <a:r>
              <a:rPr sz="1600" spc="-5" dirty="0">
                <a:latin typeface="Cambria Math"/>
                <a:cs typeface="Cambria Math"/>
              </a:rPr>
              <a:t>76	32</a:t>
            </a:r>
            <a:endParaRPr sz="1600">
              <a:latin typeface="Cambria Math"/>
              <a:cs typeface="Cambria Math"/>
            </a:endParaRPr>
          </a:p>
          <a:p>
            <a:pPr marL="68580">
              <a:lnSpc>
                <a:spcPts val="1905"/>
              </a:lnSpc>
              <a:tabLst>
                <a:tab pos="440690" algn="l"/>
              </a:tabLst>
            </a:pPr>
            <a:r>
              <a:rPr sz="1600" spc="-5" dirty="0">
                <a:latin typeface="Cambria Math"/>
                <a:cs typeface="Cambria Math"/>
              </a:rPr>
              <a:t>4	157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02809" y="1945512"/>
            <a:ext cx="1264920" cy="38100"/>
          </a:xfrm>
          <a:custGeom>
            <a:avLst/>
            <a:gdLst/>
            <a:ahLst/>
            <a:cxnLst/>
            <a:rect l="l" t="t" r="r" b="b"/>
            <a:pathLst>
              <a:path w="1264920" h="38100">
                <a:moveTo>
                  <a:pt x="1226819" y="0"/>
                </a:moveTo>
                <a:lnTo>
                  <a:pt x="1226819" y="38100"/>
                </a:lnTo>
                <a:lnTo>
                  <a:pt x="1258569" y="22225"/>
                </a:lnTo>
                <a:lnTo>
                  <a:pt x="1233169" y="22225"/>
                </a:lnTo>
                <a:lnTo>
                  <a:pt x="1233169" y="15875"/>
                </a:lnTo>
                <a:lnTo>
                  <a:pt x="1258569" y="15875"/>
                </a:lnTo>
                <a:lnTo>
                  <a:pt x="1226819" y="0"/>
                </a:lnTo>
                <a:close/>
              </a:path>
              <a:path w="1264920" h="38100">
                <a:moveTo>
                  <a:pt x="1226819" y="15875"/>
                </a:moveTo>
                <a:lnTo>
                  <a:pt x="0" y="15875"/>
                </a:lnTo>
                <a:lnTo>
                  <a:pt x="0" y="22225"/>
                </a:lnTo>
                <a:lnTo>
                  <a:pt x="1226819" y="22225"/>
                </a:lnTo>
                <a:lnTo>
                  <a:pt x="1226819" y="15875"/>
                </a:lnTo>
                <a:close/>
              </a:path>
              <a:path w="1264920" h="38100">
                <a:moveTo>
                  <a:pt x="1258569" y="15875"/>
                </a:moveTo>
                <a:lnTo>
                  <a:pt x="1233169" y="15875"/>
                </a:lnTo>
                <a:lnTo>
                  <a:pt x="1233169" y="22225"/>
                </a:lnTo>
                <a:lnTo>
                  <a:pt x="1258569" y="22225"/>
                </a:lnTo>
                <a:lnTo>
                  <a:pt x="1264919" y="19050"/>
                </a:lnTo>
                <a:lnTo>
                  <a:pt x="1258569" y="15875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15867" y="2866135"/>
            <a:ext cx="40436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cifar10中每</a:t>
            </a:r>
            <a:r>
              <a:rPr sz="1200" spc="-15" dirty="0">
                <a:latin typeface="微软雅黑"/>
                <a:cs typeface="微软雅黑"/>
              </a:rPr>
              <a:t>个</a:t>
            </a:r>
            <a:r>
              <a:rPr sz="1200" dirty="0">
                <a:latin typeface="微软雅黑"/>
                <a:cs typeface="微软雅黑"/>
              </a:rPr>
              <a:t>图像可</a:t>
            </a:r>
            <a:r>
              <a:rPr sz="1200" spc="-15" dirty="0">
                <a:latin typeface="微软雅黑"/>
                <a:cs typeface="微软雅黑"/>
              </a:rPr>
              <a:t>表</a:t>
            </a:r>
            <a:r>
              <a:rPr sz="1200" dirty="0">
                <a:latin typeface="微软雅黑"/>
                <a:cs typeface="微软雅黑"/>
              </a:rPr>
              <a:t>示为</a:t>
            </a:r>
            <a:r>
              <a:rPr sz="1200" spc="-15" dirty="0">
                <a:latin typeface="微软雅黑"/>
                <a:cs typeface="微软雅黑"/>
              </a:rPr>
              <a:t>一</a:t>
            </a:r>
            <a:r>
              <a:rPr sz="1200" dirty="0">
                <a:latin typeface="微软雅黑"/>
                <a:cs typeface="微软雅黑"/>
              </a:rPr>
              <a:t>个</a:t>
            </a:r>
            <a:r>
              <a:rPr sz="1200" spc="-5" dirty="0">
                <a:latin typeface="微软雅黑"/>
                <a:cs typeface="微软雅黑"/>
              </a:rPr>
              <a:t>3072（32*32*3）</a:t>
            </a:r>
            <a:r>
              <a:rPr sz="1200" spc="-15" dirty="0">
                <a:latin typeface="微软雅黑"/>
                <a:cs typeface="微软雅黑"/>
              </a:rPr>
              <a:t>维</a:t>
            </a:r>
            <a:r>
              <a:rPr sz="1200" dirty="0">
                <a:latin typeface="微软雅黑"/>
                <a:cs typeface="微软雅黑"/>
              </a:rPr>
              <a:t>的向量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2271008" y="225044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如何表示图像？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7843" y="3282467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71941" y="3282467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2007" y="1268111"/>
            <a:ext cx="891540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分类模型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22216" y="180760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79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79"/>
                </a:lnTo>
                <a:lnTo>
                  <a:pt x="43179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07941" y="1855232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预测值</a:t>
            </a:r>
            <a:r>
              <a:rPr sz="900" spc="-459" dirty="0">
                <a:latin typeface="Cambria Math"/>
                <a:cs typeface="Cambria Math"/>
              </a:rPr>
              <a:t>𝑌</a:t>
            </a:r>
            <a:r>
              <a:rPr sz="1350" spc="-660" baseline="9259" dirty="0">
                <a:latin typeface="Cambria Math"/>
                <a:cs typeface="Cambria Math"/>
              </a:rPr>
              <a:t>෠</a:t>
            </a:r>
            <a:endParaRPr sz="1350" baseline="9259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89243" y="1807607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9467" y="0"/>
                </a:lnTo>
                <a:lnTo>
                  <a:pt x="586287" y="3389"/>
                </a:lnTo>
                <a:lnTo>
                  <a:pt x="600011" y="12636"/>
                </a:lnTo>
                <a:lnTo>
                  <a:pt x="609258" y="26360"/>
                </a:lnTo>
                <a:lnTo>
                  <a:pt x="612647" y="43179"/>
                </a:lnTo>
                <a:lnTo>
                  <a:pt x="612647" y="215900"/>
                </a:lnTo>
                <a:lnTo>
                  <a:pt x="609258" y="232719"/>
                </a:lnTo>
                <a:lnTo>
                  <a:pt x="600011" y="246443"/>
                </a:lnTo>
                <a:lnTo>
                  <a:pt x="586287" y="255690"/>
                </a:lnTo>
                <a:lnTo>
                  <a:pt x="569467" y="259079"/>
                </a:lnTo>
                <a:lnTo>
                  <a:pt x="43179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6238" y="185256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真实值</a:t>
            </a:r>
            <a:r>
              <a:rPr sz="900" dirty="0">
                <a:latin typeface="Cambria Math"/>
                <a:cs typeface="Cambria Math"/>
              </a:rPr>
              <a:t>𝑌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37912" y="2941463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80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3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4" y="43180"/>
                </a:lnTo>
                <a:lnTo>
                  <a:pt x="611124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3" y="259080"/>
                </a:lnTo>
                <a:lnTo>
                  <a:pt x="43180" y="259080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59324" y="298642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损失值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2160" y="123153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79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79"/>
                </a:lnTo>
                <a:lnTo>
                  <a:pt x="43180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5914" y="1275858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模型参数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09490" y="94959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2700" y="280416"/>
                </a:moveTo>
                <a:lnTo>
                  <a:pt x="0" y="280416"/>
                </a:lnTo>
                <a:lnTo>
                  <a:pt x="19050" y="318516"/>
                </a:lnTo>
                <a:lnTo>
                  <a:pt x="34925" y="286766"/>
                </a:lnTo>
                <a:lnTo>
                  <a:pt x="12700" y="286766"/>
                </a:lnTo>
                <a:lnTo>
                  <a:pt x="12700" y="280416"/>
                </a:lnTo>
                <a:close/>
              </a:path>
              <a:path w="38100" h="318769">
                <a:moveTo>
                  <a:pt x="25400" y="0"/>
                </a:moveTo>
                <a:lnTo>
                  <a:pt x="12700" y="0"/>
                </a:lnTo>
                <a:lnTo>
                  <a:pt x="12700" y="286766"/>
                </a:lnTo>
                <a:lnTo>
                  <a:pt x="25400" y="286766"/>
                </a:lnTo>
                <a:lnTo>
                  <a:pt x="25400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5400" y="280416"/>
                </a:lnTo>
                <a:lnTo>
                  <a:pt x="25400" y="286766"/>
                </a:lnTo>
                <a:lnTo>
                  <a:pt x="34925" y="286766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00727" y="1456325"/>
            <a:ext cx="57150" cy="353695"/>
          </a:xfrm>
          <a:custGeom>
            <a:avLst/>
            <a:gdLst/>
            <a:ahLst/>
            <a:cxnLst/>
            <a:rect l="l" t="t" r="r" b="b"/>
            <a:pathLst>
              <a:path w="57150" h="353694">
                <a:moveTo>
                  <a:pt x="19050" y="296290"/>
                </a:moveTo>
                <a:lnTo>
                  <a:pt x="0" y="296290"/>
                </a:lnTo>
                <a:lnTo>
                  <a:pt x="28575" y="353440"/>
                </a:lnTo>
                <a:lnTo>
                  <a:pt x="52387" y="305815"/>
                </a:lnTo>
                <a:lnTo>
                  <a:pt x="19050" y="305815"/>
                </a:lnTo>
                <a:lnTo>
                  <a:pt x="19050" y="296290"/>
                </a:lnTo>
                <a:close/>
              </a:path>
              <a:path w="57150" h="353694">
                <a:moveTo>
                  <a:pt x="38100" y="0"/>
                </a:moveTo>
                <a:lnTo>
                  <a:pt x="19050" y="0"/>
                </a:lnTo>
                <a:lnTo>
                  <a:pt x="19050" y="305815"/>
                </a:lnTo>
                <a:lnTo>
                  <a:pt x="38100" y="305815"/>
                </a:lnTo>
                <a:lnTo>
                  <a:pt x="38100" y="0"/>
                </a:lnTo>
                <a:close/>
              </a:path>
              <a:path w="57150" h="353694">
                <a:moveTo>
                  <a:pt x="57150" y="296290"/>
                </a:moveTo>
                <a:lnTo>
                  <a:pt x="38100" y="296290"/>
                </a:lnTo>
                <a:lnTo>
                  <a:pt x="38100" y="305815"/>
                </a:lnTo>
                <a:lnTo>
                  <a:pt x="52387" y="305815"/>
                </a:lnTo>
                <a:lnTo>
                  <a:pt x="57150" y="2962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5110" y="2058940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769" y="298151"/>
                </a:moveTo>
                <a:lnTo>
                  <a:pt x="556260" y="315214"/>
                </a:lnTo>
                <a:lnTo>
                  <a:pt x="620267" y="315087"/>
                </a:lnTo>
                <a:lnTo>
                  <a:pt x="610695" y="302387"/>
                </a:lnTo>
                <a:lnTo>
                  <a:pt x="573277" y="302387"/>
                </a:lnTo>
                <a:lnTo>
                  <a:pt x="564769" y="298151"/>
                </a:lnTo>
                <a:close/>
              </a:path>
              <a:path w="620394" h="315594">
                <a:moveTo>
                  <a:pt x="573261" y="281126"/>
                </a:moveTo>
                <a:lnTo>
                  <a:pt x="564769" y="298151"/>
                </a:lnTo>
                <a:lnTo>
                  <a:pt x="573277" y="302387"/>
                </a:lnTo>
                <a:lnTo>
                  <a:pt x="581787" y="285369"/>
                </a:lnTo>
                <a:lnTo>
                  <a:pt x="573261" y="281126"/>
                </a:lnTo>
                <a:close/>
              </a:path>
              <a:path w="620394" h="315594">
                <a:moveTo>
                  <a:pt x="581787" y="264033"/>
                </a:moveTo>
                <a:lnTo>
                  <a:pt x="573261" y="281126"/>
                </a:lnTo>
                <a:lnTo>
                  <a:pt x="581787" y="285369"/>
                </a:lnTo>
                <a:lnTo>
                  <a:pt x="573277" y="302387"/>
                </a:lnTo>
                <a:lnTo>
                  <a:pt x="610695" y="302387"/>
                </a:lnTo>
                <a:lnTo>
                  <a:pt x="581787" y="264033"/>
                </a:lnTo>
                <a:close/>
              </a:path>
              <a:path w="620394" h="315594">
                <a:moveTo>
                  <a:pt x="8381" y="0"/>
                </a:moveTo>
                <a:lnTo>
                  <a:pt x="0" y="17018"/>
                </a:lnTo>
                <a:lnTo>
                  <a:pt x="564769" y="298151"/>
                </a:lnTo>
                <a:lnTo>
                  <a:pt x="573261" y="281126"/>
                </a:lnTo>
                <a:lnTo>
                  <a:pt x="83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44998" y="2058686"/>
            <a:ext cx="755650" cy="320675"/>
          </a:xfrm>
          <a:custGeom>
            <a:avLst/>
            <a:gdLst/>
            <a:ahLst/>
            <a:cxnLst/>
            <a:rect l="l" t="t" r="r" b="b"/>
            <a:pathLst>
              <a:path w="755650" h="320675">
                <a:moveTo>
                  <a:pt x="42163" y="267334"/>
                </a:moveTo>
                <a:lnTo>
                  <a:pt x="0" y="315341"/>
                </a:lnTo>
                <a:lnTo>
                  <a:pt x="63753" y="320294"/>
                </a:lnTo>
                <a:lnTo>
                  <a:pt x="58007" y="306197"/>
                </a:lnTo>
                <a:lnTo>
                  <a:pt x="47751" y="306197"/>
                </a:lnTo>
                <a:lnTo>
                  <a:pt x="40512" y="288544"/>
                </a:lnTo>
                <a:lnTo>
                  <a:pt x="49342" y="284944"/>
                </a:lnTo>
                <a:lnTo>
                  <a:pt x="42163" y="267334"/>
                </a:lnTo>
                <a:close/>
              </a:path>
              <a:path w="755650" h="320675">
                <a:moveTo>
                  <a:pt x="49342" y="284944"/>
                </a:moveTo>
                <a:lnTo>
                  <a:pt x="40512" y="288544"/>
                </a:lnTo>
                <a:lnTo>
                  <a:pt x="47751" y="306197"/>
                </a:lnTo>
                <a:lnTo>
                  <a:pt x="56544" y="302610"/>
                </a:lnTo>
                <a:lnTo>
                  <a:pt x="49342" y="284944"/>
                </a:lnTo>
                <a:close/>
              </a:path>
              <a:path w="755650" h="320675">
                <a:moveTo>
                  <a:pt x="56544" y="302610"/>
                </a:moveTo>
                <a:lnTo>
                  <a:pt x="47751" y="306197"/>
                </a:lnTo>
                <a:lnTo>
                  <a:pt x="58007" y="306197"/>
                </a:lnTo>
                <a:lnTo>
                  <a:pt x="56544" y="302610"/>
                </a:lnTo>
                <a:close/>
              </a:path>
              <a:path w="755650" h="320675">
                <a:moveTo>
                  <a:pt x="748284" y="0"/>
                </a:moveTo>
                <a:lnTo>
                  <a:pt x="49342" y="284944"/>
                </a:lnTo>
                <a:lnTo>
                  <a:pt x="56544" y="302610"/>
                </a:lnTo>
                <a:lnTo>
                  <a:pt x="755523" y="17525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16423" y="2561225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19050" y="323849"/>
                </a:moveTo>
                <a:lnTo>
                  <a:pt x="0" y="323849"/>
                </a:lnTo>
                <a:lnTo>
                  <a:pt x="28575" y="380999"/>
                </a:lnTo>
                <a:lnTo>
                  <a:pt x="52387" y="333374"/>
                </a:lnTo>
                <a:lnTo>
                  <a:pt x="19050" y="333374"/>
                </a:lnTo>
                <a:lnTo>
                  <a:pt x="19050" y="323849"/>
                </a:lnTo>
                <a:close/>
              </a:path>
              <a:path w="57150" h="381000">
                <a:moveTo>
                  <a:pt x="38100" y="0"/>
                </a:moveTo>
                <a:lnTo>
                  <a:pt x="19050" y="0"/>
                </a:lnTo>
                <a:lnTo>
                  <a:pt x="19050" y="333374"/>
                </a:lnTo>
                <a:lnTo>
                  <a:pt x="38100" y="333374"/>
                </a:lnTo>
                <a:lnTo>
                  <a:pt x="38100" y="0"/>
                </a:lnTo>
                <a:close/>
              </a:path>
              <a:path w="57150" h="381000">
                <a:moveTo>
                  <a:pt x="57150" y="323849"/>
                </a:moveTo>
                <a:lnTo>
                  <a:pt x="38100" y="323849"/>
                </a:lnTo>
                <a:lnTo>
                  <a:pt x="38100" y="333374"/>
                </a:lnTo>
                <a:lnTo>
                  <a:pt x="52387" y="333374"/>
                </a:lnTo>
                <a:lnTo>
                  <a:pt x="57150" y="323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16198" y="2384822"/>
            <a:ext cx="1527175" cy="697230"/>
          </a:xfrm>
          <a:custGeom>
            <a:avLst/>
            <a:gdLst/>
            <a:ahLst/>
            <a:cxnLst/>
            <a:rect l="l" t="t" r="r" b="b"/>
            <a:pathLst>
              <a:path w="1527175" h="697230">
                <a:moveTo>
                  <a:pt x="56061" y="17372"/>
                </a:moveTo>
                <a:lnTo>
                  <a:pt x="48222" y="34787"/>
                </a:lnTo>
                <a:lnTo>
                  <a:pt x="1519174" y="696721"/>
                </a:lnTo>
                <a:lnTo>
                  <a:pt x="1527048" y="679322"/>
                </a:lnTo>
                <a:lnTo>
                  <a:pt x="56061" y="17372"/>
                </a:lnTo>
                <a:close/>
              </a:path>
              <a:path w="1527175" h="697230">
                <a:moveTo>
                  <a:pt x="63881" y="0"/>
                </a:moveTo>
                <a:lnTo>
                  <a:pt x="0" y="2666"/>
                </a:lnTo>
                <a:lnTo>
                  <a:pt x="40386" y="52196"/>
                </a:lnTo>
                <a:lnTo>
                  <a:pt x="48222" y="34787"/>
                </a:lnTo>
                <a:lnTo>
                  <a:pt x="39496" y="30860"/>
                </a:lnTo>
                <a:lnTo>
                  <a:pt x="47371" y="13461"/>
                </a:lnTo>
                <a:lnTo>
                  <a:pt x="57821" y="13461"/>
                </a:lnTo>
                <a:lnTo>
                  <a:pt x="63881" y="0"/>
                </a:lnTo>
                <a:close/>
              </a:path>
              <a:path w="1527175" h="697230">
                <a:moveTo>
                  <a:pt x="47371" y="13461"/>
                </a:moveTo>
                <a:lnTo>
                  <a:pt x="39496" y="30860"/>
                </a:lnTo>
                <a:lnTo>
                  <a:pt x="48222" y="34787"/>
                </a:lnTo>
                <a:lnTo>
                  <a:pt x="56061" y="17372"/>
                </a:lnTo>
                <a:lnTo>
                  <a:pt x="47371" y="13461"/>
                </a:lnTo>
                <a:close/>
              </a:path>
              <a:path w="1527175" h="697230">
                <a:moveTo>
                  <a:pt x="57821" y="13461"/>
                </a:moveTo>
                <a:lnTo>
                  <a:pt x="47371" y="13461"/>
                </a:lnTo>
                <a:lnTo>
                  <a:pt x="56061" y="17372"/>
                </a:lnTo>
                <a:lnTo>
                  <a:pt x="57821" y="13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7623" y="1491377"/>
            <a:ext cx="57150" cy="708660"/>
          </a:xfrm>
          <a:custGeom>
            <a:avLst/>
            <a:gdLst/>
            <a:ahLst/>
            <a:cxnLst/>
            <a:rect l="l" t="t" r="r" b="b"/>
            <a:pathLst>
              <a:path w="57150" h="708660">
                <a:moveTo>
                  <a:pt x="38100" y="47625"/>
                </a:moveTo>
                <a:lnTo>
                  <a:pt x="19050" y="47625"/>
                </a:lnTo>
                <a:lnTo>
                  <a:pt x="19050" y="708278"/>
                </a:lnTo>
                <a:lnTo>
                  <a:pt x="38100" y="708278"/>
                </a:lnTo>
                <a:lnTo>
                  <a:pt x="38100" y="47625"/>
                </a:lnTo>
                <a:close/>
              </a:path>
              <a:path w="57150" h="708660">
                <a:moveTo>
                  <a:pt x="285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050" y="47625"/>
                </a:lnTo>
                <a:lnTo>
                  <a:pt x="52387" y="47625"/>
                </a:lnTo>
                <a:lnTo>
                  <a:pt x="28575" y="0"/>
                </a:lnTo>
                <a:close/>
              </a:path>
              <a:path w="57150" h="708660">
                <a:moveTo>
                  <a:pt x="52387" y="47625"/>
                </a:moveTo>
                <a:lnTo>
                  <a:pt x="38100" y="47625"/>
                </a:lnTo>
                <a:lnTo>
                  <a:pt x="38100" y="57150"/>
                </a:lnTo>
                <a:lnTo>
                  <a:pt x="57150" y="57150"/>
                </a:lnTo>
                <a:lnTo>
                  <a:pt x="52387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67786" y="1722009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参数</a:t>
            </a:r>
            <a:r>
              <a:rPr sz="900" spc="-8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更新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24046" y="1333262"/>
            <a:ext cx="459105" cy="57150"/>
          </a:xfrm>
          <a:custGeom>
            <a:avLst/>
            <a:gdLst/>
            <a:ahLst/>
            <a:cxnLst/>
            <a:rect l="l" t="t" r="r" b="b"/>
            <a:pathLst>
              <a:path w="459105" h="57150">
                <a:moveTo>
                  <a:pt x="401447" y="0"/>
                </a:moveTo>
                <a:lnTo>
                  <a:pt x="401447" y="57150"/>
                </a:lnTo>
                <a:lnTo>
                  <a:pt x="439547" y="38100"/>
                </a:lnTo>
                <a:lnTo>
                  <a:pt x="410972" y="38100"/>
                </a:lnTo>
                <a:lnTo>
                  <a:pt x="410972" y="19050"/>
                </a:lnTo>
                <a:lnTo>
                  <a:pt x="439547" y="19050"/>
                </a:lnTo>
                <a:lnTo>
                  <a:pt x="401447" y="0"/>
                </a:lnTo>
                <a:close/>
              </a:path>
              <a:path w="459105" h="57150">
                <a:moveTo>
                  <a:pt x="401447" y="19050"/>
                </a:moveTo>
                <a:lnTo>
                  <a:pt x="0" y="19050"/>
                </a:lnTo>
                <a:lnTo>
                  <a:pt x="0" y="38100"/>
                </a:lnTo>
                <a:lnTo>
                  <a:pt x="401447" y="38100"/>
                </a:lnTo>
                <a:lnTo>
                  <a:pt x="401447" y="19050"/>
                </a:lnTo>
                <a:close/>
              </a:path>
              <a:path w="459105" h="57150">
                <a:moveTo>
                  <a:pt x="439547" y="19050"/>
                </a:moveTo>
                <a:lnTo>
                  <a:pt x="410972" y="19050"/>
                </a:lnTo>
                <a:lnTo>
                  <a:pt x="410972" y="38100"/>
                </a:lnTo>
                <a:lnTo>
                  <a:pt x="439547" y="38100"/>
                </a:lnTo>
                <a:lnTo>
                  <a:pt x="458597" y="28575"/>
                </a:lnTo>
                <a:lnTo>
                  <a:pt x="439547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01870" y="443627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2700" y="280415"/>
                </a:moveTo>
                <a:lnTo>
                  <a:pt x="0" y="280415"/>
                </a:lnTo>
                <a:lnTo>
                  <a:pt x="19050" y="318515"/>
                </a:lnTo>
                <a:lnTo>
                  <a:pt x="34925" y="286765"/>
                </a:lnTo>
                <a:lnTo>
                  <a:pt x="12700" y="286765"/>
                </a:lnTo>
                <a:lnTo>
                  <a:pt x="12700" y="280415"/>
                </a:lnTo>
                <a:close/>
              </a:path>
              <a:path w="38100" h="318770">
                <a:moveTo>
                  <a:pt x="25400" y="0"/>
                </a:moveTo>
                <a:lnTo>
                  <a:pt x="12700" y="0"/>
                </a:lnTo>
                <a:lnTo>
                  <a:pt x="12700" y="286765"/>
                </a:lnTo>
                <a:lnTo>
                  <a:pt x="25400" y="286765"/>
                </a:lnTo>
                <a:lnTo>
                  <a:pt x="25400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400" y="280415"/>
                </a:lnTo>
                <a:lnTo>
                  <a:pt x="25400" y="286765"/>
                </a:lnTo>
                <a:lnTo>
                  <a:pt x="34925" y="286765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44314" y="276749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r>
              <a:rPr sz="900" dirty="0">
                <a:latin typeface="Cambria Math"/>
                <a:cs typeface="Cambria Math"/>
              </a:rPr>
              <a:t>𝑋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8980" y="688229"/>
            <a:ext cx="577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3</a:t>
            </a:r>
            <a:r>
              <a:rPr sz="900" spc="-5" dirty="0">
                <a:latin typeface="微软雅黑"/>
                <a:cs typeface="微软雅黑"/>
              </a:rPr>
              <a:t>.</a:t>
            </a:r>
            <a:r>
              <a:rPr sz="900" dirty="0">
                <a:latin typeface="微软雅黑"/>
                <a:cs typeface="微软雅黑"/>
              </a:rPr>
              <a:t>样本增强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2007" y="762143"/>
            <a:ext cx="891540" cy="187960"/>
          </a:xfrm>
          <a:prstGeom prst="rect">
            <a:avLst/>
          </a:prstGeom>
          <a:solidFill>
            <a:srgbClr val="FBD4B5"/>
          </a:solidFill>
          <a:ln w="12700">
            <a:solidFill>
              <a:srgbClr val="FF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图像表示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97704" y="2374535"/>
            <a:ext cx="891540" cy="1860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损失函数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8904" y="2199275"/>
            <a:ext cx="891540" cy="187960"/>
          </a:xfrm>
          <a:custGeom>
            <a:avLst/>
            <a:gdLst/>
            <a:ahLst/>
            <a:cxnLst/>
            <a:rect l="l" t="t" r="r" b="b"/>
            <a:pathLst>
              <a:path w="891540" h="187960">
                <a:moveTo>
                  <a:pt x="0" y="187451"/>
                </a:moveTo>
                <a:lnTo>
                  <a:pt x="891540" y="187451"/>
                </a:lnTo>
                <a:lnTo>
                  <a:pt x="891540" y="0"/>
                </a:lnTo>
                <a:lnTo>
                  <a:pt x="0" y="0"/>
                </a:lnTo>
                <a:lnTo>
                  <a:pt x="0" y="18745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74390" y="2207276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优化算法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8643" y="76900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像素表示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63591" y="1207024"/>
            <a:ext cx="1263650" cy="43751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4" indent="-94615">
              <a:lnSpc>
                <a:spcPct val="100000"/>
              </a:lnSpc>
              <a:spcBef>
                <a:spcPts val="640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/>
                <a:cs typeface="微软雅黑"/>
              </a:rPr>
              <a:t>全连接神经网络的瓶颈</a:t>
            </a:r>
            <a:endParaRPr sz="900">
              <a:latin typeface="微软雅黑"/>
              <a:cs typeface="微软雅黑"/>
            </a:endParaRPr>
          </a:p>
          <a:p>
            <a:pPr marL="107314" indent="-94615">
              <a:lnSpc>
                <a:spcPct val="100000"/>
              </a:lnSpc>
              <a:spcBef>
                <a:spcPts val="545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latin typeface="微软雅黑"/>
                <a:cs typeface="微软雅黑"/>
              </a:rPr>
              <a:t>卷积神经网络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06337" y="2382282"/>
            <a:ext cx="1035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微软雅黑"/>
                <a:cs typeface="微软雅黑"/>
              </a:rPr>
              <a:t>SOFTMAX</a:t>
            </a:r>
            <a:r>
              <a:rPr sz="900" dirty="0">
                <a:latin typeface="微软雅黑"/>
                <a:cs typeface="微软雅黑"/>
              </a:rPr>
              <a:t>与交叉熵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0340" y="2453021"/>
            <a:ext cx="10541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动量法与自适应梯度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55104" y="443627"/>
            <a:ext cx="893444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训练过程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7843" y="3259471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71942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1381" y="841882"/>
            <a:ext cx="2149347" cy="1888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22191" y="2141346"/>
            <a:ext cx="138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5" dirty="0">
                <a:latin typeface="Cambria Math"/>
                <a:cs typeface="Cambria Math"/>
              </a:rPr>
              <a:t>𝑥</a:t>
            </a:r>
            <a:r>
              <a:rPr sz="975" spc="112" baseline="-17094" dirty="0">
                <a:latin typeface="Cambria Math"/>
                <a:cs typeface="Cambria Math"/>
              </a:rPr>
              <a:t>𝑑</a:t>
            </a:r>
            <a:endParaRPr sz="975" baseline="-17094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5525" y="1140078"/>
            <a:ext cx="882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𝑓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6674" y="1193419"/>
            <a:ext cx="7429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20" dirty="0">
                <a:latin typeface="Cambria Math"/>
                <a:cs typeface="Cambria Math"/>
              </a:rPr>
              <a:t>1</a:t>
            </a:r>
            <a:endParaRPr sz="6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4636" y="1585340"/>
            <a:ext cx="118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50" dirty="0">
                <a:latin typeface="Cambria Math"/>
                <a:cs typeface="Cambria Math"/>
              </a:rPr>
              <a:t>𝑓</a:t>
            </a:r>
            <a:r>
              <a:rPr sz="975" spc="30" baseline="-17094" dirty="0">
                <a:latin typeface="Cambria Math"/>
                <a:cs typeface="Cambria Math"/>
              </a:rPr>
              <a:t>2</a:t>
            </a:r>
            <a:endParaRPr sz="975" baseline="-17094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0478" y="2326004"/>
            <a:ext cx="120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50" dirty="0">
                <a:latin typeface="Cambria Math"/>
                <a:cs typeface="Cambria Math"/>
              </a:rPr>
              <a:t>𝑓</a:t>
            </a:r>
            <a:r>
              <a:rPr sz="975" spc="30" baseline="-17094" dirty="0">
                <a:latin typeface="Cambria Math"/>
                <a:cs typeface="Cambria Math"/>
              </a:rPr>
              <a:t>𝐶</a:t>
            </a:r>
            <a:endParaRPr sz="975" baseline="-17094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2638" y="1638426"/>
            <a:ext cx="1333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5" dirty="0">
                <a:latin typeface="Cambria Math"/>
                <a:cs typeface="Cambria Math"/>
              </a:rPr>
              <a:t>𝑥</a:t>
            </a:r>
            <a:r>
              <a:rPr sz="975" spc="30" baseline="-17094" dirty="0">
                <a:latin typeface="Cambria Math"/>
                <a:cs typeface="Cambria Math"/>
              </a:rPr>
              <a:t>2</a:t>
            </a:r>
            <a:endParaRPr sz="975" baseline="-17094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0446" y="1255902"/>
            <a:ext cx="1308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latin typeface="Cambria Math"/>
                <a:cs typeface="Cambria Math"/>
              </a:rPr>
              <a:t>𝑥</a:t>
            </a:r>
            <a:r>
              <a:rPr sz="975" spc="30" baseline="-17094" dirty="0">
                <a:latin typeface="Cambria Math"/>
                <a:cs typeface="Cambria Math"/>
              </a:rPr>
              <a:t>1</a:t>
            </a:r>
            <a:endParaRPr sz="975" baseline="-17094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5738" y="1884298"/>
            <a:ext cx="204470" cy="20447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sz="1400" dirty="0">
                <a:latin typeface="黑体"/>
                <a:cs typeface="黑体"/>
              </a:rPr>
              <a:t>…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92543" y="2035555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/>
                <a:cs typeface="黑体"/>
              </a:rPr>
              <a:t>…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7591" y="1921509"/>
            <a:ext cx="203835" cy="20383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585"/>
              </a:lnSpc>
            </a:pPr>
            <a:r>
              <a:rPr sz="1400" dirty="0">
                <a:latin typeface="黑体"/>
                <a:cs typeface="黑体"/>
              </a:rPr>
              <a:t>…</a:t>
            </a:r>
            <a:endParaRPr sz="14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3361" y="897763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W1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65165" y="884046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W2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44541" y="947039"/>
            <a:ext cx="135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Cambria Math"/>
                <a:cs typeface="Cambria Math"/>
              </a:rPr>
              <a:t>ℎ</a:t>
            </a:r>
            <a:r>
              <a:rPr sz="975" spc="30" baseline="-17094" dirty="0">
                <a:latin typeface="Cambria Math"/>
                <a:cs typeface="Cambria Math"/>
              </a:rPr>
              <a:t>1</a:t>
            </a:r>
            <a:endParaRPr sz="975" baseline="-17094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5049" y="1331721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ℎ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09057" y="1385061"/>
            <a:ext cx="74295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20" dirty="0">
                <a:latin typeface="Cambria Math"/>
                <a:cs typeface="Cambria Math"/>
              </a:rPr>
              <a:t>2</a:t>
            </a:r>
            <a:endParaRPr sz="6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48478" y="1751202"/>
            <a:ext cx="138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ℎ</a:t>
            </a:r>
            <a:r>
              <a:rPr sz="975" spc="30" baseline="-17094" dirty="0">
                <a:latin typeface="Cambria Math"/>
                <a:cs typeface="Cambria Math"/>
              </a:rPr>
              <a:t>3</a:t>
            </a:r>
            <a:endParaRPr sz="975" baseline="-17094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6955" y="2410078"/>
            <a:ext cx="153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ℎ</a:t>
            </a:r>
            <a:r>
              <a:rPr sz="975" spc="44" baseline="-17094" dirty="0">
                <a:latin typeface="Cambria Math"/>
                <a:cs typeface="Cambria Math"/>
              </a:rPr>
              <a:t>𝑁</a:t>
            </a:r>
            <a:endParaRPr sz="975" baseline="-17094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11193" y="2470784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输入层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71897" y="2764662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隐层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95289" y="2713354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输出层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444" y="502665"/>
            <a:ext cx="1092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两层全连接网络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14821" y="835786"/>
            <a:ext cx="2058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问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题：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CIFAR10图</a:t>
            </a:r>
            <a:r>
              <a:rPr sz="1000" spc="5" dirty="0">
                <a:solidFill>
                  <a:srgbClr val="1A1A1A"/>
                </a:solidFill>
                <a:latin typeface="黑体"/>
                <a:cs typeface="黑体"/>
              </a:rPr>
              <a:t>像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尺</a:t>
            </a:r>
            <a:r>
              <a:rPr sz="1000" spc="5" dirty="0">
                <a:solidFill>
                  <a:srgbClr val="1A1A1A"/>
                </a:solidFill>
                <a:latin typeface="黑体"/>
                <a:cs typeface="黑体"/>
              </a:rPr>
              <a:t>寸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32x32x3，隐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14821" y="987958"/>
            <a:ext cx="1803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1A1A1A"/>
                </a:solidFill>
                <a:latin typeface="黑体"/>
                <a:cs typeface="黑体"/>
              </a:rPr>
              <a:t>层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每个</a:t>
            </a:r>
            <a:r>
              <a:rPr sz="1000" spc="5" dirty="0">
                <a:solidFill>
                  <a:srgbClr val="1A1A1A"/>
                </a:solidFill>
                <a:latin typeface="黑体"/>
                <a:cs typeface="黑体"/>
              </a:rPr>
              <a:t>神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经元</a:t>
            </a:r>
            <a:r>
              <a:rPr sz="1000" spc="5" dirty="0">
                <a:solidFill>
                  <a:srgbClr val="1A1A1A"/>
                </a:solidFill>
                <a:latin typeface="黑体"/>
                <a:cs typeface="黑体"/>
              </a:rPr>
              <a:t>权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值个</a:t>
            </a:r>
            <a:r>
              <a:rPr sz="1000" spc="5" dirty="0">
                <a:solidFill>
                  <a:srgbClr val="1A1A1A"/>
                </a:solidFill>
                <a:latin typeface="黑体"/>
                <a:cs typeface="黑体"/>
              </a:rPr>
              <a:t>数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是多</a:t>
            </a:r>
            <a:r>
              <a:rPr sz="1000" spc="5" dirty="0">
                <a:solidFill>
                  <a:srgbClr val="1A1A1A"/>
                </a:solidFill>
                <a:latin typeface="黑体"/>
                <a:cs typeface="黑体"/>
              </a:rPr>
              <a:t>少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？ 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回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答：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32x32x3=3072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14821" y="1673758"/>
            <a:ext cx="1929764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问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题：</a:t>
            </a:r>
            <a:r>
              <a:rPr sz="1000" spc="5" dirty="0">
                <a:latin typeface="黑体"/>
                <a:cs typeface="黑体"/>
              </a:rPr>
              <a:t>如</a:t>
            </a:r>
            <a:r>
              <a:rPr sz="1000" spc="-5" dirty="0">
                <a:latin typeface="黑体"/>
                <a:cs typeface="黑体"/>
              </a:rPr>
              <a:t>果图</a:t>
            </a:r>
            <a:r>
              <a:rPr sz="1000" spc="5" dirty="0">
                <a:latin typeface="黑体"/>
                <a:cs typeface="黑体"/>
              </a:rPr>
              <a:t>像</a:t>
            </a:r>
            <a:r>
              <a:rPr sz="1000" spc="-5" dirty="0">
                <a:latin typeface="黑体"/>
                <a:cs typeface="黑体"/>
              </a:rPr>
              <a:t>大</a:t>
            </a:r>
            <a:r>
              <a:rPr sz="1000" spc="5" dirty="0">
                <a:latin typeface="黑体"/>
                <a:cs typeface="黑体"/>
              </a:rPr>
              <a:t>小</a:t>
            </a:r>
            <a:r>
              <a:rPr sz="1000" spc="-5" dirty="0">
                <a:latin typeface="黑体"/>
                <a:cs typeface="黑体"/>
              </a:rPr>
              <a:t>200x200x3，  </a:t>
            </a:r>
            <a:r>
              <a:rPr sz="1000" spc="5" dirty="0">
                <a:latin typeface="黑体"/>
                <a:cs typeface="黑体"/>
              </a:rPr>
              <a:t>隐</a:t>
            </a:r>
            <a:r>
              <a:rPr sz="1000" spc="-5" dirty="0">
                <a:latin typeface="黑体"/>
                <a:cs typeface="黑体"/>
              </a:rPr>
              <a:t>层每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神经</a:t>
            </a:r>
            <a:r>
              <a:rPr sz="1000" spc="5" dirty="0">
                <a:latin typeface="黑体"/>
                <a:cs typeface="黑体"/>
              </a:rPr>
              <a:t>元</a:t>
            </a:r>
            <a:r>
              <a:rPr sz="1000" spc="-5" dirty="0">
                <a:latin typeface="黑体"/>
                <a:cs typeface="黑体"/>
              </a:rPr>
              <a:t>权值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数是</a:t>
            </a:r>
            <a:r>
              <a:rPr sz="1000" spc="5" dirty="0">
                <a:latin typeface="黑体"/>
                <a:cs typeface="黑体"/>
              </a:rPr>
              <a:t>多</a:t>
            </a:r>
            <a:r>
              <a:rPr sz="1000" spc="-5" dirty="0">
                <a:latin typeface="黑体"/>
                <a:cs typeface="黑体"/>
              </a:rPr>
              <a:t>少？ 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回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答： 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200x200x3</a:t>
            </a:r>
            <a:r>
              <a:rPr sz="1000" spc="-10" dirty="0">
                <a:solidFill>
                  <a:srgbClr val="1A1A1A"/>
                </a:solidFill>
                <a:latin typeface="黑体"/>
                <a:cs typeface="黑体"/>
              </a:rPr>
              <a:t> 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=</a:t>
            </a:r>
            <a:r>
              <a:rPr sz="1000" spc="-15" dirty="0">
                <a:solidFill>
                  <a:srgbClr val="1A1A1A"/>
                </a:solidFill>
                <a:latin typeface="黑体"/>
                <a:cs typeface="黑体"/>
              </a:rPr>
              <a:t> </a:t>
            </a:r>
            <a:r>
              <a:rPr sz="1000" spc="-5" dirty="0">
                <a:solidFill>
                  <a:srgbClr val="1A1A1A"/>
                </a:solidFill>
                <a:latin typeface="黑体"/>
                <a:cs typeface="黑体"/>
              </a:rPr>
              <a:t>120，000个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14821" y="2664967"/>
            <a:ext cx="1168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仅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适合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处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理小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图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像！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1908931" y="172592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全连</a:t>
            </a:r>
            <a:r>
              <a:rPr spc="-10" dirty="0"/>
              <a:t>接</a:t>
            </a:r>
            <a:r>
              <a:rPr spc="5" dirty="0"/>
              <a:t>神</a:t>
            </a:r>
            <a:r>
              <a:rPr spc="-10" dirty="0"/>
              <a:t>经网</a:t>
            </a:r>
            <a:r>
              <a:rPr spc="5" dirty="0"/>
              <a:t>络的</a:t>
            </a:r>
            <a:r>
              <a:rPr spc="-10" dirty="0"/>
              <a:t>瓶</a:t>
            </a:r>
            <a:r>
              <a:rPr spc="5" dirty="0"/>
              <a:t>颈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07843" y="3282467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71941" y="3282467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2007" y="1268111"/>
            <a:ext cx="891540" cy="187960"/>
          </a:xfrm>
          <a:prstGeom prst="rect">
            <a:avLst/>
          </a:prstGeom>
          <a:solidFill>
            <a:srgbClr val="FBD4B5"/>
          </a:solidFill>
          <a:ln w="12700">
            <a:solidFill>
              <a:srgbClr val="FF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分类模型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22216" y="180760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79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79"/>
                </a:lnTo>
                <a:lnTo>
                  <a:pt x="43179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07941" y="1855232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预测值</a:t>
            </a:r>
            <a:r>
              <a:rPr sz="900" spc="-459" dirty="0">
                <a:latin typeface="Cambria Math"/>
                <a:cs typeface="Cambria Math"/>
              </a:rPr>
              <a:t>𝑌</a:t>
            </a:r>
            <a:r>
              <a:rPr sz="1350" spc="-660" baseline="9259" dirty="0">
                <a:latin typeface="Cambria Math"/>
                <a:cs typeface="Cambria Math"/>
              </a:rPr>
              <a:t>෠</a:t>
            </a:r>
            <a:endParaRPr sz="1350" baseline="9259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89243" y="1807607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9467" y="0"/>
                </a:lnTo>
                <a:lnTo>
                  <a:pt x="586287" y="3389"/>
                </a:lnTo>
                <a:lnTo>
                  <a:pt x="600011" y="12636"/>
                </a:lnTo>
                <a:lnTo>
                  <a:pt x="609258" y="26360"/>
                </a:lnTo>
                <a:lnTo>
                  <a:pt x="612647" y="43179"/>
                </a:lnTo>
                <a:lnTo>
                  <a:pt x="612647" y="215900"/>
                </a:lnTo>
                <a:lnTo>
                  <a:pt x="609258" y="232719"/>
                </a:lnTo>
                <a:lnTo>
                  <a:pt x="600011" y="246443"/>
                </a:lnTo>
                <a:lnTo>
                  <a:pt x="586287" y="255690"/>
                </a:lnTo>
                <a:lnTo>
                  <a:pt x="569467" y="259079"/>
                </a:lnTo>
                <a:lnTo>
                  <a:pt x="43179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6238" y="185256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真实值</a:t>
            </a:r>
            <a:r>
              <a:rPr sz="900" dirty="0">
                <a:latin typeface="Cambria Math"/>
                <a:cs typeface="Cambria Math"/>
              </a:rPr>
              <a:t>𝑌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37912" y="2941463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80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3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4" y="43180"/>
                </a:lnTo>
                <a:lnTo>
                  <a:pt x="611124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3" y="259080"/>
                </a:lnTo>
                <a:lnTo>
                  <a:pt x="43180" y="259080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59324" y="298642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损失值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2160" y="123153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79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79"/>
                </a:lnTo>
                <a:lnTo>
                  <a:pt x="43180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5914" y="1275858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模型参数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09490" y="94959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2700" y="280416"/>
                </a:moveTo>
                <a:lnTo>
                  <a:pt x="0" y="280416"/>
                </a:lnTo>
                <a:lnTo>
                  <a:pt x="19050" y="318516"/>
                </a:lnTo>
                <a:lnTo>
                  <a:pt x="34925" y="286766"/>
                </a:lnTo>
                <a:lnTo>
                  <a:pt x="12700" y="286766"/>
                </a:lnTo>
                <a:lnTo>
                  <a:pt x="12700" y="280416"/>
                </a:lnTo>
                <a:close/>
              </a:path>
              <a:path w="38100" h="318769">
                <a:moveTo>
                  <a:pt x="25400" y="0"/>
                </a:moveTo>
                <a:lnTo>
                  <a:pt x="12700" y="0"/>
                </a:lnTo>
                <a:lnTo>
                  <a:pt x="12700" y="286766"/>
                </a:lnTo>
                <a:lnTo>
                  <a:pt x="25400" y="286766"/>
                </a:lnTo>
                <a:lnTo>
                  <a:pt x="25400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5400" y="280416"/>
                </a:lnTo>
                <a:lnTo>
                  <a:pt x="25400" y="286766"/>
                </a:lnTo>
                <a:lnTo>
                  <a:pt x="34925" y="286766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00727" y="1456325"/>
            <a:ext cx="57150" cy="353695"/>
          </a:xfrm>
          <a:custGeom>
            <a:avLst/>
            <a:gdLst/>
            <a:ahLst/>
            <a:cxnLst/>
            <a:rect l="l" t="t" r="r" b="b"/>
            <a:pathLst>
              <a:path w="57150" h="353694">
                <a:moveTo>
                  <a:pt x="19050" y="296290"/>
                </a:moveTo>
                <a:lnTo>
                  <a:pt x="0" y="296290"/>
                </a:lnTo>
                <a:lnTo>
                  <a:pt x="28575" y="353440"/>
                </a:lnTo>
                <a:lnTo>
                  <a:pt x="52387" y="305815"/>
                </a:lnTo>
                <a:lnTo>
                  <a:pt x="19050" y="305815"/>
                </a:lnTo>
                <a:lnTo>
                  <a:pt x="19050" y="296290"/>
                </a:lnTo>
                <a:close/>
              </a:path>
              <a:path w="57150" h="353694">
                <a:moveTo>
                  <a:pt x="38100" y="0"/>
                </a:moveTo>
                <a:lnTo>
                  <a:pt x="19050" y="0"/>
                </a:lnTo>
                <a:lnTo>
                  <a:pt x="19050" y="305815"/>
                </a:lnTo>
                <a:lnTo>
                  <a:pt x="38100" y="305815"/>
                </a:lnTo>
                <a:lnTo>
                  <a:pt x="38100" y="0"/>
                </a:lnTo>
                <a:close/>
              </a:path>
              <a:path w="57150" h="353694">
                <a:moveTo>
                  <a:pt x="57150" y="296290"/>
                </a:moveTo>
                <a:lnTo>
                  <a:pt x="38100" y="296290"/>
                </a:lnTo>
                <a:lnTo>
                  <a:pt x="38100" y="305815"/>
                </a:lnTo>
                <a:lnTo>
                  <a:pt x="52387" y="305815"/>
                </a:lnTo>
                <a:lnTo>
                  <a:pt x="57150" y="2962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5110" y="2058940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769" y="298151"/>
                </a:moveTo>
                <a:lnTo>
                  <a:pt x="556260" y="315214"/>
                </a:lnTo>
                <a:lnTo>
                  <a:pt x="620267" y="315087"/>
                </a:lnTo>
                <a:lnTo>
                  <a:pt x="610695" y="302387"/>
                </a:lnTo>
                <a:lnTo>
                  <a:pt x="573277" y="302387"/>
                </a:lnTo>
                <a:lnTo>
                  <a:pt x="564769" y="298151"/>
                </a:lnTo>
                <a:close/>
              </a:path>
              <a:path w="620394" h="315594">
                <a:moveTo>
                  <a:pt x="573261" y="281126"/>
                </a:moveTo>
                <a:lnTo>
                  <a:pt x="564769" y="298151"/>
                </a:lnTo>
                <a:lnTo>
                  <a:pt x="573277" y="302387"/>
                </a:lnTo>
                <a:lnTo>
                  <a:pt x="581787" y="285369"/>
                </a:lnTo>
                <a:lnTo>
                  <a:pt x="573261" y="281126"/>
                </a:lnTo>
                <a:close/>
              </a:path>
              <a:path w="620394" h="315594">
                <a:moveTo>
                  <a:pt x="581787" y="264033"/>
                </a:moveTo>
                <a:lnTo>
                  <a:pt x="573261" y="281126"/>
                </a:lnTo>
                <a:lnTo>
                  <a:pt x="581787" y="285369"/>
                </a:lnTo>
                <a:lnTo>
                  <a:pt x="573277" y="302387"/>
                </a:lnTo>
                <a:lnTo>
                  <a:pt x="610695" y="302387"/>
                </a:lnTo>
                <a:lnTo>
                  <a:pt x="581787" y="264033"/>
                </a:lnTo>
                <a:close/>
              </a:path>
              <a:path w="620394" h="315594">
                <a:moveTo>
                  <a:pt x="8381" y="0"/>
                </a:moveTo>
                <a:lnTo>
                  <a:pt x="0" y="17018"/>
                </a:lnTo>
                <a:lnTo>
                  <a:pt x="564769" y="298151"/>
                </a:lnTo>
                <a:lnTo>
                  <a:pt x="573261" y="281126"/>
                </a:lnTo>
                <a:lnTo>
                  <a:pt x="83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44998" y="2058686"/>
            <a:ext cx="755650" cy="320675"/>
          </a:xfrm>
          <a:custGeom>
            <a:avLst/>
            <a:gdLst/>
            <a:ahLst/>
            <a:cxnLst/>
            <a:rect l="l" t="t" r="r" b="b"/>
            <a:pathLst>
              <a:path w="755650" h="320675">
                <a:moveTo>
                  <a:pt x="42163" y="267334"/>
                </a:moveTo>
                <a:lnTo>
                  <a:pt x="0" y="315341"/>
                </a:lnTo>
                <a:lnTo>
                  <a:pt x="63753" y="320294"/>
                </a:lnTo>
                <a:lnTo>
                  <a:pt x="58007" y="306197"/>
                </a:lnTo>
                <a:lnTo>
                  <a:pt x="47751" y="306197"/>
                </a:lnTo>
                <a:lnTo>
                  <a:pt x="40512" y="288544"/>
                </a:lnTo>
                <a:lnTo>
                  <a:pt x="49342" y="284944"/>
                </a:lnTo>
                <a:lnTo>
                  <a:pt x="42163" y="267334"/>
                </a:lnTo>
                <a:close/>
              </a:path>
              <a:path w="755650" h="320675">
                <a:moveTo>
                  <a:pt x="49342" y="284944"/>
                </a:moveTo>
                <a:lnTo>
                  <a:pt x="40512" y="288544"/>
                </a:lnTo>
                <a:lnTo>
                  <a:pt x="47751" y="306197"/>
                </a:lnTo>
                <a:lnTo>
                  <a:pt x="56544" y="302610"/>
                </a:lnTo>
                <a:lnTo>
                  <a:pt x="49342" y="284944"/>
                </a:lnTo>
                <a:close/>
              </a:path>
              <a:path w="755650" h="320675">
                <a:moveTo>
                  <a:pt x="56544" y="302610"/>
                </a:moveTo>
                <a:lnTo>
                  <a:pt x="47751" y="306197"/>
                </a:lnTo>
                <a:lnTo>
                  <a:pt x="58007" y="306197"/>
                </a:lnTo>
                <a:lnTo>
                  <a:pt x="56544" y="302610"/>
                </a:lnTo>
                <a:close/>
              </a:path>
              <a:path w="755650" h="320675">
                <a:moveTo>
                  <a:pt x="748284" y="0"/>
                </a:moveTo>
                <a:lnTo>
                  <a:pt x="49342" y="284944"/>
                </a:lnTo>
                <a:lnTo>
                  <a:pt x="56544" y="302610"/>
                </a:lnTo>
                <a:lnTo>
                  <a:pt x="755523" y="17525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16423" y="2561225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19050" y="323849"/>
                </a:moveTo>
                <a:lnTo>
                  <a:pt x="0" y="323849"/>
                </a:lnTo>
                <a:lnTo>
                  <a:pt x="28575" y="380999"/>
                </a:lnTo>
                <a:lnTo>
                  <a:pt x="52387" y="333374"/>
                </a:lnTo>
                <a:lnTo>
                  <a:pt x="19050" y="333374"/>
                </a:lnTo>
                <a:lnTo>
                  <a:pt x="19050" y="323849"/>
                </a:lnTo>
                <a:close/>
              </a:path>
              <a:path w="57150" h="381000">
                <a:moveTo>
                  <a:pt x="38100" y="0"/>
                </a:moveTo>
                <a:lnTo>
                  <a:pt x="19050" y="0"/>
                </a:lnTo>
                <a:lnTo>
                  <a:pt x="19050" y="333374"/>
                </a:lnTo>
                <a:lnTo>
                  <a:pt x="38100" y="333374"/>
                </a:lnTo>
                <a:lnTo>
                  <a:pt x="38100" y="0"/>
                </a:lnTo>
                <a:close/>
              </a:path>
              <a:path w="57150" h="381000">
                <a:moveTo>
                  <a:pt x="57150" y="323849"/>
                </a:moveTo>
                <a:lnTo>
                  <a:pt x="38100" y="323849"/>
                </a:lnTo>
                <a:lnTo>
                  <a:pt x="38100" y="333374"/>
                </a:lnTo>
                <a:lnTo>
                  <a:pt x="52387" y="333374"/>
                </a:lnTo>
                <a:lnTo>
                  <a:pt x="57150" y="323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16198" y="2384822"/>
            <a:ext cx="1527175" cy="697230"/>
          </a:xfrm>
          <a:custGeom>
            <a:avLst/>
            <a:gdLst/>
            <a:ahLst/>
            <a:cxnLst/>
            <a:rect l="l" t="t" r="r" b="b"/>
            <a:pathLst>
              <a:path w="1527175" h="697230">
                <a:moveTo>
                  <a:pt x="56061" y="17372"/>
                </a:moveTo>
                <a:lnTo>
                  <a:pt x="48222" y="34787"/>
                </a:lnTo>
                <a:lnTo>
                  <a:pt x="1519174" y="696721"/>
                </a:lnTo>
                <a:lnTo>
                  <a:pt x="1527048" y="679322"/>
                </a:lnTo>
                <a:lnTo>
                  <a:pt x="56061" y="17372"/>
                </a:lnTo>
                <a:close/>
              </a:path>
              <a:path w="1527175" h="697230">
                <a:moveTo>
                  <a:pt x="63881" y="0"/>
                </a:moveTo>
                <a:lnTo>
                  <a:pt x="0" y="2666"/>
                </a:lnTo>
                <a:lnTo>
                  <a:pt x="40386" y="52196"/>
                </a:lnTo>
                <a:lnTo>
                  <a:pt x="48222" y="34787"/>
                </a:lnTo>
                <a:lnTo>
                  <a:pt x="39496" y="30860"/>
                </a:lnTo>
                <a:lnTo>
                  <a:pt x="47371" y="13461"/>
                </a:lnTo>
                <a:lnTo>
                  <a:pt x="57821" y="13461"/>
                </a:lnTo>
                <a:lnTo>
                  <a:pt x="63881" y="0"/>
                </a:lnTo>
                <a:close/>
              </a:path>
              <a:path w="1527175" h="697230">
                <a:moveTo>
                  <a:pt x="47371" y="13461"/>
                </a:moveTo>
                <a:lnTo>
                  <a:pt x="39496" y="30860"/>
                </a:lnTo>
                <a:lnTo>
                  <a:pt x="48222" y="34787"/>
                </a:lnTo>
                <a:lnTo>
                  <a:pt x="56061" y="17372"/>
                </a:lnTo>
                <a:lnTo>
                  <a:pt x="47371" y="13461"/>
                </a:lnTo>
                <a:close/>
              </a:path>
              <a:path w="1527175" h="697230">
                <a:moveTo>
                  <a:pt x="57821" y="13461"/>
                </a:moveTo>
                <a:lnTo>
                  <a:pt x="47371" y="13461"/>
                </a:lnTo>
                <a:lnTo>
                  <a:pt x="56061" y="17372"/>
                </a:lnTo>
                <a:lnTo>
                  <a:pt x="57821" y="13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7623" y="1491377"/>
            <a:ext cx="57150" cy="708660"/>
          </a:xfrm>
          <a:custGeom>
            <a:avLst/>
            <a:gdLst/>
            <a:ahLst/>
            <a:cxnLst/>
            <a:rect l="l" t="t" r="r" b="b"/>
            <a:pathLst>
              <a:path w="57150" h="708660">
                <a:moveTo>
                  <a:pt x="38100" y="47625"/>
                </a:moveTo>
                <a:lnTo>
                  <a:pt x="19050" y="47625"/>
                </a:lnTo>
                <a:lnTo>
                  <a:pt x="19050" y="708278"/>
                </a:lnTo>
                <a:lnTo>
                  <a:pt x="38100" y="708278"/>
                </a:lnTo>
                <a:lnTo>
                  <a:pt x="38100" y="47625"/>
                </a:lnTo>
                <a:close/>
              </a:path>
              <a:path w="57150" h="708660">
                <a:moveTo>
                  <a:pt x="285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050" y="47625"/>
                </a:lnTo>
                <a:lnTo>
                  <a:pt x="52387" y="47625"/>
                </a:lnTo>
                <a:lnTo>
                  <a:pt x="28575" y="0"/>
                </a:lnTo>
                <a:close/>
              </a:path>
              <a:path w="57150" h="708660">
                <a:moveTo>
                  <a:pt x="52387" y="47625"/>
                </a:moveTo>
                <a:lnTo>
                  <a:pt x="38100" y="47625"/>
                </a:lnTo>
                <a:lnTo>
                  <a:pt x="38100" y="57150"/>
                </a:lnTo>
                <a:lnTo>
                  <a:pt x="57150" y="57150"/>
                </a:lnTo>
                <a:lnTo>
                  <a:pt x="52387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67786" y="1722009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参数</a:t>
            </a:r>
            <a:r>
              <a:rPr sz="900" spc="-8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更新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24046" y="1333262"/>
            <a:ext cx="459105" cy="57150"/>
          </a:xfrm>
          <a:custGeom>
            <a:avLst/>
            <a:gdLst/>
            <a:ahLst/>
            <a:cxnLst/>
            <a:rect l="l" t="t" r="r" b="b"/>
            <a:pathLst>
              <a:path w="459105" h="57150">
                <a:moveTo>
                  <a:pt x="401447" y="0"/>
                </a:moveTo>
                <a:lnTo>
                  <a:pt x="401447" y="57150"/>
                </a:lnTo>
                <a:lnTo>
                  <a:pt x="439547" y="38100"/>
                </a:lnTo>
                <a:lnTo>
                  <a:pt x="410972" y="38100"/>
                </a:lnTo>
                <a:lnTo>
                  <a:pt x="410972" y="19050"/>
                </a:lnTo>
                <a:lnTo>
                  <a:pt x="439547" y="19050"/>
                </a:lnTo>
                <a:lnTo>
                  <a:pt x="401447" y="0"/>
                </a:lnTo>
                <a:close/>
              </a:path>
              <a:path w="459105" h="57150">
                <a:moveTo>
                  <a:pt x="401447" y="19050"/>
                </a:moveTo>
                <a:lnTo>
                  <a:pt x="0" y="19050"/>
                </a:lnTo>
                <a:lnTo>
                  <a:pt x="0" y="38100"/>
                </a:lnTo>
                <a:lnTo>
                  <a:pt x="401447" y="38100"/>
                </a:lnTo>
                <a:lnTo>
                  <a:pt x="401447" y="19050"/>
                </a:lnTo>
                <a:close/>
              </a:path>
              <a:path w="459105" h="57150">
                <a:moveTo>
                  <a:pt x="439547" y="19050"/>
                </a:moveTo>
                <a:lnTo>
                  <a:pt x="410972" y="19050"/>
                </a:lnTo>
                <a:lnTo>
                  <a:pt x="410972" y="38100"/>
                </a:lnTo>
                <a:lnTo>
                  <a:pt x="439547" y="38100"/>
                </a:lnTo>
                <a:lnTo>
                  <a:pt x="458597" y="28575"/>
                </a:lnTo>
                <a:lnTo>
                  <a:pt x="439547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01870" y="443627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2700" y="280415"/>
                </a:moveTo>
                <a:lnTo>
                  <a:pt x="0" y="280415"/>
                </a:lnTo>
                <a:lnTo>
                  <a:pt x="19050" y="318515"/>
                </a:lnTo>
                <a:lnTo>
                  <a:pt x="34925" y="286765"/>
                </a:lnTo>
                <a:lnTo>
                  <a:pt x="12700" y="286765"/>
                </a:lnTo>
                <a:lnTo>
                  <a:pt x="12700" y="280415"/>
                </a:lnTo>
                <a:close/>
              </a:path>
              <a:path w="38100" h="318770">
                <a:moveTo>
                  <a:pt x="25400" y="0"/>
                </a:moveTo>
                <a:lnTo>
                  <a:pt x="12700" y="0"/>
                </a:lnTo>
                <a:lnTo>
                  <a:pt x="12700" y="286765"/>
                </a:lnTo>
                <a:lnTo>
                  <a:pt x="25400" y="286765"/>
                </a:lnTo>
                <a:lnTo>
                  <a:pt x="25400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400" y="280415"/>
                </a:lnTo>
                <a:lnTo>
                  <a:pt x="25400" y="286765"/>
                </a:lnTo>
                <a:lnTo>
                  <a:pt x="34925" y="286765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44314" y="276749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r>
              <a:rPr sz="900" dirty="0">
                <a:latin typeface="Cambria Math"/>
                <a:cs typeface="Cambria Math"/>
              </a:rPr>
              <a:t>𝑋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8980" y="688229"/>
            <a:ext cx="577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3</a:t>
            </a:r>
            <a:r>
              <a:rPr sz="900" spc="-5" dirty="0">
                <a:latin typeface="微软雅黑"/>
                <a:cs typeface="微软雅黑"/>
              </a:rPr>
              <a:t>.</a:t>
            </a:r>
            <a:r>
              <a:rPr sz="900" dirty="0">
                <a:latin typeface="微软雅黑"/>
                <a:cs typeface="微软雅黑"/>
              </a:rPr>
              <a:t>样本增强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2007" y="762143"/>
            <a:ext cx="891540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图像表示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97704" y="2374535"/>
            <a:ext cx="891540" cy="1860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损失函数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8904" y="2199275"/>
            <a:ext cx="891540" cy="187960"/>
          </a:xfrm>
          <a:custGeom>
            <a:avLst/>
            <a:gdLst/>
            <a:ahLst/>
            <a:cxnLst/>
            <a:rect l="l" t="t" r="r" b="b"/>
            <a:pathLst>
              <a:path w="891540" h="187960">
                <a:moveTo>
                  <a:pt x="0" y="187451"/>
                </a:moveTo>
                <a:lnTo>
                  <a:pt x="891540" y="187451"/>
                </a:lnTo>
                <a:lnTo>
                  <a:pt x="891540" y="0"/>
                </a:lnTo>
                <a:lnTo>
                  <a:pt x="0" y="0"/>
                </a:lnTo>
                <a:lnTo>
                  <a:pt x="0" y="18745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74390" y="2207276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优化算法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8643" y="76900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像素表示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63591" y="1207024"/>
            <a:ext cx="1263650" cy="43751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4" indent="-94615">
              <a:lnSpc>
                <a:spcPct val="100000"/>
              </a:lnSpc>
              <a:spcBef>
                <a:spcPts val="640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latin typeface="微软雅黑"/>
                <a:cs typeface="微软雅黑"/>
              </a:rPr>
              <a:t>全连接神经网络的瓶颈</a:t>
            </a:r>
            <a:endParaRPr sz="900">
              <a:latin typeface="微软雅黑"/>
              <a:cs typeface="微软雅黑"/>
            </a:endParaRPr>
          </a:p>
          <a:p>
            <a:pPr marL="107314" indent="-94615">
              <a:lnSpc>
                <a:spcPct val="100000"/>
              </a:lnSpc>
              <a:spcBef>
                <a:spcPts val="545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solidFill>
                  <a:srgbClr val="FF0000"/>
                </a:solidFill>
                <a:latin typeface="微软雅黑"/>
                <a:cs typeface="微软雅黑"/>
              </a:rPr>
              <a:t>卷积神经网络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06337" y="2382282"/>
            <a:ext cx="1035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微软雅黑"/>
                <a:cs typeface="微软雅黑"/>
              </a:rPr>
              <a:t>SOFTMAX</a:t>
            </a:r>
            <a:r>
              <a:rPr sz="900" dirty="0">
                <a:latin typeface="微软雅黑"/>
                <a:cs typeface="微软雅黑"/>
              </a:rPr>
              <a:t>与交叉熵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0340" y="2453021"/>
            <a:ext cx="10541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动量法与自适应梯度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55104" y="443627"/>
            <a:ext cx="893444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训练过程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7843" y="3259471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71942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215" y="878712"/>
            <a:ext cx="4149852" cy="1985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4103" y="871473"/>
            <a:ext cx="4164329" cy="2000250"/>
          </a:xfrm>
          <a:custGeom>
            <a:avLst/>
            <a:gdLst/>
            <a:ahLst/>
            <a:cxnLst/>
            <a:rect l="l" t="t" r="r" b="b"/>
            <a:pathLst>
              <a:path w="4164329" h="2000250">
                <a:moveTo>
                  <a:pt x="0" y="2000123"/>
                </a:moveTo>
                <a:lnTo>
                  <a:pt x="4164076" y="2000123"/>
                </a:lnTo>
                <a:lnTo>
                  <a:pt x="4164076" y="0"/>
                </a:lnTo>
                <a:lnTo>
                  <a:pt x="0" y="0"/>
                </a:lnTo>
                <a:lnTo>
                  <a:pt x="0" y="200012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503" y="1713864"/>
            <a:ext cx="996695" cy="909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391" y="1706689"/>
            <a:ext cx="1011555" cy="924560"/>
          </a:xfrm>
          <a:custGeom>
            <a:avLst/>
            <a:gdLst/>
            <a:ahLst/>
            <a:cxnLst/>
            <a:rect l="l" t="t" r="r" b="b"/>
            <a:pathLst>
              <a:path w="1011555" h="924560">
                <a:moveTo>
                  <a:pt x="0" y="924115"/>
                </a:moveTo>
                <a:lnTo>
                  <a:pt x="1010983" y="924115"/>
                </a:lnTo>
                <a:lnTo>
                  <a:pt x="1010983" y="0"/>
                </a:lnTo>
                <a:lnTo>
                  <a:pt x="0" y="0"/>
                </a:lnTo>
                <a:lnTo>
                  <a:pt x="0" y="92411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66" y="1165605"/>
            <a:ext cx="10922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CONV—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卷积层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RELU—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激活层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POOL—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池化层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FC——全连接层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神</a:t>
            </a:r>
            <a:r>
              <a:rPr spc="5" dirty="0"/>
              <a:t>经</a:t>
            </a:r>
            <a:r>
              <a:rPr spc="-10" dirty="0"/>
              <a:t>网</a:t>
            </a:r>
            <a:r>
              <a:rPr spc="5" dirty="0"/>
              <a:t>络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7843" y="3282467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71941" y="3282467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216" y="856631"/>
            <a:ext cx="4149852" cy="1985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4104" y="849392"/>
            <a:ext cx="4164329" cy="2000250"/>
          </a:xfrm>
          <a:custGeom>
            <a:avLst/>
            <a:gdLst/>
            <a:ahLst/>
            <a:cxnLst/>
            <a:rect l="l" t="t" r="r" b="b"/>
            <a:pathLst>
              <a:path w="4164329" h="2000250">
                <a:moveTo>
                  <a:pt x="0" y="2000123"/>
                </a:moveTo>
                <a:lnTo>
                  <a:pt x="4164076" y="2000123"/>
                </a:lnTo>
                <a:lnTo>
                  <a:pt x="4164076" y="0"/>
                </a:lnTo>
                <a:lnTo>
                  <a:pt x="0" y="0"/>
                </a:lnTo>
                <a:lnTo>
                  <a:pt x="0" y="200012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504" y="1691783"/>
            <a:ext cx="996695" cy="909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392" y="1684608"/>
            <a:ext cx="1011555" cy="924560"/>
          </a:xfrm>
          <a:custGeom>
            <a:avLst/>
            <a:gdLst/>
            <a:ahLst/>
            <a:cxnLst/>
            <a:rect l="l" t="t" r="r" b="b"/>
            <a:pathLst>
              <a:path w="1011555" h="924560">
                <a:moveTo>
                  <a:pt x="0" y="924115"/>
                </a:moveTo>
                <a:lnTo>
                  <a:pt x="1010983" y="924115"/>
                </a:lnTo>
                <a:lnTo>
                  <a:pt x="1010983" y="0"/>
                </a:lnTo>
                <a:lnTo>
                  <a:pt x="0" y="0"/>
                </a:lnTo>
                <a:lnTo>
                  <a:pt x="0" y="92411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66" y="1142889"/>
            <a:ext cx="10922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CONV—</a:t>
            </a:r>
            <a:r>
              <a:rPr sz="1200" spc="-5" dirty="0">
                <a:solidFill>
                  <a:srgbClr val="FF0000"/>
                </a:solidFill>
                <a:latin typeface="黑体"/>
                <a:cs typeface="黑体"/>
              </a:rPr>
              <a:t>—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卷积层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RELU—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激活层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POOL—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池化层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FC——全连接层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神</a:t>
            </a:r>
            <a:r>
              <a:rPr spc="5" dirty="0"/>
              <a:t>经</a:t>
            </a:r>
            <a:r>
              <a:rPr spc="-10" dirty="0"/>
              <a:t>网</a:t>
            </a:r>
            <a:r>
              <a:rPr spc="5" dirty="0"/>
              <a:t>络</a:t>
            </a:r>
          </a:p>
        </p:txBody>
      </p:sp>
      <p:sp>
        <p:nvSpPr>
          <p:cNvPr id="8" name="object 8"/>
          <p:cNvSpPr/>
          <p:nvPr/>
        </p:nvSpPr>
        <p:spPr>
          <a:xfrm>
            <a:off x="2606670" y="1148477"/>
            <a:ext cx="271780" cy="152400"/>
          </a:xfrm>
          <a:custGeom>
            <a:avLst/>
            <a:gdLst/>
            <a:ahLst/>
            <a:cxnLst/>
            <a:rect l="l" t="t" r="r" b="b"/>
            <a:pathLst>
              <a:path w="271780" h="152400">
                <a:moveTo>
                  <a:pt x="0" y="152400"/>
                </a:moveTo>
                <a:lnTo>
                  <a:pt x="271271" y="152400"/>
                </a:lnTo>
                <a:lnTo>
                  <a:pt x="271271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37378" y="1148477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15913" y="1153049"/>
            <a:ext cx="271780" cy="152400"/>
          </a:xfrm>
          <a:custGeom>
            <a:avLst/>
            <a:gdLst/>
            <a:ahLst/>
            <a:cxnLst/>
            <a:rect l="l" t="t" r="r" b="b"/>
            <a:pathLst>
              <a:path w="271779" h="152400">
                <a:moveTo>
                  <a:pt x="0" y="152400"/>
                </a:moveTo>
                <a:lnTo>
                  <a:pt x="271272" y="152400"/>
                </a:lnTo>
                <a:lnTo>
                  <a:pt x="271272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74054" y="1153049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32778" y="1153049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75678" y="1148477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7843" y="3259471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71942" y="325947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215" y="878712"/>
            <a:ext cx="4149852" cy="1985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4103" y="871473"/>
            <a:ext cx="4164329" cy="2000250"/>
          </a:xfrm>
          <a:custGeom>
            <a:avLst/>
            <a:gdLst/>
            <a:ahLst/>
            <a:cxnLst/>
            <a:rect l="l" t="t" r="r" b="b"/>
            <a:pathLst>
              <a:path w="4164329" h="2000250">
                <a:moveTo>
                  <a:pt x="0" y="2000123"/>
                </a:moveTo>
                <a:lnTo>
                  <a:pt x="4164076" y="2000123"/>
                </a:lnTo>
                <a:lnTo>
                  <a:pt x="4164076" y="0"/>
                </a:lnTo>
                <a:lnTo>
                  <a:pt x="0" y="0"/>
                </a:lnTo>
                <a:lnTo>
                  <a:pt x="0" y="200012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503" y="1713864"/>
            <a:ext cx="996695" cy="909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391" y="1706689"/>
            <a:ext cx="1011555" cy="924560"/>
          </a:xfrm>
          <a:custGeom>
            <a:avLst/>
            <a:gdLst/>
            <a:ahLst/>
            <a:cxnLst/>
            <a:rect l="l" t="t" r="r" b="b"/>
            <a:pathLst>
              <a:path w="1011555" h="924560">
                <a:moveTo>
                  <a:pt x="0" y="924115"/>
                </a:moveTo>
                <a:lnTo>
                  <a:pt x="1010983" y="924115"/>
                </a:lnTo>
                <a:lnTo>
                  <a:pt x="1010983" y="0"/>
                </a:lnTo>
                <a:lnTo>
                  <a:pt x="0" y="0"/>
                </a:lnTo>
                <a:lnTo>
                  <a:pt x="0" y="92411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66" y="1165605"/>
            <a:ext cx="10922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CONV—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卷积层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RELU—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激活层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POOL—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池化层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FC——全连接层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神</a:t>
            </a:r>
            <a:r>
              <a:rPr spc="5" dirty="0"/>
              <a:t>经</a:t>
            </a:r>
            <a:r>
              <a:rPr spc="-10" dirty="0"/>
              <a:t>网</a:t>
            </a:r>
            <a:r>
              <a:rPr spc="5" dirty="0"/>
              <a:t>络</a:t>
            </a:r>
          </a:p>
        </p:txBody>
      </p:sp>
      <p:sp>
        <p:nvSpPr>
          <p:cNvPr id="8" name="object 8"/>
          <p:cNvSpPr/>
          <p:nvPr/>
        </p:nvSpPr>
        <p:spPr>
          <a:xfrm>
            <a:off x="5179181" y="1190370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7843" y="3282467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71941" y="3282467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216" y="856631"/>
            <a:ext cx="4149852" cy="1985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4104" y="849392"/>
            <a:ext cx="4164329" cy="2000250"/>
          </a:xfrm>
          <a:custGeom>
            <a:avLst/>
            <a:gdLst/>
            <a:ahLst/>
            <a:cxnLst/>
            <a:rect l="l" t="t" r="r" b="b"/>
            <a:pathLst>
              <a:path w="4164329" h="2000250">
                <a:moveTo>
                  <a:pt x="0" y="2000123"/>
                </a:moveTo>
                <a:lnTo>
                  <a:pt x="4164076" y="2000123"/>
                </a:lnTo>
                <a:lnTo>
                  <a:pt x="4164076" y="0"/>
                </a:lnTo>
                <a:lnTo>
                  <a:pt x="0" y="0"/>
                </a:lnTo>
                <a:lnTo>
                  <a:pt x="0" y="200012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504" y="1691783"/>
            <a:ext cx="996695" cy="909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392" y="1684608"/>
            <a:ext cx="1011555" cy="924560"/>
          </a:xfrm>
          <a:custGeom>
            <a:avLst/>
            <a:gdLst/>
            <a:ahLst/>
            <a:cxnLst/>
            <a:rect l="l" t="t" r="r" b="b"/>
            <a:pathLst>
              <a:path w="1011555" h="924560">
                <a:moveTo>
                  <a:pt x="0" y="924115"/>
                </a:moveTo>
                <a:lnTo>
                  <a:pt x="1010983" y="924115"/>
                </a:lnTo>
                <a:lnTo>
                  <a:pt x="1010983" y="0"/>
                </a:lnTo>
                <a:lnTo>
                  <a:pt x="0" y="0"/>
                </a:lnTo>
                <a:lnTo>
                  <a:pt x="0" y="92411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66" y="1142889"/>
            <a:ext cx="10922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CONV—</a:t>
            </a:r>
            <a:r>
              <a:rPr sz="1200" spc="-5" dirty="0">
                <a:solidFill>
                  <a:srgbClr val="FF0000"/>
                </a:solidFill>
                <a:latin typeface="黑体"/>
                <a:cs typeface="黑体"/>
              </a:rPr>
              <a:t>—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卷积层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RELU—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激活层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POOL—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池化层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FC——全连接层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神</a:t>
            </a:r>
            <a:r>
              <a:rPr spc="5" dirty="0"/>
              <a:t>经</a:t>
            </a:r>
            <a:r>
              <a:rPr spc="-10" dirty="0"/>
              <a:t>网</a:t>
            </a:r>
            <a:r>
              <a:rPr spc="5" dirty="0"/>
              <a:t>络</a:t>
            </a:r>
          </a:p>
        </p:txBody>
      </p:sp>
      <p:sp>
        <p:nvSpPr>
          <p:cNvPr id="8" name="object 8"/>
          <p:cNvSpPr/>
          <p:nvPr/>
        </p:nvSpPr>
        <p:spPr>
          <a:xfrm>
            <a:off x="2606670" y="1148477"/>
            <a:ext cx="271780" cy="152400"/>
          </a:xfrm>
          <a:custGeom>
            <a:avLst/>
            <a:gdLst/>
            <a:ahLst/>
            <a:cxnLst/>
            <a:rect l="l" t="t" r="r" b="b"/>
            <a:pathLst>
              <a:path w="271780" h="152400">
                <a:moveTo>
                  <a:pt x="0" y="152400"/>
                </a:moveTo>
                <a:lnTo>
                  <a:pt x="271271" y="152400"/>
                </a:lnTo>
                <a:lnTo>
                  <a:pt x="271271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37378" y="1148477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15913" y="1153049"/>
            <a:ext cx="271780" cy="152400"/>
          </a:xfrm>
          <a:custGeom>
            <a:avLst/>
            <a:gdLst/>
            <a:ahLst/>
            <a:cxnLst/>
            <a:rect l="l" t="t" r="r" b="b"/>
            <a:pathLst>
              <a:path w="271779" h="152400">
                <a:moveTo>
                  <a:pt x="0" y="152400"/>
                </a:moveTo>
                <a:lnTo>
                  <a:pt x="271272" y="152400"/>
                </a:lnTo>
                <a:lnTo>
                  <a:pt x="271272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74054" y="1153049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32778" y="1153049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75678" y="1148477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7843" y="3259471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344" y="390524"/>
            <a:ext cx="31026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黑体"/>
                <a:cs typeface="黑体"/>
              </a:rPr>
              <a:t>基于卷积</a:t>
            </a:r>
            <a:r>
              <a:rPr sz="2200" b="1" spc="-15" dirty="0">
                <a:latin typeface="黑体"/>
                <a:cs typeface="黑体"/>
              </a:rPr>
              <a:t>核</a:t>
            </a:r>
            <a:r>
              <a:rPr sz="2200" b="1" spc="-10" dirty="0">
                <a:latin typeface="黑体"/>
                <a:cs typeface="黑体"/>
              </a:rPr>
              <a:t>组的图像</a:t>
            </a:r>
            <a:r>
              <a:rPr sz="2200" b="1" spc="-15" dirty="0">
                <a:latin typeface="黑体"/>
                <a:cs typeface="黑体"/>
              </a:rPr>
              <a:t>表示</a:t>
            </a:r>
            <a:endParaRPr sz="22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45403" y="903096"/>
            <a:ext cx="2921508" cy="417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36259" y="700404"/>
            <a:ext cx="2921635" cy="230504"/>
          </a:xfrm>
          <a:custGeom>
            <a:avLst/>
            <a:gdLst/>
            <a:ahLst/>
            <a:cxnLst/>
            <a:rect l="l" t="t" r="r" b="b"/>
            <a:pathLst>
              <a:path w="2921635" h="230505">
                <a:moveTo>
                  <a:pt x="0" y="230124"/>
                </a:moveTo>
                <a:lnTo>
                  <a:pt x="2921508" y="230124"/>
                </a:lnTo>
                <a:lnTo>
                  <a:pt x="2921508" y="0"/>
                </a:lnTo>
                <a:lnTo>
                  <a:pt x="0" y="0"/>
                </a:lnTo>
                <a:lnTo>
                  <a:pt x="0" y="230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2885" y="893952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77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82079" y="909192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59119" y="915288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97369" y="883284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77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11897" y="860424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77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53096" y="893952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63813" y="892428"/>
            <a:ext cx="0" cy="417830"/>
          </a:xfrm>
          <a:custGeom>
            <a:avLst/>
            <a:gdLst/>
            <a:ahLst/>
            <a:cxnLst/>
            <a:rect l="l" t="t" r="r" b="b"/>
            <a:pathLst>
              <a:path h="417830">
                <a:moveTo>
                  <a:pt x="0" y="0"/>
                </a:moveTo>
                <a:lnTo>
                  <a:pt x="0" y="417575"/>
                </a:lnTo>
              </a:path>
            </a:pathLst>
          </a:custGeom>
          <a:ln w="777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41624" y="1088770"/>
            <a:ext cx="20828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1300" algn="l"/>
              </a:tabLst>
            </a:pPr>
            <a:r>
              <a:rPr sz="1200" dirty="0">
                <a:solidFill>
                  <a:srgbClr val="CC3300"/>
                </a:solidFill>
                <a:latin typeface="黑体"/>
                <a:cs typeface="黑体"/>
              </a:rPr>
              <a:t>设计卷积核组；</a:t>
            </a:r>
            <a:endParaRPr sz="1200">
              <a:latin typeface="黑体"/>
              <a:cs typeface="黑体"/>
            </a:endParaRPr>
          </a:p>
          <a:p>
            <a:pPr marL="241300" marR="5080" indent="-228600">
              <a:lnSpc>
                <a:spcPct val="200000"/>
              </a:lnSpc>
              <a:buAutoNum type="arabicPeriod"/>
              <a:tabLst>
                <a:tab pos="241300" algn="l"/>
              </a:tabLst>
            </a:pPr>
            <a:r>
              <a:rPr sz="1200" dirty="0">
                <a:solidFill>
                  <a:srgbClr val="CC3300"/>
                </a:solidFill>
                <a:latin typeface="黑体"/>
                <a:cs typeface="黑体"/>
              </a:rPr>
              <a:t>利用卷积核组对图像进行卷 积操作获得对应的特征响应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0224" y="2186431"/>
            <a:ext cx="406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3300"/>
                </a:solidFill>
                <a:latin typeface="黑体"/>
                <a:cs typeface="黑体"/>
              </a:rPr>
              <a:t>图</a:t>
            </a:r>
            <a:r>
              <a:rPr sz="1200" spc="-5" dirty="0">
                <a:solidFill>
                  <a:srgbClr val="CC3300"/>
                </a:solidFill>
                <a:latin typeface="黑体"/>
                <a:cs typeface="黑体"/>
              </a:rPr>
              <a:t>组</a:t>
            </a:r>
            <a:r>
              <a:rPr sz="1200" dirty="0">
                <a:solidFill>
                  <a:srgbClr val="CC3300"/>
                </a:solidFill>
                <a:latin typeface="黑体"/>
                <a:cs typeface="黑体"/>
              </a:rPr>
              <a:t>;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1624" y="2552191"/>
            <a:ext cx="208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3300"/>
                </a:solidFill>
                <a:latin typeface="黑体"/>
                <a:cs typeface="黑体"/>
              </a:rPr>
              <a:t>3.</a:t>
            </a:r>
            <a:r>
              <a:rPr sz="1200" spc="-90" dirty="0">
                <a:solidFill>
                  <a:srgbClr val="CC3300"/>
                </a:solidFill>
                <a:latin typeface="黑体"/>
                <a:cs typeface="黑体"/>
              </a:rPr>
              <a:t> </a:t>
            </a:r>
            <a:r>
              <a:rPr sz="1200" dirty="0">
                <a:solidFill>
                  <a:srgbClr val="CC3300"/>
                </a:solidFill>
                <a:latin typeface="黑体"/>
                <a:cs typeface="黑体"/>
              </a:rPr>
              <a:t>利用特征响应图的某种统计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0224" y="2917951"/>
            <a:ext cx="1854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3300"/>
                </a:solidFill>
                <a:latin typeface="黑体"/>
                <a:cs typeface="黑体"/>
              </a:rPr>
              <a:t>信息来表示图像中的纹理。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88075" y="1338960"/>
            <a:ext cx="2854452" cy="487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685155" y="1351152"/>
            <a:ext cx="405383" cy="4892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78805" y="1344802"/>
            <a:ext cx="418465" cy="502284"/>
          </a:xfrm>
          <a:custGeom>
            <a:avLst/>
            <a:gdLst/>
            <a:ahLst/>
            <a:cxnLst/>
            <a:rect l="l" t="t" r="r" b="b"/>
            <a:pathLst>
              <a:path w="418464" h="502285">
                <a:moveTo>
                  <a:pt x="0" y="501904"/>
                </a:moveTo>
                <a:lnTo>
                  <a:pt x="418083" y="501904"/>
                </a:lnTo>
                <a:lnTo>
                  <a:pt x="418083" y="0"/>
                </a:lnTo>
                <a:lnTo>
                  <a:pt x="0" y="0"/>
                </a:lnTo>
                <a:lnTo>
                  <a:pt x="0" y="501904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64478" y="1827402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77482" y="1827402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79818" y="1827402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94347" y="1828926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11922" y="1827402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399018" y="1841118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5"/>
                </a:moveTo>
                <a:lnTo>
                  <a:pt x="0" y="113665"/>
                </a:lnTo>
                <a:lnTo>
                  <a:pt x="28575" y="170815"/>
                </a:lnTo>
                <a:lnTo>
                  <a:pt x="52387" y="123190"/>
                </a:lnTo>
                <a:lnTo>
                  <a:pt x="19050" y="123190"/>
                </a:lnTo>
                <a:lnTo>
                  <a:pt x="19050" y="113665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90"/>
                </a:lnTo>
                <a:lnTo>
                  <a:pt x="38100" y="123190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5"/>
                </a:moveTo>
                <a:lnTo>
                  <a:pt x="38100" y="113665"/>
                </a:lnTo>
                <a:lnTo>
                  <a:pt x="38100" y="123190"/>
                </a:lnTo>
                <a:lnTo>
                  <a:pt x="52387" y="123190"/>
                </a:lnTo>
                <a:lnTo>
                  <a:pt x="57150" y="1136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01354" y="1827402"/>
            <a:ext cx="57150" cy="170815"/>
          </a:xfrm>
          <a:custGeom>
            <a:avLst/>
            <a:gdLst/>
            <a:ahLst/>
            <a:cxnLst/>
            <a:rect l="l" t="t" r="r" b="b"/>
            <a:pathLst>
              <a:path w="57150" h="170814">
                <a:moveTo>
                  <a:pt x="19050" y="113664"/>
                </a:moveTo>
                <a:lnTo>
                  <a:pt x="0" y="113664"/>
                </a:lnTo>
                <a:lnTo>
                  <a:pt x="28575" y="170814"/>
                </a:lnTo>
                <a:lnTo>
                  <a:pt x="52387" y="123189"/>
                </a:lnTo>
                <a:lnTo>
                  <a:pt x="19050" y="123189"/>
                </a:lnTo>
                <a:lnTo>
                  <a:pt x="19050" y="113664"/>
                </a:lnTo>
                <a:close/>
              </a:path>
              <a:path w="57150" h="170814">
                <a:moveTo>
                  <a:pt x="38100" y="0"/>
                </a:moveTo>
                <a:lnTo>
                  <a:pt x="19050" y="0"/>
                </a:lnTo>
                <a:lnTo>
                  <a:pt x="19050" y="123189"/>
                </a:lnTo>
                <a:lnTo>
                  <a:pt x="38100" y="123189"/>
                </a:lnTo>
                <a:lnTo>
                  <a:pt x="38100" y="0"/>
                </a:lnTo>
                <a:close/>
              </a:path>
              <a:path w="57150" h="170814">
                <a:moveTo>
                  <a:pt x="57150" y="113664"/>
                </a:moveTo>
                <a:lnTo>
                  <a:pt x="38100" y="113664"/>
                </a:lnTo>
                <a:lnTo>
                  <a:pt x="38100" y="123189"/>
                </a:lnTo>
                <a:lnTo>
                  <a:pt x="52387" y="123189"/>
                </a:lnTo>
                <a:lnTo>
                  <a:pt x="57150" y="113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95537" y="2258440"/>
            <a:ext cx="48895" cy="8890"/>
          </a:xfrm>
          <a:custGeom>
            <a:avLst/>
            <a:gdLst/>
            <a:ahLst/>
            <a:cxnLst/>
            <a:rect l="l" t="t" r="r" b="b"/>
            <a:pathLst>
              <a:path w="48895" h="8889">
                <a:moveTo>
                  <a:pt x="0" y="8890"/>
                </a:moveTo>
                <a:lnTo>
                  <a:pt x="48513" y="8890"/>
                </a:lnTo>
                <a:lnTo>
                  <a:pt x="48513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35035" y="2067940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ln w="1803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995537" y="2059050"/>
            <a:ext cx="48895" cy="8890"/>
          </a:xfrm>
          <a:custGeom>
            <a:avLst/>
            <a:gdLst/>
            <a:ahLst/>
            <a:cxnLst/>
            <a:rect l="l" t="t" r="r" b="b"/>
            <a:pathLst>
              <a:path w="48895" h="8889">
                <a:moveTo>
                  <a:pt x="0" y="8889"/>
                </a:moveTo>
                <a:lnTo>
                  <a:pt x="48513" y="8889"/>
                </a:lnTo>
                <a:lnTo>
                  <a:pt x="48513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278627" y="2258440"/>
            <a:ext cx="48895" cy="8890"/>
          </a:xfrm>
          <a:custGeom>
            <a:avLst/>
            <a:gdLst/>
            <a:ahLst/>
            <a:cxnLst/>
            <a:rect l="l" t="t" r="r" b="b"/>
            <a:pathLst>
              <a:path w="48895" h="8889">
                <a:moveTo>
                  <a:pt x="0" y="8890"/>
                </a:moveTo>
                <a:lnTo>
                  <a:pt x="48387" y="8890"/>
                </a:lnTo>
                <a:lnTo>
                  <a:pt x="48387" y="0"/>
                </a:lnTo>
                <a:lnTo>
                  <a:pt x="0" y="0"/>
                </a:lnTo>
                <a:lnTo>
                  <a:pt x="0" y="889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87643" y="2067940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ln w="1803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78627" y="2059050"/>
            <a:ext cx="48895" cy="8890"/>
          </a:xfrm>
          <a:custGeom>
            <a:avLst/>
            <a:gdLst/>
            <a:ahLst/>
            <a:cxnLst/>
            <a:rect l="l" t="t" r="r" b="b"/>
            <a:pathLst>
              <a:path w="48895" h="8889">
                <a:moveTo>
                  <a:pt x="0" y="8889"/>
                </a:moveTo>
                <a:lnTo>
                  <a:pt x="48387" y="8889"/>
                </a:lnTo>
                <a:lnTo>
                  <a:pt x="48387" y="0"/>
                </a:lnTo>
                <a:lnTo>
                  <a:pt x="0" y="0"/>
                </a:lnTo>
                <a:lnTo>
                  <a:pt x="0" y="888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334125" y="1990724"/>
            <a:ext cx="139255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00685" algn="l"/>
                <a:tab pos="805815" algn="l"/>
                <a:tab pos="1212850" algn="l"/>
              </a:tabLst>
            </a:pPr>
            <a:r>
              <a:rPr sz="1750" spc="-620" dirty="0">
                <a:solidFill>
                  <a:srgbClr val="FF0000"/>
                </a:solidFill>
                <a:latin typeface="Cambria Math"/>
                <a:cs typeface="Cambria Math"/>
              </a:rPr>
              <a:t>𝑟</a:t>
            </a:r>
            <a:r>
              <a:rPr sz="1750" spc="-855" dirty="0">
                <a:solidFill>
                  <a:srgbClr val="FF0000"/>
                </a:solidFill>
                <a:latin typeface="Cambria Math"/>
                <a:cs typeface="Cambria Math"/>
              </a:rPr>
              <a:t>ഥ</a:t>
            </a:r>
            <a:r>
              <a:rPr sz="1875" spc="75" baseline="-1555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sz="1875" baseline="-15555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750" spc="-610" dirty="0">
                <a:solidFill>
                  <a:srgbClr val="FF0000"/>
                </a:solidFill>
                <a:latin typeface="Cambria Math"/>
                <a:cs typeface="Cambria Math"/>
              </a:rPr>
              <a:t>𝑟</a:t>
            </a:r>
            <a:r>
              <a:rPr sz="1750" spc="-835" dirty="0">
                <a:solidFill>
                  <a:srgbClr val="FF0000"/>
                </a:solidFill>
                <a:latin typeface="Cambria Math"/>
                <a:cs typeface="Cambria Math"/>
              </a:rPr>
              <a:t>ഥ</a:t>
            </a:r>
            <a:r>
              <a:rPr sz="1875" spc="75" baseline="-15555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1875" baseline="-15555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625" spc="-914" baseline="1587" dirty="0">
                <a:solidFill>
                  <a:srgbClr val="FF0000"/>
                </a:solidFill>
                <a:latin typeface="Cambria Math"/>
                <a:cs typeface="Cambria Math"/>
              </a:rPr>
              <a:t>𝑟</a:t>
            </a:r>
            <a:r>
              <a:rPr sz="2625" spc="-1252" baseline="1587" dirty="0">
                <a:solidFill>
                  <a:srgbClr val="FF0000"/>
                </a:solidFill>
                <a:latin typeface="Cambria Math"/>
                <a:cs typeface="Cambria Math"/>
              </a:rPr>
              <a:t>ഥ</a:t>
            </a:r>
            <a:r>
              <a:rPr sz="1875" spc="75" baseline="-13333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r>
              <a:rPr sz="1875" baseline="-13333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2625" spc="-1139" baseline="1587" dirty="0">
                <a:solidFill>
                  <a:srgbClr val="FF0000"/>
                </a:solidFill>
                <a:latin typeface="Cambria Math"/>
                <a:cs typeface="Cambria Math"/>
              </a:rPr>
              <a:t>𝑟</a:t>
            </a:r>
            <a:r>
              <a:rPr sz="2625" spc="-1477" baseline="1587" dirty="0">
                <a:solidFill>
                  <a:srgbClr val="FF0000"/>
                </a:solidFill>
                <a:latin typeface="Cambria Math"/>
                <a:cs typeface="Cambria Math"/>
              </a:rPr>
              <a:t>ഥ</a:t>
            </a:r>
            <a:r>
              <a:rPr sz="1875" spc="-270" baseline="-13333" dirty="0">
                <a:solidFill>
                  <a:srgbClr val="FF0000"/>
                </a:solidFill>
                <a:latin typeface="Cambria Math"/>
                <a:cs typeface="Cambria Math"/>
              </a:rPr>
              <a:t>4</a:t>
            </a:r>
            <a:endParaRPr sz="1875" baseline="-13333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43723" y="1966340"/>
            <a:ext cx="1879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50" spc="-610" dirty="0">
                <a:solidFill>
                  <a:srgbClr val="FF0000"/>
                </a:solidFill>
                <a:latin typeface="Cambria Math"/>
                <a:cs typeface="Cambria Math"/>
              </a:rPr>
              <a:t>𝑟</a:t>
            </a:r>
            <a:r>
              <a:rPr sz="1750" spc="-835" dirty="0">
                <a:solidFill>
                  <a:srgbClr val="FF0000"/>
                </a:solidFill>
                <a:latin typeface="Cambria Math"/>
                <a:cs typeface="Cambria Math"/>
              </a:rPr>
              <a:t>ഥ</a:t>
            </a:r>
            <a:r>
              <a:rPr sz="1875" spc="75" baseline="-15555" dirty="0">
                <a:solidFill>
                  <a:srgbClr val="FF0000"/>
                </a:solidFill>
                <a:latin typeface="Cambria Math"/>
                <a:cs typeface="Cambria Math"/>
              </a:rPr>
              <a:t>5</a:t>
            </a:r>
            <a:endParaRPr sz="1875" baseline="-15555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50631" y="1966340"/>
            <a:ext cx="59499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07034" algn="l"/>
              </a:tabLst>
            </a:pPr>
            <a:r>
              <a:rPr sz="1750" spc="-610" dirty="0">
                <a:solidFill>
                  <a:srgbClr val="FF0000"/>
                </a:solidFill>
                <a:latin typeface="Cambria Math"/>
                <a:cs typeface="Cambria Math"/>
              </a:rPr>
              <a:t>𝑟</a:t>
            </a:r>
            <a:r>
              <a:rPr sz="1750" spc="-835" dirty="0">
                <a:solidFill>
                  <a:srgbClr val="FF0000"/>
                </a:solidFill>
                <a:latin typeface="Cambria Math"/>
                <a:cs typeface="Cambria Math"/>
              </a:rPr>
              <a:t>ഥ</a:t>
            </a:r>
            <a:r>
              <a:rPr sz="1875" spc="75" baseline="-15555" dirty="0">
                <a:solidFill>
                  <a:srgbClr val="FF0000"/>
                </a:solidFill>
                <a:latin typeface="Cambria Math"/>
                <a:cs typeface="Cambria Math"/>
              </a:rPr>
              <a:t>6</a:t>
            </a:r>
            <a:r>
              <a:rPr sz="1875" baseline="-15555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750" spc="-725" dirty="0">
                <a:solidFill>
                  <a:srgbClr val="FF0000"/>
                </a:solidFill>
                <a:latin typeface="Cambria Math"/>
                <a:cs typeface="Cambria Math"/>
              </a:rPr>
              <a:t>𝑟</a:t>
            </a:r>
            <a:r>
              <a:rPr sz="1750" spc="-950" dirty="0">
                <a:solidFill>
                  <a:srgbClr val="FF0000"/>
                </a:solidFill>
                <a:latin typeface="Cambria Math"/>
                <a:cs typeface="Cambria Math"/>
              </a:rPr>
              <a:t>ഥ</a:t>
            </a:r>
            <a:r>
              <a:rPr sz="1875" spc="-270" baseline="-15555" dirty="0">
                <a:solidFill>
                  <a:srgbClr val="FF0000"/>
                </a:solidFill>
                <a:latin typeface="Cambria Math"/>
                <a:cs typeface="Cambria Math"/>
              </a:rPr>
              <a:t>7</a:t>
            </a:r>
            <a:endParaRPr sz="1875" baseline="-15555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95340" y="2387600"/>
            <a:ext cx="1470025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黑体"/>
                <a:cs typeface="黑体"/>
              </a:rPr>
              <a:t>图像表示</a:t>
            </a:r>
            <a:endParaRPr sz="14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r>
              <a:rPr sz="1000" spc="-265" dirty="0">
                <a:latin typeface="Cambria Math"/>
                <a:cs typeface="Cambria Math"/>
              </a:rPr>
              <a:t>𝑟ഥ</a:t>
            </a:r>
            <a:r>
              <a:rPr sz="1050" spc="-397" baseline="-15873" dirty="0">
                <a:latin typeface="Cambria Math"/>
                <a:cs typeface="Cambria Math"/>
              </a:rPr>
              <a:t>𝑖</a:t>
            </a:r>
            <a:r>
              <a:rPr sz="1050" spc="502" baseline="-15873" dirty="0">
                <a:latin typeface="Cambria Math"/>
                <a:cs typeface="Cambria Math"/>
              </a:rPr>
              <a:t> </a:t>
            </a:r>
            <a:r>
              <a:rPr sz="1000" spc="-5" dirty="0">
                <a:latin typeface="黑体"/>
                <a:cs typeface="黑体"/>
              </a:rPr>
              <a:t>第</a:t>
            </a:r>
            <a:r>
              <a:rPr sz="1000" spc="-10" dirty="0">
                <a:latin typeface="Cambria Math"/>
                <a:cs typeface="Cambria Math"/>
              </a:rPr>
              <a:t>i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均</a:t>
            </a:r>
            <a:r>
              <a:rPr sz="1000" spc="-225" dirty="0">
                <a:latin typeface="黑体"/>
                <a:cs typeface="黑体"/>
              </a:rPr>
              <a:t>值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605146" y="768222"/>
            <a:ext cx="3469004" cy="2453640"/>
          </a:xfrm>
          <a:custGeom>
            <a:avLst/>
            <a:gdLst/>
            <a:ahLst/>
            <a:cxnLst/>
            <a:rect l="l" t="t" r="r" b="b"/>
            <a:pathLst>
              <a:path w="3469004" h="2453640">
                <a:moveTo>
                  <a:pt x="0" y="2453640"/>
                </a:moveTo>
                <a:lnTo>
                  <a:pt x="3468624" y="2453640"/>
                </a:lnTo>
                <a:lnTo>
                  <a:pt x="3468624" y="0"/>
                </a:lnTo>
                <a:lnTo>
                  <a:pt x="0" y="0"/>
                </a:lnTo>
                <a:lnTo>
                  <a:pt x="0" y="245364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07843" y="3282467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55488" y="1065419"/>
            <a:ext cx="304800" cy="309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55716" y="1071515"/>
            <a:ext cx="304800" cy="3093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52896" y="1063895"/>
            <a:ext cx="304800" cy="3093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024" y="1071515"/>
            <a:ext cx="612648" cy="3093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66712" y="1071515"/>
            <a:ext cx="304800" cy="3078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42556" y="1065419"/>
            <a:ext cx="304800" cy="3078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87875" y="95647"/>
            <a:ext cx="2169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黑体"/>
                <a:cs typeface="黑体"/>
              </a:rPr>
              <a:t>纹理表示小游戏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2388" y="1671971"/>
            <a:ext cx="723900" cy="5425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2388" y="2301383"/>
            <a:ext cx="742188" cy="556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12388" y="1044083"/>
            <a:ext cx="723900" cy="5425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4913" y="1258713"/>
            <a:ext cx="343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像1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0892" y="1836944"/>
            <a:ext cx="343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10" dirty="0">
                <a:latin typeface="黑体"/>
                <a:cs typeface="黑体"/>
              </a:rPr>
              <a:t>像</a:t>
            </a:r>
            <a:r>
              <a:rPr sz="1000" spc="-5" dirty="0">
                <a:latin typeface="黑体"/>
                <a:cs typeface="黑体"/>
              </a:rPr>
              <a:t>2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4913" y="2480072"/>
            <a:ext cx="343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76718" y="1100294"/>
            <a:ext cx="533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</a:t>
            </a:r>
            <a:r>
              <a:rPr sz="1000" spc="-10" dirty="0">
                <a:latin typeface="黑体"/>
                <a:cs typeface="黑体"/>
              </a:rPr>
              <a:t>核</a:t>
            </a:r>
            <a:r>
              <a:rPr sz="1000" spc="-5" dirty="0">
                <a:latin typeface="黑体"/>
                <a:cs typeface="黑体"/>
              </a:rPr>
              <a:t>组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49793" y="1693688"/>
            <a:ext cx="59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纹</a:t>
            </a:r>
            <a:r>
              <a:rPr sz="1000" spc="-5" dirty="0">
                <a:latin typeface="黑体"/>
                <a:cs typeface="黑体"/>
              </a:rPr>
              <a:t>理表</a:t>
            </a:r>
            <a:r>
              <a:rPr sz="1000" spc="10" dirty="0">
                <a:latin typeface="黑体"/>
                <a:cs typeface="黑体"/>
              </a:rPr>
              <a:t>示</a:t>
            </a:r>
            <a:r>
              <a:rPr sz="1000" spc="-5" dirty="0">
                <a:latin typeface="黑体"/>
                <a:cs typeface="黑体"/>
              </a:rPr>
              <a:t>A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51699" y="2215861"/>
            <a:ext cx="59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/>
                <a:cs typeface="黑体"/>
              </a:rPr>
              <a:t>纹</a:t>
            </a:r>
            <a:r>
              <a:rPr sz="1000" spc="-5" dirty="0">
                <a:latin typeface="黑体"/>
                <a:cs typeface="黑体"/>
              </a:rPr>
              <a:t>理</a:t>
            </a:r>
            <a:r>
              <a:rPr sz="1000" spc="-10" dirty="0">
                <a:latin typeface="黑体"/>
                <a:cs typeface="黑体"/>
              </a:rPr>
              <a:t>表</a:t>
            </a:r>
            <a:r>
              <a:rPr sz="1000" spc="5" dirty="0">
                <a:latin typeface="黑体"/>
                <a:cs typeface="黑体"/>
              </a:rPr>
              <a:t>示</a:t>
            </a:r>
            <a:r>
              <a:rPr sz="1000" spc="-5" dirty="0">
                <a:latin typeface="黑体"/>
                <a:cs typeface="黑体"/>
              </a:rPr>
              <a:t>B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79385" y="2694067"/>
            <a:ext cx="598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纹</a:t>
            </a:r>
            <a:r>
              <a:rPr sz="1000" spc="-5" dirty="0">
                <a:latin typeface="黑体"/>
                <a:cs typeface="黑体"/>
              </a:rPr>
              <a:t>理表</a:t>
            </a:r>
            <a:r>
              <a:rPr sz="1000" spc="5" dirty="0">
                <a:latin typeface="黑体"/>
                <a:cs typeface="黑体"/>
              </a:rPr>
              <a:t>示</a:t>
            </a:r>
            <a:r>
              <a:rPr sz="1000" spc="-5" dirty="0">
                <a:latin typeface="黑体"/>
                <a:cs typeface="黑体"/>
              </a:rPr>
              <a:t>C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53964" y="1574435"/>
            <a:ext cx="1993900" cy="303530"/>
          </a:xfrm>
          <a:custGeom>
            <a:avLst/>
            <a:gdLst/>
            <a:ahLst/>
            <a:cxnLst/>
            <a:rect l="l" t="t" r="r" b="b"/>
            <a:pathLst>
              <a:path w="1993900" h="303530">
                <a:moveTo>
                  <a:pt x="0" y="303275"/>
                </a:moveTo>
                <a:lnTo>
                  <a:pt x="1993391" y="303275"/>
                </a:lnTo>
                <a:lnTo>
                  <a:pt x="1993391" y="0"/>
                </a:lnTo>
                <a:lnTo>
                  <a:pt x="0" y="0"/>
                </a:lnTo>
                <a:lnTo>
                  <a:pt x="0" y="303275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53964" y="1574435"/>
            <a:ext cx="1993900" cy="303530"/>
          </a:xfrm>
          <a:custGeom>
            <a:avLst/>
            <a:gdLst/>
            <a:ahLst/>
            <a:cxnLst/>
            <a:rect l="l" t="t" r="r" b="b"/>
            <a:pathLst>
              <a:path w="1993900" h="303530">
                <a:moveTo>
                  <a:pt x="0" y="303275"/>
                </a:moveTo>
                <a:lnTo>
                  <a:pt x="1993391" y="303275"/>
                </a:lnTo>
                <a:lnTo>
                  <a:pt x="1993391" y="0"/>
                </a:lnTo>
                <a:lnTo>
                  <a:pt x="0" y="0"/>
                </a:lnTo>
                <a:lnTo>
                  <a:pt x="0" y="303275"/>
                </a:lnTo>
                <a:close/>
              </a:path>
            </a:pathLst>
          </a:custGeom>
          <a:ln w="126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04256" y="1614059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98387" y="1614059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80328" y="1614059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53124" y="162015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25919" y="162015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9389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00240" y="162015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74560" y="162015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55488" y="2677811"/>
            <a:ext cx="1993900" cy="303530"/>
          </a:xfrm>
          <a:custGeom>
            <a:avLst/>
            <a:gdLst/>
            <a:ahLst/>
            <a:cxnLst/>
            <a:rect l="l" t="t" r="r" b="b"/>
            <a:pathLst>
              <a:path w="1993900" h="303530">
                <a:moveTo>
                  <a:pt x="0" y="303275"/>
                </a:moveTo>
                <a:lnTo>
                  <a:pt x="1993391" y="303275"/>
                </a:lnTo>
                <a:lnTo>
                  <a:pt x="1993391" y="0"/>
                </a:lnTo>
                <a:lnTo>
                  <a:pt x="0" y="0"/>
                </a:lnTo>
                <a:lnTo>
                  <a:pt x="0" y="303275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55488" y="2677811"/>
            <a:ext cx="1993900" cy="303530"/>
          </a:xfrm>
          <a:custGeom>
            <a:avLst/>
            <a:gdLst/>
            <a:ahLst/>
            <a:cxnLst/>
            <a:rect l="l" t="t" r="r" b="b"/>
            <a:pathLst>
              <a:path w="1993900" h="303530">
                <a:moveTo>
                  <a:pt x="0" y="303275"/>
                </a:moveTo>
                <a:lnTo>
                  <a:pt x="1993391" y="303275"/>
                </a:lnTo>
                <a:lnTo>
                  <a:pt x="1993391" y="0"/>
                </a:lnTo>
                <a:lnTo>
                  <a:pt x="0" y="0"/>
                </a:lnTo>
                <a:lnTo>
                  <a:pt x="0" y="303275"/>
                </a:lnTo>
                <a:close/>
              </a:path>
            </a:pathLst>
          </a:custGeom>
          <a:ln w="126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05780" y="271591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399912" y="271591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4945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81852" y="271743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954648" y="272353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27443" y="272353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03287" y="272353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4945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77607" y="272353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53964" y="2136791"/>
            <a:ext cx="1993900" cy="302260"/>
          </a:xfrm>
          <a:custGeom>
            <a:avLst/>
            <a:gdLst/>
            <a:ahLst/>
            <a:cxnLst/>
            <a:rect l="l" t="t" r="r" b="b"/>
            <a:pathLst>
              <a:path w="1993900" h="302260">
                <a:moveTo>
                  <a:pt x="0" y="301751"/>
                </a:moveTo>
                <a:lnTo>
                  <a:pt x="1993391" y="301751"/>
                </a:lnTo>
                <a:lnTo>
                  <a:pt x="1993391" y="0"/>
                </a:lnTo>
                <a:lnTo>
                  <a:pt x="0" y="0"/>
                </a:lnTo>
                <a:lnTo>
                  <a:pt x="0" y="301751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053964" y="2136791"/>
            <a:ext cx="1993900" cy="302260"/>
          </a:xfrm>
          <a:custGeom>
            <a:avLst/>
            <a:gdLst/>
            <a:ahLst/>
            <a:cxnLst/>
            <a:rect l="l" t="t" r="r" b="b"/>
            <a:pathLst>
              <a:path w="1993900" h="302260">
                <a:moveTo>
                  <a:pt x="0" y="301751"/>
                </a:moveTo>
                <a:lnTo>
                  <a:pt x="1993391" y="301751"/>
                </a:lnTo>
                <a:lnTo>
                  <a:pt x="1993391" y="0"/>
                </a:lnTo>
                <a:lnTo>
                  <a:pt x="0" y="0"/>
                </a:lnTo>
                <a:lnTo>
                  <a:pt x="0" y="301751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104256" y="217489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4945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98387" y="2174891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680328" y="2176415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953124" y="2180987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25919" y="2180987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500240" y="2180987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774560" y="2180987"/>
            <a:ext cx="236220" cy="236220"/>
          </a:xfrm>
          <a:custGeom>
            <a:avLst/>
            <a:gdLst/>
            <a:ahLst/>
            <a:cxnLst/>
            <a:rect l="l" t="t" r="r" b="b"/>
            <a:pathLst>
              <a:path w="236220" h="236219">
                <a:moveTo>
                  <a:pt x="0" y="236220"/>
                </a:moveTo>
                <a:lnTo>
                  <a:pt x="236220" y="236220"/>
                </a:lnTo>
                <a:lnTo>
                  <a:pt x="236220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solidFill>
            <a:srgbClr val="9389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37050" y="1727597"/>
            <a:ext cx="1217930" cy="217804"/>
          </a:xfrm>
          <a:custGeom>
            <a:avLst/>
            <a:gdLst/>
            <a:ahLst/>
            <a:cxnLst/>
            <a:rect l="l" t="t" r="r" b="b"/>
            <a:pathLst>
              <a:path w="1217930" h="217805">
                <a:moveTo>
                  <a:pt x="0" y="217550"/>
                </a:moveTo>
                <a:lnTo>
                  <a:pt x="1217929" y="0"/>
                </a:lnTo>
              </a:path>
            </a:pathLst>
          </a:custGeom>
          <a:ln w="253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37050" y="2302145"/>
            <a:ext cx="1217930" cy="363855"/>
          </a:xfrm>
          <a:custGeom>
            <a:avLst/>
            <a:gdLst/>
            <a:ahLst/>
            <a:cxnLst/>
            <a:rect l="l" t="t" r="r" b="b"/>
            <a:pathLst>
              <a:path w="1217930" h="363855">
                <a:moveTo>
                  <a:pt x="0" y="363728"/>
                </a:moveTo>
                <a:lnTo>
                  <a:pt x="1217929" y="0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37050" y="1316117"/>
            <a:ext cx="1219835" cy="1514475"/>
          </a:xfrm>
          <a:custGeom>
            <a:avLst/>
            <a:gdLst/>
            <a:ahLst/>
            <a:cxnLst/>
            <a:rect l="l" t="t" r="r" b="b"/>
            <a:pathLst>
              <a:path w="1219835" h="1514475">
                <a:moveTo>
                  <a:pt x="0" y="0"/>
                </a:moveTo>
                <a:lnTo>
                  <a:pt x="1219580" y="151422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07843" y="3259471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215" y="878712"/>
            <a:ext cx="4149852" cy="1985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4103" y="871473"/>
            <a:ext cx="4164329" cy="2000250"/>
          </a:xfrm>
          <a:custGeom>
            <a:avLst/>
            <a:gdLst/>
            <a:ahLst/>
            <a:cxnLst/>
            <a:rect l="l" t="t" r="r" b="b"/>
            <a:pathLst>
              <a:path w="4164329" h="2000250">
                <a:moveTo>
                  <a:pt x="0" y="2000123"/>
                </a:moveTo>
                <a:lnTo>
                  <a:pt x="4164076" y="2000123"/>
                </a:lnTo>
                <a:lnTo>
                  <a:pt x="4164076" y="0"/>
                </a:lnTo>
                <a:lnTo>
                  <a:pt x="0" y="0"/>
                </a:lnTo>
                <a:lnTo>
                  <a:pt x="0" y="200012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503" y="1713864"/>
            <a:ext cx="996695" cy="909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391" y="1706689"/>
            <a:ext cx="1011555" cy="924560"/>
          </a:xfrm>
          <a:custGeom>
            <a:avLst/>
            <a:gdLst/>
            <a:ahLst/>
            <a:cxnLst/>
            <a:rect l="l" t="t" r="r" b="b"/>
            <a:pathLst>
              <a:path w="1011555" h="924560">
                <a:moveTo>
                  <a:pt x="0" y="924115"/>
                </a:moveTo>
                <a:lnTo>
                  <a:pt x="1010983" y="924115"/>
                </a:lnTo>
                <a:lnTo>
                  <a:pt x="1010983" y="0"/>
                </a:lnTo>
                <a:lnTo>
                  <a:pt x="0" y="0"/>
                </a:lnTo>
                <a:lnTo>
                  <a:pt x="0" y="92411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66" y="1165605"/>
            <a:ext cx="10922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CONV—</a:t>
            </a:r>
            <a:r>
              <a:rPr sz="1200" spc="-5" dirty="0">
                <a:solidFill>
                  <a:srgbClr val="FF0000"/>
                </a:solidFill>
                <a:latin typeface="黑体"/>
                <a:cs typeface="黑体"/>
              </a:rPr>
              <a:t>—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卷积层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RELU—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激活层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POOL—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池化层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FC——全连接层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神</a:t>
            </a:r>
            <a:r>
              <a:rPr spc="5" dirty="0"/>
              <a:t>经</a:t>
            </a:r>
            <a:r>
              <a:rPr spc="-10" dirty="0"/>
              <a:t>网</a:t>
            </a:r>
            <a:r>
              <a:rPr spc="5" dirty="0"/>
              <a:t>络</a:t>
            </a:r>
          </a:p>
        </p:txBody>
      </p:sp>
      <p:sp>
        <p:nvSpPr>
          <p:cNvPr id="8" name="object 8"/>
          <p:cNvSpPr/>
          <p:nvPr/>
        </p:nvSpPr>
        <p:spPr>
          <a:xfrm>
            <a:off x="2606669" y="1170558"/>
            <a:ext cx="271780" cy="152400"/>
          </a:xfrm>
          <a:custGeom>
            <a:avLst/>
            <a:gdLst/>
            <a:ahLst/>
            <a:cxnLst/>
            <a:rect l="l" t="t" r="r" b="b"/>
            <a:pathLst>
              <a:path w="271780" h="152400">
                <a:moveTo>
                  <a:pt x="0" y="152400"/>
                </a:moveTo>
                <a:lnTo>
                  <a:pt x="271271" y="152400"/>
                </a:lnTo>
                <a:lnTo>
                  <a:pt x="271271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37377" y="1170558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15913" y="1175130"/>
            <a:ext cx="271780" cy="152400"/>
          </a:xfrm>
          <a:custGeom>
            <a:avLst/>
            <a:gdLst/>
            <a:ahLst/>
            <a:cxnLst/>
            <a:rect l="l" t="t" r="r" b="b"/>
            <a:pathLst>
              <a:path w="271779" h="152400">
                <a:moveTo>
                  <a:pt x="0" y="152400"/>
                </a:moveTo>
                <a:lnTo>
                  <a:pt x="271272" y="152400"/>
                </a:lnTo>
                <a:lnTo>
                  <a:pt x="271272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74053" y="1175130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32778" y="1175130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75678" y="1170558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7843" y="3282467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216" y="856631"/>
            <a:ext cx="4149852" cy="1985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4104" y="849392"/>
            <a:ext cx="4164329" cy="2000250"/>
          </a:xfrm>
          <a:custGeom>
            <a:avLst/>
            <a:gdLst/>
            <a:ahLst/>
            <a:cxnLst/>
            <a:rect l="l" t="t" r="r" b="b"/>
            <a:pathLst>
              <a:path w="4164329" h="2000250">
                <a:moveTo>
                  <a:pt x="0" y="2000123"/>
                </a:moveTo>
                <a:lnTo>
                  <a:pt x="4164076" y="2000123"/>
                </a:lnTo>
                <a:lnTo>
                  <a:pt x="4164076" y="0"/>
                </a:lnTo>
                <a:lnTo>
                  <a:pt x="0" y="0"/>
                </a:lnTo>
                <a:lnTo>
                  <a:pt x="0" y="200012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504" y="1691783"/>
            <a:ext cx="996695" cy="909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392" y="1684608"/>
            <a:ext cx="1011555" cy="924560"/>
          </a:xfrm>
          <a:custGeom>
            <a:avLst/>
            <a:gdLst/>
            <a:ahLst/>
            <a:cxnLst/>
            <a:rect l="l" t="t" r="r" b="b"/>
            <a:pathLst>
              <a:path w="1011555" h="924560">
                <a:moveTo>
                  <a:pt x="0" y="924115"/>
                </a:moveTo>
                <a:lnTo>
                  <a:pt x="1010983" y="924115"/>
                </a:lnTo>
                <a:lnTo>
                  <a:pt x="1010983" y="0"/>
                </a:lnTo>
                <a:lnTo>
                  <a:pt x="0" y="0"/>
                </a:lnTo>
                <a:lnTo>
                  <a:pt x="0" y="92411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66" y="1142889"/>
            <a:ext cx="10922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CONV—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卷积层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RELU—</a:t>
            </a:r>
            <a:r>
              <a:rPr sz="1200" spc="-5" dirty="0">
                <a:solidFill>
                  <a:srgbClr val="FF0000"/>
                </a:solidFill>
                <a:latin typeface="黑体"/>
                <a:cs typeface="黑体"/>
              </a:rPr>
              <a:t>—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激活层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POOL—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池化层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FC——全连接层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神</a:t>
            </a:r>
            <a:r>
              <a:rPr spc="5" dirty="0"/>
              <a:t>经</a:t>
            </a:r>
            <a:r>
              <a:rPr spc="-10" dirty="0"/>
              <a:t>网</a:t>
            </a:r>
            <a:r>
              <a:rPr spc="5" dirty="0"/>
              <a:t>络</a:t>
            </a:r>
          </a:p>
        </p:txBody>
      </p:sp>
      <p:sp>
        <p:nvSpPr>
          <p:cNvPr id="8" name="object 8"/>
          <p:cNvSpPr/>
          <p:nvPr/>
        </p:nvSpPr>
        <p:spPr>
          <a:xfrm>
            <a:off x="2778882" y="977789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80" h="152400">
                <a:moveTo>
                  <a:pt x="0" y="152400"/>
                </a:moveTo>
                <a:lnTo>
                  <a:pt x="297180" y="152400"/>
                </a:lnTo>
                <a:lnTo>
                  <a:pt x="29718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08066" y="977789"/>
            <a:ext cx="299085" cy="152400"/>
          </a:xfrm>
          <a:custGeom>
            <a:avLst/>
            <a:gdLst/>
            <a:ahLst/>
            <a:cxnLst/>
            <a:rect l="l" t="t" r="r" b="b"/>
            <a:pathLst>
              <a:path w="299085" h="152400">
                <a:moveTo>
                  <a:pt x="0" y="152400"/>
                </a:moveTo>
                <a:lnTo>
                  <a:pt x="298703" y="152400"/>
                </a:lnTo>
                <a:lnTo>
                  <a:pt x="298703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88125" y="980837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44742" y="980837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03466" y="980837"/>
            <a:ext cx="299085" cy="152400"/>
          </a:xfrm>
          <a:custGeom>
            <a:avLst/>
            <a:gdLst/>
            <a:ahLst/>
            <a:cxnLst/>
            <a:rect l="l" t="t" r="r" b="b"/>
            <a:pathLst>
              <a:path w="299085" h="152400">
                <a:moveTo>
                  <a:pt x="0" y="152400"/>
                </a:moveTo>
                <a:lnTo>
                  <a:pt x="298703" y="152400"/>
                </a:lnTo>
                <a:lnTo>
                  <a:pt x="298703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46366" y="977789"/>
            <a:ext cx="299085" cy="152400"/>
          </a:xfrm>
          <a:custGeom>
            <a:avLst/>
            <a:gdLst/>
            <a:ahLst/>
            <a:cxnLst/>
            <a:rect l="l" t="t" r="r" b="b"/>
            <a:pathLst>
              <a:path w="299085" h="152400">
                <a:moveTo>
                  <a:pt x="0" y="152400"/>
                </a:moveTo>
                <a:lnTo>
                  <a:pt x="298703" y="152400"/>
                </a:lnTo>
                <a:lnTo>
                  <a:pt x="298703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7843" y="3259471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215" y="878712"/>
            <a:ext cx="4149852" cy="1985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4103" y="871473"/>
            <a:ext cx="4164329" cy="2000250"/>
          </a:xfrm>
          <a:custGeom>
            <a:avLst/>
            <a:gdLst/>
            <a:ahLst/>
            <a:cxnLst/>
            <a:rect l="l" t="t" r="r" b="b"/>
            <a:pathLst>
              <a:path w="4164329" h="2000250">
                <a:moveTo>
                  <a:pt x="0" y="2000123"/>
                </a:moveTo>
                <a:lnTo>
                  <a:pt x="4164076" y="2000123"/>
                </a:lnTo>
                <a:lnTo>
                  <a:pt x="4164076" y="0"/>
                </a:lnTo>
                <a:lnTo>
                  <a:pt x="0" y="0"/>
                </a:lnTo>
                <a:lnTo>
                  <a:pt x="0" y="200012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503" y="1713864"/>
            <a:ext cx="996695" cy="909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391" y="1706689"/>
            <a:ext cx="1011555" cy="924560"/>
          </a:xfrm>
          <a:custGeom>
            <a:avLst/>
            <a:gdLst/>
            <a:ahLst/>
            <a:cxnLst/>
            <a:rect l="l" t="t" r="r" b="b"/>
            <a:pathLst>
              <a:path w="1011555" h="924560">
                <a:moveTo>
                  <a:pt x="0" y="924115"/>
                </a:moveTo>
                <a:lnTo>
                  <a:pt x="1010983" y="924115"/>
                </a:lnTo>
                <a:lnTo>
                  <a:pt x="1010983" y="0"/>
                </a:lnTo>
                <a:lnTo>
                  <a:pt x="0" y="0"/>
                </a:lnTo>
                <a:lnTo>
                  <a:pt x="0" y="92411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66" y="1165605"/>
            <a:ext cx="10922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CONV—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卷积层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RELU—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激活层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POOL—</a:t>
            </a:r>
            <a:r>
              <a:rPr sz="1200" spc="-5" dirty="0">
                <a:solidFill>
                  <a:srgbClr val="FF0000"/>
                </a:solidFill>
                <a:latin typeface="黑体"/>
                <a:cs typeface="黑体"/>
              </a:rPr>
              <a:t>—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池化层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FC——全连接层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神</a:t>
            </a:r>
            <a:r>
              <a:rPr spc="5" dirty="0"/>
              <a:t>经</a:t>
            </a:r>
            <a:r>
              <a:rPr spc="-10" dirty="0"/>
              <a:t>网</a:t>
            </a:r>
            <a:r>
              <a:rPr spc="5" dirty="0"/>
              <a:t>络</a:t>
            </a:r>
          </a:p>
        </p:txBody>
      </p:sp>
      <p:sp>
        <p:nvSpPr>
          <p:cNvPr id="8" name="object 8"/>
          <p:cNvSpPr/>
          <p:nvPr/>
        </p:nvSpPr>
        <p:spPr>
          <a:xfrm>
            <a:off x="3274181" y="879474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0190" y="879474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12481" y="879474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7843" y="3282467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216" y="856631"/>
            <a:ext cx="4149852" cy="1985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4104" y="849392"/>
            <a:ext cx="4164329" cy="2000250"/>
          </a:xfrm>
          <a:custGeom>
            <a:avLst/>
            <a:gdLst/>
            <a:ahLst/>
            <a:cxnLst/>
            <a:rect l="l" t="t" r="r" b="b"/>
            <a:pathLst>
              <a:path w="4164329" h="2000250">
                <a:moveTo>
                  <a:pt x="0" y="2000123"/>
                </a:moveTo>
                <a:lnTo>
                  <a:pt x="4164076" y="2000123"/>
                </a:lnTo>
                <a:lnTo>
                  <a:pt x="4164076" y="0"/>
                </a:lnTo>
                <a:lnTo>
                  <a:pt x="0" y="0"/>
                </a:lnTo>
                <a:lnTo>
                  <a:pt x="0" y="200012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504" y="1691783"/>
            <a:ext cx="996695" cy="909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392" y="1684608"/>
            <a:ext cx="1011555" cy="924560"/>
          </a:xfrm>
          <a:custGeom>
            <a:avLst/>
            <a:gdLst/>
            <a:ahLst/>
            <a:cxnLst/>
            <a:rect l="l" t="t" r="r" b="b"/>
            <a:pathLst>
              <a:path w="1011555" h="924560">
                <a:moveTo>
                  <a:pt x="0" y="924115"/>
                </a:moveTo>
                <a:lnTo>
                  <a:pt x="1010983" y="924115"/>
                </a:lnTo>
                <a:lnTo>
                  <a:pt x="1010983" y="0"/>
                </a:lnTo>
                <a:lnTo>
                  <a:pt x="0" y="0"/>
                </a:lnTo>
                <a:lnTo>
                  <a:pt x="0" y="92411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66" y="1142889"/>
            <a:ext cx="10922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CONV—</a:t>
            </a:r>
            <a:r>
              <a:rPr sz="1200" spc="-5" dirty="0">
                <a:solidFill>
                  <a:srgbClr val="FF0000"/>
                </a:solidFill>
                <a:latin typeface="黑体"/>
                <a:cs typeface="黑体"/>
              </a:rPr>
              <a:t>—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卷积层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RELU—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激活层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POOL—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池化层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FC——全连接层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神</a:t>
            </a:r>
            <a:r>
              <a:rPr spc="5" dirty="0"/>
              <a:t>经</a:t>
            </a:r>
            <a:r>
              <a:rPr spc="-10" dirty="0"/>
              <a:t>网</a:t>
            </a:r>
            <a:r>
              <a:rPr spc="5" dirty="0"/>
              <a:t>络</a:t>
            </a:r>
          </a:p>
        </p:txBody>
      </p:sp>
      <p:sp>
        <p:nvSpPr>
          <p:cNvPr id="8" name="object 8"/>
          <p:cNvSpPr/>
          <p:nvPr/>
        </p:nvSpPr>
        <p:spPr>
          <a:xfrm>
            <a:off x="2606670" y="1148477"/>
            <a:ext cx="271780" cy="152400"/>
          </a:xfrm>
          <a:custGeom>
            <a:avLst/>
            <a:gdLst/>
            <a:ahLst/>
            <a:cxnLst/>
            <a:rect l="l" t="t" r="r" b="b"/>
            <a:pathLst>
              <a:path w="271780" h="152400">
                <a:moveTo>
                  <a:pt x="0" y="152400"/>
                </a:moveTo>
                <a:lnTo>
                  <a:pt x="271271" y="152400"/>
                </a:lnTo>
                <a:lnTo>
                  <a:pt x="271271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37378" y="1148477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15913" y="1153049"/>
            <a:ext cx="271780" cy="152400"/>
          </a:xfrm>
          <a:custGeom>
            <a:avLst/>
            <a:gdLst/>
            <a:ahLst/>
            <a:cxnLst/>
            <a:rect l="l" t="t" r="r" b="b"/>
            <a:pathLst>
              <a:path w="271779" h="152400">
                <a:moveTo>
                  <a:pt x="0" y="152400"/>
                </a:moveTo>
                <a:lnTo>
                  <a:pt x="271272" y="152400"/>
                </a:lnTo>
                <a:lnTo>
                  <a:pt x="271272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74054" y="1153049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32778" y="1153049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75678" y="1148477"/>
            <a:ext cx="269875" cy="152400"/>
          </a:xfrm>
          <a:custGeom>
            <a:avLst/>
            <a:gdLst/>
            <a:ahLst/>
            <a:cxnLst/>
            <a:rect l="l" t="t" r="r" b="b"/>
            <a:pathLst>
              <a:path w="269875" h="152400">
                <a:moveTo>
                  <a:pt x="0" y="152400"/>
                </a:moveTo>
                <a:lnTo>
                  <a:pt x="269748" y="152400"/>
                </a:lnTo>
                <a:lnTo>
                  <a:pt x="26974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7843" y="3259471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2020/4/21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375" y="172592"/>
            <a:ext cx="22567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网</a:t>
            </a:r>
            <a:r>
              <a:rPr spc="5" dirty="0"/>
              <a:t>络</a:t>
            </a:r>
            <a:r>
              <a:rPr spc="-10" dirty="0"/>
              <a:t>中的</a:t>
            </a:r>
            <a:r>
              <a:rPr spc="5" dirty="0"/>
              <a:t>卷积核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4044" y="887628"/>
            <a:ext cx="2991485" cy="11690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积核：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不</a:t>
            </a:r>
            <a:r>
              <a:rPr sz="1000" spc="-5" dirty="0">
                <a:latin typeface="黑体"/>
                <a:cs typeface="黑体"/>
              </a:rPr>
              <a:t>仅具</a:t>
            </a:r>
            <a:r>
              <a:rPr sz="1000" spc="5" dirty="0">
                <a:latin typeface="黑体"/>
                <a:cs typeface="黑体"/>
              </a:rPr>
              <a:t>有</a:t>
            </a:r>
            <a:r>
              <a:rPr sz="1000" dirty="0">
                <a:latin typeface="黑体"/>
                <a:cs typeface="黑体"/>
              </a:rPr>
              <a:t>宽</a:t>
            </a:r>
            <a:r>
              <a:rPr sz="1000" spc="-5" dirty="0">
                <a:latin typeface="黑体"/>
                <a:cs typeface="黑体"/>
              </a:rPr>
              <a:t>和</a:t>
            </a: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，还</a:t>
            </a:r>
            <a:r>
              <a:rPr sz="1000" spc="5" dirty="0">
                <a:latin typeface="黑体"/>
                <a:cs typeface="黑体"/>
              </a:rPr>
              <a:t>具</a:t>
            </a:r>
            <a:r>
              <a:rPr sz="1000" spc="-5" dirty="0">
                <a:latin typeface="黑体"/>
                <a:cs typeface="黑体"/>
              </a:rPr>
              <a:t>有深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，常</a:t>
            </a:r>
            <a:r>
              <a:rPr sz="1000" spc="5" dirty="0">
                <a:latin typeface="黑体"/>
                <a:cs typeface="黑体"/>
              </a:rPr>
              <a:t>写</a:t>
            </a:r>
            <a:r>
              <a:rPr sz="1000" spc="-5" dirty="0">
                <a:latin typeface="黑体"/>
                <a:cs typeface="黑体"/>
              </a:rPr>
              <a:t>成如</a:t>
            </a:r>
            <a:r>
              <a:rPr sz="1000" spc="5" dirty="0">
                <a:latin typeface="黑体"/>
                <a:cs typeface="黑体"/>
              </a:rPr>
              <a:t>下</a:t>
            </a:r>
            <a:r>
              <a:rPr sz="1000" spc="-5" dirty="0">
                <a:latin typeface="黑体"/>
                <a:cs typeface="黑体"/>
              </a:rPr>
              <a:t>形式：</a:t>
            </a:r>
            <a:endParaRPr sz="1000">
              <a:latin typeface="黑体"/>
              <a:cs typeface="黑体"/>
            </a:endParaRPr>
          </a:p>
          <a:p>
            <a:pPr marL="202565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黑体"/>
                <a:cs typeface="黑体"/>
              </a:rPr>
              <a:t>宽</a:t>
            </a:r>
            <a:r>
              <a:rPr sz="1000" spc="-5" dirty="0">
                <a:latin typeface="黑体"/>
                <a:cs typeface="黑体"/>
              </a:rPr>
              <a:t>度 x 高度</a:t>
            </a:r>
            <a:r>
              <a:rPr sz="1000" spc="5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x </a:t>
            </a:r>
            <a:r>
              <a:rPr sz="1000" spc="-10" dirty="0">
                <a:latin typeface="黑体"/>
                <a:cs typeface="黑体"/>
              </a:rPr>
              <a:t>深度</a:t>
            </a:r>
            <a:endParaRPr sz="1000">
              <a:latin typeface="黑体"/>
              <a:cs typeface="黑体"/>
            </a:endParaRPr>
          </a:p>
          <a:p>
            <a:pPr marL="184785" marR="5715" indent="-172085">
              <a:lnSpc>
                <a:spcPct val="150000"/>
              </a:lnSpc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参</a:t>
            </a:r>
            <a:r>
              <a:rPr sz="1000" spc="-5" dirty="0">
                <a:latin typeface="黑体"/>
                <a:cs typeface="黑体"/>
              </a:rPr>
              <a:t>数不</a:t>
            </a:r>
            <a:r>
              <a:rPr sz="1000" spc="5" dirty="0">
                <a:latin typeface="黑体"/>
                <a:cs typeface="黑体"/>
              </a:rPr>
              <a:t>仅</a:t>
            </a:r>
            <a:r>
              <a:rPr sz="1000" spc="-5" dirty="0">
                <a:latin typeface="黑体"/>
                <a:cs typeface="黑体"/>
              </a:rPr>
              <a:t>包括</a:t>
            </a:r>
            <a:r>
              <a:rPr sz="1000" spc="5" dirty="0">
                <a:latin typeface="黑体"/>
                <a:cs typeface="黑体"/>
              </a:rPr>
              <a:t>核</a:t>
            </a:r>
            <a:r>
              <a:rPr sz="1000" spc="-5" dirty="0">
                <a:latin typeface="黑体"/>
                <a:cs typeface="黑体"/>
              </a:rPr>
              <a:t>中存</a:t>
            </a:r>
            <a:r>
              <a:rPr sz="1000" spc="5" dirty="0">
                <a:latin typeface="黑体"/>
                <a:cs typeface="黑体"/>
              </a:rPr>
              <a:t>储</a:t>
            </a:r>
            <a:r>
              <a:rPr sz="1000" spc="-5" dirty="0">
                <a:latin typeface="黑体"/>
                <a:cs typeface="黑体"/>
              </a:rPr>
              <a:t>的权</a:t>
            </a:r>
            <a:r>
              <a:rPr sz="1000" spc="5" dirty="0">
                <a:latin typeface="黑体"/>
                <a:cs typeface="黑体"/>
              </a:rPr>
              <a:t>值</a:t>
            </a:r>
            <a:r>
              <a:rPr sz="1000" spc="-5" dirty="0">
                <a:latin typeface="黑体"/>
                <a:cs typeface="黑体"/>
              </a:rPr>
              <a:t>，还</a:t>
            </a:r>
            <a:r>
              <a:rPr sz="1000" spc="5" dirty="0">
                <a:latin typeface="黑体"/>
                <a:cs typeface="黑体"/>
              </a:rPr>
              <a:t>包</a:t>
            </a:r>
            <a:r>
              <a:rPr sz="1000" spc="-5" dirty="0">
                <a:latin typeface="黑体"/>
                <a:cs typeface="黑体"/>
              </a:rPr>
              <a:t>括一个 </a:t>
            </a:r>
            <a:r>
              <a:rPr sz="1000" spc="5" dirty="0">
                <a:latin typeface="黑体"/>
                <a:cs typeface="黑体"/>
              </a:rPr>
              <a:t>偏</a:t>
            </a:r>
            <a:r>
              <a:rPr sz="1000" spc="-5" dirty="0">
                <a:latin typeface="黑体"/>
                <a:cs typeface="黑体"/>
              </a:rPr>
              <a:t>置值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376" y="149622"/>
            <a:ext cx="225679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网</a:t>
            </a:r>
            <a:r>
              <a:rPr spc="5" dirty="0"/>
              <a:t>络</a:t>
            </a:r>
            <a:r>
              <a:rPr spc="-10" dirty="0"/>
              <a:t>中的</a:t>
            </a:r>
            <a:r>
              <a:rPr spc="5" dirty="0"/>
              <a:t>卷积核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3110" y="2129552"/>
            <a:ext cx="8839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5</a:t>
            </a:r>
            <a:r>
              <a:rPr sz="900" dirty="0">
                <a:latin typeface="黑体"/>
                <a:cs typeface="黑体"/>
              </a:rPr>
              <a:t>×</a:t>
            </a:r>
            <a:r>
              <a:rPr sz="900" spc="-10" dirty="0">
                <a:latin typeface="黑体"/>
                <a:cs typeface="黑体"/>
              </a:rPr>
              <a:t>5</a:t>
            </a:r>
            <a:r>
              <a:rPr sz="900" spc="10" dirty="0">
                <a:latin typeface="黑体"/>
                <a:cs typeface="黑体"/>
              </a:rPr>
              <a:t>×</a:t>
            </a:r>
            <a:r>
              <a:rPr sz="900" spc="-10" dirty="0">
                <a:latin typeface="黑体"/>
                <a:cs typeface="黑体"/>
              </a:rPr>
              <a:t>3</a:t>
            </a:r>
            <a:r>
              <a:rPr sz="900" dirty="0">
                <a:latin typeface="黑体"/>
                <a:cs typeface="黑体"/>
              </a:rPr>
              <a:t>的卷积核</a:t>
            </a:r>
            <a:endParaRPr sz="9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1432" y="89422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5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84287" y="1166003"/>
            <a:ext cx="142240" cy="713740"/>
          </a:xfrm>
          <a:custGeom>
            <a:avLst/>
            <a:gdLst/>
            <a:ahLst/>
            <a:cxnLst/>
            <a:rect l="l" t="t" r="r" b="b"/>
            <a:pathLst>
              <a:path w="142239" h="713739">
                <a:moveTo>
                  <a:pt x="0" y="0"/>
                </a:moveTo>
                <a:lnTo>
                  <a:pt x="141732" y="0"/>
                </a:lnTo>
                <a:lnTo>
                  <a:pt x="141732" y="713231"/>
                </a:lnTo>
                <a:lnTo>
                  <a:pt x="0" y="713231"/>
                </a:lnTo>
                <a:lnTo>
                  <a:pt x="0" y="0"/>
                </a:lnTo>
                <a:close/>
              </a:path>
            </a:pathLst>
          </a:custGeom>
          <a:solidFill>
            <a:srgbClr val="C8DA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26019" y="1002935"/>
            <a:ext cx="163195" cy="876300"/>
          </a:xfrm>
          <a:custGeom>
            <a:avLst/>
            <a:gdLst/>
            <a:ahLst/>
            <a:cxnLst/>
            <a:rect l="l" t="t" r="r" b="b"/>
            <a:pathLst>
              <a:path w="163195" h="876300">
                <a:moveTo>
                  <a:pt x="163067" y="0"/>
                </a:moveTo>
                <a:lnTo>
                  <a:pt x="0" y="162305"/>
                </a:lnTo>
                <a:lnTo>
                  <a:pt x="0" y="876300"/>
                </a:lnTo>
                <a:lnTo>
                  <a:pt x="163067" y="713994"/>
                </a:lnTo>
                <a:lnTo>
                  <a:pt x="163067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84287" y="1002935"/>
            <a:ext cx="304800" cy="163195"/>
          </a:xfrm>
          <a:custGeom>
            <a:avLst/>
            <a:gdLst/>
            <a:ahLst/>
            <a:cxnLst/>
            <a:rect l="l" t="t" r="r" b="b"/>
            <a:pathLst>
              <a:path w="304800" h="163194">
                <a:moveTo>
                  <a:pt x="304800" y="0"/>
                </a:moveTo>
                <a:lnTo>
                  <a:pt x="162687" y="0"/>
                </a:lnTo>
                <a:lnTo>
                  <a:pt x="0" y="163068"/>
                </a:lnTo>
                <a:lnTo>
                  <a:pt x="142112" y="163068"/>
                </a:lnTo>
                <a:lnTo>
                  <a:pt x="304800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4287" y="1002935"/>
            <a:ext cx="304800" cy="876300"/>
          </a:xfrm>
          <a:custGeom>
            <a:avLst/>
            <a:gdLst/>
            <a:ahLst/>
            <a:cxnLst/>
            <a:rect l="l" t="t" r="r" b="b"/>
            <a:pathLst>
              <a:path w="304800" h="876300">
                <a:moveTo>
                  <a:pt x="0" y="162305"/>
                </a:moveTo>
                <a:lnTo>
                  <a:pt x="162687" y="0"/>
                </a:lnTo>
                <a:lnTo>
                  <a:pt x="304800" y="0"/>
                </a:lnTo>
                <a:lnTo>
                  <a:pt x="304800" y="713994"/>
                </a:lnTo>
                <a:lnTo>
                  <a:pt x="142112" y="876300"/>
                </a:lnTo>
                <a:lnTo>
                  <a:pt x="0" y="876300"/>
                </a:lnTo>
                <a:lnTo>
                  <a:pt x="0" y="16230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84287" y="1002935"/>
            <a:ext cx="304800" cy="163195"/>
          </a:xfrm>
          <a:custGeom>
            <a:avLst/>
            <a:gdLst/>
            <a:ahLst/>
            <a:cxnLst/>
            <a:rect l="l" t="t" r="r" b="b"/>
            <a:pathLst>
              <a:path w="304800" h="163194">
                <a:moveTo>
                  <a:pt x="0" y="163068"/>
                </a:moveTo>
                <a:lnTo>
                  <a:pt x="142112" y="163068"/>
                </a:ln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26019" y="1166003"/>
            <a:ext cx="0" cy="713740"/>
          </a:xfrm>
          <a:custGeom>
            <a:avLst/>
            <a:gdLst/>
            <a:ahLst/>
            <a:cxnLst/>
            <a:rect l="l" t="t" r="r" b="b"/>
            <a:pathLst>
              <a:path h="713739">
                <a:moveTo>
                  <a:pt x="0" y="0"/>
                </a:moveTo>
                <a:lnTo>
                  <a:pt x="0" y="71323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60590" y="1492520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5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06640" y="1885712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3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4044" y="864912"/>
            <a:ext cx="2991485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积核：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不</a:t>
            </a:r>
            <a:r>
              <a:rPr sz="1000" spc="-5" dirty="0">
                <a:latin typeface="黑体"/>
                <a:cs typeface="黑体"/>
              </a:rPr>
              <a:t>仅具</a:t>
            </a:r>
            <a:r>
              <a:rPr sz="1000" spc="5" dirty="0">
                <a:latin typeface="黑体"/>
                <a:cs typeface="黑体"/>
              </a:rPr>
              <a:t>有</a:t>
            </a:r>
            <a:r>
              <a:rPr sz="1000" dirty="0">
                <a:latin typeface="黑体"/>
                <a:cs typeface="黑体"/>
              </a:rPr>
              <a:t>宽</a:t>
            </a:r>
            <a:r>
              <a:rPr sz="1000" spc="-5" dirty="0">
                <a:latin typeface="黑体"/>
                <a:cs typeface="黑体"/>
              </a:rPr>
              <a:t>和</a:t>
            </a: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，还</a:t>
            </a:r>
            <a:r>
              <a:rPr sz="1000" spc="5" dirty="0">
                <a:latin typeface="黑体"/>
                <a:cs typeface="黑体"/>
              </a:rPr>
              <a:t>具</a:t>
            </a:r>
            <a:r>
              <a:rPr sz="1000" spc="-5" dirty="0">
                <a:latin typeface="黑体"/>
                <a:cs typeface="黑体"/>
              </a:rPr>
              <a:t>有深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，常</a:t>
            </a:r>
            <a:r>
              <a:rPr sz="1000" spc="5" dirty="0">
                <a:latin typeface="黑体"/>
                <a:cs typeface="黑体"/>
              </a:rPr>
              <a:t>写</a:t>
            </a:r>
            <a:r>
              <a:rPr sz="1000" spc="-5" dirty="0">
                <a:latin typeface="黑体"/>
                <a:cs typeface="黑体"/>
              </a:rPr>
              <a:t>成如</a:t>
            </a:r>
            <a:r>
              <a:rPr sz="1000" spc="5" dirty="0">
                <a:latin typeface="黑体"/>
                <a:cs typeface="黑体"/>
              </a:rPr>
              <a:t>下</a:t>
            </a:r>
            <a:r>
              <a:rPr sz="1000" spc="-5" dirty="0">
                <a:latin typeface="黑体"/>
                <a:cs typeface="黑体"/>
              </a:rPr>
              <a:t>形式：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4044" y="1322112"/>
            <a:ext cx="2990215" cy="7112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latin typeface="黑体"/>
                <a:cs typeface="黑体"/>
              </a:rPr>
              <a:t>宽</a:t>
            </a:r>
            <a:r>
              <a:rPr sz="1000" spc="-5" dirty="0">
                <a:latin typeface="黑体"/>
                <a:cs typeface="黑体"/>
              </a:rPr>
              <a:t>度 x</a:t>
            </a:r>
            <a:r>
              <a:rPr sz="1000" spc="-1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高度</a:t>
            </a:r>
            <a:r>
              <a:rPr sz="1000" spc="15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x</a:t>
            </a:r>
            <a:r>
              <a:rPr sz="1000" spc="-1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深度</a:t>
            </a:r>
            <a:endParaRPr sz="1000">
              <a:latin typeface="黑体"/>
              <a:cs typeface="黑体"/>
            </a:endParaRPr>
          </a:p>
          <a:p>
            <a:pPr marL="184785" marR="5080" indent="-172085">
              <a:lnSpc>
                <a:spcPct val="150000"/>
              </a:lnSpc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参</a:t>
            </a:r>
            <a:r>
              <a:rPr sz="1000" spc="-5" dirty="0">
                <a:latin typeface="黑体"/>
                <a:cs typeface="黑体"/>
              </a:rPr>
              <a:t>数不</a:t>
            </a:r>
            <a:r>
              <a:rPr sz="1000" spc="5" dirty="0">
                <a:latin typeface="黑体"/>
                <a:cs typeface="黑体"/>
              </a:rPr>
              <a:t>仅</a:t>
            </a:r>
            <a:r>
              <a:rPr sz="1000" spc="-5" dirty="0">
                <a:latin typeface="黑体"/>
                <a:cs typeface="黑体"/>
              </a:rPr>
              <a:t>包括</a:t>
            </a:r>
            <a:r>
              <a:rPr sz="1000" spc="5" dirty="0">
                <a:latin typeface="黑体"/>
                <a:cs typeface="黑体"/>
              </a:rPr>
              <a:t>核</a:t>
            </a:r>
            <a:r>
              <a:rPr sz="1000" spc="-5" dirty="0">
                <a:latin typeface="黑体"/>
                <a:cs typeface="黑体"/>
              </a:rPr>
              <a:t>中存</a:t>
            </a:r>
            <a:r>
              <a:rPr sz="1000" spc="5" dirty="0">
                <a:latin typeface="黑体"/>
                <a:cs typeface="黑体"/>
              </a:rPr>
              <a:t>储</a:t>
            </a:r>
            <a:r>
              <a:rPr sz="1000" spc="-5" dirty="0">
                <a:latin typeface="黑体"/>
                <a:cs typeface="黑体"/>
              </a:rPr>
              <a:t>的权</a:t>
            </a:r>
            <a:r>
              <a:rPr sz="1000" spc="5" dirty="0">
                <a:latin typeface="黑体"/>
                <a:cs typeface="黑体"/>
              </a:rPr>
              <a:t>值</a:t>
            </a:r>
            <a:r>
              <a:rPr sz="1000" spc="-5" dirty="0">
                <a:latin typeface="黑体"/>
                <a:cs typeface="黑体"/>
              </a:rPr>
              <a:t>，还</a:t>
            </a:r>
            <a:r>
              <a:rPr sz="1000" spc="5" dirty="0">
                <a:latin typeface="黑体"/>
                <a:cs typeface="黑体"/>
              </a:rPr>
              <a:t>包</a:t>
            </a:r>
            <a:r>
              <a:rPr sz="1000" spc="-5" dirty="0">
                <a:latin typeface="黑体"/>
                <a:cs typeface="黑体"/>
              </a:rPr>
              <a:t>括一个 </a:t>
            </a:r>
            <a:r>
              <a:rPr sz="1000" spc="5" dirty="0">
                <a:latin typeface="黑体"/>
                <a:cs typeface="黑体"/>
              </a:rPr>
              <a:t>偏</a:t>
            </a:r>
            <a:r>
              <a:rPr sz="1000" spc="-5" dirty="0">
                <a:latin typeface="黑体"/>
                <a:cs typeface="黑体"/>
              </a:rPr>
              <a:t>置值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44185" y="1594992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5">
                <a:moveTo>
                  <a:pt x="0" y="0"/>
                </a:moveTo>
                <a:lnTo>
                  <a:pt x="0" y="330707"/>
                </a:lnTo>
              </a:path>
            </a:pathLst>
          </a:custGeom>
          <a:ln w="65531">
            <a:solidFill>
              <a:srgbClr val="C8DA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76952" y="1518792"/>
            <a:ext cx="76200" cy="407034"/>
          </a:xfrm>
          <a:custGeom>
            <a:avLst/>
            <a:gdLst/>
            <a:ahLst/>
            <a:cxnLst/>
            <a:rect l="l" t="t" r="r" b="b"/>
            <a:pathLst>
              <a:path w="76200" h="407035">
                <a:moveTo>
                  <a:pt x="76200" y="0"/>
                </a:moveTo>
                <a:lnTo>
                  <a:pt x="0" y="75311"/>
                </a:lnTo>
                <a:lnTo>
                  <a:pt x="0" y="406907"/>
                </a:lnTo>
                <a:lnTo>
                  <a:pt x="76200" y="331597"/>
                </a:lnTo>
                <a:lnTo>
                  <a:pt x="76200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11419" y="1518792"/>
            <a:ext cx="142240" cy="76200"/>
          </a:xfrm>
          <a:custGeom>
            <a:avLst/>
            <a:gdLst/>
            <a:ahLst/>
            <a:cxnLst/>
            <a:rect l="l" t="t" r="r" b="b"/>
            <a:pathLst>
              <a:path w="142239" h="76200">
                <a:moveTo>
                  <a:pt x="141731" y="0"/>
                </a:moveTo>
                <a:lnTo>
                  <a:pt x="75692" y="0"/>
                </a:lnTo>
                <a:lnTo>
                  <a:pt x="0" y="76200"/>
                </a:lnTo>
                <a:lnTo>
                  <a:pt x="66040" y="76200"/>
                </a:lnTo>
                <a:lnTo>
                  <a:pt x="141731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11419" y="1518792"/>
            <a:ext cx="142240" cy="407034"/>
          </a:xfrm>
          <a:custGeom>
            <a:avLst/>
            <a:gdLst/>
            <a:ahLst/>
            <a:cxnLst/>
            <a:rect l="l" t="t" r="r" b="b"/>
            <a:pathLst>
              <a:path w="142239" h="407035">
                <a:moveTo>
                  <a:pt x="0" y="75311"/>
                </a:moveTo>
                <a:lnTo>
                  <a:pt x="75692" y="0"/>
                </a:lnTo>
                <a:lnTo>
                  <a:pt x="141731" y="0"/>
                </a:lnTo>
                <a:lnTo>
                  <a:pt x="141731" y="331597"/>
                </a:lnTo>
                <a:lnTo>
                  <a:pt x="66040" y="406907"/>
                </a:lnTo>
                <a:lnTo>
                  <a:pt x="0" y="406907"/>
                </a:lnTo>
                <a:lnTo>
                  <a:pt x="0" y="7531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11419" y="1518792"/>
            <a:ext cx="142240" cy="76200"/>
          </a:xfrm>
          <a:custGeom>
            <a:avLst/>
            <a:gdLst/>
            <a:ahLst/>
            <a:cxnLst/>
            <a:rect l="l" t="t" r="r" b="b"/>
            <a:pathLst>
              <a:path w="142239" h="76200">
                <a:moveTo>
                  <a:pt x="0" y="76200"/>
                </a:moveTo>
                <a:lnTo>
                  <a:pt x="66040" y="76200"/>
                </a:lnTo>
                <a:lnTo>
                  <a:pt x="14173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76952" y="1594992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5">
                <a:moveTo>
                  <a:pt x="0" y="0"/>
                </a:moveTo>
                <a:lnTo>
                  <a:pt x="0" y="33070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22040" y="1196466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6722" y="192824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2040" y="256590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0719" y="1558416"/>
            <a:ext cx="106680" cy="1007744"/>
          </a:xfrm>
          <a:custGeom>
            <a:avLst/>
            <a:gdLst/>
            <a:ahLst/>
            <a:cxnLst/>
            <a:rect l="l" t="t" r="r" b="b"/>
            <a:pathLst>
              <a:path w="106680" h="1007744">
                <a:moveTo>
                  <a:pt x="0" y="0"/>
                </a:moveTo>
                <a:lnTo>
                  <a:pt x="106680" y="0"/>
                </a:lnTo>
                <a:lnTo>
                  <a:pt x="106680" y="1007363"/>
                </a:lnTo>
                <a:lnTo>
                  <a:pt x="0" y="1007363"/>
                </a:lnTo>
                <a:lnTo>
                  <a:pt x="0" y="0"/>
                </a:lnTo>
                <a:close/>
              </a:path>
            </a:pathLst>
          </a:custGeom>
          <a:solidFill>
            <a:srgbClr val="F4CCCC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7399" y="1186560"/>
            <a:ext cx="372110" cy="1379220"/>
          </a:xfrm>
          <a:custGeom>
            <a:avLst/>
            <a:gdLst/>
            <a:ahLst/>
            <a:cxnLst/>
            <a:rect l="l" t="t" r="r" b="b"/>
            <a:pathLst>
              <a:path w="372109" h="1379220">
                <a:moveTo>
                  <a:pt x="371856" y="0"/>
                </a:moveTo>
                <a:lnTo>
                  <a:pt x="0" y="371729"/>
                </a:lnTo>
                <a:lnTo>
                  <a:pt x="0" y="1379220"/>
                </a:lnTo>
                <a:lnTo>
                  <a:pt x="371856" y="1007491"/>
                </a:lnTo>
                <a:lnTo>
                  <a:pt x="371856" y="0"/>
                </a:lnTo>
                <a:close/>
              </a:path>
            </a:pathLst>
          </a:custGeom>
          <a:solidFill>
            <a:srgbClr val="C3A2A2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0719" y="1186560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478536" y="0"/>
                </a:moveTo>
                <a:lnTo>
                  <a:pt x="371856" y="0"/>
                </a:lnTo>
                <a:lnTo>
                  <a:pt x="0" y="371856"/>
                </a:lnTo>
                <a:lnTo>
                  <a:pt x="106680" y="371856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0719" y="118656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90" h="1379220">
                <a:moveTo>
                  <a:pt x="0" y="371729"/>
                </a:moveTo>
                <a:lnTo>
                  <a:pt x="371856" y="0"/>
                </a:lnTo>
                <a:lnTo>
                  <a:pt x="478536" y="0"/>
                </a:lnTo>
                <a:lnTo>
                  <a:pt x="478536" y="1007491"/>
                </a:lnTo>
                <a:lnTo>
                  <a:pt x="106680" y="1379220"/>
                </a:lnTo>
                <a:lnTo>
                  <a:pt x="0" y="1379220"/>
                </a:lnTo>
                <a:lnTo>
                  <a:pt x="0" y="37172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0719" y="1186560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0" y="371856"/>
                </a:moveTo>
                <a:lnTo>
                  <a:pt x="106680" y="371856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27399" y="1558416"/>
            <a:ext cx="0" cy="1007744"/>
          </a:xfrm>
          <a:custGeom>
            <a:avLst/>
            <a:gdLst/>
            <a:ahLst/>
            <a:cxnLst/>
            <a:rect l="l" t="t" r="r" b="b"/>
            <a:pathLst>
              <a:path h="1007744">
                <a:moveTo>
                  <a:pt x="0" y="0"/>
                </a:moveTo>
                <a:lnTo>
                  <a:pt x="0" y="10073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40049" y="574293"/>
            <a:ext cx="532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943735"/>
                </a:solidFill>
                <a:latin typeface="黑体"/>
                <a:cs typeface="黑体"/>
              </a:rPr>
              <a:t>彩</a:t>
            </a:r>
            <a:r>
              <a:rPr sz="1000" spc="-5" dirty="0">
                <a:solidFill>
                  <a:srgbClr val="943735"/>
                </a:solidFill>
                <a:latin typeface="黑体"/>
                <a:cs typeface="黑体"/>
              </a:rPr>
              <a:t>色图像</a:t>
            </a:r>
            <a:endParaRPr sz="1000">
              <a:latin typeface="黑体"/>
              <a:cs typeface="黑体"/>
            </a:endParaRPr>
          </a:p>
          <a:p>
            <a:pPr marL="44450">
              <a:lnSpc>
                <a:spcPct val="100000"/>
              </a:lnSpc>
            </a:pPr>
            <a:r>
              <a:rPr sz="1000" dirty="0">
                <a:solidFill>
                  <a:srgbClr val="943735"/>
                </a:solidFill>
                <a:latin typeface="黑体"/>
                <a:cs typeface="黑体"/>
              </a:rPr>
              <a:t>32x32x3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74386" y="1089786"/>
            <a:ext cx="406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205868"/>
                </a:solidFill>
                <a:latin typeface="黑体"/>
                <a:cs typeface="黑体"/>
              </a:rPr>
              <a:t>卷</a:t>
            </a:r>
            <a:r>
              <a:rPr sz="1000" spc="-5" dirty="0">
                <a:solidFill>
                  <a:srgbClr val="205868"/>
                </a:solidFill>
                <a:latin typeface="黑体"/>
                <a:cs typeface="黑体"/>
              </a:rPr>
              <a:t>积核</a:t>
            </a:r>
            <a:endParaRPr sz="1000">
              <a:latin typeface="黑体"/>
              <a:cs typeface="黑体"/>
            </a:endParaRPr>
          </a:p>
          <a:p>
            <a:pPr marL="44450">
              <a:lnSpc>
                <a:spcPct val="100000"/>
              </a:lnSpc>
            </a:pPr>
            <a:r>
              <a:rPr sz="1000" spc="-5" dirty="0">
                <a:solidFill>
                  <a:srgbClr val="205868"/>
                </a:solidFill>
                <a:latin typeface="黑体"/>
                <a:cs typeface="黑体"/>
              </a:rPr>
              <a:t>5x5x3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908931" y="172592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网</a:t>
            </a:r>
            <a:r>
              <a:rPr spc="5" dirty="0"/>
              <a:t>络</a:t>
            </a:r>
            <a:r>
              <a:rPr spc="-10" dirty="0"/>
              <a:t>中的</a:t>
            </a:r>
            <a:r>
              <a:rPr spc="5" dirty="0"/>
              <a:t>卷积</a:t>
            </a:r>
            <a:r>
              <a:rPr spc="-10" dirty="0"/>
              <a:t>操</a:t>
            </a:r>
            <a:r>
              <a:rPr spc="5" dirty="0"/>
              <a:t>作</a:t>
            </a:r>
          </a:p>
        </p:txBody>
      </p:sp>
      <p:sp>
        <p:nvSpPr>
          <p:cNvPr id="20" name="object 20"/>
          <p:cNvSpPr/>
          <p:nvPr/>
        </p:nvSpPr>
        <p:spPr>
          <a:xfrm>
            <a:off x="1721797" y="1829498"/>
            <a:ext cx="151256" cy="1497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82847" y="1904364"/>
            <a:ext cx="744220" cy="200025"/>
          </a:xfrm>
          <a:custGeom>
            <a:avLst/>
            <a:gdLst/>
            <a:ahLst/>
            <a:cxnLst/>
            <a:rect l="l" t="t" r="r" b="b"/>
            <a:pathLst>
              <a:path w="744219" h="200025">
                <a:moveTo>
                  <a:pt x="0" y="199644"/>
                </a:moveTo>
                <a:lnTo>
                  <a:pt x="743712" y="0"/>
                </a:lnTo>
              </a:path>
            </a:pathLst>
          </a:custGeom>
          <a:ln w="9525">
            <a:solidFill>
              <a:srgbClr val="7792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91991" y="1785492"/>
            <a:ext cx="734695" cy="119380"/>
          </a:xfrm>
          <a:custGeom>
            <a:avLst/>
            <a:gdLst/>
            <a:ahLst/>
            <a:cxnLst/>
            <a:rect l="l" t="t" r="r" b="b"/>
            <a:pathLst>
              <a:path w="734694" h="119380">
                <a:moveTo>
                  <a:pt x="0" y="0"/>
                </a:moveTo>
                <a:lnTo>
                  <a:pt x="734568" y="118872"/>
                </a:lnTo>
              </a:path>
            </a:pathLst>
          </a:custGeom>
          <a:ln w="9525">
            <a:solidFill>
              <a:srgbClr val="7792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60571" y="1710816"/>
            <a:ext cx="666115" cy="193675"/>
          </a:xfrm>
          <a:custGeom>
            <a:avLst/>
            <a:gdLst/>
            <a:ahLst/>
            <a:cxnLst/>
            <a:rect l="l" t="t" r="r" b="b"/>
            <a:pathLst>
              <a:path w="666114" h="193675">
                <a:moveTo>
                  <a:pt x="0" y="0"/>
                </a:moveTo>
                <a:lnTo>
                  <a:pt x="665988" y="193548"/>
                </a:lnTo>
              </a:path>
            </a:pathLst>
          </a:custGeom>
          <a:ln w="9525">
            <a:solidFill>
              <a:srgbClr val="7792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72763" y="1904364"/>
            <a:ext cx="654050" cy="125095"/>
          </a:xfrm>
          <a:custGeom>
            <a:avLst/>
            <a:gdLst/>
            <a:ahLst/>
            <a:cxnLst/>
            <a:rect l="l" t="t" r="r" b="b"/>
            <a:pathLst>
              <a:path w="654050" h="125094">
                <a:moveTo>
                  <a:pt x="0" y="124968"/>
                </a:moveTo>
                <a:lnTo>
                  <a:pt x="653796" y="0"/>
                </a:lnTo>
              </a:path>
            </a:pathLst>
          </a:custGeom>
          <a:ln w="9525">
            <a:solidFill>
              <a:srgbClr val="7792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38268" y="1962403"/>
            <a:ext cx="509905" cy="189865"/>
          </a:xfrm>
          <a:custGeom>
            <a:avLst/>
            <a:gdLst/>
            <a:ahLst/>
            <a:cxnLst/>
            <a:rect l="l" t="t" r="r" b="b"/>
            <a:pathLst>
              <a:path w="509905" h="189864">
                <a:moveTo>
                  <a:pt x="472407" y="176433"/>
                </a:moveTo>
                <a:lnTo>
                  <a:pt x="467613" y="189864"/>
                </a:lnTo>
                <a:lnTo>
                  <a:pt x="509905" y="184657"/>
                </a:lnTo>
                <a:lnTo>
                  <a:pt x="504060" y="178562"/>
                </a:lnTo>
                <a:lnTo>
                  <a:pt x="478408" y="178562"/>
                </a:lnTo>
                <a:lnTo>
                  <a:pt x="472407" y="176433"/>
                </a:lnTo>
                <a:close/>
              </a:path>
              <a:path w="509905" h="189864">
                <a:moveTo>
                  <a:pt x="475620" y="167431"/>
                </a:moveTo>
                <a:lnTo>
                  <a:pt x="472407" y="176433"/>
                </a:lnTo>
                <a:lnTo>
                  <a:pt x="478408" y="178562"/>
                </a:lnTo>
                <a:lnTo>
                  <a:pt x="481583" y="169544"/>
                </a:lnTo>
                <a:lnTo>
                  <a:pt x="475620" y="167431"/>
                </a:lnTo>
                <a:close/>
              </a:path>
              <a:path w="509905" h="189864">
                <a:moveTo>
                  <a:pt x="480441" y="153924"/>
                </a:moveTo>
                <a:lnTo>
                  <a:pt x="475620" y="167431"/>
                </a:lnTo>
                <a:lnTo>
                  <a:pt x="481583" y="169544"/>
                </a:lnTo>
                <a:lnTo>
                  <a:pt x="478408" y="178562"/>
                </a:lnTo>
                <a:lnTo>
                  <a:pt x="504060" y="178562"/>
                </a:lnTo>
                <a:lnTo>
                  <a:pt x="480441" y="153924"/>
                </a:lnTo>
                <a:close/>
              </a:path>
              <a:path w="509905" h="189864">
                <a:moveTo>
                  <a:pt x="3301" y="0"/>
                </a:moveTo>
                <a:lnTo>
                  <a:pt x="0" y="8889"/>
                </a:lnTo>
                <a:lnTo>
                  <a:pt x="472407" y="176433"/>
                </a:lnTo>
                <a:lnTo>
                  <a:pt x="475620" y="167431"/>
                </a:lnTo>
                <a:lnTo>
                  <a:pt x="330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448935" y="2146680"/>
            <a:ext cx="2269490" cy="71628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505"/>
              </a:spcBef>
            </a:pPr>
            <a:r>
              <a:rPr sz="900" dirty="0">
                <a:latin typeface="黑体"/>
                <a:cs typeface="黑体"/>
              </a:rPr>
              <a:t>卷积结果，计算过程如下：</a:t>
            </a:r>
            <a:endParaRPr sz="900">
              <a:latin typeface="黑体"/>
              <a:cs typeface="黑体"/>
            </a:endParaRPr>
          </a:p>
          <a:p>
            <a:pPr marR="26670" algn="ctr">
              <a:lnSpc>
                <a:spcPct val="100000"/>
              </a:lnSpc>
              <a:spcBef>
                <a:spcPts val="670"/>
              </a:spcBef>
            </a:pPr>
            <a:r>
              <a:rPr sz="1200" spc="15" dirty="0">
                <a:latin typeface="Cambria Math"/>
                <a:cs typeface="Cambria Math"/>
              </a:rPr>
              <a:t>𝒘</a:t>
            </a:r>
            <a:r>
              <a:rPr sz="1275" spc="22" baseline="29411" dirty="0">
                <a:latin typeface="Cambria Math"/>
                <a:cs typeface="Cambria Math"/>
              </a:rPr>
              <a:t>𝑻</a:t>
            </a:r>
            <a:r>
              <a:rPr sz="1200" spc="15" dirty="0">
                <a:latin typeface="Cambria Math"/>
                <a:cs typeface="Cambria Math"/>
              </a:rPr>
              <a:t>𝒙 </a:t>
            </a:r>
            <a:r>
              <a:rPr sz="1200" dirty="0">
                <a:latin typeface="Cambria Math"/>
                <a:cs typeface="Cambria Math"/>
              </a:rPr>
              <a:t>+</a:t>
            </a:r>
            <a:r>
              <a:rPr sz="1200" spc="-3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  <a:p>
            <a:pPr marR="67945" algn="ctr">
              <a:lnSpc>
                <a:spcPct val="100000"/>
              </a:lnSpc>
              <a:spcBef>
                <a:spcPts val="625"/>
              </a:spcBef>
            </a:pPr>
            <a:r>
              <a:rPr sz="900" dirty="0">
                <a:latin typeface="Cambria Math"/>
                <a:cs typeface="Cambria Math"/>
              </a:rPr>
              <a:t>𝒘</a:t>
            </a:r>
            <a:r>
              <a:rPr sz="900" spc="30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为卷积核的权值，</a:t>
            </a:r>
            <a:r>
              <a:rPr sz="900" spc="-30" dirty="0">
                <a:latin typeface="黑体"/>
                <a:cs typeface="黑体"/>
              </a:rPr>
              <a:t> </a:t>
            </a:r>
            <a:r>
              <a:rPr sz="900" dirty="0">
                <a:latin typeface="Cambria Math"/>
                <a:cs typeface="Cambria Math"/>
              </a:rPr>
              <a:t>𝑏</a:t>
            </a:r>
            <a:r>
              <a:rPr sz="900" spc="55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为卷积核的偏置</a:t>
            </a:r>
            <a:endParaRPr sz="900">
              <a:latin typeface="黑体"/>
              <a:cs typeface="黑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13327" y="1330578"/>
            <a:ext cx="460375" cy="358140"/>
          </a:xfrm>
          <a:custGeom>
            <a:avLst/>
            <a:gdLst/>
            <a:ahLst/>
            <a:cxnLst/>
            <a:rect l="l" t="t" r="r" b="b"/>
            <a:pathLst>
              <a:path w="460375" h="358139">
                <a:moveTo>
                  <a:pt x="18415" y="319405"/>
                </a:moveTo>
                <a:lnTo>
                  <a:pt x="0" y="357759"/>
                </a:lnTo>
                <a:lnTo>
                  <a:pt x="41783" y="349504"/>
                </a:lnTo>
                <a:lnTo>
                  <a:pt x="36064" y="342138"/>
                </a:lnTo>
                <a:lnTo>
                  <a:pt x="28066" y="342138"/>
                </a:lnTo>
                <a:lnTo>
                  <a:pt x="22225" y="334518"/>
                </a:lnTo>
                <a:lnTo>
                  <a:pt x="27174" y="330687"/>
                </a:lnTo>
                <a:lnTo>
                  <a:pt x="18415" y="319405"/>
                </a:lnTo>
                <a:close/>
              </a:path>
              <a:path w="460375" h="358139">
                <a:moveTo>
                  <a:pt x="27174" y="330687"/>
                </a:moveTo>
                <a:lnTo>
                  <a:pt x="22225" y="334518"/>
                </a:lnTo>
                <a:lnTo>
                  <a:pt x="28066" y="342138"/>
                </a:lnTo>
                <a:lnTo>
                  <a:pt x="33062" y="338272"/>
                </a:lnTo>
                <a:lnTo>
                  <a:pt x="27174" y="330687"/>
                </a:lnTo>
                <a:close/>
              </a:path>
              <a:path w="460375" h="358139">
                <a:moveTo>
                  <a:pt x="33062" y="338272"/>
                </a:moveTo>
                <a:lnTo>
                  <a:pt x="28066" y="342138"/>
                </a:lnTo>
                <a:lnTo>
                  <a:pt x="36064" y="342138"/>
                </a:lnTo>
                <a:lnTo>
                  <a:pt x="33062" y="338272"/>
                </a:lnTo>
                <a:close/>
              </a:path>
              <a:path w="460375" h="358139">
                <a:moveTo>
                  <a:pt x="454533" y="0"/>
                </a:moveTo>
                <a:lnTo>
                  <a:pt x="27174" y="330687"/>
                </a:lnTo>
                <a:lnTo>
                  <a:pt x="33062" y="338272"/>
                </a:lnTo>
                <a:lnTo>
                  <a:pt x="460374" y="7620"/>
                </a:lnTo>
                <a:lnTo>
                  <a:pt x="454533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02583" y="909827"/>
            <a:ext cx="170180" cy="276860"/>
          </a:xfrm>
          <a:custGeom>
            <a:avLst/>
            <a:gdLst/>
            <a:ahLst/>
            <a:cxnLst/>
            <a:rect l="l" t="t" r="r" b="b"/>
            <a:pathLst>
              <a:path w="170180" h="276859">
                <a:moveTo>
                  <a:pt x="146296" y="246749"/>
                </a:moveTo>
                <a:lnTo>
                  <a:pt x="134112" y="254127"/>
                </a:lnTo>
                <a:lnTo>
                  <a:pt x="170053" y="276860"/>
                </a:lnTo>
                <a:lnTo>
                  <a:pt x="168061" y="252222"/>
                </a:lnTo>
                <a:lnTo>
                  <a:pt x="149606" y="252222"/>
                </a:lnTo>
                <a:lnTo>
                  <a:pt x="146296" y="246749"/>
                </a:lnTo>
                <a:close/>
              </a:path>
              <a:path w="170180" h="276859">
                <a:moveTo>
                  <a:pt x="154437" y="241820"/>
                </a:moveTo>
                <a:lnTo>
                  <a:pt x="146296" y="246749"/>
                </a:lnTo>
                <a:lnTo>
                  <a:pt x="149606" y="252222"/>
                </a:lnTo>
                <a:lnTo>
                  <a:pt x="157734" y="247269"/>
                </a:lnTo>
                <a:lnTo>
                  <a:pt x="154437" y="241820"/>
                </a:lnTo>
                <a:close/>
              </a:path>
              <a:path w="170180" h="276859">
                <a:moveTo>
                  <a:pt x="166624" y="234442"/>
                </a:moveTo>
                <a:lnTo>
                  <a:pt x="154437" y="241820"/>
                </a:lnTo>
                <a:lnTo>
                  <a:pt x="157734" y="247269"/>
                </a:lnTo>
                <a:lnTo>
                  <a:pt x="149606" y="252222"/>
                </a:lnTo>
                <a:lnTo>
                  <a:pt x="168061" y="252222"/>
                </a:lnTo>
                <a:lnTo>
                  <a:pt x="166624" y="234442"/>
                </a:lnTo>
                <a:close/>
              </a:path>
              <a:path w="170180" h="276859">
                <a:moveTo>
                  <a:pt x="8128" y="0"/>
                </a:moveTo>
                <a:lnTo>
                  <a:pt x="0" y="4825"/>
                </a:lnTo>
                <a:lnTo>
                  <a:pt x="146296" y="246749"/>
                </a:lnTo>
                <a:lnTo>
                  <a:pt x="154437" y="241820"/>
                </a:lnTo>
                <a:lnTo>
                  <a:pt x="8128" y="0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19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2314" y="766207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计</a:t>
            </a:r>
            <a:r>
              <a:rPr sz="1000" spc="-5" dirty="0">
                <a:latin typeface="黑体"/>
                <a:cs typeface="黑体"/>
              </a:rPr>
              <a:t>算过</a:t>
            </a:r>
            <a:r>
              <a:rPr sz="1000" spc="5" dirty="0">
                <a:latin typeface="黑体"/>
                <a:cs typeface="黑体"/>
              </a:rPr>
              <a:t>程</a:t>
            </a:r>
            <a:r>
              <a:rPr sz="1000" spc="-5" dirty="0">
                <a:latin typeface="黑体"/>
                <a:cs typeface="黑体"/>
              </a:rPr>
              <a:t>：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2314" y="918251"/>
            <a:ext cx="31559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marR="5080" indent="-142875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156210" algn="l"/>
              </a:tabLst>
            </a:pPr>
            <a:r>
              <a:rPr sz="1000" spc="5" dirty="0">
                <a:latin typeface="黑体"/>
                <a:cs typeface="黑体"/>
              </a:rPr>
              <a:t>将</a:t>
            </a:r>
            <a:r>
              <a:rPr sz="1000" spc="-5" dirty="0">
                <a:latin typeface="黑体"/>
                <a:cs typeface="黑体"/>
              </a:rPr>
              <a:t>卷积</a:t>
            </a:r>
            <a:r>
              <a:rPr sz="1000" spc="5" dirty="0">
                <a:latin typeface="黑体"/>
                <a:cs typeface="黑体"/>
              </a:rPr>
              <a:t>核</a:t>
            </a:r>
            <a:r>
              <a:rPr sz="1000" spc="-5" dirty="0">
                <a:latin typeface="黑体"/>
                <a:cs typeface="黑体"/>
              </a:rPr>
              <a:t>展成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dirty="0">
                <a:latin typeface="黑体"/>
                <a:cs typeface="黑体"/>
              </a:rPr>
              <a:t>个5x</a:t>
            </a:r>
            <a:r>
              <a:rPr sz="1000" spc="-15" dirty="0">
                <a:latin typeface="黑体"/>
                <a:cs typeface="黑体"/>
              </a:rPr>
              <a:t>5</a:t>
            </a:r>
            <a:r>
              <a:rPr sz="1000" dirty="0">
                <a:latin typeface="黑体"/>
                <a:cs typeface="黑体"/>
              </a:rPr>
              <a:t>x</a:t>
            </a:r>
            <a:r>
              <a:rPr sz="1000" spc="-10" dirty="0">
                <a:latin typeface="黑体"/>
                <a:cs typeface="黑体"/>
              </a:rPr>
              <a:t>3</a:t>
            </a:r>
            <a:r>
              <a:rPr sz="1000" spc="-5" dirty="0">
                <a:latin typeface="黑体"/>
                <a:cs typeface="黑体"/>
              </a:rPr>
              <a:t>的</a:t>
            </a:r>
            <a:r>
              <a:rPr sz="1000" spc="10" dirty="0">
                <a:latin typeface="黑体"/>
                <a:cs typeface="黑体"/>
              </a:rPr>
              <a:t>向</a:t>
            </a:r>
            <a:r>
              <a:rPr sz="1000" spc="-5" dirty="0">
                <a:latin typeface="黑体"/>
                <a:cs typeface="黑体"/>
              </a:rPr>
              <a:t>量，</a:t>
            </a:r>
            <a:r>
              <a:rPr sz="1000" spc="5" dirty="0">
                <a:latin typeface="黑体"/>
                <a:cs typeface="黑体"/>
              </a:rPr>
              <a:t>同</a:t>
            </a:r>
            <a:r>
              <a:rPr sz="1000" spc="-5" dirty="0">
                <a:latin typeface="黑体"/>
                <a:cs typeface="黑体"/>
              </a:rPr>
              <a:t>时将</a:t>
            </a:r>
            <a:r>
              <a:rPr sz="1000" spc="5" dirty="0">
                <a:latin typeface="黑体"/>
                <a:cs typeface="黑体"/>
              </a:rPr>
              <a:t>其</a:t>
            </a:r>
            <a:r>
              <a:rPr sz="1000" spc="-5" dirty="0">
                <a:latin typeface="黑体"/>
                <a:cs typeface="黑体"/>
              </a:rPr>
              <a:t>覆盖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图像 </a:t>
            </a:r>
            <a:r>
              <a:rPr sz="1000" spc="5" dirty="0">
                <a:latin typeface="黑体"/>
                <a:cs typeface="黑体"/>
              </a:rPr>
              <a:t>区</a:t>
            </a:r>
            <a:r>
              <a:rPr sz="1000" spc="-5" dirty="0">
                <a:latin typeface="黑体"/>
                <a:cs typeface="黑体"/>
              </a:rPr>
              <a:t>域按</a:t>
            </a:r>
            <a:r>
              <a:rPr sz="1000" spc="5" dirty="0">
                <a:latin typeface="黑体"/>
                <a:cs typeface="黑体"/>
              </a:rPr>
              <a:t>相</a:t>
            </a:r>
            <a:r>
              <a:rPr sz="1000" spc="-5" dirty="0">
                <a:latin typeface="黑体"/>
                <a:cs typeface="黑体"/>
              </a:rPr>
              <a:t>同的</a:t>
            </a:r>
            <a:r>
              <a:rPr sz="1000" spc="5" dirty="0">
                <a:latin typeface="黑体"/>
                <a:cs typeface="黑体"/>
              </a:rPr>
              <a:t>展</a:t>
            </a:r>
            <a:r>
              <a:rPr sz="1000" spc="-5" dirty="0">
                <a:latin typeface="黑体"/>
                <a:cs typeface="黑体"/>
              </a:rPr>
              <a:t>开方</a:t>
            </a:r>
            <a:r>
              <a:rPr sz="1000" spc="5" dirty="0">
                <a:latin typeface="黑体"/>
                <a:cs typeface="黑体"/>
              </a:rPr>
              <a:t>式</a:t>
            </a:r>
            <a:r>
              <a:rPr sz="1000" spc="-5" dirty="0">
                <a:latin typeface="黑体"/>
                <a:cs typeface="黑体"/>
              </a:rPr>
              <a:t>展</a:t>
            </a:r>
            <a:r>
              <a:rPr sz="1000" dirty="0">
                <a:latin typeface="黑体"/>
                <a:cs typeface="黑体"/>
              </a:rPr>
              <a:t>成5x5x3</a:t>
            </a:r>
            <a:r>
              <a:rPr sz="1000" spc="-5" dirty="0">
                <a:latin typeface="黑体"/>
                <a:cs typeface="黑体"/>
              </a:rPr>
              <a:t>的向量</a:t>
            </a:r>
            <a:endParaRPr sz="1000">
              <a:latin typeface="黑体"/>
              <a:cs typeface="黑体"/>
            </a:endParaRPr>
          </a:p>
          <a:p>
            <a:pPr marL="155575" indent="-14287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56210" algn="l"/>
              </a:tabLst>
            </a:pPr>
            <a:r>
              <a:rPr sz="1000" spc="5" dirty="0">
                <a:latin typeface="黑体"/>
                <a:cs typeface="黑体"/>
              </a:rPr>
              <a:t>计</a:t>
            </a:r>
            <a:r>
              <a:rPr sz="1000" spc="-5" dirty="0">
                <a:latin typeface="黑体"/>
                <a:cs typeface="黑体"/>
              </a:rPr>
              <a:t>算两</a:t>
            </a:r>
            <a:r>
              <a:rPr sz="1000" spc="5" dirty="0">
                <a:latin typeface="黑体"/>
                <a:cs typeface="黑体"/>
              </a:rPr>
              <a:t>者</a:t>
            </a:r>
            <a:r>
              <a:rPr sz="1000" spc="-5" dirty="0">
                <a:latin typeface="黑体"/>
                <a:cs typeface="黑体"/>
              </a:rPr>
              <a:t>的点</a:t>
            </a:r>
            <a:r>
              <a:rPr sz="1000" spc="5" dirty="0">
                <a:latin typeface="黑体"/>
                <a:cs typeface="黑体"/>
              </a:rPr>
              <a:t>乘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  <a:p>
            <a:pPr marL="155575" indent="-14287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56210" algn="l"/>
              </a:tabLst>
            </a:pPr>
            <a:r>
              <a:rPr sz="1000" spc="5" dirty="0">
                <a:latin typeface="黑体"/>
                <a:cs typeface="黑体"/>
              </a:rPr>
              <a:t>在</a:t>
            </a:r>
            <a:r>
              <a:rPr sz="1000" spc="-5" dirty="0">
                <a:latin typeface="黑体"/>
                <a:cs typeface="黑体"/>
              </a:rPr>
              <a:t>点乘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结果</a:t>
            </a:r>
            <a:r>
              <a:rPr sz="1000" spc="5" dirty="0">
                <a:latin typeface="黑体"/>
                <a:cs typeface="黑体"/>
              </a:rPr>
              <a:t>上</a:t>
            </a:r>
            <a:r>
              <a:rPr sz="1000" spc="-5" dirty="0">
                <a:latin typeface="黑体"/>
                <a:cs typeface="黑体"/>
              </a:rPr>
              <a:t>加上</a:t>
            </a:r>
            <a:r>
              <a:rPr sz="1000" spc="5" dirty="0">
                <a:latin typeface="黑体"/>
                <a:cs typeface="黑体"/>
              </a:rPr>
              <a:t>偏</a:t>
            </a:r>
            <a:r>
              <a:rPr sz="1000" spc="-5" dirty="0">
                <a:latin typeface="黑体"/>
                <a:cs typeface="黑体"/>
              </a:rPr>
              <a:t>移量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79138" y="2004203"/>
            <a:ext cx="38100" cy="479425"/>
          </a:xfrm>
          <a:custGeom>
            <a:avLst/>
            <a:gdLst/>
            <a:ahLst/>
            <a:cxnLst/>
            <a:rect l="l" t="t" r="r" b="b"/>
            <a:pathLst>
              <a:path w="38100" h="479425">
                <a:moveTo>
                  <a:pt x="23749" y="31750"/>
                </a:moveTo>
                <a:lnTo>
                  <a:pt x="14224" y="31750"/>
                </a:lnTo>
                <a:lnTo>
                  <a:pt x="14224" y="479044"/>
                </a:lnTo>
                <a:lnTo>
                  <a:pt x="23749" y="479044"/>
                </a:lnTo>
                <a:lnTo>
                  <a:pt x="23749" y="31750"/>
                </a:lnTo>
                <a:close/>
              </a:path>
              <a:path w="38100" h="479425">
                <a:moveTo>
                  <a:pt x="19050" y="0"/>
                </a:moveTo>
                <a:lnTo>
                  <a:pt x="0" y="38100"/>
                </a:lnTo>
                <a:lnTo>
                  <a:pt x="14224" y="38100"/>
                </a:lnTo>
                <a:lnTo>
                  <a:pt x="14224" y="31750"/>
                </a:lnTo>
                <a:lnTo>
                  <a:pt x="34925" y="31750"/>
                </a:lnTo>
                <a:lnTo>
                  <a:pt x="19050" y="0"/>
                </a:lnTo>
                <a:close/>
              </a:path>
              <a:path w="38100" h="479425">
                <a:moveTo>
                  <a:pt x="34925" y="31750"/>
                </a:moveTo>
                <a:lnTo>
                  <a:pt x="23749" y="31750"/>
                </a:lnTo>
                <a:lnTo>
                  <a:pt x="23749" y="38100"/>
                </a:lnTo>
                <a:lnTo>
                  <a:pt x="38100" y="38100"/>
                </a:lnTo>
                <a:lnTo>
                  <a:pt x="349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45585" y="2496836"/>
            <a:ext cx="596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卷积结果</a:t>
            </a:r>
            <a:endParaRPr sz="9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</a:pPr>
            <a:r>
              <a:rPr sz="900" spc="5" dirty="0">
                <a:latin typeface="黑体"/>
                <a:cs typeface="黑体"/>
              </a:rPr>
              <a:t>(</a:t>
            </a:r>
            <a:r>
              <a:rPr sz="900" spc="-10" dirty="0">
                <a:latin typeface="黑体"/>
                <a:cs typeface="黑体"/>
              </a:rPr>
              <a:t>1</a:t>
            </a:r>
            <a:r>
              <a:rPr sz="900" dirty="0">
                <a:latin typeface="黑体"/>
                <a:cs typeface="黑体"/>
              </a:rPr>
              <a:t>个实数）</a:t>
            </a:r>
            <a:endParaRPr sz="9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2274" y="1726835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5">
                <a:moveTo>
                  <a:pt x="0" y="0"/>
                </a:moveTo>
                <a:lnTo>
                  <a:pt x="0" y="330707"/>
                </a:lnTo>
              </a:path>
            </a:pathLst>
          </a:custGeom>
          <a:ln w="65531">
            <a:solidFill>
              <a:srgbClr val="C8DA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95040" y="1650635"/>
            <a:ext cx="74930" cy="407034"/>
          </a:xfrm>
          <a:custGeom>
            <a:avLst/>
            <a:gdLst/>
            <a:ahLst/>
            <a:cxnLst/>
            <a:rect l="l" t="t" r="r" b="b"/>
            <a:pathLst>
              <a:path w="74930" h="407035">
                <a:moveTo>
                  <a:pt x="74675" y="0"/>
                </a:moveTo>
                <a:lnTo>
                  <a:pt x="0" y="75310"/>
                </a:lnTo>
                <a:lnTo>
                  <a:pt x="0" y="406907"/>
                </a:lnTo>
                <a:lnTo>
                  <a:pt x="74675" y="331597"/>
                </a:lnTo>
                <a:lnTo>
                  <a:pt x="74675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9508" y="1650635"/>
            <a:ext cx="140335" cy="76200"/>
          </a:xfrm>
          <a:custGeom>
            <a:avLst/>
            <a:gdLst/>
            <a:ahLst/>
            <a:cxnLst/>
            <a:rect l="l" t="t" r="r" b="b"/>
            <a:pathLst>
              <a:path w="140334" h="76200">
                <a:moveTo>
                  <a:pt x="140207" y="0"/>
                </a:moveTo>
                <a:lnTo>
                  <a:pt x="74803" y="0"/>
                </a:lnTo>
                <a:lnTo>
                  <a:pt x="0" y="76200"/>
                </a:lnTo>
                <a:lnTo>
                  <a:pt x="65404" y="76200"/>
                </a:lnTo>
                <a:lnTo>
                  <a:pt x="140207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9508" y="1650635"/>
            <a:ext cx="140335" cy="407034"/>
          </a:xfrm>
          <a:custGeom>
            <a:avLst/>
            <a:gdLst/>
            <a:ahLst/>
            <a:cxnLst/>
            <a:rect l="l" t="t" r="r" b="b"/>
            <a:pathLst>
              <a:path w="140334" h="407035">
                <a:moveTo>
                  <a:pt x="0" y="75310"/>
                </a:moveTo>
                <a:lnTo>
                  <a:pt x="74803" y="0"/>
                </a:lnTo>
                <a:lnTo>
                  <a:pt x="140207" y="0"/>
                </a:lnTo>
                <a:lnTo>
                  <a:pt x="140207" y="331597"/>
                </a:lnTo>
                <a:lnTo>
                  <a:pt x="65404" y="406907"/>
                </a:lnTo>
                <a:lnTo>
                  <a:pt x="0" y="406907"/>
                </a:lnTo>
                <a:lnTo>
                  <a:pt x="0" y="7531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9508" y="1650635"/>
            <a:ext cx="140335" cy="76200"/>
          </a:xfrm>
          <a:custGeom>
            <a:avLst/>
            <a:gdLst/>
            <a:ahLst/>
            <a:cxnLst/>
            <a:rect l="l" t="t" r="r" b="b"/>
            <a:pathLst>
              <a:path w="140334" h="76200">
                <a:moveTo>
                  <a:pt x="0" y="76200"/>
                </a:moveTo>
                <a:lnTo>
                  <a:pt x="65404" y="76200"/>
                </a:lnTo>
                <a:lnTo>
                  <a:pt x="14020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95040" y="1726835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5">
                <a:moveTo>
                  <a:pt x="0" y="0"/>
                </a:moveTo>
                <a:lnTo>
                  <a:pt x="0" y="33070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21797" y="1778461"/>
            <a:ext cx="151256" cy="151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82848" y="1854851"/>
            <a:ext cx="744220" cy="200025"/>
          </a:xfrm>
          <a:custGeom>
            <a:avLst/>
            <a:gdLst/>
            <a:ahLst/>
            <a:cxnLst/>
            <a:rect l="l" t="t" r="r" b="b"/>
            <a:pathLst>
              <a:path w="744219" h="200025">
                <a:moveTo>
                  <a:pt x="0" y="199643"/>
                </a:moveTo>
                <a:lnTo>
                  <a:pt x="743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91992" y="1735979"/>
            <a:ext cx="734695" cy="119380"/>
          </a:xfrm>
          <a:custGeom>
            <a:avLst/>
            <a:gdLst/>
            <a:ahLst/>
            <a:cxnLst/>
            <a:rect l="l" t="t" r="r" b="b"/>
            <a:pathLst>
              <a:path w="734694" h="119380">
                <a:moveTo>
                  <a:pt x="0" y="0"/>
                </a:moveTo>
                <a:lnTo>
                  <a:pt x="734568" y="1188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60572" y="1661303"/>
            <a:ext cx="666115" cy="193675"/>
          </a:xfrm>
          <a:custGeom>
            <a:avLst/>
            <a:gdLst/>
            <a:ahLst/>
            <a:cxnLst/>
            <a:rect l="l" t="t" r="r" b="b"/>
            <a:pathLst>
              <a:path w="666114" h="193675">
                <a:moveTo>
                  <a:pt x="0" y="0"/>
                </a:moveTo>
                <a:lnTo>
                  <a:pt x="665988" y="19354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72764" y="1854851"/>
            <a:ext cx="654050" cy="125095"/>
          </a:xfrm>
          <a:custGeom>
            <a:avLst/>
            <a:gdLst/>
            <a:ahLst/>
            <a:cxnLst/>
            <a:rect l="l" t="t" r="r" b="b"/>
            <a:pathLst>
              <a:path w="654050" h="125094">
                <a:moveTo>
                  <a:pt x="0" y="124967"/>
                </a:moveTo>
                <a:lnTo>
                  <a:pt x="65379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57651" y="234723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9642" y="1310529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2040" y="254319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20720" y="1536335"/>
            <a:ext cx="106680" cy="1007744"/>
          </a:xfrm>
          <a:custGeom>
            <a:avLst/>
            <a:gdLst/>
            <a:ahLst/>
            <a:cxnLst/>
            <a:rect l="l" t="t" r="r" b="b"/>
            <a:pathLst>
              <a:path w="106680" h="1007744">
                <a:moveTo>
                  <a:pt x="0" y="0"/>
                </a:moveTo>
                <a:lnTo>
                  <a:pt x="106680" y="0"/>
                </a:lnTo>
                <a:lnTo>
                  <a:pt x="106680" y="1007364"/>
                </a:lnTo>
                <a:lnTo>
                  <a:pt x="0" y="1007364"/>
                </a:lnTo>
                <a:lnTo>
                  <a:pt x="0" y="0"/>
                </a:lnTo>
                <a:close/>
              </a:path>
            </a:pathLst>
          </a:custGeom>
          <a:solidFill>
            <a:srgbClr val="F4CCCC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7400" y="1164479"/>
            <a:ext cx="372110" cy="1379220"/>
          </a:xfrm>
          <a:custGeom>
            <a:avLst/>
            <a:gdLst/>
            <a:ahLst/>
            <a:cxnLst/>
            <a:rect l="l" t="t" r="r" b="b"/>
            <a:pathLst>
              <a:path w="372109" h="1379220">
                <a:moveTo>
                  <a:pt x="371856" y="0"/>
                </a:moveTo>
                <a:lnTo>
                  <a:pt x="0" y="371728"/>
                </a:lnTo>
                <a:lnTo>
                  <a:pt x="0" y="1379220"/>
                </a:lnTo>
                <a:lnTo>
                  <a:pt x="371856" y="1007490"/>
                </a:lnTo>
                <a:lnTo>
                  <a:pt x="371856" y="0"/>
                </a:lnTo>
                <a:close/>
              </a:path>
            </a:pathLst>
          </a:custGeom>
          <a:solidFill>
            <a:srgbClr val="C3A2A2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20720" y="1164479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478536" y="0"/>
                </a:moveTo>
                <a:lnTo>
                  <a:pt x="371856" y="0"/>
                </a:lnTo>
                <a:lnTo>
                  <a:pt x="0" y="371855"/>
                </a:lnTo>
                <a:lnTo>
                  <a:pt x="106680" y="371855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0720" y="116447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90" h="1379220">
                <a:moveTo>
                  <a:pt x="0" y="371728"/>
                </a:moveTo>
                <a:lnTo>
                  <a:pt x="371856" y="0"/>
                </a:lnTo>
                <a:lnTo>
                  <a:pt x="478536" y="0"/>
                </a:lnTo>
                <a:lnTo>
                  <a:pt x="478536" y="1007490"/>
                </a:lnTo>
                <a:lnTo>
                  <a:pt x="106680" y="1379220"/>
                </a:lnTo>
                <a:lnTo>
                  <a:pt x="0" y="1379220"/>
                </a:lnTo>
                <a:lnTo>
                  <a:pt x="0" y="3717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720" y="1164479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0" y="371855"/>
                </a:moveTo>
                <a:lnTo>
                  <a:pt x="106680" y="37185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27400" y="1536335"/>
            <a:ext cx="0" cy="1007744"/>
          </a:xfrm>
          <a:custGeom>
            <a:avLst/>
            <a:gdLst/>
            <a:ahLst/>
            <a:cxnLst/>
            <a:rect l="l" t="t" r="r" b="b"/>
            <a:pathLst>
              <a:path h="1007744">
                <a:moveTo>
                  <a:pt x="0" y="0"/>
                </a:moveTo>
                <a:lnTo>
                  <a:pt x="0" y="100736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87217" y="690642"/>
            <a:ext cx="532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彩</a:t>
            </a:r>
            <a:r>
              <a:rPr sz="1000" spc="-5" dirty="0">
                <a:latin typeface="黑体"/>
                <a:cs typeface="黑体"/>
              </a:rPr>
              <a:t>色图像</a:t>
            </a:r>
            <a:endParaRPr sz="1000">
              <a:latin typeface="黑体"/>
              <a:cs typeface="黑体"/>
            </a:endParaRPr>
          </a:p>
          <a:p>
            <a:pPr marL="44450">
              <a:lnSpc>
                <a:spcPct val="100000"/>
              </a:lnSpc>
            </a:pPr>
            <a:r>
              <a:rPr sz="1000" dirty="0">
                <a:latin typeface="黑体"/>
                <a:cs typeface="黑体"/>
              </a:rPr>
              <a:t>32x32x3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43705" y="1091708"/>
            <a:ext cx="406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endParaRPr sz="1000">
              <a:latin typeface="黑体"/>
              <a:cs typeface="黑体"/>
            </a:endParaRPr>
          </a:p>
          <a:p>
            <a:pPr marL="44450">
              <a:lnSpc>
                <a:spcPct val="100000"/>
              </a:lnSpc>
            </a:pPr>
            <a:r>
              <a:rPr sz="1000" spc="-5" dirty="0">
                <a:latin typeface="黑体"/>
                <a:cs typeface="黑体"/>
              </a:rPr>
              <a:t>5x5x3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73526" y="1296559"/>
            <a:ext cx="655320" cy="332740"/>
          </a:xfrm>
          <a:custGeom>
            <a:avLst/>
            <a:gdLst/>
            <a:ahLst/>
            <a:cxnLst/>
            <a:rect l="l" t="t" r="r" b="b"/>
            <a:pathLst>
              <a:path w="655319" h="332739">
                <a:moveTo>
                  <a:pt x="25400" y="298196"/>
                </a:moveTo>
                <a:lnTo>
                  <a:pt x="0" y="332358"/>
                </a:lnTo>
                <a:lnTo>
                  <a:pt x="42545" y="332231"/>
                </a:lnTo>
                <a:lnTo>
                  <a:pt x="36851" y="320928"/>
                </a:lnTo>
                <a:lnTo>
                  <a:pt x="29718" y="320928"/>
                </a:lnTo>
                <a:lnTo>
                  <a:pt x="26924" y="315214"/>
                </a:lnTo>
                <a:lnTo>
                  <a:pt x="32545" y="312381"/>
                </a:lnTo>
                <a:lnTo>
                  <a:pt x="25400" y="298196"/>
                </a:lnTo>
                <a:close/>
              </a:path>
              <a:path w="655319" h="332739">
                <a:moveTo>
                  <a:pt x="32545" y="312381"/>
                </a:moveTo>
                <a:lnTo>
                  <a:pt x="26924" y="315214"/>
                </a:lnTo>
                <a:lnTo>
                  <a:pt x="29718" y="320928"/>
                </a:lnTo>
                <a:lnTo>
                  <a:pt x="35406" y="318061"/>
                </a:lnTo>
                <a:lnTo>
                  <a:pt x="32545" y="312381"/>
                </a:lnTo>
                <a:close/>
              </a:path>
              <a:path w="655319" h="332739">
                <a:moveTo>
                  <a:pt x="35406" y="318061"/>
                </a:moveTo>
                <a:lnTo>
                  <a:pt x="29718" y="320928"/>
                </a:lnTo>
                <a:lnTo>
                  <a:pt x="36851" y="320928"/>
                </a:lnTo>
                <a:lnTo>
                  <a:pt x="35406" y="318061"/>
                </a:lnTo>
                <a:close/>
              </a:path>
              <a:path w="655319" h="332739">
                <a:moveTo>
                  <a:pt x="652399" y="0"/>
                </a:moveTo>
                <a:lnTo>
                  <a:pt x="32545" y="312381"/>
                </a:lnTo>
                <a:lnTo>
                  <a:pt x="35406" y="318061"/>
                </a:lnTo>
                <a:lnTo>
                  <a:pt x="655193" y="5588"/>
                </a:lnTo>
                <a:lnTo>
                  <a:pt x="6523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1908932" y="149622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网</a:t>
            </a:r>
            <a:r>
              <a:rPr spc="5" dirty="0"/>
              <a:t>络</a:t>
            </a:r>
            <a:r>
              <a:rPr spc="-10" dirty="0"/>
              <a:t>中的</a:t>
            </a:r>
            <a:r>
              <a:rPr spc="5" dirty="0"/>
              <a:t>卷积</a:t>
            </a:r>
            <a:r>
              <a:rPr spc="-10" dirty="0"/>
              <a:t>操</a:t>
            </a:r>
            <a:r>
              <a:rPr spc="5" dirty="0"/>
              <a:t>作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613655" y="2226199"/>
            <a:ext cx="596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数学公式：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13655" y="2343039"/>
            <a:ext cx="2066289" cy="53086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169670">
              <a:lnSpc>
                <a:spcPct val="100000"/>
              </a:lnSpc>
              <a:spcBef>
                <a:spcPts val="930"/>
              </a:spcBef>
            </a:pPr>
            <a:r>
              <a:rPr sz="1200" spc="20" dirty="0">
                <a:latin typeface="Cambria Math"/>
                <a:cs typeface="Cambria Math"/>
              </a:rPr>
              <a:t>𝒘</a:t>
            </a:r>
            <a:r>
              <a:rPr sz="1275" spc="30" baseline="29411" dirty="0">
                <a:latin typeface="Cambria Math"/>
                <a:cs typeface="Cambria Math"/>
              </a:rPr>
              <a:t>𝑻</a:t>
            </a:r>
            <a:r>
              <a:rPr sz="1200" spc="20" dirty="0">
                <a:latin typeface="Cambria Math"/>
                <a:cs typeface="Cambria Math"/>
              </a:rPr>
              <a:t>𝒙 </a:t>
            </a:r>
            <a:r>
              <a:rPr sz="1200" dirty="0">
                <a:latin typeface="Cambria Math"/>
                <a:cs typeface="Cambria Math"/>
              </a:rPr>
              <a:t>+</a:t>
            </a:r>
            <a:r>
              <a:rPr sz="1200" spc="-4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900" dirty="0">
                <a:latin typeface="Cambria Math"/>
                <a:cs typeface="Cambria Math"/>
              </a:rPr>
              <a:t>𝒘</a:t>
            </a:r>
            <a:r>
              <a:rPr sz="900" spc="25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为卷积核的权值，</a:t>
            </a:r>
            <a:r>
              <a:rPr sz="900" spc="-40" dirty="0">
                <a:latin typeface="黑体"/>
                <a:cs typeface="黑体"/>
              </a:rPr>
              <a:t> </a:t>
            </a:r>
            <a:r>
              <a:rPr sz="900" dirty="0">
                <a:latin typeface="Cambria Math"/>
                <a:cs typeface="Cambria Math"/>
              </a:rPr>
              <a:t>𝑏</a:t>
            </a:r>
            <a:r>
              <a:rPr sz="900" spc="45" dirty="0">
                <a:latin typeface="Cambria Math"/>
                <a:cs typeface="Cambria Math"/>
              </a:rPr>
              <a:t> </a:t>
            </a:r>
            <a:r>
              <a:rPr sz="900" dirty="0">
                <a:latin typeface="黑体"/>
                <a:cs typeface="黑体"/>
              </a:rPr>
              <a:t>为卷积核的偏置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5879" y="1559940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C8DA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8740" y="1127124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5" y="0"/>
                </a:moveTo>
                <a:lnTo>
                  <a:pt x="0" y="432181"/>
                </a:lnTo>
                <a:lnTo>
                  <a:pt x="0" y="1379220"/>
                </a:lnTo>
                <a:lnTo>
                  <a:pt x="432815" y="947038"/>
                </a:lnTo>
                <a:lnTo>
                  <a:pt x="432815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83019" y="1127124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5" y="0"/>
                </a:moveTo>
                <a:lnTo>
                  <a:pt x="432434" y="0"/>
                </a:lnTo>
                <a:lnTo>
                  <a:pt x="0" y="432816"/>
                </a:lnTo>
                <a:lnTo>
                  <a:pt x="46100" y="432816"/>
                </a:lnTo>
                <a:lnTo>
                  <a:pt x="478535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83019" y="1127124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1"/>
                </a:moveTo>
                <a:lnTo>
                  <a:pt x="432434" y="0"/>
                </a:lnTo>
                <a:lnTo>
                  <a:pt x="478535" y="0"/>
                </a:lnTo>
                <a:lnTo>
                  <a:pt x="478535" y="947038"/>
                </a:lnTo>
                <a:lnTo>
                  <a:pt x="46100" y="1379220"/>
                </a:lnTo>
                <a:lnTo>
                  <a:pt x="0" y="1379220"/>
                </a:lnTo>
                <a:lnTo>
                  <a:pt x="0" y="4321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83019" y="1127124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6"/>
                </a:moveTo>
                <a:lnTo>
                  <a:pt x="46100" y="432816"/>
                </a:lnTo>
                <a:lnTo>
                  <a:pt x="4785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28740" y="1559940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90360" y="2289682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2273" y="1748916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5">
                <a:moveTo>
                  <a:pt x="0" y="0"/>
                </a:moveTo>
                <a:lnTo>
                  <a:pt x="0" y="330707"/>
                </a:lnTo>
              </a:path>
            </a:pathLst>
          </a:custGeom>
          <a:ln w="65531">
            <a:solidFill>
              <a:srgbClr val="C8DA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95039" y="1672716"/>
            <a:ext cx="74930" cy="407034"/>
          </a:xfrm>
          <a:custGeom>
            <a:avLst/>
            <a:gdLst/>
            <a:ahLst/>
            <a:cxnLst/>
            <a:rect l="l" t="t" r="r" b="b"/>
            <a:pathLst>
              <a:path w="74930" h="407035">
                <a:moveTo>
                  <a:pt x="74675" y="0"/>
                </a:moveTo>
                <a:lnTo>
                  <a:pt x="0" y="75311"/>
                </a:lnTo>
                <a:lnTo>
                  <a:pt x="0" y="406907"/>
                </a:lnTo>
                <a:lnTo>
                  <a:pt x="74675" y="331596"/>
                </a:lnTo>
                <a:lnTo>
                  <a:pt x="74675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29507" y="1672716"/>
            <a:ext cx="140335" cy="76200"/>
          </a:xfrm>
          <a:custGeom>
            <a:avLst/>
            <a:gdLst/>
            <a:ahLst/>
            <a:cxnLst/>
            <a:rect l="l" t="t" r="r" b="b"/>
            <a:pathLst>
              <a:path w="140334" h="76200">
                <a:moveTo>
                  <a:pt x="140207" y="0"/>
                </a:moveTo>
                <a:lnTo>
                  <a:pt x="74803" y="0"/>
                </a:lnTo>
                <a:lnTo>
                  <a:pt x="0" y="76200"/>
                </a:lnTo>
                <a:lnTo>
                  <a:pt x="65404" y="76200"/>
                </a:lnTo>
                <a:lnTo>
                  <a:pt x="140207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29507" y="1672716"/>
            <a:ext cx="140335" cy="407034"/>
          </a:xfrm>
          <a:custGeom>
            <a:avLst/>
            <a:gdLst/>
            <a:ahLst/>
            <a:cxnLst/>
            <a:rect l="l" t="t" r="r" b="b"/>
            <a:pathLst>
              <a:path w="140334" h="407035">
                <a:moveTo>
                  <a:pt x="0" y="75311"/>
                </a:moveTo>
                <a:lnTo>
                  <a:pt x="74803" y="0"/>
                </a:lnTo>
                <a:lnTo>
                  <a:pt x="140207" y="0"/>
                </a:lnTo>
                <a:lnTo>
                  <a:pt x="140207" y="331596"/>
                </a:lnTo>
                <a:lnTo>
                  <a:pt x="65404" y="406907"/>
                </a:lnTo>
                <a:lnTo>
                  <a:pt x="0" y="406907"/>
                </a:lnTo>
                <a:lnTo>
                  <a:pt x="0" y="7531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29507" y="1672716"/>
            <a:ext cx="140335" cy="76200"/>
          </a:xfrm>
          <a:custGeom>
            <a:avLst/>
            <a:gdLst/>
            <a:ahLst/>
            <a:cxnLst/>
            <a:rect l="l" t="t" r="r" b="b"/>
            <a:pathLst>
              <a:path w="140334" h="76200">
                <a:moveTo>
                  <a:pt x="0" y="76200"/>
                </a:moveTo>
                <a:lnTo>
                  <a:pt x="65404" y="76200"/>
                </a:lnTo>
                <a:lnTo>
                  <a:pt x="14020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95039" y="1748916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5">
                <a:moveTo>
                  <a:pt x="0" y="0"/>
                </a:moveTo>
                <a:lnTo>
                  <a:pt x="0" y="33070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21797" y="1800542"/>
            <a:ext cx="151256" cy="151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82847" y="1876932"/>
            <a:ext cx="744220" cy="200025"/>
          </a:xfrm>
          <a:custGeom>
            <a:avLst/>
            <a:gdLst/>
            <a:ahLst/>
            <a:cxnLst/>
            <a:rect l="l" t="t" r="r" b="b"/>
            <a:pathLst>
              <a:path w="744219" h="200025">
                <a:moveTo>
                  <a:pt x="0" y="199644"/>
                </a:moveTo>
                <a:lnTo>
                  <a:pt x="743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91991" y="1758060"/>
            <a:ext cx="734695" cy="119380"/>
          </a:xfrm>
          <a:custGeom>
            <a:avLst/>
            <a:gdLst/>
            <a:ahLst/>
            <a:cxnLst/>
            <a:rect l="l" t="t" r="r" b="b"/>
            <a:pathLst>
              <a:path w="734694" h="119380">
                <a:moveTo>
                  <a:pt x="0" y="0"/>
                </a:moveTo>
                <a:lnTo>
                  <a:pt x="734568" y="1188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60571" y="1683384"/>
            <a:ext cx="666115" cy="193675"/>
          </a:xfrm>
          <a:custGeom>
            <a:avLst/>
            <a:gdLst/>
            <a:ahLst/>
            <a:cxnLst/>
            <a:rect l="l" t="t" r="r" b="b"/>
            <a:pathLst>
              <a:path w="666114" h="193675">
                <a:moveTo>
                  <a:pt x="0" y="0"/>
                </a:moveTo>
                <a:lnTo>
                  <a:pt x="665988" y="19354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72763" y="1876932"/>
            <a:ext cx="654050" cy="125095"/>
          </a:xfrm>
          <a:custGeom>
            <a:avLst/>
            <a:gdLst/>
            <a:ahLst/>
            <a:cxnLst/>
            <a:rect l="l" t="t" r="r" b="b"/>
            <a:pathLst>
              <a:path w="654050" h="125094">
                <a:moveTo>
                  <a:pt x="0" y="124967"/>
                </a:moveTo>
                <a:lnTo>
                  <a:pt x="653796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57650" y="237020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9641" y="1333245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2040" y="256590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0719" y="1558416"/>
            <a:ext cx="106680" cy="1007744"/>
          </a:xfrm>
          <a:custGeom>
            <a:avLst/>
            <a:gdLst/>
            <a:ahLst/>
            <a:cxnLst/>
            <a:rect l="l" t="t" r="r" b="b"/>
            <a:pathLst>
              <a:path w="106680" h="1007744">
                <a:moveTo>
                  <a:pt x="0" y="0"/>
                </a:moveTo>
                <a:lnTo>
                  <a:pt x="106680" y="0"/>
                </a:lnTo>
                <a:lnTo>
                  <a:pt x="106680" y="1007363"/>
                </a:lnTo>
                <a:lnTo>
                  <a:pt x="0" y="1007363"/>
                </a:lnTo>
                <a:lnTo>
                  <a:pt x="0" y="0"/>
                </a:lnTo>
                <a:close/>
              </a:path>
            </a:pathLst>
          </a:custGeom>
          <a:solidFill>
            <a:srgbClr val="F4CCCC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7399" y="1186560"/>
            <a:ext cx="372110" cy="1379220"/>
          </a:xfrm>
          <a:custGeom>
            <a:avLst/>
            <a:gdLst/>
            <a:ahLst/>
            <a:cxnLst/>
            <a:rect l="l" t="t" r="r" b="b"/>
            <a:pathLst>
              <a:path w="372109" h="1379220">
                <a:moveTo>
                  <a:pt x="371856" y="0"/>
                </a:moveTo>
                <a:lnTo>
                  <a:pt x="0" y="371729"/>
                </a:lnTo>
                <a:lnTo>
                  <a:pt x="0" y="1379220"/>
                </a:lnTo>
                <a:lnTo>
                  <a:pt x="371856" y="1007491"/>
                </a:lnTo>
                <a:lnTo>
                  <a:pt x="371856" y="0"/>
                </a:lnTo>
                <a:close/>
              </a:path>
            </a:pathLst>
          </a:custGeom>
          <a:solidFill>
            <a:srgbClr val="C3A2A2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20719" y="1186560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478536" y="0"/>
                </a:moveTo>
                <a:lnTo>
                  <a:pt x="371856" y="0"/>
                </a:lnTo>
                <a:lnTo>
                  <a:pt x="0" y="371856"/>
                </a:lnTo>
                <a:lnTo>
                  <a:pt x="106680" y="371856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20719" y="118656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90" h="1379220">
                <a:moveTo>
                  <a:pt x="0" y="371729"/>
                </a:moveTo>
                <a:lnTo>
                  <a:pt x="371856" y="0"/>
                </a:lnTo>
                <a:lnTo>
                  <a:pt x="478536" y="0"/>
                </a:lnTo>
                <a:lnTo>
                  <a:pt x="478536" y="1007491"/>
                </a:lnTo>
                <a:lnTo>
                  <a:pt x="106680" y="1379220"/>
                </a:lnTo>
                <a:lnTo>
                  <a:pt x="0" y="1379220"/>
                </a:lnTo>
                <a:lnTo>
                  <a:pt x="0" y="37172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0719" y="1186560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0" y="371856"/>
                </a:moveTo>
                <a:lnTo>
                  <a:pt x="106680" y="371856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27399" y="1558416"/>
            <a:ext cx="0" cy="1007744"/>
          </a:xfrm>
          <a:custGeom>
            <a:avLst/>
            <a:gdLst/>
            <a:ahLst/>
            <a:cxnLst/>
            <a:rect l="l" t="t" r="r" b="b"/>
            <a:pathLst>
              <a:path h="1007744">
                <a:moveTo>
                  <a:pt x="0" y="0"/>
                </a:moveTo>
                <a:lnTo>
                  <a:pt x="0" y="10073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16881" y="1856231"/>
            <a:ext cx="1600200" cy="43180"/>
          </a:xfrm>
          <a:custGeom>
            <a:avLst/>
            <a:gdLst/>
            <a:ahLst/>
            <a:cxnLst/>
            <a:rect l="l" t="t" r="r" b="b"/>
            <a:pathLst>
              <a:path w="1600200" h="43180">
                <a:moveTo>
                  <a:pt x="1557273" y="0"/>
                </a:moveTo>
                <a:lnTo>
                  <a:pt x="1557273" y="42926"/>
                </a:lnTo>
                <a:lnTo>
                  <a:pt x="1585976" y="28575"/>
                </a:lnTo>
                <a:lnTo>
                  <a:pt x="1564513" y="28575"/>
                </a:lnTo>
                <a:lnTo>
                  <a:pt x="1564513" y="14351"/>
                </a:lnTo>
                <a:lnTo>
                  <a:pt x="1585976" y="14351"/>
                </a:lnTo>
                <a:lnTo>
                  <a:pt x="1557273" y="0"/>
                </a:lnTo>
                <a:close/>
              </a:path>
              <a:path w="1600200" h="43180">
                <a:moveTo>
                  <a:pt x="1557273" y="14351"/>
                </a:moveTo>
                <a:lnTo>
                  <a:pt x="0" y="14351"/>
                </a:lnTo>
                <a:lnTo>
                  <a:pt x="0" y="28575"/>
                </a:lnTo>
                <a:lnTo>
                  <a:pt x="1557273" y="28575"/>
                </a:lnTo>
                <a:lnTo>
                  <a:pt x="1557273" y="14351"/>
                </a:lnTo>
                <a:close/>
              </a:path>
              <a:path w="1600200" h="43180">
                <a:moveTo>
                  <a:pt x="1585976" y="14351"/>
                </a:moveTo>
                <a:lnTo>
                  <a:pt x="1564513" y="14351"/>
                </a:lnTo>
                <a:lnTo>
                  <a:pt x="1564513" y="28575"/>
                </a:lnTo>
                <a:lnTo>
                  <a:pt x="1585976" y="28575"/>
                </a:lnTo>
                <a:lnTo>
                  <a:pt x="1600200" y="21462"/>
                </a:lnTo>
                <a:lnTo>
                  <a:pt x="1585976" y="14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205222" y="1623440"/>
            <a:ext cx="1294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像所</a:t>
            </a:r>
            <a:r>
              <a:rPr sz="1000" spc="5" dirty="0">
                <a:latin typeface="黑体"/>
                <a:cs typeface="黑体"/>
              </a:rPr>
              <a:t>有</a:t>
            </a:r>
            <a:r>
              <a:rPr sz="1000" spc="-5" dirty="0">
                <a:latin typeface="黑体"/>
                <a:cs typeface="黑体"/>
              </a:rPr>
              <a:t>位置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spc="-5" dirty="0">
                <a:latin typeface="黑体"/>
                <a:cs typeface="黑体"/>
              </a:rPr>
              <a:t>行卷积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22007" y="1548764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71209" y="253352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05702" y="713054"/>
            <a:ext cx="661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/>
                <a:cs typeface="黑体"/>
              </a:rPr>
              <a:t>特</a:t>
            </a:r>
            <a:r>
              <a:rPr sz="1000" spc="-5" dirty="0">
                <a:latin typeface="黑体"/>
                <a:cs typeface="黑体"/>
              </a:rPr>
              <a:t>征</a:t>
            </a:r>
            <a:r>
              <a:rPr sz="1000" spc="-10" dirty="0">
                <a:latin typeface="黑体"/>
                <a:cs typeface="黑体"/>
              </a:rPr>
              <a:t>响</a:t>
            </a:r>
            <a:r>
              <a:rPr sz="1000" dirty="0">
                <a:latin typeface="黑体"/>
                <a:cs typeface="黑体"/>
              </a:rPr>
              <a:t>应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黑体"/>
                <a:cs typeface="黑体"/>
              </a:rPr>
              <a:t>28x28x1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87216" y="713054"/>
            <a:ext cx="533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/>
                <a:cs typeface="黑体"/>
              </a:rPr>
              <a:t>彩</a:t>
            </a:r>
            <a:r>
              <a:rPr sz="1000" spc="-5" dirty="0">
                <a:latin typeface="黑体"/>
                <a:cs typeface="黑体"/>
              </a:rPr>
              <a:t>色</a:t>
            </a:r>
            <a:r>
              <a:rPr sz="1000" spc="-10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</a:t>
            </a:r>
            <a:endParaRPr sz="1000">
              <a:latin typeface="黑体"/>
              <a:cs typeface="黑体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黑体"/>
                <a:cs typeface="黑体"/>
              </a:rPr>
              <a:t>32x32x3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43705" y="1114678"/>
            <a:ext cx="406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endParaRPr sz="1000">
              <a:latin typeface="黑体"/>
              <a:cs typeface="黑体"/>
            </a:endParaRPr>
          </a:p>
          <a:p>
            <a:pPr marL="44450">
              <a:lnSpc>
                <a:spcPct val="100000"/>
              </a:lnSpc>
            </a:pPr>
            <a:r>
              <a:rPr sz="1000" spc="-5" dirty="0">
                <a:latin typeface="黑体"/>
                <a:cs typeface="黑体"/>
              </a:rPr>
              <a:t>5x5x3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73525" y="1318640"/>
            <a:ext cx="655320" cy="332740"/>
          </a:xfrm>
          <a:custGeom>
            <a:avLst/>
            <a:gdLst/>
            <a:ahLst/>
            <a:cxnLst/>
            <a:rect l="l" t="t" r="r" b="b"/>
            <a:pathLst>
              <a:path w="655319" h="332739">
                <a:moveTo>
                  <a:pt x="25400" y="298196"/>
                </a:moveTo>
                <a:lnTo>
                  <a:pt x="0" y="332359"/>
                </a:lnTo>
                <a:lnTo>
                  <a:pt x="42545" y="332232"/>
                </a:lnTo>
                <a:lnTo>
                  <a:pt x="36851" y="320929"/>
                </a:lnTo>
                <a:lnTo>
                  <a:pt x="29718" y="320929"/>
                </a:lnTo>
                <a:lnTo>
                  <a:pt x="26924" y="315214"/>
                </a:lnTo>
                <a:lnTo>
                  <a:pt x="32545" y="312381"/>
                </a:lnTo>
                <a:lnTo>
                  <a:pt x="25400" y="298196"/>
                </a:lnTo>
                <a:close/>
              </a:path>
              <a:path w="655319" h="332739">
                <a:moveTo>
                  <a:pt x="32545" y="312381"/>
                </a:moveTo>
                <a:lnTo>
                  <a:pt x="26924" y="315214"/>
                </a:lnTo>
                <a:lnTo>
                  <a:pt x="29718" y="320929"/>
                </a:lnTo>
                <a:lnTo>
                  <a:pt x="35406" y="318061"/>
                </a:lnTo>
                <a:lnTo>
                  <a:pt x="32545" y="312381"/>
                </a:lnTo>
                <a:close/>
              </a:path>
              <a:path w="655319" h="332739">
                <a:moveTo>
                  <a:pt x="35406" y="318061"/>
                </a:moveTo>
                <a:lnTo>
                  <a:pt x="29718" y="320929"/>
                </a:lnTo>
                <a:lnTo>
                  <a:pt x="36851" y="320929"/>
                </a:lnTo>
                <a:lnTo>
                  <a:pt x="35406" y="318061"/>
                </a:lnTo>
                <a:close/>
              </a:path>
              <a:path w="655319" h="332739">
                <a:moveTo>
                  <a:pt x="652399" y="0"/>
                </a:moveTo>
                <a:lnTo>
                  <a:pt x="32545" y="312381"/>
                </a:lnTo>
                <a:lnTo>
                  <a:pt x="35406" y="318061"/>
                </a:lnTo>
                <a:lnTo>
                  <a:pt x="655193" y="5587"/>
                </a:lnTo>
                <a:lnTo>
                  <a:pt x="6523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1908931" y="172592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网</a:t>
            </a:r>
            <a:r>
              <a:rPr spc="5" dirty="0"/>
              <a:t>络</a:t>
            </a:r>
            <a:r>
              <a:rPr spc="-10" dirty="0"/>
              <a:t>中的</a:t>
            </a:r>
            <a:r>
              <a:rPr spc="5" dirty="0"/>
              <a:t>卷积</a:t>
            </a:r>
            <a:r>
              <a:rPr spc="-10" dirty="0"/>
              <a:t>操</a:t>
            </a:r>
            <a:r>
              <a:rPr spc="5" dirty="0"/>
              <a:t>作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209282" y="2617088"/>
            <a:ext cx="1626235" cy="64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特征响应图中每个位置上的值反 映了图像上对应位置是否存在卷 积核所记录的基元结构信息。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5880" y="1537859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C8DA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28740" y="1105043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5" y="0"/>
                </a:moveTo>
                <a:lnTo>
                  <a:pt x="0" y="432181"/>
                </a:lnTo>
                <a:lnTo>
                  <a:pt x="0" y="1379220"/>
                </a:lnTo>
                <a:lnTo>
                  <a:pt x="432815" y="947039"/>
                </a:lnTo>
                <a:lnTo>
                  <a:pt x="432815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83019" y="1105043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5" y="0"/>
                </a:moveTo>
                <a:lnTo>
                  <a:pt x="432434" y="0"/>
                </a:lnTo>
                <a:lnTo>
                  <a:pt x="0" y="432816"/>
                </a:lnTo>
                <a:lnTo>
                  <a:pt x="46100" y="432816"/>
                </a:lnTo>
                <a:lnTo>
                  <a:pt x="478535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83019" y="1105043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1"/>
                </a:moveTo>
                <a:lnTo>
                  <a:pt x="432434" y="0"/>
                </a:lnTo>
                <a:lnTo>
                  <a:pt x="478535" y="0"/>
                </a:lnTo>
                <a:lnTo>
                  <a:pt x="478535" y="947039"/>
                </a:lnTo>
                <a:lnTo>
                  <a:pt x="46100" y="1379220"/>
                </a:lnTo>
                <a:lnTo>
                  <a:pt x="0" y="1379220"/>
                </a:lnTo>
                <a:lnTo>
                  <a:pt x="0" y="4321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83019" y="1105043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6"/>
                </a:moveTo>
                <a:lnTo>
                  <a:pt x="46100" y="432816"/>
                </a:lnTo>
                <a:lnTo>
                  <a:pt x="4785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28740" y="1537859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62274" y="1726835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5">
                <a:moveTo>
                  <a:pt x="0" y="0"/>
                </a:moveTo>
                <a:lnTo>
                  <a:pt x="0" y="330707"/>
                </a:lnTo>
              </a:path>
            </a:pathLst>
          </a:custGeom>
          <a:ln w="65531">
            <a:solidFill>
              <a:srgbClr val="C8DA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95040" y="1650635"/>
            <a:ext cx="74930" cy="407034"/>
          </a:xfrm>
          <a:custGeom>
            <a:avLst/>
            <a:gdLst/>
            <a:ahLst/>
            <a:cxnLst/>
            <a:rect l="l" t="t" r="r" b="b"/>
            <a:pathLst>
              <a:path w="74930" h="407035">
                <a:moveTo>
                  <a:pt x="74675" y="0"/>
                </a:moveTo>
                <a:lnTo>
                  <a:pt x="0" y="75310"/>
                </a:lnTo>
                <a:lnTo>
                  <a:pt x="0" y="406907"/>
                </a:lnTo>
                <a:lnTo>
                  <a:pt x="74675" y="331597"/>
                </a:lnTo>
                <a:lnTo>
                  <a:pt x="74675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9508" y="1650635"/>
            <a:ext cx="140335" cy="76200"/>
          </a:xfrm>
          <a:custGeom>
            <a:avLst/>
            <a:gdLst/>
            <a:ahLst/>
            <a:cxnLst/>
            <a:rect l="l" t="t" r="r" b="b"/>
            <a:pathLst>
              <a:path w="140334" h="76200">
                <a:moveTo>
                  <a:pt x="140207" y="0"/>
                </a:moveTo>
                <a:lnTo>
                  <a:pt x="74803" y="0"/>
                </a:lnTo>
                <a:lnTo>
                  <a:pt x="0" y="76200"/>
                </a:lnTo>
                <a:lnTo>
                  <a:pt x="65404" y="76200"/>
                </a:lnTo>
                <a:lnTo>
                  <a:pt x="140207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29508" y="1650635"/>
            <a:ext cx="140335" cy="407034"/>
          </a:xfrm>
          <a:custGeom>
            <a:avLst/>
            <a:gdLst/>
            <a:ahLst/>
            <a:cxnLst/>
            <a:rect l="l" t="t" r="r" b="b"/>
            <a:pathLst>
              <a:path w="140334" h="407035">
                <a:moveTo>
                  <a:pt x="0" y="75310"/>
                </a:moveTo>
                <a:lnTo>
                  <a:pt x="74803" y="0"/>
                </a:lnTo>
                <a:lnTo>
                  <a:pt x="140207" y="0"/>
                </a:lnTo>
                <a:lnTo>
                  <a:pt x="140207" y="331597"/>
                </a:lnTo>
                <a:lnTo>
                  <a:pt x="65404" y="406907"/>
                </a:lnTo>
                <a:lnTo>
                  <a:pt x="0" y="406907"/>
                </a:lnTo>
                <a:lnTo>
                  <a:pt x="0" y="7531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29508" y="1650635"/>
            <a:ext cx="140335" cy="76200"/>
          </a:xfrm>
          <a:custGeom>
            <a:avLst/>
            <a:gdLst/>
            <a:ahLst/>
            <a:cxnLst/>
            <a:rect l="l" t="t" r="r" b="b"/>
            <a:pathLst>
              <a:path w="140334" h="76200">
                <a:moveTo>
                  <a:pt x="0" y="76200"/>
                </a:moveTo>
                <a:lnTo>
                  <a:pt x="65404" y="76200"/>
                </a:lnTo>
                <a:lnTo>
                  <a:pt x="14020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95040" y="1726835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5">
                <a:moveTo>
                  <a:pt x="0" y="0"/>
                </a:moveTo>
                <a:lnTo>
                  <a:pt x="0" y="33070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21797" y="1778461"/>
            <a:ext cx="151256" cy="151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82848" y="1854851"/>
            <a:ext cx="744220" cy="200025"/>
          </a:xfrm>
          <a:custGeom>
            <a:avLst/>
            <a:gdLst/>
            <a:ahLst/>
            <a:cxnLst/>
            <a:rect l="l" t="t" r="r" b="b"/>
            <a:pathLst>
              <a:path w="744219" h="200025">
                <a:moveTo>
                  <a:pt x="0" y="199643"/>
                </a:moveTo>
                <a:lnTo>
                  <a:pt x="743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91992" y="1735979"/>
            <a:ext cx="734695" cy="119380"/>
          </a:xfrm>
          <a:custGeom>
            <a:avLst/>
            <a:gdLst/>
            <a:ahLst/>
            <a:cxnLst/>
            <a:rect l="l" t="t" r="r" b="b"/>
            <a:pathLst>
              <a:path w="734694" h="119380">
                <a:moveTo>
                  <a:pt x="0" y="0"/>
                </a:moveTo>
                <a:lnTo>
                  <a:pt x="734568" y="11887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60572" y="1661303"/>
            <a:ext cx="666115" cy="193675"/>
          </a:xfrm>
          <a:custGeom>
            <a:avLst/>
            <a:gdLst/>
            <a:ahLst/>
            <a:cxnLst/>
            <a:rect l="l" t="t" r="r" b="b"/>
            <a:pathLst>
              <a:path w="666114" h="193675">
                <a:moveTo>
                  <a:pt x="0" y="0"/>
                </a:moveTo>
                <a:lnTo>
                  <a:pt x="665988" y="19354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72764" y="1854851"/>
            <a:ext cx="654050" cy="125095"/>
          </a:xfrm>
          <a:custGeom>
            <a:avLst/>
            <a:gdLst/>
            <a:ahLst/>
            <a:cxnLst/>
            <a:rect l="l" t="t" r="r" b="b"/>
            <a:pathLst>
              <a:path w="654050" h="125094">
                <a:moveTo>
                  <a:pt x="0" y="124967"/>
                </a:moveTo>
                <a:lnTo>
                  <a:pt x="65379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57651" y="234723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9642" y="1310529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2040" y="254319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0720" y="1536335"/>
            <a:ext cx="106680" cy="1007744"/>
          </a:xfrm>
          <a:custGeom>
            <a:avLst/>
            <a:gdLst/>
            <a:ahLst/>
            <a:cxnLst/>
            <a:rect l="l" t="t" r="r" b="b"/>
            <a:pathLst>
              <a:path w="106680" h="1007744">
                <a:moveTo>
                  <a:pt x="0" y="0"/>
                </a:moveTo>
                <a:lnTo>
                  <a:pt x="106680" y="0"/>
                </a:lnTo>
                <a:lnTo>
                  <a:pt x="106680" y="1007364"/>
                </a:lnTo>
                <a:lnTo>
                  <a:pt x="0" y="1007364"/>
                </a:lnTo>
                <a:lnTo>
                  <a:pt x="0" y="0"/>
                </a:lnTo>
                <a:close/>
              </a:path>
            </a:pathLst>
          </a:custGeom>
          <a:solidFill>
            <a:srgbClr val="F4CCCC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27400" y="1164479"/>
            <a:ext cx="372110" cy="1379220"/>
          </a:xfrm>
          <a:custGeom>
            <a:avLst/>
            <a:gdLst/>
            <a:ahLst/>
            <a:cxnLst/>
            <a:rect l="l" t="t" r="r" b="b"/>
            <a:pathLst>
              <a:path w="372109" h="1379220">
                <a:moveTo>
                  <a:pt x="371856" y="0"/>
                </a:moveTo>
                <a:lnTo>
                  <a:pt x="0" y="371728"/>
                </a:lnTo>
                <a:lnTo>
                  <a:pt x="0" y="1379220"/>
                </a:lnTo>
                <a:lnTo>
                  <a:pt x="371856" y="1007490"/>
                </a:lnTo>
                <a:lnTo>
                  <a:pt x="371856" y="0"/>
                </a:lnTo>
                <a:close/>
              </a:path>
            </a:pathLst>
          </a:custGeom>
          <a:solidFill>
            <a:srgbClr val="C3A2A2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720" y="1164479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478536" y="0"/>
                </a:moveTo>
                <a:lnTo>
                  <a:pt x="371856" y="0"/>
                </a:lnTo>
                <a:lnTo>
                  <a:pt x="0" y="371855"/>
                </a:lnTo>
                <a:lnTo>
                  <a:pt x="106680" y="371855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20720" y="116447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90" h="1379220">
                <a:moveTo>
                  <a:pt x="0" y="371728"/>
                </a:moveTo>
                <a:lnTo>
                  <a:pt x="371856" y="0"/>
                </a:lnTo>
                <a:lnTo>
                  <a:pt x="478536" y="0"/>
                </a:lnTo>
                <a:lnTo>
                  <a:pt x="478536" y="1007490"/>
                </a:lnTo>
                <a:lnTo>
                  <a:pt x="106680" y="1379220"/>
                </a:lnTo>
                <a:lnTo>
                  <a:pt x="0" y="1379220"/>
                </a:lnTo>
                <a:lnTo>
                  <a:pt x="0" y="3717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20720" y="1164479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0" y="371855"/>
                </a:moveTo>
                <a:lnTo>
                  <a:pt x="106680" y="37185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27400" y="1536335"/>
            <a:ext cx="0" cy="1007744"/>
          </a:xfrm>
          <a:custGeom>
            <a:avLst/>
            <a:gdLst/>
            <a:ahLst/>
            <a:cxnLst/>
            <a:rect l="l" t="t" r="r" b="b"/>
            <a:pathLst>
              <a:path h="1007744">
                <a:moveTo>
                  <a:pt x="0" y="0"/>
                </a:moveTo>
                <a:lnTo>
                  <a:pt x="0" y="100736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16882" y="1834150"/>
            <a:ext cx="1600200" cy="43180"/>
          </a:xfrm>
          <a:custGeom>
            <a:avLst/>
            <a:gdLst/>
            <a:ahLst/>
            <a:cxnLst/>
            <a:rect l="l" t="t" r="r" b="b"/>
            <a:pathLst>
              <a:path w="1600200" h="43180">
                <a:moveTo>
                  <a:pt x="1557273" y="0"/>
                </a:moveTo>
                <a:lnTo>
                  <a:pt x="1557273" y="42925"/>
                </a:lnTo>
                <a:lnTo>
                  <a:pt x="1585975" y="28575"/>
                </a:lnTo>
                <a:lnTo>
                  <a:pt x="1564513" y="28575"/>
                </a:lnTo>
                <a:lnTo>
                  <a:pt x="1564513" y="14350"/>
                </a:lnTo>
                <a:lnTo>
                  <a:pt x="1585976" y="14350"/>
                </a:lnTo>
                <a:lnTo>
                  <a:pt x="1557273" y="0"/>
                </a:lnTo>
                <a:close/>
              </a:path>
              <a:path w="1600200" h="43180">
                <a:moveTo>
                  <a:pt x="1557273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1557273" y="28575"/>
                </a:lnTo>
                <a:lnTo>
                  <a:pt x="1557273" y="14350"/>
                </a:lnTo>
                <a:close/>
              </a:path>
              <a:path w="1600200" h="43180">
                <a:moveTo>
                  <a:pt x="1585976" y="14350"/>
                </a:moveTo>
                <a:lnTo>
                  <a:pt x="1564513" y="14350"/>
                </a:lnTo>
                <a:lnTo>
                  <a:pt x="1564513" y="28575"/>
                </a:lnTo>
                <a:lnTo>
                  <a:pt x="1585975" y="28575"/>
                </a:lnTo>
                <a:lnTo>
                  <a:pt x="1600200" y="21462"/>
                </a:lnTo>
                <a:lnTo>
                  <a:pt x="1585976" y="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205223" y="1600724"/>
            <a:ext cx="1294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像所</a:t>
            </a:r>
            <a:r>
              <a:rPr sz="1000" spc="5" dirty="0">
                <a:latin typeface="黑体"/>
                <a:cs typeface="黑体"/>
              </a:rPr>
              <a:t>有</a:t>
            </a:r>
            <a:r>
              <a:rPr sz="1000" spc="-5" dirty="0">
                <a:latin typeface="黑体"/>
                <a:cs typeface="黑体"/>
              </a:rPr>
              <a:t>位置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spc="-5" dirty="0">
                <a:latin typeface="黑体"/>
                <a:cs typeface="黑体"/>
              </a:rPr>
              <a:t>行卷积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72781" y="1526048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80581" y="2508774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05702" y="690642"/>
            <a:ext cx="661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特</a:t>
            </a:r>
            <a:r>
              <a:rPr sz="1000" spc="-5" dirty="0">
                <a:latin typeface="黑体"/>
                <a:cs typeface="黑体"/>
              </a:rPr>
              <a:t>征响</a:t>
            </a:r>
            <a:r>
              <a:rPr sz="1000" spc="5" dirty="0">
                <a:latin typeface="黑体"/>
                <a:cs typeface="黑体"/>
              </a:rPr>
              <a:t>应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  <a:p>
            <a:pPr marL="1905" algn="ctr">
              <a:lnSpc>
                <a:spcPct val="100000"/>
              </a:lnSpc>
            </a:pPr>
            <a:r>
              <a:rPr sz="1000" dirty="0">
                <a:latin typeface="黑体"/>
                <a:cs typeface="黑体"/>
              </a:rPr>
              <a:t>28x28x1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7217" y="690642"/>
            <a:ext cx="532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彩</a:t>
            </a:r>
            <a:r>
              <a:rPr sz="1000" spc="-5" dirty="0">
                <a:latin typeface="黑体"/>
                <a:cs typeface="黑体"/>
              </a:rPr>
              <a:t>色图像</a:t>
            </a:r>
            <a:endParaRPr sz="1000">
              <a:latin typeface="黑体"/>
              <a:cs typeface="黑体"/>
            </a:endParaRPr>
          </a:p>
          <a:p>
            <a:pPr marL="44450">
              <a:lnSpc>
                <a:spcPct val="100000"/>
              </a:lnSpc>
            </a:pPr>
            <a:r>
              <a:rPr sz="1000" dirty="0">
                <a:latin typeface="黑体"/>
                <a:cs typeface="黑体"/>
              </a:rPr>
              <a:t>32x32x3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43705" y="1091708"/>
            <a:ext cx="406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endParaRPr sz="1000">
              <a:latin typeface="黑体"/>
              <a:cs typeface="黑体"/>
            </a:endParaRPr>
          </a:p>
          <a:p>
            <a:pPr marL="44450">
              <a:lnSpc>
                <a:spcPct val="100000"/>
              </a:lnSpc>
            </a:pPr>
            <a:r>
              <a:rPr sz="1000" spc="-5" dirty="0">
                <a:latin typeface="黑体"/>
                <a:cs typeface="黑体"/>
              </a:rPr>
              <a:t>5x5x3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73526" y="1296559"/>
            <a:ext cx="655320" cy="332740"/>
          </a:xfrm>
          <a:custGeom>
            <a:avLst/>
            <a:gdLst/>
            <a:ahLst/>
            <a:cxnLst/>
            <a:rect l="l" t="t" r="r" b="b"/>
            <a:pathLst>
              <a:path w="655319" h="332739">
                <a:moveTo>
                  <a:pt x="25400" y="298196"/>
                </a:moveTo>
                <a:lnTo>
                  <a:pt x="0" y="332358"/>
                </a:lnTo>
                <a:lnTo>
                  <a:pt x="42545" y="332231"/>
                </a:lnTo>
                <a:lnTo>
                  <a:pt x="36851" y="320928"/>
                </a:lnTo>
                <a:lnTo>
                  <a:pt x="29718" y="320928"/>
                </a:lnTo>
                <a:lnTo>
                  <a:pt x="26924" y="315214"/>
                </a:lnTo>
                <a:lnTo>
                  <a:pt x="32545" y="312381"/>
                </a:lnTo>
                <a:lnTo>
                  <a:pt x="25400" y="298196"/>
                </a:lnTo>
                <a:close/>
              </a:path>
              <a:path w="655319" h="332739">
                <a:moveTo>
                  <a:pt x="32545" y="312381"/>
                </a:moveTo>
                <a:lnTo>
                  <a:pt x="26924" y="315214"/>
                </a:lnTo>
                <a:lnTo>
                  <a:pt x="29718" y="320928"/>
                </a:lnTo>
                <a:lnTo>
                  <a:pt x="35406" y="318061"/>
                </a:lnTo>
                <a:lnTo>
                  <a:pt x="32545" y="312381"/>
                </a:lnTo>
                <a:close/>
              </a:path>
              <a:path w="655319" h="332739">
                <a:moveTo>
                  <a:pt x="35406" y="318061"/>
                </a:moveTo>
                <a:lnTo>
                  <a:pt x="29718" y="320928"/>
                </a:lnTo>
                <a:lnTo>
                  <a:pt x="36851" y="320928"/>
                </a:lnTo>
                <a:lnTo>
                  <a:pt x="35406" y="318061"/>
                </a:lnTo>
                <a:close/>
              </a:path>
              <a:path w="655319" h="332739">
                <a:moveTo>
                  <a:pt x="652399" y="0"/>
                </a:moveTo>
                <a:lnTo>
                  <a:pt x="32545" y="312381"/>
                </a:lnTo>
                <a:lnTo>
                  <a:pt x="35406" y="318061"/>
                </a:lnTo>
                <a:lnTo>
                  <a:pt x="655193" y="5588"/>
                </a:lnTo>
                <a:lnTo>
                  <a:pt x="6523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19824" y="1508903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42684" y="1076087"/>
            <a:ext cx="431800" cy="1379220"/>
          </a:xfrm>
          <a:custGeom>
            <a:avLst/>
            <a:gdLst/>
            <a:ahLst/>
            <a:cxnLst/>
            <a:rect l="l" t="t" r="r" b="b"/>
            <a:pathLst>
              <a:path w="431800" h="1379220">
                <a:moveTo>
                  <a:pt x="431291" y="0"/>
                </a:moveTo>
                <a:lnTo>
                  <a:pt x="0" y="432180"/>
                </a:lnTo>
                <a:lnTo>
                  <a:pt x="0" y="1379220"/>
                </a:lnTo>
                <a:lnTo>
                  <a:pt x="431291" y="947039"/>
                </a:lnTo>
                <a:lnTo>
                  <a:pt x="43129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196963" y="1076087"/>
            <a:ext cx="477520" cy="433070"/>
          </a:xfrm>
          <a:custGeom>
            <a:avLst/>
            <a:gdLst/>
            <a:ahLst/>
            <a:cxnLst/>
            <a:rect l="l" t="t" r="r" b="b"/>
            <a:pathLst>
              <a:path w="477520" h="433069">
                <a:moveTo>
                  <a:pt x="477012" y="0"/>
                </a:moveTo>
                <a:lnTo>
                  <a:pt x="431038" y="0"/>
                </a:lnTo>
                <a:lnTo>
                  <a:pt x="0" y="432816"/>
                </a:lnTo>
                <a:lnTo>
                  <a:pt x="45974" y="432816"/>
                </a:lnTo>
                <a:lnTo>
                  <a:pt x="47701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196963" y="1076087"/>
            <a:ext cx="477520" cy="1379220"/>
          </a:xfrm>
          <a:custGeom>
            <a:avLst/>
            <a:gdLst/>
            <a:ahLst/>
            <a:cxnLst/>
            <a:rect l="l" t="t" r="r" b="b"/>
            <a:pathLst>
              <a:path w="477520" h="1379220">
                <a:moveTo>
                  <a:pt x="477012" y="0"/>
                </a:moveTo>
                <a:lnTo>
                  <a:pt x="431038" y="0"/>
                </a:lnTo>
                <a:lnTo>
                  <a:pt x="0" y="432180"/>
                </a:lnTo>
                <a:lnTo>
                  <a:pt x="0" y="1379220"/>
                </a:lnTo>
                <a:lnTo>
                  <a:pt x="45974" y="1379220"/>
                </a:lnTo>
                <a:lnTo>
                  <a:pt x="477012" y="947039"/>
                </a:lnTo>
                <a:lnTo>
                  <a:pt x="47701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196963" y="1076087"/>
            <a:ext cx="477520" cy="1379220"/>
          </a:xfrm>
          <a:custGeom>
            <a:avLst/>
            <a:gdLst/>
            <a:ahLst/>
            <a:cxnLst/>
            <a:rect l="l" t="t" r="r" b="b"/>
            <a:pathLst>
              <a:path w="477520" h="1379220">
                <a:moveTo>
                  <a:pt x="0" y="432180"/>
                </a:moveTo>
                <a:lnTo>
                  <a:pt x="431038" y="0"/>
                </a:lnTo>
                <a:lnTo>
                  <a:pt x="477012" y="0"/>
                </a:lnTo>
                <a:lnTo>
                  <a:pt x="477012" y="947039"/>
                </a:lnTo>
                <a:lnTo>
                  <a:pt x="45974" y="1379220"/>
                </a:lnTo>
                <a:lnTo>
                  <a:pt x="0" y="1379220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96963" y="1076087"/>
            <a:ext cx="477520" cy="433070"/>
          </a:xfrm>
          <a:custGeom>
            <a:avLst/>
            <a:gdLst/>
            <a:ahLst/>
            <a:cxnLst/>
            <a:rect l="l" t="t" r="r" b="b"/>
            <a:pathLst>
              <a:path w="477520" h="433069">
                <a:moveTo>
                  <a:pt x="477012" y="0"/>
                </a:moveTo>
                <a:lnTo>
                  <a:pt x="0" y="432816"/>
                </a:lnTo>
                <a:lnTo>
                  <a:pt x="45974" y="432816"/>
                </a:lnTo>
                <a:lnTo>
                  <a:pt x="47701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96963" y="1076087"/>
            <a:ext cx="477520" cy="433070"/>
          </a:xfrm>
          <a:custGeom>
            <a:avLst/>
            <a:gdLst/>
            <a:ahLst/>
            <a:cxnLst/>
            <a:rect l="l" t="t" r="r" b="b"/>
            <a:pathLst>
              <a:path w="477520" h="433069">
                <a:moveTo>
                  <a:pt x="0" y="432816"/>
                </a:moveTo>
                <a:lnTo>
                  <a:pt x="45974" y="432816"/>
                </a:lnTo>
                <a:lnTo>
                  <a:pt x="4770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42684" y="1508903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504049" y="2238137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74564" y="149622"/>
            <a:ext cx="77216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/>
                <a:cs typeface="黑体"/>
              </a:rPr>
              <a:t>卷积层</a:t>
            </a:r>
            <a:endParaRPr sz="1950">
              <a:latin typeface="黑体"/>
              <a:cs typeface="黑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10480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C8DA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33339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5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5" y="947038"/>
                </a:lnTo>
                <a:lnTo>
                  <a:pt x="432815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87619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5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5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7619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5" y="0"/>
                </a:lnTo>
                <a:lnTo>
                  <a:pt x="478535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7619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33339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51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080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622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1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622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1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622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1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080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77484" y="2328417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3482" y="1538096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613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4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842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384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1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84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1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384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1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842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375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FF1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604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AC1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146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FF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146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146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604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137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D9D2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366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ACA7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908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DFD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908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908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366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9899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BE4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128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8B7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670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BEA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670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670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0128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57650" y="237020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9641" y="1333245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2040" y="256590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20719" y="1558416"/>
            <a:ext cx="106680" cy="1007744"/>
          </a:xfrm>
          <a:custGeom>
            <a:avLst/>
            <a:gdLst/>
            <a:ahLst/>
            <a:cxnLst/>
            <a:rect l="l" t="t" r="r" b="b"/>
            <a:pathLst>
              <a:path w="106680" h="1007744">
                <a:moveTo>
                  <a:pt x="0" y="0"/>
                </a:moveTo>
                <a:lnTo>
                  <a:pt x="106680" y="0"/>
                </a:lnTo>
                <a:lnTo>
                  <a:pt x="106680" y="1007363"/>
                </a:lnTo>
                <a:lnTo>
                  <a:pt x="0" y="1007363"/>
                </a:lnTo>
                <a:lnTo>
                  <a:pt x="0" y="0"/>
                </a:lnTo>
                <a:close/>
              </a:path>
            </a:pathLst>
          </a:custGeom>
          <a:solidFill>
            <a:srgbClr val="F4CCCC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7399" y="1186560"/>
            <a:ext cx="372110" cy="1379220"/>
          </a:xfrm>
          <a:custGeom>
            <a:avLst/>
            <a:gdLst/>
            <a:ahLst/>
            <a:cxnLst/>
            <a:rect l="l" t="t" r="r" b="b"/>
            <a:pathLst>
              <a:path w="372109" h="1379220">
                <a:moveTo>
                  <a:pt x="371856" y="0"/>
                </a:moveTo>
                <a:lnTo>
                  <a:pt x="0" y="371729"/>
                </a:lnTo>
                <a:lnTo>
                  <a:pt x="0" y="1379220"/>
                </a:lnTo>
                <a:lnTo>
                  <a:pt x="371856" y="1007491"/>
                </a:lnTo>
                <a:lnTo>
                  <a:pt x="371856" y="0"/>
                </a:lnTo>
                <a:close/>
              </a:path>
            </a:pathLst>
          </a:custGeom>
          <a:solidFill>
            <a:srgbClr val="C3A2A2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0719" y="1186560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478536" y="0"/>
                </a:moveTo>
                <a:lnTo>
                  <a:pt x="371856" y="0"/>
                </a:lnTo>
                <a:lnTo>
                  <a:pt x="0" y="371856"/>
                </a:lnTo>
                <a:lnTo>
                  <a:pt x="106680" y="371856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0719" y="118656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90" h="1379220">
                <a:moveTo>
                  <a:pt x="0" y="371729"/>
                </a:moveTo>
                <a:lnTo>
                  <a:pt x="371856" y="0"/>
                </a:lnTo>
                <a:lnTo>
                  <a:pt x="478536" y="0"/>
                </a:lnTo>
                <a:lnTo>
                  <a:pt x="478536" y="1007491"/>
                </a:lnTo>
                <a:lnTo>
                  <a:pt x="106680" y="1379220"/>
                </a:lnTo>
                <a:lnTo>
                  <a:pt x="0" y="1379220"/>
                </a:lnTo>
                <a:lnTo>
                  <a:pt x="0" y="37172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0719" y="1186560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0" y="371856"/>
                </a:moveTo>
                <a:lnTo>
                  <a:pt x="106680" y="371856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27399" y="1558416"/>
            <a:ext cx="0" cy="1007744"/>
          </a:xfrm>
          <a:custGeom>
            <a:avLst/>
            <a:gdLst/>
            <a:ahLst/>
            <a:cxnLst/>
            <a:rect l="l" t="t" r="r" b="b"/>
            <a:pathLst>
              <a:path h="1007744">
                <a:moveTo>
                  <a:pt x="0" y="0"/>
                </a:moveTo>
                <a:lnTo>
                  <a:pt x="0" y="10073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54881" y="1856231"/>
            <a:ext cx="1181100" cy="43180"/>
          </a:xfrm>
          <a:custGeom>
            <a:avLst/>
            <a:gdLst/>
            <a:ahLst/>
            <a:cxnLst/>
            <a:rect l="l" t="t" r="r" b="b"/>
            <a:pathLst>
              <a:path w="1181100" h="43180">
                <a:moveTo>
                  <a:pt x="1138174" y="0"/>
                </a:moveTo>
                <a:lnTo>
                  <a:pt x="1138174" y="42926"/>
                </a:lnTo>
                <a:lnTo>
                  <a:pt x="1166876" y="28575"/>
                </a:lnTo>
                <a:lnTo>
                  <a:pt x="1145413" y="28575"/>
                </a:lnTo>
                <a:lnTo>
                  <a:pt x="1145413" y="14351"/>
                </a:lnTo>
                <a:lnTo>
                  <a:pt x="1166876" y="14351"/>
                </a:lnTo>
                <a:lnTo>
                  <a:pt x="1138174" y="0"/>
                </a:lnTo>
                <a:close/>
              </a:path>
              <a:path w="1181100" h="43180">
                <a:moveTo>
                  <a:pt x="1138174" y="14351"/>
                </a:moveTo>
                <a:lnTo>
                  <a:pt x="0" y="14351"/>
                </a:lnTo>
                <a:lnTo>
                  <a:pt x="0" y="28575"/>
                </a:lnTo>
                <a:lnTo>
                  <a:pt x="1138174" y="28575"/>
                </a:lnTo>
                <a:lnTo>
                  <a:pt x="1138174" y="14351"/>
                </a:lnTo>
                <a:close/>
              </a:path>
              <a:path w="1181100" h="43180">
                <a:moveTo>
                  <a:pt x="1166876" y="14351"/>
                </a:moveTo>
                <a:lnTo>
                  <a:pt x="1145413" y="14351"/>
                </a:lnTo>
                <a:lnTo>
                  <a:pt x="1145413" y="28575"/>
                </a:lnTo>
                <a:lnTo>
                  <a:pt x="1166876" y="28575"/>
                </a:lnTo>
                <a:lnTo>
                  <a:pt x="1181100" y="21462"/>
                </a:lnTo>
                <a:lnTo>
                  <a:pt x="1166876" y="14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442841" y="1623440"/>
            <a:ext cx="8521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使</a:t>
            </a:r>
            <a:r>
              <a:rPr sz="1000" spc="-5" dirty="0">
                <a:latin typeface="黑体"/>
                <a:cs typeface="黑体"/>
              </a:rPr>
              <a:t>用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6</a:t>
            </a:r>
            <a:r>
              <a:rPr sz="1000" spc="-5" dirty="0">
                <a:latin typeface="黑体"/>
                <a:cs typeface="黑体"/>
              </a:rPr>
              <a:t>个卷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73674" y="713054"/>
            <a:ext cx="788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/>
                <a:cs typeface="黑体"/>
              </a:rPr>
              <a:t>特</a:t>
            </a:r>
            <a:r>
              <a:rPr sz="1000" spc="-5" dirty="0">
                <a:latin typeface="黑体"/>
                <a:cs typeface="黑体"/>
              </a:rPr>
              <a:t>征</a:t>
            </a:r>
            <a:r>
              <a:rPr sz="1000" spc="-10" dirty="0">
                <a:latin typeface="黑体"/>
                <a:cs typeface="黑体"/>
              </a:rPr>
              <a:t>响</a:t>
            </a:r>
            <a:r>
              <a:rPr sz="1000" dirty="0">
                <a:latin typeface="黑体"/>
                <a:cs typeface="黑体"/>
              </a:rPr>
              <a:t>应</a:t>
            </a:r>
            <a:r>
              <a:rPr sz="1000" spc="-5" dirty="0">
                <a:latin typeface="黑体"/>
                <a:cs typeface="黑体"/>
              </a:rPr>
              <a:t>图组</a:t>
            </a:r>
            <a:endParaRPr sz="10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黑体"/>
                <a:cs typeface="黑体"/>
              </a:rPr>
              <a:t>28x28x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6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887216" y="713054"/>
            <a:ext cx="533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/>
              <a:t>彩</a:t>
            </a:r>
            <a:r>
              <a:rPr sz="1000" spc="-5" dirty="0"/>
              <a:t>色</a:t>
            </a:r>
            <a:r>
              <a:rPr sz="1000" spc="-10" dirty="0"/>
              <a:t>图</a:t>
            </a:r>
            <a:r>
              <a:rPr sz="1000" spc="-5" dirty="0"/>
              <a:t>像</a:t>
            </a:r>
            <a:endParaRPr sz="1000"/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1000" dirty="0"/>
              <a:t>32x32x3</a:t>
            </a: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2749544" y="255003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74563" y="172592"/>
            <a:ext cx="77216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/>
                <a:cs typeface="黑体"/>
              </a:rPr>
              <a:t>卷积层</a:t>
            </a:r>
            <a:endParaRPr sz="1950">
              <a:latin typeface="黑体"/>
              <a:cs typeface="黑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55028" y="873632"/>
            <a:ext cx="2112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56845" algn="l"/>
              </a:tabLst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特征响应图组深度等于卷积核的个数；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10480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C8DA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33340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5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5" y="947038"/>
                </a:lnTo>
                <a:lnTo>
                  <a:pt x="432815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87620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5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5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7620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5" y="0"/>
                </a:lnTo>
                <a:lnTo>
                  <a:pt x="478535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7620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33340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515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08016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622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1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62296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1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622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1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0801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77484" y="2305447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3482" y="151538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6135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4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84216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384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1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8496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1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384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1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8421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3755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FF1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60416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AC1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146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FF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14696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146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6041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1375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D9D2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36616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ACA7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908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DFD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90896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908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3661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98995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BE4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12816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8B7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670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BEA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67096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670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01281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57651" y="234723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9642" y="1310529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2040" y="254319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20720" y="1536335"/>
            <a:ext cx="106680" cy="1007744"/>
          </a:xfrm>
          <a:custGeom>
            <a:avLst/>
            <a:gdLst/>
            <a:ahLst/>
            <a:cxnLst/>
            <a:rect l="l" t="t" r="r" b="b"/>
            <a:pathLst>
              <a:path w="106680" h="1007744">
                <a:moveTo>
                  <a:pt x="0" y="0"/>
                </a:moveTo>
                <a:lnTo>
                  <a:pt x="106680" y="0"/>
                </a:lnTo>
                <a:lnTo>
                  <a:pt x="106680" y="1007364"/>
                </a:lnTo>
                <a:lnTo>
                  <a:pt x="0" y="1007364"/>
                </a:lnTo>
                <a:lnTo>
                  <a:pt x="0" y="0"/>
                </a:lnTo>
                <a:close/>
              </a:path>
            </a:pathLst>
          </a:custGeom>
          <a:solidFill>
            <a:srgbClr val="F4CCCC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7400" y="1164479"/>
            <a:ext cx="372110" cy="1379220"/>
          </a:xfrm>
          <a:custGeom>
            <a:avLst/>
            <a:gdLst/>
            <a:ahLst/>
            <a:cxnLst/>
            <a:rect l="l" t="t" r="r" b="b"/>
            <a:pathLst>
              <a:path w="372109" h="1379220">
                <a:moveTo>
                  <a:pt x="371856" y="0"/>
                </a:moveTo>
                <a:lnTo>
                  <a:pt x="0" y="371728"/>
                </a:lnTo>
                <a:lnTo>
                  <a:pt x="0" y="1379220"/>
                </a:lnTo>
                <a:lnTo>
                  <a:pt x="371856" y="1007490"/>
                </a:lnTo>
                <a:lnTo>
                  <a:pt x="371856" y="0"/>
                </a:lnTo>
                <a:close/>
              </a:path>
            </a:pathLst>
          </a:custGeom>
          <a:solidFill>
            <a:srgbClr val="C3A2A2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0720" y="1164479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478536" y="0"/>
                </a:moveTo>
                <a:lnTo>
                  <a:pt x="371856" y="0"/>
                </a:lnTo>
                <a:lnTo>
                  <a:pt x="0" y="371855"/>
                </a:lnTo>
                <a:lnTo>
                  <a:pt x="106680" y="371855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0720" y="116447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90" h="1379220">
                <a:moveTo>
                  <a:pt x="0" y="371728"/>
                </a:moveTo>
                <a:lnTo>
                  <a:pt x="371856" y="0"/>
                </a:lnTo>
                <a:lnTo>
                  <a:pt x="478536" y="0"/>
                </a:lnTo>
                <a:lnTo>
                  <a:pt x="478536" y="1007490"/>
                </a:lnTo>
                <a:lnTo>
                  <a:pt x="106680" y="1379220"/>
                </a:lnTo>
                <a:lnTo>
                  <a:pt x="0" y="1379220"/>
                </a:lnTo>
                <a:lnTo>
                  <a:pt x="0" y="3717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0720" y="1164479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0" y="371855"/>
                </a:moveTo>
                <a:lnTo>
                  <a:pt x="106680" y="37185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27400" y="1536335"/>
            <a:ext cx="0" cy="1007744"/>
          </a:xfrm>
          <a:custGeom>
            <a:avLst/>
            <a:gdLst/>
            <a:ahLst/>
            <a:cxnLst/>
            <a:rect l="l" t="t" r="r" b="b"/>
            <a:pathLst>
              <a:path h="1007744">
                <a:moveTo>
                  <a:pt x="0" y="0"/>
                </a:moveTo>
                <a:lnTo>
                  <a:pt x="0" y="100736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54882" y="1834150"/>
            <a:ext cx="1181100" cy="43180"/>
          </a:xfrm>
          <a:custGeom>
            <a:avLst/>
            <a:gdLst/>
            <a:ahLst/>
            <a:cxnLst/>
            <a:rect l="l" t="t" r="r" b="b"/>
            <a:pathLst>
              <a:path w="1181100" h="43180">
                <a:moveTo>
                  <a:pt x="1138174" y="0"/>
                </a:moveTo>
                <a:lnTo>
                  <a:pt x="1138174" y="42925"/>
                </a:lnTo>
                <a:lnTo>
                  <a:pt x="1166875" y="28575"/>
                </a:lnTo>
                <a:lnTo>
                  <a:pt x="1145413" y="28575"/>
                </a:lnTo>
                <a:lnTo>
                  <a:pt x="1145413" y="14350"/>
                </a:lnTo>
                <a:lnTo>
                  <a:pt x="1166876" y="14350"/>
                </a:lnTo>
                <a:lnTo>
                  <a:pt x="1138174" y="0"/>
                </a:lnTo>
                <a:close/>
              </a:path>
              <a:path w="1181100" h="43180">
                <a:moveTo>
                  <a:pt x="1138174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1138174" y="28575"/>
                </a:lnTo>
                <a:lnTo>
                  <a:pt x="1138174" y="14350"/>
                </a:lnTo>
                <a:close/>
              </a:path>
              <a:path w="1181100" h="43180">
                <a:moveTo>
                  <a:pt x="1166876" y="14350"/>
                </a:moveTo>
                <a:lnTo>
                  <a:pt x="1145413" y="14350"/>
                </a:lnTo>
                <a:lnTo>
                  <a:pt x="1145413" y="28575"/>
                </a:lnTo>
                <a:lnTo>
                  <a:pt x="1166875" y="28575"/>
                </a:lnTo>
                <a:lnTo>
                  <a:pt x="1181100" y="21462"/>
                </a:lnTo>
                <a:lnTo>
                  <a:pt x="1166876" y="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442842" y="1600724"/>
            <a:ext cx="8521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使</a:t>
            </a:r>
            <a:r>
              <a:rPr sz="1000" spc="-5" dirty="0">
                <a:latin typeface="黑体"/>
                <a:cs typeface="黑体"/>
              </a:rPr>
              <a:t>用</a:t>
            </a:r>
            <a:r>
              <a:rPr sz="1000" dirty="0">
                <a:latin typeface="黑体"/>
                <a:cs typeface="黑体"/>
              </a:rPr>
              <a:t>6</a:t>
            </a:r>
            <a:r>
              <a:rPr sz="1000" spc="-5" dirty="0">
                <a:latin typeface="黑体"/>
                <a:cs typeface="黑体"/>
              </a:rPr>
              <a:t>个卷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73675" y="690642"/>
            <a:ext cx="787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征响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应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图组</a:t>
            </a:r>
            <a:endParaRPr sz="10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latin typeface="黑体"/>
                <a:cs typeface="黑体"/>
              </a:rPr>
              <a:t>28x28x6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887217" y="690642"/>
            <a:ext cx="532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/>
              <a:t>彩</a:t>
            </a:r>
            <a:r>
              <a:rPr sz="1000" spc="-5" dirty="0"/>
              <a:t>色图像</a:t>
            </a:r>
            <a:endParaRPr sz="1000"/>
          </a:p>
          <a:p>
            <a:pPr marL="44450">
              <a:lnSpc>
                <a:spcPct val="100000"/>
              </a:lnSpc>
            </a:pPr>
            <a:r>
              <a:rPr sz="1000" dirty="0"/>
              <a:t>32x32x3</a:t>
            </a: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2749545" y="252706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74564" y="149622"/>
            <a:ext cx="77216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/>
                <a:cs typeface="黑体"/>
              </a:rPr>
              <a:t>卷积层</a:t>
            </a:r>
            <a:endParaRPr sz="1950">
              <a:latin typeface="黑体"/>
              <a:cs typeface="黑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55029" y="850662"/>
            <a:ext cx="2112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56845" algn="l"/>
              </a:tabLst>
            </a:pPr>
            <a:r>
              <a:rPr sz="900" dirty="0">
                <a:latin typeface="黑体"/>
                <a:cs typeface="黑体"/>
              </a:rPr>
              <a:t>特征响应图组深度等于卷积核的个数；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10480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C8DA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33339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5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5" y="947038"/>
                </a:lnTo>
                <a:lnTo>
                  <a:pt x="432815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87619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5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5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7619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5" y="0"/>
                </a:lnTo>
                <a:lnTo>
                  <a:pt x="478535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7619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33339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51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080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622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1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622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1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622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1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080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77484" y="2328417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3482" y="1538096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613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4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842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384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1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84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1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384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1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842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375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FF1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604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AC1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146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FF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146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146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604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137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D9D2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366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ACA7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908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DFD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908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908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366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9899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BE4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128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8B7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670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BEA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670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670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0128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57650" y="237020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9641" y="1333245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2040" y="256590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20719" y="1558416"/>
            <a:ext cx="106680" cy="1007744"/>
          </a:xfrm>
          <a:custGeom>
            <a:avLst/>
            <a:gdLst/>
            <a:ahLst/>
            <a:cxnLst/>
            <a:rect l="l" t="t" r="r" b="b"/>
            <a:pathLst>
              <a:path w="106680" h="1007744">
                <a:moveTo>
                  <a:pt x="0" y="0"/>
                </a:moveTo>
                <a:lnTo>
                  <a:pt x="106680" y="0"/>
                </a:lnTo>
                <a:lnTo>
                  <a:pt x="106680" y="1007363"/>
                </a:lnTo>
                <a:lnTo>
                  <a:pt x="0" y="1007363"/>
                </a:lnTo>
                <a:lnTo>
                  <a:pt x="0" y="0"/>
                </a:lnTo>
                <a:close/>
              </a:path>
            </a:pathLst>
          </a:custGeom>
          <a:solidFill>
            <a:srgbClr val="F4CCCC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7399" y="1186560"/>
            <a:ext cx="372110" cy="1379220"/>
          </a:xfrm>
          <a:custGeom>
            <a:avLst/>
            <a:gdLst/>
            <a:ahLst/>
            <a:cxnLst/>
            <a:rect l="l" t="t" r="r" b="b"/>
            <a:pathLst>
              <a:path w="372109" h="1379220">
                <a:moveTo>
                  <a:pt x="371856" y="0"/>
                </a:moveTo>
                <a:lnTo>
                  <a:pt x="0" y="371729"/>
                </a:lnTo>
                <a:lnTo>
                  <a:pt x="0" y="1379220"/>
                </a:lnTo>
                <a:lnTo>
                  <a:pt x="371856" y="1007491"/>
                </a:lnTo>
                <a:lnTo>
                  <a:pt x="371856" y="0"/>
                </a:lnTo>
                <a:close/>
              </a:path>
            </a:pathLst>
          </a:custGeom>
          <a:solidFill>
            <a:srgbClr val="C3A2A2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0719" y="1186560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478536" y="0"/>
                </a:moveTo>
                <a:lnTo>
                  <a:pt x="371856" y="0"/>
                </a:lnTo>
                <a:lnTo>
                  <a:pt x="0" y="371856"/>
                </a:lnTo>
                <a:lnTo>
                  <a:pt x="106680" y="371856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0719" y="118656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90" h="1379220">
                <a:moveTo>
                  <a:pt x="0" y="371729"/>
                </a:moveTo>
                <a:lnTo>
                  <a:pt x="371856" y="0"/>
                </a:lnTo>
                <a:lnTo>
                  <a:pt x="478536" y="0"/>
                </a:lnTo>
                <a:lnTo>
                  <a:pt x="478536" y="1007491"/>
                </a:lnTo>
                <a:lnTo>
                  <a:pt x="106680" y="1379220"/>
                </a:lnTo>
                <a:lnTo>
                  <a:pt x="0" y="1379220"/>
                </a:lnTo>
                <a:lnTo>
                  <a:pt x="0" y="37172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0719" y="1186560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0" y="371856"/>
                </a:moveTo>
                <a:lnTo>
                  <a:pt x="106680" y="371856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27399" y="1558416"/>
            <a:ext cx="0" cy="1007744"/>
          </a:xfrm>
          <a:custGeom>
            <a:avLst/>
            <a:gdLst/>
            <a:ahLst/>
            <a:cxnLst/>
            <a:rect l="l" t="t" r="r" b="b"/>
            <a:pathLst>
              <a:path h="1007744">
                <a:moveTo>
                  <a:pt x="0" y="0"/>
                </a:moveTo>
                <a:lnTo>
                  <a:pt x="0" y="10073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54881" y="1856231"/>
            <a:ext cx="1181100" cy="43180"/>
          </a:xfrm>
          <a:custGeom>
            <a:avLst/>
            <a:gdLst/>
            <a:ahLst/>
            <a:cxnLst/>
            <a:rect l="l" t="t" r="r" b="b"/>
            <a:pathLst>
              <a:path w="1181100" h="43180">
                <a:moveTo>
                  <a:pt x="1138174" y="0"/>
                </a:moveTo>
                <a:lnTo>
                  <a:pt x="1138174" y="42926"/>
                </a:lnTo>
                <a:lnTo>
                  <a:pt x="1166876" y="28575"/>
                </a:lnTo>
                <a:lnTo>
                  <a:pt x="1145413" y="28575"/>
                </a:lnTo>
                <a:lnTo>
                  <a:pt x="1145413" y="14351"/>
                </a:lnTo>
                <a:lnTo>
                  <a:pt x="1166876" y="14351"/>
                </a:lnTo>
                <a:lnTo>
                  <a:pt x="1138174" y="0"/>
                </a:lnTo>
                <a:close/>
              </a:path>
              <a:path w="1181100" h="43180">
                <a:moveTo>
                  <a:pt x="1138174" y="14351"/>
                </a:moveTo>
                <a:lnTo>
                  <a:pt x="0" y="14351"/>
                </a:lnTo>
                <a:lnTo>
                  <a:pt x="0" y="28575"/>
                </a:lnTo>
                <a:lnTo>
                  <a:pt x="1138174" y="28575"/>
                </a:lnTo>
                <a:lnTo>
                  <a:pt x="1138174" y="14351"/>
                </a:lnTo>
                <a:close/>
              </a:path>
              <a:path w="1181100" h="43180">
                <a:moveTo>
                  <a:pt x="1166876" y="14351"/>
                </a:moveTo>
                <a:lnTo>
                  <a:pt x="1145413" y="14351"/>
                </a:lnTo>
                <a:lnTo>
                  <a:pt x="1145413" y="28575"/>
                </a:lnTo>
                <a:lnTo>
                  <a:pt x="1166876" y="28575"/>
                </a:lnTo>
                <a:lnTo>
                  <a:pt x="1181100" y="21462"/>
                </a:lnTo>
                <a:lnTo>
                  <a:pt x="1166876" y="14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442841" y="1623440"/>
            <a:ext cx="8521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使</a:t>
            </a:r>
            <a:r>
              <a:rPr sz="1000" spc="-5" dirty="0">
                <a:latin typeface="黑体"/>
                <a:cs typeface="黑体"/>
              </a:rPr>
              <a:t>用</a:t>
            </a:r>
            <a:r>
              <a:rPr sz="1000" dirty="0">
                <a:latin typeface="黑体"/>
                <a:cs typeface="黑体"/>
              </a:rPr>
              <a:t>6</a:t>
            </a:r>
            <a:r>
              <a:rPr sz="1000" spc="-5" dirty="0">
                <a:latin typeface="黑体"/>
                <a:cs typeface="黑体"/>
              </a:rPr>
              <a:t>个卷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73674" y="713054"/>
            <a:ext cx="788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/>
                <a:cs typeface="黑体"/>
              </a:rPr>
              <a:t>特</a:t>
            </a:r>
            <a:r>
              <a:rPr sz="1000" spc="-5" dirty="0">
                <a:latin typeface="黑体"/>
                <a:cs typeface="黑体"/>
              </a:rPr>
              <a:t>征</a:t>
            </a:r>
            <a:r>
              <a:rPr sz="1000" spc="-10" dirty="0">
                <a:latin typeface="黑体"/>
                <a:cs typeface="黑体"/>
              </a:rPr>
              <a:t>响</a:t>
            </a:r>
            <a:r>
              <a:rPr sz="1000" dirty="0">
                <a:latin typeface="黑体"/>
                <a:cs typeface="黑体"/>
              </a:rPr>
              <a:t>应</a:t>
            </a:r>
            <a:r>
              <a:rPr sz="1000" spc="-5" dirty="0">
                <a:latin typeface="黑体"/>
                <a:cs typeface="黑体"/>
              </a:rPr>
              <a:t>图组</a:t>
            </a:r>
            <a:endParaRPr sz="10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黑体"/>
                <a:cs typeface="黑体"/>
              </a:rPr>
              <a:t>28x28x6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887216" y="713054"/>
            <a:ext cx="533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/>
              <a:t>彩</a:t>
            </a:r>
            <a:r>
              <a:rPr sz="1000" spc="-5" dirty="0"/>
              <a:t>色</a:t>
            </a:r>
            <a:r>
              <a:rPr sz="1000" spc="-10" dirty="0"/>
              <a:t>图</a:t>
            </a:r>
            <a:r>
              <a:rPr sz="1000" spc="-5" dirty="0"/>
              <a:t>像</a:t>
            </a:r>
            <a:endParaRPr sz="1000"/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1000" dirty="0"/>
              <a:t>32x32x3</a:t>
            </a: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2749544" y="255003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74563" y="172592"/>
            <a:ext cx="77216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/>
                <a:cs typeface="黑体"/>
              </a:rPr>
              <a:t>卷积层</a:t>
            </a:r>
            <a:endParaRPr sz="1950">
              <a:latin typeface="黑体"/>
              <a:cs typeface="黑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55028" y="873632"/>
            <a:ext cx="2112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56845" algn="l"/>
              </a:tabLst>
            </a:pPr>
            <a:r>
              <a:rPr sz="900" dirty="0">
                <a:latin typeface="黑体"/>
                <a:cs typeface="黑体"/>
              </a:rPr>
              <a:t>特征响应图组深度等于卷积核的个数；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55028" y="1147952"/>
            <a:ext cx="19983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56845" algn="l"/>
              </a:tabLst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不同的特征响应图反映了输入图像对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098666" y="1422272"/>
            <a:ext cx="1282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不同卷积核的响应结果；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10480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C8DA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33340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5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5" y="947038"/>
                </a:lnTo>
                <a:lnTo>
                  <a:pt x="432815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87620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5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5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7620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5" y="0"/>
                </a:lnTo>
                <a:lnTo>
                  <a:pt x="478535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7620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33340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515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08016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622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1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62296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1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622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1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0801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77484" y="2305447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3482" y="151538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6135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4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84216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384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1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8496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1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384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1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8421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3755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FF1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60416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AC1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146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FF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14696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146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6041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1375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D9D2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36616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ACA7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908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DFD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90896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908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3661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98995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BE4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12816" y="1133999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8B7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670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BEA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67096" y="113399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67096" y="1133999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012816" y="1566815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57651" y="234723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9642" y="1310529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2040" y="254319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20720" y="1536335"/>
            <a:ext cx="106680" cy="1007744"/>
          </a:xfrm>
          <a:custGeom>
            <a:avLst/>
            <a:gdLst/>
            <a:ahLst/>
            <a:cxnLst/>
            <a:rect l="l" t="t" r="r" b="b"/>
            <a:pathLst>
              <a:path w="106680" h="1007744">
                <a:moveTo>
                  <a:pt x="0" y="0"/>
                </a:moveTo>
                <a:lnTo>
                  <a:pt x="106680" y="0"/>
                </a:lnTo>
                <a:lnTo>
                  <a:pt x="106680" y="1007364"/>
                </a:lnTo>
                <a:lnTo>
                  <a:pt x="0" y="1007364"/>
                </a:lnTo>
                <a:lnTo>
                  <a:pt x="0" y="0"/>
                </a:lnTo>
                <a:close/>
              </a:path>
            </a:pathLst>
          </a:custGeom>
          <a:solidFill>
            <a:srgbClr val="F4CCCC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7400" y="1164479"/>
            <a:ext cx="372110" cy="1379220"/>
          </a:xfrm>
          <a:custGeom>
            <a:avLst/>
            <a:gdLst/>
            <a:ahLst/>
            <a:cxnLst/>
            <a:rect l="l" t="t" r="r" b="b"/>
            <a:pathLst>
              <a:path w="372109" h="1379220">
                <a:moveTo>
                  <a:pt x="371856" y="0"/>
                </a:moveTo>
                <a:lnTo>
                  <a:pt x="0" y="371728"/>
                </a:lnTo>
                <a:lnTo>
                  <a:pt x="0" y="1379220"/>
                </a:lnTo>
                <a:lnTo>
                  <a:pt x="371856" y="1007490"/>
                </a:lnTo>
                <a:lnTo>
                  <a:pt x="371856" y="0"/>
                </a:lnTo>
                <a:close/>
              </a:path>
            </a:pathLst>
          </a:custGeom>
          <a:solidFill>
            <a:srgbClr val="C3A2A2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0720" y="1164479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478536" y="0"/>
                </a:moveTo>
                <a:lnTo>
                  <a:pt x="371856" y="0"/>
                </a:lnTo>
                <a:lnTo>
                  <a:pt x="0" y="371855"/>
                </a:lnTo>
                <a:lnTo>
                  <a:pt x="106680" y="371855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0720" y="1164479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90" h="1379220">
                <a:moveTo>
                  <a:pt x="0" y="371728"/>
                </a:moveTo>
                <a:lnTo>
                  <a:pt x="371856" y="0"/>
                </a:lnTo>
                <a:lnTo>
                  <a:pt x="478536" y="0"/>
                </a:lnTo>
                <a:lnTo>
                  <a:pt x="478536" y="1007490"/>
                </a:lnTo>
                <a:lnTo>
                  <a:pt x="106680" y="1379220"/>
                </a:lnTo>
                <a:lnTo>
                  <a:pt x="0" y="1379220"/>
                </a:lnTo>
                <a:lnTo>
                  <a:pt x="0" y="3717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0720" y="1164479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0" y="371855"/>
                </a:moveTo>
                <a:lnTo>
                  <a:pt x="106680" y="37185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27400" y="1536335"/>
            <a:ext cx="0" cy="1007744"/>
          </a:xfrm>
          <a:custGeom>
            <a:avLst/>
            <a:gdLst/>
            <a:ahLst/>
            <a:cxnLst/>
            <a:rect l="l" t="t" r="r" b="b"/>
            <a:pathLst>
              <a:path h="1007744">
                <a:moveTo>
                  <a:pt x="0" y="0"/>
                </a:moveTo>
                <a:lnTo>
                  <a:pt x="0" y="100736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54882" y="1834150"/>
            <a:ext cx="1181100" cy="43180"/>
          </a:xfrm>
          <a:custGeom>
            <a:avLst/>
            <a:gdLst/>
            <a:ahLst/>
            <a:cxnLst/>
            <a:rect l="l" t="t" r="r" b="b"/>
            <a:pathLst>
              <a:path w="1181100" h="43180">
                <a:moveTo>
                  <a:pt x="1138174" y="0"/>
                </a:moveTo>
                <a:lnTo>
                  <a:pt x="1138174" y="42925"/>
                </a:lnTo>
                <a:lnTo>
                  <a:pt x="1166875" y="28575"/>
                </a:lnTo>
                <a:lnTo>
                  <a:pt x="1145413" y="28575"/>
                </a:lnTo>
                <a:lnTo>
                  <a:pt x="1145413" y="14350"/>
                </a:lnTo>
                <a:lnTo>
                  <a:pt x="1166876" y="14350"/>
                </a:lnTo>
                <a:lnTo>
                  <a:pt x="1138174" y="0"/>
                </a:lnTo>
                <a:close/>
              </a:path>
              <a:path w="1181100" h="43180">
                <a:moveTo>
                  <a:pt x="1138174" y="14350"/>
                </a:moveTo>
                <a:lnTo>
                  <a:pt x="0" y="14350"/>
                </a:lnTo>
                <a:lnTo>
                  <a:pt x="0" y="28575"/>
                </a:lnTo>
                <a:lnTo>
                  <a:pt x="1138174" y="28575"/>
                </a:lnTo>
                <a:lnTo>
                  <a:pt x="1138174" y="14350"/>
                </a:lnTo>
                <a:close/>
              </a:path>
              <a:path w="1181100" h="43180">
                <a:moveTo>
                  <a:pt x="1166876" y="14350"/>
                </a:moveTo>
                <a:lnTo>
                  <a:pt x="1145413" y="14350"/>
                </a:lnTo>
                <a:lnTo>
                  <a:pt x="1145413" y="28575"/>
                </a:lnTo>
                <a:lnTo>
                  <a:pt x="1166875" y="28575"/>
                </a:lnTo>
                <a:lnTo>
                  <a:pt x="1181100" y="21462"/>
                </a:lnTo>
                <a:lnTo>
                  <a:pt x="1166876" y="14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442842" y="1600724"/>
            <a:ext cx="8521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使</a:t>
            </a:r>
            <a:r>
              <a:rPr sz="1000" spc="-5" dirty="0">
                <a:latin typeface="黑体"/>
                <a:cs typeface="黑体"/>
              </a:rPr>
              <a:t>用</a:t>
            </a:r>
            <a:r>
              <a:rPr sz="1000" dirty="0">
                <a:latin typeface="黑体"/>
                <a:cs typeface="黑体"/>
              </a:rPr>
              <a:t>6</a:t>
            </a:r>
            <a:r>
              <a:rPr sz="1000" spc="-5" dirty="0">
                <a:latin typeface="黑体"/>
                <a:cs typeface="黑体"/>
              </a:rPr>
              <a:t>个卷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73675" y="690642"/>
            <a:ext cx="787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特</a:t>
            </a:r>
            <a:r>
              <a:rPr sz="1000" spc="-5" dirty="0">
                <a:latin typeface="黑体"/>
                <a:cs typeface="黑体"/>
              </a:rPr>
              <a:t>征响</a:t>
            </a:r>
            <a:r>
              <a:rPr sz="1000" spc="5" dirty="0">
                <a:latin typeface="黑体"/>
                <a:cs typeface="黑体"/>
              </a:rPr>
              <a:t>应</a:t>
            </a:r>
            <a:r>
              <a:rPr sz="1000" spc="-5" dirty="0">
                <a:latin typeface="黑体"/>
                <a:cs typeface="黑体"/>
              </a:rPr>
              <a:t>图组</a:t>
            </a:r>
            <a:endParaRPr sz="10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latin typeface="黑体"/>
                <a:cs typeface="黑体"/>
              </a:rPr>
              <a:t>28x28x6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887217" y="690642"/>
            <a:ext cx="5327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/>
              <a:t>彩</a:t>
            </a:r>
            <a:r>
              <a:rPr sz="1000" spc="-5" dirty="0"/>
              <a:t>色图像</a:t>
            </a:r>
            <a:endParaRPr sz="1000"/>
          </a:p>
          <a:p>
            <a:pPr marL="44450">
              <a:lnSpc>
                <a:spcPct val="100000"/>
              </a:lnSpc>
            </a:pPr>
            <a:r>
              <a:rPr sz="1000" dirty="0"/>
              <a:t>32x32x3</a:t>
            </a: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2749545" y="252706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74564" y="149622"/>
            <a:ext cx="77216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/>
                <a:cs typeface="黑体"/>
              </a:rPr>
              <a:t>卷积层</a:t>
            </a:r>
            <a:endParaRPr sz="1950">
              <a:latin typeface="黑体"/>
              <a:cs typeface="黑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55029" y="850662"/>
            <a:ext cx="2112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56845" algn="l"/>
              </a:tabLst>
            </a:pPr>
            <a:r>
              <a:rPr sz="900" dirty="0">
                <a:latin typeface="黑体"/>
                <a:cs typeface="黑体"/>
              </a:rPr>
              <a:t>特征响应图组深度等于卷积核的个数；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55029" y="1125236"/>
            <a:ext cx="19983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56845" algn="l"/>
              </a:tabLst>
            </a:pPr>
            <a:r>
              <a:rPr sz="900" dirty="0">
                <a:latin typeface="黑体"/>
                <a:cs typeface="黑体"/>
              </a:rPr>
              <a:t>不同的特征响应图反映了输入图像对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098666" y="1399556"/>
            <a:ext cx="1282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不同卷积核的响应结果；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955029" y="1673876"/>
            <a:ext cx="19983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56845" algn="l"/>
              </a:tabLst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同一特征响应图上不同位置的值表示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098666" y="1948196"/>
            <a:ext cx="1854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输入图像上不同位置对同一卷积核的</a:t>
            </a:r>
            <a:endParaRPr sz="900">
              <a:latin typeface="黑体"/>
              <a:cs typeface="黑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98666" y="2222516"/>
            <a:ext cx="596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响应结果。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10480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C8DA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33339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5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5" y="947038"/>
                </a:lnTo>
                <a:lnTo>
                  <a:pt x="432815" y="0"/>
                </a:lnTo>
                <a:close/>
              </a:path>
            </a:pathLst>
          </a:custGeom>
          <a:solidFill>
            <a:srgbClr val="9FA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87619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5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5" y="0"/>
                </a:lnTo>
                <a:close/>
              </a:path>
            </a:pathLst>
          </a:custGeom>
          <a:solidFill>
            <a:srgbClr val="D2E0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7619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5" y="0"/>
                </a:lnTo>
                <a:lnTo>
                  <a:pt x="478535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7619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33339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51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2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080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622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1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622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1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622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1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080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77484" y="2328417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3482" y="1538096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613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4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842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69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3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384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1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84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1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384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1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842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375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FF1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604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AC1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146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FF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146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146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604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137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D9D2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366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ACA7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908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DFDB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908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908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366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98995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45719">
            <a:solidFill>
              <a:srgbClr val="FBE4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12815" y="1156080"/>
            <a:ext cx="433070" cy="1379220"/>
          </a:xfrm>
          <a:custGeom>
            <a:avLst/>
            <a:gdLst/>
            <a:ahLst/>
            <a:cxnLst/>
            <a:rect l="l" t="t" r="r" b="b"/>
            <a:pathLst>
              <a:path w="433070" h="1379220">
                <a:moveTo>
                  <a:pt x="432816" y="0"/>
                </a:moveTo>
                <a:lnTo>
                  <a:pt x="0" y="432180"/>
                </a:lnTo>
                <a:lnTo>
                  <a:pt x="0" y="1379219"/>
                </a:lnTo>
                <a:lnTo>
                  <a:pt x="432816" y="947038"/>
                </a:lnTo>
                <a:lnTo>
                  <a:pt x="432816" y="0"/>
                </a:lnTo>
                <a:close/>
              </a:path>
            </a:pathLst>
          </a:custGeom>
          <a:solidFill>
            <a:srgbClr val="C8B7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670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478536" y="0"/>
                </a:moveTo>
                <a:lnTo>
                  <a:pt x="432434" y="0"/>
                </a:lnTo>
                <a:lnTo>
                  <a:pt x="0" y="432815"/>
                </a:lnTo>
                <a:lnTo>
                  <a:pt x="46100" y="432815"/>
                </a:lnTo>
                <a:lnTo>
                  <a:pt x="478536" y="0"/>
                </a:lnTo>
                <a:close/>
              </a:path>
            </a:pathLst>
          </a:custGeom>
          <a:solidFill>
            <a:srgbClr val="FBEA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67096" y="115608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89" h="1379220">
                <a:moveTo>
                  <a:pt x="0" y="432180"/>
                </a:moveTo>
                <a:lnTo>
                  <a:pt x="432434" y="0"/>
                </a:lnTo>
                <a:lnTo>
                  <a:pt x="478536" y="0"/>
                </a:lnTo>
                <a:lnTo>
                  <a:pt x="478536" y="947038"/>
                </a:lnTo>
                <a:lnTo>
                  <a:pt x="46100" y="1379219"/>
                </a:lnTo>
                <a:lnTo>
                  <a:pt x="0" y="1379219"/>
                </a:lnTo>
                <a:lnTo>
                  <a:pt x="0" y="432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67096" y="1156080"/>
            <a:ext cx="478790" cy="433070"/>
          </a:xfrm>
          <a:custGeom>
            <a:avLst/>
            <a:gdLst/>
            <a:ahLst/>
            <a:cxnLst/>
            <a:rect l="l" t="t" r="r" b="b"/>
            <a:pathLst>
              <a:path w="478789" h="433069">
                <a:moveTo>
                  <a:pt x="0" y="432815"/>
                </a:moveTo>
                <a:lnTo>
                  <a:pt x="46100" y="432815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012815" y="1588896"/>
            <a:ext cx="0" cy="946785"/>
          </a:xfrm>
          <a:custGeom>
            <a:avLst/>
            <a:gdLst/>
            <a:ahLst/>
            <a:cxnLst/>
            <a:rect l="l" t="t" r="r" b="b"/>
            <a:pathLst>
              <a:path h="946785">
                <a:moveTo>
                  <a:pt x="0" y="0"/>
                </a:moveTo>
                <a:lnTo>
                  <a:pt x="0" y="946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57650" y="237020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9641" y="1333245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2040" y="256590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20719" y="1558416"/>
            <a:ext cx="106680" cy="1007744"/>
          </a:xfrm>
          <a:custGeom>
            <a:avLst/>
            <a:gdLst/>
            <a:ahLst/>
            <a:cxnLst/>
            <a:rect l="l" t="t" r="r" b="b"/>
            <a:pathLst>
              <a:path w="106680" h="1007744">
                <a:moveTo>
                  <a:pt x="0" y="0"/>
                </a:moveTo>
                <a:lnTo>
                  <a:pt x="106680" y="0"/>
                </a:lnTo>
                <a:lnTo>
                  <a:pt x="106680" y="1007363"/>
                </a:lnTo>
                <a:lnTo>
                  <a:pt x="0" y="1007363"/>
                </a:lnTo>
                <a:lnTo>
                  <a:pt x="0" y="0"/>
                </a:lnTo>
                <a:close/>
              </a:path>
            </a:pathLst>
          </a:custGeom>
          <a:solidFill>
            <a:srgbClr val="F4CCCC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27399" y="1186560"/>
            <a:ext cx="372110" cy="1379220"/>
          </a:xfrm>
          <a:custGeom>
            <a:avLst/>
            <a:gdLst/>
            <a:ahLst/>
            <a:cxnLst/>
            <a:rect l="l" t="t" r="r" b="b"/>
            <a:pathLst>
              <a:path w="372109" h="1379220">
                <a:moveTo>
                  <a:pt x="371856" y="0"/>
                </a:moveTo>
                <a:lnTo>
                  <a:pt x="0" y="371729"/>
                </a:lnTo>
                <a:lnTo>
                  <a:pt x="0" y="1379220"/>
                </a:lnTo>
                <a:lnTo>
                  <a:pt x="371856" y="1007491"/>
                </a:lnTo>
                <a:lnTo>
                  <a:pt x="371856" y="0"/>
                </a:lnTo>
                <a:close/>
              </a:path>
            </a:pathLst>
          </a:custGeom>
          <a:solidFill>
            <a:srgbClr val="C3A2A2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0719" y="1186560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478536" y="0"/>
                </a:moveTo>
                <a:lnTo>
                  <a:pt x="371856" y="0"/>
                </a:lnTo>
                <a:lnTo>
                  <a:pt x="0" y="371856"/>
                </a:lnTo>
                <a:lnTo>
                  <a:pt x="106680" y="371856"/>
                </a:lnTo>
                <a:lnTo>
                  <a:pt x="478536" y="0"/>
                </a:lnTo>
                <a:close/>
              </a:path>
            </a:pathLst>
          </a:custGeom>
          <a:solidFill>
            <a:srgbClr val="F6D5D5">
              <a:alpha val="5176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0719" y="1186560"/>
            <a:ext cx="478790" cy="1379220"/>
          </a:xfrm>
          <a:custGeom>
            <a:avLst/>
            <a:gdLst/>
            <a:ahLst/>
            <a:cxnLst/>
            <a:rect l="l" t="t" r="r" b="b"/>
            <a:pathLst>
              <a:path w="478790" h="1379220">
                <a:moveTo>
                  <a:pt x="0" y="371729"/>
                </a:moveTo>
                <a:lnTo>
                  <a:pt x="371856" y="0"/>
                </a:lnTo>
                <a:lnTo>
                  <a:pt x="478536" y="0"/>
                </a:lnTo>
                <a:lnTo>
                  <a:pt x="478536" y="1007491"/>
                </a:lnTo>
                <a:lnTo>
                  <a:pt x="106680" y="1379220"/>
                </a:lnTo>
                <a:lnTo>
                  <a:pt x="0" y="1379220"/>
                </a:lnTo>
                <a:lnTo>
                  <a:pt x="0" y="37172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0719" y="1186560"/>
            <a:ext cx="478790" cy="372110"/>
          </a:xfrm>
          <a:custGeom>
            <a:avLst/>
            <a:gdLst/>
            <a:ahLst/>
            <a:cxnLst/>
            <a:rect l="l" t="t" r="r" b="b"/>
            <a:pathLst>
              <a:path w="478790" h="372109">
                <a:moveTo>
                  <a:pt x="0" y="371856"/>
                </a:moveTo>
                <a:lnTo>
                  <a:pt x="106680" y="371856"/>
                </a:lnTo>
                <a:lnTo>
                  <a:pt x="47853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27399" y="1558416"/>
            <a:ext cx="0" cy="1007744"/>
          </a:xfrm>
          <a:custGeom>
            <a:avLst/>
            <a:gdLst/>
            <a:ahLst/>
            <a:cxnLst/>
            <a:rect l="l" t="t" r="r" b="b"/>
            <a:pathLst>
              <a:path h="1007744">
                <a:moveTo>
                  <a:pt x="0" y="0"/>
                </a:moveTo>
                <a:lnTo>
                  <a:pt x="0" y="10073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54881" y="1856231"/>
            <a:ext cx="1181100" cy="43180"/>
          </a:xfrm>
          <a:custGeom>
            <a:avLst/>
            <a:gdLst/>
            <a:ahLst/>
            <a:cxnLst/>
            <a:rect l="l" t="t" r="r" b="b"/>
            <a:pathLst>
              <a:path w="1181100" h="43180">
                <a:moveTo>
                  <a:pt x="1138174" y="0"/>
                </a:moveTo>
                <a:lnTo>
                  <a:pt x="1138174" y="42926"/>
                </a:lnTo>
                <a:lnTo>
                  <a:pt x="1166876" y="28575"/>
                </a:lnTo>
                <a:lnTo>
                  <a:pt x="1145413" y="28575"/>
                </a:lnTo>
                <a:lnTo>
                  <a:pt x="1145413" y="14351"/>
                </a:lnTo>
                <a:lnTo>
                  <a:pt x="1166876" y="14351"/>
                </a:lnTo>
                <a:lnTo>
                  <a:pt x="1138174" y="0"/>
                </a:lnTo>
                <a:close/>
              </a:path>
              <a:path w="1181100" h="43180">
                <a:moveTo>
                  <a:pt x="1138174" y="14351"/>
                </a:moveTo>
                <a:lnTo>
                  <a:pt x="0" y="14351"/>
                </a:lnTo>
                <a:lnTo>
                  <a:pt x="0" y="28575"/>
                </a:lnTo>
                <a:lnTo>
                  <a:pt x="1138174" y="28575"/>
                </a:lnTo>
                <a:lnTo>
                  <a:pt x="1138174" y="14351"/>
                </a:lnTo>
                <a:close/>
              </a:path>
              <a:path w="1181100" h="43180">
                <a:moveTo>
                  <a:pt x="1166876" y="14351"/>
                </a:moveTo>
                <a:lnTo>
                  <a:pt x="1145413" y="14351"/>
                </a:lnTo>
                <a:lnTo>
                  <a:pt x="1145413" y="28575"/>
                </a:lnTo>
                <a:lnTo>
                  <a:pt x="1166876" y="28575"/>
                </a:lnTo>
                <a:lnTo>
                  <a:pt x="1181100" y="21462"/>
                </a:lnTo>
                <a:lnTo>
                  <a:pt x="1166876" y="14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442841" y="1623440"/>
            <a:ext cx="8521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使</a:t>
            </a:r>
            <a:r>
              <a:rPr sz="1000" spc="-5" dirty="0">
                <a:latin typeface="黑体"/>
                <a:cs typeface="黑体"/>
              </a:rPr>
              <a:t>用</a:t>
            </a:r>
            <a:r>
              <a:rPr sz="1000" dirty="0">
                <a:latin typeface="黑体"/>
                <a:cs typeface="黑体"/>
              </a:rPr>
              <a:t>6</a:t>
            </a:r>
            <a:r>
              <a:rPr sz="1000" spc="-5" dirty="0">
                <a:latin typeface="黑体"/>
                <a:cs typeface="黑体"/>
              </a:rPr>
              <a:t>个卷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核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73674" y="713054"/>
            <a:ext cx="788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黑体"/>
                <a:cs typeface="黑体"/>
              </a:rPr>
              <a:t>特</a:t>
            </a:r>
            <a:r>
              <a:rPr sz="1000" spc="-5" dirty="0">
                <a:latin typeface="黑体"/>
                <a:cs typeface="黑体"/>
              </a:rPr>
              <a:t>征</a:t>
            </a:r>
            <a:r>
              <a:rPr sz="1000" spc="-10" dirty="0">
                <a:latin typeface="黑体"/>
                <a:cs typeface="黑体"/>
              </a:rPr>
              <a:t>响</a:t>
            </a:r>
            <a:r>
              <a:rPr sz="1000" dirty="0">
                <a:latin typeface="黑体"/>
                <a:cs typeface="黑体"/>
              </a:rPr>
              <a:t>应</a:t>
            </a:r>
            <a:r>
              <a:rPr sz="1000" spc="-5" dirty="0">
                <a:latin typeface="黑体"/>
                <a:cs typeface="黑体"/>
              </a:rPr>
              <a:t>图组</a:t>
            </a:r>
            <a:endParaRPr sz="10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黑体"/>
                <a:cs typeface="黑体"/>
              </a:rPr>
              <a:t>28x28x6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887216" y="713054"/>
            <a:ext cx="533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/>
              <a:t>彩</a:t>
            </a:r>
            <a:r>
              <a:rPr sz="1000" spc="-5" dirty="0"/>
              <a:t>色</a:t>
            </a:r>
            <a:r>
              <a:rPr sz="1000" spc="-10" dirty="0"/>
              <a:t>图</a:t>
            </a:r>
            <a:r>
              <a:rPr sz="1000" spc="-5" dirty="0"/>
              <a:t>像</a:t>
            </a:r>
            <a:endParaRPr sz="1000"/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1000" dirty="0"/>
              <a:t>32x32x3</a:t>
            </a: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2749544" y="255003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955028" y="873632"/>
            <a:ext cx="2112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56845" algn="l"/>
              </a:tabLst>
            </a:pPr>
            <a:r>
              <a:rPr sz="900" dirty="0">
                <a:latin typeface="黑体"/>
                <a:cs typeface="黑体"/>
              </a:rPr>
              <a:t>特征响应图组深度等于卷积核的个数；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55028" y="1147952"/>
            <a:ext cx="19983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56845" algn="l"/>
              </a:tabLst>
            </a:pPr>
            <a:r>
              <a:rPr sz="900" dirty="0">
                <a:latin typeface="黑体"/>
                <a:cs typeface="黑体"/>
              </a:rPr>
              <a:t>不同的特征响应图反映了输入图像对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098666" y="1422272"/>
            <a:ext cx="1282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不同卷积核的响应结果；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55028" y="1696592"/>
            <a:ext cx="19983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56845" algn="l"/>
              </a:tabLst>
            </a:pPr>
            <a:r>
              <a:rPr sz="900" dirty="0">
                <a:latin typeface="黑体"/>
                <a:cs typeface="黑体"/>
              </a:rPr>
              <a:t>同一特征响应图上不同位置的值表示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098666" y="1970912"/>
            <a:ext cx="1854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输入图像上不同位置对同一卷积核的</a:t>
            </a:r>
            <a:endParaRPr sz="900">
              <a:latin typeface="黑体"/>
              <a:cs typeface="黑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098666" y="2245232"/>
            <a:ext cx="596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响应结果。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774563" y="172592"/>
            <a:ext cx="77216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5" dirty="0">
                <a:latin typeface="黑体"/>
                <a:cs typeface="黑体"/>
              </a:rPr>
              <a:t>卷积层</a:t>
            </a:r>
            <a:endParaRPr sz="1950">
              <a:latin typeface="黑体"/>
              <a:cs typeface="黑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72153" y="2622295"/>
            <a:ext cx="2769235" cy="6426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注意：</a:t>
            </a:r>
            <a:endParaRPr sz="900">
              <a:latin typeface="黑体"/>
              <a:cs typeface="黑体"/>
            </a:endParaRPr>
          </a:p>
          <a:p>
            <a:pPr marL="12700" marR="5080">
              <a:lnSpc>
                <a:spcPct val="150000"/>
              </a:lnSpc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卷积层输入不局限于图像，可以是任意三维数据矩</a:t>
            </a:r>
            <a:r>
              <a:rPr sz="900" spc="15" dirty="0">
                <a:solidFill>
                  <a:srgbClr val="FF0000"/>
                </a:solidFill>
                <a:latin typeface="黑体"/>
                <a:cs typeface="黑体"/>
              </a:rPr>
              <a:t>阵</a:t>
            </a: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;  该层的卷积核深度要求与输入的三维矩阵的深度一致。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376" y="149622"/>
            <a:ext cx="22555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步</a:t>
            </a:r>
            <a:r>
              <a:rPr spc="5" dirty="0"/>
              <a:t>长</a:t>
            </a:r>
            <a:r>
              <a:rPr spc="-5" dirty="0"/>
              <a:t>（stride）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375" y="172592"/>
            <a:ext cx="22555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步</a:t>
            </a:r>
            <a:r>
              <a:rPr spc="5" dirty="0"/>
              <a:t>长</a:t>
            </a:r>
            <a:r>
              <a:rPr spc="-5" dirty="0"/>
              <a:t>（stride）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693" y="559587"/>
            <a:ext cx="3710304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0">
              <a:lnSpc>
                <a:spcPct val="150200"/>
              </a:lnSpc>
              <a:spcBef>
                <a:spcPts val="100"/>
              </a:spcBef>
            </a:pPr>
            <a:r>
              <a:rPr sz="1000" spc="-5" dirty="0">
                <a:latin typeface="黑体"/>
                <a:cs typeface="黑体"/>
              </a:rPr>
              <a:t>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神经</a:t>
            </a:r>
            <a:r>
              <a:rPr sz="1000" spc="5" dirty="0">
                <a:latin typeface="黑体"/>
                <a:cs typeface="黑体"/>
              </a:rPr>
              <a:t>网</a:t>
            </a:r>
            <a:r>
              <a:rPr sz="1000" spc="-5" dirty="0">
                <a:latin typeface="黑体"/>
                <a:cs typeface="黑体"/>
              </a:rPr>
              <a:t>络中</a:t>
            </a:r>
            <a:r>
              <a:rPr sz="1000" spc="10" dirty="0">
                <a:latin typeface="黑体"/>
                <a:cs typeface="黑体"/>
              </a:rPr>
              <a:t>，</a:t>
            </a:r>
            <a:r>
              <a:rPr sz="1000" spc="-5" dirty="0">
                <a:latin typeface="黑体"/>
                <a:cs typeface="黑体"/>
              </a:rPr>
              <a:t>卷积</a:t>
            </a:r>
            <a:r>
              <a:rPr sz="1000" spc="5" dirty="0">
                <a:latin typeface="黑体"/>
                <a:cs typeface="黑体"/>
              </a:rPr>
              <a:t>核</a:t>
            </a:r>
            <a:r>
              <a:rPr sz="1000" spc="-5" dirty="0">
                <a:latin typeface="黑体"/>
                <a:cs typeface="黑体"/>
              </a:rPr>
              <a:t>可以</a:t>
            </a:r>
            <a:r>
              <a:rPr sz="1000" spc="5" dirty="0">
                <a:latin typeface="黑体"/>
                <a:cs typeface="黑体"/>
              </a:rPr>
              <a:t>按</a:t>
            </a:r>
            <a:r>
              <a:rPr sz="1000" spc="-5" dirty="0">
                <a:latin typeface="黑体"/>
                <a:cs typeface="黑体"/>
              </a:rPr>
              <a:t>照指</a:t>
            </a:r>
            <a:r>
              <a:rPr sz="1000" spc="5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的间</a:t>
            </a:r>
            <a:r>
              <a:rPr sz="1000" spc="5" dirty="0">
                <a:latin typeface="黑体"/>
                <a:cs typeface="黑体"/>
              </a:rPr>
              <a:t>隔</a:t>
            </a:r>
            <a:r>
              <a:rPr sz="1000" spc="-5" dirty="0">
                <a:latin typeface="黑体"/>
                <a:cs typeface="黑体"/>
              </a:rPr>
              <a:t>进行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积操</a:t>
            </a:r>
            <a:r>
              <a:rPr sz="1000" spc="-1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， </a:t>
            </a:r>
            <a:r>
              <a:rPr sz="1000" spc="5" dirty="0">
                <a:latin typeface="黑体"/>
                <a:cs typeface="黑体"/>
              </a:rPr>
              <a:t>这</a:t>
            </a:r>
            <a:r>
              <a:rPr sz="1000" spc="-5" dirty="0">
                <a:latin typeface="黑体"/>
                <a:cs typeface="黑体"/>
              </a:rPr>
              <a:t>个间</a:t>
            </a:r>
            <a:r>
              <a:rPr sz="1000" spc="5" dirty="0">
                <a:latin typeface="黑体"/>
                <a:cs typeface="黑体"/>
              </a:rPr>
              <a:t>隔</a:t>
            </a:r>
            <a:r>
              <a:rPr sz="1000" spc="-5" dirty="0">
                <a:latin typeface="黑体"/>
                <a:cs typeface="黑体"/>
              </a:rPr>
              <a:t>就</a:t>
            </a:r>
            <a:r>
              <a:rPr sz="1000" dirty="0">
                <a:latin typeface="黑体"/>
                <a:cs typeface="黑体"/>
              </a:rPr>
              <a:t>是</a:t>
            </a:r>
            <a:r>
              <a:rPr sz="1000" b="1" dirty="0">
                <a:solidFill>
                  <a:srgbClr val="FF0000"/>
                </a:solidFill>
                <a:latin typeface="黑体"/>
                <a:cs typeface="黑体"/>
              </a:rPr>
              <a:t>卷积步长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65145" y="1202452"/>
          <a:ext cx="1449066" cy="14235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4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32376" y="149622"/>
            <a:ext cx="22555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步</a:t>
            </a:r>
            <a:r>
              <a:rPr spc="5" dirty="0"/>
              <a:t>长</a:t>
            </a:r>
            <a:r>
              <a:rPr spc="-5" dirty="0"/>
              <a:t>（stride）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0694" y="537251"/>
            <a:ext cx="3710304" cy="1080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黑体"/>
                <a:cs typeface="黑体"/>
              </a:rPr>
              <a:t>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神经</a:t>
            </a:r>
            <a:r>
              <a:rPr sz="1000" spc="5" dirty="0">
                <a:latin typeface="黑体"/>
                <a:cs typeface="黑体"/>
              </a:rPr>
              <a:t>网</a:t>
            </a:r>
            <a:r>
              <a:rPr sz="1000" spc="-5" dirty="0">
                <a:latin typeface="黑体"/>
                <a:cs typeface="黑体"/>
              </a:rPr>
              <a:t>络中</a:t>
            </a:r>
            <a:r>
              <a:rPr sz="1000" spc="10" dirty="0">
                <a:latin typeface="黑体"/>
                <a:cs typeface="黑体"/>
              </a:rPr>
              <a:t>，</a:t>
            </a:r>
            <a:r>
              <a:rPr sz="1000" spc="-5" dirty="0">
                <a:latin typeface="黑体"/>
                <a:cs typeface="黑体"/>
              </a:rPr>
              <a:t>卷积</a:t>
            </a:r>
            <a:r>
              <a:rPr sz="1000" spc="5" dirty="0">
                <a:latin typeface="黑体"/>
                <a:cs typeface="黑体"/>
              </a:rPr>
              <a:t>核</a:t>
            </a:r>
            <a:r>
              <a:rPr sz="1000" spc="-5" dirty="0">
                <a:latin typeface="黑体"/>
                <a:cs typeface="黑体"/>
              </a:rPr>
              <a:t>可以</a:t>
            </a:r>
            <a:r>
              <a:rPr sz="1000" spc="5" dirty="0">
                <a:latin typeface="黑体"/>
                <a:cs typeface="黑体"/>
              </a:rPr>
              <a:t>按</a:t>
            </a:r>
            <a:r>
              <a:rPr sz="1000" spc="-5" dirty="0">
                <a:latin typeface="黑体"/>
                <a:cs typeface="黑体"/>
              </a:rPr>
              <a:t>照指</a:t>
            </a:r>
            <a:r>
              <a:rPr sz="1000" spc="5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的间</a:t>
            </a:r>
            <a:r>
              <a:rPr sz="1000" spc="5" dirty="0">
                <a:latin typeface="黑体"/>
                <a:cs typeface="黑体"/>
              </a:rPr>
              <a:t>隔</a:t>
            </a:r>
            <a:r>
              <a:rPr sz="1000" spc="-5" dirty="0">
                <a:latin typeface="黑体"/>
                <a:cs typeface="黑体"/>
              </a:rPr>
              <a:t>进行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积操</a:t>
            </a:r>
            <a:r>
              <a:rPr sz="1000" spc="-1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， </a:t>
            </a:r>
            <a:r>
              <a:rPr sz="1000" spc="5" dirty="0">
                <a:latin typeface="黑体"/>
                <a:cs typeface="黑体"/>
              </a:rPr>
              <a:t>这</a:t>
            </a:r>
            <a:r>
              <a:rPr sz="1000" spc="-5" dirty="0">
                <a:latin typeface="黑体"/>
                <a:cs typeface="黑体"/>
              </a:rPr>
              <a:t>个间</a:t>
            </a:r>
            <a:r>
              <a:rPr sz="1000" spc="5" dirty="0">
                <a:latin typeface="黑体"/>
                <a:cs typeface="黑体"/>
              </a:rPr>
              <a:t>隔</a:t>
            </a:r>
            <a:r>
              <a:rPr sz="1000" spc="-5" dirty="0">
                <a:latin typeface="黑体"/>
                <a:cs typeface="黑体"/>
              </a:rPr>
              <a:t>就</a:t>
            </a:r>
            <a:r>
              <a:rPr sz="1000" dirty="0">
                <a:latin typeface="黑体"/>
                <a:cs typeface="黑体"/>
              </a:rPr>
              <a:t>是</a:t>
            </a:r>
            <a:r>
              <a:rPr sz="1000" b="1" dirty="0">
                <a:solidFill>
                  <a:srgbClr val="FF0000"/>
                </a:solidFill>
                <a:latin typeface="黑体"/>
                <a:cs typeface="黑体"/>
              </a:rPr>
              <a:t>卷积步长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tabLst>
                <a:tab pos="2605405" algn="l"/>
              </a:tabLst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像尺</a:t>
            </a:r>
            <a:r>
              <a:rPr sz="1000" spc="5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	7x7</a:t>
            </a:r>
            <a:endParaRPr sz="1000">
              <a:latin typeface="黑体"/>
              <a:cs typeface="黑体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spc="-5" dirty="0">
                <a:latin typeface="黑体"/>
                <a:cs typeface="黑体"/>
              </a:rPr>
              <a:t>寸</a:t>
            </a:r>
            <a:r>
              <a:rPr sz="1000" spc="5" dirty="0">
                <a:latin typeface="黑体"/>
                <a:cs typeface="黑体"/>
              </a:rPr>
              <a:t>：</a:t>
            </a:r>
            <a:r>
              <a:rPr sz="1000" spc="-15" dirty="0">
                <a:latin typeface="黑体"/>
                <a:cs typeface="黑体"/>
              </a:rPr>
              <a:t>3</a:t>
            </a:r>
            <a:r>
              <a:rPr sz="1000" dirty="0">
                <a:latin typeface="黑体"/>
                <a:cs typeface="黑体"/>
              </a:rPr>
              <a:t>x</a:t>
            </a:r>
            <a:r>
              <a:rPr sz="1000" spc="-5" dirty="0">
                <a:latin typeface="黑体"/>
                <a:cs typeface="黑体"/>
              </a:rPr>
              <a:t>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375" y="172592"/>
            <a:ext cx="22555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步</a:t>
            </a:r>
            <a:r>
              <a:rPr spc="5" dirty="0"/>
              <a:t>长</a:t>
            </a:r>
            <a:r>
              <a:rPr spc="-5" dirty="0"/>
              <a:t>（stride）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693" y="559587"/>
            <a:ext cx="3710304" cy="1310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0">
              <a:lnSpc>
                <a:spcPct val="150200"/>
              </a:lnSpc>
              <a:spcBef>
                <a:spcPts val="100"/>
              </a:spcBef>
            </a:pPr>
            <a:r>
              <a:rPr sz="1000" spc="-5" dirty="0">
                <a:latin typeface="黑体"/>
                <a:cs typeface="黑体"/>
              </a:rPr>
              <a:t>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神经</a:t>
            </a:r>
            <a:r>
              <a:rPr sz="1000" spc="5" dirty="0">
                <a:latin typeface="黑体"/>
                <a:cs typeface="黑体"/>
              </a:rPr>
              <a:t>网</a:t>
            </a:r>
            <a:r>
              <a:rPr sz="1000" spc="-5" dirty="0">
                <a:latin typeface="黑体"/>
                <a:cs typeface="黑体"/>
              </a:rPr>
              <a:t>络中</a:t>
            </a:r>
            <a:r>
              <a:rPr sz="1000" spc="10" dirty="0">
                <a:latin typeface="黑体"/>
                <a:cs typeface="黑体"/>
              </a:rPr>
              <a:t>，</a:t>
            </a:r>
            <a:r>
              <a:rPr sz="1000" spc="-5" dirty="0">
                <a:latin typeface="黑体"/>
                <a:cs typeface="黑体"/>
              </a:rPr>
              <a:t>卷积</a:t>
            </a:r>
            <a:r>
              <a:rPr sz="1000" spc="5" dirty="0">
                <a:latin typeface="黑体"/>
                <a:cs typeface="黑体"/>
              </a:rPr>
              <a:t>核</a:t>
            </a:r>
            <a:r>
              <a:rPr sz="1000" spc="-5" dirty="0">
                <a:latin typeface="黑体"/>
                <a:cs typeface="黑体"/>
              </a:rPr>
              <a:t>可以</a:t>
            </a:r>
            <a:r>
              <a:rPr sz="1000" spc="5" dirty="0">
                <a:latin typeface="黑体"/>
                <a:cs typeface="黑体"/>
              </a:rPr>
              <a:t>按</a:t>
            </a:r>
            <a:r>
              <a:rPr sz="1000" spc="-5" dirty="0">
                <a:latin typeface="黑体"/>
                <a:cs typeface="黑体"/>
              </a:rPr>
              <a:t>照指</a:t>
            </a:r>
            <a:r>
              <a:rPr sz="1000" spc="5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的间</a:t>
            </a:r>
            <a:r>
              <a:rPr sz="1000" spc="5" dirty="0">
                <a:latin typeface="黑体"/>
                <a:cs typeface="黑体"/>
              </a:rPr>
              <a:t>隔</a:t>
            </a:r>
            <a:r>
              <a:rPr sz="1000" spc="-5" dirty="0">
                <a:latin typeface="黑体"/>
                <a:cs typeface="黑体"/>
              </a:rPr>
              <a:t>进行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积操</a:t>
            </a:r>
            <a:r>
              <a:rPr sz="1000" spc="-1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， </a:t>
            </a:r>
            <a:r>
              <a:rPr sz="1000" spc="5" dirty="0">
                <a:latin typeface="黑体"/>
                <a:cs typeface="黑体"/>
              </a:rPr>
              <a:t>这</a:t>
            </a:r>
            <a:r>
              <a:rPr sz="1000" spc="-5" dirty="0">
                <a:latin typeface="黑体"/>
                <a:cs typeface="黑体"/>
              </a:rPr>
              <a:t>个间</a:t>
            </a:r>
            <a:r>
              <a:rPr sz="1000" spc="5" dirty="0">
                <a:latin typeface="黑体"/>
                <a:cs typeface="黑体"/>
              </a:rPr>
              <a:t>隔</a:t>
            </a:r>
            <a:r>
              <a:rPr sz="1000" spc="-5" dirty="0">
                <a:latin typeface="黑体"/>
                <a:cs typeface="黑体"/>
              </a:rPr>
              <a:t>就</a:t>
            </a:r>
            <a:r>
              <a:rPr sz="1000" dirty="0">
                <a:latin typeface="黑体"/>
                <a:cs typeface="黑体"/>
              </a:rPr>
              <a:t>是</a:t>
            </a:r>
            <a:r>
              <a:rPr sz="1000" b="1" dirty="0">
                <a:solidFill>
                  <a:srgbClr val="FF0000"/>
                </a:solidFill>
                <a:latin typeface="黑体"/>
                <a:cs typeface="黑体"/>
              </a:rPr>
              <a:t>卷积步长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50">
              <a:latin typeface="Times New Roman"/>
              <a:cs typeface="Times New Roman"/>
            </a:endParaRPr>
          </a:p>
          <a:p>
            <a:pPr marL="1841500" marR="906780" algn="just">
              <a:lnSpc>
                <a:spcPct val="150000"/>
              </a:lnSpc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像尺</a:t>
            </a:r>
            <a:r>
              <a:rPr sz="1000" spc="5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spc="42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7x7  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spc="-5" dirty="0">
                <a:latin typeface="黑体"/>
                <a:cs typeface="黑体"/>
              </a:rPr>
              <a:t>寸</a:t>
            </a:r>
            <a:r>
              <a:rPr sz="1000" spc="5" dirty="0">
                <a:latin typeface="黑体"/>
                <a:cs typeface="黑体"/>
              </a:rPr>
              <a:t>：</a:t>
            </a:r>
            <a:r>
              <a:rPr sz="1000" spc="-15" dirty="0">
                <a:latin typeface="黑体"/>
                <a:cs typeface="黑体"/>
              </a:rPr>
              <a:t>3</a:t>
            </a:r>
            <a:r>
              <a:rPr sz="1000" dirty="0">
                <a:latin typeface="黑体"/>
                <a:cs typeface="黑体"/>
              </a:rPr>
              <a:t>x</a:t>
            </a:r>
            <a:r>
              <a:rPr sz="1000" spc="-5" dirty="0">
                <a:latin typeface="黑体"/>
                <a:cs typeface="黑体"/>
              </a:rPr>
              <a:t>3 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积步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长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：</a:t>
            </a:r>
            <a:r>
              <a:rPr sz="1000" spc="434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1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1746" y="1303400"/>
          <a:ext cx="1449066" cy="1423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33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4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44493" y="2828289"/>
            <a:ext cx="1016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卷积结果：5x5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376" y="149622"/>
            <a:ext cx="225552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步</a:t>
            </a:r>
            <a:r>
              <a:rPr spc="5" dirty="0"/>
              <a:t>长</a:t>
            </a:r>
            <a:r>
              <a:rPr spc="-5" dirty="0"/>
              <a:t>（stride）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694" y="537251"/>
            <a:ext cx="371030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黑体"/>
                <a:cs typeface="黑体"/>
              </a:rPr>
              <a:t>卷</a:t>
            </a:r>
            <a:r>
              <a:rPr sz="1000" spc="5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神经</a:t>
            </a:r>
            <a:r>
              <a:rPr sz="1000" spc="5" dirty="0">
                <a:latin typeface="黑体"/>
                <a:cs typeface="黑体"/>
              </a:rPr>
              <a:t>网</a:t>
            </a:r>
            <a:r>
              <a:rPr sz="1000" spc="-5" dirty="0">
                <a:latin typeface="黑体"/>
                <a:cs typeface="黑体"/>
              </a:rPr>
              <a:t>络中</a:t>
            </a:r>
            <a:r>
              <a:rPr sz="1000" spc="10" dirty="0">
                <a:latin typeface="黑体"/>
                <a:cs typeface="黑体"/>
              </a:rPr>
              <a:t>，</a:t>
            </a:r>
            <a:r>
              <a:rPr sz="1000" spc="-5" dirty="0">
                <a:latin typeface="黑体"/>
                <a:cs typeface="黑体"/>
              </a:rPr>
              <a:t>卷积</a:t>
            </a:r>
            <a:r>
              <a:rPr sz="1000" spc="5" dirty="0">
                <a:latin typeface="黑体"/>
                <a:cs typeface="黑体"/>
              </a:rPr>
              <a:t>核</a:t>
            </a:r>
            <a:r>
              <a:rPr sz="1000" spc="-5" dirty="0">
                <a:latin typeface="黑体"/>
                <a:cs typeface="黑体"/>
              </a:rPr>
              <a:t>可以</a:t>
            </a:r>
            <a:r>
              <a:rPr sz="1000" spc="5" dirty="0">
                <a:latin typeface="黑体"/>
                <a:cs typeface="黑体"/>
              </a:rPr>
              <a:t>按</a:t>
            </a:r>
            <a:r>
              <a:rPr sz="1000" spc="-5" dirty="0">
                <a:latin typeface="黑体"/>
                <a:cs typeface="黑体"/>
              </a:rPr>
              <a:t>照指</a:t>
            </a:r>
            <a:r>
              <a:rPr sz="1000" spc="5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的间</a:t>
            </a:r>
            <a:r>
              <a:rPr sz="1000" spc="5" dirty="0">
                <a:latin typeface="黑体"/>
                <a:cs typeface="黑体"/>
              </a:rPr>
              <a:t>隔</a:t>
            </a:r>
            <a:r>
              <a:rPr sz="1000" spc="-5" dirty="0">
                <a:latin typeface="黑体"/>
                <a:cs typeface="黑体"/>
              </a:rPr>
              <a:t>进行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积操</a:t>
            </a:r>
            <a:r>
              <a:rPr sz="1000" spc="-1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， </a:t>
            </a:r>
            <a:r>
              <a:rPr sz="1000" spc="5" dirty="0">
                <a:latin typeface="黑体"/>
                <a:cs typeface="黑体"/>
              </a:rPr>
              <a:t>这</a:t>
            </a:r>
            <a:r>
              <a:rPr sz="1000" spc="-5" dirty="0">
                <a:latin typeface="黑体"/>
                <a:cs typeface="黑体"/>
              </a:rPr>
              <a:t>个间</a:t>
            </a:r>
            <a:r>
              <a:rPr sz="1000" spc="5" dirty="0">
                <a:latin typeface="黑体"/>
                <a:cs typeface="黑体"/>
              </a:rPr>
              <a:t>隔</a:t>
            </a:r>
            <a:r>
              <a:rPr sz="1000" spc="-5" dirty="0">
                <a:latin typeface="黑体"/>
                <a:cs typeface="黑体"/>
              </a:rPr>
              <a:t>就</a:t>
            </a:r>
            <a:r>
              <a:rPr sz="1000" dirty="0">
                <a:latin typeface="黑体"/>
                <a:cs typeface="黑体"/>
              </a:rPr>
              <a:t>是</a:t>
            </a:r>
            <a:r>
              <a:rPr sz="1000" b="1" dirty="0">
                <a:solidFill>
                  <a:srgbClr val="FF0000"/>
                </a:solidFill>
                <a:latin typeface="黑体"/>
                <a:cs typeface="黑体"/>
              </a:rPr>
              <a:t>卷积步长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1746" y="1281319"/>
          <a:ext cx="1449066" cy="14248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47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44494" y="2805573"/>
            <a:ext cx="1016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卷积结果：3x3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5316" y="1135294"/>
            <a:ext cx="1612265" cy="2009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marR="484505" algn="just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像尺</a:t>
            </a:r>
            <a:r>
              <a:rPr sz="1000" spc="5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spc="42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7x7  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spc="-5" dirty="0">
                <a:latin typeface="黑体"/>
                <a:cs typeface="黑体"/>
              </a:rPr>
              <a:t>寸</a:t>
            </a:r>
            <a:r>
              <a:rPr sz="1000" spc="5" dirty="0">
                <a:latin typeface="黑体"/>
                <a:cs typeface="黑体"/>
              </a:rPr>
              <a:t>：</a:t>
            </a:r>
            <a:r>
              <a:rPr sz="1000" spc="-15" dirty="0">
                <a:latin typeface="黑体"/>
                <a:cs typeface="黑体"/>
              </a:rPr>
              <a:t>3</a:t>
            </a:r>
            <a:r>
              <a:rPr sz="1000" dirty="0">
                <a:latin typeface="黑体"/>
                <a:cs typeface="黑体"/>
              </a:rPr>
              <a:t>x</a:t>
            </a:r>
            <a:r>
              <a:rPr sz="1000" spc="-5" dirty="0">
                <a:latin typeface="黑体"/>
                <a:cs typeface="黑体"/>
              </a:rPr>
              <a:t>3 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积步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长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：</a:t>
            </a:r>
            <a:r>
              <a:rPr sz="1000" spc="434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2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000" spc="5" dirty="0">
                <a:latin typeface="黑体"/>
                <a:cs typeface="黑体"/>
              </a:rPr>
              <a:t>输</a:t>
            </a:r>
            <a:r>
              <a:rPr sz="1000" spc="-5" dirty="0">
                <a:latin typeface="黑体"/>
                <a:cs typeface="黑体"/>
              </a:rPr>
              <a:t>入数</a:t>
            </a:r>
            <a:r>
              <a:rPr sz="1000" spc="5" dirty="0">
                <a:latin typeface="黑体"/>
                <a:cs typeface="黑体"/>
              </a:rPr>
              <a:t>据</a:t>
            </a:r>
            <a:r>
              <a:rPr sz="1000" spc="-5" dirty="0">
                <a:latin typeface="黑体"/>
                <a:cs typeface="黑体"/>
              </a:rPr>
              <a:t>矩阵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spc="-70" dirty="0">
                <a:latin typeface="黑体"/>
                <a:cs typeface="黑体"/>
              </a:rPr>
              <a:t> </a:t>
            </a:r>
            <a:r>
              <a:rPr sz="1000" spc="-10" dirty="0">
                <a:latin typeface="黑体"/>
                <a:cs typeface="黑体"/>
              </a:rPr>
              <a:t>W1×H1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/>
                <a:cs typeface="黑体"/>
              </a:rPr>
              <a:t>输</a:t>
            </a:r>
            <a:r>
              <a:rPr sz="1000" spc="-5" dirty="0">
                <a:latin typeface="黑体"/>
                <a:cs typeface="黑体"/>
              </a:rPr>
              <a:t>出特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图组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spc="-70" dirty="0">
                <a:latin typeface="黑体"/>
                <a:cs typeface="黑体"/>
              </a:rPr>
              <a:t> </a:t>
            </a:r>
            <a:r>
              <a:rPr sz="1000" spc="-10" dirty="0">
                <a:latin typeface="黑体"/>
                <a:cs typeface="黑体"/>
              </a:rPr>
              <a:t>W2×H2</a:t>
            </a:r>
            <a:endParaRPr sz="1000">
              <a:latin typeface="黑体"/>
              <a:cs typeface="黑体"/>
            </a:endParaRPr>
          </a:p>
          <a:p>
            <a:pPr marL="266700" marR="511809" indent="-254635">
              <a:lnSpc>
                <a:spcPct val="150000"/>
              </a:lnSpc>
            </a:pP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W2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与W1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关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系如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下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：  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W2</a:t>
            </a:r>
            <a:r>
              <a:rPr sz="1000" spc="-15" dirty="0">
                <a:solidFill>
                  <a:srgbClr val="FF0000"/>
                </a:solidFill>
                <a:latin typeface="黑体"/>
                <a:cs typeface="黑体"/>
              </a:rPr>
              <a:t>=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(W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1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-F</a:t>
            </a:r>
            <a:r>
              <a:rPr sz="1000" spc="-15" dirty="0">
                <a:solidFill>
                  <a:srgbClr val="FF0000"/>
                </a:solidFill>
                <a:latin typeface="黑体"/>
                <a:cs typeface="黑体"/>
              </a:rPr>
              <a:t>)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/S</a:t>
            </a:r>
            <a:r>
              <a:rPr sz="1000" spc="-15" dirty="0">
                <a:solidFill>
                  <a:srgbClr val="FF0000"/>
                </a:solidFill>
                <a:latin typeface="黑体"/>
                <a:cs typeface="黑体"/>
              </a:rPr>
              <a:t>+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1  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H2</a:t>
            </a:r>
            <a:r>
              <a:rPr sz="1000" spc="-15" dirty="0">
                <a:solidFill>
                  <a:srgbClr val="FF0000"/>
                </a:solidFill>
                <a:latin typeface="黑体"/>
                <a:cs typeface="黑体"/>
              </a:rPr>
              <a:t>=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(H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2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-F</a:t>
            </a:r>
            <a:r>
              <a:rPr sz="1000" spc="-15" dirty="0">
                <a:solidFill>
                  <a:srgbClr val="FF0000"/>
                </a:solidFill>
                <a:latin typeface="黑体"/>
                <a:cs typeface="黑体"/>
              </a:rPr>
              <a:t>)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/S</a:t>
            </a:r>
            <a:r>
              <a:rPr sz="1000" spc="-15" dirty="0">
                <a:solidFill>
                  <a:srgbClr val="FF0000"/>
                </a:solidFill>
                <a:latin typeface="黑体"/>
                <a:cs typeface="黑体"/>
              </a:rPr>
              <a:t>+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1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38162" y="2020205"/>
            <a:ext cx="1257300" cy="428625"/>
          </a:xfrm>
          <a:prstGeom prst="rect">
            <a:avLst/>
          </a:prstGeom>
          <a:ln w="4762">
            <a:solidFill>
              <a:srgbClr val="FF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latin typeface="黑体"/>
                <a:cs typeface="黑体"/>
              </a:rPr>
              <a:t>F——卷积核尺寸</a:t>
            </a:r>
            <a:endParaRPr sz="900">
              <a:latin typeface="黑体"/>
              <a:cs typeface="黑体"/>
            </a:endParaRPr>
          </a:p>
          <a:p>
            <a:pPr marL="45085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latin typeface="黑体"/>
                <a:cs typeface="黑体"/>
              </a:rPr>
              <a:t>S——卷积步长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07812" y="171018"/>
            <a:ext cx="945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黑体"/>
                <a:cs typeface="黑体"/>
              </a:rPr>
              <a:t>边界</a:t>
            </a:r>
            <a:r>
              <a:rPr sz="1800" spc="15" dirty="0">
                <a:latin typeface="黑体"/>
                <a:cs typeface="黑体"/>
              </a:rPr>
              <a:t>填</a:t>
            </a:r>
            <a:r>
              <a:rPr sz="1800" dirty="0">
                <a:latin typeface="黑体"/>
                <a:cs typeface="黑体"/>
              </a:rPr>
              <a:t>充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9679" y="816398"/>
            <a:ext cx="2182313" cy="21837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54981" y="28667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599"/>
                </a:moveTo>
                <a:lnTo>
                  <a:pt x="228600" y="228599"/>
                </a:lnTo>
                <a:lnTo>
                  <a:pt x="228600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54981" y="28667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599"/>
                </a:moveTo>
                <a:lnTo>
                  <a:pt x="228600" y="228599"/>
                </a:lnTo>
                <a:lnTo>
                  <a:pt x="228600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01844" y="2873120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68519" y="846708"/>
            <a:ext cx="115570" cy="115570"/>
          </a:xfrm>
          <a:custGeom>
            <a:avLst/>
            <a:gdLst/>
            <a:ahLst/>
            <a:cxnLst/>
            <a:rect l="l" t="t" r="r" b="b"/>
            <a:pathLst>
              <a:path w="115569" h="115569">
                <a:moveTo>
                  <a:pt x="0" y="115062"/>
                </a:moveTo>
                <a:lnTo>
                  <a:pt x="115062" y="115062"/>
                </a:lnTo>
                <a:lnTo>
                  <a:pt x="115062" y="0"/>
                </a:lnTo>
                <a:lnTo>
                  <a:pt x="0" y="0"/>
                </a:lnTo>
                <a:lnTo>
                  <a:pt x="0" y="115062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54981" y="7331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01844" y="738581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88581" y="7331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88581" y="7331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36079" y="738581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88581" y="28667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599"/>
                </a:moveTo>
                <a:lnTo>
                  <a:pt x="228600" y="228599"/>
                </a:lnTo>
                <a:lnTo>
                  <a:pt x="228600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88581" y="28667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599"/>
                </a:moveTo>
                <a:lnTo>
                  <a:pt x="228600" y="228599"/>
                </a:lnTo>
                <a:lnTo>
                  <a:pt x="228600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36079" y="2873120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54219" y="732408"/>
            <a:ext cx="228600" cy="114300"/>
          </a:xfrm>
          <a:custGeom>
            <a:avLst/>
            <a:gdLst/>
            <a:ahLst/>
            <a:cxnLst/>
            <a:rect l="l" t="t" r="r" b="b"/>
            <a:pathLst>
              <a:path w="228600" h="114300">
                <a:moveTo>
                  <a:pt x="0" y="114300"/>
                </a:moveTo>
                <a:lnTo>
                  <a:pt x="228600" y="114300"/>
                </a:lnTo>
                <a:lnTo>
                  <a:pt x="2286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FF0000">
              <a:alpha val="6117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54219" y="84670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14300"/>
                </a:moveTo>
                <a:lnTo>
                  <a:pt x="114300" y="114300"/>
                </a:lnTo>
                <a:lnTo>
                  <a:pt x="1143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FF0000">
              <a:alpha val="6117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55312" y="729995"/>
            <a:ext cx="457834" cy="74930"/>
          </a:xfrm>
          <a:custGeom>
            <a:avLst/>
            <a:gdLst/>
            <a:ahLst/>
            <a:cxnLst/>
            <a:rect l="l" t="t" r="r" b="b"/>
            <a:pathLst>
              <a:path w="457835" h="74929">
                <a:moveTo>
                  <a:pt x="422148" y="36702"/>
                </a:moveTo>
                <a:lnTo>
                  <a:pt x="420195" y="52429"/>
                </a:lnTo>
                <a:lnTo>
                  <a:pt x="426466" y="53212"/>
                </a:lnTo>
                <a:lnTo>
                  <a:pt x="425704" y="59562"/>
                </a:lnTo>
                <a:lnTo>
                  <a:pt x="419309" y="59562"/>
                </a:lnTo>
                <a:lnTo>
                  <a:pt x="417449" y="74549"/>
                </a:lnTo>
                <a:lnTo>
                  <a:pt x="457581" y="60325"/>
                </a:lnTo>
                <a:lnTo>
                  <a:pt x="456438" y="59562"/>
                </a:lnTo>
                <a:lnTo>
                  <a:pt x="425704" y="59562"/>
                </a:lnTo>
                <a:lnTo>
                  <a:pt x="419407" y="58775"/>
                </a:lnTo>
                <a:lnTo>
                  <a:pt x="455257" y="58775"/>
                </a:lnTo>
                <a:lnTo>
                  <a:pt x="422148" y="36702"/>
                </a:lnTo>
                <a:close/>
              </a:path>
              <a:path w="457835" h="74929">
                <a:moveTo>
                  <a:pt x="420195" y="52429"/>
                </a:moveTo>
                <a:lnTo>
                  <a:pt x="419407" y="58775"/>
                </a:lnTo>
                <a:lnTo>
                  <a:pt x="425704" y="59562"/>
                </a:lnTo>
                <a:lnTo>
                  <a:pt x="426466" y="53212"/>
                </a:lnTo>
                <a:lnTo>
                  <a:pt x="420195" y="52429"/>
                </a:lnTo>
                <a:close/>
              </a:path>
              <a:path w="457835" h="74929">
                <a:moveTo>
                  <a:pt x="762" y="0"/>
                </a:moveTo>
                <a:lnTo>
                  <a:pt x="0" y="6350"/>
                </a:lnTo>
                <a:lnTo>
                  <a:pt x="419407" y="58775"/>
                </a:lnTo>
                <a:lnTo>
                  <a:pt x="420195" y="52429"/>
                </a:lnTo>
                <a:lnTo>
                  <a:pt x="762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96639" y="622807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无像素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07813" y="14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边界</a:t>
            </a:r>
            <a:r>
              <a:rPr sz="1800" spc="20" dirty="0">
                <a:latin typeface="黑体"/>
                <a:cs typeface="黑体"/>
              </a:rPr>
              <a:t>填</a:t>
            </a:r>
            <a:r>
              <a:rPr sz="1800" dirty="0">
                <a:latin typeface="黑体"/>
                <a:cs typeface="黑体"/>
              </a:rPr>
              <a:t>充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6003" y="649113"/>
            <a:ext cx="3226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卷积神经网络中最常用的填充方式是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零值填充</a:t>
            </a:r>
            <a:r>
              <a:rPr sz="1200" dirty="0">
                <a:latin typeface="黑体"/>
                <a:cs typeface="黑体"/>
              </a:rPr>
              <a:t>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812" y="171018"/>
            <a:ext cx="945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/>
              <a:t>边界</a:t>
            </a:r>
            <a:r>
              <a:rPr sz="1800" spc="15" dirty="0"/>
              <a:t>填</a:t>
            </a:r>
            <a:r>
              <a:rPr sz="1800" dirty="0"/>
              <a:t>充</a:t>
            </a:r>
            <a:endParaRPr sz="1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96182" y="1351660"/>
          <a:ext cx="1035048" cy="1016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卷积神经网络中最常用的填充方式是</a:t>
            </a:r>
            <a:r>
              <a:rPr dirty="0">
                <a:solidFill>
                  <a:srgbClr val="FF0000"/>
                </a:solidFill>
              </a:rPr>
              <a:t>零值填充</a:t>
            </a:r>
            <a:r>
              <a:rPr dirty="0"/>
              <a:t>。</a:t>
            </a:r>
          </a:p>
          <a:p>
            <a:pPr>
              <a:lnSpc>
                <a:spcPct val="100000"/>
              </a:lnSpc>
            </a:pPr>
            <a:endParaRPr dirty="0"/>
          </a:p>
          <a:p>
            <a:pPr marL="2036445" marR="228600" algn="just">
              <a:lnSpc>
                <a:spcPct val="150000"/>
              </a:lnSpc>
              <a:spcBef>
                <a:spcPts val="1010"/>
              </a:spcBef>
            </a:pPr>
            <a:r>
              <a:rPr sz="1000" spc="5" dirty="0"/>
              <a:t>图</a:t>
            </a:r>
            <a:r>
              <a:rPr sz="1000" spc="-5" dirty="0"/>
              <a:t>像尺</a:t>
            </a:r>
            <a:r>
              <a:rPr sz="1000" spc="5" dirty="0"/>
              <a:t>寸</a:t>
            </a:r>
            <a:r>
              <a:rPr sz="1000" spc="-5" dirty="0"/>
              <a:t>：</a:t>
            </a:r>
            <a:r>
              <a:rPr sz="1000" spc="420" dirty="0"/>
              <a:t> </a:t>
            </a:r>
            <a:r>
              <a:rPr sz="1000" spc="-5" dirty="0"/>
              <a:t>5x5  </a:t>
            </a:r>
            <a:r>
              <a:rPr sz="1000" spc="5" dirty="0"/>
              <a:t>卷</a:t>
            </a:r>
            <a:r>
              <a:rPr sz="1000" spc="-5" dirty="0"/>
              <a:t>积核</a:t>
            </a:r>
            <a:r>
              <a:rPr sz="1000" spc="5" dirty="0"/>
              <a:t>尺</a:t>
            </a:r>
            <a:r>
              <a:rPr sz="1000" spc="-5" dirty="0"/>
              <a:t>寸</a:t>
            </a:r>
            <a:r>
              <a:rPr sz="1000" spc="5" dirty="0"/>
              <a:t>：</a:t>
            </a:r>
            <a:r>
              <a:rPr sz="1000" spc="-15" dirty="0"/>
              <a:t>3</a:t>
            </a:r>
            <a:r>
              <a:rPr sz="1000" dirty="0"/>
              <a:t>x</a:t>
            </a:r>
            <a:r>
              <a:rPr sz="1000" spc="-5" dirty="0"/>
              <a:t>3 </a:t>
            </a:r>
            <a:r>
              <a:rPr sz="1000" spc="5" dirty="0"/>
              <a:t>卷</a:t>
            </a:r>
            <a:r>
              <a:rPr sz="1000" spc="-5" dirty="0"/>
              <a:t>积步</a:t>
            </a:r>
            <a:r>
              <a:rPr sz="1000" spc="5" dirty="0"/>
              <a:t>长</a:t>
            </a:r>
            <a:r>
              <a:rPr sz="1000" spc="-5" dirty="0"/>
              <a:t>：</a:t>
            </a:r>
            <a:r>
              <a:rPr sz="1000" spc="434" dirty="0"/>
              <a:t> </a:t>
            </a:r>
            <a:r>
              <a:rPr sz="1000" spc="-5" dirty="0"/>
              <a:t>1</a:t>
            </a:r>
            <a:endParaRPr sz="1000"/>
          </a:p>
          <a:p>
            <a:pPr marL="2036445" algn="just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solidFill>
                  <a:srgbClr val="FF0000"/>
                </a:solidFill>
              </a:rPr>
              <a:t>零</a:t>
            </a:r>
            <a:r>
              <a:rPr sz="1000" spc="-5" dirty="0">
                <a:solidFill>
                  <a:srgbClr val="FF0000"/>
                </a:solidFill>
              </a:rPr>
              <a:t>值</a:t>
            </a:r>
            <a:r>
              <a:rPr sz="1000" spc="-10" dirty="0">
                <a:solidFill>
                  <a:srgbClr val="FF0000"/>
                </a:solidFill>
              </a:rPr>
              <a:t>填</a:t>
            </a:r>
            <a:r>
              <a:rPr sz="1000" dirty="0">
                <a:solidFill>
                  <a:srgbClr val="FF0000"/>
                </a:solidFill>
              </a:rPr>
              <a:t>充</a:t>
            </a:r>
            <a:r>
              <a:rPr sz="1000" spc="-5" dirty="0">
                <a:solidFill>
                  <a:srgbClr val="FF0000"/>
                </a:solidFill>
              </a:rPr>
              <a:t>： </a:t>
            </a:r>
            <a:r>
              <a:rPr sz="1000" spc="420" dirty="0">
                <a:solidFill>
                  <a:srgbClr val="FF0000"/>
                </a:solidFill>
              </a:rPr>
              <a:t> </a:t>
            </a:r>
            <a:r>
              <a:rPr sz="1000" spc="-5" dirty="0">
                <a:solidFill>
                  <a:srgbClr val="FF0000"/>
                </a:solidFill>
              </a:rPr>
              <a:t>0</a:t>
            </a:r>
            <a:endParaRPr sz="1000"/>
          </a:p>
          <a:p>
            <a:pPr marL="2036445" algn="just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</a:rPr>
              <a:t>卷</a:t>
            </a:r>
            <a:r>
              <a:rPr sz="1000" spc="-5" dirty="0">
                <a:solidFill>
                  <a:srgbClr val="FF0000"/>
                </a:solidFill>
              </a:rPr>
              <a:t>积结</a:t>
            </a:r>
            <a:r>
              <a:rPr sz="1000" spc="5" dirty="0">
                <a:solidFill>
                  <a:srgbClr val="FF0000"/>
                </a:solidFill>
              </a:rPr>
              <a:t>果</a:t>
            </a:r>
            <a:r>
              <a:rPr sz="1000" spc="-5" dirty="0">
                <a:solidFill>
                  <a:srgbClr val="FF0000"/>
                </a:solidFill>
              </a:rPr>
              <a:t>：</a:t>
            </a: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813" y="14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/>
              <a:t>边界</a:t>
            </a:r>
            <a:r>
              <a:rPr sz="1800" spc="20" dirty="0"/>
              <a:t>填</a:t>
            </a:r>
            <a:r>
              <a:rPr sz="1800" dirty="0"/>
              <a:t>充</a:t>
            </a:r>
            <a:endParaRPr sz="1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96183" y="1329579"/>
          <a:ext cx="1035048" cy="10167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4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卷积神经网络中最常用的填充方式是</a:t>
            </a:r>
            <a:r>
              <a:rPr dirty="0">
                <a:solidFill>
                  <a:srgbClr val="FF0000"/>
                </a:solidFill>
              </a:rPr>
              <a:t>零值填充</a:t>
            </a:r>
            <a:r>
              <a:rPr dirty="0"/>
              <a:t>。</a:t>
            </a:r>
          </a:p>
          <a:p>
            <a:pPr>
              <a:lnSpc>
                <a:spcPct val="100000"/>
              </a:lnSpc>
            </a:pPr>
            <a:endParaRPr dirty="0"/>
          </a:p>
          <a:p>
            <a:pPr marL="2036445" marR="228600" algn="just">
              <a:lnSpc>
                <a:spcPct val="150000"/>
              </a:lnSpc>
              <a:spcBef>
                <a:spcPts val="1010"/>
              </a:spcBef>
            </a:pPr>
            <a:r>
              <a:rPr sz="1000" spc="5" dirty="0"/>
              <a:t>图</a:t>
            </a:r>
            <a:r>
              <a:rPr sz="1000" spc="-5" dirty="0"/>
              <a:t>像尺</a:t>
            </a:r>
            <a:r>
              <a:rPr sz="1000" spc="5" dirty="0"/>
              <a:t>寸</a:t>
            </a:r>
            <a:r>
              <a:rPr sz="1000" spc="-5" dirty="0"/>
              <a:t>：</a:t>
            </a:r>
            <a:r>
              <a:rPr sz="1000" spc="420" dirty="0"/>
              <a:t> </a:t>
            </a:r>
            <a:r>
              <a:rPr sz="1000" spc="-5" dirty="0"/>
              <a:t>5x5  </a:t>
            </a:r>
            <a:r>
              <a:rPr sz="1000" spc="5" dirty="0"/>
              <a:t>卷</a:t>
            </a:r>
            <a:r>
              <a:rPr sz="1000" spc="-5" dirty="0"/>
              <a:t>积核</a:t>
            </a:r>
            <a:r>
              <a:rPr sz="1000" spc="5" dirty="0"/>
              <a:t>尺</a:t>
            </a:r>
            <a:r>
              <a:rPr sz="1000" spc="-5" dirty="0"/>
              <a:t>寸</a:t>
            </a:r>
            <a:r>
              <a:rPr sz="1000" spc="5" dirty="0"/>
              <a:t>：</a:t>
            </a:r>
            <a:r>
              <a:rPr sz="1000" spc="-15" dirty="0"/>
              <a:t>3</a:t>
            </a:r>
            <a:r>
              <a:rPr sz="1000" dirty="0"/>
              <a:t>x</a:t>
            </a:r>
            <a:r>
              <a:rPr sz="1000" spc="-5" dirty="0"/>
              <a:t>3 </a:t>
            </a:r>
            <a:r>
              <a:rPr sz="1000" spc="5" dirty="0"/>
              <a:t>卷</a:t>
            </a:r>
            <a:r>
              <a:rPr sz="1000" spc="-5" dirty="0"/>
              <a:t>积步</a:t>
            </a:r>
            <a:r>
              <a:rPr sz="1000" spc="5" dirty="0"/>
              <a:t>长</a:t>
            </a:r>
            <a:r>
              <a:rPr sz="1000" spc="-5" dirty="0"/>
              <a:t>：</a:t>
            </a:r>
            <a:r>
              <a:rPr sz="1000" spc="434" dirty="0"/>
              <a:t> </a:t>
            </a:r>
            <a:r>
              <a:rPr sz="1000" spc="-5" dirty="0"/>
              <a:t>1</a:t>
            </a:r>
            <a:endParaRPr sz="1000"/>
          </a:p>
          <a:p>
            <a:pPr marL="2036445" algn="just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</a:rPr>
              <a:t>零</a:t>
            </a:r>
            <a:r>
              <a:rPr sz="1000" spc="-5" dirty="0">
                <a:solidFill>
                  <a:srgbClr val="FF0000"/>
                </a:solidFill>
              </a:rPr>
              <a:t>值填</a:t>
            </a:r>
            <a:r>
              <a:rPr sz="1000" spc="5" dirty="0">
                <a:solidFill>
                  <a:srgbClr val="FF0000"/>
                </a:solidFill>
              </a:rPr>
              <a:t>充</a:t>
            </a:r>
            <a:r>
              <a:rPr sz="1000" spc="-5" dirty="0">
                <a:solidFill>
                  <a:srgbClr val="FF0000"/>
                </a:solidFill>
              </a:rPr>
              <a:t>： </a:t>
            </a:r>
            <a:r>
              <a:rPr sz="1000" spc="409" dirty="0">
                <a:solidFill>
                  <a:srgbClr val="FF0000"/>
                </a:solidFill>
              </a:rPr>
              <a:t> </a:t>
            </a:r>
            <a:r>
              <a:rPr sz="1000" spc="-5" dirty="0">
                <a:solidFill>
                  <a:srgbClr val="FF0000"/>
                </a:solidFill>
              </a:rPr>
              <a:t>0</a:t>
            </a:r>
            <a:endParaRPr sz="1000"/>
          </a:p>
          <a:p>
            <a:pPr marL="2036445" algn="just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</a:rPr>
              <a:t>卷</a:t>
            </a:r>
            <a:r>
              <a:rPr sz="1000" spc="-5" dirty="0">
                <a:solidFill>
                  <a:srgbClr val="FF0000"/>
                </a:solidFill>
              </a:rPr>
              <a:t>积结</a:t>
            </a:r>
            <a:r>
              <a:rPr sz="1000" spc="5" dirty="0">
                <a:solidFill>
                  <a:srgbClr val="FF0000"/>
                </a:solidFill>
              </a:rPr>
              <a:t>果</a:t>
            </a:r>
            <a:r>
              <a:rPr sz="1000" spc="-5" dirty="0">
                <a:solidFill>
                  <a:srgbClr val="FF0000"/>
                </a:solidFill>
              </a:rPr>
              <a:t>：</a:t>
            </a:r>
            <a:r>
              <a:rPr sz="1000" spc="475" dirty="0">
                <a:solidFill>
                  <a:srgbClr val="FF0000"/>
                </a:solidFill>
              </a:rPr>
              <a:t> </a:t>
            </a:r>
            <a:r>
              <a:rPr sz="1000" spc="-5" dirty="0">
                <a:solidFill>
                  <a:srgbClr val="FF0000"/>
                </a:solidFill>
              </a:rPr>
              <a:t>3x3</a:t>
            </a: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812" y="171018"/>
            <a:ext cx="945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/>
              <a:t>边界</a:t>
            </a:r>
            <a:r>
              <a:rPr sz="1800" spc="15" dirty="0"/>
              <a:t>填</a:t>
            </a:r>
            <a:r>
              <a:rPr sz="1800" dirty="0"/>
              <a:t>充</a:t>
            </a:r>
            <a:endParaRPr sz="1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89350" y="1148333"/>
          <a:ext cx="1449066" cy="1423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45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45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卷积神经网络中最常用的填充方式是</a:t>
            </a:r>
            <a:r>
              <a:rPr dirty="0">
                <a:solidFill>
                  <a:srgbClr val="FF0000"/>
                </a:solidFill>
              </a:rPr>
              <a:t>零值填充</a:t>
            </a:r>
            <a:r>
              <a:rPr dirty="0"/>
              <a:t>。</a:t>
            </a:r>
          </a:p>
          <a:p>
            <a:pPr>
              <a:lnSpc>
                <a:spcPct val="100000"/>
              </a:lnSpc>
            </a:pPr>
            <a:endParaRPr dirty="0"/>
          </a:p>
          <a:p>
            <a:pPr marL="2036445" marR="228600" algn="just">
              <a:lnSpc>
                <a:spcPct val="150000"/>
              </a:lnSpc>
              <a:spcBef>
                <a:spcPts val="1010"/>
              </a:spcBef>
            </a:pPr>
            <a:r>
              <a:rPr sz="1000" spc="5" dirty="0"/>
              <a:t>图</a:t>
            </a:r>
            <a:r>
              <a:rPr sz="1000" spc="-5" dirty="0"/>
              <a:t>像尺</a:t>
            </a:r>
            <a:r>
              <a:rPr sz="1000" spc="5" dirty="0"/>
              <a:t>寸</a:t>
            </a:r>
            <a:r>
              <a:rPr sz="1000" spc="-5" dirty="0"/>
              <a:t>：</a:t>
            </a:r>
            <a:r>
              <a:rPr sz="1000" spc="420" dirty="0"/>
              <a:t> </a:t>
            </a:r>
            <a:r>
              <a:rPr sz="1000" spc="-5" dirty="0"/>
              <a:t>5x5  </a:t>
            </a:r>
            <a:r>
              <a:rPr sz="1000" spc="5" dirty="0"/>
              <a:t>卷</a:t>
            </a:r>
            <a:r>
              <a:rPr sz="1000" spc="-5" dirty="0"/>
              <a:t>积核</a:t>
            </a:r>
            <a:r>
              <a:rPr sz="1000" spc="5" dirty="0"/>
              <a:t>尺</a:t>
            </a:r>
            <a:r>
              <a:rPr sz="1000" spc="-5" dirty="0"/>
              <a:t>寸</a:t>
            </a:r>
            <a:r>
              <a:rPr sz="1000" spc="5" dirty="0"/>
              <a:t>：</a:t>
            </a:r>
            <a:r>
              <a:rPr sz="1000" spc="-15" dirty="0"/>
              <a:t>3</a:t>
            </a:r>
            <a:r>
              <a:rPr sz="1000" dirty="0"/>
              <a:t>x</a:t>
            </a:r>
            <a:r>
              <a:rPr sz="1000" spc="-5" dirty="0"/>
              <a:t>3 </a:t>
            </a:r>
            <a:r>
              <a:rPr sz="1000" spc="5" dirty="0"/>
              <a:t>卷</a:t>
            </a:r>
            <a:r>
              <a:rPr sz="1000" spc="-5" dirty="0"/>
              <a:t>积步</a:t>
            </a:r>
            <a:r>
              <a:rPr sz="1000" spc="5" dirty="0"/>
              <a:t>长</a:t>
            </a:r>
            <a:r>
              <a:rPr sz="1000" spc="-5" dirty="0"/>
              <a:t>：</a:t>
            </a:r>
            <a:r>
              <a:rPr sz="1000" spc="434" dirty="0"/>
              <a:t> </a:t>
            </a:r>
            <a:r>
              <a:rPr sz="1000" spc="-5" dirty="0"/>
              <a:t>1</a:t>
            </a:r>
            <a:endParaRPr sz="1000"/>
          </a:p>
          <a:p>
            <a:pPr marL="2036445" algn="just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solidFill>
                  <a:srgbClr val="FF0000"/>
                </a:solidFill>
              </a:rPr>
              <a:t>零</a:t>
            </a:r>
            <a:r>
              <a:rPr sz="1000" spc="-5" dirty="0">
                <a:solidFill>
                  <a:srgbClr val="FF0000"/>
                </a:solidFill>
              </a:rPr>
              <a:t>值</a:t>
            </a:r>
            <a:r>
              <a:rPr sz="1000" spc="-10" dirty="0">
                <a:solidFill>
                  <a:srgbClr val="FF0000"/>
                </a:solidFill>
              </a:rPr>
              <a:t>填</a:t>
            </a:r>
            <a:r>
              <a:rPr sz="1000" dirty="0">
                <a:solidFill>
                  <a:srgbClr val="FF0000"/>
                </a:solidFill>
              </a:rPr>
              <a:t>充</a:t>
            </a:r>
            <a:r>
              <a:rPr sz="1000" spc="-5" dirty="0">
                <a:solidFill>
                  <a:srgbClr val="FF0000"/>
                </a:solidFill>
              </a:rPr>
              <a:t>： </a:t>
            </a:r>
            <a:r>
              <a:rPr sz="1000" spc="420" dirty="0">
                <a:solidFill>
                  <a:srgbClr val="FF0000"/>
                </a:solidFill>
              </a:rPr>
              <a:t> </a:t>
            </a:r>
            <a:r>
              <a:rPr sz="1000" spc="-5" dirty="0">
                <a:solidFill>
                  <a:srgbClr val="FF0000"/>
                </a:solidFill>
              </a:rPr>
              <a:t>1</a:t>
            </a:r>
            <a:endParaRPr sz="1000"/>
          </a:p>
          <a:p>
            <a:pPr marL="2036445" algn="just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</a:rPr>
              <a:t>卷</a:t>
            </a:r>
            <a:r>
              <a:rPr sz="1000" spc="-5" dirty="0">
                <a:solidFill>
                  <a:srgbClr val="FF0000"/>
                </a:solidFill>
              </a:rPr>
              <a:t>积结</a:t>
            </a:r>
            <a:r>
              <a:rPr sz="1000" spc="5" dirty="0">
                <a:solidFill>
                  <a:srgbClr val="FF0000"/>
                </a:solidFill>
              </a:rPr>
              <a:t>果</a:t>
            </a:r>
            <a:r>
              <a:rPr sz="1000" spc="-5" dirty="0">
                <a:solidFill>
                  <a:srgbClr val="FF0000"/>
                </a:solidFill>
              </a:rPr>
              <a:t>：</a:t>
            </a: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813" y="148733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/>
              <a:t>边界</a:t>
            </a:r>
            <a:r>
              <a:rPr sz="1800" spc="20" dirty="0"/>
              <a:t>填</a:t>
            </a:r>
            <a:r>
              <a:rPr sz="1800" dirty="0"/>
              <a:t>充</a:t>
            </a:r>
            <a:endParaRPr sz="1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89350" y="1126252"/>
          <a:ext cx="1449066" cy="14235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453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453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卷积神经网络中最常用的填充方式是</a:t>
            </a:r>
            <a:r>
              <a:rPr dirty="0">
                <a:solidFill>
                  <a:srgbClr val="FF0000"/>
                </a:solidFill>
              </a:rPr>
              <a:t>零值填充</a:t>
            </a:r>
            <a:r>
              <a:rPr dirty="0"/>
              <a:t>。</a:t>
            </a:r>
          </a:p>
          <a:p>
            <a:pPr>
              <a:lnSpc>
                <a:spcPct val="100000"/>
              </a:lnSpc>
            </a:pPr>
            <a:endParaRPr dirty="0"/>
          </a:p>
          <a:p>
            <a:pPr marL="2036445" marR="228600" algn="just">
              <a:lnSpc>
                <a:spcPct val="150000"/>
              </a:lnSpc>
              <a:spcBef>
                <a:spcPts val="1010"/>
              </a:spcBef>
            </a:pPr>
            <a:r>
              <a:rPr sz="1000" spc="5" dirty="0"/>
              <a:t>图</a:t>
            </a:r>
            <a:r>
              <a:rPr sz="1000" spc="-5" dirty="0"/>
              <a:t>像尺</a:t>
            </a:r>
            <a:r>
              <a:rPr sz="1000" spc="5" dirty="0"/>
              <a:t>寸</a:t>
            </a:r>
            <a:r>
              <a:rPr sz="1000" spc="-5" dirty="0"/>
              <a:t>：</a:t>
            </a:r>
            <a:r>
              <a:rPr sz="1000" spc="420" dirty="0"/>
              <a:t> </a:t>
            </a:r>
            <a:r>
              <a:rPr sz="1000" spc="-5" dirty="0"/>
              <a:t>5x5  </a:t>
            </a:r>
            <a:r>
              <a:rPr sz="1000" spc="5" dirty="0"/>
              <a:t>卷</a:t>
            </a:r>
            <a:r>
              <a:rPr sz="1000" spc="-5" dirty="0"/>
              <a:t>积核</a:t>
            </a:r>
            <a:r>
              <a:rPr sz="1000" spc="5" dirty="0"/>
              <a:t>尺</a:t>
            </a:r>
            <a:r>
              <a:rPr sz="1000" spc="-5" dirty="0"/>
              <a:t>寸</a:t>
            </a:r>
            <a:r>
              <a:rPr sz="1000" spc="5" dirty="0"/>
              <a:t>：</a:t>
            </a:r>
            <a:r>
              <a:rPr sz="1000" spc="-15" dirty="0"/>
              <a:t>3</a:t>
            </a:r>
            <a:r>
              <a:rPr sz="1000" dirty="0"/>
              <a:t>x</a:t>
            </a:r>
            <a:r>
              <a:rPr sz="1000" spc="-5" dirty="0"/>
              <a:t>3 </a:t>
            </a:r>
            <a:r>
              <a:rPr sz="1000" spc="5" dirty="0"/>
              <a:t>卷</a:t>
            </a:r>
            <a:r>
              <a:rPr sz="1000" spc="-5" dirty="0"/>
              <a:t>积步</a:t>
            </a:r>
            <a:r>
              <a:rPr sz="1000" spc="5" dirty="0"/>
              <a:t>长</a:t>
            </a:r>
            <a:r>
              <a:rPr sz="1000" spc="-5" dirty="0"/>
              <a:t>：</a:t>
            </a:r>
            <a:r>
              <a:rPr sz="1000" spc="434" dirty="0"/>
              <a:t> </a:t>
            </a:r>
            <a:r>
              <a:rPr sz="1000" spc="-5" dirty="0"/>
              <a:t>1</a:t>
            </a:r>
            <a:endParaRPr sz="1000"/>
          </a:p>
          <a:p>
            <a:pPr marL="2036445" algn="just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</a:rPr>
              <a:t>零</a:t>
            </a:r>
            <a:r>
              <a:rPr sz="1000" spc="-5" dirty="0">
                <a:solidFill>
                  <a:srgbClr val="FF0000"/>
                </a:solidFill>
              </a:rPr>
              <a:t>值填</a:t>
            </a:r>
            <a:r>
              <a:rPr sz="1000" spc="5" dirty="0">
                <a:solidFill>
                  <a:srgbClr val="FF0000"/>
                </a:solidFill>
              </a:rPr>
              <a:t>充</a:t>
            </a:r>
            <a:r>
              <a:rPr sz="1000" spc="-5" dirty="0">
                <a:solidFill>
                  <a:srgbClr val="FF0000"/>
                </a:solidFill>
              </a:rPr>
              <a:t>： </a:t>
            </a:r>
            <a:r>
              <a:rPr sz="1000" spc="409" dirty="0">
                <a:solidFill>
                  <a:srgbClr val="FF0000"/>
                </a:solidFill>
              </a:rPr>
              <a:t> </a:t>
            </a:r>
            <a:r>
              <a:rPr sz="1000" spc="-5" dirty="0">
                <a:solidFill>
                  <a:srgbClr val="FF0000"/>
                </a:solidFill>
              </a:rPr>
              <a:t>1</a:t>
            </a:r>
            <a:endParaRPr sz="1000"/>
          </a:p>
          <a:p>
            <a:pPr marL="2036445" algn="just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solidFill>
                  <a:srgbClr val="FF0000"/>
                </a:solidFill>
              </a:rPr>
              <a:t>卷</a:t>
            </a:r>
            <a:r>
              <a:rPr sz="1000" spc="-5" dirty="0">
                <a:solidFill>
                  <a:srgbClr val="FF0000"/>
                </a:solidFill>
              </a:rPr>
              <a:t>积结</a:t>
            </a:r>
            <a:r>
              <a:rPr sz="1000" spc="5" dirty="0">
                <a:solidFill>
                  <a:srgbClr val="FF0000"/>
                </a:solidFill>
              </a:rPr>
              <a:t>果</a:t>
            </a:r>
            <a:r>
              <a:rPr sz="1000" spc="-5" dirty="0">
                <a:solidFill>
                  <a:srgbClr val="FF0000"/>
                </a:solidFill>
              </a:rPr>
              <a:t>：</a:t>
            </a:r>
            <a:r>
              <a:rPr sz="1000" spc="475" dirty="0">
                <a:solidFill>
                  <a:srgbClr val="FF0000"/>
                </a:solidFill>
              </a:rPr>
              <a:t> </a:t>
            </a:r>
            <a:r>
              <a:rPr sz="1000" spc="-5" dirty="0">
                <a:solidFill>
                  <a:srgbClr val="FF0000"/>
                </a:solidFill>
              </a:rPr>
              <a:t>5x5</a:t>
            </a: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812" y="171018"/>
            <a:ext cx="945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/>
              <a:t>边界</a:t>
            </a:r>
            <a:r>
              <a:rPr sz="1800" spc="15" dirty="0"/>
              <a:t>填</a:t>
            </a:r>
            <a:r>
              <a:rPr sz="1800" dirty="0"/>
              <a:t>充</a:t>
            </a:r>
            <a:endParaRPr sz="1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89350" y="1148333"/>
          <a:ext cx="1449066" cy="1423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45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32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45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850128" y="1158011"/>
            <a:ext cx="978535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775970" algn="l"/>
              </a:tabLst>
            </a:pP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像尺</a:t>
            </a:r>
            <a:r>
              <a:rPr sz="1000" spc="5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dirty="0">
                <a:latin typeface="黑体"/>
                <a:cs typeface="黑体"/>
              </a:rPr>
              <a:t>	</a:t>
            </a:r>
            <a:r>
              <a:rPr sz="1000" spc="-15" dirty="0">
                <a:latin typeface="黑体"/>
                <a:cs typeface="黑体"/>
              </a:rPr>
              <a:t>5</a:t>
            </a:r>
            <a:r>
              <a:rPr sz="1000" dirty="0">
                <a:latin typeface="黑体"/>
                <a:cs typeface="黑体"/>
              </a:rPr>
              <a:t>x</a:t>
            </a:r>
            <a:r>
              <a:rPr sz="1000" spc="-5" dirty="0">
                <a:latin typeface="黑体"/>
                <a:cs typeface="黑体"/>
              </a:rPr>
              <a:t>5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spc="-5" dirty="0">
                <a:latin typeface="黑体"/>
                <a:cs typeface="黑体"/>
              </a:rPr>
              <a:t>寸</a:t>
            </a:r>
            <a:r>
              <a:rPr sz="1000" spc="5" dirty="0">
                <a:latin typeface="黑体"/>
                <a:cs typeface="黑体"/>
              </a:rPr>
              <a:t>：</a:t>
            </a:r>
            <a:r>
              <a:rPr sz="1000" spc="-15" dirty="0">
                <a:latin typeface="黑体"/>
                <a:cs typeface="黑体"/>
              </a:rPr>
              <a:t>3</a:t>
            </a:r>
            <a:r>
              <a:rPr sz="1000" dirty="0">
                <a:latin typeface="黑体"/>
                <a:cs typeface="黑体"/>
              </a:rPr>
              <a:t>x</a:t>
            </a:r>
            <a:r>
              <a:rPr sz="1000" spc="-5" dirty="0">
                <a:latin typeface="黑体"/>
                <a:cs typeface="黑体"/>
              </a:rPr>
              <a:t>3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0128" y="1615699"/>
            <a:ext cx="978535" cy="7112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83820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积步</a:t>
            </a:r>
            <a:r>
              <a:rPr sz="1000" spc="5" dirty="0">
                <a:latin typeface="黑体"/>
                <a:cs typeface="黑体"/>
              </a:rPr>
              <a:t>长</a:t>
            </a:r>
            <a:r>
              <a:rPr sz="1000" spc="-5" dirty="0">
                <a:latin typeface="黑体"/>
                <a:cs typeface="黑体"/>
              </a:rPr>
              <a:t>：	1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838200" algn="l"/>
              </a:tabLst>
            </a:pPr>
            <a:r>
              <a:rPr sz="1000" dirty="0">
                <a:latin typeface="黑体"/>
                <a:cs typeface="黑体"/>
              </a:rPr>
              <a:t>零</a:t>
            </a:r>
            <a:r>
              <a:rPr sz="1000" spc="-5" dirty="0">
                <a:latin typeface="黑体"/>
                <a:cs typeface="黑体"/>
              </a:rPr>
              <a:t>值</a:t>
            </a:r>
            <a:r>
              <a:rPr sz="1000" spc="-10" dirty="0">
                <a:latin typeface="黑体"/>
                <a:cs typeface="黑体"/>
              </a:rPr>
              <a:t>填</a:t>
            </a:r>
            <a:r>
              <a:rPr sz="1000" dirty="0">
                <a:latin typeface="黑体"/>
                <a:cs typeface="黑体"/>
              </a:rPr>
              <a:t>充</a:t>
            </a:r>
            <a:r>
              <a:rPr sz="1000" spc="-5" dirty="0">
                <a:latin typeface="黑体"/>
                <a:cs typeface="黑体"/>
              </a:rPr>
              <a:t>：	1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77597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积结</a:t>
            </a:r>
            <a:r>
              <a:rPr sz="1000" spc="5" dirty="0">
                <a:latin typeface="黑体"/>
                <a:cs typeface="黑体"/>
              </a:rPr>
              <a:t>果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dirty="0">
                <a:latin typeface="黑体"/>
                <a:cs typeface="黑体"/>
              </a:rPr>
              <a:t>	</a:t>
            </a:r>
            <a:r>
              <a:rPr sz="1000" spc="-15" dirty="0">
                <a:latin typeface="黑体"/>
                <a:cs typeface="黑体"/>
              </a:rPr>
              <a:t>5</a:t>
            </a:r>
            <a:r>
              <a:rPr sz="1000" dirty="0">
                <a:latin typeface="黑体"/>
                <a:cs typeface="黑体"/>
              </a:rPr>
              <a:t>x</a:t>
            </a:r>
            <a:r>
              <a:rPr sz="1000" spc="-5" dirty="0">
                <a:latin typeface="黑体"/>
                <a:cs typeface="黑体"/>
              </a:rPr>
              <a:t>5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8228" y="2766440"/>
            <a:ext cx="2464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作用：保持输入、输出尺寸的一致！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6002" y="671829"/>
            <a:ext cx="5087620" cy="48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卷积神经网络中最常用的填充方式是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零值填充</a:t>
            </a:r>
            <a:r>
              <a:rPr sz="1200" dirty="0">
                <a:latin typeface="黑体"/>
                <a:cs typeface="黑体"/>
              </a:rPr>
              <a:t>。</a:t>
            </a:r>
            <a:endParaRPr sz="1200">
              <a:latin typeface="黑体"/>
              <a:cs typeface="黑体"/>
            </a:endParaRPr>
          </a:p>
          <a:p>
            <a:pPr marR="5080" algn="r">
              <a:lnSpc>
                <a:spcPct val="100000"/>
              </a:lnSpc>
              <a:spcBef>
                <a:spcPts val="969"/>
              </a:spcBef>
            </a:pPr>
            <a:r>
              <a:rPr sz="1000" dirty="0">
                <a:latin typeface="黑体"/>
                <a:cs typeface="黑体"/>
              </a:rPr>
              <a:t>输</a:t>
            </a:r>
            <a:r>
              <a:rPr sz="1000" spc="-5" dirty="0">
                <a:latin typeface="黑体"/>
                <a:cs typeface="黑体"/>
              </a:rPr>
              <a:t>入</a:t>
            </a:r>
            <a:r>
              <a:rPr sz="1000" spc="-10" dirty="0">
                <a:latin typeface="黑体"/>
                <a:cs typeface="黑体"/>
              </a:rPr>
              <a:t>数</a:t>
            </a:r>
            <a:r>
              <a:rPr sz="1000" dirty="0">
                <a:latin typeface="黑体"/>
                <a:cs typeface="黑体"/>
              </a:rPr>
              <a:t>据</a:t>
            </a:r>
            <a:r>
              <a:rPr sz="1000" spc="-5" dirty="0">
                <a:latin typeface="黑体"/>
                <a:cs typeface="黑体"/>
              </a:rPr>
              <a:t>矩</a:t>
            </a:r>
            <a:r>
              <a:rPr sz="1000" spc="-10" dirty="0">
                <a:latin typeface="黑体"/>
                <a:cs typeface="黑体"/>
              </a:rPr>
              <a:t>阵</a:t>
            </a:r>
            <a:r>
              <a:rPr sz="1000" dirty="0">
                <a:latin typeface="黑体"/>
                <a:cs typeface="黑体"/>
              </a:rPr>
              <a:t>尺</a:t>
            </a:r>
            <a:r>
              <a:rPr sz="1000" spc="-5" dirty="0">
                <a:latin typeface="黑体"/>
                <a:cs typeface="黑体"/>
              </a:rPr>
              <a:t>寸：</a:t>
            </a:r>
            <a:r>
              <a:rPr sz="1000" spc="-50" dirty="0">
                <a:latin typeface="黑体"/>
                <a:cs typeface="黑体"/>
              </a:rPr>
              <a:t> </a:t>
            </a:r>
            <a:r>
              <a:rPr sz="1000" spc="-10" dirty="0">
                <a:latin typeface="黑体"/>
                <a:cs typeface="黑体"/>
              </a:rPr>
              <a:t>W1×H1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01357" y="1130579"/>
            <a:ext cx="1612265" cy="9398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latin typeface="黑体"/>
                <a:cs typeface="黑体"/>
              </a:rPr>
              <a:t>输</a:t>
            </a:r>
            <a:r>
              <a:rPr sz="1000" spc="-5" dirty="0">
                <a:latin typeface="黑体"/>
                <a:cs typeface="黑体"/>
              </a:rPr>
              <a:t>出特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图组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spc="-55" dirty="0">
                <a:latin typeface="黑体"/>
                <a:cs typeface="黑体"/>
              </a:rPr>
              <a:t> </a:t>
            </a:r>
            <a:r>
              <a:rPr sz="1000" spc="-10" dirty="0">
                <a:latin typeface="黑体"/>
                <a:cs typeface="黑体"/>
              </a:rPr>
              <a:t>W2×H2</a:t>
            </a:r>
            <a:endParaRPr sz="1000">
              <a:latin typeface="黑体"/>
              <a:cs typeface="黑体"/>
            </a:endParaRPr>
          </a:p>
          <a:p>
            <a:pPr marL="266700" marR="257810" indent="-254635">
              <a:lnSpc>
                <a:spcPct val="150000"/>
              </a:lnSpc>
            </a:pP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W2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与W1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关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系如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下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：  W2=(W1-F+2P)/S+1  H2=(H2-F</a:t>
            </a:r>
            <a:r>
              <a:rPr sz="1000" spc="-4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+2P)/S+1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9646" y="222630"/>
            <a:ext cx="1257300" cy="637540"/>
          </a:xfrm>
          <a:prstGeom prst="rect">
            <a:avLst/>
          </a:prstGeom>
          <a:ln w="4762">
            <a:solidFill>
              <a:srgbClr val="FF0000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490"/>
              </a:spcBef>
            </a:pPr>
            <a:r>
              <a:rPr sz="900" dirty="0">
                <a:latin typeface="黑体"/>
                <a:cs typeface="黑体"/>
              </a:rPr>
              <a:t>F——卷积核尺寸</a:t>
            </a:r>
            <a:endParaRPr sz="900">
              <a:latin typeface="黑体"/>
              <a:cs typeface="黑体"/>
            </a:endParaRPr>
          </a:p>
          <a:p>
            <a:pPr marL="45720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latin typeface="黑体"/>
                <a:cs typeface="黑体"/>
              </a:rPr>
              <a:t>S——卷积步长</a:t>
            </a:r>
            <a:endParaRPr sz="900">
              <a:latin typeface="黑体"/>
              <a:cs typeface="黑体"/>
            </a:endParaRPr>
          </a:p>
          <a:p>
            <a:pPr marL="45720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latin typeface="黑体"/>
                <a:cs typeface="黑体"/>
              </a:rPr>
              <a:t>P——零填充数量</a:t>
            </a:r>
            <a:endParaRPr sz="9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39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4139" y="148733"/>
            <a:ext cx="2332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特征</a:t>
            </a:r>
            <a:r>
              <a:rPr sz="1800" spc="25" dirty="0">
                <a:latin typeface="黑体"/>
                <a:cs typeface="黑体"/>
              </a:rPr>
              <a:t>响</a:t>
            </a:r>
            <a:r>
              <a:rPr sz="1800" spc="10" dirty="0">
                <a:latin typeface="黑体"/>
                <a:cs typeface="黑体"/>
              </a:rPr>
              <a:t>应</a:t>
            </a:r>
            <a:r>
              <a:rPr sz="1800" spc="25" dirty="0">
                <a:latin typeface="黑体"/>
                <a:cs typeface="黑体"/>
              </a:rPr>
              <a:t>图组</a:t>
            </a:r>
            <a:r>
              <a:rPr sz="1800" spc="10" dirty="0">
                <a:latin typeface="黑体"/>
                <a:cs typeface="黑体"/>
              </a:rPr>
              <a:t>尺寸</a:t>
            </a:r>
            <a:r>
              <a:rPr sz="1800" spc="25" dirty="0">
                <a:latin typeface="黑体"/>
                <a:cs typeface="黑体"/>
              </a:rPr>
              <a:t>计</a:t>
            </a:r>
            <a:r>
              <a:rPr sz="1800" dirty="0">
                <a:latin typeface="黑体"/>
                <a:cs typeface="黑体"/>
              </a:rPr>
              <a:t>算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4138" y="171018"/>
            <a:ext cx="2332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黑体"/>
                <a:cs typeface="黑体"/>
              </a:rPr>
              <a:t>特征</a:t>
            </a:r>
            <a:r>
              <a:rPr sz="1800" spc="20" dirty="0">
                <a:latin typeface="黑体"/>
                <a:cs typeface="黑体"/>
              </a:rPr>
              <a:t>响</a:t>
            </a:r>
            <a:r>
              <a:rPr sz="1800" spc="10" dirty="0">
                <a:latin typeface="黑体"/>
                <a:cs typeface="黑体"/>
              </a:rPr>
              <a:t>应</a:t>
            </a:r>
            <a:r>
              <a:rPr sz="1800" spc="20" dirty="0">
                <a:latin typeface="黑体"/>
                <a:cs typeface="黑体"/>
              </a:rPr>
              <a:t>图组</a:t>
            </a:r>
            <a:r>
              <a:rPr sz="1800" spc="10" dirty="0">
                <a:latin typeface="黑体"/>
                <a:cs typeface="黑体"/>
              </a:rPr>
              <a:t>尺寸</a:t>
            </a:r>
            <a:r>
              <a:rPr sz="1800" spc="20" dirty="0">
                <a:latin typeface="黑体"/>
                <a:cs typeface="黑体"/>
              </a:rPr>
              <a:t>计</a:t>
            </a:r>
            <a:r>
              <a:rPr sz="1800" dirty="0">
                <a:latin typeface="黑体"/>
                <a:cs typeface="黑体"/>
              </a:rPr>
              <a:t>算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744" y="914806"/>
            <a:ext cx="2566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sz="1000" spc="-5" dirty="0"/>
              <a:t>给</a:t>
            </a:r>
            <a:r>
              <a:rPr sz="1000" spc="5" dirty="0"/>
              <a:t>定</a:t>
            </a:r>
            <a:r>
              <a:rPr sz="1000" spc="-5" dirty="0"/>
              <a:t>输入</a:t>
            </a:r>
            <a:r>
              <a:rPr sz="1000" spc="5" dirty="0"/>
              <a:t>数</a:t>
            </a:r>
            <a:r>
              <a:rPr sz="1000" spc="-5" dirty="0"/>
              <a:t>据矩</a:t>
            </a:r>
            <a:r>
              <a:rPr sz="1000" spc="10" dirty="0"/>
              <a:t>阵</a:t>
            </a:r>
            <a:r>
              <a:rPr sz="1000" spc="-5" dirty="0"/>
              <a:t>时，</a:t>
            </a:r>
            <a:r>
              <a:rPr sz="1000" spc="5" dirty="0"/>
              <a:t>影</a:t>
            </a:r>
            <a:r>
              <a:rPr sz="1000" spc="-5" dirty="0"/>
              <a:t>响输</a:t>
            </a:r>
            <a:r>
              <a:rPr sz="1000" spc="5" dirty="0"/>
              <a:t>出</a:t>
            </a:r>
            <a:r>
              <a:rPr sz="1000" spc="-5" dirty="0"/>
              <a:t>的特</a:t>
            </a:r>
            <a:r>
              <a:rPr sz="1000" spc="5" dirty="0"/>
              <a:t>征</a:t>
            </a:r>
            <a:r>
              <a:rPr sz="1000" spc="-5" dirty="0"/>
              <a:t>图 </a:t>
            </a:r>
            <a:r>
              <a:rPr sz="1000" spc="5" dirty="0"/>
              <a:t>组</a:t>
            </a:r>
            <a:r>
              <a:rPr sz="1000" spc="-5" dirty="0"/>
              <a:t>尺寸</a:t>
            </a:r>
            <a:r>
              <a:rPr sz="1000" spc="5" dirty="0"/>
              <a:t>大</a:t>
            </a:r>
            <a:r>
              <a:rPr sz="1000" spc="-5" dirty="0"/>
              <a:t>小的</a:t>
            </a:r>
            <a:r>
              <a:rPr sz="1000" spc="5" dirty="0"/>
              <a:t>因</a:t>
            </a:r>
            <a:r>
              <a:rPr sz="1000" spc="-5" dirty="0"/>
              <a:t>素：</a:t>
            </a: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87344" y="1448815"/>
            <a:ext cx="1214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积核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宽、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高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4139" y="148733"/>
            <a:ext cx="2332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/>
              <a:t>特征</a:t>
            </a:r>
            <a:r>
              <a:rPr sz="1800" spc="25" dirty="0"/>
              <a:t>响</a:t>
            </a:r>
            <a:r>
              <a:rPr sz="1800" spc="10" dirty="0"/>
              <a:t>应</a:t>
            </a:r>
            <a:r>
              <a:rPr sz="1800" spc="25" dirty="0"/>
              <a:t>图组</a:t>
            </a:r>
            <a:r>
              <a:rPr sz="1800" spc="10" dirty="0"/>
              <a:t>尺寸</a:t>
            </a:r>
            <a:r>
              <a:rPr sz="1800" spc="25" dirty="0"/>
              <a:t>计</a:t>
            </a:r>
            <a:r>
              <a:rPr sz="1800" dirty="0"/>
              <a:t>算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258744" y="891153"/>
            <a:ext cx="2566670" cy="94106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705"/>
              </a:spcBef>
            </a:pPr>
            <a:r>
              <a:rPr sz="1000" spc="-5" dirty="0">
                <a:latin typeface="黑体"/>
                <a:cs typeface="黑体"/>
              </a:rPr>
              <a:t>给</a:t>
            </a:r>
            <a:r>
              <a:rPr sz="1000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输</a:t>
            </a:r>
            <a:r>
              <a:rPr sz="1000" spc="-10" dirty="0">
                <a:latin typeface="黑体"/>
                <a:cs typeface="黑体"/>
              </a:rPr>
              <a:t>入</a:t>
            </a:r>
            <a:r>
              <a:rPr sz="1000" dirty="0">
                <a:latin typeface="黑体"/>
                <a:cs typeface="黑体"/>
              </a:rPr>
              <a:t>数</a:t>
            </a:r>
            <a:r>
              <a:rPr sz="1000" spc="-5" dirty="0">
                <a:latin typeface="黑体"/>
                <a:cs typeface="黑体"/>
              </a:rPr>
              <a:t>据</a:t>
            </a:r>
            <a:r>
              <a:rPr sz="1000" spc="-10" dirty="0">
                <a:latin typeface="黑体"/>
                <a:cs typeface="黑体"/>
              </a:rPr>
              <a:t>矩</a:t>
            </a:r>
            <a:r>
              <a:rPr sz="1000" spc="5" dirty="0">
                <a:latin typeface="黑体"/>
                <a:cs typeface="黑体"/>
              </a:rPr>
              <a:t>阵</a:t>
            </a:r>
            <a:r>
              <a:rPr sz="1000" spc="-10" dirty="0">
                <a:latin typeface="黑体"/>
                <a:cs typeface="黑体"/>
              </a:rPr>
              <a:t>时</a:t>
            </a:r>
            <a:r>
              <a:rPr sz="1000" spc="-5" dirty="0">
                <a:latin typeface="黑体"/>
                <a:cs typeface="黑体"/>
              </a:rPr>
              <a:t>，</a:t>
            </a:r>
            <a:r>
              <a:rPr sz="1000" dirty="0">
                <a:latin typeface="黑体"/>
                <a:cs typeface="黑体"/>
              </a:rPr>
              <a:t>影</a:t>
            </a:r>
            <a:r>
              <a:rPr sz="1000" spc="-5" dirty="0">
                <a:latin typeface="黑体"/>
                <a:cs typeface="黑体"/>
              </a:rPr>
              <a:t>响</a:t>
            </a:r>
            <a:r>
              <a:rPr sz="1000" spc="-10" dirty="0">
                <a:latin typeface="黑体"/>
                <a:cs typeface="黑体"/>
              </a:rPr>
              <a:t>输</a:t>
            </a:r>
            <a:r>
              <a:rPr sz="1000" dirty="0">
                <a:latin typeface="黑体"/>
                <a:cs typeface="黑体"/>
              </a:rPr>
              <a:t>出</a:t>
            </a:r>
            <a:r>
              <a:rPr sz="1000" spc="-5" dirty="0">
                <a:latin typeface="黑体"/>
                <a:cs typeface="黑体"/>
              </a:rPr>
              <a:t>的</a:t>
            </a:r>
            <a:r>
              <a:rPr sz="1000" spc="-10" dirty="0">
                <a:latin typeface="黑体"/>
                <a:cs typeface="黑体"/>
              </a:rPr>
              <a:t>特</a:t>
            </a:r>
            <a:r>
              <a:rPr sz="1000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尺寸</a:t>
            </a:r>
            <a:r>
              <a:rPr sz="1000" spc="5" dirty="0">
                <a:latin typeface="黑体"/>
                <a:cs typeface="黑体"/>
              </a:rPr>
              <a:t>大</a:t>
            </a:r>
            <a:r>
              <a:rPr sz="1000" spc="-5" dirty="0">
                <a:latin typeface="黑体"/>
                <a:cs typeface="黑体"/>
              </a:rPr>
              <a:t>小的</a:t>
            </a:r>
            <a:r>
              <a:rPr sz="1000" spc="5" dirty="0">
                <a:latin typeface="黑体"/>
                <a:cs typeface="黑体"/>
              </a:rPr>
              <a:t>因</a:t>
            </a:r>
            <a:r>
              <a:rPr sz="1000" spc="-5" dirty="0">
                <a:latin typeface="黑体"/>
                <a:cs typeface="黑体"/>
              </a:rPr>
              <a:t>素：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宽、</a:t>
            </a: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是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否采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用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边界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填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充操</a:t>
            </a:r>
            <a:r>
              <a:rPr sz="1000" spc="10" dirty="0">
                <a:solidFill>
                  <a:srgbClr val="FF0000"/>
                </a:solidFill>
                <a:latin typeface="黑体"/>
                <a:cs typeface="黑体"/>
              </a:rPr>
              <a:t>作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4138" y="171018"/>
            <a:ext cx="2332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/>
              <a:t>特征</a:t>
            </a:r>
            <a:r>
              <a:rPr sz="1800" spc="20" dirty="0"/>
              <a:t>响</a:t>
            </a:r>
            <a:r>
              <a:rPr sz="1800" spc="10" dirty="0"/>
              <a:t>应</a:t>
            </a:r>
            <a:r>
              <a:rPr sz="1800" spc="20" dirty="0"/>
              <a:t>图组</a:t>
            </a:r>
            <a:r>
              <a:rPr sz="1800" spc="10" dirty="0"/>
              <a:t>尺寸</a:t>
            </a:r>
            <a:r>
              <a:rPr sz="1800" spc="20" dirty="0"/>
              <a:t>计</a:t>
            </a:r>
            <a:r>
              <a:rPr sz="1800" dirty="0"/>
              <a:t>算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258744" y="914806"/>
            <a:ext cx="256603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黑体"/>
                <a:cs typeface="黑体"/>
              </a:rPr>
              <a:t>给</a:t>
            </a:r>
            <a:r>
              <a:rPr sz="1000" spc="5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输入</a:t>
            </a:r>
            <a:r>
              <a:rPr sz="1000" spc="5" dirty="0">
                <a:latin typeface="黑体"/>
                <a:cs typeface="黑体"/>
              </a:rPr>
              <a:t>数</a:t>
            </a:r>
            <a:r>
              <a:rPr sz="1000" spc="-5" dirty="0">
                <a:latin typeface="黑体"/>
                <a:cs typeface="黑体"/>
              </a:rPr>
              <a:t>据矩</a:t>
            </a:r>
            <a:r>
              <a:rPr sz="1000" spc="10" dirty="0">
                <a:latin typeface="黑体"/>
                <a:cs typeface="黑体"/>
              </a:rPr>
              <a:t>阵</a:t>
            </a:r>
            <a:r>
              <a:rPr sz="1000" spc="-5" dirty="0">
                <a:latin typeface="黑体"/>
                <a:cs typeface="黑体"/>
              </a:rPr>
              <a:t>时，</a:t>
            </a:r>
            <a:r>
              <a:rPr sz="1000" spc="5" dirty="0">
                <a:latin typeface="黑体"/>
                <a:cs typeface="黑体"/>
              </a:rPr>
              <a:t>影</a:t>
            </a:r>
            <a:r>
              <a:rPr sz="1000" spc="-5" dirty="0">
                <a:latin typeface="黑体"/>
                <a:cs typeface="黑体"/>
              </a:rPr>
              <a:t>响输</a:t>
            </a:r>
            <a:r>
              <a:rPr sz="1000" spc="5" dirty="0">
                <a:latin typeface="黑体"/>
                <a:cs typeface="黑体"/>
              </a:rPr>
              <a:t>出</a:t>
            </a:r>
            <a:r>
              <a:rPr sz="1000" spc="-5" dirty="0">
                <a:latin typeface="黑体"/>
                <a:cs typeface="黑体"/>
              </a:rPr>
              <a:t>的特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 </a:t>
            </a:r>
            <a:r>
              <a:rPr sz="1000" spc="5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尺寸</a:t>
            </a:r>
            <a:r>
              <a:rPr sz="1000" spc="5" dirty="0">
                <a:latin typeface="黑体"/>
                <a:cs typeface="黑体"/>
              </a:rPr>
              <a:t>大</a:t>
            </a:r>
            <a:r>
              <a:rPr sz="1000" spc="-5" dirty="0">
                <a:latin typeface="黑体"/>
                <a:cs typeface="黑体"/>
              </a:rPr>
              <a:t>小的</a:t>
            </a:r>
            <a:r>
              <a:rPr sz="1000" spc="5" dirty="0">
                <a:latin typeface="黑体"/>
                <a:cs typeface="黑体"/>
              </a:rPr>
              <a:t>因</a:t>
            </a:r>
            <a:r>
              <a:rPr sz="1000" spc="-5" dirty="0">
                <a:latin typeface="黑体"/>
                <a:cs typeface="黑体"/>
              </a:rPr>
              <a:t>素：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宽、</a:t>
            </a: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是</a:t>
            </a:r>
            <a:r>
              <a:rPr sz="1000" spc="-5" dirty="0">
                <a:latin typeface="黑体"/>
                <a:cs typeface="黑体"/>
              </a:rPr>
              <a:t>否采</a:t>
            </a:r>
            <a:r>
              <a:rPr sz="1000" spc="5" dirty="0">
                <a:latin typeface="黑体"/>
                <a:cs typeface="黑体"/>
              </a:rPr>
              <a:t>用</a:t>
            </a:r>
            <a:r>
              <a:rPr sz="1000" spc="-5" dirty="0">
                <a:latin typeface="黑体"/>
                <a:cs typeface="黑体"/>
              </a:rPr>
              <a:t>边界</a:t>
            </a:r>
            <a:r>
              <a:rPr sz="1000" spc="5" dirty="0">
                <a:latin typeface="黑体"/>
                <a:cs typeface="黑体"/>
              </a:rPr>
              <a:t>填</a:t>
            </a:r>
            <a:r>
              <a:rPr sz="1000" spc="-5" dirty="0">
                <a:latin typeface="黑体"/>
                <a:cs typeface="黑体"/>
              </a:rPr>
              <a:t>充操</a:t>
            </a:r>
            <a:r>
              <a:rPr sz="1000" spc="10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卷</a:t>
            </a:r>
            <a:r>
              <a:rPr sz="1000" spc="-10" dirty="0">
                <a:solidFill>
                  <a:srgbClr val="FF0000"/>
                </a:solidFill>
                <a:latin typeface="黑体"/>
                <a:cs typeface="黑体"/>
              </a:rPr>
              <a:t>积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长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4139" y="148733"/>
            <a:ext cx="2332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/>
              <a:t>特征</a:t>
            </a:r>
            <a:r>
              <a:rPr sz="1800" spc="25" dirty="0"/>
              <a:t>响</a:t>
            </a:r>
            <a:r>
              <a:rPr sz="1800" spc="10" dirty="0"/>
              <a:t>应</a:t>
            </a:r>
            <a:r>
              <a:rPr sz="1800" spc="25" dirty="0"/>
              <a:t>图组</a:t>
            </a:r>
            <a:r>
              <a:rPr sz="1800" spc="10" dirty="0"/>
              <a:t>尺寸</a:t>
            </a:r>
            <a:r>
              <a:rPr sz="1800" spc="25" dirty="0"/>
              <a:t>计</a:t>
            </a:r>
            <a:r>
              <a:rPr sz="1800" dirty="0"/>
              <a:t>算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258744" y="891153"/>
            <a:ext cx="2566670" cy="13982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705"/>
              </a:spcBef>
            </a:pPr>
            <a:r>
              <a:rPr sz="1000" spc="-5" dirty="0">
                <a:latin typeface="黑体"/>
                <a:cs typeface="黑体"/>
              </a:rPr>
              <a:t>给</a:t>
            </a:r>
            <a:r>
              <a:rPr sz="1000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输</a:t>
            </a:r>
            <a:r>
              <a:rPr sz="1000" spc="-10" dirty="0">
                <a:latin typeface="黑体"/>
                <a:cs typeface="黑体"/>
              </a:rPr>
              <a:t>入</a:t>
            </a:r>
            <a:r>
              <a:rPr sz="1000" dirty="0">
                <a:latin typeface="黑体"/>
                <a:cs typeface="黑体"/>
              </a:rPr>
              <a:t>数</a:t>
            </a:r>
            <a:r>
              <a:rPr sz="1000" spc="-5" dirty="0">
                <a:latin typeface="黑体"/>
                <a:cs typeface="黑体"/>
              </a:rPr>
              <a:t>据</a:t>
            </a:r>
            <a:r>
              <a:rPr sz="1000" spc="-10" dirty="0">
                <a:latin typeface="黑体"/>
                <a:cs typeface="黑体"/>
              </a:rPr>
              <a:t>矩</a:t>
            </a:r>
            <a:r>
              <a:rPr sz="1000" spc="5" dirty="0">
                <a:latin typeface="黑体"/>
                <a:cs typeface="黑体"/>
              </a:rPr>
              <a:t>阵</a:t>
            </a:r>
            <a:r>
              <a:rPr sz="1000" spc="-10" dirty="0">
                <a:latin typeface="黑体"/>
                <a:cs typeface="黑体"/>
              </a:rPr>
              <a:t>时</a:t>
            </a:r>
            <a:r>
              <a:rPr sz="1000" spc="-5" dirty="0">
                <a:latin typeface="黑体"/>
                <a:cs typeface="黑体"/>
              </a:rPr>
              <a:t>，</a:t>
            </a:r>
            <a:r>
              <a:rPr sz="1000" dirty="0">
                <a:latin typeface="黑体"/>
                <a:cs typeface="黑体"/>
              </a:rPr>
              <a:t>影</a:t>
            </a:r>
            <a:r>
              <a:rPr sz="1000" spc="-5" dirty="0">
                <a:latin typeface="黑体"/>
                <a:cs typeface="黑体"/>
              </a:rPr>
              <a:t>响</a:t>
            </a:r>
            <a:r>
              <a:rPr sz="1000" spc="-10" dirty="0">
                <a:latin typeface="黑体"/>
                <a:cs typeface="黑体"/>
              </a:rPr>
              <a:t>输</a:t>
            </a:r>
            <a:r>
              <a:rPr sz="1000" dirty="0">
                <a:latin typeface="黑体"/>
                <a:cs typeface="黑体"/>
              </a:rPr>
              <a:t>出</a:t>
            </a:r>
            <a:r>
              <a:rPr sz="1000" spc="-5" dirty="0">
                <a:latin typeface="黑体"/>
                <a:cs typeface="黑体"/>
              </a:rPr>
              <a:t>的</a:t>
            </a:r>
            <a:r>
              <a:rPr sz="1000" spc="-10" dirty="0">
                <a:latin typeface="黑体"/>
                <a:cs typeface="黑体"/>
              </a:rPr>
              <a:t>特</a:t>
            </a:r>
            <a:r>
              <a:rPr sz="1000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尺寸</a:t>
            </a:r>
            <a:r>
              <a:rPr sz="1000" spc="5" dirty="0">
                <a:latin typeface="黑体"/>
                <a:cs typeface="黑体"/>
              </a:rPr>
              <a:t>大</a:t>
            </a:r>
            <a:r>
              <a:rPr sz="1000" spc="-5" dirty="0">
                <a:latin typeface="黑体"/>
                <a:cs typeface="黑体"/>
              </a:rPr>
              <a:t>小的</a:t>
            </a:r>
            <a:r>
              <a:rPr sz="1000" spc="5" dirty="0">
                <a:latin typeface="黑体"/>
                <a:cs typeface="黑体"/>
              </a:rPr>
              <a:t>因</a:t>
            </a:r>
            <a:r>
              <a:rPr sz="1000" spc="-5" dirty="0">
                <a:latin typeface="黑体"/>
                <a:cs typeface="黑体"/>
              </a:rPr>
              <a:t>素：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宽、</a:t>
            </a: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是</a:t>
            </a:r>
            <a:r>
              <a:rPr sz="1000" spc="-5" dirty="0">
                <a:latin typeface="黑体"/>
                <a:cs typeface="黑体"/>
              </a:rPr>
              <a:t>否采</a:t>
            </a:r>
            <a:r>
              <a:rPr sz="1000" spc="5" dirty="0">
                <a:latin typeface="黑体"/>
                <a:cs typeface="黑体"/>
              </a:rPr>
              <a:t>用</a:t>
            </a:r>
            <a:r>
              <a:rPr sz="1000" spc="-5" dirty="0">
                <a:latin typeface="黑体"/>
                <a:cs typeface="黑体"/>
              </a:rPr>
              <a:t>边界</a:t>
            </a:r>
            <a:r>
              <a:rPr sz="1000" spc="5" dirty="0">
                <a:latin typeface="黑体"/>
                <a:cs typeface="黑体"/>
              </a:rPr>
              <a:t>填</a:t>
            </a:r>
            <a:r>
              <a:rPr sz="1000" spc="-5" dirty="0">
                <a:latin typeface="黑体"/>
                <a:cs typeface="黑体"/>
              </a:rPr>
              <a:t>充操</a:t>
            </a:r>
            <a:r>
              <a:rPr sz="1000" spc="10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10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步</a:t>
            </a:r>
            <a:r>
              <a:rPr sz="1000" spc="5" dirty="0">
                <a:latin typeface="黑体"/>
                <a:cs typeface="黑体"/>
              </a:rPr>
              <a:t>长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该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层的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卷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积核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4138" y="171018"/>
            <a:ext cx="2332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/>
              <a:t>特征</a:t>
            </a:r>
            <a:r>
              <a:rPr sz="1800" spc="20" dirty="0"/>
              <a:t>响</a:t>
            </a:r>
            <a:r>
              <a:rPr sz="1800" spc="10" dirty="0"/>
              <a:t>应</a:t>
            </a:r>
            <a:r>
              <a:rPr sz="1800" spc="20" dirty="0"/>
              <a:t>图组</a:t>
            </a:r>
            <a:r>
              <a:rPr sz="1800" spc="10" dirty="0"/>
              <a:t>尺寸</a:t>
            </a:r>
            <a:r>
              <a:rPr sz="1800" spc="20" dirty="0"/>
              <a:t>计</a:t>
            </a:r>
            <a:r>
              <a:rPr sz="1800" dirty="0"/>
              <a:t>算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258744" y="914806"/>
            <a:ext cx="256603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黑体"/>
                <a:cs typeface="黑体"/>
              </a:rPr>
              <a:t>给</a:t>
            </a:r>
            <a:r>
              <a:rPr sz="1000" spc="5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输入</a:t>
            </a:r>
            <a:r>
              <a:rPr sz="1000" spc="5" dirty="0">
                <a:latin typeface="黑体"/>
                <a:cs typeface="黑体"/>
              </a:rPr>
              <a:t>数</a:t>
            </a:r>
            <a:r>
              <a:rPr sz="1000" spc="-5" dirty="0">
                <a:latin typeface="黑体"/>
                <a:cs typeface="黑体"/>
              </a:rPr>
              <a:t>据矩</a:t>
            </a:r>
            <a:r>
              <a:rPr sz="1000" spc="10" dirty="0">
                <a:latin typeface="黑体"/>
                <a:cs typeface="黑体"/>
              </a:rPr>
              <a:t>阵</a:t>
            </a:r>
            <a:r>
              <a:rPr sz="1000" spc="-5" dirty="0">
                <a:latin typeface="黑体"/>
                <a:cs typeface="黑体"/>
              </a:rPr>
              <a:t>时，</a:t>
            </a:r>
            <a:r>
              <a:rPr sz="1000" spc="5" dirty="0">
                <a:latin typeface="黑体"/>
                <a:cs typeface="黑体"/>
              </a:rPr>
              <a:t>影</a:t>
            </a:r>
            <a:r>
              <a:rPr sz="1000" spc="-5" dirty="0">
                <a:latin typeface="黑体"/>
                <a:cs typeface="黑体"/>
              </a:rPr>
              <a:t>响输</a:t>
            </a:r>
            <a:r>
              <a:rPr sz="1000" spc="5" dirty="0">
                <a:latin typeface="黑体"/>
                <a:cs typeface="黑体"/>
              </a:rPr>
              <a:t>出</a:t>
            </a:r>
            <a:r>
              <a:rPr sz="1000" spc="-5" dirty="0">
                <a:latin typeface="黑体"/>
                <a:cs typeface="黑体"/>
              </a:rPr>
              <a:t>的特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 </a:t>
            </a:r>
            <a:r>
              <a:rPr sz="1000" spc="5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尺寸</a:t>
            </a:r>
            <a:r>
              <a:rPr sz="1000" spc="5" dirty="0">
                <a:latin typeface="黑体"/>
                <a:cs typeface="黑体"/>
              </a:rPr>
              <a:t>大</a:t>
            </a:r>
            <a:r>
              <a:rPr sz="1000" spc="-5" dirty="0">
                <a:latin typeface="黑体"/>
                <a:cs typeface="黑体"/>
              </a:rPr>
              <a:t>小的</a:t>
            </a:r>
            <a:r>
              <a:rPr sz="1000" spc="5" dirty="0">
                <a:latin typeface="黑体"/>
                <a:cs typeface="黑体"/>
              </a:rPr>
              <a:t>因</a:t>
            </a:r>
            <a:r>
              <a:rPr sz="1000" spc="-5" dirty="0">
                <a:latin typeface="黑体"/>
                <a:cs typeface="黑体"/>
              </a:rPr>
              <a:t>素：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宽、</a:t>
            </a: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是</a:t>
            </a:r>
            <a:r>
              <a:rPr sz="1000" spc="-5" dirty="0">
                <a:latin typeface="黑体"/>
                <a:cs typeface="黑体"/>
              </a:rPr>
              <a:t>否采</a:t>
            </a:r>
            <a:r>
              <a:rPr sz="1000" spc="5" dirty="0">
                <a:latin typeface="黑体"/>
                <a:cs typeface="黑体"/>
              </a:rPr>
              <a:t>用</a:t>
            </a:r>
            <a:r>
              <a:rPr sz="1000" spc="-5" dirty="0">
                <a:latin typeface="黑体"/>
                <a:cs typeface="黑体"/>
              </a:rPr>
              <a:t>边界</a:t>
            </a:r>
            <a:r>
              <a:rPr sz="1000" spc="5" dirty="0">
                <a:latin typeface="黑体"/>
                <a:cs typeface="黑体"/>
              </a:rPr>
              <a:t>填</a:t>
            </a:r>
            <a:r>
              <a:rPr sz="1000" spc="-5" dirty="0">
                <a:latin typeface="黑体"/>
                <a:cs typeface="黑体"/>
              </a:rPr>
              <a:t>充操</a:t>
            </a:r>
            <a:r>
              <a:rPr sz="1000" spc="10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10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步</a:t>
            </a:r>
            <a:r>
              <a:rPr sz="1000" spc="5" dirty="0">
                <a:latin typeface="黑体"/>
                <a:cs typeface="黑体"/>
              </a:rPr>
              <a:t>长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dirty="0">
                <a:latin typeface="黑体"/>
                <a:cs typeface="黑体"/>
              </a:rPr>
              <a:t>该</a:t>
            </a:r>
            <a:r>
              <a:rPr sz="1000" spc="-5" dirty="0">
                <a:latin typeface="黑体"/>
                <a:cs typeface="黑体"/>
              </a:rPr>
              <a:t>层</a:t>
            </a:r>
            <a:r>
              <a:rPr sz="1000" spc="-10" dirty="0">
                <a:latin typeface="黑体"/>
                <a:cs typeface="黑体"/>
              </a:rPr>
              <a:t>的</a:t>
            </a:r>
            <a:r>
              <a:rPr sz="1000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</a:t>
            </a:r>
            <a:r>
              <a:rPr sz="1000" spc="-10" dirty="0">
                <a:latin typeface="黑体"/>
                <a:cs typeface="黑体"/>
              </a:rPr>
              <a:t>核</a:t>
            </a:r>
            <a:r>
              <a:rPr sz="1000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数。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3028" y="827049"/>
            <a:ext cx="186690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latin typeface="黑体"/>
                <a:cs typeface="黑体"/>
              </a:rPr>
              <a:t>输</a:t>
            </a:r>
            <a:r>
              <a:rPr sz="1000" spc="-5" dirty="0">
                <a:latin typeface="黑体"/>
                <a:cs typeface="黑体"/>
              </a:rPr>
              <a:t>入数</a:t>
            </a:r>
            <a:r>
              <a:rPr sz="1000" spc="5" dirty="0">
                <a:latin typeface="黑体"/>
                <a:cs typeface="黑体"/>
              </a:rPr>
              <a:t>据</a:t>
            </a:r>
            <a:r>
              <a:rPr sz="1000" spc="-5" dirty="0">
                <a:latin typeface="黑体"/>
                <a:cs typeface="黑体"/>
              </a:rPr>
              <a:t>矩阵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spc="-85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W1×H1×D1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/>
                <a:cs typeface="黑体"/>
              </a:rPr>
              <a:t>输</a:t>
            </a:r>
            <a:r>
              <a:rPr sz="1000" spc="-5" dirty="0">
                <a:latin typeface="黑体"/>
                <a:cs typeface="黑体"/>
              </a:rPr>
              <a:t>出特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图组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spc="-85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W2×H2×D2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31281" y="771270"/>
            <a:ext cx="0" cy="2438400"/>
          </a:xfrm>
          <a:custGeom>
            <a:avLst/>
            <a:gdLst/>
            <a:ahLst/>
            <a:cxnLst/>
            <a:rect l="l" t="t" r="r" b="b"/>
            <a:pathLst>
              <a:path h="2438400">
                <a:moveTo>
                  <a:pt x="0" y="0"/>
                </a:moveTo>
                <a:lnTo>
                  <a:pt x="0" y="2438400"/>
                </a:lnTo>
              </a:path>
            </a:pathLst>
          </a:custGeom>
          <a:ln w="14287">
            <a:solidFill>
              <a:srgbClr val="F79546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4139" y="148733"/>
            <a:ext cx="2332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/>
              <a:t>特征</a:t>
            </a:r>
            <a:r>
              <a:rPr sz="1800" spc="25" dirty="0"/>
              <a:t>响</a:t>
            </a:r>
            <a:r>
              <a:rPr sz="1800" spc="10" dirty="0"/>
              <a:t>应</a:t>
            </a:r>
            <a:r>
              <a:rPr sz="1800" spc="25" dirty="0"/>
              <a:t>图组</a:t>
            </a:r>
            <a:r>
              <a:rPr sz="1800" spc="10" dirty="0"/>
              <a:t>尺寸</a:t>
            </a:r>
            <a:r>
              <a:rPr sz="1800" spc="25" dirty="0"/>
              <a:t>计</a:t>
            </a:r>
            <a:r>
              <a:rPr sz="1800" dirty="0"/>
              <a:t>算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258744" y="891153"/>
            <a:ext cx="2566670" cy="13982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705"/>
              </a:spcBef>
            </a:pPr>
            <a:r>
              <a:rPr sz="1000" spc="-5" dirty="0">
                <a:latin typeface="黑体"/>
                <a:cs typeface="黑体"/>
              </a:rPr>
              <a:t>给</a:t>
            </a:r>
            <a:r>
              <a:rPr sz="1000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输</a:t>
            </a:r>
            <a:r>
              <a:rPr sz="1000" spc="-10" dirty="0">
                <a:latin typeface="黑体"/>
                <a:cs typeface="黑体"/>
              </a:rPr>
              <a:t>入</a:t>
            </a:r>
            <a:r>
              <a:rPr sz="1000" dirty="0">
                <a:latin typeface="黑体"/>
                <a:cs typeface="黑体"/>
              </a:rPr>
              <a:t>数</a:t>
            </a:r>
            <a:r>
              <a:rPr sz="1000" spc="-5" dirty="0">
                <a:latin typeface="黑体"/>
                <a:cs typeface="黑体"/>
              </a:rPr>
              <a:t>据</a:t>
            </a:r>
            <a:r>
              <a:rPr sz="1000" spc="-10" dirty="0">
                <a:latin typeface="黑体"/>
                <a:cs typeface="黑体"/>
              </a:rPr>
              <a:t>矩</a:t>
            </a:r>
            <a:r>
              <a:rPr sz="1000" spc="5" dirty="0">
                <a:latin typeface="黑体"/>
                <a:cs typeface="黑体"/>
              </a:rPr>
              <a:t>阵</a:t>
            </a:r>
            <a:r>
              <a:rPr sz="1000" spc="-10" dirty="0">
                <a:latin typeface="黑体"/>
                <a:cs typeface="黑体"/>
              </a:rPr>
              <a:t>时</a:t>
            </a:r>
            <a:r>
              <a:rPr sz="1000" spc="-5" dirty="0">
                <a:latin typeface="黑体"/>
                <a:cs typeface="黑体"/>
              </a:rPr>
              <a:t>，</a:t>
            </a:r>
            <a:r>
              <a:rPr sz="1000" dirty="0">
                <a:latin typeface="黑体"/>
                <a:cs typeface="黑体"/>
              </a:rPr>
              <a:t>影</a:t>
            </a:r>
            <a:r>
              <a:rPr sz="1000" spc="-5" dirty="0">
                <a:latin typeface="黑体"/>
                <a:cs typeface="黑体"/>
              </a:rPr>
              <a:t>响</a:t>
            </a:r>
            <a:r>
              <a:rPr sz="1000" spc="-10" dirty="0">
                <a:latin typeface="黑体"/>
                <a:cs typeface="黑体"/>
              </a:rPr>
              <a:t>输</a:t>
            </a:r>
            <a:r>
              <a:rPr sz="1000" dirty="0">
                <a:latin typeface="黑体"/>
                <a:cs typeface="黑体"/>
              </a:rPr>
              <a:t>出</a:t>
            </a:r>
            <a:r>
              <a:rPr sz="1000" spc="-5" dirty="0">
                <a:latin typeface="黑体"/>
                <a:cs typeface="黑体"/>
              </a:rPr>
              <a:t>的</a:t>
            </a:r>
            <a:r>
              <a:rPr sz="1000" spc="-10" dirty="0">
                <a:latin typeface="黑体"/>
                <a:cs typeface="黑体"/>
              </a:rPr>
              <a:t>特</a:t>
            </a:r>
            <a:r>
              <a:rPr sz="1000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尺寸</a:t>
            </a:r>
            <a:r>
              <a:rPr sz="1000" spc="5" dirty="0">
                <a:latin typeface="黑体"/>
                <a:cs typeface="黑体"/>
              </a:rPr>
              <a:t>大</a:t>
            </a:r>
            <a:r>
              <a:rPr sz="1000" spc="-5" dirty="0">
                <a:latin typeface="黑体"/>
                <a:cs typeface="黑体"/>
              </a:rPr>
              <a:t>小的</a:t>
            </a:r>
            <a:r>
              <a:rPr sz="1000" spc="5" dirty="0">
                <a:latin typeface="黑体"/>
                <a:cs typeface="黑体"/>
              </a:rPr>
              <a:t>因</a:t>
            </a:r>
            <a:r>
              <a:rPr sz="1000" spc="-5" dirty="0">
                <a:latin typeface="黑体"/>
                <a:cs typeface="黑体"/>
              </a:rPr>
              <a:t>素：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宽、</a:t>
            </a: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是</a:t>
            </a:r>
            <a:r>
              <a:rPr sz="1000" spc="-5" dirty="0">
                <a:latin typeface="黑体"/>
                <a:cs typeface="黑体"/>
              </a:rPr>
              <a:t>否采</a:t>
            </a:r>
            <a:r>
              <a:rPr sz="1000" spc="5" dirty="0">
                <a:latin typeface="黑体"/>
                <a:cs typeface="黑体"/>
              </a:rPr>
              <a:t>用</a:t>
            </a:r>
            <a:r>
              <a:rPr sz="1000" spc="-5" dirty="0">
                <a:latin typeface="黑体"/>
                <a:cs typeface="黑体"/>
              </a:rPr>
              <a:t>边界</a:t>
            </a:r>
            <a:r>
              <a:rPr sz="1000" spc="5" dirty="0">
                <a:latin typeface="黑体"/>
                <a:cs typeface="黑体"/>
              </a:rPr>
              <a:t>填</a:t>
            </a:r>
            <a:r>
              <a:rPr sz="1000" spc="-5" dirty="0">
                <a:latin typeface="黑体"/>
                <a:cs typeface="黑体"/>
              </a:rPr>
              <a:t>充操</a:t>
            </a:r>
            <a:r>
              <a:rPr sz="1000" spc="10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10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步</a:t>
            </a:r>
            <a:r>
              <a:rPr sz="1000" spc="5" dirty="0">
                <a:latin typeface="黑体"/>
                <a:cs typeface="黑体"/>
              </a:rPr>
              <a:t>长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该</a:t>
            </a:r>
            <a:r>
              <a:rPr sz="1000" spc="-5" dirty="0">
                <a:latin typeface="黑体"/>
                <a:cs typeface="黑体"/>
              </a:rPr>
              <a:t>层的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dirty="0">
                <a:latin typeface="黑体"/>
                <a:cs typeface="黑体"/>
              </a:rPr>
              <a:t>数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3029" y="803951"/>
            <a:ext cx="186690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latin typeface="黑体"/>
                <a:cs typeface="黑体"/>
              </a:rPr>
              <a:t>输</a:t>
            </a:r>
            <a:r>
              <a:rPr sz="1000" spc="-5" dirty="0">
                <a:latin typeface="黑体"/>
                <a:cs typeface="黑体"/>
              </a:rPr>
              <a:t>入数</a:t>
            </a:r>
            <a:r>
              <a:rPr sz="1000" spc="5" dirty="0">
                <a:latin typeface="黑体"/>
                <a:cs typeface="黑体"/>
              </a:rPr>
              <a:t>据</a:t>
            </a:r>
            <a:r>
              <a:rPr sz="1000" spc="-5" dirty="0">
                <a:latin typeface="黑体"/>
                <a:cs typeface="黑体"/>
              </a:rPr>
              <a:t>矩阵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spc="-85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W1×H1×D1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/>
                <a:cs typeface="黑体"/>
              </a:rPr>
              <a:t>输</a:t>
            </a:r>
            <a:r>
              <a:rPr sz="1000" spc="-5" dirty="0">
                <a:latin typeface="黑体"/>
                <a:cs typeface="黑体"/>
              </a:rPr>
              <a:t>出特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图组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spc="-85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W2×H2×D2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37222" y="1418225"/>
            <a:ext cx="1257300" cy="853440"/>
          </a:xfrm>
          <a:prstGeom prst="rect">
            <a:avLst/>
          </a:prstGeom>
          <a:ln w="4762">
            <a:solidFill>
              <a:srgbClr val="FF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latin typeface="黑体"/>
                <a:cs typeface="黑体"/>
              </a:rPr>
              <a:t>F——卷积核尺寸</a:t>
            </a:r>
            <a:endParaRPr sz="900">
              <a:latin typeface="黑体"/>
              <a:cs typeface="黑体"/>
            </a:endParaRPr>
          </a:p>
          <a:p>
            <a:pPr marL="45085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latin typeface="黑体"/>
                <a:cs typeface="黑体"/>
              </a:rPr>
              <a:t>S——卷积步长</a:t>
            </a:r>
            <a:endParaRPr sz="900">
              <a:latin typeface="黑体"/>
              <a:cs typeface="黑体"/>
            </a:endParaRPr>
          </a:p>
          <a:p>
            <a:pPr marL="45085">
              <a:lnSpc>
                <a:spcPct val="100000"/>
              </a:lnSpc>
              <a:spcBef>
                <a:spcPts val="540"/>
              </a:spcBef>
            </a:pPr>
            <a:r>
              <a:rPr sz="900" spc="5" dirty="0">
                <a:latin typeface="黑体"/>
                <a:cs typeface="黑体"/>
              </a:rPr>
              <a:t>P</a:t>
            </a:r>
            <a:r>
              <a:rPr sz="900" dirty="0">
                <a:latin typeface="黑体"/>
                <a:cs typeface="黑体"/>
              </a:rPr>
              <a:t>——零填充数量</a:t>
            </a:r>
            <a:endParaRPr sz="900">
              <a:latin typeface="黑体"/>
              <a:cs typeface="黑体"/>
            </a:endParaRPr>
          </a:p>
          <a:p>
            <a:pPr marL="45085">
              <a:lnSpc>
                <a:spcPct val="100000"/>
              </a:lnSpc>
              <a:spcBef>
                <a:spcPts val="540"/>
              </a:spcBef>
            </a:pPr>
            <a:r>
              <a:rPr sz="900" spc="5" dirty="0">
                <a:latin typeface="黑体"/>
                <a:cs typeface="黑体"/>
              </a:rPr>
              <a:t>K</a:t>
            </a:r>
            <a:r>
              <a:rPr sz="900" dirty="0">
                <a:latin typeface="黑体"/>
                <a:cs typeface="黑体"/>
              </a:rPr>
              <a:t>——卷积核个数</a:t>
            </a:r>
            <a:endParaRPr sz="9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4065" y="2672985"/>
            <a:ext cx="9982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卷积层</a:t>
            </a:r>
            <a:r>
              <a:rPr sz="900" spc="10" dirty="0">
                <a:latin typeface="黑体"/>
                <a:cs typeface="黑体"/>
              </a:rPr>
              <a:t>的</a:t>
            </a:r>
            <a:r>
              <a:rPr sz="900" spc="-10" dirty="0">
                <a:latin typeface="黑体"/>
                <a:cs typeface="黑体"/>
              </a:rPr>
              <a:t>4</a:t>
            </a:r>
            <a:r>
              <a:rPr sz="900" dirty="0">
                <a:latin typeface="黑体"/>
                <a:cs typeface="黑体"/>
              </a:rPr>
              <a:t>个超参数</a:t>
            </a:r>
            <a:endParaRPr sz="900">
              <a:latin typeface="黑体"/>
              <a:cs typeface="黑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05903" y="2323481"/>
            <a:ext cx="43180" cy="337185"/>
          </a:xfrm>
          <a:custGeom>
            <a:avLst/>
            <a:gdLst/>
            <a:ahLst/>
            <a:cxnLst/>
            <a:rect l="l" t="t" r="r" b="b"/>
            <a:pathLst>
              <a:path w="43179" h="337185">
                <a:moveTo>
                  <a:pt x="28575" y="35686"/>
                </a:moveTo>
                <a:lnTo>
                  <a:pt x="14350" y="35686"/>
                </a:lnTo>
                <a:lnTo>
                  <a:pt x="14350" y="337057"/>
                </a:lnTo>
                <a:lnTo>
                  <a:pt x="28575" y="337057"/>
                </a:lnTo>
                <a:lnTo>
                  <a:pt x="28575" y="35686"/>
                </a:lnTo>
                <a:close/>
              </a:path>
              <a:path w="43179" h="337185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6"/>
                </a:lnTo>
                <a:lnTo>
                  <a:pt x="39359" y="35686"/>
                </a:lnTo>
                <a:lnTo>
                  <a:pt x="21462" y="0"/>
                </a:lnTo>
                <a:close/>
              </a:path>
              <a:path w="43179" h="337185">
                <a:moveTo>
                  <a:pt x="39359" y="35686"/>
                </a:moveTo>
                <a:lnTo>
                  <a:pt x="28575" y="35686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31282" y="749189"/>
            <a:ext cx="0" cy="2438400"/>
          </a:xfrm>
          <a:custGeom>
            <a:avLst/>
            <a:gdLst/>
            <a:ahLst/>
            <a:cxnLst/>
            <a:rect l="l" t="t" r="r" b="b"/>
            <a:pathLst>
              <a:path h="2438400">
                <a:moveTo>
                  <a:pt x="0" y="0"/>
                </a:moveTo>
                <a:lnTo>
                  <a:pt x="0" y="2438400"/>
                </a:lnTo>
              </a:path>
            </a:pathLst>
          </a:custGeom>
          <a:ln w="14287">
            <a:solidFill>
              <a:srgbClr val="F79546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4138" y="171018"/>
            <a:ext cx="2332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/>
              <a:t>特征</a:t>
            </a:r>
            <a:r>
              <a:rPr sz="1800" spc="20" dirty="0"/>
              <a:t>响</a:t>
            </a:r>
            <a:r>
              <a:rPr sz="1800" spc="10" dirty="0"/>
              <a:t>应</a:t>
            </a:r>
            <a:r>
              <a:rPr sz="1800" spc="20" dirty="0"/>
              <a:t>图组</a:t>
            </a:r>
            <a:r>
              <a:rPr sz="1800" spc="10" dirty="0"/>
              <a:t>尺寸</a:t>
            </a:r>
            <a:r>
              <a:rPr sz="1800" spc="20" dirty="0"/>
              <a:t>计</a:t>
            </a:r>
            <a:r>
              <a:rPr sz="1800" dirty="0"/>
              <a:t>算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258744" y="914806"/>
            <a:ext cx="256603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0">
              <a:lnSpc>
                <a:spcPct val="150000"/>
              </a:lnSpc>
              <a:spcBef>
                <a:spcPts val="100"/>
              </a:spcBef>
            </a:pPr>
            <a:r>
              <a:rPr sz="1000" spc="-5" dirty="0">
                <a:latin typeface="黑体"/>
                <a:cs typeface="黑体"/>
              </a:rPr>
              <a:t>给</a:t>
            </a:r>
            <a:r>
              <a:rPr sz="1000" spc="5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输入</a:t>
            </a:r>
            <a:r>
              <a:rPr sz="1000" spc="5" dirty="0">
                <a:latin typeface="黑体"/>
                <a:cs typeface="黑体"/>
              </a:rPr>
              <a:t>数</a:t>
            </a:r>
            <a:r>
              <a:rPr sz="1000" spc="-5" dirty="0">
                <a:latin typeface="黑体"/>
                <a:cs typeface="黑体"/>
              </a:rPr>
              <a:t>据矩</a:t>
            </a:r>
            <a:r>
              <a:rPr sz="1000" spc="10" dirty="0">
                <a:latin typeface="黑体"/>
                <a:cs typeface="黑体"/>
              </a:rPr>
              <a:t>阵</a:t>
            </a:r>
            <a:r>
              <a:rPr sz="1000" spc="-5" dirty="0">
                <a:latin typeface="黑体"/>
                <a:cs typeface="黑体"/>
              </a:rPr>
              <a:t>时，</a:t>
            </a:r>
            <a:r>
              <a:rPr sz="1000" spc="5" dirty="0">
                <a:latin typeface="黑体"/>
                <a:cs typeface="黑体"/>
              </a:rPr>
              <a:t>影</a:t>
            </a:r>
            <a:r>
              <a:rPr sz="1000" spc="-5" dirty="0">
                <a:latin typeface="黑体"/>
                <a:cs typeface="黑体"/>
              </a:rPr>
              <a:t>响输</a:t>
            </a:r>
            <a:r>
              <a:rPr sz="1000" spc="5" dirty="0">
                <a:latin typeface="黑体"/>
                <a:cs typeface="黑体"/>
              </a:rPr>
              <a:t>出</a:t>
            </a:r>
            <a:r>
              <a:rPr sz="1000" spc="-5" dirty="0">
                <a:latin typeface="黑体"/>
                <a:cs typeface="黑体"/>
              </a:rPr>
              <a:t>的特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 </a:t>
            </a:r>
            <a:r>
              <a:rPr sz="1000" spc="5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尺寸</a:t>
            </a:r>
            <a:r>
              <a:rPr sz="1000" spc="5" dirty="0">
                <a:latin typeface="黑体"/>
                <a:cs typeface="黑体"/>
              </a:rPr>
              <a:t>大</a:t>
            </a:r>
            <a:r>
              <a:rPr sz="1000" spc="-5" dirty="0">
                <a:latin typeface="黑体"/>
                <a:cs typeface="黑体"/>
              </a:rPr>
              <a:t>小的</a:t>
            </a:r>
            <a:r>
              <a:rPr sz="1000" spc="5" dirty="0">
                <a:latin typeface="黑体"/>
                <a:cs typeface="黑体"/>
              </a:rPr>
              <a:t>因</a:t>
            </a:r>
            <a:r>
              <a:rPr sz="1000" spc="-5" dirty="0">
                <a:latin typeface="黑体"/>
                <a:cs typeface="黑体"/>
              </a:rPr>
              <a:t>素：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积核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宽、</a:t>
            </a:r>
            <a:r>
              <a:rPr sz="1000" spc="5" dirty="0">
                <a:latin typeface="黑体"/>
                <a:cs typeface="黑体"/>
              </a:rPr>
              <a:t>高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是</a:t>
            </a:r>
            <a:r>
              <a:rPr sz="1000" spc="-5" dirty="0">
                <a:latin typeface="黑体"/>
                <a:cs typeface="黑体"/>
              </a:rPr>
              <a:t>否采</a:t>
            </a:r>
            <a:r>
              <a:rPr sz="1000" spc="5" dirty="0">
                <a:latin typeface="黑体"/>
                <a:cs typeface="黑体"/>
              </a:rPr>
              <a:t>用</a:t>
            </a:r>
            <a:r>
              <a:rPr sz="1000" spc="-5" dirty="0">
                <a:latin typeface="黑体"/>
                <a:cs typeface="黑体"/>
              </a:rPr>
              <a:t>边界</a:t>
            </a:r>
            <a:r>
              <a:rPr sz="1000" spc="5" dirty="0">
                <a:latin typeface="黑体"/>
                <a:cs typeface="黑体"/>
              </a:rPr>
              <a:t>填</a:t>
            </a:r>
            <a:r>
              <a:rPr sz="1000" spc="-5" dirty="0">
                <a:latin typeface="黑体"/>
                <a:cs typeface="黑体"/>
              </a:rPr>
              <a:t>充操</a:t>
            </a:r>
            <a:r>
              <a:rPr sz="1000" spc="10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10" dirty="0">
                <a:latin typeface="黑体"/>
                <a:cs typeface="黑体"/>
              </a:rPr>
              <a:t>积</a:t>
            </a:r>
            <a:r>
              <a:rPr sz="1000" spc="-5" dirty="0">
                <a:latin typeface="黑体"/>
                <a:cs typeface="黑体"/>
              </a:rPr>
              <a:t>步</a:t>
            </a:r>
            <a:r>
              <a:rPr sz="1000" spc="5" dirty="0">
                <a:latin typeface="黑体"/>
                <a:cs typeface="黑体"/>
              </a:rPr>
              <a:t>长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13384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414020" algn="l"/>
              </a:tabLst>
            </a:pPr>
            <a:r>
              <a:rPr sz="1000" dirty="0">
                <a:latin typeface="黑体"/>
                <a:cs typeface="黑体"/>
              </a:rPr>
              <a:t>该</a:t>
            </a:r>
            <a:r>
              <a:rPr sz="1000" spc="-5" dirty="0">
                <a:latin typeface="黑体"/>
                <a:cs typeface="黑体"/>
              </a:rPr>
              <a:t>层</a:t>
            </a:r>
            <a:r>
              <a:rPr sz="1000" spc="-10" dirty="0">
                <a:latin typeface="黑体"/>
                <a:cs typeface="黑体"/>
              </a:rPr>
              <a:t>的</a:t>
            </a:r>
            <a:r>
              <a:rPr sz="1000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</a:t>
            </a:r>
            <a:r>
              <a:rPr sz="1000" spc="-10" dirty="0">
                <a:latin typeface="黑体"/>
                <a:cs typeface="黑体"/>
              </a:rPr>
              <a:t>核</a:t>
            </a:r>
            <a:r>
              <a:rPr sz="1000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数。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3028" y="827049"/>
            <a:ext cx="186690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5" dirty="0">
                <a:latin typeface="黑体"/>
                <a:cs typeface="黑体"/>
              </a:rPr>
              <a:t>输</a:t>
            </a:r>
            <a:r>
              <a:rPr sz="1000" spc="-5" dirty="0">
                <a:latin typeface="黑体"/>
                <a:cs typeface="黑体"/>
              </a:rPr>
              <a:t>入数</a:t>
            </a:r>
            <a:r>
              <a:rPr sz="1000" spc="5" dirty="0">
                <a:latin typeface="黑体"/>
                <a:cs typeface="黑体"/>
              </a:rPr>
              <a:t>据</a:t>
            </a:r>
            <a:r>
              <a:rPr sz="1000" spc="-5" dirty="0">
                <a:latin typeface="黑体"/>
                <a:cs typeface="黑体"/>
              </a:rPr>
              <a:t>矩阵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spc="-85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W1×H1×D1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5" dirty="0">
                <a:latin typeface="黑体"/>
                <a:cs typeface="黑体"/>
              </a:rPr>
              <a:t>输</a:t>
            </a:r>
            <a:r>
              <a:rPr sz="1000" spc="-5" dirty="0">
                <a:latin typeface="黑体"/>
                <a:cs typeface="黑体"/>
              </a:rPr>
              <a:t>出特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图组</a:t>
            </a:r>
            <a:r>
              <a:rPr sz="1000" spc="5" dirty="0">
                <a:latin typeface="黑体"/>
                <a:cs typeface="黑体"/>
              </a:rPr>
              <a:t>尺</a:t>
            </a:r>
            <a:r>
              <a:rPr sz="1000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：</a:t>
            </a:r>
            <a:r>
              <a:rPr sz="1000" spc="-85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W2×H2×D2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3028" y="1284249"/>
            <a:ext cx="14236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5080" indent="-254635">
              <a:lnSpc>
                <a:spcPct val="150000"/>
              </a:lnSpc>
              <a:spcBef>
                <a:spcPts val="100"/>
              </a:spcBef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征图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组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尺寸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计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算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如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下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：  W2=(W1-F+2P)/S+1  H2=(H2-F+2P)/S+1  D2=K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37222" y="1440306"/>
            <a:ext cx="1257300" cy="853440"/>
          </a:xfrm>
          <a:prstGeom prst="rect">
            <a:avLst/>
          </a:prstGeom>
          <a:ln w="4762">
            <a:solidFill>
              <a:srgbClr val="FF0000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490"/>
              </a:spcBef>
            </a:pPr>
            <a:r>
              <a:rPr sz="900" dirty="0">
                <a:latin typeface="黑体"/>
                <a:cs typeface="黑体"/>
              </a:rPr>
              <a:t>F——卷积核尺寸</a:t>
            </a:r>
            <a:endParaRPr sz="900">
              <a:latin typeface="黑体"/>
              <a:cs typeface="黑体"/>
            </a:endParaRPr>
          </a:p>
          <a:p>
            <a:pPr marL="45085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latin typeface="黑体"/>
                <a:cs typeface="黑体"/>
              </a:rPr>
              <a:t>S——卷积步长</a:t>
            </a:r>
            <a:endParaRPr sz="900">
              <a:latin typeface="黑体"/>
              <a:cs typeface="黑体"/>
            </a:endParaRPr>
          </a:p>
          <a:p>
            <a:pPr marL="45085">
              <a:lnSpc>
                <a:spcPct val="100000"/>
              </a:lnSpc>
              <a:spcBef>
                <a:spcPts val="540"/>
              </a:spcBef>
            </a:pPr>
            <a:r>
              <a:rPr sz="900" spc="5" dirty="0">
                <a:latin typeface="黑体"/>
                <a:cs typeface="黑体"/>
              </a:rPr>
              <a:t>P</a:t>
            </a:r>
            <a:r>
              <a:rPr sz="900" dirty="0">
                <a:latin typeface="黑体"/>
                <a:cs typeface="黑体"/>
              </a:rPr>
              <a:t>——零填充数量</a:t>
            </a:r>
            <a:endParaRPr sz="900">
              <a:latin typeface="黑体"/>
              <a:cs typeface="黑体"/>
            </a:endParaRPr>
          </a:p>
          <a:p>
            <a:pPr marL="45085">
              <a:lnSpc>
                <a:spcPct val="100000"/>
              </a:lnSpc>
              <a:spcBef>
                <a:spcPts val="540"/>
              </a:spcBef>
            </a:pPr>
            <a:r>
              <a:rPr sz="900" spc="5" dirty="0">
                <a:latin typeface="黑体"/>
                <a:cs typeface="黑体"/>
              </a:rPr>
              <a:t>K</a:t>
            </a:r>
            <a:r>
              <a:rPr sz="900" dirty="0">
                <a:latin typeface="黑体"/>
                <a:cs typeface="黑体"/>
              </a:rPr>
              <a:t>——卷积核个数</a:t>
            </a:r>
            <a:endParaRPr sz="9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4065" y="2696082"/>
            <a:ext cx="9982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黑体"/>
                <a:cs typeface="黑体"/>
              </a:rPr>
              <a:t>卷积层</a:t>
            </a:r>
            <a:r>
              <a:rPr sz="900" spc="10" dirty="0">
                <a:latin typeface="黑体"/>
                <a:cs typeface="黑体"/>
              </a:rPr>
              <a:t>的</a:t>
            </a:r>
            <a:r>
              <a:rPr sz="900" spc="-10" dirty="0">
                <a:latin typeface="黑体"/>
                <a:cs typeface="黑体"/>
              </a:rPr>
              <a:t>4</a:t>
            </a:r>
            <a:r>
              <a:rPr sz="900" dirty="0">
                <a:latin typeface="黑体"/>
                <a:cs typeface="黑体"/>
              </a:rPr>
              <a:t>个超参数</a:t>
            </a:r>
            <a:endParaRPr sz="9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05903" y="2345562"/>
            <a:ext cx="43180" cy="337185"/>
          </a:xfrm>
          <a:custGeom>
            <a:avLst/>
            <a:gdLst/>
            <a:ahLst/>
            <a:cxnLst/>
            <a:rect l="l" t="t" r="r" b="b"/>
            <a:pathLst>
              <a:path w="43179" h="337185">
                <a:moveTo>
                  <a:pt x="28575" y="35687"/>
                </a:moveTo>
                <a:lnTo>
                  <a:pt x="14350" y="35687"/>
                </a:lnTo>
                <a:lnTo>
                  <a:pt x="14350" y="337058"/>
                </a:lnTo>
                <a:lnTo>
                  <a:pt x="28575" y="337058"/>
                </a:lnTo>
                <a:lnTo>
                  <a:pt x="28575" y="35687"/>
                </a:lnTo>
                <a:close/>
              </a:path>
              <a:path w="43179" h="337185">
                <a:moveTo>
                  <a:pt x="21462" y="0"/>
                </a:moveTo>
                <a:lnTo>
                  <a:pt x="0" y="42799"/>
                </a:lnTo>
                <a:lnTo>
                  <a:pt x="14350" y="42799"/>
                </a:lnTo>
                <a:lnTo>
                  <a:pt x="14350" y="35687"/>
                </a:lnTo>
                <a:lnTo>
                  <a:pt x="39359" y="35687"/>
                </a:lnTo>
                <a:lnTo>
                  <a:pt x="21462" y="0"/>
                </a:lnTo>
                <a:close/>
              </a:path>
              <a:path w="43179" h="337185">
                <a:moveTo>
                  <a:pt x="39359" y="35687"/>
                </a:moveTo>
                <a:lnTo>
                  <a:pt x="28575" y="35687"/>
                </a:lnTo>
                <a:lnTo>
                  <a:pt x="28575" y="42799"/>
                </a:lnTo>
                <a:lnTo>
                  <a:pt x="42925" y="42799"/>
                </a:lnTo>
                <a:lnTo>
                  <a:pt x="39359" y="35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31281" y="771270"/>
            <a:ext cx="0" cy="2438400"/>
          </a:xfrm>
          <a:custGeom>
            <a:avLst/>
            <a:gdLst/>
            <a:ahLst/>
            <a:cxnLst/>
            <a:rect l="l" t="t" r="r" b="b"/>
            <a:pathLst>
              <a:path h="2438400">
                <a:moveTo>
                  <a:pt x="0" y="0"/>
                </a:moveTo>
                <a:lnTo>
                  <a:pt x="0" y="2438400"/>
                </a:lnTo>
              </a:path>
            </a:pathLst>
          </a:custGeom>
          <a:ln w="14287">
            <a:solidFill>
              <a:srgbClr val="F79546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216" y="856631"/>
            <a:ext cx="4149852" cy="1985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4104" y="849392"/>
            <a:ext cx="4164329" cy="2000250"/>
          </a:xfrm>
          <a:custGeom>
            <a:avLst/>
            <a:gdLst/>
            <a:ahLst/>
            <a:cxnLst/>
            <a:rect l="l" t="t" r="r" b="b"/>
            <a:pathLst>
              <a:path w="4164329" h="2000250">
                <a:moveTo>
                  <a:pt x="0" y="2000123"/>
                </a:moveTo>
                <a:lnTo>
                  <a:pt x="4164076" y="2000123"/>
                </a:lnTo>
                <a:lnTo>
                  <a:pt x="4164076" y="0"/>
                </a:lnTo>
                <a:lnTo>
                  <a:pt x="0" y="0"/>
                </a:lnTo>
                <a:lnTo>
                  <a:pt x="0" y="200012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504" y="1691783"/>
            <a:ext cx="996695" cy="909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392" y="1684608"/>
            <a:ext cx="1011555" cy="924560"/>
          </a:xfrm>
          <a:custGeom>
            <a:avLst/>
            <a:gdLst/>
            <a:ahLst/>
            <a:cxnLst/>
            <a:rect l="l" t="t" r="r" b="b"/>
            <a:pathLst>
              <a:path w="1011555" h="924560">
                <a:moveTo>
                  <a:pt x="0" y="924115"/>
                </a:moveTo>
                <a:lnTo>
                  <a:pt x="1010983" y="924115"/>
                </a:lnTo>
                <a:lnTo>
                  <a:pt x="1010983" y="0"/>
                </a:lnTo>
                <a:lnTo>
                  <a:pt x="0" y="0"/>
                </a:lnTo>
                <a:lnTo>
                  <a:pt x="0" y="92411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66" y="1142889"/>
            <a:ext cx="10922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CONV—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卷积层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RELU—</a:t>
            </a:r>
            <a:r>
              <a:rPr sz="1200" spc="-5" dirty="0">
                <a:solidFill>
                  <a:srgbClr val="FF0000"/>
                </a:solidFill>
                <a:latin typeface="黑体"/>
                <a:cs typeface="黑体"/>
              </a:rPr>
              <a:t>—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激活层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POOL—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池化层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FC——全连接层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神</a:t>
            </a:r>
            <a:r>
              <a:rPr spc="5" dirty="0"/>
              <a:t>经</a:t>
            </a:r>
            <a:r>
              <a:rPr spc="-10" dirty="0"/>
              <a:t>网</a:t>
            </a:r>
            <a:r>
              <a:rPr spc="5" dirty="0"/>
              <a:t>络</a:t>
            </a:r>
          </a:p>
        </p:txBody>
      </p:sp>
      <p:sp>
        <p:nvSpPr>
          <p:cNvPr id="8" name="object 8"/>
          <p:cNvSpPr/>
          <p:nvPr/>
        </p:nvSpPr>
        <p:spPr>
          <a:xfrm>
            <a:off x="2778882" y="977789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80" h="152400">
                <a:moveTo>
                  <a:pt x="0" y="152400"/>
                </a:moveTo>
                <a:lnTo>
                  <a:pt x="297180" y="152400"/>
                </a:lnTo>
                <a:lnTo>
                  <a:pt x="29718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08066" y="977789"/>
            <a:ext cx="299085" cy="152400"/>
          </a:xfrm>
          <a:custGeom>
            <a:avLst/>
            <a:gdLst/>
            <a:ahLst/>
            <a:cxnLst/>
            <a:rect l="l" t="t" r="r" b="b"/>
            <a:pathLst>
              <a:path w="299085" h="152400">
                <a:moveTo>
                  <a:pt x="0" y="152400"/>
                </a:moveTo>
                <a:lnTo>
                  <a:pt x="298703" y="152400"/>
                </a:lnTo>
                <a:lnTo>
                  <a:pt x="298703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88125" y="980837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44742" y="980837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03466" y="980837"/>
            <a:ext cx="299085" cy="152400"/>
          </a:xfrm>
          <a:custGeom>
            <a:avLst/>
            <a:gdLst/>
            <a:ahLst/>
            <a:cxnLst/>
            <a:rect l="l" t="t" r="r" b="b"/>
            <a:pathLst>
              <a:path w="299085" h="152400">
                <a:moveTo>
                  <a:pt x="0" y="152400"/>
                </a:moveTo>
                <a:lnTo>
                  <a:pt x="298703" y="152400"/>
                </a:lnTo>
                <a:lnTo>
                  <a:pt x="298703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46366" y="977789"/>
            <a:ext cx="299085" cy="152400"/>
          </a:xfrm>
          <a:custGeom>
            <a:avLst/>
            <a:gdLst/>
            <a:ahLst/>
            <a:cxnLst/>
            <a:rect l="l" t="t" r="r" b="b"/>
            <a:pathLst>
              <a:path w="299085" h="152400">
                <a:moveTo>
                  <a:pt x="0" y="152400"/>
                </a:moveTo>
                <a:lnTo>
                  <a:pt x="298703" y="152400"/>
                </a:lnTo>
                <a:lnTo>
                  <a:pt x="298703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215" y="878712"/>
            <a:ext cx="4149852" cy="1985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4103" y="871473"/>
            <a:ext cx="4164329" cy="2000250"/>
          </a:xfrm>
          <a:custGeom>
            <a:avLst/>
            <a:gdLst/>
            <a:ahLst/>
            <a:cxnLst/>
            <a:rect l="l" t="t" r="r" b="b"/>
            <a:pathLst>
              <a:path w="4164329" h="2000250">
                <a:moveTo>
                  <a:pt x="0" y="2000123"/>
                </a:moveTo>
                <a:lnTo>
                  <a:pt x="4164076" y="2000123"/>
                </a:lnTo>
                <a:lnTo>
                  <a:pt x="4164076" y="0"/>
                </a:lnTo>
                <a:lnTo>
                  <a:pt x="0" y="0"/>
                </a:lnTo>
                <a:lnTo>
                  <a:pt x="0" y="200012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503" y="1713864"/>
            <a:ext cx="996695" cy="909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391" y="1706689"/>
            <a:ext cx="1011555" cy="924560"/>
          </a:xfrm>
          <a:custGeom>
            <a:avLst/>
            <a:gdLst/>
            <a:ahLst/>
            <a:cxnLst/>
            <a:rect l="l" t="t" r="r" b="b"/>
            <a:pathLst>
              <a:path w="1011555" h="924560">
                <a:moveTo>
                  <a:pt x="0" y="924115"/>
                </a:moveTo>
                <a:lnTo>
                  <a:pt x="1010983" y="924115"/>
                </a:lnTo>
                <a:lnTo>
                  <a:pt x="1010983" y="0"/>
                </a:lnTo>
                <a:lnTo>
                  <a:pt x="0" y="0"/>
                </a:lnTo>
                <a:lnTo>
                  <a:pt x="0" y="92411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66" y="1165605"/>
            <a:ext cx="10922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CONV—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卷积层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RELU—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激活层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POOL—</a:t>
            </a:r>
            <a:r>
              <a:rPr sz="1200" spc="-5" dirty="0">
                <a:solidFill>
                  <a:srgbClr val="FF0000"/>
                </a:solidFill>
                <a:latin typeface="黑体"/>
                <a:cs typeface="黑体"/>
              </a:rPr>
              <a:t>—</a:t>
            </a: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池化层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FC——全连接层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神</a:t>
            </a:r>
            <a:r>
              <a:rPr spc="5" dirty="0"/>
              <a:t>经</a:t>
            </a:r>
            <a:r>
              <a:rPr spc="-10" dirty="0"/>
              <a:t>网</a:t>
            </a:r>
            <a:r>
              <a:rPr spc="5" dirty="0"/>
              <a:t>络</a:t>
            </a:r>
          </a:p>
        </p:txBody>
      </p:sp>
      <p:sp>
        <p:nvSpPr>
          <p:cNvPr id="8" name="object 8"/>
          <p:cNvSpPr/>
          <p:nvPr/>
        </p:nvSpPr>
        <p:spPr>
          <a:xfrm>
            <a:off x="3274181" y="879474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0190" y="879474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12481" y="879474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49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1120" y="149622"/>
            <a:ext cx="101917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池化操作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694" y="803951"/>
            <a:ext cx="42633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085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化的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用：</a:t>
            </a:r>
            <a:r>
              <a:rPr sz="1000" spc="10" dirty="0">
                <a:latin typeface="黑体"/>
                <a:cs typeface="黑体"/>
              </a:rPr>
              <a:t>对</a:t>
            </a:r>
            <a:r>
              <a:rPr sz="1000" spc="-5" dirty="0">
                <a:latin typeface="黑体"/>
                <a:cs typeface="黑体"/>
              </a:rPr>
              <a:t>每一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</a:t>
            </a:r>
            <a:r>
              <a:rPr sz="1000" spc="5" dirty="0">
                <a:latin typeface="黑体"/>
                <a:cs typeface="黑体"/>
              </a:rPr>
              <a:t>独</a:t>
            </a:r>
            <a:r>
              <a:rPr sz="1000" spc="-5" dirty="0">
                <a:latin typeface="黑体"/>
                <a:cs typeface="黑体"/>
              </a:rPr>
              <a:t>立进</a:t>
            </a:r>
            <a:r>
              <a:rPr sz="1000" spc="10" dirty="0">
                <a:latin typeface="黑体"/>
                <a:cs typeface="黑体"/>
              </a:rPr>
              <a:t>行</a:t>
            </a:r>
            <a:r>
              <a:rPr sz="1000" spc="-5" dirty="0">
                <a:latin typeface="黑体"/>
                <a:cs typeface="黑体"/>
              </a:rPr>
              <a:t>，降</a:t>
            </a:r>
            <a:r>
              <a:rPr sz="1000" spc="5" dirty="0">
                <a:latin typeface="黑体"/>
                <a:cs typeface="黑体"/>
              </a:rPr>
              <a:t>低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</a:t>
            </a:r>
            <a:r>
              <a:rPr sz="1000" spc="5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中每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特 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的宽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和高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，减</a:t>
            </a:r>
            <a:r>
              <a:rPr sz="1000" spc="15" dirty="0">
                <a:latin typeface="黑体"/>
                <a:cs typeface="黑体"/>
              </a:rPr>
              <a:t>少</a:t>
            </a:r>
            <a:r>
              <a:rPr sz="1000" spc="-5" dirty="0">
                <a:latin typeface="黑体"/>
                <a:cs typeface="黑体"/>
              </a:rPr>
              <a:t>后续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积层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参数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数量</a:t>
            </a:r>
            <a:r>
              <a:rPr sz="1000" spc="10" dirty="0">
                <a:latin typeface="黑体"/>
                <a:cs typeface="黑体"/>
              </a:rPr>
              <a:t>，</a:t>
            </a:r>
            <a:r>
              <a:rPr sz="1000" spc="-5" dirty="0">
                <a:latin typeface="黑体"/>
                <a:cs typeface="黑体"/>
              </a:rPr>
              <a:t>降低</a:t>
            </a:r>
            <a:r>
              <a:rPr sz="1000" spc="5" dirty="0">
                <a:latin typeface="黑体"/>
                <a:cs typeface="黑体"/>
              </a:rPr>
              <a:t>计</a:t>
            </a:r>
            <a:r>
              <a:rPr sz="1000" spc="-5" dirty="0">
                <a:latin typeface="黑体"/>
                <a:cs typeface="黑体"/>
              </a:rPr>
              <a:t>算资</a:t>
            </a:r>
            <a:r>
              <a:rPr sz="1000" spc="5" dirty="0">
                <a:latin typeface="黑体"/>
                <a:cs typeface="黑体"/>
              </a:rPr>
              <a:t>源</a:t>
            </a:r>
            <a:r>
              <a:rPr sz="1000" spc="-5" dirty="0">
                <a:latin typeface="黑体"/>
                <a:cs typeface="黑体"/>
              </a:rPr>
              <a:t>耗 </a:t>
            </a:r>
            <a:r>
              <a:rPr sz="1000" spc="5" dirty="0">
                <a:latin typeface="黑体"/>
                <a:cs typeface="黑体"/>
              </a:rPr>
              <a:t>费</a:t>
            </a:r>
            <a:r>
              <a:rPr sz="1000" spc="-5" dirty="0">
                <a:latin typeface="黑体"/>
                <a:cs typeface="黑体"/>
              </a:rPr>
              <a:t>，进</a:t>
            </a:r>
            <a:r>
              <a:rPr sz="1000" spc="10" dirty="0">
                <a:latin typeface="黑体"/>
                <a:cs typeface="黑体"/>
              </a:rPr>
              <a:t>而</a:t>
            </a:r>
            <a:r>
              <a:rPr sz="1000" spc="-5" dirty="0">
                <a:latin typeface="黑体"/>
                <a:cs typeface="黑体"/>
              </a:rPr>
              <a:t>控制</a:t>
            </a:r>
            <a:r>
              <a:rPr sz="1000" spc="5" dirty="0">
                <a:latin typeface="黑体"/>
                <a:cs typeface="黑体"/>
              </a:rPr>
              <a:t>过</a:t>
            </a:r>
            <a:r>
              <a:rPr sz="1000" spc="-5" dirty="0">
                <a:latin typeface="黑体"/>
                <a:cs typeface="黑体"/>
              </a:rPr>
              <a:t>拟合。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1119" y="172592"/>
            <a:ext cx="101917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池化操作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693" y="827049"/>
            <a:ext cx="426339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085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化的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用：</a:t>
            </a:r>
            <a:r>
              <a:rPr sz="1000" spc="10" dirty="0">
                <a:latin typeface="黑体"/>
                <a:cs typeface="黑体"/>
              </a:rPr>
              <a:t>对</a:t>
            </a:r>
            <a:r>
              <a:rPr sz="1000" spc="-5" dirty="0">
                <a:latin typeface="黑体"/>
                <a:cs typeface="黑体"/>
              </a:rPr>
              <a:t>每一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</a:t>
            </a:r>
            <a:r>
              <a:rPr sz="1000" spc="5" dirty="0">
                <a:latin typeface="黑体"/>
                <a:cs typeface="黑体"/>
              </a:rPr>
              <a:t>独</a:t>
            </a:r>
            <a:r>
              <a:rPr sz="1000" spc="-5" dirty="0">
                <a:latin typeface="黑体"/>
                <a:cs typeface="黑体"/>
              </a:rPr>
              <a:t>立进</a:t>
            </a:r>
            <a:r>
              <a:rPr sz="1000" spc="10" dirty="0">
                <a:latin typeface="黑体"/>
                <a:cs typeface="黑体"/>
              </a:rPr>
              <a:t>行</a:t>
            </a:r>
            <a:r>
              <a:rPr sz="1000" spc="-5" dirty="0">
                <a:latin typeface="黑体"/>
                <a:cs typeface="黑体"/>
              </a:rPr>
              <a:t>，降</a:t>
            </a:r>
            <a:r>
              <a:rPr sz="1000" spc="5" dirty="0">
                <a:latin typeface="黑体"/>
                <a:cs typeface="黑体"/>
              </a:rPr>
              <a:t>低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</a:t>
            </a:r>
            <a:r>
              <a:rPr sz="1000" spc="5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中每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特 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的宽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和高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，减</a:t>
            </a:r>
            <a:r>
              <a:rPr sz="1000" spc="15" dirty="0">
                <a:latin typeface="黑体"/>
                <a:cs typeface="黑体"/>
              </a:rPr>
              <a:t>少</a:t>
            </a:r>
            <a:r>
              <a:rPr sz="1000" spc="-5" dirty="0">
                <a:latin typeface="黑体"/>
                <a:cs typeface="黑体"/>
              </a:rPr>
              <a:t>后续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积层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参数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数量</a:t>
            </a:r>
            <a:r>
              <a:rPr sz="1000" spc="10" dirty="0">
                <a:latin typeface="黑体"/>
                <a:cs typeface="黑体"/>
              </a:rPr>
              <a:t>，</a:t>
            </a:r>
            <a:r>
              <a:rPr sz="1000" spc="-5" dirty="0">
                <a:latin typeface="黑体"/>
                <a:cs typeface="黑体"/>
              </a:rPr>
              <a:t>降低</a:t>
            </a:r>
            <a:r>
              <a:rPr sz="1000" spc="5" dirty="0">
                <a:latin typeface="黑体"/>
                <a:cs typeface="黑体"/>
              </a:rPr>
              <a:t>计</a:t>
            </a:r>
            <a:r>
              <a:rPr sz="1000" spc="-5" dirty="0">
                <a:latin typeface="黑体"/>
                <a:cs typeface="黑体"/>
              </a:rPr>
              <a:t>算资</a:t>
            </a:r>
            <a:r>
              <a:rPr sz="1000" spc="5" dirty="0">
                <a:latin typeface="黑体"/>
                <a:cs typeface="黑体"/>
              </a:rPr>
              <a:t>源</a:t>
            </a:r>
            <a:r>
              <a:rPr sz="1000" spc="-5" dirty="0">
                <a:latin typeface="黑体"/>
                <a:cs typeface="黑体"/>
              </a:rPr>
              <a:t>耗 </a:t>
            </a:r>
            <a:r>
              <a:rPr sz="1000" spc="5" dirty="0">
                <a:latin typeface="黑体"/>
                <a:cs typeface="黑体"/>
              </a:rPr>
              <a:t>费</a:t>
            </a:r>
            <a:r>
              <a:rPr sz="1000" spc="-5" dirty="0">
                <a:latin typeface="黑体"/>
                <a:cs typeface="黑体"/>
              </a:rPr>
              <a:t>，进</a:t>
            </a:r>
            <a:r>
              <a:rPr sz="1000" spc="10" dirty="0">
                <a:latin typeface="黑体"/>
                <a:cs typeface="黑体"/>
              </a:rPr>
              <a:t>而</a:t>
            </a:r>
            <a:r>
              <a:rPr sz="1000" spc="-5" dirty="0">
                <a:latin typeface="黑体"/>
                <a:cs typeface="黑体"/>
              </a:rPr>
              <a:t>控制</a:t>
            </a:r>
            <a:r>
              <a:rPr sz="1000" spc="5" dirty="0">
                <a:latin typeface="黑体"/>
                <a:cs typeface="黑体"/>
              </a:rPr>
              <a:t>过</a:t>
            </a:r>
            <a:r>
              <a:rPr sz="1000" spc="-5" dirty="0">
                <a:latin typeface="黑体"/>
                <a:cs typeface="黑体"/>
              </a:rPr>
              <a:t>拟合。</a:t>
            </a:r>
            <a:endParaRPr sz="1000">
              <a:latin typeface="黑体"/>
              <a:cs typeface="黑体"/>
            </a:endParaRPr>
          </a:p>
          <a:p>
            <a:pPr marL="184785" marR="70485" indent="-172085">
              <a:lnSpc>
                <a:spcPct val="150000"/>
              </a:lnSpc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池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化操</a:t>
            </a:r>
            <a:r>
              <a:rPr sz="1000" spc="10" dirty="0">
                <a:solidFill>
                  <a:srgbClr val="FF0000"/>
                </a:solidFill>
                <a:latin typeface="黑体"/>
                <a:cs typeface="黑体"/>
              </a:rPr>
              <a:t>作</a:t>
            </a:r>
            <a:r>
              <a:rPr sz="1000" spc="-15" dirty="0">
                <a:solidFill>
                  <a:srgbClr val="FF0000"/>
                </a:solidFill>
                <a:latin typeface="黑体"/>
                <a:cs typeface="黑体"/>
              </a:rPr>
              <a:t>: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特征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响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应图某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区域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进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行池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就是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在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该区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上指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定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一个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值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来 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代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表整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区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1120" y="149622"/>
            <a:ext cx="101917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池化操作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694" y="803951"/>
            <a:ext cx="426339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085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化的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用：</a:t>
            </a:r>
            <a:r>
              <a:rPr sz="1000" spc="10" dirty="0">
                <a:latin typeface="黑体"/>
                <a:cs typeface="黑体"/>
              </a:rPr>
              <a:t>对</a:t>
            </a:r>
            <a:r>
              <a:rPr sz="1000" spc="-5" dirty="0">
                <a:latin typeface="黑体"/>
                <a:cs typeface="黑体"/>
              </a:rPr>
              <a:t>每一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</a:t>
            </a:r>
            <a:r>
              <a:rPr sz="1000" spc="5" dirty="0">
                <a:latin typeface="黑体"/>
                <a:cs typeface="黑体"/>
              </a:rPr>
              <a:t>独</a:t>
            </a:r>
            <a:r>
              <a:rPr sz="1000" spc="-5" dirty="0">
                <a:latin typeface="黑体"/>
                <a:cs typeface="黑体"/>
              </a:rPr>
              <a:t>立进</a:t>
            </a:r>
            <a:r>
              <a:rPr sz="1000" spc="10" dirty="0">
                <a:latin typeface="黑体"/>
                <a:cs typeface="黑体"/>
              </a:rPr>
              <a:t>行</a:t>
            </a:r>
            <a:r>
              <a:rPr sz="1000" spc="-5" dirty="0">
                <a:latin typeface="黑体"/>
                <a:cs typeface="黑体"/>
              </a:rPr>
              <a:t>，降</a:t>
            </a:r>
            <a:r>
              <a:rPr sz="1000" spc="5" dirty="0">
                <a:latin typeface="黑体"/>
                <a:cs typeface="黑体"/>
              </a:rPr>
              <a:t>低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</a:t>
            </a:r>
            <a:r>
              <a:rPr sz="1000" spc="5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中每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特 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的宽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和高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，减</a:t>
            </a:r>
            <a:r>
              <a:rPr sz="1000" spc="15" dirty="0">
                <a:latin typeface="黑体"/>
                <a:cs typeface="黑体"/>
              </a:rPr>
              <a:t>少</a:t>
            </a:r>
            <a:r>
              <a:rPr sz="1000" spc="-5" dirty="0">
                <a:latin typeface="黑体"/>
                <a:cs typeface="黑体"/>
              </a:rPr>
              <a:t>后续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积层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参数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数量</a:t>
            </a:r>
            <a:r>
              <a:rPr sz="1000" spc="10" dirty="0">
                <a:latin typeface="黑体"/>
                <a:cs typeface="黑体"/>
              </a:rPr>
              <a:t>，</a:t>
            </a:r>
            <a:r>
              <a:rPr sz="1000" spc="-5" dirty="0">
                <a:latin typeface="黑体"/>
                <a:cs typeface="黑体"/>
              </a:rPr>
              <a:t>降低</a:t>
            </a:r>
            <a:r>
              <a:rPr sz="1000" spc="5" dirty="0">
                <a:latin typeface="黑体"/>
                <a:cs typeface="黑体"/>
              </a:rPr>
              <a:t>计</a:t>
            </a:r>
            <a:r>
              <a:rPr sz="1000" spc="-5" dirty="0">
                <a:latin typeface="黑体"/>
                <a:cs typeface="黑体"/>
              </a:rPr>
              <a:t>算资</a:t>
            </a:r>
            <a:r>
              <a:rPr sz="1000" spc="5" dirty="0">
                <a:latin typeface="黑体"/>
                <a:cs typeface="黑体"/>
              </a:rPr>
              <a:t>源</a:t>
            </a:r>
            <a:r>
              <a:rPr sz="1000" spc="-5" dirty="0">
                <a:latin typeface="黑体"/>
                <a:cs typeface="黑体"/>
              </a:rPr>
              <a:t>耗 </a:t>
            </a:r>
            <a:r>
              <a:rPr sz="1000" spc="5" dirty="0">
                <a:latin typeface="黑体"/>
                <a:cs typeface="黑体"/>
              </a:rPr>
              <a:t>费</a:t>
            </a:r>
            <a:r>
              <a:rPr sz="1000" spc="-5" dirty="0">
                <a:latin typeface="黑体"/>
                <a:cs typeface="黑体"/>
              </a:rPr>
              <a:t>，进</a:t>
            </a:r>
            <a:r>
              <a:rPr sz="1000" spc="10" dirty="0">
                <a:latin typeface="黑体"/>
                <a:cs typeface="黑体"/>
              </a:rPr>
              <a:t>而</a:t>
            </a:r>
            <a:r>
              <a:rPr sz="1000" spc="-5" dirty="0">
                <a:latin typeface="黑体"/>
                <a:cs typeface="黑体"/>
              </a:rPr>
              <a:t>控制</a:t>
            </a:r>
            <a:r>
              <a:rPr sz="1000" spc="5" dirty="0">
                <a:latin typeface="黑体"/>
                <a:cs typeface="黑体"/>
              </a:rPr>
              <a:t>过</a:t>
            </a:r>
            <a:r>
              <a:rPr sz="1000" spc="-5" dirty="0">
                <a:latin typeface="黑体"/>
                <a:cs typeface="黑体"/>
              </a:rPr>
              <a:t>拟合。</a:t>
            </a:r>
            <a:endParaRPr sz="1000">
              <a:latin typeface="黑体"/>
              <a:cs typeface="黑体"/>
            </a:endParaRPr>
          </a:p>
          <a:p>
            <a:pPr marL="184785" marR="70485" indent="-172085">
              <a:lnSpc>
                <a:spcPct val="150000"/>
              </a:lnSpc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化操</a:t>
            </a:r>
            <a:r>
              <a:rPr sz="1000" spc="10" dirty="0">
                <a:latin typeface="黑体"/>
                <a:cs typeface="黑体"/>
              </a:rPr>
              <a:t>作</a:t>
            </a:r>
            <a:r>
              <a:rPr sz="1000" spc="-15" dirty="0">
                <a:latin typeface="黑体"/>
                <a:cs typeface="黑体"/>
              </a:rPr>
              <a:t>:</a:t>
            </a:r>
            <a:r>
              <a:rPr sz="1000" spc="5" dirty="0">
                <a:latin typeface="黑体"/>
                <a:cs typeface="黑体"/>
              </a:rPr>
              <a:t>对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应图某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区域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spc="-5" dirty="0">
                <a:latin typeface="黑体"/>
                <a:cs typeface="黑体"/>
              </a:rPr>
              <a:t>行池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就是</a:t>
            </a:r>
            <a:r>
              <a:rPr sz="1000" spc="5" dirty="0">
                <a:latin typeface="黑体"/>
                <a:cs typeface="黑体"/>
              </a:rPr>
              <a:t>在</a:t>
            </a:r>
            <a:r>
              <a:rPr sz="1000" spc="-5" dirty="0">
                <a:latin typeface="黑体"/>
                <a:cs typeface="黑体"/>
              </a:rPr>
              <a:t>该区</a:t>
            </a:r>
            <a:r>
              <a:rPr sz="1000" spc="5" dirty="0">
                <a:latin typeface="黑体"/>
                <a:cs typeface="黑体"/>
              </a:rPr>
              <a:t>域</a:t>
            </a:r>
            <a:r>
              <a:rPr sz="1000" spc="-5" dirty="0">
                <a:latin typeface="黑体"/>
                <a:cs typeface="黑体"/>
              </a:rPr>
              <a:t>上指</a:t>
            </a:r>
            <a:r>
              <a:rPr sz="1000" spc="5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一个</a:t>
            </a:r>
            <a:r>
              <a:rPr sz="1000" spc="5" dirty="0">
                <a:latin typeface="黑体"/>
                <a:cs typeface="黑体"/>
              </a:rPr>
              <a:t>值</a:t>
            </a:r>
            <a:r>
              <a:rPr sz="1000" spc="-5" dirty="0">
                <a:latin typeface="黑体"/>
                <a:cs typeface="黑体"/>
              </a:rPr>
              <a:t>来 </a:t>
            </a:r>
            <a:r>
              <a:rPr sz="1000" spc="5" dirty="0">
                <a:latin typeface="黑体"/>
                <a:cs typeface="黑体"/>
              </a:rPr>
              <a:t>代</a:t>
            </a:r>
            <a:r>
              <a:rPr sz="1000" spc="-5" dirty="0">
                <a:latin typeface="黑体"/>
                <a:cs typeface="黑体"/>
              </a:rPr>
              <a:t>表整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区</a:t>
            </a:r>
            <a:r>
              <a:rPr sz="1000" dirty="0">
                <a:latin typeface="黑体"/>
                <a:cs typeface="黑体"/>
              </a:rPr>
              <a:t>域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常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见的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池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化操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作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：</a:t>
            </a:r>
            <a:endParaRPr sz="1000">
              <a:latin typeface="黑体"/>
              <a:cs typeface="黑体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Font typeface="Wingdings"/>
              <a:buChar char=""/>
              <a:tabLst>
                <a:tab pos="470534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最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大池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——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使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用区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内的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最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大值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来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代表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这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个区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Font typeface="Wingdings"/>
              <a:buChar char=""/>
              <a:tabLst>
                <a:tab pos="470534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平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均池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——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采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用区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内所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有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值的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均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值作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为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代表。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1119" y="172592"/>
            <a:ext cx="101917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池化操作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693" y="827049"/>
            <a:ext cx="4263390" cy="208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085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化的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用：</a:t>
            </a:r>
            <a:r>
              <a:rPr sz="1000" spc="10" dirty="0">
                <a:latin typeface="黑体"/>
                <a:cs typeface="黑体"/>
              </a:rPr>
              <a:t>对</a:t>
            </a:r>
            <a:r>
              <a:rPr sz="1000" spc="-5" dirty="0">
                <a:latin typeface="黑体"/>
                <a:cs typeface="黑体"/>
              </a:rPr>
              <a:t>每一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</a:t>
            </a:r>
            <a:r>
              <a:rPr sz="1000" spc="5" dirty="0">
                <a:latin typeface="黑体"/>
                <a:cs typeface="黑体"/>
              </a:rPr>
              <a:t>独</a:t>
            </a:r>
            <a:r>
              <a:rPr sz="1000" spc="-5" dirty="0">
                <a:latin typeface="黑体"/>
                <a:cs typeface="黑体"/>
              </a:rPr>
              <a:t>立进</a:t>
            </a:r>
            <a:r>
              <a:rPr sz="1000" spc="10" dirty="0">
                <a:latin typeface="黑体"/>
                <a:cs typeface="黑体"/>
              </a:rPr>
              <a:t>行</a:t>
            </a:r>
            <a:r>
              <a:rPr sz="1000" spc="-5" dirty="0">
                <a:latin typeface="黑体"/>
                <a:cs typeface="黑体"/>
              </a:rPr>
              <a:t>，降</a:t>
            </a:r>
            <a:r>
              <a:rPr sz="1000" spc="5" dirty="0">
                <a:latin typeface="黑体"/>
                <a:cs typeface="黑体"/>
              </a:rPr>
              <a:t>低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</a:t>
            </a:r>
            <a:r>
              <a:rPr sz="1000" spc="5" dirty="0">
                <a:latin typeface="黑体"/>
                <a:cs typeface="黑体"/>
              </a:rPr>
              <a:t>组</a:t>
            </a:r>
            <a:r>
              <a:rPr sz="1000" spc="-5" dirty="0">
                <a:latin typeface="黑体"/>
                <a:cs typeface="黑体"/>
              </a:rPr>
              <a:t>中每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特 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的宽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和高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，减</a:t>
            </a:r>
            <a:r>
              <a:rPr sz="1000" spc="15" dirty="0">
                <a:latin typeface="黑体"/>
                <a:cs typeface="黑体"/>
              </a:rPr>
              <a:t>少</a:t>
            </a:r>
            <a:r>
              <a:rPr sz="1000" spc="-5" dirty="0">
                <a:latin typeface="黑体"/>
                <a:cs typeface="黑体"/>
              </a:rPr>
              <a:t>后续</a:t>
            </a:r>
            <a:r>
              <a:rPr sz="1000" spc="5" dirty="0">
                <a:latin typeface="黑体"/>
                <a:cs typeface="黑体"/>
              </a:rPr>
              <a:t>卷</a:t>
            </a:r>
            <a:r>
              <a:rPr sz="1000" spc="-5" dirty="0">
                <a:latin typeface="黑体"/>
                <a:cs typeface="黑体"/>
              </a:rPr>
              <a:t>积层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参数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数量</a:t>
            </a:r>
            <a:r>
              <a:rPr sz="1000" spc="10" dirty="0">
                <a:latin typeface="黑体"/>
                <a:cs typeface="黑体"/>
              </a:rPr>
              <a:t>，</a:t>
            </a:r>
            <a:r>
              <a:rPr sz="1000" spc="-5" dirty="0">
                <a:latin typeface="黑体"/>
                <a:cs typeface="黑体"/>
              </a:rPr>
              <a:t>降低</a:t>
            </a:r>
            <a:r>
              <a:rPr sz="1000" spc="5" dirty="0">
                <a:latin typeface="黑体"/>
                <a:cs typeface="黑体"/>
              </a:rPr>
              <a:t>计</a:t>
            </a:r>
            <a:r>
              <a:rPr sz="1000" spc="-5" dirty="0">
                <a:latin typeface="黑体"/>
                <a:cs typeface="黑体"/>
              </a:rPr>
              <a:t>算资</a:t>
            </a:r>
            <a:r>
              <a:rPr sz="1000" spc="5" dirty="0">
                <a:latin typeface="黑体"/>
                <a:cs typeface="黑体"/>
              </a:rPr>
              <a:t>源</a:t>
            </a:r>
            <a:r>
              <a:rPr sz="1000" spc="-5" dirty="0">
                <a:latin typeface="黑体"/>
                <a:cs typeface="黑体"/>
              </a:rPr>
              <a:t>耗 </a:t>
            </a:r>
            <a:r>
              <a:rPr sz="1000" spc="5" dirty="0">
                <a:latin typeface="黑体"/>
                <a:cs typeface="黑体"/>
              </a:rPr>
              <a:t>费</a:t>
            </a:r>
            <a:r>
              <a:rPr sz="1000" spc="-5" dirty="0">
                <a:latin typeface="黑体"/>
                <a:cs typeface="黑体"/>
              </a:rPr>
              <a:t>，进</a:t>
            </a:r>
            <a:r>
              <a:rPr sz="1000" spc="10" dirty="0">
                <a:latin typeface="黑体"/>
                <a:cs typeface="黑体"/>
              </a:rPr>
              <a:t>而</a:t>
            </a:r>
            <a:r>
              <a:rPr sz="1000" spc="-5" dirty="0">
                <a:latin typeface="黑体"/>
                <a:cs typeface="黑体"/>
              </a:rPr>
              <a:t>控制</a:t>
            </a:r>
            <a:r>
              <a:rPr sz="1000" spc="5" dirty="0">
                <a:latin typeface="黑体"/>
                <a:cs typeface="黑体"/>
              </a:rPr>
              <a:t>过</a:t>
            </a:r>
            <a:r>
              <a:rPr sz="1000" spc="-5" dirty="0">
                <a:latin typeface="黑体"/>
                <a:cs typeface="黑体"/>
              </a:rPr>
              <a:t>拟合。</a:t>
            </a:r>
            <a:endParaRPr sz="1000">
              <a:latin typeface="黑体"/>
              <a:cs typeface="黑体"/>
            </a:endParaRPr>
          </a:p>
          <a:p>
            <a:pPr marL="184785" marR="70485" indent="-172085">
              <a:lnSpc>
                <a:spcPct val="150000"/>
              </a:lnSpc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化操</a:t>
            </a:r>
            <a:r>
              <a:rPr sz="1000" spc="10" dirty="0">
                <a:latin typeface="黑体"/>
                <a:cs typeface="黑体"/>
              </a:rPr>
              <a:t>作</a:t>
            </a:r>
            <a:r>
              <a:rPr sz="1000" spc="-15" dirty="0">
                <a:latin typeface="黑体"/>
                <a:cs typeface="黑体"/>
              </a:rPr>
              <a:t>:</a:t>
            </a:r>
            <a:r>
              <a:rPr sz="1000" spc="5" dirty="0">
                <a:latin typeface="黑体"/>
                <a:cs typeface="黑体"/>
              </a:rPr>
              <a:t>对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应图某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区域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spc="-5" dirty="0">
                <a:latin typeface="黑体"/>
                <a:cs typeface="黑体"/>
              </a:rPr>
              <a:t>行池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就是</a:t>
            </a:r>
            <a:r>
              <a:rPr sz="1000" spc="5" dirty="0">
                <a:latin typeface="黑体"/>
                <a:cs typeface="黑体"/>
              </a:rPr>
              <a:t>在</a:t>
            </a:r>
            <a:r>
              <a:rPr sz="1000" spc="-5" dirty="0">
                <a:latin typeface="黑体"/>
                <a:cs typeface="黑体"/>
              </a:rPr>
              <a:t>该区</a:t>
            </a:r>
            <a:r>
              <a:rPr sz="1000" spc="5" dirty="0">
                <a:latin typeface="黑体"/>
                <a:cs typeface="黑体"/>
              </a:rPr>
              <a:t>域</a:t>
            </a:r>
            <a:r>
              <a:rPr sz="1000" spc="-5" dirty="0">
                <a:latin typeface="黑体"/>
                <a:cs typeface="黑体"/>
              </a:rPr>
              <a:t>上指</a:t>
            </a:r>
            <a:r>
              <a:rPr sz="1000" spc="5" dirty="0">
                <a:latin typeface="黑体"/>
                <a:cs typeface="黑体"/>
              </a:rPr>
              <a:t>定</a:t>
            </a:r>
            <a:r>
              <a:rPr sz="1000" spc="-5" dirty="0">
                <a:latin typeface="黑体"/>
                <a:cs typeface="黑体"/>
              </a:rPr>
              <a:t>一个</a:t>
            </a:r>
            <a:r>
              <a:rPr sz="1000" spc="5" dirty="0">
                <a:latin typeface="黑体"/>
                <a:cs typeface="黑体"/>
              </a:rPr>
              <a:t>值</a:t>
            </a:r>
            <a:r>
              <a:rPr sz="1000" spc="-5" dirty="0">
                <a:latin typeface="黑体"/>
                <a:cs typeface="黑体"/>
              </a:rPr>
              <a:t>来 </a:t>
            </a:r>
            <a:r>
              <a:rPr sz="1000" spc="5" dirty="0">
                <a:latin typeface="黑体"/>
                <a:cs typeface="黑体"/>
              </a:rPr>
              <a:t>代</a:t>
            </a:r>
            <a:r>
              <a:rPr sz="1000" spc="-5" dirty="0">
                <a:latin typeface="黑体"/>
                <a:cs typeface="黑体"/>
              </a:rPr>
              <a:t>表整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区</a:t>
            </a:r>
            <a:r>
              <a:rPr sz="1000" dirty="0">
                <a:latin typeface="黑体"/>
                <a:cs typeface="黑体"/>
              </a:rPr>
              <a:t>域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常</a:t>
            </a:r>
            <a:r>
              <a:rPr sz="1000" spc="-5" dirty="0">
                <a:latin typeface="黑体"/>
                <a:cs typeface="黑体"/>
              </a:rPr>
              <a:t>见的</a:t>
            </a: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化操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：</a:t>
            </a:r>
            <a:endParaRPr sz="1000">
              <a:latin typeface="黑体"/>
              <a:cs typeface="黑体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Font typeface="Wingdings"/>
              <a:buChar char=""/>
              <a:tabLst>
                <a:tab pos="470534" algn="l"/>
              </a:tabLst>
            </a:pPr>
            <a:r>
              <a:rPr sz="1000" spc="5" dirty="0">
                <a:latin typeface="黑体"/>
                <a:cs typeface="黑体"/>
              </a:rPr>
              <a:t>最</a:t>
            </a:r>
            <a:r>
              <a:rPr sz="1000" spc="-5" dirty="0">
                <a:latin typeface="黑体"/>
                <a:cs typeface="黑体"/>
              </a:rPr>
              <a:t>大池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——</a:t>
            </a:r>
            <a:r>
              <a:rPr sz="1000" spc="5" dirty="0">
                <a:latin typeface="黑体"/>
                <a:cs typeface="黑体"/>
              </a:rPr>
              <a:t>使</a:t>
            </a:r>
            <a:r>
              <a:rPr sz="1000" spc="-5" dirty="0">
                <a:latin typeface="黑体"/>
                <a:cs typeface="黑体"/>
              </a:rPr>
              <a:t>用区</a:t>
            </a:r>
            <a:r>
              <a:rPr sz="1000" spc="5" dirty="0">
                <a:latin typeface="黑体"/>
                <a:cs typeface="黑体"/>
              </a:rPr>
              <a:t>域</a:t>
            </a:r>
            <a:r>
              <a:rPr sz="1000" spc="-5" dirty="0">
                <a:latin typeface="黑体"/>
                <a:cs typeface="黑体"/>
              </a:rPr>
              <a:t>内的</a:t>
            </a:r>
            <a:r>
              <a:rPr sz="1000" spc="5" dirty="0">
                <a:latin typeface="黑体"/>
                <a:cs typeface="黑体"/>
              </a:rPr>
              <a:t>最</a:t>
            </a:r>
            <a:r>
              <a:rPr sz="1000" spc="-5" dirty="0">
                <a:latin typeface="黑体"/>
                <a:cs typeface="黑体"/>
              </a:rPr>
              <a:t>大值</a:t>
            </a:r>
            <a:r>
              <a:rPr sz="1000" spc="5" dirty="0">
                <a:latin typeface="黑体"/>
                <a:cs typeface="黑体"/>
              </a:rPr>
              <a:t>来</a:t>
            </a:r>
            <a:r>
              <a:rPr sz="1000" spc="-5" dirty="0">
                <a:latin typeface="黑体"/>
                <a:cs typeface="黑体"/>
              </a:rPr>
              <a:t>代表</a:t>
            </a:r>
            <a:r>
              <a:rPr sz="1000" spc="5" dirty="0">
                <a:latin typeface="黑体"/>
                <a:cs typeface="黑体"/>
              </a:rPr>
              <a:t>这</a:t>
            </a:r>
            <a:r>
              <a:rPr sz="1000" spc="-5" dirty="0">
                <a:latin typeface="黑体"/>
                <a:cs typeface="黑体"/>
              </a:rPr>
              <a:t>个区</a:t>
            </a:r>
            <a:r>
              <a:rPr sz="1000" spc="5" dirty="0">
                <a:latin typeface="黑体"/>
                <a:cs typeface="黑体"/>
              </a:rPr>
              <a:t>域</a:t>
            </a:r>
            <a:r>
              <a:rPr sz="1000" spc="-5" dirty="0">
                <a:latin typeface="黑体"/>
                <a:cs typeface="黑体"/>
              </a:rPr>
              <a:t>；</a:t>
            </a:r>
            <a:endParaRPr sz="1000">
              <a:latin typeface="黑体"/>
              <a:cs typeface="黑体"/>
            </a:endParaRPr>
          </a:p>
          <a:p>
            <a:pPr marL="469900" lvl="1" indent="-228600">
              <a:lnSpc>
                <a:spcPct val="100000"/>
              </a:lnSpc>
              <a:spcBef>
                <a:spcPts val="600"/>
              </a:spcBef>
              <a:buFont typeface="Wingdings"/>
              <a:buChar char=""/>
              <a:tabLst>
                <a:tab pos="470534" algn="l"/>
              </a:tabLst>
            </a:pPr>
            <a:r>
              <a:rPr sz="1000" spc="5" dirty="0">
                <a:latin typeface="黑体"/>
                <a:cs typeface="黑体"/>
              </a:rPr>
              <a:t>平</a:t>
            </a:r>
            <a:r>
              <a:rPr sz="1000" spc="-5" dirty="0">
                <a:latin typeface="黑体"/>
                <a:cs typeface="黑体"/>
              </a:rPr>
              <a:t>均池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——</a:t>
            </a:r>
            <a:r>
              <a:rPr sz="1000" spc="5" dirty="0">
                <a:latin typeface="黑体"/>
                <a:cs typeface="黑体"/>
              </a:rPr>
              <a:t>采</a:t>
            </a:r>
            <a:r>
              <a:rPr sz="1000" spc="-5" dirty="0">
                <a:latin typeface="黑体"/>
                <a:cs typeface="黑体"/>
              </a:rPr>
              <a:t>用区</a:t>
            </a:r>
            <a:r>
              <a:rPr sz="1000" spc="5" dirty="0">
                <a:latin typeface="黑体"/>
                <a:cs typeface="黑体"/>
              </a:rPr>
              <a:t>域</a:t>
            </a:r>
            <a:r>
              <a:rPr sz="1000" spc="-5" dirty="0">
                <a:latin typeface="黑体"/>
                <a:cs typeface="黑体"/>
              </a:rPr>
              <a:t>内所</a:t>
            </a:r>
            <a:r>
              <a:rPr sz="1000" spc="5" dirty="0">
                <a:latin typeface="黑体"/>
                <a:cs typeface="黑体"/>
              </a:rPr>
              <a:t>有</a:t>
            </a:r>
            <a:r>
              <a:rPr sz="1000" spc="-5" dirty="0">
                <a:latin typeface="黑体"/>
                <a:cs typeface="黑体"/>
              </a:rPr>
              <a:t>值的</a:t>
            </a:r>
            <a:r>
              <a:rPr sz="1000" spc="5" dirty="0">
                <a:latin typeface="黑体"/>
                <a:cs typeface="黑体"/>
              </a:rPr>
              <a:t>均</a:t>
            </a:r>
            <a:r>
              <a:rPr sz="1000" spc="-5" dirty="0">
                <a:latin typeface="黑体"/>
                <a:cs typeface="黑体"/>
              </a:rPr>
              <a:t>值作</a:t>
            </a:r>
            <a:r>
              <a:rPr sz="1000" spc="5" dirty="0">
                <a:latin typeface="黑体"/>
                <a:cs typeface="黑体"/>
              </a:rPr>
              <a:t>为</a:t>
            </a:r>
            <a:r>
              <a:rPr sz="1000" spc="-5" dirty="0">
                <a:latin typeface="黑体"/>
                <a:cs typeface="黑体"/>
              </a:rPr>
              <a:t>代表。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池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化层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的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超</a:t>
            </a:r>
            <a:r>
              <a:rPr sz="1000" spc="-10" dirty="0">
                <a:solidFill>
                  <a:srgbClr val="FF0000"/>
                </a:solidFill>
                <a:latin typeface="黑体"/>
                <a:cs typeface="黑体"/>
              </a:rPr>
              <a:t>参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数</a:t>
            </a:r>
            <a:r>
              <a:rPr sz="1000" spc="-10" dirty="0">
                <a:solidFill>
                  <a:srgbClr val="FF0000"/>
                </a:solidFill>
                <a:latin typeface="黑体"/>
                <a:cs typeface="黑体"/>
              </a:rPr>
              <a:t>：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池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化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窗</a:t>
            </a:r>
            <a:r>
              <a:rPr sz="1000" spc="-10" dirty="0">
                <a:solidFill>
                  <a:srgbClr val="FF0000"/>
                </a:solidFill>
                <a:latin typeface="黑体"/>
                <a:cs typeface="黑体"/>
              </a:rPr>
              <a:t>口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和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池</a:t>
            </a:r>
            <a:r>
              <a:rPr sz="1000" spc="-10" dirty="0">
                <a:solidFill>
                  <a:srgbClr val="FF0000"/>
                </a:solidFill>
                <a:latin typeface="黑体"/>
                <a:cs typeface="黑体"/>
              </a:rPr>
              <a:t>化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步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长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池化</a:t>
            </a:r>
            <a:r>
              <a:rPr spc="-10" dirty="0"/>
              <a:t>操</a:t>
            </a:r>
            <a:r>
              <a:rPr spc="5" dirty="0"/>
              <a:t>作</a:t>
            </a:r>
            <a:r>
              <a:rPr spc="-10" dirty="0"/>
              <a:t>示</a:t>
            </a:r>
            <a:r>
              <a:rPr spc="5" dirty="0"/>
              <a:t>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1113" y="585105"/>
            <a:ext cx="24212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池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化操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作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对每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一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个特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征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响应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图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独立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进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行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;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809" y="1313831"/>
            <a:ext cx="131445" cy="533400"/>
          </a:xfrm>
          <a:custGeom>
            <a:avLst/>
            <a:gdLst/>
            <a:ahLst/>
            <a:cxnLst/>
            <a:rect l="l" t="t" r="r" b="b"/>
            <a:pathLst>
              <a:path w="131444" h="533400">
                <a:moveTo>
                  <a:pt x="131190" y="0"/>
                </a:moveTo>
                <a:lnTo>
                  <a:pt x="0" y="131191"/>
                </a:lnTo>
                <a:lnTo>
                  <a:pt x="0" y="533400"/>
                </a:lnTo>
                <a:lnTo>
                  <a:pt x="131190" y="402208"/>
                </a:lnTo>
                <a:lnTo>
                  <a:pt x="131190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3600" y="1313831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152400" y="0"/>
                </a:moveTo>
                <a:lnTo>
                  <a:pt x="131190" y="0"/>
                </a:lnTo>
                <a:lnTo>
                  <a:pt x="0" y="131191"/>
                </a:lnTo>
                <a:lnTo>
                  <a:pt x="21209" y="131191"/>
                </a:lnTo>
                <a:lnTo>
                  <a:pt x="152400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3600" y="1313831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0" y="131191"/>
                </a:moveTo>
                <a:lnTo>
                  <a:pt x="131190" y="0"/>
                </a:lnTo>
                <a:lnTo>
                  <a:pt x="152400" y="0"/>
                </a:lnTo>
                <a:lnTo>
                  <a:pt x="152400" y="402208"/>
                </a:lnTo>
                <a:lnTo>
                  <a:pt x="21209" y="533400"/>
                </a:lnTo>
                <a:lnTo>
                  <a:pt x="0" y="533400"/>
                </a:lnTo>
                <a:lnTo>
                  <a:pt x="0" y="131191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3600" y="1313831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0" y="131191"/>
                </a:moveTo>
                <a:lnTo>
                  <a:pt x="21209" y="131191"/>
                </a:lnTo>
                <a:lnTo>
                  <a:pt x="1524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3100" y="1447181"/>
            <a:ext cx="552450" cy="400050"/>
          </a:xfrm>
          <a:custGeom>
            <a:avLst/>
            <a:gdLst/>
            <a:ahLst/>
            <a:cxnLst/>
            <a:rect l="l" t="t" r="r" b="b"/>
            <a:pathLst>
              <a:path w="552450" h="400050">
                <a:moveTo>
                  <a:pt x="0" y="400050"/>
                </a:moveTo>
                <a:lnTo>
                  <a:pt x="552450" y="400050"/>
                </a:lnTo>
                <a:lnTo>
                  <a:pt x="552450" y="0"/>
                </a:lnTo>
                <a:lnTo>
                  <a:pt x="0" y="0"/>
                </a:lnTo>
                <a:lnTo>
                  <a:pt x="0" y="400050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65550" y="1313831"/>
            <a:ext cx="133350" cy="533400"/>
          </a:xfrm>
          <a:custGeom>
            <a:avLst/>
            <a:gdLst/>
            <a:ahLst/>
            <a:cxnLst/>
            <a:rect l="l" t="t" r="r" b="b"/>
            <a:pathLst>
              <a:path w="133350" h="533400">
                <a:moveTo>
                  <a:pt x="133350" y="0"/>
                </a:moveTo>
                <a:lnTo>
                  <a:pt x="0" y="133350"/>
                </a:lnTo>
                <a:lnTo>
                  <a:pt x="0" y="533400"/>
                </a:lnTo>
                <a:lnTo>
                  <a:pt x="133350" y="400050"/>
                </a:lnTo>
                <a:lnTo>
                  <a:pt x="133350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3100" y="1313831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685800" y="0"/>
                </a:moveTo>
                <a:lnTo>
                  <a:pt x="133350" y="0"/>
                </a:lnTo>
                <a:lnTo>
                  <a:pt x="0" y="133350"/>
                </a:lnTo>
                <a:lnTo>
                  <a:pt x="552450" y="133350"/>
                </a:lnTo>
                <a:lnTo>
                  <a:pt x="685800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3100" y="1313831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133350"/>
                </a:moveTo>
                <a:lnTo>
                  <a:pt x="133350" y="0"/>
                </a:lnTo>
                <a:lnTo>
                  <a:pt x="685800" y="0"/>
                </a:lnTo>
                <a:lnTo>
                  <a:pt x="685800" y="400050"/>
                </a:lnTo>
                <a:lnTo>
                  <a:pt x="552450" y="533400"/>
                </a:lnTo>
                <a:lnTo>
                  <a:pt x="0" y="533400"/>
                </a:lnTo>
                <a:lnTo>
                  <a:pt x="0" y="133350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3100" y="1313831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0" y="133350"/>
                </a:moveTo>
                <a:lnTo>
                  <a:pt x="552450" y="133350"/>
                </a:lnTo>
                <a:lnTo>
                  <a:pt x="6858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65550" y="1447181"/>
            <a:ext cx="0" cy="400050"/>
          </a:xfrm>
          <a:custGeom>
            <a:avLst/>
            <a:gdLst/>
            <a:ahLst/>
            <a:cxnLst/>
            <a:rect l="l" t="t" r="r" b="b"/>
            <a:pathLst>
              <a:path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93945" y="1409843"/>
            <a:ext cx="122555" cy="342900"/>
          </a:xfrm>
          <a:custGeom>
            <a:avLst/>
            <a:gdLst/>
            <a:ahLst/>
            <a:cxnLst/>
            <a:rect l="l" t="t" r="r" b="b"/>
            <a:pathLst>
              <a:path w="122555" h="342900">
                <a:moveTo>
                  <a:pt x="122047" y="0"/>
                </a:moveTo>
                <a:lnTo>
                  <a:pt x="0" y="122047"/>
                </a:lnTo>
                <a:lnTo>
                  <a:pt x="0" y="342900"/>
                </a:lnTo>
                <a:lnTo>
                  <a:pt x="122047" y="220852"/>
                </a:lnTo>
                <a:lnTo>
                  <a:pt x="122047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74260" y="1409843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141731" y="0"/>
                </a:moveTo>
                <a:lnTo>
                  <a:pt x="122046" y="0"/>
                </a:lnTo>
                <a:lnTo>
                  <a:pt x="0" y="122047"/>
                </a:lnTo>
                <a:lnTo>
                  <a:pt x="19684" y="122047"/>
                </a:lnTo>
                <a:lnTo>
                  <a:pt x="141731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74260" y="1409843"/>
            <a:ext cx="142240" cy="342900"/>
          </a:xfrm>
          <a:custGeom>
            <a:avLst/>
            <a:gdLst/>
            <a:ahLst/>
            <a:cxnLst/>
            <a:rect l="l" t="t" r="r" b="b"/>
            <a:pathLst>
              <a:path w="142239" h="342900">
                <a:moveTo>
                  <a:pt x="0" y="122047"/>
                </a:moveTo>
                <a:lnTo>
                  <a:pt x="122046" y="0"/>
                </a:lnTo>
                <a:lnTo>
                  <a:pt x="141731" y="0"/>
                </a:lnTo>
                <a:lnTo>
                  <a:pt x="141731" y="220852"/>
                </a:lnTo>
                <a:lnTo>
                  <a:pt x="19684" y="342900"/>
                </a:lnTo>
                <a:lnTo>
                  <a:pt x="0" y="342900"/>
                </a:lnTo>
                <a:lnTo>
                  <a:pt x="0" y="122047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74260" y="1409843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0" y="122047"/>
                </a:moveTo>
                <a:lnTo>
                  <a:pt x="19684" y="122047"/>
                </a:lnTo>
                <a:lnTo>
                  <a:pt x="141731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83760" y="1495568"/>
            <a:ext cx="556260" cy="257175"/>
          </a:xfrm>
          <a:custGeom>
            <a:avLst/>
            <a:gdLst/>
            <a:ahLst/>
            <a:cxnLst/>
            <a:rect l="l" t="t" r="r" b="b"/>
            <a:pathLst>
              <a:path w="556260" h="257175">
                <a:moveTo>
                  <a:pt x="0" y="257175"/>
                </a:moveTo>
                <a:lnTo>
                  <a:pt x="555879" y="257175"/>
                </a:lnTo>
                <a:lnTo>
                  <a:pt x="555879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9639" y="1409843"/>
            <a:ext cx="85725" cy="342900"/>
          </a:xfrm>
          <a:custGeom>
            <a:avLst/>
            <a:gdLst/>
            <a:ahLst/>
            <a:cxnLst/>
            <a:rect l="l" t="t" r="r" b="b"/>
            <a:pathLst>
              <a:path w="85725" h="342900">
                <a:moveTo>
                  <a:pt x="85725" y="0"/>
                </a:moveTo>
                <a:lnTo>
                  <a:pt x="0" y="85725"/>
                </a:lnTo>
                <a:lnTo>
                  <a:pt x="0" y="342900"/>
                </a:lnTo>
                <a:lnTo>
                  <a:pt x="85725" y="257175"/>
                </a:lnTo>
                <a:lnTo>
                  <a:pt x="85725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83760" y="1409843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641603" y="0"/>
                </a:moveTo>
                <a:lnTo>
                  <a:pt x="85725" y="0"/>
                </a:lnTo>
                <a:lnTo>
                  <a:pt x="0" y="85725"/>
                </a:lnTo>
                <a:lnTo>
                  <a:pt x="555878" y="85725"/>
                </a:lnTo>
                <a:lnTo>
                  <a:pt x="641603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83760" y="1409843"/>
            <a:ext cx="641985" cy="342900"/>
          </a:xfrm>
          <a:custGeom>
            <a:avLst/>
            <a:gdLst/>
            <a:ahLst/>
            <a:cxnLst/>
            <a:rect l="l" t="t" r="r" b="b"/>
            <a:pathLst>
              <a:path w="641985" h="342900">
                <a:moveTo>
                  <a:pt x="0" y="85725"/>
                </a:moveTo>
                <a:lnTo>
                  <a:pt x="85725" y="0"/>
                </a:lnTo>
                <a:lnTo>
                  <a:pt x="641603" y="0"/>
                </a:lnTo>
                <a:lnTo>
                  <a:pt x="641603" y="257175"/>
                </a:lnTo>
                <a:lnTo>
                  <a:pt x="555878" y="342900"/>
                </a:lnTo>
                <a:lnTo>
                  <a:pt x="0" y="342900"/>
                </a:lnTo>
                <a:lnTo>
                  <a:pt x="0" y="85725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83760" y="1409843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0" y="85725"/>
                </a:moveTo>
                <a:lnTo>
                  <a:pt x="555878" y="85725"/>
                </a:lnTo>
                <a:lnTo>
                  <a:pt x="641603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39639" y="1495568"/>
            <a:ext cx="0" cy="257175"/>
          </a:xfrm>
          <a:custGeom>
            <a:avLst/>
            <a:gdLst/>
            <a:ahLst/>
            <a:cxnLst/>
            <a:rect l="l" t="t" r="r" b="b"/>
            <a:pathLst>
              <a:path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2650" y="1885331"/>
            <a:ext cx="38100" cy="310515"/>
          </a:xfrm>
          <a:custGeom>
            <a:avLst/>
            <a:gdLst/>
            <a:ahLst/>
            <a:cxnLst/>
            <a:rect l="l" t="t" r="r" b="b"/>
            <a:pathLst>
              <a:path w="38100" h="310514">
                <a:moveTo>
                  <a:pt x="14348" y="272287"/>
                </a:moveTo>
                <a:lnTo>
                  <a:pt x="0" y="272287"/>
                </a:lnTo>
                <a:lnTo>
                  <a:pt x="19050" y="310387"/>
                </a:lnTo>
                <a:lnTo>
                  <a:pt x="34925" y="278637"/>
                </a:lnTo>
                <a:lnTo>
                  <a:pt x="14350" y="278637"/>
                </a:lnTo>
                <a:lnTo>
                  <a:pt x="14348" y="272287"/>
                </a:lnTo>
                <a:close/>
              </a:path>
              <a:path w="38100" h="310514">
                <a:moveTo>
                  <a:pt x="23749" y="0"/>
                </a:moveTo>
                <a:lnTo>
                  <a:pt x="14224" y="0"/>
                </a:lnTo>
                <a:lnTo>
                  <a:pt x="14350" y="278637"/>
                </a:lnTo>
                <a:lnTo>
                  <a:pt x="23875" y="278637"/>
                </a:lnTo>
                <a:lnTo>
                  <a:pt x="23749" y="0"/>
                </a:lnTo>
                <a:close/>
              </a:path>
              <a:path w="38100" h="310514">
                <a:moveTo>
                  <a:pt x="38100" y="272287"/>
                </a:moveTo>
                <a:lnTo>
                  <a:pt x="23873" y="272287"/>
                </a:lnTo>
                <a:lnTo>
                  <a:pt x="23875" y="278637"/>
                </a:lnTo>
                <a:lnTo>
                  <a:pt x="34925" y="278637"/>
                </a:lnTo>
                <a:lnTo>
                  <a:pt x="38100" y="272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3685" y="1792367"/>
            <a:ext cx="38100" cy="448945"/>
          </a:xfrm>
          <a:custGeom>
            <a:avLst/>
            <a:gdLst/>
            <a:ahLst/>
            <a:cxnLst/>
            <a:rect l="l" t="t" r="r" b="b"/>
            <a:pathLst>
              <a:path w="38100" h="448944">
                <a:moveTo>
                  <a:pt x="23749" y="31750"/>
                </a:moveTo>
                <a:lnTo>
                  <a:pt x="14224" y="31750"/>
                </a:lnTo>
                <a:lnTo>
                  <a:pt x="14224" y="448564"/>
                </a:lnTo>
                <a:lnTo>
                  <a:pt x="23749" y="448564"/>
                </a:lnTo>
                <a:lnTo>
                  <a:pt x="23749" y="31750"/>
                </a:lnTo>
                <a:close/>
              </a:path>
              <a:path w="38100" h="448944">
                <a:moveTo>
                  <a:pt x="19050" y="0"/>
                </a:moveTo>
                <a:lnTo>
                  <a:pt x="0" y="38100"/>
                </a:lnTo>
                <a:lnTo>
                  <a:pt x="14224" y="38100"/>
                </a:lnTo>
                <a:lnTo>
                  <a:pt x="14224" y="31750"/>
                </a:lnTo>
                <a:lnTo>
                  <a:pt x="34925" y="31750"/>
                </a:lnTo>
                <a:lnTo>
                  <a:pt x="19050" y="0"/>
                </a:lnTo>
                <a:close/>
              </a:path>
              <a:path w="38100" h="448944">
                <a:moveTo>
                  <a:pt x="34925" y="31750"/>
                </a:moveTo>
                <a:lnTo>
                  <a:pt x="23749" y="31750"/>
                </a:lnTo>
                <a:lnTo>
                  <a:pt x="23749" y="38100"/>
                </a:lnTo>
                <a:lnTo>
                  <a:pt x="38100" y="38100"/>
                </a:lnTo>
                <a:lnTo>
                  <a:pt x="349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2536" y="2196227"/>
            <a:ext cx="438912" cy="420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09668" y="2241947"/>
            <a:ext cx="326136" cy="313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46500" y="2379869"/>
            <a:ext cx="911225" cy="38100"/>
          </a:xfrm>
          <a:custGeom>
            <a:avLst/>
            <a:gdLst/>
            <a:ahLst/>
            <a:cxnLst/>
            <a:rect l="l" t="t" r="r" b="b"/>
            <a:pathLst>
              <a:path w="911225" h="38100">
                <a:moveTo>
                  <a:pt x="873125" y="0"/>
                </a:moveTo>
                <a:lnTo>
                  <a:pt x="873125" y="38100"/>
                </a:lnTo>
                <a:lnTo>
                  <a:pt x="901826" y="23749"/>
                </a:lnTo>
                <a:lnTo>
                  <a:pt x="879475" y="23749"/>
                </a:lnTo>
                <a:lnTo>
                  <a:pt x="879475" y="14224"/>
                </a:lnTo>
                <a:lnTo>
                  <a:pt x="901573" y="14224"/>
                </a:lnTo>
                <a:lnTo>
                  <a:pt x="873125" y="0"/>
                </a:lnTo>
                <a:close/>
              </a:path>
              <a:path w="911225" h="38100">
                <a:moveTo>
                  <a:pt x="873125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873125" y="23749"/>
                </a:lnTo>
                <a:lnTo>
                  <a:pt x="873125" y="14224"/>
                </a:lnTo>
                <a:close/>
              </a:path>
              <a:path w="911225" h="38100">
                <a:moveTo>
                  <a:pt x="901573" y="14224"/>
                </a:moveTo>
                <a:lnTo>
                  <a:pt x="879475" y="14224"/>
                </a:lnTo>
                <a:lnTo>
                  <a:pt x="879475" y="23749"/>
                </a:lnTo>
                <a:lnTo>
                  <a:pt x="901826" y="23749"/>
                </a:lnTo>
                <a:lnTo>
                  <a:pt x="911225" y="19050"/>
                </a:lnTo>
                <a:lnTo>
                  <a:pt x="9015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05810" y="1104789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224x224x64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23510" y="1197245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112x112x64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3544" y="2319798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9785" y="2631583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69713" y="2319798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89043" y="2569099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96436" y="1561481"/>
            <a:ext cx="622935" cy="38100"/>
          </a:xfrm>
          <a:custGeom>
            <a:avLst/>
            <a:gdLst/>
            <a:ahLst/>
            <a:cxnLst/>
            <a:rect l="l" t="t" r="r" b="b"/>
            <a:pathLst>
              <a:path w="622935" h="38100">
                <a:moveTo>
                  <a:pt x="584326" y="0"/>
                </a:moveTo>
                <a:lnTo>
                  <a:pt x="584326" y="38100"/>
                </a:lnTo>
                <a:lnTo>
                  <a:pt x="613028" y="23749"/>
                </a:lnTo>
                <a:lnTo>
                  <a:pt x="590676" y="23749"/>
                </a:lnTo>
                <a:lnTo>
                  <a:pt x="590676" y="14224"/>
                </a:lnTo>
                <a:lnTo>
                  <a:pt x="612775" y="14224"/>
                </a:lnTo>
                <a:lnTo>
                  <a:pt x="584326" y="0"/>
                </a:lnTo>
                <a:close/>
              </a:path>
              <a:path w="622935" h="38100">
                <a:moveTo>
                  <a:pt x="584326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584326" y="23749"/>
                </a:lnTo>
                <a:lnTo>
                  <a:pt x="584326" y="14224"/>
                </a:lnTo>
                <a:close/>
              </a:path>
              <a:path w="622935" h="38100">
                <a:moveTo>
                  <a:pt x="612775" y="14224"/>
                </a:moveTo>
                <a:lnTo>
                  <a:pt x="590676" y="14224"/>
                </a:lnTo>
                <a:lnTo>
                  <a:pt x="590676" y="23749"/>
                </a:lnTo>
                <a:lnTo>
                  <a:pt x="613028" y="23749"/>
                </a:lnTo>
                <a:lnTo>
                  <a:pt x="622426" y="19050"/>
                </a:lnTo>
                <a:lnTo>
                  <a:pt x="612775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673982" y="1367552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池化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21836" y="2207022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下</a:t>
            </a:r>
            <a:r>
              <a:rPr sz="1000" spc="-5" dirty="0">
                <a:latin typeface="黑体"/>
                <a:cs typeface="黑体"/>
              </a:rPr>
              <a:t>采样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97219" y="1151508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97219" y="1151508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08547" y="1483359"/>
          <a:ext cx="777239" cy="731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302119" y="1850262"/>
            <a:ext cx="838200" cy="38100"/>
          </a:xfrm>
          <a:custGeom>
            <a:avLst/>
            <a:gdLst/>
            <a:ahLst/>
            <a:cxnLst/>
            <a:rect l="l" t="t" r="r" b="b"/>
            <a:pathLst>
              <a:path w="838200" h="38100">
                <a:moveTo>
                  <a:pt x="799972" y="0"/>
                </a:moveTo>
                <a:lnTo>
                  <a:pt x="799972" y="38100"/>
                </a:lnTo>
                <a:lnTo>
                  <a:pt x="828674" y="23749"/>
                </a:lnTo>
                <a:lnTo>
                  <a:pt x="806322" y="23749"/>
                </a:lnTo>
                <a:lnTo>
                  <a:pt x="806322" y="14224"/>
                </a:lnTo>
                <a:lnTo>
                  <a:pt x="828420" y="14224"/>
                </a:lnTo>
                <a:lnTo>
                  <a:pt x="799972" y="0"/>
                </a:lnTo>
                <a:close/>
              </a:path>
              <a:path w="838200" h="38100">
                <a:moveTo>
                  <a:pt x="799972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799972" y="23749"/>
                </a:lnTo>
                <a:lnTo>
                  <a:pt x="799972" y="14224"/>
                </a:lnTo>
                <a:close/>
              </a:path>
              <a:path w="838200" h="38100">
                <a:moveTo>
                  <a:pt x="828420" y="14224"/>
                </a:moveTo>
                <a:lnTo>
                  <a:pt x="806322" y="14224"/>
                </a:lnTo>
                <a:lnTo>
                  <a:pt x="806322" y="23749"/>
                </a:lnTo>
                <a:lnTo>
                  <a:pt x="828674" y="23749"/>
                </a:lnTo>
                <a:lnTo>
                  <a:pt x="838072" y="19050"/>
                </a:lnTo>
                <a:lnTo>
                  <a:pt x="828420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73493" y="1699386"/>
            <a:ext cx="685800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最大池化</a:t>
            </a:r>
            <a:endParaRPr sz="800">
              <a:latin typeface="黑体"/>
              <a:cs typeface="黑体"/>
            </a:endParaRPr>
          </a:p>
          <a:p>
            <a:pPr marL="12700" marR="5080">
              <a:lnSpc>
                <a:spcPct val="100000"/>
              </a:lnSpc>
              <a:spcBef>
                <a:spcPts val="625"/>
              </a:spcBef>
            </a:pP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池化窗</a:t>
            </a:r>
            <a:r>
              <a:rPr sz="800" spc="-15" dirty="0">
                <a:solidFill>
                  <a:srgbClr val="FF0000"/>
                </a:solidFill>
                <a:latin typeface="黑体"/>
                <a:cs typeface="黑体"/>
              </a:rPr>
              <a:t>口</a:t>
            </a: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：</a:t>
            </a:r>
            <a:r>
              <a:rPr sz="800" spc="-10" dirty="0">
                <a:solidFill>
                  <a:srgbClr val="FF0000"/>
                </a:solidFill>
                <a:latin typeface="黑体"/>
                <a:cs typeface="黑体"/>
              </a:rPr>
              <a:t>2x2 </a:t>
            </a: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池化步</a:t>
            </a:r>
            <a:r>
              <a:rPr sz="800" spc="-15" dirty="0">
                <a:solidFill>
                  <a:srgbClr val="FF0000"/>
                </a:solidFill>
                <a:latin typeface="黑体"/>
                <a:cs typeface="黑体"/>
              </a:rPr>
              <a:t>长</a:t>
            </a:r>
            <a:r>
              <a:rPr sz="800" dirty="0">
                <a:solidFill>
                  <a:srgbClr val="FF0000"/>
                </a:solidFill>
                <a:latin typeface="黑体"/>
                <a:cs typeface="黑体"/>
              </a:rPr>
              <a:t>：2</a:t>
            </a:r>
            <a:endParaRPr sz="8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45759" y="1225041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单</a:t>
            </a:r>
            <a:r>
              <a:rPr sz="1000" spc="-5" dirty="0">
                <a:latin typeface="黑体"/>
                <a:cs typeface="黑体"/>
              </a:rPr>
              <a:t>张特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池化</a:t>
            </a:r>
            <a:r>
              <a:rPr spc="-10" dirty="0"/>
              <a:t>操</a:t>
            </a:r>
            <a:r>
              <a:rPr spc="5" dirty="0"/>
              <a:t>作</a:t>
            </a:r>
            <a:r>
              <a:rPr spc="-10" dirty="0"/>
              <a:t>示</a:t>
            </a:r>
            <a:r>
              <a:rPr spc="5" dirty="0"/>
              <a:t>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71113" y="531012"/>
            <a:ext cx="451612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7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化操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对每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个特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独立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dirty="0">
                <a:latin typeface="黑体"/>
                <a:cs typeface="黑体"/>
              </a:rPr>
              <a:t>行</a:t>
            </a:r>
            <a:r>
              <a:rPr sz="1000" spc="-5" dirty="0">
                <a:latin typeface="黑体"/>
                <a:cs typeface="黑体"/>
              </a:rPr>
              <a:t>;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特征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响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应图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某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个区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进行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池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化就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是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在该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区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域上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指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定一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值来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代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表整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区</a:t>
            </a:r>
            <a:r>
              <a:rPr sz="1000" spc="10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4808" y="1335912"/>
            <a:ext cx="131445" cy="533400"/>
          </a:xfrm>
          <a:custGeom>
            <a:avLst/>
            <a:gdLst/>
            <a:ahLst/>
            <a:cxnLst/>
            <a:rect l="l" t="t" r="r" b="b"/>
            <a:pathLst>
              <a:path w="131444" h="533400">
                <a:moveTo>
                  <a:pt x="131190" y="0"/>
                </a:moveTo>
                <a:lnTo>
                  <a:pt x="0" y="131191"/>
                </a:lnTo>
                <a:lnTo>
                  <a:pt x="0" y="533400"/>
                </a:lnTo>
                <a:lnTo>
                  <a:pt x="131190" y="402209"/>
                </a:lnTo>
                <a:lnTo>
                  <a:pt x="131190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03599" y="1335912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152400" y="0"/>
                </a:moveTo>
                <a:lnTo>
                  <a:pt x="131190" y="0"/>
                </a:lnTo>
                <a:lnTo>
                  <a:pt x="0" y="131191"/>
                </a:lnTo>
                <a:lnTo>
                  <a:pt x="21209" y="131191"/>
                </a:lnTo>
                <a:lnTo>
                  <a:pt x="152400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03599" y="1335912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0" y="131191"/>
                </a:moveTo>
                <a:lnTo>
                  <a:pt x="131190" y="0"/>
                </a:lnTo>
                <a:lnTo>
                  <a:pt x="152400" y="0"/>
                </a:lnTo>
                <a:lnTo>
                  <a:pt x="152400" y="402209"/>
                </a:lnTo>
                <a:lnTo>
                  <a:pt x="21209" y="533400"/>
                </a:lnTo>
                <a:lnTo>
                  <a:pt x="0" y="533400"/>
                </a:lnTo>
                <a:lnTo>
                  <a:pt x="0" y="131191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03599" y="1335912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0" y="131191"/>
                </a:moveTo>
                <a:lnTo>
                  <a:pt x="21209" y="131191"/>
                </a:lnTo>
                <a:lnTo>
                  <a:pt x="1524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3099" y="1469262"/>
            <a:ext cx="552450" cy="400050"/>
          </a:xfrm>
          <a:custGeom>
            <a:avLst/>
            <a:gdLst/>
            <a:ahLst/>
            <a:cxnLst/>
            <a:rect l="l" t="t" r="r" b="b"/>
            <a:pathLst>
              <a:path w="552450" h="400050">
                <a:moveTo>
                  <a:pt x="0" y="400050"/>
                </a:moveTo>
                <a:lnTo>
                  <a:pt x="552450" y="400050"/>
                </a:lnTo>
                <a:lnTo>
                  <a:pt x="552450" y="0"/>
                </a:lnTo>
                <a:lnTo>
                  <a:pt x="0" y="0"/>
                </a:lnTo>
                <a:lnTo>
                  <a:pt x="0" y="400050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65549" y="1335912"/>
            <a:ext cx="133350" cy="533400"/>
          </a:xfrm>
          <a:custGeom>
            <a:avLst/>
            <a:gdLst/>
            <a:ahLst/>
            <a:cxnLst/>
            <a:rect l="l" t="t" r="r" b="b"/>
            <a:pathLst>
              <a:path w="133350" h="533400">
                <a:moveTo>
                  <a:pt x="133350" y="0"/>
                </a:moveTo>
                <a:lnTo>
                  <a:pt x="0" y="133350"/>
                </a:lnTo>
                <a:lnTo>
                  <a:pt x="0" y="533400"/>
                </a:lnTo>
                <a:lnTo>
                  <a:pt x="133350" y="400050"/>
                </a:lnTo>
                <a:lnTo>
                  <a:pt x="133350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3099" y="1335912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685800" y="0"/>
                </a:moveTo>
                <a:lnTo>
                  <a:pt x="133350" y="0"/>
                </a:lnTo>
                <a:lnTo>
                  <a:pt x="0" y="133350"/>
                </a:lnTo>
                <a:lnTo>
                  <a:pt x="552450" y="133350"/>
                </a:lnTo>
                <a:lnTo>
                  <a:pt x="685800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3099" y="1335912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133350"/>
                </a:moveTo>
                <a:lnTo>
                  <a:pt x="133350" y="0"/>
                </a:lnTo>
                <a:lnTo>
                  <a:pt x="685800" y="0"/>
                </a:lnTo>
                <a:lnTo>
                  <a:pt x="685800" y="400050"/>
                </a:lnTo>
                <a:lnTo>
                  <a:pt x="552450" y="533400"/>
                </a:lnTo>
                <a:lnTo>
                  <a:pt x="0" y="533400"/>
                </a:lnTo>
                <a:lnTo>
                  <a:pt x="0" y="133350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3099" y="1335912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0" y="133350"/>
                </a:moveTo>
                <a:lnTo>
                  <a:pt x="552450" y="133350"/>
                </a:lnTo>
                <a:lnTo>
                  <a:pt x="6858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65549" y="1469262"/>
            <a:ext cx="0" cy="400050"/>
          </a:xfrm>
          <a:custGeom>
            <a:avLst/>
            <a:gdLst/>
            <a:ahLst/>
            <a:cxnLst/>
            <a:rect l="l" t="t" r="r" b="b"/>
            <a:pathLst>
              <a:path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93944" y="1431924"/>
            <a:ext cx="122555" cy="342900"/>
          </a:xfrm>
          <a:custGeom>
            <a:avLst/>
            <a:gdLst/>
            <a:ahLst/>
            <a:cxnLst/>
            <a:rect l="l" t="t" r="r" b="b"/>
            <a:pathLst>
              <a:path w="122555" h="342900">
                <a:moveTo>
                  <a:pt x="122047" y="0"/>
                </a:moveTo>
                <a:lnTo>
                  <a:pt x="0" y="122047"/>
                </a:lnTo>
                <a:lnTo>
                  <a:pt x="0" y="342900"/>
                </a:lnTo>
                <a:lnTo>
                  <a:pt x="122047" y="220853"/>
                </a:lnTo>
                <a:lnTo>
                  <a:pt x="122047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74259" y="1431924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141731" y="0"/>
                </a:moveTo>
                <a:lnTo>
                  <a:pt x="122046" y="0"/>
                </a:lnTo>
                <a:lnTo>
                  <a:pt x="0" y="122047"/>
                </a:lnTo>
                <a:lnTo>
                  <a:pt x="19684" y="122047"/>
                </a:lnTo>
                <a:lnTo>
                  <a:pt x="141731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74259" y="1431924"/>
            <a:ext cx="142240" cy="342900"/>
          </a:xfrm>
          <a:custGeom>
            <a:avLst/>
            <a:gdLst/>
            <a:ahLst/>
            <a:cxnLst/>
            <a:rect l="l" t="t" r="r" b="b"/>
            <a:pathLst>
              <a:path w="142239" h="342900">
                <a:moveTo>
                  <a:pt x="0" y="122047"/>
                </a:moveTo>
                <a:lnTo>
                  <a:pt x="122046" y="0"/>
                </a:lnTo>
                <a:lnTo>
                  <a:pt x="141731" y="0"/>
                </a:lnTo>
                <a:lnTo>
                  <a:pt x="141731" y="220853"/>
                </a:lnTo>
                <a:lnTo>
                  <a:pt x="19684" y="342900"/>
                </a:lnTo>
                <a:lnTo>
                  <a:pt x="0" y="342900"/>
                </a:lnTo>
                <a:lnTo>
                  <a:pt x="0" y="122047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74259" y="1431924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0" y="122047"/>
                </a:moveTo>
                <a:lnTo>
                  <a:pt x="19684" y="122047"/>
                </a:lnTo>
                <a:lnTo>
                  <a:pt x="141731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83759" y="1517649"/>
            <a:ext cx="556260" cy="257175"/>
          </a:xfrm>
          <a:custGeom>
            <a:avLst/>
            <a:gdLst/>
            <a:ahLst/>
            <a:cxnLst/>
            <a:rect l="l" t="t" r="r" b="b"/>
            <a:pathLst>
              <a:path w="556260" h="257175">
                <a:moveTo>
                  <a:pt x="0" y="257175"/>
                </a:moveTo>
                <a:lnTo>
                  <a:pt x="555879" y="257175"/>
                </a:lnTo>
                <a:lnTo>
                  <a:pt x="555879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39638" y="1431924"/>
            <a:ext cx="85725" cy="342900"/>
          </a:xfrm>
          <a:custGeom>
            <a:avLst/>
            <a:gdLst/>
            <a:ahLst/>
            <a:cxnLst/>
            <a:rect l="l" t="t" r="r" b="b"/>
            <a:pathLst>
              <a:path w="85725" h="342900">
                <a:moveTo>
                  <a:pt x="85725" y="0"/>
                </a:moveTo>
                <a:lnTo>
                  <a:pt x="0" y="85725"/>
                </a:lnTo>
                <a:lnTo>
                  <a:pt x="0" y="342900"/>
                </a:lnTo>
                <a:lnTo>
                  <a:pt x="85725" y="257175"/>
                </a:lnTo>
                <a:lnTo>
                  <a:pt x="85725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83759" y="1431924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641603" y="0"/>
                </a:moveTo>
                <a:lnTo>
                  <a:pt x="85725" y="0"/>
                </a:lnTo>
                <a:lnTo>
                  <a:pt x="0" y="85725"/>
                </a:lnTo>
                <a:lnTo>
                  <a:pt x="555878" y="85725"/>
                </a:lnTo>
                <a:lnTo>
                  <a:pt x="641603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83759" y="1431924"/>
            <a:ext cx="641985" cy="342900"/>
          </a:xfrm>
          <a:custGeom>
            <a:avLst/>
            <a:gdLst/>
            <a:ahLst/>
            <a:cxnLst/>
            <a:rect l="l" t="t" r="r" b="b"/>
            <a:pathLst>
              <a:path w="641985" h="342900">
                <a:moveTo>
                  <a:pt x="0" y="85725"/>
                </a:moveTo>
                <a:lnTo>
                  <a:pt x="85725" y="0"/>
                </a:lnTo>
                <a:lnTo>
                  <a:pt x="641603" y="0"/>
                </a:lnTo>
                <a:lnTo>
                  <a:pt x="641603" y="257175"/>
                </a:lnTo>
                <a:lnTo>
                  <a:pt x="555878" y="342900"/>
                </a:lnTo>
                <a:lnTo>
                  <a:pt x="0" y="342900"/>
                </a:lnTo>
                <a:lnTo>
                  <a:pt x="0" y="85725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83759" y="1431924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0" y="85725"/>
                </a:moveTo>
                <a:lnTo>
                  <a:pt x="555878" y="85725"/>
                </a:lnTo>
                <a:lnTo>
                  <a:pt x="641603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39638" y="1517649"/>
            <a:ext cx="0" cy="257175"/>
          </a:xfrm>
          <a:custGeom>
            <a:avLst/>
            <a:gdLst/>
            <a:ahLst/>
            <a:cxnLst/>
            <a:rect l="l" t="t" r="r" b="b"/>
            <a:pathLst>
              <a:path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22649" y="1907412"/>
            <a:ext cx="38100" cy="310515"/>
          </a:xfrm>
          <a:custGeom>
            <a:avLst/>
            <a:gdLst/>
            <a:ahLst/>
            <a:cxnLst/>
            <a:rect l="l" t="t" r="r" b="b"/>
            <a:pathLst>
              <a:path w="38100" h="310514">
                <a:moveTo>
                  <a:pt x="14348" y="272288"/>
                </a:moveTo>
                <a:lnTo>
                  <a:pt x="0" y="272288"/>
                </a:lnTo>
                <a:lnTo>
                  <a:pt x="19050" y="310388"/>
                </a:lnTo>
                <a:lnTo>
                  <a:pt x="34925" y="278638"/>
                </a:lnTo>
                <a:lnTo>
                  <a:pt x="14350" y="278638"/>
                </a:lnTo>
                <a:lnTo>
                  <a:pt x="14348" y="272288"/>
                </a:lnTo>
                <a:close/>
              </a:path>
              <a:path w="38100" h="310514">
                <a:moveTo>
                  <a:pt x="23749" y="0"/>
                </a:moveTo>
                <a:lnTo>
                  <a:pt x="14224" y="0"/>
                </a:lnTo>
                <a:lnTo>
                  <a:pt x="14350" y="278638"/>
                </a:lnTo>
                <a:lnTo>
                  <a:pt x="23875" y="278638"/>
                </a:lnTo>
                <a:lnTo>
                  <a:pt x="23749" y="0"/>
                </a:lnTo>
                <a:close/>
              </a:path>
              <a:path w="38100" h="310514">
                <a:moveTo>
                  <a:pt x="38100" y="272288"/>
                </a:moveTo>
                <a:lnTo>
                  <a:pt x="23873" y="272288"/>
                </a:lnTo>
                <a:lnTo>
                  <a:pt x="23875" y="278638"/>
                </a:lnTo>
                <a:lnTo>
                  <a:pt x="34925" y="278638"/>
                </a:lnTo>
                <a:lnTo>
                  <a:pt x="38100" y="272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53685" y="1814448"/>
            <a:ext cx="38100" cy="448945"/>
          </a:xfrm>
          <a:custGeom>
            <a:avLst/>
            <a:gdLst/>
            <a:ahLst/>
            <a:cxnLst/>
            <a:rect l="l" t="t" r="r" b="b"/>
            <a:pathLst>
              <a:path w="38100" h="448944">
                <a:moveTo>
                  <a:pt x="23749" y="31750"/>
                </a:moveTo>
                <a:lnTo>
                  <a:pt x="14224" y="31750"/>
                </a:lnTo>
                <a:lnTo>
                  <a:pt x="14224" y="448563"/>
                </a:lnTo>
                <a:lnTo>
                  <a:pt x="23749" y="448563"/>
                </a:lnTo>
                <a:lnTo>
                  <a:pt x="23749" y="31750"/>
                </a:lnTo>
                <a:close/>
              </a:path>
              <a:path w="38100" h="448944">
                <a:moveTo>
                  <a:pt x="19050" y="0"/>
                </a:moveTo>
                <a:lnTo>
                  <a:pt x="0" y="38100"/>
                </a:lnTo>
                <a:lnTo>
                  <a:pt x="14224" y="38100"/>
                </a:lnTo>
                <a:lnTo>
                  <a:pt x="14224" y="31750"/>
                </a:lnTo>
                <a:lnTo>
                  <a:pt x="34925" y="31750"/>
                </a:lnTo>
                <a:lnTo>
                  <a:pt x="19050" y="0"/>
                </a:lnTo>
                <a:close/>
              </a:path>
              <a:path w="38100" h="448944">
                <a:moveTo>
                  <a:pt x="34925" y="31750"/>
                </a:moveTo>
                <a:lnTo>
                  <a:pt x="23749" y="31750"/>
                </a:lnTo>
                <a:lnTo>
                  <a:pt x="23749" y="38100"/>
                </a:lnTo>
                <a:lnTo>
                  <a:pt x="38100" y="38100"/>
                </a:lnTo>
                <a:lnTo>
                  <a:pt x="349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2535" y="2218308"/>
            <a:ext cx="438912" cy="420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209667" y="2264028"/>
            <a:ext cx="326136" cy="313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246499" y="2401950"/>
            <a:ext cx="911225" cy="38100"/>
          </a:xfrm>
          <a:custGeom>
            <a:avLst/>
            <a:gdLst/>
            <a:ahLst/>
            <a:cxnLst/>
            <a:rect l="l" t="t" r="r" b="b"/>
            <a:pathLst>
              <a:path w="911225" h="38100">
                <a:moveTo>
                  <a:pt x="873125" y="0"/>
                </a:moveTo>
                <a:lnTo>
                  <a:pt x="873125" y="38100"/>
                </a:lnTo>
                <a:lnTo>
                  <a:pt x="901826" y="23749"/>
                </a:lnTo>
                <a:lnTo>
                  <a:pt x="879475" y="23749"/>
                </a:lnTo>
                <a:lnTo>
                  <a:pt x="879475" y="14224"/>
                </a:lnTo>
                <a:lnTo>
                  <a:pt x="901573" y="14224"/>
                </a:lnTo>
                <a:lnTo>
                  <a:pt x="873125" y="0"/>
                </a:lnTo>
                <a:close/>
              </a:path>
              <a:path w="911225" h="38100">
                <a:moveTo>
                  <a:pt x="873125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873125" y="23749"/>
                </a:lnTo>
                <a:lnTo>
                  <a:pt x="873125" y="14224"/>
                </a:lnTo>
                <a:close/>
              </a:path>
              <a:path w="911225" h="38100">
                <a:moveTo>
                  <a:pt x="901573" y="14224"/>
                </a:moveTo>
                <a:lnTo>
                  <a:pt x="879475" y="14224"/>
                </a:lnTo>
                <a:lnTo>
                  <a:pt x="879475" y="23749"/>
                </a:lnTo>
                <a:lnTo>
                  <a:pt x="901826" y="23749"/>
                </a:lnTo>
                <a:lnTo>
                  <a:pt x="911225" y="19050"/>
                </a:lnTo>
                <a:lnTo>
                  <a:pt x="9015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05809" y="1127886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224x224x64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23510" y="1220215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112x112x64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3544" y="2342514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9784" y="2654300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69712" y="2342514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89042" y="2592069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496435" y="1583562"/>
            <a:ext cx="622935" cy="38100"/>
          </a:xfrm>
          <a:custGeom>
            <a:avLst/>
            <a:gdLst/>
            <a:ahLst/>
            <a:cxnLst/>
            <a:rect l="l" t="t" r="r" b="b"/>
            <a:pathLst>
              <a:path w="622935" h="38100">
                <a:moveTo>
                  <a:pt x="584326" y="0"/>
                </a:moveTo>
                <a:lnTo>
                  <a:pt x="584326" y="38100"/>
                </a:lnTo>
                <a:lnTo>
                  <a:pt x="613028" y="23749"/>
                </a:lnTo>
                <a:lnTo>
                  <a:pt x="590676" y="23749"/>
                </a:lnTo>
                <a:lnTo>
                  <a:pt x="590676" y="14224"/>
                </a:lnTo>
                <a:lnTo>
                  <a:pt x="612775" y="14224"/>
                </a:lnTo>
                <a:lnTo>
                  <a:pt x="584326" y="0"/>
                </a:lnTo>
                <a:close/>
              </a:path>
              <a:path w="622935" h="38100">
                <a:moveTo>
                  <a:pt x="584326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584326" y="23749"/>
                </a:lnTo>
                <a:lnTo>
                  <a:pt x="584326" y="14224"/>
                </a:lnTo>
                <a:close/>
              </a:path>
              <a:path w="622935" h="38100">
                <a:moveTo>
                  <a:pt x="612775" y="14224"/>
                </a:moveTo>
                <a:lnTo>
                  <a:pt x="590676" y="14224"/>
                </a:lnTo>
                <a:lnTo>
                  <a:pt x="590676" y="23749"/>
                </a:lnTo>
                <a:lnTo>
                  <a:pt x="613028" y="23749"/>
                </a:lnTo>
                <a:lnTo>
                  <a:pt x="622426" y="19050"/>
                </a:lnTo>
                <a:lnTo>
                  <a:pt x="612775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673981" y="1390522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池化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21835" y="2229992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下</a:t>
            </a:r>
            <a:r>
              <a:rPr sz="1000" spc="-5" dirty="0">
                <a:latin typeface="黑体"/>
                <a:cs typeface="黑体"/>
              </a:rPr>
              <a:t>采样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199247" y="1313179"/>
            <a:ext cx="661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最</a:t>
            </a:r>
            <a:r>
              <a:rPr sz="1000" spc="-5" dirty="0">
                <a:latin typeface="黑体"/>
                <a:cs typeface="黑体"/>
              </a:rPr>
              <a:t>大池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后</a:t>
            </a:r>
            <a:endParaRPr sz="10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特</a:t>
            </a:r>
            <a:r>
              <a:rPr sz="1000" spc="-10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97220" y="1129427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97220" y="1129427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4809" y="1313831"/>
            <a:ext cx="131445" cy="533400"/>
          </a:xfrm>
          <a:custGeom>
            <a:avLst/>
            <a:gdLst/>
            <a:ahLst/>
            <a:cxnLst/>
            <a:rect l="l" t="t" r="r" b="b"/>
            <a:pathLst>
              <a:path w="131444" h="533400">
                <a:moveTo>
                  <a:pt x="131190" y="0"/>
                </a:moveTo>
                <a:lnTo>
                  <a:pt x="0" y="131191"/>
                </a:lnTo>
                <a:lnTo>
                  <a:pt x="0" y="533400"/>
                </a:lnTo>
                <a:lnTo>
                  <a:pt x="131190" y="402208"/>
                </a:lnTo>
                <a:lnTo>
                  <a:pt x="131190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3600" y="1313831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152400" y="0"/>
                </a:moveTo>
                <a:lnTo>
                  <a:pt x="131190" y="0"/>
                </a:lnTo>
                <a:lnTo>
                  <a:pt x="0" y="131191"/>
                </a:lnTo>
                <a:lnTo>
                  <a:pt x="21209" y="131191"/>
                </a:lnTo>
                <a:lnTo>
                  <a:pt x="152400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3600" y="1313831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0" y="131191"/>
                </a:moveTo>
                <a:lnTo>
                  <a:pt x="131190" y="0"/>
                </a:lnTo>
                <a:lnTo>
                  <a:pt x="152400" y="0"/>
                </a:lnTo>
                <a:lnTo>
                  <a:pt x="152400" y="402208"/>
                </a:lnTo>
                <a:lnTo>
                  <a:pt x="21209" y="533400"/>
                </a:lnTo>
                <a:lnTo>
                  <a:pt x="0" y="533400"/>
                </a:lnTo>
                <a:lnTo>
                  <a:pt x="0" y="131191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3600" y="1313831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0" y="131191"/>
                </a:moveTo>
                <a:lnTo>
                  <a:pt x="21209" y="131191"/>
                </a:lnTo>
                <a:lnTo>
                  <a:pt x="1524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3100" y="1447181"/>
            <a:ext cx="552450" cy="400050"/>
          </a:xfrm>
          <a:custGeom>
            <a:avLst/>
            <a:gdLst/>
            <a:ahLst/>
            <a:cxnLst/>
            <a:rect l="l" t="t" r="r" b="b"/>
            <a:pathLst>
              <a:path w="552450" h="400050">
                <a:moveTo>
                  <a:pt x="0" y="400050"/>
                </a:moveTo>
                <a:lnTo>
                  <a:pt x="552450" y="400050"/>
                </a:lnTo>
                <a:lnTo>
                  <a:pt x="552450" y="0"/>
                </a:lnTo>
                <a:lnTo>
                  <a:pt x="0" y="0"/>
                </a:lnTo>
                <a:lnTo>
                  <a:pt x="0" y="400050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65550" y="1313831"/>
            <a:ext cx="133350" cy="533400"/>
          </a:xfrm>
          <a:custGeom>
            <a:avLst/>
            <a:gdLst/>
            <a:ahLst/>
            <a:cxnLst/>
            <a:rect l="l" t="t" r="r" b="b"/>
            <a:pathLst>
              <a:path w="133350" h="533400">
                <a:moveTo>
                  <a:pt x="133350" y="0"/>
                </a:moveTo>
                <a:lnTo>
                  <a:pt x="0" y="133350"/>
                </a:lnTo>
                <a:lnTo>
                  <a:pt x="0" y="533400"/>
                </a:lnTo>
                <a:lnTo>
                  <a:pt x="133350" y="400050"/>
                </a:lnTo>
                <a:lnTo>
                  <a:pt x="133350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3100" y="1313831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685800" y="0"/>
                </a:moveTo>
                <a:lnTo>
                  <a:pt x="133350" y="0"/>
                </a:lnTo>
                <a:lnTo>
                  <a:pt x="0" y="133350"/>
                </a:lnTo>
                <a:lnTo>
                  <a:pt x="552450" y="133350"/>
                </a:lnTo>
                <a:lnTo>
                  <a:pt x="685800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3100" y="1313831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133350"/>
                </a:moveTo>
                <a:lnTo>
                  <a:pt x="133350" y="0"/>
                </a:lnTo>
                <a:lnTo>
                  <a:pt x="685800" y="0"/>
                </a:lnTo>
                <a:lnTo>
                  <a:pt x="685800" y="400050"/>
                </a:lnTo>
                <a:lnTo>
                  <a:pt x="552450" y="533400"/>
                </a:lnTo>
                <a:lnTo>
                  <a:pt x="0" y="533400"/>
                </a:lnTo>
                <a:lnTo>
                  <a:pt x="0" y="133350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3100" y="1313831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0" y="133350"/>
                </a:moveTo>
                <a:lnTo>
                  <a:pt x="552450" y="133350"/>
                </a:lnTo>
                <a:lnTo>
                  <a:pt x="6858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65550" y="1447181"/>
            <a:ext cx="0" cy="400050"/>
          </a:xfrm>
          <a:custGeom>
            <a:avLst/>
            <a:gdLst/>
            <a:ahLst/>
            <a:cxnLst/>
            <a:rect l="l" t="t" r="r" b="b"/>
            <a:pathLst>
              <a:path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93945" y="1409843"/>
            <a:ext cx="122555" cy="342900"/>
          </a:xfrm>
          <a:custGeom>
            <a:avLst/>
            <a:gdLst/>
            <a:ahLst/>
            <a:cxnLst/>
            <a:rect l="l" t="t" r="r" b="b"/>
            <a:pathLst>
              <a:path w="122555" h="342900">
                <a:moveTo>
                  <a:pt x="122047" y="0"/>
                </a:moveTo>
                <a:lnTo>
                  <a:pt x="0" y="122047"/>
                </a:lnTo>
                <a:lnTo>
                  <a:pt x="0" y="342900"/>
                </a:lnTo>
                <a:lnTo>
                  <a:pt x="122047" y="220852"/>
                </a:lnTo>
                <a:lnTo>
                  <a:pt x="122047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74260" y="1409843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141731" y="0"/>
                </a:moveTo>
                <a:lnTo>
                  <a:pt x="122046" y="0"/>
                </a:lnTo>
                <a:lnTo>
                  <a:pt x="0" y="122047"/>
                </a:lnTo>
                <a:lnTo>
                  <a:pt x="19684" y="122047"/>
                </a:lnTo>
                <a:lnTo>
                  <a:pt x="141731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74260" y="1409843"/>
            <a:ext cx="142240" cy="342900"/>
          </a:xfrm>
          <a:custGeom>
            <a:avLst/>
            <a:gdLst/>
            <a:ahLst/>
            <a:cxnLst/>
            <a:rect l="l" t="t" r="r" b="b"/>
            <a:pathLst>
              <a:path w="142239" h="342900">
                <a:moveTo>
                  <a:pt x="0" y="122047"/>
                </a:moveTo>
                <a:lnTo>
                  <a:pt x="122046" y="0"/>
                </a:lnTo>
                <a:lnTo>
                  <a:pt x="141731" y="0"/>
                </a:lnTo>
                <a:lnTo>
                  <a:pt x="141731" y="220852"/>
                </a:lnTo>
                <a:lnTo>
                  <a:pt x="19684" y="342900"/>
                </a:lnTo>
                <a:lnTo>
                  <a:pt x="0" y="342900"/>
                </a:lnTo>
                <a:lnTo>
                  <a:pt x="0" y="122047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74260" y="1409843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0" y="122047"/>
                </a:moveTo>
                <a:lnTo>
                  <a:pt x="19684" y="122047"/>
                </a:lnTo>
                <a:lnTo>
                  <a:pt x="141731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83760" y="1495568"/>
            <a:ext cx="556260" cy="257175"/>
          </a:xfrm>
          <a:custGeom>
            <a:avLst/>
            <a:gdLst/>
            <a:ahLst/>
            <a:cxnLst/>
            <a:rect l="l" t="t" r="r" b="b"/>
            <a:pathLst>
              <a:path w="556260" h="257175">
                <a:moveTo>
                  <a:pt x="0" y="257175"/>
                </a:moveTo>
                <a:lnTo>
                  <a:pt x="555879" y="257175"/>
                </a:lnTo>
                <a:lnTo>
                  <a:pt x="555879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9639" y="1409843"/>
            <a:ext cx="85725" cy="342900"/>
          </a:xfrm>
          <a:custGeom>
            <a:avLst/>
            <a:gdLst/>
            <a:ahLst/>
            <a:cxnLst/>
            <a:rect l="l" t="t" r="r" b="b"/>
            <a:pathLst>
              <a:path w="85725" h="342900">
                <a:moveTo>
                  <a:pt x="85725" y="0"/>
                </a:moveTo>
                <a:lnTo>
                  <a:pt x="0" y="85725"/>
                </a:lnTo>
                <a:lnTo>
                  <a:pt x="0" y="342900"/>
                </a:lnTo>
                <a:lnTo>
                  <a:pt x="85725" y="257175"/>
                </a:lnTo>
                <a:lnTo>
                  <a:pt x="85725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83760" y="1409843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641603" y="0"/>
                </a:moveTo>
                <a:lnTo>
                  <a:pt x="85725" y="0"/>
                </a:lnTo>
                <a:lnTo>
                  <a:pt x="0" y="85725"/>
                </a:lnTo>
                <a:lnTo>
                  <a:pt x="555878" y="85725"/>
                </a:lnTo>
                <a:lnTo>
                  <a:pt x="641603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83760" y="1409843"/>
            <a:ext cx="641985" cy="342900"/>
          </a:xfrm>
          <a:custGeom>
            <a:avLst/>
            <a:gdLst/>
            <a:ahLst/>
            <a:cxnLst/>
            <a:rect l="l" t="t" r="r" b="b"/>
            <a:pathLst>
              <a:path w="641985" h="342900">
                <a:moveTo>
                  <a:pt x="0" y="85725"/>
                </a:moveTo>
                <a:lnTo>
                  <a:pt x="85725" y="0"/>
                </a:lnTo>
                <a:lnTo>
                  <a:pt x="641603" y="0"/>
                </a:lnTo>
                <a:lnTo>
                  <a:pt x="641603" y="257175"/>
                </a:lnTo>
                <a:lnTo>
                  <a:pt x="555878" y="342900"/>
                </a:lnTo>
                <a:lnTo>
                  <a:pt x="0" y="342900"/>
                </a:lnTo>
                <a:lnTo>
                  <a:pt x="0" y="85725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83760" y="1409843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0" y="85725"/>
                </a:moveTo>
                <a:lnTo>
                  <a:pt x="555878" y="85725"/>
                </a:lnTo>
                <a:lnTo>
                  <a:pt x="641603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39639" y="1495568"/>
            <a:ext cx="0" cy="257175"/>
          </a:xfrm>
          <a:custGeom>
            <a:avLst/>
            <a:gdLst/>
            <a:ahLst/>
            <a:cxnLst/>
            <a:rect l="l" t="t" r="r" b="b"/>
            <a:pathLst>
              <a:path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2650" y="1885331"/>
            <a:ext cx="38100" cy="310515"/>
          </a:xfrm>
          <a:custGeom>
            <a:avLst/>
            <a:gdLst/>
            <a:ahLst/>
            <a:cxnLst/>
            <a:rect l="l" t="t" r="r" b="b"/>
            <a:pathLst>
              <a:path w="38100" h="310514">
                <a:moveTo>
                  <a:pt x="14348" y="272287"/>
                </a:moveTo>
                <a:lnTo>
                  <a:pt x="0" y="272287"/>
                </a:lnTo>
                <a:lnTo>
                  <a:pt x="19050" y="310387"/>
                </a:lnTo>
                <a:lnTo>
                  <a:pt x="34925" y="278637"/>
                </a:lnTo>
                <a:lnTo>
                  <a:pt x="14350" y="278637"/>
                </a:lnTo>
                <a:lnTo>
                  <a:pt x="14348" y="272287"/>
                </a:lnTo>
                <a:close/>
              </a:path>
              <a:path w="38100" h="310514">
                <a:moveTo>
                  <a:pt x="23749" y="0"/>
                </a:moveTo>
                <a:lnTo>
                  <a:pt x="14224" y="0"/>
                </a:lnTo>
                <a:lnTo>
                  <a:pt x="14350" y="278637"/>
                </a:lnTo>
                <a:lnTo>
                  <a:pt x="23875" y="278637"/>
                </a:lnTo>
                <a:lnTo>
                  <a:pt x="23749" y="0"/>
                </a:lnTo>
                <a:close/>
              </a:path>
              <a:path w="38100" h="310514">
                <a:moveTo>
                  <a:pt x="38100" y="272287"/>
                </a:moveTo>
                <a:lnTo>
                  <a:pt x="23873" y="272287"/>
                </a:lnTo>
                <a:lnTo>
                  <a:pt x="23875" y="278637"/>
                </a:lnTo>
                <a:lnTo>
                  <a:pt x="34925" y="278637"/>
                </a:lnTo>
                <a:lnTo>
                  <a:pt x="38100" y="272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3685" y="1792367"/>
            <a:ext cx="38100" cy="448945"/>
          </a:xfrm>
          <a:custGeom>
            <a:avLst/>
            <a:gdLst/>
            <a:ahLst/>
            <a:cxnLst/>
            <a:rect l="l" t="t" r="r" b="b"/>
            <a:pathLst>
              <a:path w="38100" h="448944">
                <a:moveTo>
                  <a:pt x="23749" y="31750"/>
                </a:moveTo>
                <a:lnTo>
                  <a:pt x="14224" y="31750"/>
                </a:lnTo>
                <a:lnTo>
                  <a:pt x="14224" y="448564"/>
                </a:lnTo>
                <a:lnTo>
                  <a:pt x="23749" y="448564"/>
                </a:lnTo>
                <a:lnTo>
                  <a:pt x="23749" y="31750"/>
                </a:lnTo>
                <a:close/>
              </a:path>
              <a:path w="38100" h="448944">
                <a:moveTo>
                  <a:pt x="19050" y="0"/>
                </a:moveTo>
                <a:lnTo>
                  <a:pt x="0" y="38100"/>
                </a:lnTo>
                <a:lnTo>
                  <a:pt x="14224" y="38100"/>
                </a:lnTo>
                <a:lnTo>
                  <a:pt x="14224" y="31750"/>
                </a:lnTo>
                <a:lnTo>
                  <a:pt x="34925" y="31750"/>
                </a:lnTo>
                <a:lnTo>
                  <a:pt x="19050" y="0"/>
                </a:lnTo>
                <a:close/>
              </a:path>
              <a:path w="38100" h="448944">
                <a:moveTo>
                  <a:pt x="34925" y="31750"/>
                </a:moveTo>
                <a:lnTo>
                  <a:pt x="23749" y="31750"/>
                </a:lnTo>
                <a:lnTo>
                  <a:pt x="23749" y="38100"/>
                </a:lnTo>
                <a:lnTo>
                  <a:pt x="38100" y="38100"/>
                </a:lnTo>
                <a:lnTo>
                  <a:pt x="349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2536" y="2196227"/>
            <a:ext cx="438912" cy="420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09668" y="2241947"/>
            <a:ext cx="326136" cy="313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46500" y="2379869"/>
            <a:ext cx="911225" cy="38100"/>
          </a:xfrm>
          <a:custGeom>
            <a:avLst/>
            <a:gdLst/>
            <a:ahLst/>
            <a:cxnLst/>
            <a:rect l="l" t="t" r="r" b="b"/>
            <a:pathLst>
              <a:path w="911225" h="38100">
                <a:moveTo>
                  <a:pt x="873125" y="0"/>
                </a:moveTo>
                <a:lnTo>
                  <a:pt x="873125" y="38100"/>
                </a:lnTo>
                <a:lnTo>
                  <a:pt x="901826" y="23749"/>
                </a:lnTo>
                <a:lnTo>
                  <a:pt x="879475" y="23749"/>
                </a:lnTo>
                <a:lnTo>
                  <a:pt x="879475" y="14224"/>
                </a:lnTo>
                <a:lnTo>
                  <a:pt x="901573" y="14224"/>
                </a:lnTo>
                <a:lnTo>
                  <a:pt x="873125" y="0"/>
                </a:lnTo>
                <a:close/>
              </a:path>
              <a:path w="911225" h="38100">
                <a:moveTo>
                  <a:pt x="873125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873125" y="23749"/>
                </a:lnTo>
                <a:lnTo>
                  <a:pt x="873125" y="14224"/>
                </a:lnTo>
                <a:close/>
              </a:path>
              <a:path w="911225" h="38100">
                <a:moveTo>
                  <a:pt x="901573" y="14224"/>
                </a:moveTo>
                <a:lnTo>
                  <a:pt x="879475" y="14224"/>
                </a:lnTo>
                <a:lnTo>
                  <a:pt x="879475" y="23749"/>
                </a:lnTo>
                <a:lnTo>
                  <a:pt x="901826" y="23749"/>
                </a:lnTo>
                <a:lnTo>
                  <a:pt x="911225" y="19050"/>
                </a:lnTo>
                <a:lnTo>
                  <a:pt x="9015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05810" y="1104789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224x224x64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23510" y="1197245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112x112x64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3544" y="2319798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9785" y="2631583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69713" y="2319798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89043" y="2569099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96436" y="1561481"/>
            <a:ext cx="622935" cy="38100"/>
          </a:xfrm>
          <a:custGeom>
            <a:avLst/>
            <a:gdLst/>
            <a:ahLst/>
            <a:cxnLst/>
            <a:rect l="l" t="t" r="r" b="b"/>
            <a:pathLst>
              <a:path w="622935" h="38100">
                <a:moveTo>
                  <a:pt x="584326" y="0"/>
                </a:moveTo>
                <a:lnTo>
                  <a:pt x="584326" y="38100"/>
                </a:lnTo>
                <a:lnTo>
                  <a:pt x="613028" y="23749"/>
                </a:lnTo>
                <a:lnTo>
                  <a:pt x="590676" y="23749"/>
                </a:lnTo>
                <a:lnTo>
                  <a:pt x="590676" y="14224"/>
                </a:lnTo>
                <a:lnTo>
                  <a:pt x="612775" y="14224"/>
                </a:lnTo>
                <a:lnTo>
                  <a:pt x="584326" y="0"/>
                </a:lnTo>
                <a:close/>
              </a:path>
              <a:path w="622935" h="38100">
                <a:moveTo>
                  <a:pt x="584326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584326" y="23749"/>
                </a:lnTo>
                <a:lnTo>
                  <a:pt x="584326" y="14224"/>
                </a:lnTo>
                <a:close/>
              </a:path>
              <a:path w="622935" h="38100">
                <a:moveTo>
                  <a:pt x="612775" y="14224"/>
                </a:moveTo>
                <a:lnTo>
                  <a:pt x="590676" y="14224"/>
                </a:lnTo>
                <a:lnTo>
                  <a:pt x="590676" y="23749"/>
                </a:lnTo>
                <a:lnTo>
                  <a:pt x="613028" y="23749"/>
                </a:lnTo>
                <a:lnTo>
                  <a:pt x="622426" y="19050"/>
                </a:lnTo>
                <a:lnTo>
                  <a:pt x="612775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673982" y="1367552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池化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5289544" y="1664732"/>
          <a:ext cx="457200" cy="398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62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1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5199248" y="1290463"/>
            <a:ext cx="661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最</a:t>
            </a:r>
            <a:r>
              <a:rPr sz="1000" spc="-5" dirty="0">
                <a:latin typeface="黑体"/>
                <a:cs typeface="黑体"/>
              </a:rPr>
              <a:t>大池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后 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特征图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73493" y="1676670"/>
            <a:ext cx="685800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最大池化</a:t>
            </a:r>
            <a:endParaRPr sz="800">
              <a:latin typeface="黑体"/>
              <a:cs typeface="黑体"/>
            </a:endParaRPr>
          </a:p>
          <a:p>
            <a:pPr marL="12700" marR="5080">
              <a:lnSpc>
                <a:spcPct val="100000"/>
              </a:lnSpc>
              <a:spcBef>
                <a:spcPts val="625"/>
              </a:spcBef>
            </a:pPr>
            <a:r>
              <a:rPr sz="800" dirty="0">
                <a:latin typeface="黑体"/>
                <a:cs typeface="黑体"/>
              </a:rPr>
              <a:t>池化窗</a:t>
            </a:r>
            <a:r>
              <a:rPr sz="800" spc="-15" dirty="0">
                <a:latin typeface="黑体"/>
                <a:cs typeface="黑体"/>
              </a:rPr>
              <a:t>口</a:t>
            </a:r>
            <a:r>
              <a:rPr sz="800" dirty="0">
                <a:latin typeface="黑体"/>
                <a:cs typeface="黑体"/>
              </a:rPr>
              <a:t>：</a:t>
            </a:r>
            <a:r>
              <a:rPr sz="800" spc="-10" dirty="0">
                <a:latin typeface="黑体"/>
                <a:cs typeface="黑体"/>
              </a:rPr>
              <a:t>2x2 </a:t>
            </a:r>
            <a:r>
              <a:rPr sz="800" dirty="0">
                <a:latin typeface="黑体"/>
                <a:cs typeface="黑体"/>
              </a:rPr>
              <a:t>池化步</a:t>
            </a:r>
            <a:r>
              <a:rPr sz="800" spc="-15" dirty="0">
                <a:latin typeface="黑体"/>
                <a:cs typeface="黑体"/>
              </a:rPr>
              <a:t>长</a:t>
            </a:r>
            <a:r>
              <a:rPr sz="800" dirty="0">
                <a:latin typeface="黑体"/>
                <a:cs typeface="黑体"/>
              </a:rPr>
              <a:t>：2</a:t>
            </a:r>
            <a:endParaRPr sz="800">
              <a:latin typeface="黑体"/>
              <a:cs typeface="黑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45759" y="1202325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单</a:t>
            </a:r>
            <a:r>
              <a:rPr sz="1000" spc="-5" dirty="0">
                <a:latin typeface="黑体"/>
                <a:cs typeface="黑体"/>
              </a:rPr>
              <a:t>张特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池化</a:t>
            </a:r>
            <a:r>
              <a:rPr spc="-10" dirty="0"/>
              <a:t>操</a:t>
            </a:r>
            <a:r>
              <a:rPr spc="5" dirty="0"/>
              <a:t>作</a:t>
            </a:r>
            <a:r>
              <a:rPr spc="-10" dirty="0"/>
              <a:t>示</a:t>
            </a:r>
            <a:r>
              <a:rPr spc="5" dirty="0"/>
              <a:t>例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771113" y="508296"/>
            <a:ext cx="451612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7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化操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对每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个特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独立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dirty="0">
                <a:latin typeface="黑体"/>
                <a:cs typeface="黑体"/>
              </a:rPr>
              <a:t>行</a:t>
            </a:r>
            <a:r>
              <a:rPr sz="1000" spc="-5" dirty="0">
                <a:latin typeface="黑体"/>
                <a:cs typeface="黑体"/>
              </a:rPr>
              <a:t>;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特征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响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应图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某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个区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进行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池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化就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是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在该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区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域上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指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定一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值来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代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表整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区</a:t>
            </a:r>
            <a:r>
              <a:rPr sz="1000" spc="10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21836" y="2207022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下</a:t>
            </a:r>
            <a:r>
              <a:rPr sz="1000" spc="-5" dirty="0">
                <a:latin typeface="黑体"/>
                <a:cs typeface="黑体"/>
              </a:rPr>
              <a:t>采样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3405373" y="1458103"/>
          <a:ext cx="777239" cy="7315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object 45"/>
          <p:cNvSpPr/>
          <p:nvPr/>
        </p:nvSpPr>
        <p:spPr>
          <a:xfrm>
            <a:off x="5292719" y="1667971"/>
            <a:ext cx="457200" cy="398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02119" y="1828181"/>
            <a:ext cx="838200" cy="38100"/>
          </a:xfrm>
          <a:custGeom>
            <a:avLst/>
            <a:gdLst/>
            <a:ahLst/>
            <a:cxnLst/>
            <a:rect l="l" t="t" r="r" b="b"/>
            <a:pathLst>
              <a:path w="838200" h="38100">
                <a:moveTo>
                  <a:pt x="799972" y="0"/>
                </a:moveTo>
                <a:lnTo>
                  <a:pt x="799972" y="38100"/>
                </a:lnTo>
                <a:lnTo>
                  <a:pt x="828674" y="23749"/>
                </a:lnTo>
                <a:lnTo>
                  <a:pt x="806322" y="23749"/>
                </a:lnTo>
                <a:lnTo>
                  <a:pt x="806322" y="14224"/>
                </a:lnTo>
                <a:lnTo>
                  <a:pt x="828420" y="14224"/>
                </a:lnTo>
                <a:lnTo>
                  <a:pt x="799972" y="0"/>
                </a:lnTo>
                <a:close/>
              </a:path>
              <a:path w="838200" h="38100">
                <a:moveTo>
                  <a:pt x="799972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799972" y="23749"/>
                </a:lnTo>
                <a:lnTo>
                  <a:pt x="799972" y="14224"/>
                </a:lnTo>
                <a:close/>
              </a:path>
              <a:path w="838200" h="38100">
                <a:moveTo>
                  <a:pt x="828420" y="14224"/>
                </a:moveTo>
                <a:lnTo>
                  <a:pt x="806322" y="14224"/>
                </a:lnTo>
                <a:lnTo>
                  <a:pt x="806322" y="23749"/>
                </a:lnTo>
                <a:lnTo>
                  <a:pt x="828674" y="23749"/>
                </a:lnTo>
                <a:lnTo>
                  <a:pt x="838072" y="19050"/>
                </a:lnTo>
                <a:lnTo>
                  <a:pt x="828420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97219" y="1151508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97219" y="1151508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4808" y="1335912"/>
            <a:ext cx="131445" cy="533400"/>
          </a:xfrm>
          <a:custGeom>
            <a:avLst/>
            <a:gdLst/>
            <a:ahLst/>
            <a:cxnLst/>
            <a:rect l="l" t="t" r="r" b="b"/>
            <a:pathLst>
              <a:path w="131444" h="533400">
                <a:moveTo>
                  <a:pt x="131190" y="0"/>
                </a:moveTo>
                <a:lnTo>
                  <a:pt x="0" y="131191"/>
                </a:lnTo>
                <a:lnTo>
                  <a:pt x="0" y="533400"/>
                </a:lnTo>
                <a:lnTo>
                  <a:pt x="131190" y="402209"/>
                </a:lnTo>
                <a:lnTo>
                  <a:pt x="131190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3599" y="1335912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152400" y="0"/>
                </a:moveTo>
                <a:lnTo>
                  <a:pt x="131190" y="0"/>
                </a:lnTo>
                <a:lnTo>
                  <a:pt x="0" y="131191"/>
                </a:lnTo>
                <a:lnTo>
                  <a:pt x="21209" y="131191"/>
                </a:lnTo>
                <a:lnTo>
                  <a:pt x="152400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3599" y="1335912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0" y="131191"/>
                </a:moveTo>
                <a:lnTo>
                  <a:pt x="131190" y="0"/>
                </a:lnTo>
                <a:lnTo>
                  <a:pt x="152400" y="0"/>
                </a:lnTo>
                <a:lnTo>
                  <a:pt x="152400" y="402209"/>
                </a:lnTo>
                <a:lnTo>
                  <a:pt x="21209" y="533400"/>
                </a:lnTo>
                <a:lnTo>
                  <a:pt x="0" y="533400"/>
                </a:lnTo>
                <a:lnTo>
                  <a:pt x="0" y="131191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3599" y="1335912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0" y="131191"/>
                </a:moveTo>
                <a:lnTo>
                  <a:pt x="21209" y="131191"/>
                </a:lnTo>
                <a:lnTo>
                  <a:pt x="1524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3099" y="1469262"/>
            <a:ext cx="552450" cy="400050"/>
          </a:xfrm>
          <a:custGeom>
            <a:avLst/>
            <a:gdLst/>
            <a:ahLst/>
            <a:cxnLst/>
            <a:rect l="l" t="t" r="r" b="b"/>
            <a:pathLst>
              <a:path w="552450" h="400050">
                <a:moveTo>
                  <a:pt x="0" y="400050"/>
                </a:moveTo>
                <a:lnTo>
                  <a:pt x="552450" y="400050"/>
                </a:lnTo>
                <a:lnTo>
                  <a:pt x="552450" y="0"/>
                </a:lnTo>
                <a:lnTo>
                  <a:pt x="0" y="0"/>
                </a:lnTo>
                <a:lnTo>
                  <a:pt x="0" y="400050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65549" y="1335912"/>
            <a:ext cx="133350" cy="533400"/>
          </a:xfrm>
          <a:custGeom>
            <a:avLst/>
            <a:gdLst/>
            <a:ahLst/>
            <a:cxnLst/>
            <a:rect l="l" t="t" r="r" b="b"/>
            <a:pathLst>
              <a:path w="133350" h="533400">
                <a:moveTo>
                  <a:pt x="133350" y="0"/>
                </a:moveTo>
                <a:lnTo>
                  <a:pt x="0" y="133350"/>
                </a:lnTo>
                <a:lnTo>
                  <a:pt x="0" y="533400"/>
                </a:lnTo>
                <a:lnTo>
                  <a:pt x="133350" y="400050"/>
                </a:lnTo>
                <a:lnTo>
                  <a:pt x="133350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3099" y="1335912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685800" y="0"/>
                </a:moveTo>
                <a:lnTo>
                  <a:pt x="133350" y="0"/>
                </a:lnTo>
                <a:lnTo>
                  <a:pt x="0" y="133350"/>
                </a:lnTo>
                <a:lnTo>
                  <a:pt x="552450" y="133350"/>
                </a:lnTo>
                <a:lnTo>
                  <a:pt x="685800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3099" y="1335912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133350"/>
                </a:moveTo>
                <a:lnTo>
                  <a:pt x="133350" y="0"/>
                </a:lnTo>
                <a:lnTo>
                  <a:pt x="685800" y="0"/>
                </a:lnTo>
                <a:lnTo>
                  <a:pt x="685800" y="400050"/>
                </a:lnTo>
                <a:lnTo>
                  <a:pt x="552450" y="533400"/>
                </a:lnTo>
                <a:lnTo>
                  <a:pt x="0" y="533400"/>
                </a:lnTo>
                <a:lnTo>
                  <a:pt x="0" y="133350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3099" y="1335912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0" y="133350"/>
                </a:moveTo>
                <a:lnTo>
                  <a:pt x="552450" y="133350"/>
                </a:lnTo>
                <a:lnTo>
                  <a:pt x="6858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65549" y="1469262"/>
            <a:ext cx="0" cy="400050"/>
          </a:xfrm>
          <a:custGeom>
            <a:avLst/>
            <a:gdLst/>
            <a:ahLst/>
            <a:cxnLst/>
            <a:rect l="l" t="t" r="r" b="b"/>
            <a:pathLst>
              <a:path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93944" y="1431924"/>
            <a:ext cx="122555" cy="342900"/>
          </a:xfrm>
          <a:custGeom>
            <a:avLst/>
            <a:gdLst/>
            <a:ahLst/>
            <a:cxnLst/>
            <a:rect l="l" t="t" r="r" b="b"/>
            <a:pathLst>
              <a:path w="122555" h="342900">
                <a:moveTo>
                  <a:pt x="122047" y="0"/>
                </a:moveTo>
                <a:lnTo>
                  <a:pt x="0" y="122047"/>
                </a:lnTo>
                <a:lnTo>
                  <a:pt x="0" y="342900"/>
                </a:lnTo>
                <a:lnTo>
                  <a:pt x="122047" y="220853"/>
                </a:lnTo>
                <a:lnTo>
                  <a:pt x="122047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74259" y="1431924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141731" y="0"/>
                </a:moveTo>
                <a:lnTo>
                  <a:pt x="122046" y="0"/>
                </a:lnTo>
                <a:lnTo>
                  <a:pt x="0" y="122047"/>
                </a:lnTo>
                <a:lnTo>
                  <a:pt x="19684" y="122047"/>
                </a:lnTo>
                <a:lnTo>
                  <a:pt x="141731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74259" y="1431924"/>
            <a:ext cx="142240" cy="342900"/>
          </a:xfrm>
          <a:custGeom>
            <a:avLst/>
            <a:gdLst/>
            <a:ahLst/>
            <a:cxnLst/>
            <a:rect l="l" t="t" r="r" b="b"/>
            <a:pathLst>
              <a:path w="142239" h="342900">
                <a:moveTo>
                  <a:pt x="0" y="122047"/>
                </a:moveTo>
                <a:lnTo>
                  <a:pt x="122046" y="0"/>
                </a:lnTo>
                <a:lnTo>
                  <a:pt x="141731" y="0"/>
                </a:lnTo>
                <a:lnTo>
                  <a:pt x="141731" y="220853"/>
                </a:lnTo>
                <a:lnTo>
                  <a:pt x="19684" y="342900"/>
                </a:lnTo>
                <a:lnTo>
                  <a:pt x="0" y="342900"/>
                </a:lnTo>
                <a:lnTo>
                  <a:pt x="0" y="122047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74259" y="1431924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0" y="122047"/>
                </a:moveTo>
                <a:lnTo>
                  <a:pt x="19684" y="122047"/>
                </a:lnTo>
                <a:lnTo>
                  <a:pt x="141731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83759" y="1517649"/>
            <a:ext cx="556260" cy="257175"/>
          </a:xfrm>
          <a:custGeom>
            <a:avLst/>
            <a:gdLst/>
            <a:ahLst/>
            <a:cxnLst/>
            <a:rect l="l" t="t" r="r" b="b"/>
            <a:pathLst>
              <a:path w="556260" h="257175">
                <a:moveTo>
                  <a:pt x="0" y="257175"/>
                </a:moveTo>
                <a:lnTo>
                  <a:pt x="555879" y="257175"/>
                </a:lnTo>
                <a:lnTo>
                  <a:pt x="555879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9638" y="1431924"/>
            <a:ext cx="85725" cy="342900"/>
          </a:xfrm>
          <a:custGeom>
            <a:avLst/>
            <a:gdLst/>
            <a:ahLst/>
            <a:cxnLst/>
            <a:rect l="l" t="t" r="r" b="b"/>
            <a:pathLst>
              <a:path w="85725" h="342900">
                <a:moveTo>
                  <a:pt x="85725" y="0"/>
                </a:moveTo>
                <a:lnTo>
                  <a:pt x="0" y="85725"/>
                </a:lnTo>
                <a:lnTo>
                  <a:pt x="0" y="342900"/>
                </a:lnTo>
                <a:lnTo>
                  <a:pt x="85725" y="257175"/>
                </a:lnTo>
                <a:lnTo>
                  <a:pt x="85725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83759" y="1431924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641603" y="0"/>
                </a:moveTo>
                <a:lnTo>
                  <a:pt x="85725" y="0"/>
                </a:lnTo>
                <a:lnTo>
                  <a:pt x="0" y="85725"/>
                </a:lnTo>
                <a:lnTo>
                  <a:pt x="555878" y="85725"/>
                </a:lnTo>
                <a:lnTo>
                  <a:pt x="641603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83759" y="1431924"/>
            <a:ext cx="641985" cy="342900"/>
          </a:xfrm>
          <a:custGeom>
            <a:avLst/>
            <a:gdLst/>
            <a:ahLst/>
            <a:cxnLst/>
            <a:rect l="l" t="t" r="r" b="b"/>
            <a:pathLst>
              <a:path w="641985" h="342900">
                <a:moveTo>
                  <a:pt x="0" y="85725"/>
                </a:moveTo>
                <a:lnTo>
                  <a:pt x="85725" y="0"/>
                </a:lnTo>
                <a:lnTo>
                  <a:pt x="641603" y="0"/>
                </a:lnTo>
                <a:lnTo>
                  <a:pt x="641603" y="257175"/>
                </a:lnTo>
                <a:lnTo>
                  <a:pt x="555878" y="342900"/>
                </a:lnTo>
                <a:lnTo>
                  <a:pt x="0" y="342900"/>
                </a:lnTo>
                <a:lnTo>
                  <a:pt x="0" y="85725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83759" y="1431924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0" y="85725"/>
                </a:moveTo>
                <a:lnTo>
                  <a:pt x="555878" y="85725"/>
                </a:lnTo>
                <a:lnTo>
                  <a:pt x="641603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39638" y="1517649"/>
            <a:ext cx="0" cy="257175"/>
          </a:xfrm>
          <a:custGeom>
            <a:avLst/>
            <a:gdLst/>
            <a:ahLst/>
            <a:cxnLst/>
            <a:rect l="l" t="t" r="r" b="b"/>
            <a:pathLst>
              <a:path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2649" y="1907412"/>
            <a:ext cx="38100" cy="310515"/>
          </a:xfrm>
          <a:custGeom>
            <a:avLst/>
            <a:gdLst/>
            <a:ahLst/>
            <a:cxnLst/>
            <a:rect l="l" t="t" r="r" b="b"/>
            <a:pathLst>
              <a:path w="38100" h="310514">
                <a:moveTo>
                  <a:pt x="14348" y="272288"/>
                </a:moveTo>
                <a:lnTo>
                  <a:pt x="0" y="272288"/>
                </a:lnTo>
                <a:lnTo>
                  <a:pt x="19050" y="310388"/>
                </a:lnTo>
                <a:lnTo>
                  <a:pt x="34925" y="278638"/>
                </a:lnTo>
                <a:lnTo>
                  <a:pt x="14350" y="278638"/>
                </a:lnTo>
                <a:lnTo>
                  <a:pt x="14348" y="272288"/>
                </a:lnTo>
                <a:close/>
              </a:path>
              <a:path w="38100" h="310514">
                <a:moveTo>
                  <a:pt x="23749" y="0"/>
                </a:moveTo>
                <a:lnTo>
                  <a:pt x="14224" y="0"/>
                </a:lnTo>
                <a:lnTo>
                  <a:pt x="14350" y="278638"/>
                </a:lnTo>
                <a:lnTo>
                  <a:pt x="23875" y="278638"/>
                </a:lnTo>
                <a:lnTo>
                  <a:pt x="23749" y="0"/>
                </a:lnTo>
                <a:close/>
              </a:path>
              <a:path w="38100" h="310514">
                <a:moveTo>
                  <a:pt x="38100" y="272288"/>
                </a:moveTo>
                <a:lnTo>
                  <a:pt x="23873" y="272288"/>
                </a:lnTo>
                <a:lnTo>
                  <a:pt x="23875" y="278638"/>
                </a:lnTo>
                <a:lnTo>
                  <a:pt x="34925" y="278638"/>
                </a:lnTo>
                <a:lnTo>
                  <a:pt x="38100" y="272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3685" y="1814448"/>
            <a:ext cx="38100" cy="448945"/>
          </a:xfrm>
          <a:custGeom>
            <a:avLst/>
            <a:gdLst/>
            <a:ahLst/>
            <a:cxnLst/>
            <a:rect l="l" t="t" r="r" b="b"/>
            <a:pathLst>
              <a:path w="38100" h="448944">
                <a:moveTo>
                  <a:pt x="23749" y="31750"/>
                </a:moveTo>
                <a:lnTo>
                  <a:pt x="14224" y="31750"/>
                </a:lnTo>
                <a:lnTo>
                  <a:pt x="14224" y="448563"/>
                </a:lnTo>
                <a:lnTo>
                  <a:pt x="23749" y="448563"/>
                </a:lnTo>
                <a:lnTo>
                  <a:pt x="23749" y="31750"/>
                </a:lnTo>
                <a:close/>
              </a:path>
              <a:path w="38100" h="448944">
                <a:moveTo>
                  <a:pt x="19050" y="0"/>
                </a:moveTo>
                <a:lnTo>
                  <a:pt x="0" y="38100"/>
                </a:lnTo>
                <a:lnTo>
                  <a:pt x="14224" y="38100"/>
                </a:lnTo>
                <a:lnTo>
                  <a:pt x="14224" y="31750"/>
                </a:lnTo>
                <a:lnTo>
                  <a:pt x="34925" y="31750"/>
                </a:lnTo>
                <a:lnTo>
                  <a:pt x="19050" y="0"/>
                </a:lnTo>
                <a:close/>
              </a:path>
              <a:path w="38100" h="448944">
                <a:moveTo>
                  <a:pt x="34925" y="31750"/>
                </a:moveTo>
                <a:lnTo>
                  <a:pt x="23749" y="31750"/>
                </a:lnTo>
                <a:lnTo>
                  <a:pt x="23749" y="38100"/>
                </a:lnTo>
                <a:lnTo>
                  <a:pt x="38100" y="38100"/>
                </a:lnTo>
                <a:lnTo>
                  <a:pt x="349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2535" y="2218308"/>
            <a:ext cx="438912" cy="420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09667" y="2264028"/>
            <a:ext cx="326136" cy="313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46499" y="2401950"/>
            <a:ext cx="911225" cy="38100"/>
          </a:xfrm>
          <a:custGeom>
            <a:avLst/>
            <a:gdLst/>
            <a:ahLst/>
            <a:cxnLst/>
            <a:rect l="l" t="t" r="r" b="b"/>
            <a:pathLst>
              <a:path w="911225" h="38100">
                <a:moveTo>
                  <a:pt x="873125" y="0"/>
                </a:moveTo>
                <a:lnTo>
                  <a:pt x="873125" y="38100"/>
                </a:lnTo>
                <a:lnTo>
                  <a:pt x="901826" y="23749"/>
                </a:lnTo>
                <a:lnTo>
                  <a:pt x="879475" y="23749"/>
                </a:lnTo>
                <a:lnTo>
                  <a:pt x="879475" y="14224"/>
                </a:lnTo>
                <a:lnTo>
                  <a:pt x="901573" y="14224"/>
                </a:lnTo>
                <a:lnTo>
                  <a:pt x="873125" y="0"/>
                </a:lnTo>
                <a:close/>
              </a:path>
              <a:path w="911225" h="38100">
                <a:moveTo>
                  <a:pt x="873125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873125" y="23749"/>
                </a:lnTo>
                <a:lnTo>
                  <a:pt x="873125" y="14224"/>
                </a:lnTo>
                <a:close/>
              </a:path>
              <a:path w="911225" h="38100">
                <a:moveTo>
                  <a:pt x="901573" y="14224"/>
                </a:moveTo>
                <a:lnTo>
                  <a:pt x="879475" y="14224"/>
                </a:lnTo>
                <a:lnTo>
                  <a:pt x="879475" y="23749"/>
                </a:lnTo>
                <a:lnTo>
                  <a:pt x="901826" y="23749"/>
                </a:lnTo>
                <a:lnTo>
                  <a:pt x="911225" y="19050"/>
                </a:lnTo>
                <a:lnTo>
                  <a:pt x="9015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05809" y="1127886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224x224x64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23510" y="1220215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112x112x64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3544" y="2342514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9784" y="2654300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69712" y="2342514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89042" y="2592069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96435" y="1583562"/>
            <a:ext cx="622935" cy="38100"/>
          </a:xfrm>
          <a:custGeom>
            <a:avLst/>
            <a:gdLst/>
            <a:ahLst/>
            <a:cxnLst/>
            <a:rect l="l" t="t" r="r" b="b"/>
            <a:pathLst>
              <a:path w="622935" h="38100">
                <a:moveTo>
                  <a:pt x="584326" y="0"/>
                </a:moveTo>
                <a:lnTo>
                  <a:pt x="584326" y="38100"/>
                </a:lnTo>
                <a:lnTo>
                  <a:pt x="613028" y="23749"/>
                </a:lnTo>
                <a:lnTo>
                  <a:pt x="590676" y="23749"/>
                </a:lnTo>
                <a:lnTo>
                  <a:pt x="590676" y="14224"/>
                </a:lnTo>
                <a:lnTo>
                  <a:pt x="612775" y="14224"/>
                </a:lnTo>
                <a:lnTo>
                  <a:pt x="584326" y="0"/>
                </a:lnTo>
                <a:close/>
              </a:path>
              <a:path w="622935" h="38100">
                <a:moveTo>
                  <a:pt x="584326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584326" y="23749"/>
                </a:lnTo>
                <a:lnTo>
                  <a:pt x="584326" y="14224"/>
                </a:lnTo>
                <a:close/>
              </a:path>
              <a:path w="622935" h="38100">
                <a:moveTo>
                  <a:pt x="612775" y="14224"/>
                </a:moveTo>
                <a:lnTo>
                  <a:pt x="590676" y="14224"/>
                </a:lnTo>
                <a:lnTo>
                  <a:pt x="590676" y="23749"/>
                </a:lnTo>
                <a:lnTo>
                  <a:pt x="613028" y="23749"/>
                </a:lnTo>
                <a:lnTo>
                  <a:pt x="622426" y="19050"/>
                </a:lnTo>
                <a:lnTo>
                  <a:pt x="612775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673981" y="1390522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池化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5289544" y="1686813"/>
          <a:ext cx="457200" cy="398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63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5199247" y="1313179"/>
            <a:ext cx="661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最</a:t>
            </a:r>
            <a:r>
              <a:rPr sz="1000" spc="-5" dirty="0">
                <a:latin typeface="黑体"/>
                <a:cs typeface="黑体"/>
              </a:rPr>
              <a:t>大池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后</a:t>
            </a:r>
            <a:endParaRPr sz="10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特</a:t>
            </a:r>
            <a:r>
              <a:rPr sz="1000" spc="-10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73493" y="1699386"/>
            <a:ext cx="685800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最大池化</a:t>
            </a:r>
            <a:endParaRPr sz="800">
              <a:latin typeface="黑体"/>
              <a:cs typeface="黑体"/>
            </a:endParaRPr>
          </a:p>
          <a:p>
            <a:pPr marL="12700" marR="5080">
              <a:lnSpc>
                <a:spcPct val="100000"/>
              </a:lnSpc>
              <a:spcBef>
                <a:spcPts val="625"/>
              </a:spcBef>
            </a:pPr>
            <a:r>
              <a:rPr sz="800" dirty="0">
                <a:latin typeface="黑体"/>
                <a:cs typeface="黑体"/>
              </a:rPr>
              <a:t>池化窗</a:t>
            </a:r>
            <a:r>
              <a:rPr sz="800" spc="-15" dirty="0">
                <a:latin typeface="黑体"/>
                <a:cs typeface="黑体"/>
              </a:rPr>
              <a:t>口</a:t>
            </a:r>
            <a:r>
              <a:rPr sz="800" dirty="0">
                <a:latin typeface="黑体"/>
                <a:cs typeface="黑体"/>
              </a:rPr>
              <a:t>：</a:t>
            </a:r>
            <a:r>
              <a:rPr sz="800" spc="-10" dirty="0">
                <a:latin typeface="黑体"/>
                <a:cs typeface="黑体"/>
              </a:rPr>
              <a:t>2x2 </a:t>
            </a:r>
            <a:r>
              <a:rPr sz="800" dirty="0">
                <a:latin typeface="黑体"/>
                <a:cs typeface="黑体"/>
              </a:rPr>
              <a:t>池化步</a:t>
            </a:r>
            <a:r>
              <a:rPr sz="800" spc="-15" dirty="0">
                <a:latin typeface="黑体"/>
                <a:cs typeface="黑体"/>
              </a:rPr>
              <a:t>长</a:t>
            </a:r>
            <a:r>
              <a:rPr sz="800" dirty="0">
                <a:latin typeface="黑体"/>
                <a:cs typeface="黑体"/>
              </a:rPr>
              <a:t>：2</a:t>
            </a:r>
            <a:endParaRPr sz="800">
              <a:latin typeface="黑体"/>
              <a:cs typeface="黑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45759" y="1225041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单</a:t>
            </a:r>
            <a:r>
              <a:rPr sz="1000" spc="-5" dirty="0">
                <a:latin typeface="黑体"/>
                <a:cs typeface="黑体"/>
              </a:rPr>
              <a:t>张特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池化</a:t>
            </a:r>
            <a:r>
              <a:rPr spc="-10" dirty="0"/>
              <a:t>操</a:t>
            </a:r>
            <a:r>
              <a:rPr spc="5" dirty="0"/>
              <a:t>作</a:t>
            </a:r>
            <a:r>
              <a:rPr spc="-10" dirty="0"/>
              <a:t>示</a:t>
            </a:r>
            <a:r>
              <a:rPr spc="5" dirty="0"/>
              <a:t>例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771113" y="531012"/>
            <a:ext cx="451612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7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化操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对每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个特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独立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dirty="0">
                <a:latin typeface="黑体"/>
                <a:cs typeface="黑体"/>
              </a:rPr>
              <a:t>行</a:t>
            </a:r>
            <a:r>
              <a:rPr sz="1000" spc="-5" dirty="0">
                <a:latin typeface="黑体"/>
                <a:cs typeface="黑体"/>
              </a:rPr>
              <a:t>;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特征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响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应图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某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个区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进行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池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化就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是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在该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区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域上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指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定一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值来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代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表整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区</a:t>
            </a:r>
            <a:r>
              <a:rPr sz="1000" spc="10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21835" y="2229992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下</a:t>
            </a:r>
            <a:r>
              <a:rPr sz="1000" spc="-5" dirty="0">
                <a:latin typeface="黑体"/>
                <a:cs typeface="黑体"/>
              </a:rPr>
              <a:t>采样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3408547" y="1480184"/>
          <a:ext cx="777239" cy="731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object 45"/>
          <p:cNvSpPr/>
          <p:nvPr/>
        </p:nvSpPr>
        <p:spPr>
          <a:xfrm>
            <a:off x="5292719" y="1690052"/>
            <a:ext cx="457200" cy="398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02119" y="1850262"/>
            <a:ext cx="838200" cy="38100"/>
          </a:xfrm>
          <a:custGeom>
            <a:avLst/>
            <a:gdLst/>
            <a:ahLst/>
            <a:cxnLst/>
            <a:rect l="l" t="t" r="r" b="b"/>
            <a:pathLst>
              <a:path w="838200" h="38100">
                <a:moveTo>
                  <a:pt x="799972" y="0"/>
                </a:moveTo>
                <a:lnTo>
                  <a:pt x="799972" y="38100"/>
                </a:lnTo>
                <a:lnTo>
                  <a:pt x="828674" y="23749"/>
                </a:lnTo>
                <a:lnTo>
                  <a:pt x="806322" y="23749"/>
                </a:lnTo>
                <a:lnTo>
                  <a:pt x="806322" y="14224"/>
                </a:lnTo>
                <a:lnTo>
                  <a:pt x="828420" y="14224"/>
                </a:lnTo>
                <a:lnTo>
                  <a:pt x="799972" y="0"/>
                </a:lnTo>
                <a:close/>
              </a:path>
              <a:path w="838200" h="38100">
                <a:moveTo>
                  <a:pt x="799972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799972" y="23749"/>
                </a:lnTo>
                <a:lnTo>
                  <a:pt x="799972" y="14224"/>
                </a:lnTo>
                <a:close/>
              </a:path>
              <a:path w="838200" h="38100">
                <a:moveTo>
                  <a:pt x="828420" y="14224"/>
                </a:moveTo>
                <a:lnTo>
                  <a:pt x="806322" y="14224"/>
                </a:lnTo>
                <a:lnTo>
                  <a:pt x="806322" y="23749"/>
                </a:lnTo>
                <a:lnTo>
                  <a:pt x="828674" y="23749"/>
                </a:lnTo>
                <a:lnTo>
                  <a:pt x="838072" y="19050"/>
                </a:lnTo>
                <a:lnTo>
                  <a:pt x="828420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97220" y="1129427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97220" y="1129427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4809" y="1313831"/>
            <a:ext cx="131445" cy="533400"/>
          </a:xfrm>
          <a:custGeom>
            <a:avLst/>
            <a:gdLst/>
            <a:ahLst/>
            <a:cxnLst/>
            <a:rect l="l" t="t" r="r" b="b"/>
            <a:pathLst>
              <a:path w="131444" h="533400">
                <a:moveTo>
                  <a:pt x="131190" y="0"/>
                </a:moveTo>
                <a:lnTo>
                  <a:pt x="0" y="131191"/>
                </a:lnTo>
                <a:lnTo>
                  <a:pt x="0" y="533400"/>
                </a:lnTo>
                <a:lnTo>
                  <a:pt x="131190" y="402208"/>
                </a:lnTo>
                <a:lnTo>
                  <a:pt x="131190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3600" y="1313831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152400" y="0"/>
                </a:moveTo>
                <a:lnTo>
                  <a:pt x="131190" y="0"/>
                </a:lnTo>
                <a:lnTo>
                  <a:pt x="0" y="131191"/>
                </a:lnTo>
                <a:lnTo>
                  <a:pt x="21209" y="131191"/>
                </a:lnTo>
                <a:lnTo>
                  <a:pt x="152400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3600" y="1313831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0" y="131191"/>
                </a:moveTo>
                <a:lnTo>
                  <a:pt x="131190" y="0"/>
                </a:lnTo>
                <a:lnTo>
                  <a:pt x="152400" y="0"/>
                </a:lnTo>
                <a:lnTo>
                  <a:pt x="152400" y="402208"/>
                </a:lnTo>
                <a:lnTo>
                  <a:pt x="21209" y="533400"/>
                </a:lnTo>
                <a:lnTo>
                  <a:pt x="0" y="533400"/>
                </a:lnTo>
                <a:lnTo>
                  <a:pt x="0" y="131191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3600" y="1313831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0" y="131191"/>
                </a:moveTo>
                <a:lnTo>
                  <a:pt x="21209" y="131191"/>
                </a:lnTo>
                <a:lnTo>
                  <a:pt x="1524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3100" y="1447181"/>
            <a:ext cx="552450" cy="400050"/>
          </a:xfrm>
          <a:custGeom>
            <a:avLst/>
            <a:gdLst/>
            <a:ahLst/>
            <a:cxnLst/>
            <a:rect l="l" t="t" r="r" b="b"/>
            <a:pathLst>
              <a:path w="552450" h="400050">
                <a:moveTo>
                  <a:pt x="0" y="400050"/>
                </a:moveTo>
                <a:lnTo>
                  <a:pt x="552450" y="400050"/>
                </a:lnTo>
                <a:lnTo>
                  <a:pt x="552450" y="0"/>
                </a:lnTo>
                <a:lnTo>
                  <a:pt x="0" y="0"/>
                </a:lnTo>
                <a:lnTo>
                  <a:pt x="0" y="400050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65550" y="1313831"/>
            <a:ext cx="133350" cy="533400"/>
          </a:xfrm>
          <a:custGeom>
            <a:avLst/>
            <a:gdLst/>
            <a:ahLst/>
            <a:cxnLst/>
            <a:rect l="l" t="t" r="r" b="b"/>
            <a:pathLst>
              <a:path w="133350" h="533400">
                <a:moveTo>
                  <a:pt x="133350" y="0"/>
                </a:moveTo>
                <a:lnTo>
                  <a:pt x="0" y="133350"/>
                </a:lnTo>
                <a:lnTo>
                  <a:pt x="0" y="533400"/>
                </a:lnTo>
                <a:lnTo>
                  <a:pt x="133350" y="400050"/>
                </a:lnTo>
                <a:lnTo>
                  <a:pt x="133350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3100" y="1313831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685800" y="0"/>
                </a:moveTo>
                <a:lnTo>
                  <a:pt x="133350" y="0"/>
                </a:lnTo>
                <a:lnTo>
                  <a:pt x="0" y="133350"/>
                </a:lnTo>
                <a:lnTo>
                  <a:pt x="552450" y="133350"/>
                </a:lnTo>
                <a:lnTo>
                  <a:pt x="685800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3100" y="1313831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133350"/>
                </a:moveTo>
                <a:lnTo>
                  <a:pt x="133350" y="0"/>
                </a:lnTo>
                <a:lnTo>
                  <a:pt x="685800" y="0"/>
                </a:lnTo>
                <a:lnTo>
                  <a:pt x="685800" y="400050"/>
                </a:lnTo>
                <a:lnTo>
                  <a:pt x="552450" y="533400"/>
                </a:lnTo>
                <a:lnTo>
                  <a:pt x="0" y="533400"/>
                </a:lnTo>
                <a:lnTo>
                  <a:pt x="0" y="133350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3100" y="1313831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0" y="133350"/>
                </a:moveTo>
                <a:lnTo>
                  <a:pt x="552450" y="133350"/>
                </a:lnTo>
                <a:lnTo>
                  <a:pt x="6858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65550" y="1447181"/>
            <a:ext cx="0" cy="400050"/>
          </a:xfrm>
          <a:custGeom>
            <a:avLst/>
            <a:gdLst/>
            <a:ahLst/>
            <a:cxnLst/>
            <a:rect l="l" t="t" r="r" b="b"/>
            <a:pathLst>
              <a:path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93945" y="1409843"/>
            <a:ext cx="122555" cy="342900"/>
          </a:xfrm>
          <a:custGeom>
            <a:avLst/>
            <a:gdLst/>
            <a:ahLst/>
            <a:cxnLst/>
            <a:rect l="l" t="t" r="r" b="b"/>
            <a:pathLst>
              <a:path w="122555" h="342900">
                <a:moveTo>
                  <a:pt x="122047" y="0"/>
                </a:moveTo>
                <a:lnTo>
                  <a:pt x="0" y="122047"/>
                </a:lnTo>
                <a:lnTo>
                  <a:pt x="0" y="342900"/>
                </a:lnTo>
                <a:lnTo>
                  <a:pt x="122047" y="220852"/>
                </a:lnTo>
                <a:lnTo>
                  <a:pt x="122047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74260" y="1409843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141731" y="0"/>
                </a:moveTo>
                <a:lnTo>
                  <a:pt x="122046" y="0"/>
                </a:lnTo>
                <a:lnTo>
                  <a:pt x="0" y="122047"/>
                </a:lnTo>
                <a:lnTo>
                  <a:pt x="19684" y="122047"/>
                </a:lnTo>
                <a:lnTo>
                  <a:pt x="141731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74260" y="1409843"/>
            <a:ext cx="142240" cy="342900"/>
          </a:xfrm>
          <a:custGeom>
            <a:avLst/>
            <a:gdLst/>
            <a:ahLst/>
            <a:cxnLst/>
            <a:rect l="l" t="t" r="r" b="b"/>
            <a:pathLst>
              <a:path w="142239" h="342900">
                <a:moveTo>
                  <a:pt x="0" y="122047"/>
                </a:moveTo>
                <a:lnTo>
                  <a:pt x="122046" y="0"/>
                </a:lnTo>
                <a:lnTo>
                  <a:pt x="141731" y="0"/>
                </a:lnTo>
                <a:lnTo>
                  <a:pt x="141731" y="220852"/>
                </a:lnTo>
                <a:lnTo>
                  <a:pt x="19684" y="342900"/>
                </a:lnTo>
                <a:lnTo>
                  <a:pt x="0" y="342900"/>
                </a:lnTo>
                <a:lnTo>
                  <a:pt x="0" y="122047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74260" y="1409843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0" y="122047"/>
                </a:moveTo>
                <a:lnTo>
                  <a:pt x="19684" y="122047"/>
                </a:lnTo>
                <a:lnTo>
                  <a:pt x="141731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83760" y="1495568"/>
            <a:ext cx="556260" cy="257175"/>
          </a:xfrm>
          <a:custGeom>
            <a:avLst/>
            <a:gdLst/>
            <a:ahLst/>
            <a:cxnLst/>
            <a:rect l="l" t="t" r="r" b="b"/>
            <a:pathLst>
              <a:path w="556260" h="257175">
                <a:moveTo>
                  <a:pt x="0" y="257175"/>
                </a:moveTo>
                <a:lnTo>
                  <a:pt x="555879" y="257175"/>
                </a:lnTo>
                <a:lnTo>
                  <a:pt x="555879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9639" y="1409843"/>
            <a:ext cx="85725" cy="342900"/>
          </a:xfrm>
          <a:custGeom>
            <a:avLst/>
            <a:gdLst/>
            <a:ahLst/>
            <a:cxnLst/>
            <a:rect l="l" t="t" r="r" b="b"/>
            <a:pathLst>
              <a:path w="85725" h="342900">
                <a:moveTo>
                  <a:pt x="85725" y="0"/>
                </a:moveTo>
                <a:lnTo>
                  <a:pt x="0" y="85725"/>
                </a:lnTo>
                <a:lnTo>
                  <a:pt x="0" y="342900"/>
                </a:lnTo>
                <a:lnTo>
                  <a:pt x="85725" y="257175"/>
                </a:lnTo>
                <a:lnTo>
                  <a:pt x="85725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83760" y="1409843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641603" y="0"/>
                </a:moveTo>
                <a:lnTo>
                  <a:pt x="85725" y="0"/>
                </a:lnTo>
                <a:lnTo>
                  <a:pt x="0" y="85725"/>
                </a:lnTo>
                <a:lnTo>
                  <a:pt x="555878" y="85725"/>
                </a:lnTo>
                <a:lnTo>
                  <a:pt x="641603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83760" y="1409843"/>
            <a:ext cx="641985" cy="342900"/>
          </a:xfrm>
          <a:custGeom>
            <a:avLst/>
            <a:gdLst/>
            <a:ahLst/>
            <a:cxnLst/>
            <a:rect l="l" t="t" r="r" b="b"/>
            <a:pathLst>
              <a:path w="641985" h="342900">
                <a:moveTo>
                  <a:pt x="0" y="85725"/>
                </a:moveTo>
                <a:lnTo>
                  <a:pt x="85725" y="0"/>
                </a:lnTo>
                <a:lnTo>
                  <a:pt x="641603" y="0"/>
                </a:lnTo>
                <a:lnTo>
                  <a:pt x="641603" y="257175"/>
                </a:lnTo>
                <a:lnTo>
                  <a:pt x="555878" y="342900"/>
                </a:lnTo>
                <a:lnTo>
                  <a:pt x="0" y="342900"/>
                </a:lnTo>
                <a:lnTo>
                  <a:pt x="0" y="85725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83760" y="1409843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0" y="85725"/>
                </a:moveTo>
                <a:lnTo>
                  <a:pt x="555878" y="85725"/>
                </a:lnTo>
                <a:lnTo>
                  <a:pt x="641603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39639" y="1495568"/>
            <a:ext cx="0" cy="257175"/>
          </a:xfrm>
          <a:custGeom>
            <a:avLst/>
            <a:gdLst/>
            <a:ahLst/>
            <a:cxnLst/>
            <a:rect l="l" t="t" r="r" b="b"/>
            <a:pathLst>
              <a:path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2650" y="1885331"/>
            <a:ext cx="38100" cy="310515"/>
          </a:xfrm>
          <a:custGeom>
            <a:avLst/>
            <a:gdLst/>
            <a:ahLst/>
            <a:cxnLst/>
            <a:rect l="l" t="t" r="r" b="b"/>
            <a:pathLst>
              <a:path w="38100" h="310514">
                <a:moveTo>
                  <a:pt x="14348" y="272287"/>
                </a:moveTo>
                <a:lnTo>
                  <a:pt x="0" y="272287"/>
                </a:lnTo>
                <a:lnTo>
                  <a:pt x="19050" y="310387"/>
                </a:lnTo>
                <a:lnTo>
                  <a:pt x="34925" y="278637"/>
                </a:lnTo>
                <a:lnTo>
                  <a:pt x="14350" y="278637"/>
                </a:lnTo>
                <a:lnTo>
                  <a:pt x="14348" y="272287"/>
                </a:lnTo>
                <a:close/>
              </a:path>
              <a:path w="38100" h="310514">
                <a:moveTo>
                  <a:pt x="23749" y="0"/>
                </a:moveTo>
                <a:lnTo>
                  <a:pt x="14224" y="0"/>
                </a:lnTo>
                <a:lnTo>
                  <a:pt x="14350" y="278637"/>
                </a:lnTo>
                <a:lnTo>
                  <a:pt x="23875" y="278637"/>
                </a:lnTo>
                <a:lnTo>
                  <a:pt x="23749" y="0"/>
                </a:lnTo>
                <a:close/>
              </a:path>
              <a:path w="38100" h="310514">
                <a:moveTo>
                  <a:pt x="38100" y="272287"/>
                </a:moveTo>
                <a:lnTo>
                  <a:pt x="23873" y="272287"/>
                </a:lnTo>
                <a:lnTo>
                  <a:pt x="23875" y="278637"/>
                </a:lnTo>
                <a:lnTo>
                  <a:pt x="34925" y="278637"/>
                </a:lnTo>
                <a:lnTo>
                  <a:pt x="38100" y="272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3685" y="1792367"/>
            <a:ext cx="38100" cy="448945"/>
          </a:xfrm>
          <a:custGeom>
            <a:avLst/>
            <a:gdLst/>
            <a:ahLst/>
            <a:cxnLst/>
            <a:rect l="l" t="t" r="r" b="b"/>
            <a:pathLst>
              <a:path w="38100" h="448944">
                <a:moveTo>
                  <a:pt x="23749" y="31750"/>
                </a:moveTo>
                <a:lnTo>
                  <a:pt x="14224" y="31750"/>
                </a:lnTo>
                <a:lnTo>
                  <a:pt x="14224" y="448564"/>
                </a:lnTo>
                <a:lnTo>
                  <a:pt x="23749" y="448564"/>
                </a:lnTo>
                <a:lnTo>
                  <a:pt x="23749" y="31750"/>
                </a:lnTo>
                <a:close/>
              </a:path>
              <a:path w="38100" h="448944">
                <a:moveTo>
                  <a:pt x="19050" y="0"/>
                </a:moveTo>
                <a:lnTo>
                  <a:pt x="0" y="38100"/>
                </a:lnTo>
                <a:lnTo>
                  <a:pt x="14224" y="38100"/>
                </a:lnTo>
                <a:lnTo>
                  <a:pt x="14224" y="31750"/>
                </a:lnTo>
                <a:lnTo>
                  <a:pt x="34925" y="31750"/>
                </a:lnTo>
                <a:lnTo>
                  <a:pt x="19050" y="0"/>
                </a:lnTo>
                <a:close/>
              </a:path>
              <a:path w="38100" h="448944">
                <a:moveTo>
                  <a:pt x="34925" y="31750"/>
                </a:moveTo>
                <a:lnTo>
                  <a:pt x="23749" y="31750"/>
                </a:lnTo>
                <a:lnTo>
                  <a:pt x="23749" y="38100"/>
                </a:lnTo>
                <a:lnTo>
                  <a:pt x="38100" y="38100"/>
                </a:lnTo>
                <a:lnTo>
                  <a:pt x="349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2536" y="2196227"/>
            <a:ext cx="438912" cy="420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09668" y="2241947"/>
            <a:ext cx="326136" cy="313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46500" y="2379869"/>
            <a:ext cx="911225" cy="38100"/>
          </a:xfrm>
          <a:custGeom>
            <a:avLst/>
            <a:gdLst/>
            <a:ahLst/>
            <a:cxnLst/>
            <a:rect l="l" t="t" r="r" b="b"/>
            <a:pathLst>
              <a:path w="911225" h="38100">
                <a:moveTo>
                  <a:pt x="873125" y="0"/>
                </a:moveTo>
                <a:lnTo>
                  <a:pt x="873125" y="38100"/>
                </a:lnTo>
                <a:lnTo>
                  <a:pt x="901826" y="23749"/>
                </a:lnTo>
                <a:lnTo>
                  <a:pt x="879475" y="23749"/>
                </a:lnTo>
                <a:lnTo>
                  <a:pt x="879475" y="14224"/>
                </a:lnTo>
                <a:lnTo>
                  <a:pt x="901573" y="14224"/>
                </a:lnTo>
                <a:lnTo>
                  <a:pt x="873125" y="0"/>
                </a:lnTo>
                <a:close/>
              </a:path>
              <a:path w="911225" h="38100">
                <a:moveTo>
                  <a:pt x="873125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873125" y="23749"/>
                </a:lnTo>
                <a:lnTo>
                  <a:pt x="873125" y="14224"/>
                </a:lnTo>
                <a:close/>
              </a:path>
              <a:path w="911225" h="38100">
                <a:moveTo>
                  <a:pt x="901573" y="14224"/>
                </a:moveTo>
                <a:lnTo>
                  <a:pt x="879475" y="14224"/>
                </a:lnTo>
                <a:lnTo>
                  <a:pt x="879475" y="23749"/>
                </a:lnTo>
                <a:lnTo>
                  <a:pt x="901826" y="23749"/>
                </a:lnTo>
                <a:lnTo>
                  <a:pt x="911225" y="19050"/>
                </a:lnTo>
                <a:lnTo>
                  <a:pt x="9015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05810" y="1104789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224x224x64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23510" y="1197245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112x112x64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3544" y="2319798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9785" y="2631583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69713" y="2319798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89043" y="2569099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96436" y="1561481"/>
            <a:ext cx="622935" cy="38100"/>
          </a:xfrm>
          <a:custGeom>
            <a:avLst/>
            <a:gdLst/>
            <a:ahLst/>
            <a:cxnLst/>
            <a:rect l="l" t="t" r="r" b="b"/>
            <a:pathLst>
              <a:path w="622935" h="38100">
                <a:moveTo>
                  <a:pt x="584326" y="0"/>
                </a:moveTo>
                <a:lnTo>
                  <a:pt x="584326" y="38100"/>
                </a:lnTo>
                <a:lnTo>
                  <a:pt x="613028" y="23749"/>
                </a:lnTo>
                <a:lnTo>
                  <a:pt x="590676" y="23749"/>
                </a:lnTo>
                <a:lnTo>
                  <a:pt x="590676" y="14224"/>
                </a:lnTo>
                <a:lnTo>
                  <a:pt x="612775" y="14224"/>
                </a:lnTo>
                <a:lnTo>
                  <a:pt x="584326" y="0"/>
                </a:lnTo>
                <a:close/>
              </a:path>
              <a:path w="622935" h="38100">
                <a:moveTo>
                  <a:pt x="584326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584326" y="23749"/>
                </a:lnTo>
                <a:lnTo>
                  <a:pt x="584326" y="14224"/>
                </a:lnTo>
                <a:close/>
              </a:path>
              <a:path w="622935" h="38100">
                <a:moveTo>
                  <a:pt x="612775" y="14224"/>
                </a:moveTo>
                <a:lnTo>
                  <a:pt x="590676" y="14224"/>
                </a:lnTo>
                <a:lnTo>
                  <a:pt x="590676" y="23749"/>
                </a:lnTo>
                <a:lnTo>
                  <a:pt x="613028" y="23749"/>
                </a:lnTo>
                <a:lnTo>
                  <a:pt x="622426" y="19050"/>
                </a:lnTo>
                <a:lnTo>
                  <a:pt x="612775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673982" y="1367552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池化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5289544" y="1664732"/>
          <a:ext cx="457200" cy="398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62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136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5199248" y="1290463"/>
            <a:ext cx="661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最</a:t>
            </a:r>
            <a:r>
              <a:rPr sz="1000" spc="-5" dirty="0">
                <a:latin typeface="黑体"/>
                <a:cs typeface="黑体"/>
              </a:rPr>
              <a:t>大池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后 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特征图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73493" y="1676670"/>
            <a:ext cx="685800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最大池化</a:t>
            </a:r>
            <a:endParaRPr sz="800">
              <a:latin typeface="黑体"/>
              <a:cs typeface="黑体"/>
            </a:endParaRPr>
          </a:p>
          <a:p>
            <a:pPr marL="12700" marR="5080">
              <a:lnSpc>
                <a:spcPct val="100000"/>
              </a:lnSpc>
              <a:spcBef>
                <a:spcPts val="625"/>
              </a:spcBef>
            </a:pPr>
            <a:r>
              <a:rPr sz="800" dirty="0">
                <a:latin typeface="黑体"/>
                <a:cs typeface="黑体"/>
              </a:rPr>
              <a:t>池化窗</a:t>
            </a:r>
            <a:r>
              <a:rPr sz="800" spc="-15" dirty="0">
                <a:latin typeface="黑体"/>
                <a:cs typeface="黑体"/>
              </a:rPr>
              <a:t>口</a:t>
            </a:r>
            <a:r>
              <a:rPr sz="800" dirty="0">
                <a:latin typeface="黑体"/>
                <a:cs typeface="黑体"/>
              </a:rPr>
              <a:t>：</a:t>
            </a:r>
            <a:r>
              <a:rPr sz="800" spc="-10" dirty="0">
                <a:latin typeface="黑体"/>
                <a:cs typeface="黑体"/>
              </a:rPr>
              <a:t>2x2 </a:t>
            </a:r>
            <a:r>
              <a:rPr sz="800" dirty="0">
                <a:latin typeface="黑体"/>
                <a:cs typeface="黑体"/>
              </a:rPr>
              <a:t>池化步</a:t>
            </a:r>
            <a:r>
              <a:rPr sz="800" spc="-15" dirty="0">
                <a:latin typeface="黑体"/>
                <a:cs typeface="黑体"/>
              </a:rPr>
              <a:t>长</a:t>
            </a:r>
            <a:r>
              <a:rPr sz="800" dirty="0">
                <a:latin typeface="黑体"/>
                <a:cs typeface="黑体"/>
              </a:rPr>
              <a:t>：2</a:t>
            </a:r>
            <a:endParaRPr sz="800">
              <a:latin typeface="黑体"/>
              <a:cs typeface="黑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45759" y="1202325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单</a:t>
            </a:r>
            <a:r>
              <a:rPr sz="1000" spc="-5" dirty="0">
                <a:latin typeface="黑体"/>
                <a:cs typeface="黑体"/>
              </a:rPr>
              <a:t>张特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池化</a:t>
            </a:r>
            <a:r>
              <a:rPr spc="-10" dirty="0"/>
              <a:t>操</a:t>
            </a:r>
            <a:r>
              <a:rPr spc="5" dirty="0"/>
              <a:t>作</a:t>
            </a:r>
            <a:r>
              <a:rPr spc="-10" dirty="0"/>
              <a:t>示</a:t>
            </a:r>
            <a:r>
              <a:rPr spc="5" dirty="0"/>
              <a:t>例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771113" y="508296"/>
            <a:ext cx="451612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7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化操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对每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个特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独立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dirty="0">
                <a:latin typeface="黑体"/>
                <a:cs typeface="黑体"/>
              </a:rPr>
              <a:t>行</a:t>
            </a:r>
            <a:r>
              <a:rPr sz="1000" spc="-5" dirty="0">
                <a:latin typeface="黑体"/>
                <a:cs typeface="黑体"/>
              </a:rPr>
              <a:t>;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特征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响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应图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某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个区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进行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池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化就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是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在该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区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域上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指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定一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值来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代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表整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区</a:t>
            </a:r>
            <a:r>
              <a:rPr sz="1000" spc="10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21836" y="2207022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下</a:t>
            </a:r>
            <a:r>
              <a:rPr sz="1000" spc="-5" dirty="0">
                <a:latin typeface="黑体"/>
                <a:cs typeface="黑体"/>
              </a:rPr>
              <a:t>采样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3405373" y="1461278"/>
          <a:ext cx="777239" cy="7315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object 45"/>
          <p:cNvSpPr/>
          <p:nvPr/>
        </p:nvSpPr>
        <p:spPr>
          <a:xfrm>
            <a:off x="5292719" y="1667971"/>
            <a:ext cx="457200" cy="398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02119" y="1828181"/>
            <a:ext cx="838200" cy="38100"/>
          </a:xfrm>
          <a:custGeom>
            <a:avLst/>
            <a:gdLst/>
            <a:ahLst/>
            <a:cxnLst/>
            <a:rect l="l" t="t" r="r" b="b"/>
            <a:pathLst>
              <a:path w="838200" h="38100">
                <a:moveTo>
                  <a:pt x="799972" y="0"/>
                </a:moveTo>
                <a:lnTo>
                  <a:pt x="799972" y="38100"/>
                </a:lnTo>
                <a:lnTo>
                  <a:pt x="828674" y="23749"/>
                </a:lnTo>
                <a:lnTo>
                  <a:pt x="806322" y="23749"/>
                </a:lnTo>
                <a:lnTo>
                  <a:pt x="806322" y="14224"/>
                </a:lnTo>
                <a:lnTo>
                  <a:pt x="828420" y="14224"/>
                </a:lnTo>
                <a:lnTo>
                  <a:pt x="799972" y="0"/>
                </a:lnTo>
                <a:close/>
              </a:path>
              <a:path w="838200" h="38100">
                <a:moveTo>
                  <a:pt x="799972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799972" y="23749"/>
                </a:lnTo>
                <a:lnTo>
                  <a:pt x="799972" y="14224"/>
                </a:lnTo>
                <a:close/>
              </a:path>
              <a:path w="838200" h="38100">
                <a:moveTo>
                  <a:pt x="828420" y="14224"/>
                </a:moveTo>
                <a:lnTo>
                  <a:pt x="806322" y="14224"/>
                </a:lnTo>
                <a:lnTo>
                  <a:pt x="806322" y="23749"/>
                </a:lnTo>
                <a:lnTo>
                  <a:pt x="828674" y="23749"/>
                </a:lnTo>
                <a:lnTo>
                  <a:pt x="838072" y="19050"/>
                </a:lnTo>
                <a:lnTo>
                  <a:pt x="828420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97219" y="1151508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97219" y="1151508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4808" y="1335912"/>
            <a:ext cx="131445" cy="533400"/>
          </a:xfrm>
          <a:custGeom>
            <a:avLst/>
            <a:gdLst/>
            <a:ahLst/>
            <a:cxnLst/>
            <a:rect l="l" t="t" r="r" b="b"/>
            <a:pathLst>
              <a:path w="131444" h="533400">
                <a:moveTo>
                  <a:pt x="131190" y="0"/>
                </a:moveTo>
                <a:lnTo>
                  <a:pt x="0" y="131191"/>
                </a:lnTo>
                <a:lnTo>
                  <a:pt x="0" y="533400"/>
                </a:lnTo>
                <a:lnTo>
                  <a:pt x="131190" y="402209"/>
                </a:lnTo>
                <a:lnTo>
                  <a:pt x="131190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3599" y="1335912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152400" y="0"/>
                </a:moveTo>
                <a:lnTo>
                  <a:pt x="131190" y="0"/>
                </a:lnTo>
                <a:lnTo>
                  <a:pt x="0" y="131191"/>
                </a:lnTo>
                <a:lnTo>
                  <a:pt x="21209" y="131191"/>
                </a:lnTo>
                <a:lnTo>
                  <a:pt x="152400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3599" y="1335912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0" y="131191"/>
                </a:moveTo>
                <a:lnTo>
                  <a:pt x="131190" y="0"/>
                </a:lnTo>
                <a:lnTo>
                  <a:pt x="152400" y="0"/>
                </a:lnTo>
                <a:lnTo>
                  <a:pt x="152400" y="402209"/>
                </a:lnTo>
                <a:lnTo>
                  <a:pt x="21209" y="533400"/>
                </a:lnTo>
                <a:lnTo>
                  <a:pt x="0" y="533400"/>
                </a:lnTo>
                <a:lnTo>
                  <a:pt x="0" y="131191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3599" y="1335912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0" y="131191"/>
                </a:moveTo>
                <a:lnTo>
                  <a:pt x="21209" y="131191"/>
                </a:lnTo>
                <a:lnTo>
                  <a:pt x="1524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3099" y="1469262"/>
            <a:ext cx="552450" cy="400050"/>
          </a:xfrm>
          <a:custGeom>
            <a:avLst/>
            <a:gdLst/>
            <a:ahLst/>
            <a:cxnLst/>
            <a:rect l="l" t="t" r="r" b="b"/>
            <a:pathLst>
              <a:path w="552450" h="400050">
                <a:moveTo>
                  <a:pt x="0" y="400050"/>
                </a:moveTo>
                <a:lnTo>
                  <a:pt x="552450" y="400050"/>
                </a:lnTo>
                <a:lnTo>
                  <a:pt x="552450" y="0"/>
                </a:lnTo>
                <a:lnTo>
                  <a:pt x="0" y="0"/>
                </a:lnTo>
                <a:lnTo>
                  <a:pt x="0" y="400050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65549" y="1335912"/>
            <a:ext cx="133350" cy="533400"/>
          </a:xfrm>
          <a:custGeom>
            <a:avLst/>
            <a:gdLst/>
            <a:ahLst/>
            <a:cxnLst/>
            <a:rect l="l" t="t" r="r" b="b"/>
            <a:pathLst>
              <a:path w="133350" h="533400">
                <a:moveTo>
                  <a:pt x="133350" y="0"/>
                </a:moveTo>
                <a:lnTo>
                  <a:pt x="0" y="133350"/>
                </a:lnTo>
                <a:lnTo>
                  <a:pt x="0" y="533400"/>
                </a:lnTo>
                <a:lnTo>
                  <a:pt x="133350" y="400050"/>
                </a:lnTo>
                <a:lnTo>
                  <a:pt x="133350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3099" y="1335912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685800" y="0"/>
                </a:moveTo>
                <a:lnTo>
                  <a:pt x="133350" y="0"/>
                </a:lnTo>
                <a:lnTo>
                  <a:pt x="0" y="133350"/>
                </a:lnTo>
                <a:lnTo>
                  <a:pt x="552450" y="133350"/>
                </a:lnTo>
                <a:lnTo>
                  <a:pt x="685800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3099" y="1335912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133350"/>
                </a:moveTo>
                <a:lnTo>
                  <a:pt x="133350" y="0"/>
                </a:lnTo>
                <a:lnTo>
                  <a:pt x="685800" y="0"/>
                </a:lnTo>
                <a:lnTo>
                  <a:pt x="685800" y="400050"/>
                </a:lnTo>
                <a:lnTo>
                  <a:pt x="552450" y="533400"/>
                </a:lnTo>
                <a:lnTo>
                  <a:pt x="0" y="533400"/>
                </a:lnTo>
                <a:lnTo>
                  <a:pt x="0" y="133350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3099" y="1335912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0" y="133350"/>
                </a:moveTo>
                <a:lnTo>
                  <a:pt x="552450" y="133350"/>
                </a:lnTo>
                <a:lnTo>
                  <a:pt x="6858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65549" y="1469262"/>
            <a:ext cx="0" cy="400050"/>
          </a:xfrm>
          <a:custGeom>
            <a:avLst/>
            <a:gdLst/>
            <a:ahLst/>
            <a:cxnLst/>
            <a:rect l="l" t="t" r="r" b="b"/>
            <a:pathLst>
              <a:path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93944" y="1431924"/>
            <a:ext cx="122555" cy="342900"/>
          </a:xfrm>
          <a:custGeom>
            <a:avLst/>
            <a:gdLst/>
            <a:ahLst/>
            <a:cxnLst/>
            <a:rect l="l" t="t" r="r" b="b"/>
            <a:pathLst>
              <a:path w="122555" h="342900">
                <a:moveTo>
                  <a:pt x="122047" y="0"/>
                </a:moveTo>
                <a:lnTo>
                  <a:pt x="0" y="122047"/>
                </a:lnTo>
                <a:lnTo>
                  <a:pt x="0" y="342900"/>
                </a:lnTo>
                <a:lnTo>
                  <a:pt x="122047" y="220853"/>
                </a:lnTo>
                <a:lnTo>
                  <a:pt x="122047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74259" y="1431924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141731" y="0"/>
                </a:moveTo>
                <a:lnTo>
                  <a:pt x="122046" y="0"/>
                </a:lnTo>
                <a:lnTo>
                  <a:pt x="0" y="122047"/>
                </a:lnTo>
                <a:lnTo>
                  <a:pt x="19684" y="122047"/>
                </a:lnTo>
                <a:lnTo>
                  <a:pt x="141731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74259" y="1431924"/>
            <a:ext cx="142240" cy="342900"/>
          </a:xfrm>
          <a:custGeom>
            <a:avLst/>
            <a:gdLst/>
            <a:ahLst/>
            <a:cxnLst/>
            <a:rect l="l" t="t" r="r" b="b"/>
            <a:pathLst>
              <a:path w="142239" h="342900">
                <a:moveTo>
                  <a:pt x="0" y="122047"/>
                </a:moveTo>
                <a:lnTo>
                  <a:pt x="122046" y="0"/>
                </a:lnTo>
                <a:lnTo>
                  <a:pt x="141731" y="0"/>
                </a:lnTo>
                <a:lnTo>
                  <a:pt x="141731" y="220853"/>
                </a:lnTo>
                <a:lnTo>
                  <a:pt x="19684" y="342900"/>
                </a:lnTo>
                <a:lnTo>
                  <a:pt x="0" y="342900"/>
                </a:lnTo>
                <a:lnTo>
                  <a:pt x="0" y="122047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74259" y="1431924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0" y="122047"/>
                </a:moveTo>
                <a:lnTo>
                  <a:pt x="19684" y="122047"/>
                </a:lnTo>
                <a:lnTo>
                  <a:pt x="141731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83759" y="1517649"/>
            <a:ext cx="556260" cy="257175"/>
          </a:xfrm>
          <a:custGeom>
            <a:avLst/>
            <a:gdLst/>
            <a:ahLst/>
            <a:cxnLst/>
            <a:rect l="l" t="t" r="r" b="b"/>
            <a:pathLst>
              <a:path w="556260" h="257175">
                <a:moveTo>
                  <a:pt x="0" y="257175"/>
                </a:moveTo>
                <a:lnTo>
                  <a:pt x="555879" y="257175"/>
                </a:lnTo>
                <a:lnTo>
                  <a:pt x="555879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9638" y="1431924"/>
            <a:ext cx="85725" cy="342900"/>
          </a:xfrm>
          <a:custGeom>
            <a:avLst/>
            <a:gdLst/>
            <a:ahLst/>
            <a:cxnLst/>
            <a:rect l="l" t="t" r="r" b="b"/>
            <a:pathLst>
              <a:path w="85725" h="342900">
                <a:moveTo>
                  <a:pt x="85725" y="0"/>
                </a:moveTo>
                <a:lnTo>
                  <a:pt x="0" y="85725"/>
                </a:lnTo>
                <a:lnTo>
                  <a:pt x="0" y="342900"/>
                </a:lnTo>
                <a:lnTo>
                  <a:pt x="85725" y="257175"/>
                </a:lnTo>
                <a:lnTo>
                  <a:pt x="85725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83759" y="1431924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641603" y="0"/>
                </a:moveTo>
                <a:lnTo>
                  <a:pt x="85725" y="0"/>
                </a:lnTo>
                <a:lnTo>
                  <a:pt x="0" y="85725"/>
                </a:lnTo>
                <a:lnTo>
                  <a:pt x="555878" y="85725"/>
                </a:lnTo>
                <a:lnTo>
                  <a:pt x="641603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83759" y="1431924"/>
            <a:ext cx="641985" cy="342900"/>
          </a:xfrm>
          <a:custGeom>
            <a:avLst/>
            <a:gdLst/>
            <a:ahLst/>
            <a:cxnLst/>
            <a:rect l="l" t="t" r="r" b="b"/>
            <a:pathLst>
              <a:path w="641985" h="342900">
                <a:moveTo>
                  <a:pt x="0" y="85725"/>
                </a:moveTo>
                <a:lnTo>
                  <a:pt x="85725" y="0"/>
                </a:lnTo>
                <a:lnTo>
                  <a:pt x="641603" y="0"/>
                </a:lnTo>
                <a:lnTo>
                  <a:pt x="641603" y="257175"/>
                </a:lnTo>
                <a:lnTo>
                  <a:pt x="555878" y="342900"/>
                </a:lnTo>
                <a:lnTo>
                  <a:pt x="0" y="342900"/>
                </a:lnTo>
                <a:lnTo>
                  <a:pt x="0" y="85725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83759" y="1431924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0" y="85725"/>
                </a:moveTo>
                <a:lnTo>
                  <a:pt x="555878" y="85725"/>
                </a:lnTo>
                <a:lnTo>
                  <a:pt x="641603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39638" y="1517649"/>
            <a:ext cx="0" cy="257175"/>
          </a:xfrm>
          <a:custGeom>
            <a:avLst/>
            <a:gdLst/>
            <a:ahLst/>
            <a:cxnLst/>
            <a:rect l="l" t="t" r="r" b="b"/>
            <a:pathLst>
              <a:path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2649" y="1907412"/>
            <a:ext cx="38100" cy="310515"/>
          </a:xfrm>
          <a:custGeom>
            <a:avLst/>
            <a:gdLst/>
            <a:ahLst/>
            <a:cxnLst/>
            <a:rect l="l" t="t" r="r" b="b"/>
            <a:pathLst>
              <a:path w="38100" h="310514">
                <a:moveTo>
                  <a:pt x="14348" y="272288"/>
                </a:moveTo>
                <a:lnTo>
                  <a:pt x="0" y="272288"/>
                </a:lnTo>
                <a:lnTo>
                  <a:pt x="19050" y="310388"/>
                </a:lnTo>
                <a:lnTo>
                  <a:pt x="34925" y="278638"/>
                </a:lnTo>
                <a:lnTo>
                  <a:pt x="14350" y="278638"/>
                </a:lnTo>
                <a:lnTo>
                  <a:pt x="14348" y="272288"/>
                </a:lnTo>
                <a:close/>
              </a:path>
              <a:path w="38100" h="310514">
                <a:moveTo>
                  <a:pt x="23749" y="0"/>
                </a:moveTo>
                <a:lnTo>
                  <a:pt x="14224" y="0"/>
                </a:lnTo>
                <a:lnTo>
                  <a:pt x="14350" y="278638"/>
                </a:lnTo>
                <a:lnTo>
                  <a:pt x="23875" y="278638"/>
                </a:lnTo>
                <a:lnTo>
                  <a:pt x="23749" y="0"/>
                </a:lnTo>
                <a:close/>
              </a:path>
              <a:path w="38100" h="310514">
                <a:moveTo>
                  <a:pt x="38100" y="272288"/>
                </a:moveTo>
                <a:lnTo>
                  <a:pt x="23873" y="272288"/>
                </a:lnTo>
                <a:lnTo>
                  <a:pt x="23875" y="278638"/>
                </a:lnTo>
                <a:lnTo>
                  <a:pt x="34925" y="278638"/>
                </a:lnTo>
                <a:lnTo>
                  <a:pt x="38100" y="272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3685" y="1814448"/>
            <a:ext cx="38100" cy="448945"/>
          </a:xfrm>
          <a:custGeom>
            <a:avLst/>
            <a:gdLst/>
            <a:ahLst/>
            <a:cxnLst/>
            <a:rect l="l" t="t" r="r" b="b"/>
            <a:pathLst>
              <a:path w="38100" h="448944">
                <a:moveTo>
                  <a:pt x="23749" y="31750"/>
                </a:moveTo>
                <a:lnTo>
                  <a:pt x="14224" y="31750"/>
                </a:lnTo>
                <a:lnTo>
                  <a:pt x="14224" y="448563"/>
                </a:lnTo>
                <a:lnTo>
                  <a:pt x="23749" y="448563"/>
                </a:lnTo>
                <a:lnTo>
                  <a:pt x="23749" y="31750"/>
                </a:lnTo>
                <a:close/>
              </a:path>
              <a:path w="38100" h="448944">
                <a:moveTo>
                  <a:pt x="19050" y="0"/>
                </a:moveTo>
                <a:lnTo>
                  <a:pt x="0" y="38100"/>
                </a:lnTo>
                <a:lnTo>
                  <a:pt x="14224" y="38100"/>
                </a:lnTo>
                <a:lnTo>
                  <a:pt x="14224" y="31750"/>
                </a:lnTo>
                <a:lnTo>
                  <a:pt x="34925" y="31750"/>
                </a:lnTo>
                <a:lnTo>
                  <a:pt x="19050" y="0"/>
                </a:lnTo>
                <a:close/>
              </a:path>
              <a:path w="38100" h="448944">
                <a:moveTo>
                  <a:pt x="34925" y="31750"/>
                </a:moveTo>
                <a:lnTo>
                  <a:pt x="23749" y="31750"/>
                </a:lnTo>
                <a:lnTo>
                  <a:pt x="23749" y="38100"/>
                </a:lnTo>
                <a:lnTo>
                  <a:pt x="38100" y="38100"/>
                </a:lnTo>
                <a:lnTo>
                  <a:pt x="349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2535" y="2218308"/>
            <a:ext cx="438912" cy="420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09667" y="2264028"/>
            <a:ext cx="326136" cy="313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46499" y="2401950"/>
            <a:ext cx="911225" cy="38100"/>
          </a:xfrm>
          <a:custGeom>
            <a:avLst/>
            <a:gdLst/>
            <a:ahLst/>
            <a:cxnLst/>
            <a:rect l="l" t="t" r="r" b="b"/>
            <a:pathLst>
              <a:path w="911225" h="38100">
                <a:moveTo>
                  <a:pt x="873125" y="0"/>
                </a:moveTo>
                <a:lnTo>
                  <a:pt x="873125" y="38100"/>
                </a:lnTo>
                <a:lnTo>
                  <a:pt x="901826" y="23749"/>
                </a:lnTo>
                <a:lnTo>
                  <a:pt x="879475" y="23749"/>
                </a:lnTo>
                <a:lnTo>
                  <a:pt x="879475" y="14224"/>
                </a:lnTo>
                <a:lnTo>
                  <a:pt x="901573" y="14224"/>
                </a:lnTo>
                <a:lnTo>
                  <a:pt x="873125" y="0"/>
                </a:lnTo>
                <a:close/>
              </a:path>
              <a:path w="911225" h="38100">
                <a:moveTo>
                  <a:pt x="873125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873125" y="23749"/>
                </a:lnTo>
                <a:lnTo>
                  <a:pt x="873125" y="14224"/>
                </a:lnTo>
                <a:close/>
              </a:path>
              <a:path w="911225" h="38100">
                <a:moveTo>
                  <a:pt x="901573" y="14224"/>
                </a:moveTo>
                <a:lnTo>
                  <a:pt x="879475" y="14224"/>
                </a:lnTo>
                <a:lnTo>
                  <a:pt x="879475" y="23749"/>
                </a:lnTo>
                <a:lnTo>
                  <a:pt x="901826" y="23749"/>
                </a:lnTo>
                <a:lnTo>
                  <a:pt x="911225" y="19050"/>
                </a:lnTo>
                <a:lnTo>
                  <a:pt x="9015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05809" y="1127886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224x224x64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23510" y="1220215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112x112x64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3544" y="2342514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9784" y="2654300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69712" y="2342514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89042" y="2592069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96435" y="1583562"/>
            <a:ext cx="622935" cy="38100"/>
          </a:xfrm>
          <a:custGeom>
            <a:avLst/>
            <a:gdLst/>
            <a:ahLst/>
            <a:cxnLst/>
            <a:rect l="l" t="t" r="r" b="b"/>
            <a:pathLst>
              <a:path w="622935" h="38100">
                <a:moveTo>
                  <a:pt x="584326" y="0"/>
                </a:moveTo>
                <a:lnTo>
                  <a:pt x="584326" y="38100"/>
                </a:lnTo>
                <a:lnTo>
                  <a:pt x="613028" y="23749"/>
                </a:lnTo>
                <a:lnTo>
                  <a:pt x="590676" y="23749"/>
                </a:lnTo>
                <a:lnTo>
                  <a:pt x="590676" y="14224"/>
                </a:lnTo>
                <a:lnTo>
                  <a:pt x="612775" y="14224"/>
                </a:lnTo>
                <a:lnTo>
                  <a:pt x="584326" y="0"/>
                </a:lnTo>
                <a:close/>
              </a:path>
              <a:path w="622935" h="38100">
                <a:moveTo>
                  <a:pt x="584326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584326" y="23749"/>
                </a:lnTo>
                <a:lnTo>
                  <a:pt x="584326" y="14224"/>
                </a:lnTo>
                <a:close/>
              </a:path>
              <a:path w="622935" h="38100">
                <a:moveTo>
                  <a:pt x="612775" y="14224"/>
                </a:moveTo>
                <a:lnTo>
                  <a:pt x="590676" y="14224"/>
                </a:lnTo>
                <a:lnTo>
                  <a:pt x="590676" y="23749"/>
                </a:lnTo>
                <a:lnTo>
                  <a:pt x="613028" y="23749"/>
                </a:lnTo>
                <a:lnTo>
                  <a:pt x="622426" y="19050"/>
                </a:lnTo>
                <a:lnTo>
                  <a:pt x="612775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673981" y="1390522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池化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5289163" y="1686559"/>
          <a:ext cx="457200" cy="398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62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136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3445759" y="1225041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单</a:t>
            </a:r>
            <a:r>
              <a:rPr sz="1000" spc="-5" dirty="0">
                <a:latin typeface="黑体"/>
                <a:cs typeface="黑体"/>
              </a:rPr>
              <a:t>张特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99247" y="1313179"/>
            <a:ext cx="661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最</a:t>
            </a:r>
            <a:r>
              <a:rPr sz="1000" spc="-5" dirty="0">
                <a:latin typeface="黑体"/>
                <a:cs typeface="黑体"/>
              </a:rPr>
              <a:t>大池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后</a:t>
            </a:r>
            <a:endParaRPr sz="10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特</a:t>
            </a:r>
            <a:r>
              <a:rPr sz="1000" spc="-10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73493" y="1699386"/>
            <a:ext cx="685800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黑体"/>
                <a:cs typeface="黑体"/>
              </a:rPr>
              <a:t>最大池化</a:t>
            </a:r>
            <a:endParaRPr sz="800">
              <a:latin typeface="黑体"/>
              <a:cs typeface="黑体"/>
            </a:endParaRPr>
          </a:p>
          <a:p>
            <a:pPr marL="12700" marR="5080">
              <a:lnSpc>
                <a:spcPct val="100000"/>
              </a:lnSpc>
              <a:spcBef>
                <a:spcPts val="625"/>
              </a:spcBef>
            </a:pPr>
            <a:r>
              <a:rPr sz="800" dirty="0">
                <a:latin typeface="黑体"/>
                <a:cs typeface="黑体"/>
              </a:rPr>
              <a:t>池化窗</a:t>
            </a:r>
            <a:r>
              <a:rPr sz="800" spc="-15" dirty="0">
                <a:latin typeface="黑体"/>
                <a:cs typeface="黑体"/>
              </a:rPr>
              <a:t>口</a:t>
            </a:r>
            <a:r>
              <a:rPr sz="800" dirty="0">
                <a:latin typeface="黑体"/>
                <a:cs typeface="黑体"/>
              </a:rPr>
              <a:t>：</a:t>
            </a:r>
            <a:r>
              <a:rPr sz="800" spc="-10" dirty="0">
                <a:latin typeface="黑体"/>
                <a:cs typeface="黑体"/>
              </a:rPr>
              <a:t>2x2 </a:t>
            </a:r>
            <a:r>
              <a:rPr sz="800" dirty="0">
                <a:latin typeface="黑体"/>
                <a:cs typeface="黑体"/>
              </a:rPr>
              <a:t>池化步</a:t>
            </a:r>
            <a:r>
              <a:rPr sz="800" spc="-15" dirty="0">
                <a:latin typeface="黑体"/>
                <a:cs typeface="黑体"/>
              </a:rPr>
              <a:t>长</a:t>
            </a:r>
            <a:r>
              <a:rPr sz="800" dirty="0">
                <a:latin typeface="黑体"/>
                <a:cs typeface="黑体"/>
              </a:rPr>
              <a:t>：2</a:t>
            </a:r>
            <a:endParaRPr sz="800">
              <a:latin typeface="黑体"/>
              <a:cs typeface="黑体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池化</a:t>
            </a:r>
            <a:r>
              <a:rPr spc="-10" dirty="0"/>
              <a:t>操</a:t>
            </a:r>
            <a:r>
              <a:rPr spc="5" dirty="0"/>
              <a:t>作</a:t>
            </a:r>
            <a:r>
              <a:rPr spc="-10" dirty="0"/>
              <a:t>示</a:t>
            </a:r>
            <a:r>
              <a:rPr spc="5" dirty="0"/>
              <a:t>例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771113" y="531012"/>
            <a:ext cx="451612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7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化操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对每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个特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独立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dirty="0">
                <a:latin typeface="黑体"/>
                <a:cs typeface="黑体"/>
              </a:rPr>
              <a:t>行</a:t>
            </a:r>
            <a:r>
              <a:rPr sz="1000" spc="-5" dirty="0">
                <a:latin typeface="黑体"/>
                <a:cs typeface="黑体"/>
              </a:rPr>
              <a:t>;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对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特征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响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应图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某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个区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进行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池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化就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是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在该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区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域上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指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定一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值来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代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表整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个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区</a:t>
            </a:r>
            <a:r>
              <a:rPr sz="1000" spc="10" dirty="0">
                <a:solidFill>
                  <a:srgbClr val="FF0000"/>
                </a:solidFill>
                <a:latin typeface="黑体"/>
                <a:cs typeface="黑体"/>
              </a:rPr>
              <a:t>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21835" y="2229992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下</a:t>
            </a:r>
            <a:r>
              <a:rPr sz="1000" spc="-5" dirty="0">
                <a:latin typeface="黑体"/>
                <a:cs typeface="黑体"/>
              </a:rPr>
              <a:t>采样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3408547" y="1483359"/>
          <a:ext cx="777239" cy="731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object 45"/>
          <p:cNvSpPr/>
          <p:nvPr/>
        </p:nvSpPr>
        <p:spPr>
          <a:xfrm>
            <a:off x="5292338" y="1689798"/>
            <a:ext cx="457200" cy="398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02119" y="1850262"/>
            <a:ext cx="838200" cy="38100"/>
          </a:xfrm>
          <a:custGeom>
            <a:avLst/>
            <a:gdLst/>
            <a:ahLst/>
            <a:cxnLst/>
            <a:rect l="l" t="t" r="r" b="b"/>
            <a:pathLst>
              <a:path w="838200" h="38100">
                <a:moveTo>
                  <a:pt x="799972" y="0"/>
                </a:moveTo>
                <a:lnTo>
                  <a:pt x="799972" y="38100"/>
                </a:lnTo>
                <a:lnTo>
                  <a:pt x="828674" y="23749"/>
                </a:lnTo>
                <a:lnTo>
                  <a:pt x="806322" y="23749"/>
                </a:lnTo>
                <a:lnTo>
                  <a:pt x="806322" y="14224"/>
                </a:lnTo>
                <a:lnTo>
                  <a:pt x="828420" y="14224"/>
                </a:lnTo>
                <a:lnTo>
                  <a:pt x="799972" y="0"/>
                </a:lnTo>
                <a:close/>
              </a:path>
              <a:path w="838200" h="38100">
                <a:moveTo>
                  <a:pt x="799972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799972" y="23749"/>
                </a:lnTo>
                <a:lnTo>
                  <a:pt x="799972" y="14224"/>
                </a:lnTo>
                <a:close/>
              </a:path>
              <a:path w="838200" h="38100">
                <a:moveTo>
                  <a:pt x="828420" y="14224"/>
                </a:moveTo>
                <a:lnTo>
                  <a:pt x="806322" y="14224"/>
                </a:lnTo>
                <a:lnTo>
                  <a:pt x="806322" y="23749"/>
                </a:lnTo>
                <a:lnTo>
                  <a:pt x="828674" y="23749"/>
                </a:lnTo>
                <a:lnTo>
                  <a:pt x="838072" y="19050"/>
                </a:lnTo>
                <a:lnTo>
                  <a:pt x="828420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59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97220" y="1129427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97220" y="1129427"/>
            <a:ext cx="2781300" cy="1556385"/>
          </a:xfrm>
          <a:custGeom>
            <a:avLst/>
            <a:gdLst/>
            <a:ahLst/>
            <a:cxnLst/>
            <a:rect l="l" t="t" r="r" b="b"/>
            <a:pathLst>
              <a:path w="2781300" h="1556385">
                <a:moveTo>
                  <a:pt x="0" y="1556003"/>
                </a:moveTo>
                <a:lnTo>
                  <a:pt x="2781300" y="1556003"/>
                </a:lnTo>
                <a:lnTo>
                  <a:pt x="2781300" y="0"/>
                </a:lnTo>
                <a:lnTo>
                  <a:pt x="0" y="0"/>
                </a:lnTo>
                <a:lnTo>
                  <a:pt x="0" y="15560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4809" y="1313831"/>
            <a:ext cx="131445" cy="533400"/>
          </a:xfrm>
          <a:custGeom>
            <a:avLst/>
            <a:gdLst/>
            <a:ahLst/>
            <a:cxnLst/>
            <a:rect l="l" t="t" r="r" b="b"/>
            <a:pathLst>
              <a:path w="131444" h="533400">
                <a:moveTo>
                  <a:pt x="131190" y="0"/>
                </a:moveTo>
                <a:lnTo>
                  <a:pt x="0" y="131191"/>
                </a:lnTo>
                <a:lnTo>
                  <a:pt x="0" y="533400"/>
                </a:lnTo>
                <a:lnTo>
                  <a:pt x="131190" y="402208"/>
                </a:lnTo>
                <a:lnTo>
                  <a:pt x="131190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3600" y="1313831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152400" y="0"/>
                </a:moveTo>
                <a:lnTo>
                  <a:pt x="131190" y="0"/>
                </a:lnTo>
                <a:lnTo>
                  <a:pt x="0" y="131191"/>
                </a:lnTo>
                <a:lnTo>
                  <a:pt x="21209" y="131191"/>
                </a:lnTo>
                <a:lnTo>
                  <a:pt x="152400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3600" y="1313831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0" y="131191"/>
                </a:moveTo>
                <a:lnTo>
                  <a:pt x="131190" y="0"/>
                </a:lnTo>
                <a:lnTo>
                  <a:pt x="152400" y="0"/>
                </a:lnTo>
                <a:lnTo>
                  <a:pt x="152400" y="402208"/>
                </a:lnTo>
                <a:lnTo>
                  <a:pt x="21209" y="533400"/>
                </a:lnTo>
                <a:lnTo>
                  <a:pt x="0" y="533400"/>
                </a:lnTo>
                <a:lnTo>
                  <a:pt x="0" y="131191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3600" y="1313831"/>
            <a:ext cx="152400" cy="131445"/>
          </a:xfrm>
          <a:custGeom>
            <a:avLst/>
            <a:gdLst/>
            <a:ahLst/>
            <a:cxnLst/>
            <a:rect l="l" t="t" r="r" b="b"/>
            <a:pathLst>
              <a:path w="152400" h="131444">
                <a:moveTo>
                  <a:pt x="0" y="131191"/>
                </a:moveTo>
                <a:lnTo>
                  <a:pt x="21209" y="131191"/>
                </a:lnTo>
                <a:lnTo>
                  <a:pt x="1524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3100" y="1447181"/>
            <a:ext cx="552450" cy="400050"/>
          </a:xfrm>
          <a:custGeom>
            <a:avLst/>
            <a:gdLst/>
            <a:ahLst/>
            <a:cxnLst/>
            <a:rect l="l" t="t" r="r" b="b"/>
            <a:pathLst>
              <a:path w="552450" h="400050">
                <a:moveTo>
                  <a:pt x="0" y="400050"/>
                </a:moveTo>
                <a:lnTo>
                  <a:pt x="552450" y="400050"/>
                </a:lnTo>
                <a:lnTo>
                  <a:pt x="552450" y="0"/>
                </a:lnTo>
                <a:lnTo>
                  <a:pt x="0" y="0"/>
                </a:lnTo>
                <a:lnTo>
                  <a:pt x="0" y="400050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65550" y="1313831"/>
            <a:ext cx="133350" cy="533400"/>
          </a:xfrm>
          <a:custGeom>
            <a:avLst/>
            <a:gdLst/>
            <a:ahLst/>
            <a:cxnLst/>
            <a:rect l="l" t="t" r="r" b="b"/>
            <a:pathLst>
              <a:path w="133350" h="533400">
                <a:moveTo>
                  <a:pt x="133350" y="0"/>
                </a:moveTo>
                <a:lnTo>
                  <a:pt x="0" y="133350"/>
                </a:lnTo>
                <a:lnTo>
                  <a:pt x="0" y="533400"/>
                </a:lnTo>
                <a:lnTo>
                  <a:pt x="133350" y="400050"/>
                </a:lnTo>
                <a:lnTo>
                  <a:pt x="133350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3100" y="1313831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685800" y="0"/>
                </a:moveTo>
                <a:lnTo>
                  <a:pt x="133350" y="0"/>
                </a:lnTo>
                <a:lnTo>
                  <a:pt x="0" y="133350"/>
                </a:lnTo>
                <a:lnTo>
                  <a:pt x="552450" y="133350"/>
                </a:lnTo>
                <a:lnTo>
                  <a:pt x="685800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3100" y="1313831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133350"/>
                </a:moveTo>
                <a:lnTo>
                  <a:pt x="133350" y="0"/>
                </a:lnTo>
                <a:lnTo>
                  <a:pt x="685800" y="0"/>
                </a:lnTo>
                <a:lnTo>
                  <a:pt x="685800" y="400050"/>
                </a:lnTo>
                <a:lnTo>
                  <a:pt x="552450" y="533400"/>
                </a:lnTo>
                <a:lnTo>
                  <a:pt x="0" y="533400"/>
                </a:lnTo>
                <a:lnTo>
                  <a:pt x="0" y="133350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3100" y="1313831"/>
            <a:ext cx="685800" cy="133350"/>
          </a:xfrm>
          <a:custGeom>
            <a:avLst/>
            <a:gdLst/>
            <a:ahLst/>
            <a:cxnLst/>
            <a:rect l="l" t="t" r="r" b="b"/>
            <a:pathLst>
              <a:path w="685800" h="133350">
                <a:moveTo>
                  <a:pt x="0" y="133350"/>
                </a:moveTo>
                <a:lnTo>
                  <a:pt x="552450" y="133350"/>
                </a:lnTo>
                <a:lnTo>
                  <a:pt x="685800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65550" y="1447181"/>
            <a:ext cx="0" cy="400050"/>
          </a:xfrm>
          <a:custGeom>
            <a:avLst/>
            <a:gdLst/>
            <a:ahLst/>
            <a:cxnLst/>
            <a:rect l="l" t="t" r="r" b="b"/>
            <a:pathLst>
              <a:path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93945" y="1409843"/>
            <a:ext cx="122555" cy="342900"/>
          </a:xfrm>
          <a:custGeom>
            <a:avLst/>
            <a:gdLst/>
            <a:ahLst/>
            <a:cxnLst/>
            <a:rect l="l" t="t" r="r" b="b"/>
            <a:pathLst>
              <a:path w="122555" h="342900">
                <a:moveTo>
                  <a:pt x="122047" y="0"/>
                </a:moveTo>
                <a:lnTo>
                  <a:pt x="0" y="122047"/>
                </a:lnTo>
                <a:lnTo>
                  <a:pt x="0" y="342900"/>
                </a:lnTo>
                <a:lnTo>
                  <a:pt x="122047" y="220852"/>
                </a:lnTo>
                <a:lnTo>
                  <a:pt x="122047" y="0"/>
                </a:lnTo>
                <a:close/>
              </a:path>
            </a:pathLst>
          </a:custGeom>
          <a:solidFill>
            <a:srgbClr val="7191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74260" y="1409843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141731" y="0"/>
                </a:moveTo>
                <a:lnTo>
                  <a:pt x="122046" y="0"/>
                </a:lnTo>
                <a:lnTo>
                  <a:pt x="0" y="122047"/>
                </a:lnTo>
                <a:lnTo>
                  <a:pt x="19684" y="122047"/>
                </a:lnTo>
                <a:lnTo>
                  <a:pt x="141731" y="0"/>
                </a:lnTo>
                <a:close/>
              </a:path>
            </a:pathLst>
          </a:custGeom>
          <a:solidFill>
            <a:srgbClr val="A3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74260" y="1409843"/>
            <a:ext cx="142240" cy="342900"/>
          </a:xfrm>
          <a:custGeom>
            <a:avLst/>
            <a:gdLst/>
            <a:ahLst/>
            <a:cxnLst/>
            <a:rect l="l" t="t" r="r" b="b"/>
            <a:pathLst>
              <a:path w="142239" h="342900">
                <a:moveTo>
                  <a:pt x="0" y="122047"/>
                </a:moveTo>
                <a:lnTo>
                  <a:pt x="122046" y="0"/>
                </a:lnTo>
                <a:lnTo>
                  <a:pt x="141731" y="0"/>
                </a:lnTo>
                <a:lnTo>
                  <a:pt x="141731" y="220852"/>
                </a:lnTo>
                <a:lnTo>
                  <a:pt x="19684" y="342900"/>
                </a:lnTo>
                <a:lnTo>
                  <a:pt x="0" y="342900"/>
                </a:lnTo>
                <a:lnTo>
                  <a:pt x="0" y="122047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74260" y="1409843"/>
            <a:ext cx="142240" cy="122555"/>
          </a:xfrm>
          <a:custGeom>
            <a:avLst/>
            <a:gdLst/>
            <a:ahLst/>
            <a:cxnLst/>
            <a:rect l="l" t="t" r="r" b="b"/>
            <a:pathLst>
              <a:path w="142239" h="122555">
                <a:moveTo>
                  <a:pt x="0" y="122047"/>
                </a:moveTo>
                <a:lnTo>
                  <a:pt x="19684" y="122047"/>
                </a:lnTo>
                <a:lnTo>
                  <a:pt x="141731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83760" y="1495568"/>
            <a:ext cx="556260" cy="257175"/>
          </a:xfrm>
          <a:custGeom>
            <a:avLst/>
            <a:gdLst/>
            <a:ahLst/>
            <a:cxnLst/>
            <a:rect l="l" t="t" r="r" b="b"/>
            <a:pathLst>
              <a:path w="556260" h="257175">
                <a:moveTo>
                  <a:pt x="0" y="257175"/>
                </a:moveTo>
                <a:lnTo>
                  <a:pt x="555879" y="257175"/>
                </a:lnTo>
                <a:lnTo>
                  <a:pt x="555879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solidFill>
            <a:srgbClr val="C5D9F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9639" y="1409843"/>
            <a:ext cx="85725" cy="342900"/>
          </a:xfrm>
          <a:custGeom>
            <a:avLst/>
            <a:gdLst/>
            <a:ahLst/>
            <a:cxnLst/>
            <a:rect l="l" t="t" r="r" b="b"/>
            <a:pathLst>
              <a:path w="85725" h="342900">
                <a:moveTo>
                  <a:pt x="85725" y="0"/>
                </a:moveTo>
                <a:lnTo>
                  <a:pt x="0" y="85725"/>
                </a:lnTo>
                <a:lnTo>
                  <a:pt x="0" y="342900"/>
                </a:lnTo>
                <a:lnTo>
                  <a:pt x="85725" y="257175"/>
                </a:lnTo>
                <a:lnTo>
                  <a:pt x="85725" y="0"/>
                </a:lnTo>
                <a:close/>
              </a:path>
            </a:pathLst>
          </a:custGeom>
          <a:solidFill>
            <a:srgbClr val="9FADC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83760" y="1409843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641603" y="0"/>
                </a:moveTo>
                <a:lnTo>
                  <a:pt x="85725" y="0"/>
                </a:lnTo>
                <a:lnTo>
                  <a:pt x="0" y="85725"/>
                </a:lnTo>
                <a:lnTo>
                  <a:pt x="555878" y="85725"/>
                </a:lnTo>
                <a:lnTo>
                  <a:pt x="641603" y="0"/>
                </a:lnTo>
                <a:close/>
              </a:path>
            </a:pathLst>
          </a:custGeom>
          <a:solidFill>
            <a:srgbClr val="D1DFF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83760" y="1409843"/>
            <a:ext cx="641985" cy="342900"/>
          </a:xfrm>
          <a:custGeom>
            <a:avLst/>
            <a:gdLst/>
            <a:ahLst/>
            <a:cxnLst/>
            <a:rect l="l" t="t" r="r" b="b"/>
            <a:pathLst>
              <a:path w="641985" h="342900">
                <a:moveTo>
                  <a:pt x="0" y="85725"/>
                </a:moveTo>
                <a:lnTo>
                  <a:pt x="85725" y="0"/>
                </a:lnTo>
                <a:lnTo>
                  <a:pt x="641603" y="0"/>
                </a:lnTo>
                <a:lnTo>
                  <a:pt x="641603" y="257175"/>
                </a:lnTo>
                <a:lnTo>
                  <a:pt x="555878" y="342900"/>
                </a:lnTo>
                <a:lnTo>
                  <a:pt x="0" y="342900"/>
                </a:lnTo>
                <a:lnTo>
                  <a:pt x="0" y="85725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83760" y="1409843"/>
            <a:ext cx="641985" cy="85725"/>
          </a:xfrm>
          <a:custGeom>
            <a:avLst/>
            <a:gdLst/>
            <a:ahLst/>
            <a:cxnLst/>
            <a:rect l="l" t="t" r="r" b="b"/>
            <a:pathLst>
              <a:path w="641985" h="85725">
                <a:moveTo>
                  <a:pt x="0" y="85725"/>
                </a:moveTo>
                <a:lnTo>
                  <a:pt x="555878" y="85725"/>
                </a:lnTo>
                <a:lnTo>
                  <a:pt x="641603" y="0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39639" y="1495568"/>
            <a:ext cx="0" cy="257175"/>
          </a:xfrm>
          <a:custGeom>
            <a:avLst/>
            <a:gdLst/>
            <a:ahLst/>
            <a:cxnLst/>
            <a:rect l="l" t="t" r="r" b="b"/>
            <a:pathLst>
              <a:path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2650" y="1885331"/>
            <a:ext cx="38100" cy="310515"/>
          </a:xfrm>
          <a:custGeom>
            <a:avLst/>
            <a:gdLst/>
            <a:ahLst/>
            <a:cxnLst/>
            <a:rect l="l" t="t" r="r" b="b"/>
            <a:pathLst>
              <a:path w="38100" h="310514">
                <a:moveTo>
                  <a:pt x="14348" y="272287"/>
                </a:moveTo>
                <a:lnTo>
                  <a:pt x="0" y="272287"/>
                </a:lnTo>
                <a:lnTo>
                  <a:pt x="19050" y="310387"/>
                </a:lnTo>
                <a:lnTo>
                  <a:pt x="34925" y="278637"/>
                </a:lnTo>
                <a:lnTo>
                  <a:pt x="14350" y="278637"/>
                </a:lnTo>
                <a:lnTo>
                  <a:pt x="14348" y="272287"/>
                </a:lnTo>
                <a:close/>
              </a:path>
              <a:path w="38100" h="310514">
                <a:moveTo>
                  <a:pt x="23749" y="0"/>
                </a:moveTo>
                <a:lnTo>
                  <a:pt x="14224" y="0"/>
                </a:lnTo>
                <a:lnTo>
                  <a:pt x="14350" y="278637"/>
                </a:lnTo>
                <a:lnTo>
                  <a:pt x="23875" y="278637"/>
                </a:lnTo>
                <a:lnTo>
                  <a:pt x="23749" y="0"/>
                </a:lnTo>
                <a:close/>
              </a:path>
              <a:path w="38100" h="310514">
                <a:moveTo>
                  <a:pt x="38100" y="272287"/>
                </a:moveTo>
                <a:lnTo>
                  <a:pt x="23873" y="272287"/>
                </a:lnTo>
                <a:lnTo>
                  <a:pt x="23875" y="278637"/>
                </a:lnTo>
                <a:lnTo>
                  <a:pt x="34925" y="278637"/>
                </a:lnTo>
                <a:lnTo>
                  <a:pt x="38100" y="272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3685" y="1792367"/>
            <a:ext cx="38100" cy="448945"/>
          </a:xfrm>
          <a:custGeom>
            <a:avLst/>
            <a:gdLst/>
            <a:ahLst/>
            <a:cxnLst/>
            <a:rect l="l" t="t" r="r" b="b"/>
            <a:pathLst>
              <a:path w="38100" h="448944">
                <a:moveTo>
                  <a:pt x="23749" y="31750"/>
                </a:moveTo>
                <a:lnTo>
                  <a:pt x="14224" y="31750"/>
                </a:lnTo>
                <a:lnTo>
                  <a:pt x="14224" y="448564"/>
                </a:lnTo>
                <a:lnTo>
                  <a:pt x="23749" y="448564"/>
                </a:lnTo>
                <a:lnTo>
                  <a:pt x="23749" y="31750"/>
                </a:lnTo>
                <a:close/>
              </a:path>
              <a:path w="38100" h="448944">
                <a:moveTo>
                  <a:pt x="19050" y="0"/>
                </a:moveTo>
                <a:lnTo>
                  <a:pt x="0" y="38100"/>
                </a:lnTo>
                <a:lnTo>
                  <a:pt x="14224" y="38100"/>
                </a:lnTo>
                <a:lnTo>
                  <a:pt x="14224" y="31750"/>
                </a:lnTo>
                <a:lnTo>
                  <a:pt x="34925" y="31750"/>
                </a:lnTo>
                <a:lnTo>
                  <a:pt x="19050" y="0"/>
                </a:lnTo>
                <a:close/>
              </a:path>
              <a:path w="38100" h="448944">
                <a:moveTo>
                  <a:pt x="34925" y="31750"/>
                </a:moveTo>
                <a:lnTo>
                  <a:pt x="23749" y="31750"/>
                </a:lnTo>
                <a:lnTo>
                  <a:pt x="23749" y="38100"/>
                </a:lnTo>
                <a:lnTo>
                  <a:pt x="38100" y="38100"/>
                </a:lnTo>
                <a:lnTo>
                  <a:pt x="349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2536" y="2196227"/>
            <a:ext cx="438912" cy="420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09668" y="2241947"/>
            <a:ext cx="326136" cy="313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46500" y="2379869"/>
            <a:ext cx="911225" cy="38100"/>
          </a:xfrm>
          <a:custGeom>
            <a:avLst/>
            <a:gdLst/>
            <a:ahLst/>
            <a:cxnLst/>
            <a:rect l="l" t="t" r="r" b="b"/>
            <a:pathLst>
              <a:path w="911225" h="38100">
                <a:moveTo>
                  <a:pt x="873125" y="0"/>
                </a:moveTo>
                <a:lnTo>
                  <a:pt x="873125" y="38100"/>
                </a:lnTo>
                <a:lnTo>
                  <a:pt x="901826" y="23749"/>
                </a:lnTo>
                <a:lnTo>
                  <a:pt x="879475" y="23749"/>
                </a:lnTo>
                <a:lnTo>
                  <a:pt x="879475" y="14224"/>
                </a:lnTo>
                <a:lnTo>
                  <a:pt x="901573" y="14224"/>
                </a:lnTo>
                <a:lnTo>
                  <a:pt x="873125" y="0"/>
                </a:lnTo>
                <a:close/>
              </a:path>
              <a:path w="911225" h="38100">
                <a:moveTo>
                  <a:pt x="873125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873125" y="23749"/>
                </a:lnTo>
                <a:lnTo>
                  <a:pt x="873125" y="14224"/>
                </a:lnTo>
                <a:close/>
              </a:path>
              <a:path w="911225" h="38100">
                <a:moveTo>
                  <a:pt x="901573" y="14224"/>
                </a:moveTo>
                <a:lnTo>
                  <a:pt x="879475" y="14224"/>
                </a:lnTo>
                <a:lnTo>
                  <a:pt x="879475" y="23749"/>
                </a:lnTo>
                <a:lnTo>
                  <a:pt x="901826" y="23749"/>
                </a:lnTo>
                <a:lnTo>
                  <a:pt x="911225" y="19050"/>
                </a:lnTo>
                <a:lnTo>
                  <a:pt x="901573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05810" y="1104789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224x224x64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23510" y="1197245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黑体"/>
                <a:cs typeface="黑体"/>
              </a:rPr>
              <a:t>112x112x64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3544" y="2319798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9785" y="2631583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224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69713" y="2319798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89043" y="2569099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黑体"/>
                <a:cs typeface="黑体"/>
              </a:rPr>
              <a:t>112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96436" y="1561481"/>
            <a:ext cx="622935" cy="38100"/>
          </a:xfrm>
          <a:custGeom>
            <a:avLst/>
            <a:gdLst/>
            <a:ahLst/>
            <a:cxnLst/>
            <a:rect l="l" t="t" r="r" b="b"/>
            <a:pathLst>
              <a:path w="622935" h="38100">
                <a:moveTo>
                  <a:pt x="584326" y="0"/>
                </a:moveTo>
                <a:lnTo>
                  <a:pt x="584326" y="38100"/>
                </a:lnTo>
                <a:lnTo>
                  <a:pt x="613028" y="23749"/>
                </a:lnTo>
                <a:lnTo>
                  <a:pt x="590676" y="23749"/>
                </a:lnTo>
                <a:lnTo>
                  <a:pt x="590676" y="14224"/>
                </a:lnTo>
                <a:lnTo>
                  <a:pt x="612775" y="14224"/>
                </a:lnTo>
                <a:lnTo>
                  <a:pt x="584326" y="0"/>
                </a:lnTo>
                <a:close/>
              </a:path>
              <a:path w="622935" h="38100">
                <a:moveTo>
                  <a:pt x="584326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584326" y="23749"/>
                </a:lnTo>
                <a:lnTo>
                  <a:pt x="584326" y="14224"/>
                </a:lnTo>
                <a:close/>
              </a:path>
              <a:path w="622935" h="38100">
                <a:moveTo>
                  <a:pt x="612775" y="14224"/>
                </a:moveTo>
                <a:lnTo>
                  <a:pt x="590676" y="14224"/>
                </a:lnTo>
                <a:lnTo>
                  <a:pt x="590676" y="23749"/>
                </a:lnTo>
                <a:lnTo>
                  <a:pt x="613028" y="23749"/>
                </a:lnTo>
                <a:lnTo>
                  <a:pt x="622426" y="19050"/>
                </a:lnTo>
                <a:lnTo>
                  <a:pt x="612775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673982" y="1367552"/>
            <a:ext cx="28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池化</a:t>
            </a:r>
            <a:endParaRPr sz="1000">
              <a:latin typeface="黑体"/>
              <a:cs typeface="黑体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3408548" y="1461278"/>
          <a:ext cx="777239" cy="7315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C95D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5292338" y="1667717"/>
            <a:ext cx="457200" cy="398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5289163" y="1664478"/>
          <a:ext cx="457200" cy="398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262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136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3445759" y="1202325"/>
            <a:ext cx="661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单</a:t>
            </a:r>
            <a:r>
              <a:rPr sz="1000" spc="-5" dirty="0">
                <a:latin typeface="黑体"/>
                <a:cs typeface="黑体"/>
              </a:rPr>
              <a:t>张特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99248" y="1290463"/>
            <a:ext cx="6610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最</a:t>
            </a:r>
            <a:r>
              <a:rPr sz="1000" spc="-5" dirty="0">
                <a:latin typeface="黑体"/>
                <a:cs typeface="黑体"/>
              </a:rPr>
              <a:t>大池</a:t>
            </a:r>
            <a:r>
              <a:rPr sz="1000" spc="5" dirty="0">
                <a:latin typeface="黑体"/>
                <a:cs typeface="黑体"/>
              </a:rPr>
              <a:t>化</a:t>
            </a:r>
            <a:r>
              <a:rPr sz="1000" spc="-5" dirty="0">
                <a:latin typeface="黑体"/>
                <a:cs typeface="黑体"/>
              </a:rPr>
              <a:t>后 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特征图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302119" y="1828181"/>
            <a:ext cx="838200" cy="38100"/>
          </a:xfrm>
          <a:custGeom>
            <a:avLst/>
            <a:gdLst/>
            <a:ahLst/>
            <a:cxnLst/>
            <a:rect l="l" t="t" r="r" b="b"/>
            <a:pathLst>
              <a:path w="838200" h="38100">
                <a:moveTo>
                  <a:pt x="799972" y="0"/>
                </a:moveTo>
                <a:lnTo>
                  <a:pt x="799972" y="38100"/>
                </a:lnTo>
                <a:lnTo>
                  <a:pt x="828674" y="23749"/>
                </a:lnTo>
                <a:lnTo>
                  <a:pt x="806322" y="23749"/>
                </a:lnTo>
                <a:lnTo>
                  <a:pt x="806322" y="14224"/>
                </a:lnTo>
                <a:lnTo>
                  <a:pt x="828420" y="14224"/>
                </a:lnTo>
                <a:lnTo>
                  <a:pt x="799972" y="0"/>
                </a:lnTo>
                <a:close/>
              </a:path>
              <a:path w="838200" h="38100">
                <a:moveTo>
                  <a:pt x="799972" y="14224"/>
                </a:moveTo>
                <a:lnTo>
                  <a:pt x="0" y="14224"/>
                </a:lnTo>
                <a:lnTo>
                  <a:pt x="0" y="23749"/>
                </a:lnTo>
                <a:lnTo>
                  <a:pt x="799972" y="23749"/>
                </a:lnTo>
                <a:lnTo>
                  <a:pt x="799972" y="14224"/>
                </a:lnTo>
                <a:close/>
              </a:path>
              <a:path w="838200" h="38100">
                <a:moveTo>
                  <a:pt x="828420" y="14224"/>
                </a:moveTo>
                <a:lnTo>
                  <a:pt x="806322" y="14224"/>
                </a:lnTo>
                <a:lnTo>
                  <a:pt x="806322" y="23749"/>
                </a:lnTo>
                <a:lnTo>
                  <a:pt x="828674" y="23749"/>
                </a:lnTo>
                <a:lnTo>
                  <a:pt x="838072" y="19050"/>
                </a:lnTo>
                <a:lnTo>
                  <a:pt x="828420" y="14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338696" y="1580531"/>
            <a:ext cx="739140" cy="576580"/>
          </a:xfrm>
          <a:prstGeom prst="rect">
            <a:avLst/>
          </a:prstGeom>
          <a:solidFill>
            <a:srgbClr val="FCEADA"/>
          </a:solidFill>
          <a:ln w="12700">
            <a:solidFill>
              <a:srgbClr val="FF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Times New Roman"/>
              <a:cs typeface="Times New Roman"/>
            </a:endParaRPr>
          </a:p>
          <a:p>
            <a:pPr marL="154940">
              <a:lnSpc>
                <a:spcPct val="100000"/>
              </a:lnSpc>
            </a:pPr>
            <a:r>
              <a:rPr sz="800" dirty="0">
                <a:latin typeface="黑体"/>
                <a:cs typeface="黑体"/>
              </a:rPr>
              <a:t>最大池化</a:t>
            </a:r>
            <a:endParaRPr sz="800">
              <a:latin typeface="黑体"/>
              <a:cs typeface="黑体"/>
            </a:endParaRPr>
          </a:p>
          <a:p>
            <a:pPr marL="46990" marR="24765">
              <a:lnSpc>
                <a:spcPct val="100000"/>
              </a:lnSpc>
              <a:spcBef>
                <a:spcPts val="620"/>
              </a:spcBef>
            </a:pPr>
            <a:r>
              <a:rPr sz="800" dirty="0">
                <a:latin typeface="黑体"/>
                <a:cs typeface="黑体"/>
              </a:rPr>
              <a:t>池化窗</a:t>
            </a:r>
            <a:r>
              <a:rPr sz="800" spc="-15" dirty="0">
                <a:latin typeface="黑体"/>
                <a:cs typeface="黑体"/>
              </a:rPr>
              <a:t>口</a:t>
            </a:r>
            <a:r>
              <a:rPr sz="800" dirty="0">
                <a:latin typeface="黑体"/>
                <a:cs typeface="黑体"/>
              </a:rPr>
              <a:t>：</a:t>
            </a:r>
            <a:r>
              <a:rPr sz="800" spc="-10" dirty="0">
                <a:latin typeface="黑体"/>
                <a:cs typeface="黑体"/>
              </a:rPr>
              <a:t>2x2 </a:t>
            </a:r>
            <a:r>
              <a:rPr sz="800" dirty="0">
                <a:latin typeface="黑体"/>
                <a:cs typeface="黑体"/>
              </a:rPr>
              <a:t>池化步</a:t>
            </a:r>
            <a:r>
              <a:rPr sz="800" spc="-15" dirty="0">
                <a:latin typeface="黑体"/>
                <a:cs typeface="黑体"/>
              </a:rPr>
              <a:t>长</a:t>
            </a:r>
            <a:r>
              <a:rPr sz="800" dirty="0">
                <a:latin typeface="黑体"/>
                <a:cs typeface="黑体"/>
              </a:rPr>
              <a:t>：2</a:t>
            </a:r>
            <a:endParaRPr sz="800">
              <a:latin typeface="黑体"/>
              <a:cs typeface="黑体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池化</a:t>
            </a:r>
            <a:r>
              <a:rPr spc="-10" dirty="0"/>
              <a:t>操</a:t>
            </a:r>
            <a:r>
              <a:rPr spc="5" dirty="0"/>
              <a:t>作</a:t>
            </a:r>
            <a:r>
              <a:rPr spc="-10" dirty="0"/>
              <a:t>示</a:t>
            </a:r>
            <a:r>
              <a:rPr spc="5" dirty="0"/>
              <a:t>例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771113" y="508296"/>
            <a:ext cx="451612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7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化操</a:t>
            </a:r>
            <a:r>
              <a:rPr sz="1000" spc="5" dirty="0">
                <a:latin typeface="黑体"/>
                <a:cs typeface="黑体"/>
              </a:rPr>
              <a:t>作</a:t>
            </a:r>
            <a:r>
              <a:rPr sz="1000" spc="-5" dirty="0">
                <a:latin typeface="黑体"/>
                <a:cs typeface="黑体"/>
              </a:rPr>
              <a:t>对每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个特</a:t>
            </a:r>
            <a:r>
              <a:rPr sz="1000" spc="5" dirty="0">
                <a:latin typeface="黑体"/>
                <a:cs typeface="黑体"/>
              </a:rPr>
              <a:t>征</a:t>
            </a:r>
            <a:r>
              <a:rPr sz="1000" spc="-5" dirty="0">
                <a:latin typeface="黑体"/>
                <a:cs typeface="黑体"/>
              </a:rPr>
              <a:t>响应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独立</a:t>
            </a:r>
            <a:r>
              <a:rPr sz="1000" spc="5" dirty="0">
                <a:latin typeface="黑体"/>
                <a:cs typeface="黑体"/>
              </a:rPr>
              <a:t>进</a:t>
            </a:r>
            <a:r>
              <a:rPr sz="1000" dirty="0">
                <a:latin typeface="黑体"/>
                <a:cs typeface="黑体"/>
              </a:rPr>
              <a:t>行</a:t>
            </a:r>
            <a:r>
              <a:rPr sz="1000" spc="-5" dirty="0">
                <a:latin typeface="黑体"/>
                <a:cs typeface="黑体"/>
              </a:rPr>
              <a:t>;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对</a:t>
            </a:r>
            <a:r>
              <a:rPr sz="1000" spc="-5" dirty="0">
                <a:latin typeface="黑体"/>
                <a:cs typeface="黑体"/>
              </a:rPr>
              <a:t>特征</a:t>
            </a:r>
            <a:r>
              <a:rPr sz="1000" spc="5" dirty="0">
                <a:latin typeface="黑体"/>
                <a:cs typeface="黑体"/>
              </a:rPr>
              <a:t>响</a:t>
            </a:r>
            <a:r>
              <a:rPr sz="1000" spc="-5" dirty="0">
                <a:latin typeface="黑体"/>
                <a:cs typeface="黑体"/>
              </a:rPr>
              <a:t>应图</a:t>
            </a:r>
            <a:r>
              <a:rPr sz="1000" spc="5" dirty="0">
                <a:latin typeface="黑体"/>
                <a:cs typeface="黑体"/>
              </a:rPr>
              <a:t>某</a:t>
            </a:r>
            <a:r>
              <a:rPr sz="1000" spc="-5" dirty="0">
                <a:latin typeface="黑体"/>
                <a:cs typeface="黑体"/>
              </a:rPr>
              <a:t>个区</a:t>
            </a:r>
            <a:r>
              <a:rPr sz="1000" spc="5" dirty="0">
                <a:latin typeface="黑体"/>
                <a:cs typeface="黑体"/>
              </a:rPr>
              <a:t>域</a:t>
            </a:r>
            <a:r>
              <a:rPr sz="1000" spc="-5" dirty="0">
                <a:latin typeface="黑体"/>
                <a:cs typeface="黑体"/>
              </a:rPr>
              <a:t>进行</a:t>
            </a:r>
            <a:r>
              <a:rPr sz="1000" spc="5" dirty="0">
                <a:latin typeface="黑体"/>
                <a:cs typeface="黑体"/>
              </a:rPr>
              <a:t>池</a:t>
            </a:r>
            <a:r>
              <a:rPr sz="1000" spc="-5" dirty="0">
                <a:latin typeface="黑体"/>
                <a:cs typeface="黑体"/>
              </a:rPr>
              <a:t>化就</a:t>
            </a:r>
            <a:r>
              <a:rPr sz="1000" spc="5" dirty="0">
                <a:latin typeface="黑体"/>
                <a:cs typeface="黑体"/>
              </a:rPr>
              <a:t>是</a:t>
            </a:r>
            <a:r>
              <a:rPr sz="1000" spc="-5" dirty="0">
                <a:latin typeface="黑体"/>
                <a:cs typeface="黑体"/>
              </a:rPr>
              <a:t>在该</a:t>
            </a:r>
            <a:r>
              <a:rPr sz="1000" spc="5" dirty="0">
                <a:latin typeface="黑体"/>
                <a:cs typeface="黑体"/>
              </a:rPr>
              <a:t>区</a:t>
            </a:r>
            <a:r>
              <a:rPr sz="1000" spc="-5" dirty="0">
                <a:latin typeface="黑体"/>
                <a:cs typeface="黑体"/>
              </a:rPr>
              <a:t>域上</a:t>
            </a:r>
            <a:r>
              <a:rPr sz="1000" spc="5" dirty="0">
                <a:latin typeface="黑体"/>
                <a:cs typeface="黑体"/>
              </a:rPr>
              <a:t>指</a:t>
            </a:r>
            <a:r>
              <a:rPr sz="1000" spc="-5" dirty="0">
                <a:latin typeface="黑体"/>
                <a:cs typeface="黑体"/>
              </a:rPr>
              <a:t>定一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值来</a:t>
            </a:r>
            <a:r>
              <a:rPr sz="1000" spc="5" dirty="0">
                <a:latin typeface="黑体"/>
                <a:cs typeface="黑体"/>
              </a:rPr>
              <a:t>代</a:t>
            </a:r>
            <a:r>
              <a:rPr sz="1000" spc="-5" dirty="0">
                <a:latin typeface="黑体"/>
                <a:cs typeface="黑体"/>
              </a:rPr>
              <a:t>表整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区</a:t>
            </a:r>
            <a:r>
              <a:rPr sz="1000" spc="10" dirty="0">
                <a:latin typeface="黑体"/>
                <a:cs typeface="黑体"/>
              </a:rPr>
              <a:t>域</a:t>
            </a:r>
            <a:r>
              <a:rPr sz="1000" spc="-5" dirty="0"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362574" y="2216166"/>
            <a:ext cx="24841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操作后</a:t>
            </a:r>
            <a:r>
              <a:rPr sz="900" spc="-10" dirty="0">
                <a:solidFill>
                  <a:srgbClr val="FF0000"/>
                </a:solidFill>
                <a:latin typeface="黑体"/>
                <a:cs typeface="黑体"/>
              </a:rPr>
              <a:t>，</a:t>
            </a: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特征响应图中</a:t>
            </a:r>
            <a:r>
              <a:rPr sz="900" spc="10" dirty="0">
                <a:solidFill>
                  <a:srgbClr val="FF0000"/>
                </a:solidFill>
                <a:latin typeface="黑体"/>
                <a:cs typeface="黑体"/>
              </a:rPr>
              <a:t>的</a:t>
            </a:r>
            <a:r>
              <a:rPr sz="900" spc="-10" dirty="0">
                <a:solidFill>
                  <a:srgbClr val="FF0000"/>
                </a:solidFill>
                <a:latin typeface="黑体"/>
                <a:cs typeface="黑体"/>
              </a:rPr>
              <a:t>7</a:t>
            </a:r>
            <a:r>
              <a:rPr sz="900" spc="5" dirty="0">
                <a:solidFill>
                  <a:srgbClr val="FF0000"/>
                </a:solidFill>
                <a:latin typeface="黑体"/>
                <a:cs typeface="黑体"/>
              </a:rPr>
              <a:t>5</a:t>
            </a:r>
            <a:r>
              <a:rPr sz="900" spc="-5" dirty="0">
                <a:solidFill>
                  <a:srgbClr val="FF0000"/>
                </a:solidFill>
                <a:latin typeface="黑体"/>
                <a:cs typeface="黑体"/>
              </a:rPr>
              <a:t>%</a:t>
            </a:r>
            <a:r>
              <a:rPr sz="900" dirty="0">
                <a:solidFill>
                  <a:srgbClr val="FF0000"/>
                </a:solidFill>
                <a:latin typeface="黑体"/>
                <a:cs typeface="黑体"/>
              </a:rPr>
              <a:t>的响应信息都丢掉， 但不改变特征响应图的个数。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21836" y="2207022"/>
            <a:ext cx="406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" dirty="0">
                <a:latin typeface="黑体"/>
                <a:cs typeface="黑体"/>
              </a:rPr>
              <a:t>下</a:t>
            </a:r>
            <a:r>
              <a:rPr sz="1000" spc="-5" dirty="0">
                <a:latin typeface="黑体"/>
                <a:cs typeface="黑体"/>
              </a:rPr>
              <a:t>采样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215" y="878712"/>
            <a:ext cx="4149852" cy="1985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4103" y="871473"/>
            <a:ext cx="4164329" cy="2000250"/>
          </a:xfrm>
          <a:custGeom>
            <a:avLst/>
            <a:gdLst/>
            <a:ahLst/>
            <a:cxnLst/>
            <a:rect l="l" t="t" r="r" b="b"/>
            <a:pathLst>
              <a:path w="4164329" h="2000250">
                <a:moveTo>
                  <a:pt x="0" y="2000123"/>
                </a:moveTo>
                <a:lnTo>
                  <a:pt x="4164076" y="2000123"/>
                </a:lnTo>
                <a:lnTo>
                  <a:pt x="4164076" y="0"/>
                </a:lnTo>
                <a:lnTo>
                  <a:pt x="0" y="0"/>
                </a:lnTo>
                <a:lnTo>
                  <a:pt x="0" y="2000123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503" y="1713864"/>
            <a:ext cx="996695" cy="909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2391" y="1706689"/>
            <a:ext cx="1011555" cy="924560"/>
          </a:xfrm>
          <a:custGeom>
            <a:avLst/>
            <a:gdLst/>
            <a:ahLst/>
            <a:cxnLst/>
            <a:rect l="l" t="t" r="r" b="b"/>
            <a:pathLst>
              <a:path w="1011555" h="924560">
                <a:moveTo>
                  <a:pt x="0" y="924115"/>
                </a:moveTo>
                <a:lnTo>
                  <a:pt x="1010983" y="924115"/>
                </a:lnTo>
                <a:lnTo>
                  <a:pt x="1010983" y="0"/>
                </a:lnTo>
                <a:lnTo>
                  <a:pt x="0" y="0"/>
                </a:lnTo>
                <a:lnTo>
                  <a:pt x="0" y="924115"/>
                </a:lnTo>
                <a:close/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9166" y="1165605"/>
            <a:ext cx="10922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黑体"/>
                <a:cs typeface="黑体"/>
              </a:rPr>
              <a:t>CONV—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卷积层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RELU—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激活层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黑体"/>
                <a:cs typeface="黑体"/>
              </a:rPr>
              <a:t>POOL—</a:t>
            </a:r>
            <a:r>
              <a:rPr sz="1200" spc="-5" dirty="0">
                <a:latin typeface="黑体"/>
                <a:cs typeface="黑体"/>
              </a:rPr>
              <a:t>—</a:t>
            </a:r>
            <a:r>
              <a:rPr sz="1200" dirty="0">
                <a:latin typeface="黑体"/>
                <a:cs typeface="黑体"/>
              </a:rPr>
              <a:t>池化层</a:t>
            </a:r>
            <a:endParaRPr sz="12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0000"/>
                </a:solidFill>
                <a:latin typeface="黑体"/>
                <a:cs typeface="黑体"/>
              </a:rPr>
              <a:t>FC——全连接层</a:t>
            </a:r>
            <a:endParaRPr sz="12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卷积</a:t>
            </a:r>
            <a:r>
              <a:rPr spc="-10" dirty="0"/>
              <a:t>神</a:t>
            </a:r>
            <a:r>
              <a:rPr spc="5" dirty="0"/>
              <a:t>经</a:t>
            </a:r>
            <a:r>
              <a:rPr spc="-10" dirty="0"/>
              <a:t>网</a:t>
            </a:r>
            <a:r>
              <a:rPr spc="5" dirty="0"/>
              <a:t>络</a:t>
            </a:r>
          </a:p>
        </p:txBody>
      </p:sp>
      <p:sp>
        <p:nvSpPr>
          <p:cNvPr id="8" name="object 8"/>
          <p:cNvSpPr/>
          <p:nvPr/>
        </p:nvSpPr>
        <p:spPr>
          <a:xfrm>
            <a:off x="3274181" y="879474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0190" y="879474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12481" y="879474"/>
            <a:ext cx="297180" cy="152400"/>
          </a:xfrm>
          <a:custGeom>
            <a:avLst/>
            <a:gdLst/>
            <a:ahLst/>
            <a:cxnLst/>
            <a:rect l="l" t="t" r="r" b="b"/>
            <a:pathLst>
              <a:path w="297179" h="152400">
                <a:moveTo>
                  <a:pt x="0" y="152400"/>
                </a:moveTo>
                <a:lnTo>
                  <a:pt x="297179" y="152400"/>
                </a:lnTo>
                <a:lnTo>
                  <a:pt x="29717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4287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2007" y="1268111"/>
            <a:ext cx="891540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分类模型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22216" y="180760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79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79"/>
                </a:lnTo>
                <a:lnTo>
                  <a:pt x="43179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07941" y="1855232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预测值</a:t>
            </a:r>
            <a:r>
              <a:rPr sz="900" spc="-459" dirty="0">
                <a:latin typeface="Cambria Math"/>
                <a:cs typeface="Cambria Math"/>
              </a:rPr>
              <a:t>𝑌</a:t>
            </a:r>
            <a:r>
              <a:rPr sz="1350" spc="-660" baseline="9259" dirty="0">
                <a:latin typeface="Cambria Math"/>
                <a:cs typeface="Cambria Math"/>
              </a:rPr>
              <a:t>෠</a:t>
            </a:r>
            <a:endParaRPr sz="1350" baseline="9259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89243" y="1807607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9467" y="0"/>
                </a:lnTo>
                <a:lnTo>
                  <a:pt x="586287" y="3389"/>
                </a:lnTo>
                <a:lnTo>
                  <a:pt x="600011" y="12636"/>
                </a:lnTo>
                <a:lnTo>
                  <a:pt x="609258" y="26360"/>
                </a:lnTo>
                <a:lnTo>
                  <a:pt x="612647" y="43179"/>
                </a:lnTo>
                <a:lnTo>
                  <a:pt x="612647" y="215900"/>
                </a:lnTo>
                <a:lnTo>
                  <a:pt x="609258" y="232719"/>
                </a:lnTo>
                <a:lnTo>
                  <a:pt x="600011" y="246443"/>
                </a:lnTo>
                <a:lnTo>
                  <a:pt x="586287" y="255690"/>
                </a:lnTo>
                <a:lnTo>
                  <a:pt x="569467" y="259079"/>
                </a:lnTo>
                <a:lnTo>
                  <a:pt x="43179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6238" y="185256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真实值</a:t>
            </a:r>
            <a:r>
              <a:rPr sz="900" dirty="0">
                <a:latin typeface="Cambria Math"/>
                <a:cs typeface="Cambria Math"/>
              </a:rPr>
              <a:t>𝑌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37912" y="2941463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80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3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4" y="43180"/>
                </a:lnTo>
                <a:lnTo>
                  <a:pt x="611124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3" y="259080"/>
                </a:lnTo>
                <a:lnTo>
                  <a:pt x="43180" y="259080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59324" y="298642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损失值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2160" y="123153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79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79"/>
                </a:lnTo>
                <a:lnTo>
                  <a:pt x="43180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5914" y="1275858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模型参数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09490" y="94959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2700" y="280416"/>
                </a:moveTo>
                <a:lnTo>
                  <a:pt x="0" y="280416"/>
                </a:lnTo>
                <a:lnTo>
                  <a:pt x="19050" y="318516"/>
                </a:lnTo>
                <a:lnTo>
                  <a:pt x="34925" y="286766"/>
                </a:lnTo>
                <a:lnTo>
                  <a:pt x="12700" y="286766"/>
                </a:lnTo>
                <a:lnTo>
                  <a:pt x="12700" y="280416"/>
                </a:lnTo>
                <a:close/>
              </a:path>
              <a:path w="38100" h="318769">
                <a:moveTo>
                  <a:pt x="25400" y="0"/>
                </a:moveTo>
                <a:lnTo>
                  <a:pt x="12700" y="0"/>
                </a:lnTo>
                <a:lnTo>
                  <a:pt x="12700" y="286766"/>
                </a:lnTo>
                <a:lnTo>
                  <a:pt x="25400" y="286766"/>
                </a:lnTo>
                <a:lnTo>
                  <a:pt x="25400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5400" y="280416"/>
                </a:lnTo>
                <a:lnTo>
                  <a:pt x="25400" y="286766"/>
                </a:lnTo>
                <a:lnTo>
                  <a:pt x="34925" y="286766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00727" y="1456325"/>
            <a:ext cx="57150" cy="353695"/>
          </a:xfrm>
          <a:custGeom>
            <a:avLst/>
            <a:gdLst/>
            <a:ahLst/>
            <a:cxnLst/>
            <a:rect l="l" t="t" r="r" b="b"/>
            <a:pathLst>
              <a:path w="57150" h="353694">
                <a:moveTo>
                  <a:pt x="19050" y="296290"/>
                </a:moveTo>
                <a:lnTo>
                  <a:pt x="0" y="296290"/>
                </a:lnTo>
                <a:lnTo>
                  <a:pt x="28575" y="353440"/>
                </a:lnTo>
                <a:lnTo>
                  <a:pt x="52387" y="305815"/>
                </a:lnTo>
                <a:lnTo>
                  <a:pt x="19050" y="305815"/>
                </a:lnTo>
                <a:lnTo>
                  <a:pt x="19050" y="296290"/>
                </a:lnTo>
                <a:close/>
              </a:path>
              <a:path w="57150" h="353694">
                <a:moveTo>
                  <a:pt x="38100" y="0"/>
                </a:moveTo>
                <a:lnTo>
                  <a:pt x="19050" y="0"/>
                </a:lnTo>
                <a:lnTo>
                  <a:pt x="19050" y="305815"/>
                </a:lnTo>
                <a:lnTo>
                  <a:pt x="38100" y="305815"/>
                </a:lnTo>
                <a:lnTo>
                  <a:pt x="38100" y="0"/>
                </a:lnTo>
                <a:close/>
              </a:path>
              <a:path w="57150" h="353694">
                <a:moveTo>
                  <a:pt x="57150" y="296290"/>
                </a:moveTo>
                <a:lnTo>
                  <a:pt x="38100" y="296290"/>
                </a:lnTo>
                <a:lnTo>
                  <a:pt x="38100" y="305815"/>
                </a:lnTo>
                <a:lnTo>
                  <a:pt x="52387" y="305815"/>
                </a:lnTo>
                <a:lnTo>
                  <a:pt x="57150" y="2962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5110" y="2058940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769" y="298151"/>
                </a:moveTo>
                <a:lnTo>
                  <a:pt x="556260" y="315214"/>
                </a:lnTo>
                <a:lnTo>
                  <a:pt x="620267" y="315087"/>
                </a:lnTo>
                <a:lnTo>
                  <a:pt x="610695" y="302387"/>
                </a:lnTo>
                <a:lnTo>
                  <a:pt x="573277" y="302387"/>
                </a:lnTo>
                <a:lnTo>
                  <a:pt x="564769" y="298151"/>
                </a:lnTo>
                <a:close/>
              </a:path>
              <a:path w="620394" h="315594">
                <a:moveTo>
                  <a:pt x="573261" y="281126"/>
                </a:moveTo>
                <a:lnTo>
                  <a:pt x="564769" y="298151"/>
                </a:lnTo>
                <a:lnTo>
                  <a:pt x="573277" y="302387"/>
                </a:lnTo>
                <a:lnTo>
                  <a:pt x="581787" y="285369"/>
                </a:lnTo>
                <a:lnTo>
                  <a:pt x="573261" y="281126"/>
                </a:lnTo>
                <a:close/>
              </a:path>
              <a:path w="620394" h="315594">
                <a:moveTo>
                  <a:pt x="581787" y="264033"/>
                </a:moveTo>
                <a:lnTo>
                  <a:pt x="573261" y="281126"/>
                </a:lnTo>
                <a:lnTo>
                  <a:pt x="581787" y="285369"/>
                </a:lnTo>
                <a:lnTo>
                  <a:pt x="573277" y="302387"/>
                </a:lnTo>
                <a:lnTo>
                  <a:pt x="610695" y="302387"/>
                </a:lnTo>
                <a:lnTo>
                  <a:pt x="581787" y="264033"/>
                </a:lnTo>
                <a:close/>
              </a:path>
              <a:path w="620394" h="315594">
                <a:moveTo>
                  <a:pt x="8381" y="0"/>
                </a:moveTo>
                <a:lnTo>
                  <a:pt x="0" y="17018"/>
                </a:lnTo>
                <a:lnTo>
                  <a:pt x="564769" y="298151"/>
                </a:lnTo>
                <a:lnTo>
                  <a:pt x="573261" y="281126"/>
                </a:lnTo>
                <a:lnTo>
                  <a:pt x="83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44998" y="2058686"/>
            <a:ext cx="755650" cy="320675"/>
          </a:xfrm>
          <a:custGeom>
            <a:avLst/>
            <a:gdLst/>
            <a:ahLst/>
            <a:cxnLst/>
            <a:rect l="l" t="t" r="r" b="b"/>
            <a:pathLst>
              <a:path w="755650" h="320675">
                <a:moveTo>
                  <a:pt x="42163" y="267334"/>
                </a:moveTo>
                <a:lnTo>
                  <a:pt x="0" y="315341"/>
                </a:lnTo>
                <a:lnTo>
                  <a:pt x="63753" y="320294"/>
                </a:lnTo>
                <a:lnTo>
                  <a:pt x="58007" y="306197"/>
                </a:lnTo>
                <a:lnTo>
                  <a:pt x="47751" y="306197"/>
                </a:lnTo>
                <a:lnTo>
                  <a:pt x="40512" y="288544"/>
                </a:lnTo>
                <a:lnTo>
                  <a:pt x="49342" y="284944"/>
                </a:lnTo>
                <a:lnTo>
                  <a:pt x="42163" y="267334"/>
                </a:lnTo>
                <a:close/>
              </a:path>
              <a:path w="755650" h="320675">
                <a:moveTo>
                  <a:pt x="49342" y="284944"/>
                </a:moveTo>
                <a:lnTo>
                  <a:pt x="40512" y="288544"/>
                </a:lnTo>
                <a:lnTo>
                  <a:pt x="47751" y="306197"/>
                </a:lnTo>
                <a:lnTo>
                  <a:pt x="56544" y="302610"/>
                </a:lnTo>
                <a:lnTo>
                  <a:pt x="49342" y="284944"/>
                </a:lnTo>
                <a:close/>
              </a:path>
              <a:path w="755650" h="320675">
                <a:moveTo>
                  <a:pt x="56544" y="302610"/>
                </a:moveTo>
                <a:lnTo>
                  <a:pt x="47751" y="306197"/>
                </a:lnTo>
                <a:lnTo>
                  <a:pt x="58007" y="306197"/>
                </a:lnTo>
                <a:lnTo>
                  <a:pt x="56544" y="302610"/>
                </a:lnTo>
                <a:close/>
              </a:path>
              <a:path w="755650" h="320675">
                <a:moveTo>
                  <a:pt x="748284" y="0"/>
                </a:moveTo>
                <a:lnTo>
                  <a:pt x="49342" y="284944"/>
                </a:lnTo>
                <a:lnTo>
                  <a:pt x="56544" y="302610"/>
                </a:lnTo>
                <a:lnTo>
                  <a:pt x="755523" y="17525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16423" y="2561225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19050" y="323849"/>
                </a:moveTo>
                <a:lnTo>
                  <a:pt x="0" y="323849"/>
                </a:lnTo>
                <a:lnTo>
                  <a:pt x="28575" y="380999"/>
                </a:lnTo>
                <a:lnTo>
                  <a:pt x="52387" y="333374"/>
                </a:lnTo>
                <a:lnTo>
                  <a:pt x="19050" y="333374"/>
                </a:lnTo>
                <a:lnTo>
                  <a:pt x="19050" y="323849"/>
                </a:lnTo>
                <a:close/>
              </a:path>
              <a:path w="57150" h="381000">
                <a:moveTo>
                  <a:pt x="38100" y="0"/>
                </a:moveTo>
                <a:lnTo>
                  <a:pt x="19050" y="0"/>
                </a:lnTo>
                <a:lnTo>
                  <a:pt x="19050" y="333374"/>
                </a:lnTo>
                <a:lnTo>
                  <a:pt x="38100" y="333374"/>
                </a:lnTo>
                <a:lnTo>
                  <a:pt x="38100" y="0"/>
                </a:lnTo>
                <a:close/>
              </a:path>
              <a:path w="57150" h="381000">
                <a:moveTo>
                  <a:pt x="57150" y="323849"/>
                </a:moveTo>
                <a:lnTo>
                  <a:pt x="38100" y="323849"/>
                </a:lnTo>
                <a:lnTo>
                  <a:pt x="38100" y="333374"/>
                </a:lnTo>
                <a:lnTo>
                  <a:pt x="52387" y="333374"/>
                </a:lnTo>
                <a:lnTo>
                  <a:pt x="57150" y="323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16198" y="2384822"/>
            <a:ext cx="1527175" cy="697230"/>
          </a:xfrm>
          <a:custGeom>
            <a:avLst/>
            <a:gdLst/>
            <a:ahLst/>
            <a:cxnLst/>
            <a:rect l="l" t="t" r="r" b="b"/>
            <a:pathLst>
              <a:path w="1527175" h="697230">
                <a:moveTo>
                  <a:pt x="56061" y="17372"/>
                </a:moveTo>
                <a:lnTo>
                  <a:pt x="48222" y="34787"/>
                </a:lnTo>
                <a:lnTo>
                  <a:pt x="1519174" y="696721"/>
                </a:lnTo>
                <a:lnTo>
                  <a:pt x="1527048" y="679322"/>
                </a:lnTo>
                <a:lnTo>
                  <a:pt x="56061" y="17372"/>
                </a:lnTo>
                <a:close/>
              </a:path>
              <a:path w="1527175" h="697230">
                <a:moveTo>
                  <a:pt x="63881" y="0"/>
                </a:moveTo>
                <a:lnTo>
                  <a:pt x="0" y="2666"/>
                </a:lnTo>
                <a:lnTo>
                  <a:pt x="40386" y="52196"/>
                </a:lnTo>
                <a:lnTo>
                  <a:pt x="48222" y="34787"/>
                </a:lnTo>
                <a:lnTo>
                  <a:pt x="39496" y="30860"/>
                </a:lnTo>
                <a:lnTo>
                  <a:pt x="47371" y="13461"/>
                </a:lnTo>
                <a:lnTo>
                  <a:pt x="57821" y="13461"/>
                </a:lnTo>
                <a:lnTo>
                  <a:pt x="63881" y="0"/>
                </a:lnTo>
                <a:close/>
              </a:path>
              <a:path w="1527175" h="697230">
                <a:moveTo>
                  <a:pt x="47371" y="13461"/>
                </a:moveTo>
                <a:lnTo>
                  <a:pt x="39496" y="30860"/>
                </a:lnTo>
                <a:lnTo>
                  <a:pt x="48222" y="34787"/>
                </a:lnTo>
                <a:lnTo>
                  <a:pt x="56061" y="17372"/>
                </a:lnTo>
                <a:lnTo>
                  <a:pt x="47371" y="13461"/>
                </a:lnTo>
                <a:close/>
              </a:path>
              <a:path w="1527175" h="697230">
                <a:moveTo>
                  <a:pt x="57821" y="13461"/>
                </a:moveTo>
                <a:lnTo>
                  <a:pt x="47371" y="13461"/>
                </a:lnTo>
                <a:lnTo>
                  <a:pt x="56061" y="17372"/>
                </a:lnTo>
                <a:lnTo>
                  <a:pt x="57821" y="13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7623" y="1491377"/>
            <a:ext cx="57150" cy="708660"/>
          </a:xfrm>
          <a:custGeom>
            <a:avLst/>
            <a:gdLst/>
            <a:ahLst/>
            <a:cxnLst/>
            <a:rect l="l" t="t" r="r" b="b"/>
            <a:pathLst>
              <a:path w="57150" h="708660">
                <a:moveTo>
                  <a:pt x="38100" y="47625"/>
                </a:moveTo>
                <a:lnTo>
                  <a:pt x="19050" y="47625"/>
                </a:lnTo>
                <a:lnTo>
                  <a:pt x="19050" y="708278"/>
                </a:lnTo>
                <a:lnTo>
                  <a:pt x="38100" y="708278"/>
                </a:lnTo>
                <a:lnTo>
                  <a:pt x="38100" y="47625"/>
                </a:lnTo>
                <a:close/>
              </a:path>
              <a:path w="57150" h="708660">
                <a:moveTo>
                  <a:pt x="285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050" y="47625"/>
                </a:lnTo>
                <a:lnTo>
                  <a:pt x="52387" y="47625"/>
                </a:lnTo>
                <a:lnTo>
                  <a:pt x="28575" y="0"/>
                </a:lnTo>
                <a:close/>
              </a:path>
              <a:path w="57150" h="708660">
                <a:moveTo>
                  <a:pt x="52387" y="47625"/>
                </a:moveTo>
                <a:lnTo>
                  <a:pt x="38100" y="47625"/>
                </a:lnTo>
                <a:lnTo>
                  <a:pt x="38100" y="57150"/>
                </a:lnTo>
                <a:lnTo>
                  <a:pt x="57150" y="57150"/>
                </a:lnTo>
                <a:lnTo>
                  <a:pt x="52387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67786" y="1722009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参数</a:t>
            </a:r>
            <a:r>
              <a:rPr sz="900" spc="-8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更新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24046" y="1333262"/>
            <a:ext cx="459105" cy="57150"/>
          </a:xfrm>
          <a:custGeom>
            <a:avLst/>
            <a:gdLst/>
            <a:ahLst/>
            <a:cxnLst/>
            <a:rect l="l" t="t" r="r" b="b"/>
            <a:pathLst>
              <a:path w="459105" h="57150">
                <a:moveTo>
                  <a:pt x="401447" y="0"/>
                </a:moveTo>
                <a:lnTo>
                  <a:pt x="401447" y="57150"/>
                </a:lnTo>
                <a:lnTo>
                  <a:pt x="439547" y="38100"/>
                </a:lnTo>
                <a:lnTo>
                  <a:pt x="410972" y="38100"/>
                </a:lnTo>
                <a:lnTo>
                  <a:pt x="410972" y="19050"/>
                </a:lnTo>
                <a:lnTo>
                  <a:pt x="439547" y="19050"/>
                </a:lnTo>
                <a:lnTo>
                  <a:pt x="401447" y="0"/>
                </a:lnTo>
                <a:close/>
              </a:path>
              <a:path w="459105" h="57150">
                <a:moveTo>
                  <a:pt x="401447" y="19050"/>
                </a:moveTo>
                <a:lnTo>
                  <a:pt x="0" y="19050"/>
                </a:lnTo>
                <a:lnTo>
                  <a:pt x="0" y="38100"/>
                </a:lnTo>
                <a:lnTo>
                  <a:pt x="401447" y="38100"/>
                </a:lnTo>
                <a:lnTo>
                  <a:pt x="401447" y="19050"/>
                </a:lnTo>
                <a:close/>
              </a:path>
              <a:path w="459105" h="57150">
                <a:moveTo>
                  <a:pt x="439547" y="19050"/>
                </a:moveTo>
                <a:lnTo>
                  <a:pt x="410972" y="19050"/>
                </a:lnTo>
                <a:lnTo>
                  <a:pt x="410972" y="38100"/>
                </a:lnTo>
                <a:lnTo>
                  <a:pt x="439547" y="38100"/>
                </a:lnTo>
                <a:lnTo>
                  <a:pt x="458597" y="28575"/>
                </a:lnTo>
                <a:lnTo>
                  <a:pt x="439547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01870" y="443627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2700" y="280415"/>
                </a:moveTo>
                <a:lnTo>
                  <a:pt x="0" y="280415"/>
                </a:lnTo>
                <a:lnTo>
                  <a:pt x="19050" y="318515"/>
                </a:lnTo>
                <a:lnTo>
                  <a:pt x="34925" y="286765"/>
                </a:lnTo>
                <a:lnTo>
                  <a:pt x="12700" y="286765"/>
                </a:lnTo>
                <a:lnTo>
                  <a:pt x="12700" y="280415"/>
                </a:lnTo>
                <a:close/>
              </a:path>
              <a:path w="38100" h="318770">
                <a:moveTo>
                  <a:pt x="25400" y="0"/>
                </a:moveTo>
                <a:lnTo>
                  <a:pt x="12700" y="0"/>
                </a:lnTo>
                <a:lnTo>
                  <a:pt x="12700" y="286765"/>
                </a:lnTo>
                <a:lnTo>
                  <a:pt x="25400" y="286765"/>
                </a:lnTo>
                <a:lnTo>
                  <a:pt x="25400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400" y="280415"/>
                </a:lnTo>
                <a:lnTo>
                  <a:pt x="25400" y="286765"/>
                </a:lnTo>
                <a:lnTo>
                  <a:pt x="34925" y="286765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44314" y="276749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r>
              <a:rPr sz="900" dirty="0">
                <a:latin typeface="Cambria Math"/>
                <a:cs typeface="Cambria Math"/>
              </a:rPr>
              <a:t>𝑋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8980" y="688229"/>
            <a:ext cx="577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3</a:t>
            </a:r>
            <a:r>
              <a:rPr sz="900" spc="-5" dirty="0">
                <a:latin typeface="微软雅黑"/>
                <a:cs typeface="微软雅黑"/>
              </a:rPr>
              <a:t>.</a:t>
            </a:r>
            <a:r>
              <a:rPr sz="900" dirty="0">
                <a:latin typeface="微软雅黑"/>
                <a:cs typeface="微软雅黑"/>
              </a:rPr>
              <a:t>样本增强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2007" y="762143"/>
            <a:ext cx="891540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图像表示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97704" y="2374535"/>
            <a:ext cx="891540" cy="186055"/>
          </a:xfrm>
          <a:prstGeom prst="rect">
            <a:avLst/>
          </a:prstGeom>
          <a:solidFill>
            <a:srgbClr val="FBD4B5"/>
          </a:solidFill>
          <a:ln w="12700">
            <a:solidFill>
              <a:srgbClr val="FF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损失函数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8904" y="2199275"/>
            <a:ext cx="891540" cy="187960"/>
          </a:xfrm>
          <a:prstGeom prst="rect">
            <a:avLst/>
          </a:prstGeom>
          <a:solidFill>
            <a:srgbClr val="FBD4B5"/>
          </a:solidFill>
          <a:ln w="12700">
            <a:solidFill>
              <a:srgbClr val="FF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优化算法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98643" y="76900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像素表示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63591" y="1207024"/>
            <a:ext cx="1263650" cy="43751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4" indent="-94615">
              <a:lnSpc>
                <a:spcPct val="100000"/>
              </a:lnSpc>
              <a:spcBef>
                <a:spcPts val="640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latin typeface="微软雅黑"/>
                <a:cs typeface="微软雅黑"/>
              </a:rPr>
              <a:t>全连接神经网络的瓶颈</a:t>
            </a:r>
            <a:endParaRPr sz="900">
              <a:latin typeface="微软雅黑"/>
              <a:cs typeface="微软雅黑"/>
            </a:endParaRPr>
          </a:p>
          <a:p>
            <a:pPr marL="107314" indent="-94615">
              <a:lnSpc>
                <a:spcPct val="100000"/>
              </a:lnSpc>
              <a:spcBef>
                <a:spcPts val="545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latin typeface="微软雅黑"/>
                <a:cs typeface="微软雅黑"/>
              </a:rPr>
              <a:t>卷积神经网络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55104" y="443627"/>
            <a:ext cx="893444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训练过程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3335" y="172592"/>
            <a:ext cx="213360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损失</a:t>
            </a:r>
            <a:r>
              <a:rPr spc="-10" dirty="0"/>
              <a:t>函</a:t>
            </a:r>
            <a:r>
              <a:rPr spc="5" dirty="0"/>
              <a:t>数</a:t>
            </a:r>
            <a:r>
              <a:rPr spc="-10" dirty="0"/>
              <a:t>&amp;优</a:t>
            </a:r>
            <a:r>
              <a:rPr spc="5" dirty="0"/>
              <a:t>化算法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5493" y="1150747"/>
            <a:ext cx="2329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156845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损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失函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数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：交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叉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熵损失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Wingdings"/>
              <a:buChar char=""/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Font typeface="Wingdings"/>
              <a:buChar char=""/>
            </a:pPr>
            <a:endParaRPr sz="950">
              <a:latin typeface="Times New Roman"/>
              <a:cs typeface="Times New Roman"/>
            </a:endParaRPr>
          </a:p>
          <a:p>
            <a:pPr marL="156210" indent="-143510">
              <a:lnSpc>
                <a:spcPct val="100000"/>
              </a:lnSpc>
              <a:buFont typeface="Wingdings"/>
              <a:buChar char=""/>
              <a:tabLst>
                <a:tab pos="156845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优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化算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法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：SGD、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带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动量</a:t>
            </a:r>
            <a:r>
              <a:rPr sz="1000" spc="10" dirty="0">
                <a:solidFill>
                  <a:srgbClr val="231F20"/>
                </a:solidFill>
                <a:latin typeface="黑体"/>
                <a:cs typeface="黑体"/>
              </a:rPr>
              <a:t>的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SGD以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及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ADAM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2007" y="1268111"/>
            <a:ext cx="891540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分类模型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22216" y="1807607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79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79"/>
                </a:lnTo>
                <a:lnTo>
                  <a:pt x="43179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07941" y="1855232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预测值</a:t>
            </a:r>
            <a:r>
              <a:rPr sz="900" spc="-459" dirty="0">
                <a:latin typeface="Cambria Math"/>
                <a:cs typeface="Cambria Math"/>
              </a:rPr>
              <a:t>𝑌</a:t>
            </a:r>
            <a:r>
              <a:rPr sz="1350" spc="-660" baseline="9259" dirty="0">
                <a:latin typeface="Cambria Math"/>
                <a:cs typeface="Cambria Math"/>
              </a:rPr>
              <a:t>෠</a:t>
            </a:r>
            <a:endParaRPr sz="1350" baseline="9259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89243" y="1807607"/>
            <a:ext cx="612775" cy="259079"/>
          </a:xfrm>
          <a:custGeom>
            <a:avLst/>
            <a:gdLst/>
            <a:ahLst/>
            <a:cxnLst/>
            <a:rect l="l" t="t" r="r" b="b"/>
            <a:pathLst>
              <a:path w="61277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79" y="0"/>
                </a:lnTo>
                <a:lnTo>
                  <a:pt x="569467" y="0"/>
                </a:lnTo>
                <a:lnTo>
                  <a:pt x="586287" y="3389"/>
                </a:lnTo>
                <a:lnTo>
                  <a:pt x="600011" y="12636"/>
                </a:lnTo>
                <a:lnTo>
                  <a:pt x="609258" y="26360"/>
                </a:lnTo>
                <a:lnTo>
                  <a:pt x="612647" y="43179"/>
                </a:lnTo>
                <a:lnTo>
                  <a:pt x="612647" y="215900"/>
                </a:lnTo>
                <a:lnTo>
                  <a:pt x="609258" y="232719"/>
                </a:lnTo>
                <a:lnTo>
                  <a:pt x="600011" y="246443"/>
                </a:lnTo>
                <a:lnTo>
                  <a:pt x="586287" y="255690"/>
                </a:lnTo>
                <a:lnTo>
                  <a:pt x="569467" y="259079"/>
                </a:lnTo>
                <a:lnTo>
                  <a:pt x="43179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6238" y="1852565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真实值</a:t>
            </a:r>
            <a:r>
              <a:rPr sz="900" dirty="0">
                <a:latin typeface="Cambria Math"/>
                <a:cs typeface="Cambria Math"/>
              </a:rPr>
              <a:t>𝑌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37912" y="2941463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80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3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4" y="43180"/>
                </a:lnTo>
                <a:lnTo>
                  <a:pt x="611124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3" y="259080"/>
                </a:lnTo>
                <a:lnTo>
                  <a:pt x="43180" y="259080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59324" y="2986421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损失值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2160" y="1231535"/>
            <a:ext cx="611505" cy="259079"/>
          </a:xfrm>
          <a:custGeom>
            <a:avLst/>
            <a:gdLst/>
            <a:ahLst/>
            <a:cxnLst/>
            <a:rect l="l" t="t" r="r" b="b"/>
            <a:pathLst>
              <a:path w="611505" h="259080">
                <a:moveTo>
                  <a:pt x="0" y="43179"/>
                </a:moveTo>
                <a:lnTo>
                  <a:pt x="3389" y="26360"/>
                </a:lnTo>
                <a:lnTo>
                  <a:pt x="12636" y="12636"/>
                </a:lnTo>
                <a:lnTo>
                  <a:pt x="26360" y="3389"/>
                </a:lnTo>
                <a:lnTo>
                  <a:pt x="43180" y="0"/>
                </a:lnTo>
                <a:lnTo>
                  <a:pt x="567944" y="0"/>
                </a:lnTo>
                <a:lnTo>
                  <a:pt x="584763" y="3389"/>
                </a:lnTo>
                <a:lnTo>
                  <a:pt x="598487" y="12636"/>
                </a:lnTo>
                <a:lnTo>
                  <a:pt x="607734" y="26360"/>
                </a:lnTo>
                <a:lnTo>
                  <a:pt x="611123" y="43179"/>
                </a:lnTo>
                <a:lnTo>
                  <a:pt x="611123" y="215900"/>
                </a:lnTo>
                <a:lnTo>
                  <a:pt x="607734" y="232719"/>
                </a:lnTo>
                <a:lnTo>
                  <a:pt x="598487" y="246443"/>
                </a:lnTo>
                <a:lnTo>
                  <a:pt x="584763" y="255690"/>
                </a:lnTo>
                <a:lnTo>
                  <a:pt x="567944" y="259079"/>
                </a:lnTo>
                <a:lnTo>
                  <a:pt x="43180" y="259079"/>
                </a:lnTo>
                <a:lnTo>
                  <a:pt x="26360" y="255690"/>
                </a:lnTo>
                <a:lnTo>
                  <a:pt x="12636" y="246443"/>
                </a:lnTo>
                <a:lnTo>
                  <a:pt x="3389" y="232719"/>
                </a:lnTo>
                <a:lnTo>
                  <a:pt x="0" y="215900"/>
                </a:lnTo>
                <a:lnTo>
                  <a:pt x="0" y="431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5914" y="1275858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模型参数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09490" y="949595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69">
                <a:moveTo>
                  <a:pt x="12700" y="280416"/>
                </a:moveTo>
                <a:lnTo>
                  <a:pt x="0" y="280416"/>
                </a:lnTo>
                <a:lnTo>
                  <a:pt x="19050" y="318516"/>
                </a:lnTo>
                <a:lnTo>
                  <a:pt x="34925" y="286766"/>
                </a:lnTo>
                <a:lnTo>
                  <a:pt x="12700" y="286766"/>
                </a:lnTo>
                <a:lnTo>
                  <a:pt x="12700" y="280416"/>
                </a:lnTo>
                <a:close/>
              </a:path>
              <a:path w="38100" h="318769">
                <a:moveTo>
                  <a:pt x="25400" y="0"/>
                </a:moveTo>
                <a:lnTo>
                  <a:pt x="12700" y="0"/>
                </a:lnTo>
                <a:lnTo>
                  <a:pt x="12700" y="286766"/>
                </a:lnTo>
                <a:lnTo>
                  <a:pt x="25400" y="286766"/>
                </a:lnTo>
                <a:lnTo>
                  <a:pt x="25400" y="0"/>
                </a:lnTo>
                <a:close/>
              </a:path>
              <a:path w="38100" h="318769">
                <a:moveTo>
                  <a:pt x="38100" y="280416"/>
                </a:moveTo>
                <a:lnTo>
                  <a:pt x="25400" y="280416"/>
                </a:lnTo>
                <a:lnTo>
                  <a:pt x="25400" y="286766"/>
                </a:lnTo>
                <a:lnTo>
                  <a:pt x="34925" y="286766"/>
                </a:lnTo>
                <a:lnTo>
                  <a:pt x="38100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00727" y="1456325"/>
            <a:ext cx="57150" cy="353695"/>
          </a:xfrm>
          <a:custGeom>
            <a:avLst/>
            <a:gdLst/>
            <a:ahLst/>
            <a:cxnLst/>
            <a:rect l="l" t="t" r="r" b="b"/>
            <a:pathLst>
              <a:path w="57150" h="353694">
                <a:moveTo>
                  <a:pt x="19050" y="296290"/>
                </a:moveTo>
                <a:lnTo>
                  <a:pt x="0" y="296290"/>
                </a:lnTo>
                <a:lnTo>
                  <a:pt x="28575" y="353440"/>
                </a:lnTo>
                <a:lnTo>
                  <a:pt x="52387" y="305815"/>
                </a:lnTo>
                <a:lnTo>
                  <a:pt x="19050" y="305815"/>
                </a:lnTo>
                <a:lnTo>
                  <a:pt x="19050" y="296290"/>
                </a:lnTo>
                <a:close/>
              </a:path>
              <a:path w="57150" h="353694">
                <a:moveTo>
                  <a:pt x="38100" y="0"/>
                </a:moveTo>
                <a:lnTo>
                  <a:pt x="19050" y="0"/>
                </a:lnTo>
                <a:lnTo>
                  <a:pt x="19050" y="305815"/>
                </a:lnTo>
                <a:lnTo>
                  <a:pt x="38100" y="305815"/>
                </a:lnTo>
                <a:lnTo>
                  <a:pt x="38100" y="0"/>
                </a:lnTo>
                <a:close/>
              </a:path>
              <a:path w="57150" h="353694">
                <a:moveTo>
                  <a:pt x="57150" y="296290"/>
                </a:moveTo>
                <a:lnTo>
                  <a:pt x="38100" y="296290"/>
                </a:lnTo>
                <a:lnTo>
                  <a:pt x="38100" y="305815"/>
                </a:lnTo>
                <a:lnTo>
                  <a:pt x="52387" y="305815"/>
                </a:lnTo>
                <a:lnTo>
                  <a:pt x="57150" y="2962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5110" y="2058940"/>
            <a:ext cx="620395" cy="315595"/>
          </a:xfrm>
          <a:custGeom>
            <a:avLst/>
            <a:gdLst/>
            <a:ahLst/>
            <a:cxnLst/>
            <a:rect l="l" t="t" r="r" b="b"/>
            <a:pathLst>
              <a:path w="620394" h="315594">
                <a:moveTo>
                  <a:pt x="564769" y="298151"/>
                </a:moveTo>
                <a:lnTo>
                  <a:pt x="556260" y="315214"/>
                </a:lnTo>
                <a:lnTo>
                  <a:pt x="620267" y="315087"/>
                </a:lnTo>
                <a:lnTo>
                  <a:pt x="610695" y="302387"/>
                </a:lnTo>
                <a:lnTo>
                  <a:pt x="573277" y="302387"/>
                </a:lnTo>
                <a:lnTo>
                  <a:pt x="564769" y="298151"/>
                </a:lnTo>
                <a:close/>
              </a:path>
              <a:path w="620394" h="315594">
                <a:moveTo>
                  <a:pt x="573261" y="281126"/>
                </a:moveTo>
                <a:lnTo>
                  <a:pt x="564769" y="298151"/>
                </a:lnTo>
                <a:lnTo>
                  <a:pt x="573277" y="302387"/>
                </a:lnTo>
                <a:lnTo>
                  <a:pt x="581787" y="285369"/>
                </a:lnTo>
                <a:lnTo>
                  <a:pt x="573261" y="281126"/>
                </a:lnTo>
                <a:close/>
              </a:path>
              <a:path w="620394" h="315594">
                <a:moveTo>
                  <a:pt x="581787" y="264033"/>
                </a:moveTo>
                <a:lnTo>
                  <a:pt x="573261" y="281126"/>
                </a:lnTo>
                <a:lnTo>
                  <a:pt x="581787" y="285369"/>
                </a:lnTo>
                <a:lnTo>
                  <a:pt x="573277" y="302387"/>
                </a:lnTo>
                <a:lnTo>
                  <a:pt x="610695" y="302387"/>
                </a:lnTo>
                <a:lnTo>
                  <a:pt x="581787" y="264033"/>
                </a:lnTo>
                <a:close/>
              </a:path>
              <a:path w="620394" h="315594">
                <a:moveTo>
                  <a:pt x="8381" y="0"/>
                </a:moveTo>
                <a:lnTo>
                  <a:pt x="0" y="17018"/>
                </a:lnTo>
                <a:lnTo>
                  <a:pt x="564769" y="298151"/>
                </a:lnTo>
                <a:lnTo>
                  <a:pt x="573261" y="281126"/>
                </a:lnTo>
                <a:lnTo>
                  <a:pt x="83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44998" y="2058686"/>
            <a:ext cx="755650" cy="320675"/>
          </a:xfrm>
          <a:custGeom>
            <a:avLst/>
            <a:gdLst/>
            <a:ahLst/>
            <a:cxnLst/>
            <a:rect l="l" t="t" r="r" b="b"/>
            <a:pathLst>
              <a:path w="755650" h="320675">
                <a:moveTo>
                  <a:pt x="42163" y="267334"/>
                </a:moveTo>
                <a:lnTo>
                  <a:pt x="0" y="315341"/>
                </a:lnTo>
                <a:lnTo>
                  <a:pt x="63753" y="320294"/>
                </a:lnTo>
                <a:lnTo>
                  <a:pt x="58007" y="306197"/>
                </a:lnTo>
                <a:lnTo>
                  <a:pt x="47751" y="306197"/>
                </a:lnTo>
                <a:lnTo>
                  <a:pt x="40512" y="288544"/>
                </a:lnTo>
                <a:lnTo>
                  <a:pt x="49342" y="284944"/>
                </a:lnTo>
                <a:lnTo>
                  <a:pt x="42163" y="267334"/>
                </a:lnTo>
                <a:close/>
              </a:path>
              <a:path w="755650" h="320675">
                <a:moveTo>
                  <a:pt x="49342" y="284944"/>
                </a:moveTo>
                <a:lnTo>
                  <a:pt x="40512" y="288544"/>
                </a:lnTo>
                <a:lnTo>
                  <a:pt x="47751" y="306197"/>
                </a:lnTo>
                <a:lnTo>
                  <a:pt x="56544" y="302610"/>
                </a:lnTo>
                <a:lnTo>
                  <a:pt x="49342" y="284944"/>
                </a:lnTo>
                <a:close/>
              </a:path>
              <a:path w="755650" h="320675">
                <a:moveTo>
                  <a:pt x="56544" y="302610"/>
                </a:moveTo>
                <a:lnTo>
                  <a:pt x="47751" y="306197"/>
                </a:lnTo>
                <a:lnTo>
                  <a:pt x="58007" y="306197"/>
                </a:lnTo>
                <a:lnTo>
                  <a:pt x="56544" y="302610"/>
                </a:lnTo>
                <a:close/>
              </a:path>
              <a:path w="755650" h="320675">
                <a:moveTo>
                  <a:pt x="748284" y="0"/>
                </a:moveTo>
                <a:lnTo>
                  <a:pt x="49342" y="284944"/>
                </a:lnTo>
                <a:lnTo>
                  <a:pt x="56544" y="302610"/>
                </a:lnTo>
                <a:lnTo>
                  <a:pt x="755523" y="17525"/>
                </a:lnTo>
                <a:lnTo>
                  <a:pt x="7482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16423" y="2561225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19050" y="323849"/>
                </a:moveTo>
                <a:lnTo>
                  <a:pt x="0" y="323849"/>
                </a:lnTo>
                <a:lnTo>
                  <a:pt x="28575" y="380999"/>
                </a:lnTo>
                <a:lnTo>
                  <a:pt x="52387" y="333374"/>
                </a:lnTo>
                <a:lnTo>
                  <a:pt x="19050" y="333374"/>
                </a:lnTo>
                <a:lnTo>
                  <a:pt x="19050" y="323849"/>
                </a:lnTo>
                <a:close/>
              </a:path>
              <a:path w="57150" h="381000">
                <a:moveTo>
                  <a:pt x="38100" y="0"/>
                </a:moveTo>
                <a:lnTo>
                  <a:pt x="19050" y="0"/>
                </a:lnTo>
                <a:lnTo>
                  <a:pt x="19050" y="333374"/>
                </a:lnTo>
                <a:lnTo>
                  <a:pt x="38100" y="333374"/>
                </a:lnTo>
                <a:lnTo>
                  <a:pt x="38100" y="0"/>
                </a:lnTo>
                <a:close/>
              </a:path>
              <a:path w="57150" h="381000">
                <a:moveTo>
                  <a:pt x="57150" y="323849"/>
                </a:moveTo>
                <a:lnTo>
                  <a:pt x="38100" y="323849"/>
                </a:lnTo>
                <a:lnTo>
                  <a:pt x="38100" y="333374"/>
                </a:lnTo>
                <a:lnTo>
                  <a:pt x="52387" y="333374"/>
                </a:lnTo>
                <a:lnTo>
                  <a:pt x="57150" y="323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16198" y="2384822"/>
            <a:ext cx="1527175" cy="697230"/>
          </a:xfrm>
          <a:custGeom>
            <a:avLst/>
            <a:gdLst/>
            <a:ahLst/>
            <a:cxnLst/>
            <a:rect l="l" t="t" r="r" b="b"/>
            <a:pathLst>
              <a:path w="1527175" h="697230">
                <a:moveTo>
                  <a:pt x="56061" y="17372"/>
                </a:moveTo>
                <a:lnTo>
                  <a:pt x="48222" y="34787"/>
                </a:lnTo>
                <a:lnTo>
                  <a:pt x="1519174" y="696721"/>
                </a:lnTo>
                <a:lnTo>
                  <a:pt x="1527048" y="679322"/>
                </a:lnTo>
                <a:lnTo>
                  <a:pt x="56061" y="17372"/>
                </a:lnTo>
                <a:close/>
              </a:path>
              <a:path w="1527175" h="697230">
                <a:moveTo>
                  <a:pt x="63881" y="0"/>
                </a:moveTo>
                <a:lnTo>
                  <a:pt x="0" y="2666"/>
                </a:lnTo>
                <a:lnTo>
                  <a:pt x="40386" y="52196"/>
                </a:lnTo>
                <a:lnTo>
                  <a:pt x="48222" y="34787"/>
                </a:lnTo>
                <a:lnTo>
                  <a:pt x="39496" y="30860"/>
                </a:lnTo>
                <a:lnTo>
                  <a:pt x="47371" y="13461"/>
                </a:lnTo>
                <a:lnTo>
                  <a:pt x="57821" y="13461"/>
                </a:lnTo>
                <a:lnTo>
                  <a:pt x="63881" y="0"/>
                </a:lnTo>
                <a:close/>
              </a:path>
              <a:path w="1527175" h="697230">
                <a:moveTo>
                  <a:pt x="47371" y="13461"/>
                </a:moveTo>
                <a:lnTo>
                  <a:pt x="39496" y="30860"/>
                </a:lnTo>
                <a:lnTo>
                  <a:pt x="48222" y="34787"/>
                </a:lnTo>
                <a:lnTo>
                  <a:pt x="56061" y="17372"/>
                </a:lnTo>
                <a:lnTo>
                  <a:pt x="47371" y="13461"/>
                </a:lnTo>
                <a:close/>
              </a:path>
              <a:path w="1527175" h="697230">
                <a:moveTo>
                  <a:pt x="57821" y="13461"/>
                </a:moveTo>
                <a:lnTo>
                  <a:pt x="47371" y="13461"/>
                </a:lnTo>
                <a:lnTo>
                  <a:pt x="56061" y="17372"/>
                </a:lnTo>
                <a:lnTo>
                  <a:pt x="57821" y="13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7623" y="1491377"/>
            <a:ext cx="57150" cy="708660"/>
          </a:xfrm>
          <a:custGeom>
            <a:avLst/>
            <a:gdLst/>
            <a:ahLst/>
            <a:cxnLst/>
            <a:rect l="l" t="t" r="r" b="b"/>
            <a:pathLst>
              <a:path w="57150" h="708660">
                <a:moveTo>
                  <a:pt x="38100" y="47625"/>
                </a:moveTo>
                <a:lnTo>
                  <a:pt x="19050" y="47625"/>
                </a:lnTo>
                <a:lnTo>
                  <a:pt x="19050" y="708278"/>
                </a:lnTo>
                <a:lnTo>
                  <a:pt x="38100" y="708278"/>
                </a:lnTo>
                <a:lnTo>
                  <a:pt x="38100" y="47625"/>
                </a:lnTo>
                <a:close/>
              </a:path>
              <a:path w="57150" h="708660">
                <a:moveTo>
                  <a:pt x="28575" y="0"/>
                </a:moveTo>
                <a:lnTo>
                  <a:pt x="0" y="57150"/>
                </a:lnTo>
                <a:lnTo>
                  <a:pt x="19050" y="57150"/>
                </a:lnTo>
                <a:lnTo>
                  <a:pt x="19050" y="47625"/>
                </a:lnTo>
                <a:lnTo>
                  <a:pt x="52387" y="47625"/>
                </a:lnTo>
                <a:lnTo>
                  <a:pt x="28575" y="0"/>
                </a:lnTo>
                <a:close/>
              </a:path>
              <a:path w="57150" h="708660">
                <a:moveTo>
                  <a:pt x="52387" y="47625"/>
                </a:moveTo>
                <a:lnTo>
                  <a:pt x="38100" y="47625"/>
                </a:lnTo>
                <a:lnTo>
                  <a:pt x="38100" y="57150"/>
                </a:lnTo>
                <a:lnTo>
                  <a:pt x="57150" y="57150"/>
                </a:lnTo>
                <a:lnTo>
                  <a:pt x="52387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67786" y="1722009"/>
            <a:ext cx="516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参数</a:t>
            </a:r>
            <a:r>
              <a:rPr sz="900" spc="-80" dirty="0">
                <a:latin typeface="微软雅黑"/>
                <a:cs typeface="微软雅黑"/>
              </a:rPr>
              <a:t> </a:t>
            </a:r>
            <a:r>
              <a:rPr sz="900" dirty="0">
                <a:latin typeface="微软雅黑"/>
                <a:cs typeface="微软雅黑"/>
              </a:rPr>
              <a:t>更新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24046" y="1333262"/>
            <a:ext cx="459105" cy="57150"/>
          </a:xfrm>
          <a:custGeom>
            <a:avLst/>
            <a:gdLst/>
            <a:ahLst/>
            <a:cxnLst/>
            <a:rect l="l" t="t" r="r" b="b"/>
            <a:pathLst>
              <a:path w="459105" h="57150">
                <a:moveTo>
                  <a:pt x="401447" y="0"/>
                </a:moveTo>
                <a:lnTo>
                  <a:pt x="401447" y="57150"/>
                </a:lnTo>
                <a:lnTo>
                  <a:pt x="439547" y="38100"/>
                </a:lnTo>
                <a:lnTo>
                  <a:pt x="410972" y="38100"/>
                </a:lnTo>
                <a:lnTo>
                  <a:pt x="410972" y="19050"/>
                </a:lnTo>
                <a:lnTo>
                  <a:pt x="439547" y="19050"/>
                </a:lnTo>
                <a:lnTo>
                  <a:pt x="401447" y="0"/>
                </a:lnTo>
                <a:close/>
              </a:path>
              <a:path w="459105" h="57150">
                <a:moveTo>
                  <a:pt x="401447" y="19050"/>
                </a:moveTo>
                <a:lnTo>
                  <a:pt x="0" y="19050"/>
                </a:lnTo>
                <a:lnTo>
                  <a:pt x="0" y="38100"/>
                </a:lnTo>
                <a:lnTo>
                  <a:pt x="401447" y="38100"/>
                </a:lnTo>
                <a:lnTo>
                  <a:pt x="401447" y="19050"/>
                </a:lnTo>
                <a:close/>
              </a:path>
              <a:path w="459105" h="57150">
                <a:moveTo>
                  <a:pt x="439547" y="19050"/>
                </a:moveTo>
                <a:lnTo>
                  <a:pt x="410972" y="19050"/>
                </a:lnTo>
                <a:lnTo>
                  <a:pt x="410972" y="38100"/>
                </a:lnTo>
                <a:lnTo>
                  <a:pt x="439547" y="38100"/>
                </a:lnTo>
                <a:lnTo>
                  <a:pt x="458597" y="28575"/>
                </a:lnTo>
                <a:lnTo>
                  <a:pt x="439547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01870" y="443627"/>
            <a:ext cx="38100" cy="318770"/>
          </a:xfrm>
          <a:custGeom>
            <a:avLst/>
            <a:gdLst/>
            <a:ahLst/>
            <a:cxnLst/>
            <a:rect l="l" t="t" r="r" b="b"/>
            <a:pathLst>
              <a:path w="38100" h="318770">
                <a:moveTo>
                  <a:pt x="12700" y="280415"/>
                </a:moveTo>
                <a:lnTo>
                  <a:pt x="0" y="280415"/>
                </a:lnTo>
                <a:lnTo>
                  <a:pt x="19050" y="318515"/>
                </a:lnTo>
                <a:lnTo>
                  <a:pt x="34925" y="286765"/>
                </a:lnTo>
                <a:lnTo>
                  <a:pt x="12700" y="286765"/>
                </a:lnTo>
                <a:lnTo>
                  <a:pt x="12700" y="280415"/>
                </a:lnTo>
                <a:close/>
              </a:path>
              <a:path w="38100" h="318770">
                <a:moveTo>
                  <a:pt x="25400" y="0"/>
                </a:moveTo>
                <a:lnTo>
                  <a:pt x="12700" y="0"/>
                </a:lnTo>
                <a:lnTo>
                  <a:pt x="12700" y="286765"/>
                </a:lnTo>
                <a:lnTo>
                  <a:pt x="25400" y="286765"/>
                </a:lnTo>
                <a:lnTo>
                  <a:pt x="25400" y="0"/>
                </a:lnTo>
                <a:close/>
              </a:path>
              <a:path w="38100" h="318770">
                <a:moveTo>
                  <a:pt x="38100" y="280415"/>
                </a:moveTo>
                <a:lnTo>
                  <a:pt x="25400" y="280415"/>
                </a:lnTo>
                <a:lnTo>
                  <a:pt x="25400" y="286765"/>
                </a:lnTo>
                <a:lnTo>
                  <a:pt x="34925" y="286765"/>
                </a:lnTo>
                <a:lnTo>
                  <a:pt x="38100" y="280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44314" y="276749"/>
            <a:ext cx="556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输入图像</a:t>
            </a:r>
            <a:r>
              <a:rPr sz="900" dirty="0">
                <a:latin typeface="Cambria Math"/>
                <a:cs typeface="Cambria Math"/>
              </a:rPr>
              <a:t>𝑋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8980" y="688229"/>
            <a:ext cx="5772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0000"/>
                </a:solidFill>
                <a:latin typeface="微软雅黑"/>
                <a:cs typeface="微软雅黑"/>
              </a:rPr>
              <a:t>3</a:t>
            </a:r>
            <a:r>
              <a:rPr sz="900" spc="-5" dirty="0">
                <a:solidFill>
                  <a:srgbClr val="FF0000"/>
                </a:solidFill>
                <a:latin typeface="微软雅黑"/>
                <a:cs typeface="微软雅黑"/>
              </a:rPr>
              <a:t>.</a:t>
            </a:r>
            <a:r>
              <a:rPr sz="900" dirty="0">
                <a:solidFill>
                  <a:srgbClr val="FF0000"/>
                </a:solidFill>
                <a:latin typeface="微软雅黑"/>
                <a:cs typeface="微软雅黑"/>
              </a:rPr>
              <a:t>样本增强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2007" y="762143"/>
            <a:ext cx="891540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图像表示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97704" y="2374535"/>
            <a:ext cx="891540" cy="18605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损失函数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8904" y="2199275"/>
            <a:ext cx="891540" cy="1879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优化算法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98643" y="769001"/>
            <a:ext cx="482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微软雅黑"/>
                <a:cs typeface="微软雅黑"/>
              </a:rPr>
              <a:t>像素表示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63591" y="1207024"/>
            <a:ext cx="1263650" cy="43751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7314" indent="-94615">
              <a:lnSpc>
                <a:spcPct val="100000"/>
              </a:lnSpc>
              <a:spcBef>
                <a:spcPts val="640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latin typeface="微软雅黑"/>
                <a:cs typeface="微软雅黑"/>
              </a:rPr>
              <a:t>全连接神经网络的瓶颈</a:t>
            </a:r>
            <a:endParaRPr sz="900">
              <a:latin typeface="微软雅黑"/>
              <a:cs typeface="微软雅黑"/>
            </a:endParaRPr>
          </a:p>
          <a:p>
            <a:pPr marL="107314" indent="-94615">
              <a:lnSpc>
                <a:spcPct val="100000"/>
              </a:lnSpc>
              <a:spcBef>
                <a:spcPts val="545"/>
              </a:spcBef>
              <a:buSzPct val="88888"/>
              <a:buAutoNum type="arabicPeriod"/>
              <a:tabLst>
                <a:tab pos="107950" algn="l"/>
              </a:tabLst>
            </a:pPr>
            <a:r>
              <a:rPr sz="900" dirty="0">
                <a:latin typeface="微软雅黑"/>
                <a:cs typeface="微软雅黑"/>
              </a:rPr>
              <a:t>卷积神经网络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55104" y="443627"/>
            <a:ext cx="893444" cy="187960"/>
          </a:xfrm>
          <a:prstGeom prst="rect">
            <a:avLst/>
          </a:prstGeom>
          <a:solidFill>
            <a:srgbClr val="FBD4B5"/>
          </a:solidFill>
          <a:ln w="12700">
            <a:solidFill>
              <a:srgbClr val="FF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微软雅黑"/>
                <a:cs typeface="微软雅黑"/>
              </a:rPr>
              <a:t>训练过程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1119" y="172592"/>
            <a:ext cx="101917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图像增强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8793" y="884047"/>
            <a:ext cx="448564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15621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存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在的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问</a:t>
            </a:r>
            <a:r>
              <a:rPr sz="1000" dirty="0">
                <a:solidFill>
                  <a:srgbClr val="FF0000"/>
                </a:solidFill>
                <a:latin typeface="黑体"/>
                <a:cs typeface="黑体"/>
              </a:rPr>
              <a:t>题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：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过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拟合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的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原因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是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学习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样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本太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少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，导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致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无法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训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练出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能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够泛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化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到新数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F0000"/>
              </a:buClr>
              <a:buFont typeface="Wingdings"/>
              <a:buChar char=""/>
            </a:pPr>
            <a:endParaRPr sz="1000">
              <a:latin typeface="Times New Roman"/>
              <a:cs typeface="Times New Roman"/>
            </a:endParaRPr>
          </a:p>
          <a:p>
            <a:pPr marL="155575">
              <a:lnSpc>
                <a:spcPct val="100000"/>
              </a:lnSpc>
            </a:pP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据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的模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型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。</a:t>
            </a:r>
            <a:endParaRPr sz="1000">
              <a:latin typeface="黑体"/>
              <a:cs typeface="黑体"/>
            </a:endParaRPr>
          </a:p>
          <a:p>
            <a:pPr marL="155575" marR="5080" indent="-142875">
              <a:lnSpc>
                <a:spcPct val="200000"/>
              </a:lnSpc>
              <a:buFont typeface="Wingdings"/>
              <a:buChar char=""/>
              <a:tabLst>
                <a:tab pos="15621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据增</a:t>
            </a:r>
            <a:r>
              <a:rPr sz="1000" spc="10" dirty="0">
                <a:solidFill>
                  <a:srgbClr val="FF0000"/>
                </a:solidFill>
                <a:latin typeface="黑体"/>
                <a:cs typeface="黑体"/>
              </a:rPr>
              <a:t>强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：是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从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现有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的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训练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样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本中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生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成更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多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的训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练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数据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，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其方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法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是利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用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多种能 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够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生成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可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信图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像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的随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机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变换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来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增加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样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本。</a:t>
            </a:r>
            <a:endParaRPr sz="1000">
              <a:latin typeface="黑体"/>
              <a:cs typeface="黑体"/>
            </a:endParaRPr>
          </a:p>
          <a:p>
            <a:pPr marL="155575" marR="5080" indent="-142875">
              <a:lnSpc>
                <a:spcPct val="200000"/>
              </a:lnSpc>
              <a:buFont typeface="Wingdings"/>
              <a:buChar char=""/>
              <a:tabLst>
                <a:tab pos="156210" algn="l"/>
              </a:tabLst>
            </a:pP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数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据增</a:t>
            </a:r>
            <a:r>
              <a:rPr sz="1000" spc="5" dirty="0">
                <a:solidFill>
                  <a:srgbClr val="FF0000"/>
                </a:solidFill>
                <a:latin typeface="黑体"/>
                <a:cs typeface="黑体"/>
              </a:rPr>
              <a:t>强</a:t>
            </a:r>
            <a:r>
              <a:rPr sz="1000" spc="-5" dirty="0">
                <a:solidFill>
                  <a:srgbClr val="FF0000"/>
                </a:solidFill>
                <a:latin typeface="黑体"/>
                <a:cs typeface="黑体"/>
              </a:rPr>
              <a:t>的目</a:t>
            </a:r>
            <a:r>
              <a:rPr sz="1000" spc="10" dirty="0">
                <a:solidFill>
                  <a:srgbClr val="FF0000"/>
                </a:solidFill>
                <a:latin typeface="黑体"/>
                <a:cs typeface="黑体"/>
              </a:rPr>
              <a:t>标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：模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型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在训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练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时不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会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两次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查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看完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全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相同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的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图像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。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这让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模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型能够 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观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察到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数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据的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更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多内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容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，从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而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具有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更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好的</a:t>
            </a:r>
            <a:r>
              <a:rPr sz="1000" spc="5" dirty="0">
                <a:solidFill>
                  <a:srgbClr val="231F20"/>
                </a:solidFill>
                <a:latin typeface="黑体"/>
                <a:cs typeface="黑体"/>
              </a:rPr>
              <a:t>泛</a:t>
            </a:r>
            <a:r>
              <a:rPr sz="1000" spc="-5" dirty="0">
                <a:solidFill>
                  <a:srgbClr val="231F20"/>
                </a:solidFill>
                <a:latin typeface="黑体"/>
                <a:cs typeface="黑体"/>
              </a:rPr>
              <a:t>化能力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42028" y="1121807"/>
            <a:ext cx="766572" cy="1234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37456" y="1117235"/>
            <a:ext cx="775970" cy="1243965"/>
          </a:xfrm>
          <a:custGeom>
            <a:avLst/>
            <a:gdLst/>
            <a:ahLst/>
            <a:cxnLst/>
            <a:rect l="l" t="t" r="r" b="b"/>
            <a:pathLst>
              <a:path w="775969" h="1243964">
                <a:moveTo>
                  <a:pt x="0" y="1243583"/>
                </a:moveTo>
                <a:lnTo>
                  <a:pt x="775716" y="1243583"/>
                </a:lnTo>
                <a:lnTo>
                  <a:pt x="775716" y="0"/>
                </a:lnTo>
                <a:lnTo>
                  <a:pt x="0" y="0"/>
                </a:lnTo>
                <a:lnTo>
                  <a:pt x="0" y="124358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57964" y="1121807"/>
            <a:ext cx="765378" cy="1234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2668" y="1117235"/>
            <a:ext cx="775970" cy="1243965"/>
          </a:xfrm>
          <a:custGeom>
            <a:avLst/>
            <a:gdLst/>
            <a:ahLst/>
            <a:cxnLst/>
            <a:rect l="l" t="t" r="r" b="b"/>
            <a:pathLst>
              <a:path w="775970" h="1243964">
                <a:moveTo>
                  <a:pt x="0" y="1243583"/>
                </a:moveTo>
                <a:lnTo>
                  <a:pt x="775715" y="1243583"/>
                </a:lnTo>
                <a:lnTo>
                  <a:pt x="775715" y="0"/>
                </a:lnTo>
                <a:lnTo>
                  <a:pt x="0" y="0"/>
                </a:lnTo>
                <a:lnTo>
                  <a:pt x="0" y="124358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25948" y="1739027"/>
            <a:ext cx="256540" cy="0"/>
          </a:xfrm>
          <a:custGeom>
            <a:avLst/>
            <a:gdLst/>
            <a:ahLst/>
            <a:cxnLst/>
            <a:rect l="l" t="t" r="r" b="b"/>
            <a:pathLst>
              <a:path w="256539">
                <a:moveTo>
                  <a:pt x="0" y="0"/>
                </a:moveTo>
                <a:lnTo>
                  <a:pt x="256031" y="0"/>
                </a:lnTo>
              </a:path>
            </a:pathLst>
          </a:custGeom>
          <a:ln w="9525">
            <a:solidFill>
              <a:srgbClr val="6363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81980" y="172378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80">
                <a:moveTo>
                  <a:pt x="0" y="0"/>
                </a:moveTo>
                <a:lnTo>
                  <a:pt x="0" y="30479"/>
                </a:lnTo>
                <a:lnTo>
                  <a:pt x="42672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81980" y="172378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80">
                <a:moveTo>
                  <a:pt x="0" y="0"/>
                </a:moveTo>
                <a:lnTo>
                  <a:pt x="42672" y="15240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363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55820" y="149622"/>
            <a:ext cx="20085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样本</a:t>
            </a:r>
            <a:r>
              <a:rPr spc="-10" dirty="0"/>
              <a:t>增</a:t>
            </a:r>
            <a:r>
              <a:rPr spc="5" dirty="0"/>
              <a:t>强</a:t>
            </a:r>
            <a:r>
              <a:rPr spc="-10" dirty="0"/>
              <a:t>——</a:t>
            </a:r>
            <a:r>
              <a:rPr spc="5" dirty="0"/>
              <a:t>翻转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9091" y="889380"/>
            <a:ext cx="851915" cy="13731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54519" y="884808"/>
            <a:ext cx="861060" cy="1384300"/>
          </a:xfrm>
          <a:custGeom>
            <a:avLst/>
            <a:gdLst/>
            <a:ahLst/>
            <a:cxnLst/>
            <a:rect l="l" t="t" r="r" b="b"/>
            <a:pathLst>
              <a:path w="861060" h="1384300">
                <a:moveTo>
                  <a:pt x="0" y="1383791"/>
                </a:moveTo>
                <a:lnTo>
                  <a:pt x="861060" y="1383791"/>
                </a:lnTo>
                <a:lnTo>
                  <a:pt x="861060" y="0"/>
                </a:lnTo>
                <a:lnTo>
                  <a:pt x="0" y="0"/>
                </a:lnTo>
                <a:lnTo>
                  <a:pt x="0" y="1383791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07860" y="939672"/>
            <a:ext cx="754380" cy="847725"/>
          </a:xfrm>
          <a:custGeom>
            <a:avLst/>
            <a:gdLst/>
            <a:ahLst/>
            <a:cxnLst/>
            <a:rect l="l" t="t" r="r" b="b"/>
            <a:pathLst>
              <a:path w="754379" h="847725">
                <a:moveTo>
                  <a:pt x="0" y="847344"/>
                </a:moveTo>
                <a:lnTo>
                  <a:pt x="754379" y="847344"/>
                </a:lnTo>
                <a:lnTo>
                  <a:pt x="754379" y="0"/>
                </a:lnTo>
                <a:lnTo>
                  <a:pt x="0" y="0"/>
                </a:lnTo>
                <a:lnTo>
                  <a:pt x="0" y="84734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1867" y="884808"/>
            <a:ext cx="754380" cy="847725"/>
          </a:xfrm>
          <a:custGeom>
            <a:avLst/>
            <a:gdLst/>
            <a:ahLst/>
            <a:cxnLst/>
            <a:rect l="l" t="t" r="r" b="b"/>
            <a:pathLst>
              <a:path w="754379" h="847725">
                <a:moveTo>
                  <a:pt x="0" y="847344"/>
                </a:moveTo>
                <a:lnTo>
                  <a:pt x="754379" y="847344"/>
                </a:lnTo>
                <a:lnTo>
                  <a:pt x="754379" y="0"/>
                </a:lnTo>
                <a:lnTo>
                  <a:pt x="0" y="0"/>
                </a:lnTo>
                <a:lnTo>
                  <a:pt x="0" y="84734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45960" y="970152"/>
            <a:ext cx="754380" cy="845819"/>
          </a:xfrm>
          <a:custGeom>
            <a:avLst/>
            <a:gdLst/>
            <a:ahLst/>
            <a:cxnLst/>
            <a:rect l="l" t="t" r="r" b="b"/>
            <a:pathLst>
              <a:path w="754379" h="845819">
                <a:moveTo>
                  <a:pt x="0" y="845819"/>
                </a:moveTo>
                <a:lnTo>
                  <a:pt x="754379" y="845819"/>
                </a:lnTo>
                <a:lnTo>
                  <a:pt x="754379" y="0"/>
                </a:lnTo>
                <a:lnTo>
                  <a:pt x="0" y="0"/>
                </a:lnTo>
                <a:lnTo>
                  <a:pt x="0" y="845819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69760" y="932052"/>
            <a:ext cx="754380" cy="845819"/>
          </a:xfrm>
          <a:custGeom>
            <a:avLst/>
            <a:gdLst/>
            <a:ahLst/>
            <a:cxnLst/>
            <a:rect l="l" t="t" r="r" b="b"/>
            <a:pathLst>
              <a:path w="754379" h="845819">
                <a:moveTo>
                  <a:pt x="0" y="845819"/>
                </a:moveTo>
                <a:lnTo>
                  <a:pt x="754379" y="845819"/>
                </a:lnTo>
                <a:lnTo>
                  <a:pt x="754379" y="0"/>
                </a:lnTo>
                <a:lnTo>
                  <a:pt x="0" y="0"/>
                </a:lnTo>
                <a:lnTo>
                  <a:pt x="0" y="845819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45960" y="1342008"/>
            <a:ext cx="754380" cy="847725"/>
          </a:xfrm>
          <a:custGeom>
            <a:avLst/>
            <a:gdLst/>
            <a:ahLst/>
            <a:cxnLst/>
            <a:rect l="l" t="t" r="r" b="b"/>
            <a:pathLst>
              <a:path w="754379" h="847725">
                <a:moveTo>
                  <a:pt x="0" y="847344"/>
                </a:moveTo>
                <a:lnTo>
                  <a:pt x="754379" y="847344"/>
                </a:lnTo>
                <a:lnTo>
                  <a:pt x="754379" y="0"/>
                </a:lnTo>
                <a:lnTo>
                  <a:pt x="0" y="0"/>
                </a:lnTo>
                <a:lnTo>
                  <a:pt x="0" y="84734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80428" y="1375536"/>
            <a:ext cx="662940" cy="745490"/>
          </a:xfrm>
          <a:custGeom>
            <a:avLst/>
            <a:gdLst/>
            <a:ahLst/>
            <a:cxnLst/>
            <a:rect l="l" t="t" r="r" b="b"/>
            <a:pathLst>
              <a:path w="662939" h="745489">
                <a:moveTo>
                  <a:pt x="0" y="745236"/>
                </a:moveTo>
                <a:lnTo>
                  <a:pt x="662939" y="745236"/>
                </a:lnTo>
                <a:lnTo>
                  <a:pt x="662939" y="0"/>
                </a:lnTo>
                <a:lnTo>
                  <a:pt x="0" y="0"/>
                </a:lnTo>
                <a:lnTo>
                  <a:pt x="0" y="7452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18431" y="203072"/>
            <a:ext cx="2884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样本增强——随机缩放&amp;抠图</a:t>
            </a:r>
            <a:endParaRPr sz="1800"/>
          </a:p>
        </p:txBody>
      </p:sp>
      <p:sp>
        <p:nvSpPr>
          <p:cNvPr id="11" name="object 11"/>
          <p:cNvSpPr txBox="1"/>
          <p:nvPr/>
        </p:nvSpPr>
        <p:spPr>
          <a:xfrm>
            <a:off x="499841" y="515137"/>
            <a:ext cx="3625850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 marR="1518285">
              <a:lnSpc>
                <a:spcPct val="150000"/>
              </a:lnSpc>
              <a:spcBef>
                <a:spcPts val="100"/>
              </a:spcBef>
            </a:pPr>
            <a:r>
              <a:rPr sz="1000" b="1" dirty="0">
                <a:latin typeface="黑体"/>
                <a:cs typeface="黑体"/>
              </a:rPr>
              <a:t>以残差网络中的样本</a:t>
            </a:r>
            <a:r>
              <a:rPr sz="1000" b="1" spc="-10" dirty="0">
                <a:latin typeface="黑体"/>
                <a:cs typeface="黑体"/>
              </a:rPr>
              <a:t>增</a:t>
            </a:r>
            <a:r>
              <a:rPr sz="1000" b="1" dirty="0">
                <a:latin typeface="黑体"/>
                <a:cs typeface="黑体"/>
              </a:rPr>
              <a:t>强</a:t>
            </a:r>
            <a:r>
              <a:rPr sz="1000" b="1" spc="-10" dirty="0">
                <a:latin typeface="黑体"/>
                <a:cs typeface="黑体"/>
              </a:rPr>
              <a:t>方</a:t>
            </a:r>
            <a:r>
              <a:rPr sz="1000" b="1" dirty="0">
                <a:latin typeface="黑体"/>
                <a:cs typeface="黑体"/>
              </a:rPr>
              <a:t>法为例 输入要求：224x224的彩</a:t>
            </a:r>
            <a:r>
              <a:rPr sz="1000" b="1" spc="-10" dirty="0">
                <a:latin typeface="黑体"/>
                <a:cs typeface="黑体"/>
              </a:rPr>
              <a:t>色</a:t>
            </a:r>
            <a:r>
              <a:rPr sz="1000" b="1" dirty="0">
                <a:latin typeface="黑体"/>
                <a:cs typeface="黑体"/>
              </a:rPr>
              <a:t>图</a:t>
            </a:r>
            <a:r>
              <a:rPr sz="1000" b="1" spc="-10" dirty="0">
                <a:latin typeface="黑体"/>
                <a:cs typeface="黑体"/>
              </a:rPr>
              <a:t>片</a:t>
            </a:r>
            <a:endParaRPr sz="1000">
              <a:latin typeface="黑体"/>
              <a:cs typeface="黑体"/>
            </a:endParaRPr>
          </a:p>
          <a:p>
            <a:pPr marL="181610">
              <a:lnSpc>
                <a:spcPct val="100000"/>
              </a:lnSpc>
              <a:spcBef>
                <a:spcPts val="600"/>
              </a:spcBef>
            </a:pPr>
            <a:r>
              <a:rPr sz="1000" b="1" dirty="0">
                <a:latin typeface="黑体"/>
                <a:cs typeface="黑体"/>
              </a:rPr>
              <a:t>训练阶段</a:t>
            </a:r>
            <a:r>
              <a:rPr sz="1000" spc="-5" dirty="0">
                <a:latin typeface="黑体"/>
                <a:cs typeface="黑体"/>
              </a:rPr>
              <a:t>:</a:t>
            </a:r>
            <a:r>
              <a:rPr sz="1000" spc="-1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在</a:t>
            </a:r>
            <a:r>
              <a:rPr sz="1000" spc="5" dirty="0">
                <a:latin typeface="黑体"/>
                <a:cs typeface="黑体"/>
              </a:rPr>
              <a:t>不</a:t>
            </a:r>
            <a:r>
              <a:rPr sz="1000" spc="-5" dirty="0">
                <a:latin typeface="黑体"/>
                <a:cs typeface="黑体"/>
              </a:rPr>
              <a:t>同尺</a:t>
            </a:r>
            <a:r>
              <a:rPr sz="1000" spc="5" dirty="0">
                <a:latin typeface="黑体"/>
                <a:cs typeface="黑体"/>
              </a:rPr>
              <a:t>度</a:t>
            </a:r>
            <a:r>
              <a:rPr sz="1000" spc="-5" dirty="0">
                <a:latin typeface="黑体"/>
                <a:cs typeface="黑体"/>
              </a:rPr>
              <a:t>、不</a:t>
            </a:r>
            <a:r>
              <a:rPr sz="1000" spc="5" dirty="0">
                <a:latin typeface="黑体"/>
                <a:cs typeface="黑体"/>
              </a:rPr>
              <a:t>同</a:t>
            </a:r>
            <a:r>
              <a:rPr sz="1000" spc="-5" dirty="0">
                <a:latin typeface="黑体"/>
                <a:cs typeface="黑体"/>
              </a:rPr>
              <a:t>区域</a:t>
            </a:r>
            <a:r>
              <a:rPr sz="1000" spc="5" dirty="0">
                <a:latin typeface="黑体"/>
                <a:cs typeface="黑体"/>
              </a:rPr>
              <a:t>随</a:t>
            </a:r>
            <a:r>
              <a:rPr sz="1000" spc="-5" dirty="0">
                <a:latin typeface="黑体"/>
                <a:cs typeface="黑体"/>
              </a:rPr>
              <a:t>机扣取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在</a:t>
            </a:r>
            <a:r>
              <a:rPr sz="1000" spc="-5" dirty="0">
                <a:latin typeface="黑体"/>
                <a:cs typeface="黑体"/>
              </a:rPr>
              <a:t>[256,</a:t>
            </a:r>
            <a:r>
              <a:rPr sz="1000" spc="-1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480]</a:t>
            </a:r>
            <a:r>
              <a:rPr sz="1000" spc="5" dirty="0">
                <a:latin typeface="黑体"/>
                <a:cs typeface="黑体"/>
              </a:rPr>
              <a:t>之</a:t>
            </a:r>
            <a:r>
              <a:rPr sz="1000" spc="-5" dirty="0">
                <a:latin typeface="黑体"/>
                <a:cs typeface="黑体"/>
              </a:rPr>
              <a:t>间随</a:t>
            </a:r>
            <a:r>
              <a:rPr sz="1000" spc="5" dirty="0">
                <a:latin typeface="黑体"/>
                <a:cs typeface="黑体"/>
              </a:rPr>
              <a:t>机</a:t>
            </a:r>
            <a:r>
              <a:rPr sz="1000" spc="-5" dirty="0">
                <a:latin typeface="黑体"/>
                <a:cs typeface="黑体"/>
              </a:rPr>
              <a:t>选择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spc="-5" dirty="0">
                <a:latin typeface="黑体"/>
                <a:cs typeface="黑体"/>
              </a:rPr>
              <a:t>个尺</a:t>
            </a:r>
            <a:r>
              <a:rPr sz="1000" spc="10" dirty="0">
                <a:latin typeface="黑体"/>
                <a:cs typeface="黑体"/>
              </a:rPr>
              <a:t>寸</a:t>
            </a:r>
            <a:r>
              <a:rPr sz="1000" spc="-5" dirty="0">
                <a:latin typeface="黑体"/>
                <a:cs typeface="黑体"/>
              </a:rPr>
              <a:t>L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185420" algn="l"/>
              </a:tabLst>
            </a:pPr>
            <a:r>
              <a:rPr sz="1000" dirty="0">
                <a:latin typeface="黑体"/>
                <a:cs typeface="黑体"/>
              </a:rPr>
              <a:t>将</a:t>
            </a:r>
            <a:r>
              <a:rPr sz="1000" spc="-5" dirty="0">
                <a:latin typeface="黑体"/>
                <a:cs typeface="黑体"/>
              </a:rPr>
              <a:t>训</a:t>
            </a:r>
            <a:r>
              <a:rPr sz="1000" spc="-10" dirty="0">
                <a:latin typeface="黑体"/>
                <a:cs typeface="黑体"/>
              </a:rPr>
              <a:t>练</a:t>
            </a:r>
            <a:r>
              <a:rPr sz="1000" dirty="0">
                <a:latin typeface="黑体"/>
                <a:cs typeface="黑体"/>
              </a:rPr>
              <a:t>样</a:t>
            </a:r>
            <a:r>
              <a:rPr sz="1000" spc="-5" dirty="0">
                <a:latin typeface="黑体"/>
                <a:cs typeface="黑体"/>
              </a:rPr>
              <a:t>本</a:t>
            </a:r>
            <a:r>
              <a:rPr sz="1000" spc="-10" dirty="0">
                <a:latin typeface="黑体"/>
                <a:cs typeface="黑体"/>
              </a:rPr>
              <a:t>缩</a:t>
            </a:r>
            <a:r>
              <a:rPr sz="1000" dirty="0">
                <a:latin typeface="黑体"/>
                <a:cs typeface="黑体"/>
              </a:rPr>
              <a:t>放</a:t>
            </a:r>
            <a:r>
              <a:rPr sz="1000" spc="-5" dirty="0">
                <a:latin typeface="黑体"/>
                <a:cs typeface="黑体"/>
              </a:rPr>
              <a:t>至</a:t>
            </a:r>
            <a:r>
              <a:rPr sz="1000" spc="-10" dirty="0">
                <a:latin typeface="黑体"/>
                <a:cs typeface="黑体"/>
              </a:rPr>
              <a:t>短</a:t>
            </a:r>
            <a:r>
              <a:rPr sz="1000" spc="-5" dirty="0">
                <a:latin typeface="黑体"/>
                <a:cs typeface="黑体"/>
              </a:rPr>
              <a:t>边</a:t>
            </a:r>
            <a:r>
              <a:rPr sz="1000" spc="1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= L</a:t>
            </a:r>
            <a:endParaRPr sz="1000">
              <a:latin typeface="黑体"/>
              <a:cs typeface="黑体"/>
            </a:endParaRPr>
          </a:p>
          <a:p>
            <a:pPr marL="184785" indent="-172085">
              <a:lnSpc>
                <a:spcPct val="100000"/>
              </a:lnSpc>
              <a:spcBef>
                <a:spcPts val="655"/>
              </a:spcBef>
              <a:buAutoNum type="arabicPeriod"/>
              <a:tabLst>
                <a:tab pos="185420" algn="l"/>
              </a:tabLst>
            </a:pPr>
            <a:r>
              <a:rPr sz="1000" spc="5" dirty="0">
                <a:latin typeface="黑体"/>
                <a:cs typeface="黑体"/>
              </a:rPr>
              <a:t>在</a:t>
            </a:r>
            <a:r>
              <a:rPr sz="1000" spc="-5" dirty="0">
                <a:latin typeface="黑体"/>
                <a:cs typeface="黑体"/>
              </a:rPr>
              <a:t>该样</a:t>
            </a:r>
            <a:r>
              <a:rPr sz="1000" spc="5" dirty="0">
                <a:latin typeface="黑体"/>
                <a:cs typeface="黑体"/>
              </a:rPr>
              <a:t>本</a:t>
            </a:r>
            <a:r>
              <a:rPr sz="1000" spc="-5" dirty="0">
                <a:latin typeface="黑体"/>
                <a:cs typeface="黑体"/>
              </a:rPr>
              <a:t>上随</a:t>
            </a:r>
            <a:r>
              <a:rPr sz="1000" spc="5" dirty="0">
                <a:latin typeface="黑体"/>
                <a:cs typeface="黑体"/>
              </a:rPr>
              <a:t>机</a:t>
            </a:r>
            <a:r>
              <a:rPr sz="1000" spc="-5" dirty="0">
                <a:latin typeface="黑体"/>
                <a:cs typeface="黑体"/>
              </a:rPr>
              <a:t>采样</a:t>
            </a:r>
            <a:r>
              <a:rPr sz="1000" spc="5" dirty="0">
                <a:latin typeface="黑体"/>
                <a:cs typeface="黑体"/>
              </a:rPr>
              <a:t>一</a:t>
            </a:r>
            <a:r>
              <a:rPr sz="1000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224</a:t>
            </a:r>
            <a:r>
              <a:rPr sz="100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x</a:t>
            </a:r>
            <a:r>
              <a:rPr sz="1000" spc="-10" dirty="0">
                <a:latin typeface="黑体"/>
                <a:cs typeface="黑体"/>
              </a:rPr>
              <a:t> </a:t>
            </a:r>
            <a:r>
              <a:rPr sz="1000" dirty="0">
                <a:latin typeface="黑体"/>
                <a:cs typeface="黑体"/>
              </a:rPr>
              <a:t>224</a:t>
            </a:r>
            <a:r>
              <a:rPr sz="1000" spc="-5" dirty="0">
                <a:latin typeface="黑体"/>
                <a:cs typeface="黑体"/>
              </a:rPr>
              <a:t>的</a:t>
            </a:r>
            <a:r>
              <a:rPr sz="1000" spc="5" dirty="0">
                <a:latin typeface="黑体"/>
                <a:cs typeface="黑体"/>
              </a:rPr>
              <a:t>图</a:t>
            </a:r>
            <a:r>
              <a:rPr sz="1000" spc="-5" dirty="0">
                <a:latin typeface="黑体"/>
                <a:cs typeface="黑体"/>
              </a:rPr>
              <a:t>像区域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L="181610">
              <a:lnSpc>
                <a:spcPct val="100000"/>
              </a:lnSpc>
            </a:pPr>
            <a:r>
              <a:rPr sz="1000" b="1" dirty="0">
                <a:latin typeface="黑体"/>
                <a:cs typeface="黑体"/>
              </a:rPr>
              <a:t>测试阶段</a:t>
            </a:r>
            <a:r>
              <a:rPr sz="1000" spc="-5" dirty="0">
                <a:latin typeface="黑体"/>
                <a:cs typeface="黑体"/>
              </a:rPr>
              <a:t>:</a:t>
            </a:r>
            <a:r>
              <a:rPr sz="1000" spc="-1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按</a:t>
            </a:r>
            <a:r>
              <a:rPr sz="1000" spc="5" dirty="0">
                <a:latin typeface="黑体"/>
                <a:cs typeface="黑体"/>
              </a:rPr>
              <a:t>照</a:t>
            </a:r>
            <a:r>
              <a:rPr sz="1000" spc="-5" dirty="0">
                <a:latin typeface="黑体"/>
                <a:cs typeface="黑体"/>
              </a:rPr>
              <a:t>一套</a:t>
            </a:r>
            <a:r>
              <a:rPr sz="1000" spc="5" dirty="0">
                <a:latin typeface="黑体"/>
                <a:cs typeface="黑体"/>
              </a:rPr>
              <a:t>预</a:t>
            </a:r>
            <a:r>
              <a:rPr sz="1000" spc="-5" dirty="0">
                <a:latin typeface="黑体"/>
                <a:cs typeface="黑体"/>
              </a:rPr>
              <a:t>先定</a:t>
            </a:r>
            <a:r>
              <a:rPr sz="1000" spc="5" dirty="0">
                <a:latin typeface="黑体"/>
                <a:cs typeface="黑体"/>
              </a:rPr>
              <a:t>义</a:t>
            </a:r>
            <a:r>
              <a:rPr sz="1000" spc="-5" dirty="0">
                <a:latin typeface="黑体"/>
                <a:cs typeface="黑体"/>
              </a:rPr>
              <a:t>的方</a:t>
            </a:r>
            <a:r>
              <a:rPr sz="1000" spc="5" dirty="0">
                <a:latin typeface="黑体"/>
                <a:cs typeface="黑体"/>
              </a:rPr>
              <a:t>式</a:t>
            </a:r>
            <a:r>
              <a:rPr sz="1000" spc="-5" dirty="0">
                <a:latin typeface="黑体"/>
                <a:cs typeface="黑体"/>
              </a:rPr>
              <a:t>扣取</a:t>
            </a:r>
            <a:endParaRPr sz="10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黑体"/>
                <a:cs typeface="黑体"/>
              </a:rPr>
              <a:t>1.</a:t>
            </a:r>
            <a:r>
              <a:rPr sz="1000" spc="-150" dirty="0">
                <a:latin typeface="黑体"/>
                <a:cs typeface="黑体"/>
              </a:rPr>
              <a:t> </a:t>
            </a:r>
            <a:r>
              <a:rPr sz="1000" spc="5" dirty="0">
                <a:latin typeface="黑体"/>
                <a:cs typeface="黑体"/>
              </a:rPr>
              <a:t>将图像缩放</a:t>
            </a:r>
            <a:r>
              <a:rPr sz="1000" spc="-10" dirty="0">
                <a:latin typeface="黑体"/>
                <a:cs typeface="黑体"/>
              </a:rPr>
              <a:t>成</a:t>
            </a:r>
            <a:r>
              <a:rPr sz="1000" dirty="0">
                <a:latin typeface="黑体"/>
                <a:cs typeface="黑体"/>
              </a:rPr>
              <a:t>5</a:t>
            </a:r>
            <a:r>
              <a:rPr sz="1000" spc="-5" dirty="0">
                <a:latin typeface="黑体"/>
                <a:cs typeface="黑体"/>
              </a:rPr>
              <a:t>种尺</a:t>
            </a:r>
            <a:r>
              <a:rPr sz="1000" spc="10" dirty="0">
                <a:latin typeface="黑体"/>
                <a:cs typeface="黑体"/>
              </a:rPr>
              <a:t>寸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2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{224, 256,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384,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480,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640}</a:t>
            </a:r>
            <a:endParaRPr sz="1000">
              <a:latin typeface="Arial"/>
              <a:cs typeface="Arial"/>
            </a:endParaRPr>
          </a:p>
          <a:p>
            <a:pPr marL="184785" marR="5080" indent="-172720">
              <a:lnSpc>
                <a:spcPct val="150000"/>
              </a:lnSpc>
              <a:spcBef>
                <a:spcPts val="60"/>
              </a:spcBef>
            </a:pPr>
            <a:r>
              <a:rPr sz="1000" dirty="0">
                <a:latin typeface="黑体"/>
                <a:cs typeface="黑体"/>
              </a:rPr>
              <a:t>2.</a:t>
            </a:r>
            <a:r>
              <a:rPr sz="1000" spc="-215" dirty="0">
                <a:latin typeface="黑体"/>
                <a:cs typeface="黑体"/>
              </a:rPr>
              <a:t> </a:t>
            </a:r>
            <a:r>
              <a:rPr sz="1000" spc="5" dirty="0">
                <a:latin typeface="黑体"/>
                <a:cs typeface="黑体"/>
              </a:rPr>
              <a:t>对</a:t>
            </a:r>
            <a:r>
              <a:rPr sz="1000" spc="-5" dirty="0">
                <a:latin typeface="黑体"/>
                <a:cs typeface="黑体"/>
              </a:rPr>
              <a:t>每一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尺度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图像</a:t>
            </a:r>
            <a:r>
              <a:rPr sz="1000" spc="5" dirty="0">
                <a:latin typeface="黑体"/>
                <a:cs typeface="黑体"/>
              </a:rPr>
              <a:t>及</a:t>
            </a:r>
            <a:r>
              <a:rPr sz="1000" spc="-5" dirty="0">
                <a:latin typeface="黑体"/>
                <a:cs typeface="黑体"/>
              </a:rPr>
              <a:t>其镜</a:t>
            </a:r>
            <a:r>
              <a:rPr sz="1000" spc="5" dirty="0">
                <a:latin typeface="黑体"/>
                <a:cs typeface="黑体"/>
              </a:rPr>
              <a:t>像</a:t>
            </a:r>
            <a:r>
              <a:rPr sz="1000" spc="-5" dirty="0">
                <a:latin typeface="黑体"/>
                <a:cs typeface="黑体"/>
              </a:rPr>
              <a:t>图像</a:t>
            </a:r>
            <a:r>
              <a:rPr sz="1000" spc="5" dirty="0">
                <a:latin typeface="黑体"/>
                <a:cs typeface="黑体"/>
              </a:rPr>
              <a:t>，</a:t>
            </a:r>
            <a:r>
              <a:rPr sz="1000" spc="-5" dirty="0">
                <a:latin typeface="黑体"/>
                <a:cs typeface="黑体"/>
              </a:rPr>
              <a:t>分别</a:t>
            </a:r>
            <a:r>
              <a:rPr sz="1000" spc="5" dirty="0">
                <a:latin typeface="黑体"/>
                <a:cs typeface="黑体"/>
              </a:rPr>
              <a:t>在</a:t>
            </a:r>
            <a:r>
              <a:rPr sz="1000" spc="-5" dirty="0">
                <a:latin typeface="黑体"/>
                <a:cs typeface="黑体"/>
              </a:rPr>
              <a:t>其四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角及</a:t>
            </a:r>
            <a:r>
              <a:rPr sz="1000" spc="5" dirty="0">
                <a:latin typeface="黑体"/>
                <a:cs typeface="黑体"/>
              </a:rPr>
              <a:t>中</a:t>
            </a:r>
            <a:r>
              <a:rPr sz="1000" spc="-5" dirty="0">
                <a:latin typeface="黑体"/>
                <a:cs typeface="黑体"/>
              </a:rPr>
              <a:t>间位 </a:t>
            </a:r>
            <a:r>
              <a:rPr sz="1000" spc="5" dirty="0">
                <a:latin typeface="黑体"/>
                <a:cs typeface="黑体"/>
              </a:rPr>
              <a:t>置</a:t>
            </a:r>
            <a:r>
              <a:rPr sz="1000" spc="-5" dirty="0">
                <a:latin typeface="黑体"/>
                <a:cs typeface="黑体"/>
              </a:rPr>
              <a:t>扣</a:t>
            </a:r>
            <a:r>
              <a:rPr sz="1000" spc="5" dirty="0">
                <a:latin typeface="黑体"/>
                <a:cs typeface="黑体"/>
              </a:rPr>
              <a:t>取</a:t>
            </a:r>
            <a:r>
              <a:rPr sz="1000" spc="-5" dirty="0">
                <a:latin typeface="黑体"/>
                <a:cs typeface="黑体"/>
              </a:rPr>
              <a:t>224</a:t>
            </a:r>
            <a:r>
              <a:rPr sz="1000" spc="-1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x</a:t>
            </a:r>
            <a:r>
              <a:rPr sz="1000" dirty="0">
                <a:latin typeface="黑体"/>
                <a:cs typeface="黑体"/>
              </a:rPr>
              <a:t> </a:t>
            </a:r>
            <a:r>
              <a:rPr sz="1000" spc="-10" dirty="0">
                <a:latin typeface="黑体"/>
                <a:cs typeface="黑体"/>
              </a:rPr>
              <a:t>224</a:t>
            </a:r>
            <a:r>
              <a:rPr sz="1000" spc="5" dirty="0">
                <a:latin typeface="黑体"/>
                <a:cs typeface="黑体"/>
              </a:rPr>
              <a:t>区</a:t>
            </a:r>
            <a:r>
              <a:rPr sz="1000" spc="-5" dirty="0">
                <a:latin typeface="黑体"/>
                <a:cs typeface="黑体"/>
              </a:rPr>
              <a:t>域，即</a:t>
            </a:r>
            <a:r>
              <a:rPr sz="1000" spc="5" dirty="0">
                <a:latin typeface="黑体"/>
                <a:cs typeface="黑体"/>
              </a:rPr>
              <a:t>可</a:t>
            </a:r>
            <a:r>
              <a:rPr sz="1000" spc="-5" dirty="0">
                <a:latin typeface="黑体"/>
                <a:cs typeface="黑体"/>
              </a:rPr>
              <a:t>获</a:t>
            </a:r>
            <a:r>
              <a:rPr sz="1000" spc="10" dirty="0">
                <a:latin typeface="黑体"/>
                <a:cs typeface="黑体"/>
              </a:rPr>
              <a:t>得</a:t>
            </a:r>
            <a:r>
              <a:rPr sz="1000" spc="-5" dirty="0">
                <a:latin typeface="黑体"/>
                <a:cs typeface="黑体"/>
              </a:rPr>
              <a:t>10个图像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39992" y="829199"/>
            <a:ext cx="603503" cy="9723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35419" y="824627"/>
            <a:ext cx="612775" cy="981710"/>
          </a:xfrm>
          <a:custGeom>
            <a:avLst/>
            <a:gdLst/>
            <a:ahLst/>
            <a:cxnLst/>
            <a:rect l="l" t="t" r="r" b="b"/>
            <a:pathLst>
              <a:path w="612775" h="981710">
                <a:moveTo>
                  <a:pt x="0" y="981455"/>
                </a:moveTo>
                <a:lnTo>
                  <a:pt x="612648" y="981455"/>
                </a:lnTo>
                <a:lnTo>
                  <a:pt x="612648" y="0"/>
                </a:lnTo>
                <a:lnTo>
                  <a:pt x="0" y="0"/>
                </a:lnTo>
                <a:lnTo>
                  <a:pt x="0" y="98145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61072" y="829199"/>
            <a:ext cx="601979" cy="972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56499" y="824627"/>
            <a:ext cx="611505" cy="981710"/>
          </a:xfrm>
          <a:custGeom>
            <a:avLst/>
            <a:gdLst/>
            <a:ahLst/>
            <a:cxnLst/>
            <a:rect l="l" t="t" r="r" b="b"/>
            <a:pathLst>
              <a:path w="611504" h="981710">
                <a:moveTo>
                  <a:pt x="0" y="981455"/>
                </a:moveTo>
                <a:lnTo>
                  <a:pt x="611124" y="981455"/>
                </a:lnTo>
                <a:lnTo>
                  <a:pt x="611124" y="0"/>
                </a:lnTo>
                <a:lnTo>
                  <a:pt x="0" y="0"/>
                </a:lnTo>
                <a:lnTo>
                  <a:pt x="0" y="98145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78548" y="1315355"/>
            <a:ext cx="289560" cy="0"/>
          </a:xfrm>
          <a:custGeom>
            <a:avLst/>
            <a:gdLst/>
            <a:ahLst/>
            <a:cxnLst/>
            <a:rect l="l" t="t" r="r" b="b"/>
            <a:pathLst>
              <a:path w="289560">
                <a:moveTo>
                  <a:pt x="0" y="0"/>
                </a:moveTo>
                <a:lnTo>
                  <a:pt x="289560" y="0"/>
                </a:lnTo>
              </a:path>
            </a:pathLst>
          </a:custGeom>
          <a:ln w="9525">
            <a:solidFill>
              <a:srgbClr val="6363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68107" y="1300115"/>
            <a:ext cx="44450" cy="30480"/>
          </a:xfrm>
          <a:custGeom>
            <a:avLst/>
            <a:gdLst/>
            <a:ahLst/>
            <a:cxnLst/>
            <a:rect l="l" t="t" r="r" b="b"/>
            <a:pathLst>
              <a:path w="44450" h="30480">
                <a:moveTo>
                  <a:pt x="0" y="0"/>
                </a:moveTo>
                <a:lnTo>
                  <a:pt x="0" y="30479"/>
                </a:lnTo>
                <a:lnTo>
                  <a:pt x="44195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68107" y="1300115"/>
            <a:ext cx="44450" cy="30480"/>
          </a:xfrm>
          <a:custGeom>
            <a:avLst/>
            <a:gdLst/>
            <a:ahLst/>
            <a:cxnLst/>
            <a:rect l="l" t="t" r="r" b="b"/>
            <a:pathLst>
              <a:path w="44450" h="30480">
                <a:moveTo>
                  <a:pt x="0" y="0"/>
                </a:moveTo>
                <a:lnTo>
                  <a:pt x="44195" y="15240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6363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908932" y="149622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样本</a:t>
            </a:r>
            <a:r>
              <a:rPr spc="-10" dirty="0"/>
              <a:t>增</a:t>
            </a:r>
            <a:r>
              <a:rPr spc="5" dirty="0"/>
              <a:t>强</a:t>
            </a:r>
            <a:r>
              <a:rPr spc="-10" dirty="0"/>
              <a:t>——</a:t>
            </a:r>
            <a:r>
              <a:rPr spc="5" dirty="0"/>
              <a:t>色彩</a:t>
            </a:r>
            <a:r>
              <a:rPr spc="-10" dirty="0"/>
              <a:t>抖</a:t>
            </a:r>
            <a:r>
              <a:rPr spc="5" dirty="0"/>
              <a:t>动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37458" y="1013349"/>
            <a:ext cx="2665730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黑体"/>
                <a:cs typeface="黑体"/>
              </a:rPr>
              <a:t>操作步骤：</a:t>
            </a:r>
            <a:endParaRPr sz="1000">
              <a:latin typeface="黑体"/>
              <a:cs typeface="黑体"/>
            </a:endParaRPr>
          </a:p>
          <a:p>
            <a:pPr marL="241300" marR="5080" indent="-228600">
              <a:lnSpc>
                <a:spcPts val="2400"/>
              </a:lnSpc>
              <a:spcBef>
                <a:spcPts val="280"/>
              </a:spcBef>
              <a:buAutoNum type="arabicPeriod"/>
              <a:tabLst>
                <a:tab pos="241300" algn="l"/>
              </a:tabLst>
            </a:pPr>
            <a:r>
              <a:rPr sz="1000" spc="5" dirty="0">
                <a:latin typeface="黑体"/>
                <a:cs typeface="黑体"/>
              </a:rPr>
              <a:t>利</a:t>
            </a:r>
            <a:r>
              <a:rPr sz="1000" spc="-5" dirty="0">
                <a:latin typeface="黑体"/>
                <a:cs typeface="黑体"/>
              </a:rPr>
              <a:t>用主</a:t>
            </a:r>
            <a:r>
              <a:rPr sz="1000" spc="5" dirty="0">
                <a:latin typeface="黑体"/>
                <a:cs typeface="黑体"/>
              </a:rPr>
              <a:t>成</a:t>
            </a:r>
            <a:r>
              <a:rPr sz="1000" spc="-5" dirty="0">
                <a:latin typeface="黑体"/>
                <a:cs typeface="黑体"/>
              </a:rPr>
              <a:t>分分</a:t>
            </a:r>
            <a:r>
              <a:rPr sz="1000" spc="5" dirty="0">
                <a:latin typeface="黑体"/>
                <a:cs typeface="黑体"/>
              </a:rPr>
              <a:t>析</a:t>
            </a:r>
            <a:r>
              <a:rPr sz="1000" spc="-5" dirty="0">
                <a:latin typeface="黑体"/>
                <a:cs typeface="黑体"/>
              </a:rPr>
              <a:t>方法</a:t>
            </a:r>
            <a:r>
              <a:rPr sz="1000" spc="5" dirty="0">
                <a:latin typeface="黑体"/>
                <a:cs typeface="黑体"/>
              </a:rPr>
              <a:t>提</a:t>
            </a:r>
            <a:r>
              <a:rPr sz="1000" spc="-5" dirty="0">
                <a:latin typeface="黑体"/>
                <a:cs typeface="黑体"/>
              </a:rPr>
              <a:t>取当</a:t>
            </a:r>
            <a:r>
              <a:rPr sz="1000" spc="5" dirty="0">
                <a:latin typeface="黑体"/>
                <a:cs typeface="黑体"/>
              </a:rPr>
              <a:t>前</a:t>
            </a:r>
            <a:r>
              <a:rPr sz="1000" spc="-5" dirty="0">
                <a:latin typeface="黑体"/>
                <a:cs typeface="黑体"/>
              </a:rPr>
              <a:t>图像</a:t>
            </a:r>
            <a:r>
              <a:rPr sz="1000" spc="5" dirty="0">
                <a:latin typeface="黑体"/>
                <a:cs typeface="黑体"/>
              </a:rPr>
              <a:t>的</a:t>
            </a:r>
            <a:r>
              <a:rPr sz="1000" spc="-5" dirty="0">
                <a:latin typeface="黑体"/>
                <a:cs typeface="黑体"/>
              </a:rPr>
              <a:t>色彩数 </a:t>
            </a:r>
            <a:r>
              <a:rPr sz="1000" spc="5" dirty="0">
                <a:latin typeface="黑体"/>
                <a:cs typeface="黑体"/>
              </a:rPr>
              <a:t>据</a:t>
            </a:r>
            <a:r>
              <a:rPr sz="1000" spc="-5" dirty="0">
                <a:latin typeface="黑体"/>
                <a:cs typeface="黑体"/>
              </a:rPr>
              <a:t>（[R</a:t>
            </a:r>
            <a:r>
              <a:rPr sz="1000" spc="-1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G</a:t>
            </a:r>
            <a:r>
              <a:rPr sz="1000" dirty="0">
                <a:latin typeface="黑体"/>
                <a:cs typeface="黑体"/>
              </a:rPr>
              <a:t> </a:t>
            </a:r>
            <a:r>
              <a:rPr sz="1000" spc="-5" dirty="0">
                <a:latin typeface="黑体"/>
                <a:cs typeface="黑体"/>
              </a:rPr>
              <a:t>B]）的</a:t>
            </a:r>
            <a:r>
              <a:rPr sz="1000" spc="5" dirty="0">
                <a:latin typeface="黑体"/>
                <a:cs typeface="黑体"/>
              </a:rPr>
              <a:t>主</a:t>
            </a:r>
            <a:r>
              <a:rPr sz="1000" spc="-5" dirty="0">
                <a:latin typeface="黑体"/>
                <a:cs typeface="黑体"/>
              </a:rPr>
              <a:t>轴；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buFont typeface=""/>
              <a:buAutoNum type="arabicPeriod"/>
            </a:pPr>
            <a:endParaRPr sz="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sz="1000" spc="5" dirty="0">
                <a:latin typeface="黑体"/>
                <a:cs typeface="黑体"/>
              </a:rPr>
              <a:t>沿</a:t>
            </a:r>
            <a:r>
              <a:rPr sz="1000" spc="-5" dirty="0">
                <a:latin typeface="黑体"/>
                <a:cs typeface="黑体"/>
              </a:rPr>
              <a:t>着主</a:t>
            </a:r>
            <a:r>
              <a:rPr sz="1000" spc="5" dirty="0">
                <a:latin typeface="黑体"/>
                <a:cs typeface="黑体"/>
              </a:rPr>
              <a:t>轴</a:t>
            </a:r>
            <a:r>
              <a:rPr sz="1000" spc="-5" dirty="0">
                <a:latin typeface="黑体"/>
                <a:cs typeface="黑体"/>
              </a:rPr>
              <a:t>方向</a:t>
            </a:r>
            <a:r>
              <a:rPr sz="1000" spc="5" dirty="0">
                <a:latin typeface="黑体"/>
                <a:cs typeface="黑体"/>
              </a:rPr>
              <a:t>随</a:t>
            </a:r>
            <a:r>
              <a:rPr sz="1000" spc="-5" dirty="0">
                <a:latin typeface="黑体"/>
                <a:cs typeface="黑体"/>
              </a:rPr>
              <a:t>机采</a:t>
            </a:r>
            <a:r>
              <a:rPr sz="1000" spc="5" dirty="0">
                <a:latin typeface="黑体"/>
                <a:cs typeface="黑体"/>
              </a:rPr>
              <a:t>样</a:t>
            </a:r>
            <a:r>
              <a:rPr sz="1000" spc="-5" dirty="0">
                <a:latin typeface="黑体"/>
                <a:cs typeface="黑体"/>
              </a:rPr>
              <a:t>一个</a:t>
            </a:r>
            <a:r>
              <a:rPr sz="1000" spc="5" dirty="0">
                <a:latin typeface="黑体"/>
                <a:cs typeface="黑体"/>
              </a:rPr>
              <a:t>偏</a:t>
            </a:r>
            <a:r>
              <a:rPr sz="1000" spc="-5" dirty="0">
                <a:latin typeface="黑体"/>
                <a:cs typeface="黑体"/>
              </a:rPr>
              <a:t>移；</a:t>
            </a:r>
            <a:endParaRPr sz="1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"/>
              <a:buAutoNum type="arabicPeriod"/>
            </a:pPr>
            <a:endParaRPr sz="1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sz="1000" spc="5" dirty="0">
                <a:latin typeface="黑体"/>
                <a:cs typeface="黑体"/>
              </a:rPr>
              <a:t>将</a:t>
            </a:r>
            <a:r>
              <a:rPr sz="1000" spc="-5" dirty="0">
                <a:latin typeface="黑体"/>
                <a:cs typeface="黑体"/>
              </a:rPr>
              <a:t>偏移</a:t>
            </a:r>
            <a:r>
              <a:rPr sz="1000" spc="5" dirty="0">
                <a:latin typeface="黑体"/>
                <a:cs typeface="黑体"/>
              </a:rPr>
              <a:t>量</a:t>
            </a:r>
            <a:r>
              <a:rPr sz="1000" spc="-5" dirty="0">
                <a:latin typeface="黑体"/>
                <a:cs typeface="黑体"/>
              </a:rPr>
              <a:t>加入</a:t>
            </a:r>
            <a:r>
              <a:rPr sz="1000" spc="5" dirty="0">
                <a:latin typeface="黑体"/>
                <a:cs typeface="黑体"/>
              </a:rPr>
              <a:t>当</a:t>
            </a:r>
            <a:r>
              <a:rPr sz="1000" spc="-5" dirty="0">
                <a:latin typeface="黑体"/>
                <a:cs typeface="黑体"/>
              </a:rPr>
              <a:t>前图</a:t>
            </a:r>
            <a:r>
              <a:rPr sz="1000" spc="5" dirty="0">
                <a:latin typeface="黑体"/>
                <a:cs typeface="黑体"/>
              </a:rPr>
              <a:t>像</a:t>
            </a:r>
            <a:r>
              <a:rPr sz="1000" spc="-5" dirty="0">
                <a:latin typeface="黑体"/>
                <a:cs typeface="黑体"/>
              </a:rPr>
              <a:t>的每</a:t>
            </a:r>
            <a:r>
              <a:rPr sz="1000" spc="5" dirty="0">
                <a:latin typeface="黑体"/>
                <a:cs typeface="黑体"/>
              </a:rPr>
              <a:t>个</a:t>
            </a:r>
            <a:r>
              <a:rPr sz="1000" spc="-5" dirty="0">
                <a:latin typeface="黑体"/>
                <a:cs typeface="黑体"/>
              </a:rPr>
              <a:t>像素。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2986" y="325947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6750" y="953515"/>
            <a:ext cx="2468880" cy="155575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200" dirty="0">
                <a:latin typeface="黑体"/>
                <a:cs typeface="黑体"/>
              </a:rPr>
              <a:t>随机联合下述操作</a:t>
            </a:r>
            <a:endParaRPr sz="1200">
              <a:latin typeface="黑体"/>
              <a:cs typeface="黑体"/>
            </a:endParaRPr>
          </a:p>
          <a:p>
            <a:pPr marL="384175" indent="-142875">
              <a:lnSpc>
                <a:spcPct val="100000"/>
              </a:lnSpc>
              <a:spcBef>
                <a:spcPts val="610"/>
              </a:spcBef>
              <a:buFont typeface="Wingdings"/>
              <a:buChar char=""/>
              <a:tabLst>
                <a:tab pos="384810" algn="l"/>
              </a:tabLst>
            </a:pPr>
            <a:r>
              <a:rPr sz="900" b="1" spc="5" dirty="0">
                <a:latin typeface="黑体"/>
                <a:cs typeface="黑体"/>
              </a:rPr>
              <a:t>平移</a:t>
            </a:r>
            <a:endParaRPr sz="900">
              <a:latin typeface="黑体"/>
              <a:cs typeface="黑体"/>
            </a:endParaRPr>
          </a:p>
          <a:p>
            <a:pPr marL="384175" indent="-142875">
              <a:lnSpc>
                <a:spcPct val="100000"/>
              </a:lnSpc>
              <a:spcBef>
                <a:spcPts val="540"/>
              </a:spcBef>
              <a:buFont typeface="Wingdings"/>
              <a:buChar char=""/>
              <a:tabLst>
                <a:tab pos="384810" algn="l"/>
              </a:tabLst>
            </a:pPr>
            <a:r>
              <a:rPr sz="900" b="1" spc="5" dirty="0">
                <a:latin typeface="黑体"/>
                <a:cs typeface="黑体"/>
              </a:rPr>
              <a:t>旋转</a:t>
            </a:r>
            <a:endParaRPr sz="900">
              <a:latin typeface="黑体"/>
              <a:cs typeface="黑体"/>
            </a:endParaRPr>
          </a:p>
          <a:p>
            <a:pPr marL="384175" indent="-142875">
              <a:lnSpc>
                <a:spcPct val="100000"/>
              </a:lnSpc>
              <a:spcBef>
                <a:spcPts val="540"/>
              </a:spcBef>
              <a:buFont typeface="Wingdings"/>
              <a:buChar char=""/>
              <a:tabLst>
                <a:tab pos="384810" algn="l"/>
              </a:tabLst>
            </a:pPr>
            <a:r>
              <a:rPr sz="900" b="1" spc="5" dirty="0">
                <a:latin typeface="黑体"/>
                <a:cs typeface="黑体"/>
              </a:rPr>
              <a:t>拉伸</a:t>
            </a:r>
            <a:endParaRPr sz="900">
              <a:latin typeface="黑体"/>
              <a:cs typeface="黑体"/>
            </a:endParaRPr>
          </a:p>
          <a:p>
            <a:pPr marL="384175" indent="-142875">
              <a:lnSpc>
                <a:spcPct val="100000"/>
              </a:lnSpc>
              <a:spcBef>
                <a:spcPts val="540"/>
              </a:spcBef>
              <a:buFont typeface="Wingdings"/>
              <a:buChar char=""/>
              <a:tabLst>
                <a:tab pos="384810" algn="l"/>
              </a:tabLst>
            </a:pPr>
            <a:r>
              <a:rPr sz="900" b="1" spc="5" dirty="0">
                <a:latin typeface="黑体"/>
                <a:cs typeface="黑体"/>
              </a:rPr>
              <a:t>径向</a:t>
            </a:r>
            <a:r>
              <a:rPr sz="900" b="1" spc="-5" dirty="0">
                <a:latin typeface="黑体"/>
                <a:cs typeface="黑体"/>
              </a:rPr>
              <a:t>畸</a:t>
            </a:r>
            <a:r>
              <a:rPr sz="900" b="1" spc="5" dirty="0">
                <a:latin typeface="黑体"/>
                <a:cs typeface="黑体"/>
              </a:rPr>
              <a:t>变</a:t>
            </a:r>
            <a:r>
              <a:rPr sz="900" b="1" spc="-5" dirty="0">
                <a:latin typeface="黑体"/>
                <a:cs typeface="黑体"/>
              </a:rPr>
              <a:t>（</a:t>
            </a:r>
            <a:r>
              <a:rPr sz="900" b="1" spc="5" dirty="0">
                <a:latin typeface="黑体"/>
                <a:cs typeface="黑体"/>
              </a:rPr>
              <a:t>相</a:t>
            </a:r>
            <a:r>
              <a:rPr sz="900" b="1" spc="-5" dirty="0">
                <a:latin typeface="黑体"/>
                <a:cs typeface="黑体"/>
              </a:rPr>
              <a:t>关</a:t>
            </a:r>
            <a:r>
              <a:rPr sz="900" b="1" spc="5" dirty="0">
                <a:latin typeface="黑体"/>
                <a:cs typeface="黑体"/>
              </a:rPr>
              <a:t>描</a:t>
            </a:r>
            <a:r>
              <a:rPr sz="900" b="1" spc="-5" dirty="0">
                <a:latin typeface="黑体"/>
                <a:cs typeface="黑体"/>
              </a:rPr>
              <a:t>述</a:t>
            </a:r>
            <a:r>
              <a:rPr sz="900" b="1" spc="5" dirty="0">
                <a:latin typeface="黑体"/>
                <a:cs typeface="黑体"/>
              </a:rPr>
              <a:t>见</a:t>
            </a:r>
            <a:r>
              <a:rPr sz="900" b="1" spc="-5" dirty="0">
                <a:latin typeface="黑体"/>
                <a:cs typeface="黑体"/>
              </a:rPr>
              <a:t>摄</a:t>
            </a:r>
            <a:r>
              <a:rPr sz="900" b="1" spc="5" dirty="0">
                <a:latin typeface="黑体"/>
                <a:cs typeface="黑体"/>
              </a:rPr>
              <a:t>像</a:t>
            </a:r>
            <a:r>
              <a:rPr sz="900" b="1" spc="-5" dirty="0">
                <a:latin typeface="黑体"/>
                <a:cs typeface="黑体"/>
              </a:rPr>
              <a:t>机</a:t>
            </a:r>
            <a:r>
              <a:rPr sz="900" b="1" spc="5" dirty="0">
                <a:latin typeface="黑体"/>
                <a:cs typeface="黑体"/>
              </a:rPr>
              <a:t>几何</a:t>
            </a:r>
            <a:r>
              <a:rPr sz="900" b="1" spc="-5" dirty="0">
                <a:latin typeface="黑体"/>
                <a:cs typeface="黑体"/>
              </a:rPr>
              <a:t>章</a:t>
            </a:r>
            <a:r>
              <a:rPr sz="900" b="1" spc="5" dirty="0">
                <a:latin typeface="黑体"/>
                <a:cs typeface="黑体"/>
              </a:rPr>
              <a:t>节</a:t>
            </a:r>
            <a:r>
              <a:rPr sz="900" b="1" spc="-5" dirty="0">
                <a:latin typeface="黑体"/>
                <a:cs typeface="黑体"/>
              </a:rPr>
              <a:t>）</a:t>
            </a:r>
            <a:endParaRPr sz="900">
              <a:latin typeface="黑体"/>
              <a:cs typeface="黑体"/>
            </a:endParaRPr>
          </a:p>
          <a:p>
            <a:pPr marL="384175" indent="-142875">
              <a:lnSpc>
                <a:spcPct val="100000"/>
              </a:lnSpc>
              <a:spcBef>
                <a:spcPts val="545"/>
              </a:spcBef>
              <a:buFont typeface="Wingdings"/>
              <a:buChar char=""/>
              <a:tabLst>
                <a:tab pos="384810" algn="l"/>
              </a:tabLst>
            </a:pPr>
            <a:r>
              <a:rPr sz="900" b="1" spc="5" dirty="0">
                <a:latin typeface="黑体"/>
                <a:cs typeface="黑体"/>
              </a:rPr>
              <a:t>裁剪</a:t>
            </a:r>
            <a:endParaRPr sz="900">
              <a:latin typeface="黑体"/>
              <a:cs typeface="黑体"/>
            </a:endParaRPr>
          </a:p>
          <a:p>
            <a:pPr marL="241300">
              <a:lnSpc>
                <a:spcPct val="100000"/>
              </a:lnSpc>
              <a:spcBef>
                <a:spcPts val="540"/>
              </a:spcBef>
            </a:pPr>
            <a:r>
              <a:rPr sz="900" b="1" spc="-5" dirty="0">
                <a:latin typeface="黑体"/>
                <a:cs typeface="黑体"/>
              </a:rPr>
              <a:t>…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8931" y="172592"/>
            <a:ext cx="250380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样本</a:t>
            </a:r>
            <a:r>
              <a:rPr spc="-10" dirty="0"/>
              <a:t>增</a:t>
            </a:r>
            <a:r>
              <a:rPr spc="5" dirty="0"/>
              <a:t>强</a:t>
            </a:r>
            <a:r>
              <a:rPr spc="-10" dirty="0"/>
              <a:t>——</a:t>
            </a:r>
            <a:r>
              <a:rPr spc="5" dirty="0"/>
              <a:t>其他</a:t>
            </a:r>
            <a:r>
              <a:rPr spc="-10" dirty="0"/>
              <a:t>方</a:t>
            </a:r>
            <a:r>
              <a:rPr spc="5" dirty="0"/>
              <a:t>案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42985" y="328246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69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1687</Words>
  <Application>Microsoft Office PowerPoint</Application>
  <PresentationFormat>自定义</PresentationFormat>
  <Paragraphs>953</Paragraphs>
  <Slides>70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0" baseType="lpstr">
      <vt:lpstr>黑体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如何表示图像？</vt:lpstr>
      <vt:lpstr>PowerPoint 演示文稿</vt:lpstr>
      <vt:lpstr>全连接神经网络的瓶颈</vt:lpstr>
      <vt:lpstr>PowerPoint 演示文稿</vt:lpstr>
      <vt:lpstr>卷积神经网络</vt:lpstr>
      <vt:lpstr>卷积神经网络</vt:lpstr>
      <vt:lpstr>卷积神经网络</vt:lpstr>
      <vt:lpstr>卷积神经网络</vt:lpstr>
      <vt:lpstr>基于卷积核组的图像表示</vt:lpstr>
      <vt:lpstr>纹理表示小游戏</vt:lpstr>
      <vt:lpstr>卷积神经网络</vt:lpstr>
      <vt:lpstr>卷积神经网络</vt:lpstr>
      <vt:lpstr>卷积神经网络</vt:lpstr>
      <vt:lpstr>卷积神经网络</vt:lpstr>
      <vt:lpstr>卷积网络中的卷积核</vt:lpstr>
      <vt:lpstr>卷积网络中的卷积核</vt:lpstr>
      <vt:lpstr>卷积网络中的卷积操作</vt:lpstr>
      <vt:lpstr>卷积网络中的卷积操作</vt:lpstr>
      <vt:lpstr>卷积网络中的卷积操作</vt:lpstr>
      <vt:lpstr>PowerPoint 演示文稿</vt:lpstr>
      <vt:lpstr>彩色图像 32x32x3</vt:lpstr>
      <vt:lpstr>彩色图像 32x32x3</vt:lpstr>
      <vt:lpstr>彩色图像 32x32x3</vt:lpstr>
      <vt:lpstr>彩色图像 32x32x3</vt:lpstr>
      <vt:lpstr>彩色图像 32x32x3</vt:lpstr>
      <vt:lpstr>卷积步长（stride）</vt:lpstr>
      <vt:lpstr>卷积步长（stride）</vt:lpstr>
      <vt:lpstr>卷积步长（stride）</vt:lpstr>
      <vt:lpstr>卷积步长（stride）</vt:lpstr>
      <vt:lpstr>卷积步长（stride）</vt:lpstr>
      <vt:lpstr>PowerPoint 演示文稿</vt:lpstr>
      <vt:lpstr>PowerPoint 演示文稿</vt:lpstr>
      <vt:lpstr>边界填充</vt:lpstr>
      <vt:lpstr>边界填充</vt:lpstr>
      <vt:lpstr>边界填充</vt:lpstr>
      <vt:lpstr>边界填充</vt:lpstr>
      <vt:lpstr>边界填充</vt:lpstr>
      <vt:lpstr>PowerPoint 演示文稿</vt:lpstr>
      <vt:lpstr>给定输入数据矩阵时，影响输出的特征图 组尺寸大小的因素：</vt:lpstr>
      <vt:lpstr>特征响应图组尺寸计算</vt:lpstr>
      <vt:lpstr>特征响应图组尺寸计算</vt:lpstr>
      <vt:lpstr>特征响应图组尺寸计算</vt:lpstr>
      <vt:lpstr>特征响应图组尺寸计算</vt:lpstr>
      <vt:lpstr>特征响应图组尺寸计算</vt:lpstr>
      <vt:lpstr>特征响应图组尺寸计算</vt:lpstr>
      <vt:lpstr>卷积神经网络</vt:lpstr>
      <vt:lpstr>卷积神经网络</vt:lpstr>
      <vt:lpstr>池化操作</vt:lpstr>
      <vt:lpstr>池化操作</vt:lpstr>
      <vt:lpstr>池化操作</vt:lpstr>
      <vt:lpstr>池化操作</vt:lpstr>
      <vt:lpstr>池化操作示例</vt:lpstr>
      <vt:lpstr>池化操作示例</vt:lpstr>
      <vt:lpstr>池化操作示例</vt:lpstr>
      <vt:lpstr>池化操作示例</vt:lpstr>
      <vt:lpstr>池化操作示例</vt:lpstr>
      <vt:lpstr>池化操作示例</vt:lpstr>
      <vt:lpstr>池化操作示例</vt:lpstr>
      <vt:lpstr>卷积神经网络</vt:lpstr>
      <vt:lpstr>PowerPoint 演示文稿</vt:lpstr>
      <vt:lpstr>损失函数&amp;优化算法</vt:lpstr>
      <vt:lpstr>PowerPoint 演示文稿</vt:lpstr>
      <vt:lpstr>图像增强</vt:lpstr>
      <vt:lpstr>样本增强——翻转</vt:lpstr>
      <vt:lpstr>样本增强——随机缩放&amp;抠图</vt:lpstr>
      <vt:lpstr>样本增强——色彩抖动</vt:lpstr>
      <vt:lpstr>样本增强——其他方案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 Introduction to “Computer Vision”</dc:title>
  <dc:creator>lu peng</dc:creator>
  <cp:lastModifiedBy>Administrator</cp:lastModifiedBy>
  <cp:revision>2</cp:revision>
  <dcterms:created xsi:type="dcterms:W3CDTF">2020-12-14T09:37:48Z</dcterms:created>
  <dcterms:modified xsi:type="dcterms:W3CDTF">2020-12-15T04:33:06Z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2020-12-14T00:00:00Z</vt:filetime>
  </property>
</Properties>
</file>